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00" r:id="rId2"/>
    <p:sldId id="292" r:id="rId3"/>
    <p:sldId id="336" r:id="rId4"/>
    <p:sldId id="370" r:id="rId5"/>
    <p:sldId id="371" r:id="rId6"/>
    <p:sldId id="384" r:id="rId7"/>
    <p:sldId id="386" r:id="rId8"/>
    <p:sldId id="385" r:id="rId9"/>
    <p:sldId id="388" r:id="rId10"/>
    <p:sldId id="387" r:id="rId11"/>
    <p:sldId id="390" r:id="rId12"/>
    <p:sldId id="389" r:id="rId13"/>
    <p:sldId id="505" r:id="rId14"/>
    <p:sldId id="393" r:id="rId15"/>
    <p:sldId id="506" r:id="rId16"/>
    <p:sldId id="507" r:id="rId17"/>
    <p:sldId id="392" r:id="rId18"/>
    <p:sldId id="508" r:id="rId19"/>
    <p:sldId id="595" r:id="rId20"/>
    <p:sldId id="509" r:id="rId21"/>
    <p:sldId id="301" r:id="rId22"/>
    <p:sldId id="269" r:id="rId23"/>
    <p:sldId id="303" r:id="rId24"/>
    <p:sldId id="271" r:id="rId25"/>
    <p:sldId id="365" r:id="rId26"/>
    <p:sldId id="383" r:id="rId2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003B23-3076-49E1-A7F6-EF54F478ED00}" v="22" dt="2021-05-31T18:22:44.8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19" autoAdjust="0"/>
    <p:restoredTop sz="85472" autoAdjust="0"/>
  </p:normalViewPr>
  <p:slideViewPr>
    <p:cSldViewPr snapToGrid="0">
      <p:cViewPr varScale="1">
        <p:scale>
          <a:sx n="63" d="100"/>
          <a:sy n="63" d="100"/>
        </p:scale>
        <p:origin x="10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AA003B23-3076-49E1-A7F6-EF54F478ED00}"/>
    <pc:docChg chg="modSld">
      <pc:chgData name="Felipe Augusto Pereira de Figueiredo" userId="e1771b70d906f94b" providerId="Windows Live" clId="Web-{AA003B23-3076-49E1-A7F6-EF54F478ED00}" dt="2021-05-31T18:22:41.788" v="7" actId="20577"/>
      <pc:docMkLst>
        <pc:docMk/>
      </pc:docMkLst>
      <pc:sldChg chg="modSp">
        <pc:chgData name="Felipe Augusto Pereira de Figueiredo" userId="e1771b70d906f94b" providerId="Windows Live" clId="Web-{AA003B23-3076-49E1-A7F6-EF54F478ED00}" dt="2021-05-31T18:22:41.788" v="7" actId="20577"/>
        <pc:sldMkLst>
          <pc:docMk/>
          <pc:sldMk cId="29378494" sldId="289"/>
        </pc:sldMkLst>
        <pc:spChg chg="mod">
          <ac:chgData name="Felipe Augusto Pereira de Figueiredo" userId="e1771b70d906f94b" providerId="Windows Live" clId="Web-{AA003B23-3076-49E1-A7F6-EF54F478ED00}" dt="2021-05-31T18:22:41.788" v="7" actId="20577"/>
          <ac:spMkLst>
            <pc:docMk/>
            <pc:sldMk cId="29378494" sldId="28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C82C08-3EFC-4473-8294-F0E229C19EFF}" type="datetimeFigureOut">
              <a:rPr lang="pt-BR" smtClean="0"/>
              <a:t>30/05/2026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30A2A4-8C14-4B1A-AD48-7B6401078BF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813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terative_method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n.wikipedia.org/wiki/Neighbourhood_(mathematics)" TargetMode="Externa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terative_method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n.wikipedia.org/wiki/Neighbourhood_(mathematics)" TargetMode="Externa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eplearning.ai/ai-notes/initialization/index.html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eplearning.ai/ai-notes/initialization/index.html" TargetMode="External"/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neural_networks_supervised.html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neural_networks_supervised.html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4292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pt-BR" dirty="0"/>
              <a:t>Referências</a:t>
            </a:r>
          </a:p>
          <a:p>
            <a:endParaRPr lang="en-US" dirty="0"/>
          </a:p>
          <a:p>
            <a:r>
              <a:rPr lang="en-US" dirty="0"/>
              <a:t>[1] https://neptune.ai/blog/keras-loss-functions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1673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25427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O momentum em otimização é uma técnica que visa acelerar a convergência do algoritmo de otimização, permitindo que o modelo "ganhe impulso" na direção correta. Em vez de depender apenas do gradiente instantâneo para atualizar os pesos, o otimizador com momentum leva em consideração a direção anterior do movimento e adiciona um termo de "momentum" ao cálculo da atualização dos pesos.</a:t>
            </a: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Embora o</a:t>
            </a:r>
            <a:r>
              <a:rPr lang="pt-BR" baseline="0" dirty="0"/>
              <a:t> gradiente descendente </a:t>
            </a:r>
            <a:r>
              <a:rPr lang="pt-BR" dirty="0"/>
              <a:t>estocástico continue sendo uma estratégia de otimização muito popular, o aprendizado com ele as vezes pode ser lento. O método do momento é projetado para acelerar o aprendizado, especialmente em caso de alta curvatura, gradientes pequenos mas consistentes ou gradientes ruidosos. O algoritmo do momento acumula uma média móvel exponencialmente decrescente dos gradientes passados e continua a se mover em sua direção.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7337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sz="1200" dirty="0">
                    <a:solidFill>
                      <a:schemeClr val="tx1"/>
                    </a:solidFill>
                    <a:latin typeface="+mn-lt"/>
                  </a:rPr>
                  <a:t>Embora o</a:t>
                </a:r>
                <a:r>
                  <a:rPr lang="pt-BR" sz="1200" baseline="0" dirty="0">
                    <a:solidFill>
                      <a:schemeClr val="tx1"/>
                    </a:solidFill>
                    <a:latin typeface="+mn-lt"/>
                  </a:rPr>
                  <a:t> gradiente descendente </a:t>
                </a:r>
                <a:r>
                  <a:rPr lang="pt-BR" sz="1200" dirty="0">
                    <a:solidFill>
                      <a:schemeClr val="tx1"/>
                    </a:solidFill>
                    <a:latin typeface="+mn-lt"/>
                  </a:rPr>
                  <a:t>estocástico continue sendo uma estratégia de otimização muito popular, o aprendizado com ele as vezes pode ser lento. O método do momento é projetado para acelerar o aprendizado, especialmente em caso de alta curvatura, gradientes pequenos mas consistentes ou gradientes ruidosos. O algoritmo do momento acumula uma média móvel exponencialmente decrescente dos gradientes passados e continua a se mover em sua direção.</a:t>
                </a:r>
              </a:p>
              <a:p>
                <a:endParaRPr lang="pt-BR" sz="1200" dirty="0">
                  <a:solidFill>
                    <a:schemeClr val="tx1"/>
                  </a:solidFill>
                  <a:latin typeface="+mn-lt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sz="1200" dirty="0">
                    <a:solidFill>
                      <a:schemeClr val="tx1"/>
                    </a:solidFill>
                    <a:latin typeface="+mn-lt"/>
                  </a:rPr>
                  <a:t>Portanto, podemos pensar no hiperparâmetro </a:t>
                </a:r>
                <a14:m>
                  <m:oMath xmlns:m="http://schemas.openxmlformats.org/officeDocument/2006/math">
                    <m:r>
                      <a:rPr lang="pt-BR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pt-BR" sz="1200" dirty="0">
                    <a:solidFill>
                      <a:schemeClr val="tx1"/>
                    </a:solidFill>
                    <a:latin typeface="+mn-lt"/>
                  </a:rPr>
                  <a:t> em termos da equação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pt-BR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pt-BR" sz="1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den>
                    </m:f>
                  </m:oMath>
                </a14:m>
                <a:r>
                  <a:rPr lang="pt-BR" sz="1200" dirty="0">
                    <a:solidFill>
                      <a:schemeClr val="tx1"/>
                    </a:solidFill>
                    <a:latin typeface="+mn-lt"/>
                  </a:rPr>
                  <a:t>. Por exemplo, </a:t>
                </a:r>
                <a14:m>
                  <m:oMath xmlns:m="http://schemas.openxmlformats.org/officeDocument/2006/math">
                    <m:r>
                      <a:rPr lang="pt-BR" sz="12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𝜑</m:t>
                    </m:r>
                    <m:r>
                      <a:rPr lang="pt-BR" sz="1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=0.9</m:t>
                    </m:r>
                  </m:oMath>
                </a14:m>
                <a:r>
                  <a:rPr lang="pt-BR" sz="1200" dirty="0">
                    <a:solidFill>
                      <a:schemeClr val="tx1"/>
                    </a:solidFill>
                    <a:latin typeface="+mn-lt"/>
                  </a:rPr>
                  <a:t> corresponde à multiplicação da velocidade máxima por 10 em relação ao algoritmo de descida do gradiente.</a:t>
                </a:r>
              </a:p>
            </p:txBody>
          </p:sp>
        </mc:Choice>
        <mc:Fallback xmlns="">
          <p:sp>
            <p:nvSpPr>
              <p:cNvPr id="3" name="Espaço Reservado para Anotações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pt-BR" sz="1200" dirty="0">
                    <a:solidFill>
                      <a:schemeClr val="tx1"/>
                    </a:solidFill>
                    <a:latin typeface="+mn-lt"/>
                  </a:rPr>
                  <a:t>Embora o</a:t>
                </a:r>
                <a:r>
                  <a:rPr lang="pt-BR" sz="1200" baseline="0" dirty="0">
                    <a:solidFill>
                      <a:schemeClr val="tx1"/>
                    </a:solidFill>
                    <a:latin typeface="+mn-lt"/>
                  </a:rPr>
                  <a:t> gradiente descendente </a:t>
                </a:r>
                <a:r>
                  <a:rPr lang="pt-BR" sz="1200" dirty="0">
                    <a:solidFill>
                      <a:schemeClr val="tx1"/>
                    </a:solidFill>
                    <a:latin typeface="+mn-lt"/>
                  </a:rPr>
                  <a:t>estocástico continue sendo uma estratégia de otimização muito popular, o aprendizado com ele as vezes pode ser lento. O método do momento é projetado para acelerar o aprendizado, especialmente em caso de alta curvatura, gradientes pequenos mas consistentes ou gradientes ruidosos. O algoritmo do momento acumula uma média móvel exponencialmente decrescente dos gradientes passados e continua a se mover em sua direção.</a:t>
                </a:r>
              </a:p>
              <a:p>
                <a:endParaRPr lang="pt-BR" sz="1200" dirty="0">
                  <a:solidFill>
                    <a:schemeClr val="tx1"/>
                  </a:solidFill>
                  <a:latin typeface="+mn-lt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pt-BR" sz="1200" dirty="0">
                    <a:solidFill>
                      <a:schemeClr val="tx1"/>
                    </a:solidFill>
                    <a:latin typeface="+mn-lt"/>
                  </a:rPr>
                  <a:t>Portanto, podemos pensar no hiperparâmetro </a:t>
                </a:r>
                <a:r>
                  <a:rPr lang="pt-BR" sz="1200" i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𝜑</a:t>
                </a:r>
                <a:r>
                  <a:rPr lang="pt-BR" sz="1200" dirty="0">
                    <a:solidFill>
                      <a:schemeClr val="tx1"/>
                    </a:solidFill>
                    <a:latin typeface="+mn-lt"/>
                  </a:rPr>
                  <a:t> em termos da equação </a:t>
                </a:r>
                <a:r>
                  <a:rPr lang="pt-BR" sz="1200" i="0">
                    <a:solidFill>
                      <a:schemeClr val="tx1"/>
                    </a:solidFill>
                    <a:latin typeface="Cambria Math" panose="02040503050406030204" pitchFamily="18" charset="0"/>
                  </a:rPr>
                  <a:t>1/(1−</a:t>
                </a:r>
                <a:r>
                  <a:rPr lang="pt-BR" sz="1200" i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𝜑)</a:t>
                </a:r>
                <a:r>
                  <a:rPr lang="pt-BR" sz="1200" dirty="0">
                    <a:solidFill>
                      <a:schemeClr val="tx1"/>
                    </a:solidFill>
                    <a:latin typeface="+mn-lt"/>
                  </a:rPr>
                  <a:t>. Por exemplo, </a:t>
                </a:r>
                <a:r>
                  <a:rPr lang="pt-BR" sz="1200" i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𝜑</a:t>
                </a:r>
                <a:r>
                  <a:rPr lang="pt-BR" sz="1200" b="0" i="0">
                    <a:solidFill>
                      <a:schemeClr val="tx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=0.9</a:t>
                </a:r>
                <a:r>
                  <a:rPr lang="pt-BR" sz="1200" dirty="0">
                    <a:solidFill>
                      <a:schemeClr val="tx1"/>
                    </a:solidFill>
                    <a:latin typeface="+mn-lt"/>
                  </a:rPr>
                  <a:t> corresponde à multiplicação da velocidade máxima por 10 em relação ao algoritmo de descida do gradiente.</a:t>
                </a:r>
              </a:p>
            </p:txBody>
          </p:sp>
        </mc:Fallback>
      </mc:AlternateContent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0219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Em resumo, o Nesterov Momentum introduz uma etapa adicional na qual a previsão do próximo ponto é feita antes de calcular o gradiente, e a atualização dos pesos é baseada no gradiente calculado na posição prevista. Isso ajuda a melhorar a convergência, especialmente em situações onde a função de custo tem um comportamento curvo ou em forma de vale.</a:t>
            </a:r>
          </a:p>
          <a:p>
            <a:endParaRPr lang="pt-BR" b="0" i="0" dirty="0">
              <a:solidFill>
                <a:srgbClr val="374151"/>
              </a:solidFill>
              <a:effectLst/>
              <a:latin typeface="Söhne"/>
            </a:endParaRP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 vantagem do momento de Nesterov sobre o momento clássico reside na forma como ele lida com o problema de oscilações em torno do mínimo global durante a otimização.</a:t>
            </a: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No momento clássico, o otimizador acumula o momento e o aplica diretamente ao gradiente no ponto atual para atualizar os pesos. Isso significa que o impulso é aplicado antes de avaliar o gradiente no ponto atual, o que pode levar a oscilações em torno do mínimo global. Essas oscilações podem retardar a convergência e impedir que o otimizador alcance a solução ótima.</a:t>
            </a: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Por outro lado, o momento de Nesterov corrige essa questão. Em vez de calcular o gradiente no ponto atual, ele estima o gradiente no próximo ponto, levando em consideração o momento acumulado anteriormente. Essa estimativa é baseada na direção do momento anterior e permite que o otimizador faça ajustes mais precisos antes de atualizar os pesos.</a:t>
            </a: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Essa correção na estimativa do gradiente oferece duas principais vantagens em relação ao momento clássico:</a:t>
            </a:r>
          </a:p>
          <a:p>
            <a:pPr algn="l">
              <a:buFont typeface="+mj-lt"/>
              <a:buAutoNum type="arabicPeriod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Melhor convergência: O momento de Nesterov ajuda a reduzir as oscilações em torno do mínimo global, permitindo uma convergência mais rápida e eficiente. Ao fazer uma correção na direção do momento antes de calcular o gradiente, ele evita que o otimizador "passe direto" pelo mínimo e oscile em torno dele.</a:t>
            </a:r>
          </a:p>
          <a:p>
            <a:pPr algn="l">
              <a:buFont typeface="+mj-lt"/>
              <a:buAutoNum type="arabicPeriod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Ajustes mais precisos: Ao estimar o gradiente no próximo ponto, levando em conta a direção do momento anterior, o momento de Nesterov permite ajustes mais precisos nos pesos. Isso é especialmente útil em áreas onde a superfície de erro é curvada, pois evita atualizações excessivamente grandes ou pequenas que podem dificultar a convergência.</a:t>
            </a: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Em resumo, a principal vantagem do momento de Nesterov sobre o momento clássico é a correção das oscilações em torno do mínimo global durante a otimização. Isso resulta em uma convergência mais rápida e ajustes mais precisos nos pesos, melhorando assim o desempenho do algoritmo de otimização.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 </a:t>
            </a:r>
            <a:r>
              <a:rPr lang="pt-BR" dirty="0" err="1"/>
              <a:t>AdaGrad</a:t>
            </a:r>
            <a:r>
              <a:rPr lang="pt-BR" dirty="0"/>
              <a:t> é adequado para funções objetivo onde a curvatura do espaço de busca (superfície de erro) é diferente em diferentes dimensões, permitindo uma otimização mais efetiva dada a customização do tamanho do passo em cada dimensão.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Para mais informações</a:t>
            </a:r>
            <a:r>
              <a:rPr lang="pt-BR" baseline="0" dirty="0"/>
              <a:t> sobre esses </a:t>
            </a:r>
            <a:r>
              <a:rPr lang="pt-BR" b="1" dirty="0"/>
              <a:t>Modelos com Passo de Aprendizagem Adaptativo</a:t>
            </a:r>
            <a:r>
              <a:rPr lang="pt-BR" b="0" baseline="0" dirty="0"/>
              <a:t> vejam: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[1] GOODFELLOW, I., BENGIO, Y., COURVILLE, A., </a:t>
            </a:r>
            <a:r>
              <a:rPr lang="pt-BR" dirty="0" err="1"/>
              <a:t>Deep</a:t>
            </a:r>
            <a:r>
              <a:rPr lang="pt-BR" dirty="0"/>
              <a:t> Learning, MIT Press, 2016. HAYKIN, S. Neural Networks </a:t>
            </a:r>
            <a:r>
              <a:rPr lang="pt-BR" dirty="0" err="1"/>
              <a:t>and</a:t>
            </a:r>
            <a:r>
              <a:rPr lang="pt-BR" dirty="0"/>
              <a:t> Learning </a:t>
            </a:r>
            <a:r>
              <a:rPr lang="pt-BR" dirty="0" err="1"/>
              <a:t>Machines</a:t>
            </a:r>
            <a:r>
              <a:rPr lang="pt-BR" dirty="0"/>
              <a:t>, 3rd </a:t>
            </a:r>
            <a:r>
              <a:rPr lang="pt-BR" dirty="0" err="1"/>
              <a:t>edition</a:t>
            </a:r>
            <a:r>
              <a:rPr lang="pt-BR" dirty="0"/>
              <a:t>, Prentice-Hall, 2008.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[2] https://towardsdatascience.com/adaptive-learning-rate-adagrad-and-rmsprop-46a7d547d244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b="0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b="1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85637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 vantagem do momento de Nesterov sobre o momento clássico reside na forma como ele lida com o problema de oscilações em torno do mínimo global durante a otimização.</a:t>
            </a: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No momento clássico, o otimizador acumula o momento e o aplica diretamente ao gradiente no ponto atual para atualizar os pesos. Isso significa que o impulso é aplicado antes de avaliar o gradiente no ponto atual, o que pode levar a oscilações em torno do mínimo global. Essas oscilações podem retardar a convergência e impedir que o otimizador alcance a solução ótima.</a:t>
            </a: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Por outro lado, o momento de Nesterov corrige essa questão. Em vez de calcular o gradiente no ponto atual, ele estima o gradiente no próximo ponto, levando em consideração o momento acumulado anteriormente. Essa estimativa é baseada na direção do momento anterior e permite que o otimizador faça ajustes mais precisos antes de atualizar os pesos.</a:t>
            </a: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Essa correção na estimativa do gradiente oferece duas principais vantagens em relação ao momento clássico:</a:t>
            </a:r>
          </a:p>
          <a:p>
            <a:pPr algn="l">
              <a:buFont typeface="+mj-lt"/>
              <a:buAutoNum type="arabicPeriod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Melhor convergência: O momento de Nesterov ajuda a reduzir as oscilações em torno do mínimo global, permitindo uma convergência mais rápida e eficiente. Ao fazer uma correção na direção do momento antes de calcular o gradiente, ele evita que o otimizador "passe direto" pelo mínimo e oscile em torno dele.</a:t>
            </a:r>
          </a:p>
          <a:p>
            <a:pPr algn="l">
              <a:buFont typeface="+mj-lt"/>
              <a:buAutoNum type="arabicPeriod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Ajustes mais precisos: Ao estimar o gradiente no próximo ponto, levando em conta a direção do momento anterior, o momento de Nesterov permite ajustes mais precisos nos pesos. Isso é especialmente útil em áreas onde a superfície de erro é curvada, pois evita atualizações excessivamente grandes ou pequenas que podem dificultar a convergência.</a:t>
            </a: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Em resumo, a principal vantagem do momento de Nesterov sobre o momento clássico é a correção das oscilações em torno do mínimo global durante a otimização. Isso resulta em uma convergência mais rápida e ajustes mais precisos nos pesos, melhorando assim o desempenho do algoritmo de otimização.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 </a:t>
            </a:r>
            <a:r>
              <a:rPr lang="pt-BR" dirty="0" err="1"/>
              <a:t>AdaGrad</a:t>
            </a:r>
            <a:r>
              <a:rPr lang="pt-BR" dirty="0"/>
              <a:t> é adequado para funções objetivo onde a curvatura do espaço de busca (superfície de erro) é diferente em diferentes dimensões, permitindo uma otimização mais efetiva dada a customização do tamanho do passo em cada dimensão.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Para mais informações</a:t>
            </a:r>
            <a:r>
              <a:rPr lang="pt-BR" baseline="0" dirty="0"/>
              <a:t> sobre esses </a:t>
            </a:r>
            <a:r>
              <a:rPr lang="pt-BR" b="1" dirty="0"/>
              <a:t>Modelos com Passo de Aprendizagem Adaptativo</a:t>
            </a:r>
            <a:r>
              <a:rPr lang="pt-BR" b="0" baseline="0" dirty="0"/>
              <a:t> vejam: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[1] GOODFELLOW, I., BENGIO, Y., COURVILLE, A., </a:t>
            </a:r>
            <a:r>
              <a:rPr lang="pt-BR" dirty="0" err="1"/>
              <a:t>Deep</a:t>
            </a:r>
            <a:r>
              <a:rPr lang="pt-BR" dirty="0"/>
              <a:t> Learning, MIT Press, 2016. HAYKIN, S. Neural Networks </a:t>
            </a:r>
            <a:r>
              <a:rPr lang="pt-BR" dirty="0" err="1"/>
              <a:t>and</a:t>
            </a:r>
            <a:r>
              <a:rPr lang="pt-BR" dirty="0"/>
              <a:t> Learning </a:t>
            </a:r>
            <a:r>
              <a:rPr lang="pt-BR" dirty="0" err="1"/>
              <a:t>Machines</a:t>
            </a:r>
            <a:r>
              <a:rPr lang="pt-BR" dirty="0"/>
              <a:t>, 3rd </a:t>
            </a:r>
            <a:r>
              <a:rPr lang="pt-BR" dirty="0" err="1"/>
              <a:t>edition</a:t>
            </a:r>
            <a:r>
              <a:rPr lang="pt-BR" dirty="0"/>
              <a:t>, Prentice-Hall, 2008.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[2] https://towardsdatascience.com/adaptive-learning-rate-adagrad-and-rmsprop-46a7d547d244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b="0" baseline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b="1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94438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Problemas de busca local são uma classe de problemas de otimização onde o objetivo é encontrar a melhor solução possível (ou uma solução satisfatória) dentro de um espaço de soluções, partindo de uma solução inicial e realizando melhorias incrementais.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local search algorithm starts from a candidate solution and then 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iteratively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moves to a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Neighbourhood (mathematics)"/>
              </a:rPr>
              <a:t>neighbor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solution; a neighborhood being the set of all potential solutions that differ from the current solution by the minimal possible extent.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 search is distinguished from local search by its focus on finding the minimum or maximum over the given set, as opposed to finding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minima or maxima. Finding an arbitrary local minimum is relatively straightforward by using classical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optimization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methods. Finding the global minimum of a function is far more difficult</a:t>
            </a:r>
            <a:endParaRPr lang="pt-BR" dirty="0"/>
          </a:p>
          <a:p>
            <a:endParaRPr lang="pt-BR" dirty="0"/>
          </a:p>
          <a:p>
            <a:r>
              <a:rPr lang="pt-BR" dirty="0"/>
              <a:t>O ponto inicial pode determinar se o algoritmo converge, sendo alguns pontos iniciais tão instáveis que o algoritmo encontra dificuldades numéricas e falha completamente.</a:t>
            </a:r>
          </a:p>
          <a:p>
            <a:endParaRPr lang="pt-BR" dirty="0"/>
          </a:p>
          <a:p>
            <a:r>
              <a:rPr lang="pt-BR" dirty="0"/>
              <a:t>Se dois</a:t>
            </a:r>
            <a:r>
              <a:rPr lang="pt-BR" baseline="0" dirty="0"/>
              <a:t> nós </a:t>
            </a:r>
            <a:r>
              <a:rPr lang="pt-BR" dirty="0"/>
              <a:t>ocultos com a mesma função de ativação estiverem conectados às mesmas entradas, esses</a:t>
            </a:r>
            <a:r>
              <a:rPr lang="pt-BR" baseline="0" dirty="0"/>
              <a:t> nós </a:t>
            </a:r>
            <a:r>
              <a:rPr lang="pt-BR" dirty="0"/>
              <a:t>deverão ter pesos iniciais diferentes. Se eles tiverem os mesmos pesos iniciais, um algoritmo de aprendizado determinístico aplicado a um custo e modelo determinísticos atualizará constantemente essas duas unidades da mesma maneira.</a:t>
            </a:r>
            <a:r>
              <a:rPr lang="pt-BR" baseline="0" dirty="0"/>
              <a:t> </a:t>
            </a:r>
            <a:r>
              <a:rPr lang="pt-BR" dirty="0"/>
              <a:t>Mesmo que o modelo ou o algoritmo de treinamento seja capaz de usar processos estocásticos para calcular atualizações diferentes para nós diferentes, geralmente é melhor inicializar cada nó para calcular uma função diferente de todas os outros</a:t>
            </a:r>
            <a:r>
              <a:rPr lang="pt-BR" baseline="0" dirty="0"/>
              <a:t> nós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Referências</a:t>
            </a:r>
          </a:p>
          <a:p>
            <a:r>
              <a:rPr lang="pt-BR" dirty="0"/>
              <a:t>[1] https://www.deeplearning.ai/ai-notes/initialization/</a:t>
            </a:r>
          </a:p>
          <a:p>
            <a:r>
              <a:rPr lang="pt-BR" dirty="0"/>
              <a:t>[2] ftp://ftp.dca.fee.unicamp.br/pub/docs/gudwin/publications/sbrn98.pdf</a:t>
            </a:r>
          </a:p>
          <a:p>
            <a:r>
              <a:rPr lang="pt-BR" dirty="0"/>
              <a:t>[3] https://colab.research.google.com/github/d2l-ai/d2l-en-colab/blob/master/chapter_multilayer-perceptrons/numerical-stability-and-init.ipynb#scrollTo=6tqUWTNKFdsO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70437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 computação, uma heurística (do grego "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heuriskein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 que significa "descobrir") é uma técnica de resolução de problemas que utiliza regras práticas e experiência passada para encontrar soluções eficientes, mesmo que não sejam as melhores. Em vez de seguir um algoritmo exato e preciso, a heurística permite encontrar soluções aproximadas de forma mais rápida e menos intensiva em recursos. 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local search algorithm starts from a candidate solution and then </a:t>
            </a:r>
            <a:r>
              <a:rPr lang="en-US" sz="1200" b="0" i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iteratively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moves to a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Neighbourhood (mathematics)"/>
              </a:rPr>
              <a:t>neighbor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solution; a neighborhood being the set of all potential solutions that differ from the current solution by the minimal possible extent.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Global search is distinguished from local search by its focus on finding the minimum or maximum over the given set, as opposed to finding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minima or maxima. Finding an arbitrary local minimum is relatively straightforward by using classical 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 optimization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methods. Finding the global minimum of a function is far more difficult</a:t>
            </a:r>
            <a:endParaRPr lang="pt-BR" dirty="0"/>
          </a:p>
          <a:p>
            <a:endParaRPr lang="pt-BR" dirty="0"/>
          </a:p>
          <a:p>
            <a:r>
              <a:rPr lang="pt-BR" dirty="0"/>
              <a:t>O ponto inicial pode determinar se o algoritmo converge, sendo alguns pontos iniciais tão instáveis que o algoritmo encontra dificuldades numéricas e falha completamente.</a:t>
            </a:r>
          </a:p>
          <a:p>
            <a:endParaRPr lang="pt-BR" dirty="0"/>
          </a:p>
          <a:p>
            <a:r>
              <a:rPr lang="pt-BR" dirty="0"/>
              <a:t>Se dois</a:t>
            </a:r>
            <a:r>
              <a:rPr lang="pt-BR" baseline="0" dirty="0"/>
              <a:t> nós </a:t>
            </a:r>
            <a:r>
              <a:rPr lang="pt-BR" dirty="0"/>
              <a:t>ocultos com a mesma função de ativação estiverem conectados às mesmas entradas, esses</a:t>
            </a:r>
            <a:r>
              <a:rPr lang="pt-BR" baseline="0" dirty="0"/>
              <a:t> nós </a:t>
            </a:r>
            <a:r>
              <a:rPr lang="pt-BR" dirty="0"/>
              <a:t>deverão ter pesos iniciais diferentes. Se eles tiverem os mesmos pesos iniciais, um algoritmo de aprendizado determinístico aplicado a um custo e modelo determinísticos atualizará constantemente essas duas unidades da mesma maneira.</a:t>
            </a:r>
            <a:r>
              <a:rPr lang="pt-BR" baseline="0" dirty="0"/>
              <a:t> </a:t>
            </a:r>
            <a:r>
              <a:rPr lang="pt-BR" dirty="0"/>
              <a:t>Mesmo que o modelo ou o algoritmo de treinamento seja capaz de usar processos estocásticos para calcular atualizações diferentes para nós diferentes, geralmente é melhor inicializar cada nó para calcular uma função diferente de todas os outros</a:t>
            </a:r>
            <a:r>
              <a:rPr lang="pt-BR" baseline="0" dirty="0"/>
              <a:t> nós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Referências</a:t>
            </a:r>
          </a:p>
          <a:p>
            <a:r>
              <a:rPr lang="pt-BR" dirty="0"/>
              <a:t>[1] https://www.deeplearning.ai/ai-notes/initialization/</a:t>
            </a:r>
          </a:p>
          <a:p>
            <a:r>
              <a:rPr lang="pt-BR" dirty="0"/>
              <a:t>[2] ftp://ftp.dca.fee.unicamp.br/pub/docs/gudwin/publications/sbrn98.pdf</a:t>
            </a:r>
          </a:p>
          <a:p>
            <a:r>
              <a:rPr lang="pt-BR" dirty="0"/>
              <a:t>[3] https://colab.research.google.com/github/d2l-ai/d2l-en-colab/blob/master/chapter_multilayer-perceptrons/numerical-stability-and-init.ipynb#scrollTo=6tqUWTNKFdsO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6269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Exemplo: </a:t>
            </a:r>
            <a:r>
              <a:rPr lang="pt-BR" dirty="0" smtClean="0">
                <a:hlinkClick r:id="rId3"/>
              </a:rPr>
              <a:t>https://www.deeplearning.ai/ai-notes/initialization/index.html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Uma </a:t>
            </a:r>
            <a:r>
              <a:rPr lang="pt-BR" dirty="0"/>
              <a:t>heurística é uma técnica de solução de problemas que utiliza métodos práticos e não necessariamente perfeitos ou ótimos para produzir soluções satisfatórias em um tempo razoável. 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Large weights in a neural network are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sign of overfitting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 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network with large weights has very likely learned the statistical noise in the training data.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results in a model that is unstable, and very sensitive to changes to the input variables.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dirty="0"/>
              <a:t>Pesos iniciais muito grandes podem, no entanto, resultar em valores explosivos durante a propagação direta ou retropropagação.</a:t>
            </a:r>
          </a:p>
          <a:p>
            <a:endParaRPr lang="pt-BR" dirty="0"/>
          </a:p>
          <a:p>
            <a:r>
              <a:rPr lang="pt-BR" dirty="0"/>
              <a:t>Referências</a:t>
            </a:r>
          </a:p>
          <a:p>
            <a:r>
              <a:rPr lang="pt-BR" dirty="0"/>
              <a:t>[1]</a:t>
            </a:r>
            <a:r>
              <a:rPr lang="pt-BR" baseline="0" dirty="0"/>
              <a:t> https://machinelearningmastery.com/introduction-to-weight-constraints-to-reduce-generalization-error-in-deep-learning/#:~:text=Large%20weights%20in%20a%20neural,changes%20to%20the%20input%20variables.</a:t>
            </a:r>
          </a:p>
          <a:p>
            <a:r>
              <a:rPr lang="pt-BR" baseline="0" dirty="0"/>
              <a:t>[2] https://www.quora.com/Why-dont-we-initialize-the-weights-of-a-neural-network-to-zero</a:t>
            </a:r>
          </a:p>
          <a:p>
            <a:endParaRPr lang="pt-BR" baseline="0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76074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0" i="0" dirty="0" smtClean="0">
                <a:solidFill>
                  <a:srgbClr val="374151"/>
                </a:solidFill>
                <a:effectLst/>
                <a:latin typeface="Söhne"/>
              </a:rPr>
              <a:t>Exemplo: </a:t>
            </a:r>
            <a:r>
              <a:rPr lang="pt-BR" dirty="0" smtClean="0">
                <a:hlinkClick r:id="rId3"/>
              </a:rPr>
              <a:t>https://www.deeplearning.ai/ai-notes/initialization/index.html</a:t>
            </a:r>
            <a:endParaRPr lang="pt-BR" b="0" i="0" dirty="0" smtClean="0">
              <a:solidFill>
                <a:srgbClr val="374151"/>
              </a:solidFill>
              <a:effectLst/>
              <a:latin typeface="Söhne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b="0" i="0" dirty="0" smtClean="0">
              <a:solidFill>
                <a:srgbClr val="374151"/>
              </a:solidFill>
              <a:effectLst/>
              <a:latin typeface="Söhne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0" i="0" dirty="0" smtClean="0">
                <a:solidFill>
                  <a:srgbClr val="374151"/>
                </a:solidFill>
                <a:effectLst/>
                <a:latin typeface="Söhne"/>
              </a:rPr>
              <a:t>heurísticas 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são estratégias simples ou regras práticas que são usadas para resolver problemas complexos quando métodos mais exatos podem ser impraticáveis.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b="1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dirty="0"/>
              <a:t>empírico</a:t>
            </a:r>
            <a:r>
              <a:rPr lang="pt-BR" dirty="0"/>
              <a:t>: baseado na experiência e na observação, metódicas ou não.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Para mais informações</a:t>
            </a:r>
            <a:r>
              <a:rPr lang="pt-BR" baseline="0" dirty="0"/>
              <a:t> sobre a inicialização dos pesos </a:t>
            </a:r>
            <a:r>
              <a:rPr lang="pt-BR" b="0" baseline="0" dirty="0"/>
              <a:t>vejam: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[2] GOODFELLOW, I., BENGIO, Y., COURVILLE, A., </a:t>
            </a:r>
            <a:r>
              <a:rPr lang="pt-BR" dirty="0" err="1"/>
              <a:t>Deep</a:t>
            </a:r>
            <a:r>
              <a:rPr lang="pt-BR" dirty="0"/>
              <a:t> Learning, MIT Press, 2016. HAYKIN, S. Neural Networks </a:t>
            </a:r>
            <a:r>
              <a:rPr lang="pt-BR" dirty="0" err="1"/>
              <a:t>and</a:t>
            </a:r>
            <a:r>
              <a:rPr lang="pt-BR" dirty="0"/>
              <a:t> Learning </a:t>
            </a:r>
            <a:r>
              <a:rPr lang="pt-BR" dirty="0" err="1"/>
              <a:t>Machines</a:t>
            </a:r>
            <a:r>
              <a:rPr lang="pt-BR" dirty="0"/>
              <a:t>, 3rd </a:t>
            </a:r>
            <a:r>
              <a:rPr lang="pt-BR" dirty="0" err="1"/>
              <a:t>edition</a:t>
            </a:r>
            <a:r>
              <a:rPr lang="pt-BR" dirty="0"/>
              <a:t>, Prentice-Hall, 2008.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Referência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[1] https://www.deeplearning.ai/ai-notes/initialization/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[2] https://machinelearningmastery.com/weight-initialization-for-deep-learning-neural-networks/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44758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 smtClean="0"/>
              <a:t>bernúli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Para </a:t>
            </a:r>
            <a:r>
              <a:rPr lang="pt-BR" dirty="0"/>
              <a:t>mais informações</a:t>
            </a:r>
            <a:r>
              <a:rPr lang="pt-BR" baseline="0" dirty="0"/>
              <a:t> sobre a implementação de redes MLP na biblioteca SciKit-Learn, visite o seguinte site:</a:t>
            </a:r>
          </a:p>
          <a:p>
            <a:endParaRPr lang="pt-BR" dirty="0"/>
          </a:p>
          <a:p>
            <a:r>
              <a:rPr lang="pt-BR" dirty="0">
                <a:hlinkClick r:id="rId3"/>
              </a:rPr>
              <a:t>https://scikit-learn.org/stable/modules/neural_networks_supervised.html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05394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Para mais informações</a:t>
            </a:r>
            <a:r>
              <a:rPr lang="pt-BR" baseline="0" dirty="0"/>
              <a:t> sobre a implementação de redes MLP na biblioteca SciKit-Learn, visite o seguinte site:</a:t>
            </a:r>
          </a:p>
          <a:p>
            <a:endParaRPr lang="pt-BR" dirty="0"/>
          </a:p>
          <a:p>
            <a:r>
              <a:rPr lang="pt-BR" dirty="0">
                <a:hlinkClick r:id="rId3"/>
              </a:rPr>
              <a:t>https://scikit-learn.org/stable/modules/neural_networks_supervised.html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30A2A4-8C14-4B1A-AD48-7B6401078BF7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04819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dirty="0"/>
              <a:t>Projeto #2:</a:t>
            </a:r>
            <a:r>
              <a:rPr lang="pt-BR" sz="1200" dirty="0"/>
              <a:t> https://mybinder.org/v2/gh/zz4fap/t320_aprendizado_de_maquina/main?filepath=projeto%2Fprojeto_2_T320_1S2022.ipynb</a:t>
            </a:r>
          </a:p>
          <a:p>
            <a:endParaRPr lang="pt-BR" sz="1200" dirty="0"/>
          </a:p>
          <a:p>
            <a:r>
              <a:rPr lang="pt-BR" sz="1200" b="1" dirty="0"/>
              <a:t>Projeto #2:</a:t>
            </a:r>
            <a:r>
              <a:rPr lang="pt-BR" sz="1200" dirty="0"/>
              <a:t> https://colab.research.google.com/github/zz4fap/t320_aprendizado_de_maquina/blob/main/projeto/projeto_2_T320_1S2022.ipynb</a:t>
            </a:r>
          </a:p>
          <a:p>
            <a:endParaRPr lang="pt-BR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9840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30/05/2026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861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30/05/2026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5145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30/05/2026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5213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30/05/2026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666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30/05/2026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03967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30/05/2026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1410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30/05/2026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259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30/05/2026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5599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30/05/2026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1060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30/05/2026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3950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D0464-8C8A-49C0-859F-777E51766A35}" type="datetimeFigureOut">
              <a:rPr lang="pt-BR" smtClean="0"/>
              <a:t>30/05/2026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4589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D0464-8C8A-49C0-859F-777E51766A35}" type="datetimeFigureOut">
              <a:rPr lang="pt-BR" smtClean="0"/>
              <a:t>30/05/2026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B2E8FC-741C-4BF1-B071-7D772D706EF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0889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Comparison_of_deep_learning_softwar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2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1.png"/><Relationship Id="rId2" Type="http://schemas.openxmlformats.org/officeDocument/2006/relationships/image" Target="../media/image40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819807"/>
            <a:ext cx="9309315" cy="2690156"/>
          </a:xfrm>
        </p:spPr>
        <p:txBody>
          <a:bodyPr>
            <a:normAutofit fontScale="90000"/>
          </a:bodyPr>
          <a:lstStyle/>
          <a:p>
            <a:r>
              <a:rPr lang="pt-BR" sz="5400" dirty="0"/>
              <a:t>T320 - Introdução ao Aprendizado de Máquina II:</a:t>
            </a:r>
            <a:r>
              <a:rPr lang="pt-BR" dirty="0"/>
              <a:t/>
            </a:r>
            <a:br>
              <a:rPr lang="pt-BR" dirty="0"/>
            </a:br>
            <a:r>
              <a:rPr lang="pt-BR" b="1" i="1" dirty="0"/>
              <a:t>Redes Neurais Artificiais (</a:t>
            </a:r>
            <a:r>
              <a:rPr lang="pt-BR" b="1" i="1"/>
              <a:t>Parte IV)</a:t>
            </a:r>
            <a:endParaRPr lang="pt-BR" b="1" i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430EB894-B7D4-434C-9D1A-A14094D9BEEC}"/>
              </a:ext>
            </a:extLst>
          </p:cNvPr>
          <p:cNvSpPr txBox="1"/>
          <p:nvPr/>
        </p:nvSpPr>
        <p:spPr>
          <a:xfrm>
            <a:off x="7915802" y="5519955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Augusto Pereira de Figueiredo</a:t>
            </a:r>
          </a:p>
          <a:p>
            <a:r>
              <a:rPr lang="pt-BR" dirty="0"/>
              <a:t>felipe.figueiredo@inatel.br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271853" y="5528345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xmlns="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34929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1047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Recapitulando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1140441" cy="5032376"/>
          </a:xfrm>
        </p:spPr>
        <p:txBody>
          <a:bodyPr>
            <a:normAutofit lnSpcReduction="10000"/>
          </a:bodyPr>
          <a:lstStyle/>
          <a:p>
            <a:r>
              <a:rPr lang="pt-BR" dirty="0"/>
              <a:t>No último tópico, discutimos como as redes neurais aprendem.</a:t>
            </a:r>
          </a:p>
          <a:p>
            <a:r>
              <a:rPr lang="pt-BR" dirty="0"/>
              <a:t>Vimos que isso é feito através da minimização de uma função de erro (também chamada de função de custo).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Usamos o </a:t>
            </a:r>
            <a:r>
              <a:rPr lang="pt-BR" b="1" i="1" dirty="0"/>
              <a:t>erro quadrático médio</a:t>
            </a:r>
            <a:r>
              <a:rPr lang="pt-BR" dirty="0"/>
              <a:t> por questões didáticas, mas existem várias outras funções como por exemplo a </a:t>
            </a:r>
            <a:r>
              <a:rPr lang="pt-BR" b="1" i="1" dirty="0"/>
              <a:t>entropia cruzada</a:t>
            </a:r>
            <a:r>
              <a:rPr lang="pt-BR" dirty="0"/>
              <a:t>, usada para o treinamento de classificadores e a </a:t>
            </a:r>
            <a:r>
              <a:rPr lang="pt-BR" b="1" i="1" dirty="0"/>
              <a:t>focal </a:t>
            </a:r>
            <a:r>
              <a:rPr lang="pt-BR" b="1" i="1" dirty="0" err="1"/>
              <a:t>loss</a:t>
            </a:r>
            <a:r>
              <a:rPr lang="pt-BR" b="1" i="1" dirty="0"/>
              <a:t> </a:t>
            </a:r>
            <a:r>
              <a:rPr lang="pt-BR" dirty="0"/>
              <a:t>para o treinamento de detectores de objetos.</a:t>
            </a:r>
          </a:p>
          <a:p>
            <a:r>
              <a:rPr lang="pt-BR" dirty="0"/>
              <a:t>Aprendemos que a minimização da função de erro é realizada de forma iterativa usando o algoritmo da retropropagação do erro para calcular os vetores gradiente.</a:t>
            </a:r>
          </a:p>
          <a:p>
            <a:r>
              <a:rPr lang="pt-BR" dirty="0"/>
              <a:t>Analisamos como a retropropagação funciona através de um exemplo.</a:t>
            </a:r>
          </a:p>
          <a:p>
            <a:r>
              <a:rPr lang="pt-BR" dirty="0"/>
              <a:t>Neste tópico, iremos discutir algumas questões práticas para o treinamento de redes neurais.</a:t>
            </a:r>
          </a:p>
        </p:txBody>
      </p:sp>
    </p:spTree>
    <p:extLst>
      <p:ext uri="{BB962C8B-B14F-4D97-AF65-F5344CB8AC3E}">
        <p14:creationId xmlns:p14="http://schemas.microsoft.com/office/powerpoint/2010/main" val="3946202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Algumas questões práticas sobre algoritmos de aprendizado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77318"/>
            <a:ext cx="11021704" cy="4680681"/>
          </a:xfrm>
        </p:spPr>
        <p:txBody>
          <a:bodyPr/>
          <a:lstStyle/>
          <a:p>
            <a:r>
              <a:rPr lang="pt-BR" dirty="0"/>
              <a:t>Podemos dizer que os </a:t>
            </a:r>
            <a:r>
              <a:rPr lang="pt-BR" b="1" i="1" dirty="0"/>
              <a:t>elementos básicos do aprendizado de máquina </a:t>
            </a:r>
            <a:r>
              <a:rPr lang="pt-BR" dirty="0"/>
              <a:t>através de </a:t>
            </a:r>
            <a:r>
              <a:rPr lang="pt-BR" b="1" i="1" dirty="0"/>
              <a:t>redes neurais </a:t>
            </a:r>
            <a:r>
              <a:rPr lang="pt-BR" dirty="0"/>
              <a:t>foram apresentados até aqui. </a:t>
            </a:r>
          </a:p>
          <a:p>
            <a:r>
              <a:rPr lang="pt-BR" dirty="0"/>
              <a:t>Porém, existem alguns aspectos práticos que nós precisamos discutir.</a:t>
            </a:r>
          </a:p>
          <a:p>
            <a:r>
              <a:rPr lang="pt-BR" dirty="0"/>
              <a:t>Portanto, começamos relembrando sobre a questão do </a:t>
            </a:r>
            <a:r>
              <a:rPr lang="pt-BR" b="1" i="1" dirty="0"/>
              <a:t>cálculo do vetor gradiente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1926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do vetor gradiente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078029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Conforme vimos anteriormente, a base para o aprendizado de redes MLP é a obtenção do </a:t>
                </a:r>
                <a:r>
                  <a:rPr lang="pt-BR" b="1" i="1" dirty="0"/>
                  <a:t>vetor gradiente </a:t>
                </a:r>
                <a:r>
                  <a:rPr lang="pt-BR" dirty="0"/>
                  <a:t>e o estabelecimento de um </a:t>
                </a:r>
                <a:r>
                  <a:rPr lang="pt-BR" b="1" i="1" dirty="0"/>
                  <a:t>processo iterativo de busca </a:t>
                </a:r>
                <a:r>
                  <a:rPr lang="pt-BR" dirty="0"/>
                  <a:t>dos </a:t>
                </a:r>
                <a:r>
                  <a:rPr lang="pt-BR" b="1" i="1" dirty="0"/>
                  <a:t>pesos </a:t>
                </a:r>
                <a:r>
                  <a:rPr lang="pt-BR" dirty="0"/>
                  <a:t>que minimizem a </a:t>
                </a:r>
                <a:r>
                  <a:rPr lang="pt-BR" b="1" i="1" dirty="0"/>
                  <a:t>função de erro</a:t>
                </a:r>
                <a:r>
                  <a:rPr lang="pt-BR" dirty="0"/>
                  <a:t>. </a:t>
                </a:r>
              </a:p>
              <a:p>
                <a:r>
                  <a:rPr lang="pt-BR" dirty="0"/>
                  <a:t>Vimos que a obtenção do </a:t>
                </a:r>
                <a:r>
                  <a:rPr lang="pt-BR" b="1" i="1" dirty="0"/>
                  <a:t>vetor gradiente</a:t>
                </a:r>
                <a:r>
                  <a:rPr lang="pt-BR" dirty="0"/>
                  <a:t> se dá através do processo de </a:t>
                </a:r>
                <a:r>
                  <a:rPr lang="pt-BR" b="1" i="1" dirty="0"/>
                  <a:t>retropropagação do erro</a:t>
                </a:r>
                <a:r>
                  <a:rPr lang="pt-BR" dirty="0"/>
                  <a:t>, o qual é dividido em duas etapas: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Etapa direta (</a:t>
                </a:r>
                <a:r>
                  <a:rPr lang="pt-BR" b="1" i="1" dirty="0"/>
                  <a:t>forward</a:t>
                </a:r>
                <a:r>
                  <a:rPr lang="pt-BR" dirty="0"/>
                  <a:t>) onde se apresenta um exemplo de entrada,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, e obtém-se a resposta da rede e, consequentemente, o </a:t>
                </a:r>
                <a:r>
                  <a:rPr lang="pt-BR" b="1" i="1" dirty="0"/>
                  <a:t>erro de saída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Etapa reversa (</a:t>
                </a:r>
                <a:r>
                  <a:rPr lang="pt-BR" b="1" i="1" dirty="0"/>
                  <a:t>retropropagação</a:t>
                </a:r>
                <a:r>
                  <a:rPr lang="pt-BR" dirty="0"/>
                  <a:t>) em que se calculam as derivadas parciais necessárias ao longo das camadas da rede.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078029" cy="5032375"/>
              </a:xfrm>
              <a:blipFill>
                <a:blip r:embed="rId2"/>
                <a:stretch>
                  <a:fillRect l="-935" t="-1937" r="-137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0149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3902" cy="1325563"/>
          </a:xfrm>
        </p:spPr>
        <p:txBody>
          <a:bodyPr/>
          <a:lstStyle/>
          <a:p>
            <a:r>
              <a:rPr lang="pt-BR" dirty="0"/>
              <a:t>Cálculo do vetor gradiente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247783" cy="503237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pt-BR" dirty="0"/>
                  <a:t>Vimos que a derivada parcial do erro em relação a um peso qualquer é a média de </a:t>
                </a:r>
                <a:r>
                  <a:rPr lang="pt-BR" b="1" i="1" dirty="0"/>
                  <a:t>gradientes particulares (ou locais)</a:t>
                </a:r>
              </a:p>
              <a:p>
                <a:pPr marL="0" indent="0">
                  <a:buNone/>
                </a:pPr>
                <a:endParaRPr lang="pt-BR" sz="5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</m:d>
                        </m:num>
                        <m:den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r>
                        <a:rPr lang="pt-BR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40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40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hr m:val="∑"/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40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sub>
                              </m:sSub>
                            </m:sup>
                            <m:e>
                              <m:f>
                                <m:f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𝜕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e>
                                    <m:sub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  <m:d>
                                    <m:d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sSubSup>
                                    <m:sSubSupPr>
                                      <m:ctrlP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  <m:sup>
                                      <m:r>
                                        <a:rPr lang="pt-BR" sz="2400" i="1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nary>
                        </m:e>
                      </m:nary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40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pt-BR" sz="2400">
                                  <a:latin typeface="Cambria Math" panose="02040503050406030204" pitchFamily="18" charset="0"/>
                                </a:rPr>
                                <m:t>dados</m:t>
                              </m:r>
                            </m:sub>
                          </m:sSub>
                        </m:sup>
                        <m:e>
                          <m: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𝛻</m:t>
                          </m:r>
                          <m:sSub>
                            <m:sSub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400" b="1" i="1">
                                  <a:latin typeface="Cambria Math" panose="02040503050406030204" pitchFamily="18" charset="0"/>
                                </a:rPr>
                                <m:t>𝑾</m:t>
                              </m:r>
                            </m:e>
                          </m:d>
                        </m:e>
                      </m:nary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dirty="0"/>
              </a:p>
              <a:p>
                <a:pPr marL="0" indent="0">
                  <a:buNone/>
                </a:pPr>
                <a:endParaRPr lang="pt-BR" sz="600" dirty="0"/>
              </a:p>
              <a:p>
                <a:r>
                  <a:rPr lang="pt-BR" dirty="0"/>
                  <a:t>O </a:t>
                </a:r>
                <a:r>
                  <a:rPr lang="pt-BR" b="1" i="1" dirty="0"/>
                  <a:t>gradiente local </a:t>
                </a:r>
                <a:r>
                  <a:rPr lang="pt-BR" dirty="0"/>
                  <a:t>é a derivada parcial do erro da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pt-BR" dirty="0"/>
                  <a:t>-</a:t>
                </a:r>
                <a:r>
                  <a:rPr lang="pt-BR" dirty="0" err="1"/>
                  <a:t>ésima</a:t>
                </a:r>
                <a:r>
                  <a:rPr lang="pt-BR" dirty="0"/>
                  <a:t> saída da rede para 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-ésimo exemplo de entrada em relação ao peso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pt-BR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𝛻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</m:d>
                  </m:oMath>
                </a14:m>
                <a:r>
                  <a:rPr lang="pt-BR" dirty="0"/>
                  <a:t> é a média dos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pt-BR" b="1" i="1" dirty="0"/>
                  <a:t> gradientes locais</a:t>
                </a:r>
                <a:r>
                  <a:rPr lang="pt-BR" dirty="0"/>
                  <a:t> para 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-</a:t>
                </a:r>
                <a:r>
                  <a:rPr lang="pt-BR" dirty="0" err="1"/>
                  <a:t>ésimo</a:t>
                </a:r>
                <a:r>
                  <a:rPr lang="pt-BR" dirty="0"/>
                  <a:t> exemplo de entrada.</a:t>
                </a:r>
              </a:p>
              <a:p>
                <a:r>
                  <a:rPr lang="pt-BR" dirty="0"/>
                  <a:t>No entanto, aqui surge um questionamento importante: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O que é melhor, usar a </a:t>
                </a:r>
                <a:r>
                  <a:rPr lang="pt-BR" b="1" i="1" dirty="0"/>
                  <a:t>média dos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𝑀</m:t>
                        </m:r>
                      </m:sub>
                    </m:sSub>
                  </m:oMath>
                </a14:m>
                <a:r>
                  <a:rPr lang="pt-BR" b="1" i="1" dirty="0"/>
                  <a:t> gradientes locais</a:t>
                </a:r>
                <a:r>
                  <a:rPr lang="pt-BR" dirty="0"/>
                  <a:t>,</a:t>
                </a:r>
                <a:r>
                  <a:rPr lang="pt-BR" b="1" i="1" dirty="0"/>
                  <a:t>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𝛻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</m:d>
                  </m:oMath>
                </a14:m>
                <a:r>
                  <a:rPr lang="pt-BR" dirty="0"/>
                  <a:t>,</a:t>
                </a:r>
                <a:r>
                  <a:rPr lang="pt-BR" b="1" i="1" dirty="0"/>
                  <a:t> e já dar um passo de otimização</a:t>
                </a:r>
                <a:r>
                  <a:rPr lang="pt-BR" dirty="0"/>
                  <a:t>, ou seja, atualizar os pesos, </a:t>
                </a:r>
                <a:r>
                  <a:rPr lang="pt-BR" b="1" i="1" dirty="0"/>
                  <a:t>reunir o gradiente completo e então dar um passo único e mais preciso </a:t>
                </a:r>
                <a:r>
                  <a:rPr lang="pt-BR" dirty="0"/>
                  <a:t>ou</a:t>
                </a:r>
                <a:r>
                  <a:rPr lang="pt-BR" b="1" i="1" dirty="0"/>
                  <a:t> um meio termo</a:t>
                </a:r>
                <a:r>
                  <a:rPr lang="pt-BR" dirty="0"/>
                  <a:t>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247783" cy="5032375"/>
              </a:xfrm>
              <a:blipFill>
                <a:blip r:embed="rId2"/>
                <a:stretch>
                  <a:fillRect l="-813" t="-2421" r="-21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tângulo 8"/>
          <p:cNvSpPr/>
          <p:nvPr/>
        </p:nvSpPr>
        <p:spPr>
          <a:xfrm>
            <a:off x="6254884" y="2680628"/>
            <a:ext cx="924129" cy="8974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928286F3-4B05-CDE5-AEF5-5B1222276419}"/>
              </a:ext>
            </a:extLst>
          </p:cNvPr>
          <p:cNvSpPr txBox="1"/>
          <p:nvPr/>
        </p:nvSpPr>
        <p:spPr>
          <a:xfrm>
            <a:off x="6203008" y="3575802"/>
            <a:ext cx="11511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Gradiente local</a:t>
            </a:r>
          </a:p>
        </p:txBody>
      </p:sp>
    </p:spTree>
    <p:extLst>
      <p:ext uri="{BB962C8B-B14F-4D97-AF65-F5344CB8AC3E}">
        <p14:creationId xmlns:p14="http://schemas.microsoft.com/office/powerpoint/2010/main" val="2389748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14C689F-B335-5924-6D61-297EEE64E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 do vetor gradiente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71BC374-E2D1-A6D7-D637-C334606B8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85188" cy="5032375"/>
          </a:xfrm>
        </p:spPr>
        <p:txBody>
          <a:bodyPr>
            <a:normAutofit/>
          </a:bodyPr>
          <a:lstStyle/>
          <a:p>
            <a:r>
              <a:rPr lang="pt-BR" dirty="0"/>
              <a:t>Esse questionamento gera três abordagens possíveis para o cálculo do vetor gradiente.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 cálculo usando todos os exemplos (batelada).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 cálculo (i.e., estimativa) usando um único exemplo (estocástica).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O cálculo usando um subconjunto de exemplos (mini-</a:t>
            </a:r>
            <a:r>
              <a:rPr lang="pt-BR" i="1" dirty="0"/>
              <a:t>batches</a:t>
            </a:r>
            <a:r>
              <a:rPr lang="pt-BR" dirty="0"/>
              <a:t>).</a:t>
            </a:r>
          </a:p>
          <a:p>
            <a:r>
              <a:rPr lang="pt-BR" dirty="0"/>
              <a:t>Nas </a:t>
            </a:r>
            <a:r>
              <a:rPr lang="pt-BR" b="1" i="1" dirty="0"/>
              <a:t>redes neurais profundas </a:t>
            </a:r>
            <a:r>
              <a:rPr lang="pt-BR" dirty="0"/>
              <a:t>(ou </a:t>
            </a:r>
            <a:r>
              <a:rPr lang="pt-BR" b="1" i="1" dirty="0"/>
              <a:t>deep learning</a:t>
            </a:r>
            <a:r>
              <a:rPr lang="pt-BR" dirty="0"/>
              <a:t>), usadas com muita frequência em problemas possuem enormes conjuntos de dados, usa-se a abordagem com </a:t>
            </a:r>
            <a:r>
              <a:rPr lang="pt-BR" b="1" i="1" dirty="0"/>
              <a:t>mini-batches</a:t>
            </a:r>
            <a:r>
              <a:rPr lang="pt-BR" dirty="0"/>
              <a:t>, pois com ela, podemos controlar a complexidade computacional necessária para o treinamento.</a:t>
            </a:r>
          </a:p>
          <a:p>
            <a:r>
              <a:rPr lang="pt-BR" b="1" dirty="0"/>
              <a:t>OBS</a:t>
            </a:r>
            <a:r>
              <a:rPr lang="pt-BR" dirty="0"/>
              <a:t>.: Os exemplos para estimativa do vetor gradiente com as versões </a:t>
            </a:r>
            <a:r>
              <a:rPr lang="pt-BR" b="1" i="1" dirty="0"/>
              <a:t>estocástica</a:t>
            </a:r>
            <a:r>
              <a:rPr lang="pt-BR" dirty="0"/>
              <a:t> e </a:t>
            </a:r>
            <a:r>
              <a:rPr lang="pt-BR" b="1" i="1" dirty="0"/>
              <a:t>mini-batch</a:t>
            </a:r>
            <a:r>
              <a:rPr lang="pt-BR" dirty="0"/>
              <a:t> devem ser </a:t>
            </a:r>
            <a:r>
              <a:rPr lang="pt-BR" b="1" i="1" dirty="0"/>
              <a:t>aleatoriamente</a:t>
            </a:r>
            <a:r>
              <a:rPr lang="pt-BR" dirty="0"/>
              <a:t> escolhidos a partir do conjunto de treinamento.</a:t>
            </a:r>
          </a:p>
        </p:txBody>
      </p:sp>
    </p:spTree>
    <p:extLst>
      <p:ext uri="{BB962C8B-B14F-4D97-AF65-F5344CB8AC3E}">
        <p14:creationId xmlns:p14="http://schemas.microsoft.com/office/powerpoint/2010/main" val="4177058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4FC3986-5B4F-F3A1-9727-17D27F12C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Variações dos algoritmos de otimização dos pesos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D33643CF-D78C-5854-1EB8-6FA35C52B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10089" cy="4351338"/>
          </a:xfrm>
        </p:spPr>
        <p:txBody>
          <a:bodyPr/>
          <a:lstStyle/>
          <a:p>
            <a:r>
              <a:rPr lang="pt-BR" dirty="0"/>
              <a:t>Existem algumas </a:t>
            </a:r>
            <a:r>
              <a:rPr lang="pt-BR" b="1" i="1" dirty="0">
                <a:solidFill>
                  <a:srgbClr val="7030A0"/>
                </a:solidFill>
              </a:rPr>
              <a:t>modificações</a:t>
            </a:r>
            <a:r>
              <a:rPr lang="pt-BR" dirty="0"/>
              <a:t> que podem ser aplicadas às versões estocásticas (mini-</a:t>
            </a:r>
            <a:r>
              <a:rPr lang="pt-BR" i="1" dirty="0"/>
              <a:t>batch</a:t>
            </a:r>
            <a:r>
              <a:rPr lang="pt-BR" dirty="0"/>
              <a:t> e estocástica) para </a:t>
            </a:r>
            <a:r>
              <a:rPr lang="pt-BR" b="1" i="1" dirty="0">
                <a:solidFill>
                  <a:srgbClr val="00B050"/>
                </a:solidFill>
              </a:rPr>
              <a:t>melhorar seu desempenho sem aumentar muito sua complexidade computacional</a:t>
            </a:r>
            <a:r>
              <a:rPr lang="pt-BR" dirty="0"/>
              <a:t>.</a:t>
            </a:r>
          </a:p>
          <a:p>
            <a:r>
              <a:rPr lang="pt-BR" dirty="0"/>
              <a:t>As modificações mais usadas são: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Redução gradual do passo de aprendizagem,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Adição do termo momentum,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Adição do termo momentum de Nesterov,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dirty="0"/>
              <a:t>Adição de passos de aprendizagem adaptativos.</a:t>
            </a:r>
          </a:p>
          <a:p>
            <a:pPr lvl="1"/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33627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6A5DDE3-7807-E307-74B4-24A0E2C39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Redução gradual do passo de aprendizagem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9CBCA785-9755-4721-BCE7-A5C63D422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3251" y="1825624"/>
            <a:ext cx="5739317" cy="5032375"/>
          </a:xfrm>
        </p:spPr>
        <p:txBody>
          <a:bodyPr>
            <a:normAutofit/>
          </a:bodyPr>
          <a:lstStyle/>
          <a:p>
            <a:r>
              <a:rPr lang="pt-BR" dirty="0"/>
              <a:t>Assim como fizemos com as versões estocásticas do gradiente descendente quando trabalhamos com regressores lineares, podemos </a:t>
            </a:r>
            <a:r>
              <a:rPr lang="pt-BR" b="1" i="1" dirty="0">
                <a:solidFill>
                  <a:srgbClr val="7030A0"/>
                </a:solidFill>
              </a:rPr>
              <a:t>reduzir o passo de aprendizagem para tornar essas versões mais comportadas e, esperançosamente, obter a convergência</a:t>
            </a:r>
            <a:r>
              <a:rPr lang="pt-BR" dirty="0"/>
              <a:t>.</a:t>
            </a:r>
          </a:p>
          <a:p>
            <a:r>
              <a:rPr lang="pt-BR" dirty="0"/>
              <a:t>Podemos utilizar todas as técnicas que aprendemos antes: </a:t>
            </a:r>
            <a:r>
              <a:rPr lang="pt-BR" b="1" i="1" dirty="0">
                <a:solidFill>
                  <a:srgbClr val="00B050"/>
                </a:solidFill>
              </a:rPr>
              <a:t>redução por degraus, decaimento exponencial ou temporal</a:t>
            </a:r>
            <a:r>
              <a:rPr lang="pt-BR" dirty="0"/>
              <a:t>.</a:t>
            </a:r>
          </a:p>
        </p:txBody>
      </p:sp>
      <p:pic>
        <p:nvPicPr>
          <p:cNvPr id="13" name="Picture 5">
            <a:extLst>
              <a:ext uri="{FF2B5EF4-FFF2-40B4-BE49-F238E27FC236}">
                <a16:creationId xmlns:a16="http://schemas.microsoft.com/office/drawing/2014/main" xmlns="" id="{2A26D7AB-E420-270D-36AF-17B866CF139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9" r="8947" b="2656"/>
          <a:stretch/>
        </p:blipFill>
        <p:spPr>
          <a:xfrm>
            <a:off x="3412270" y="2705944"/>
            <a:ext cx="2669429" cy="2661005"/>
          </a:xfrm>
          <a:prstGeom prst="rect">
            <a:avLst/>
          </a:prstGeom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xmlns="" id="{3686CA23-8BC8-4A36-A353-67FAF35670F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2" r="9437" b="2629"/>
          <a:stretch/>
        </p:blipFill>
        <p:spPr>
          <a:xfrm>
            <a:off x="68028" y="2697598"/>
            <a:ext cx="2692420" cy="2684288"/>
          </a:xfrm>
          <a:prstGeom prst="rect">
            <a:avLst/>
          </a:prstGeom>
        </p:spPr>
      </p:pic>
      <p:sp>
        <p:nvSpPr>
          <p:cNvPr id="15" name="Right Arrow 7">
            <a:extLst>
              <a:ext uri="{FF2B5EF4-FFF2-40B4-BE49-F238E27FC236}">
                <a16:creationId xmlns:a16="http://schemas.microsoft.com/office/drawing/2014/main" xmlns="" id="{AC9091B3-9D80-EDD9-8174-2A7E0E6EFD0D}"/>
              </a:ext>
            </a:extLst>
          </p:cNvPr>
          <p:cNvSpPr/>
          <p:nvPr/>
        </p:nvSpPr>
        <p:spPr>
          <a:xfrm>
            <a:off x="2860014" y="3663605"/>
            <a:ext cx="452690" cy="5717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811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991D2F2-AAB6-0340-EC2D-F09F0833B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Redução gradual do passo de aprendizagem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CCB2D48A-2E61-4FF7-D003-586959C637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63210" y="1825624"/>
                <a:ext cx="6963420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As figuras mostram o resultado do uso da técnica de redução temporal com a equação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num>
                            <m:den>
                              <m:r>
                                <a:rPr lang="pt-B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den>
                          </m:f>
                        </m:e>
                      </m:d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num>
                        <m:den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den>
                      </m:f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𝜏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pt-BR" dirty="0"/>
                  <a:t> é o contador de iterações,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dirty="0"/>
                  <a:t> é o valor inicial do passo,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pt-BR" dirty="0"/>
                  <a:t> é o número da iteração a partir da qual o passo fica constante 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é o valor constante do passo após 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pt-BR" dirty="0"/>
                  <a:t>-</a:t>
                </a:r>
                <a:r>
                  <a:rPr lang="pt-BR" dirty="0" err="1"/>
                  <a:t>ésima</a:t>
                </a:r>
                <a:r>
                  <a:rPr lang="pt-BR" dirty="0"/>
                  <a:t> iteração.</a:t>
                </a:r>
              </a:p>
              <a:p>
                <a:r>
                  <a:rPr lang="pt-BR" dirty="0"/>
                  <a:t>Entretanto, percebam que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ainda temos que encontrar os valores ideais para os hiperparâmetros</a:t>
                </a:r>
                <a:r>
                  <a:rPr lang="pt-BR" dirty="0"/>
                  <a:t>, nesse caso,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pt-B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CCB2D48A-2E61-4FF7-D003-586959C637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63210" y="1825624"/>
                <a:ext cx="6963420" cy="5032375"/>
              </a:xfrm>
              <a:blipFill>
                <a:blip r:embed="rId2"/>
                <a:stretch>
                  <a:fillRect l="-1839" t="-1937" b="-96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4">
            <a:extLst>
              <a:ext uri="{FF2B5EF4-FFF2-40B4-BE49-F238E27FC236}">
                <a16:creationId xmlns:a16="http://schemas.microsoft.com/office/drawing/2014/main" xmlns="" id="{72677C2B-6CE8-F2F2-378E-522A50FA847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88" t="5639" r="7163" b="2354"/>
          <a:stretch/>
        </p:blipFill>
        <p:spPr>
          <a:xfrm>
            <a:off x="806922" y="1646717"/>
            <a:ext cx="3190160" cy="28646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3">
                <a:extLst>
                  <a:ext uri="{FF2B5EF4-FFF2-40B4-BE49-F238E27FC236}">
                    <a16:creationId xmlns:a16="http://schemas.microsoft.com/office/drawing/2014/main" xmlns="" id="{C38D1084-003D-A784-6650-7A60F951F7BD}"/>
                  </a:ext>
                </a:extLst>
              </p:cNvPr>
              <p:cNvSpPr txBox="1"/>
              <p:nvPr/>
            </p:nvSpPr>
            <p:spPr>
              <a:xfrm>
                <a:off x="1873050" y="1775511"/>
                <a:ext cx="2314407" cy="12775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12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pt-BR" sz="1200" b="0" i="0" smtClean="0">
                        <a:latin typeface="Cambria Math" panose="02040503050406030204" pitchFamily="18" charset="0"/>
                      </a:rPr>
                      <m:t>=10000</m:t>
                    </m:r>
                  </m:oMath>
                </a14:m>
                <a:endParaRPr lang="pt-BR" sz="12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200" b="0" dirty="0"/>
                  <a:t>Tamanho do batch: 100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pt-BR" sz="1200" dirty="0"/>
                  <a:t>Número de épocas: 100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pt-B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pt-BR" sz="1200" b="0" i="1" smtClean="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endParaRPr lang="pt-BR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pt-BR" sz="1200" i="1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pt-BR" sz="1200" b="0" i="0" smtClean="0">
                        <a:latin typeface="Cambria Math" panose="02040503050406030204" pitchFamily="18" charset="0"/>
                      </a:rPr>
                      <m:t>=(</m:t>
                    </m:r>
                    <m:f>
                      <m:fPr>
                        <m:ctrlPr>
                          <a:rPr lang="pt-BR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12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sz="1200" b="0" i="0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pt-BR" sz="1200" b="0" i="0" smtClean="0"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pt-BR" sz="1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pt-BR" sz="1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pt-BR" sz="12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1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pt-BR" sz="1200" dirty="0"/>
                  <a:t> = 5000</a:t>
                </a:r>
              </a:p>
            </p:txBody>
          </p:sp>
        </mc:Choice>
        <mc:Fallback xmlns="">
          <p:sp>
            <p:nvSpPr>
              <p:cNvPr id="5" name="TextBox 3">
                <a:extLst>
                  <a:ext uri="{FF2B5EF4-FFF2-40B4-BE49-F238E27FC236}">
                    <a16:creationId xmlns:a16="http://schemas.microsoft.com/office/drawing/2014/main" id="{C38D1084-003D-A784-6650-7A60F951F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3050" y="1775511"/>
                <a:ext cx="2314407" cy="1277594"/>
              </a:xfrm>
              <a:prstGeom prst="rect">
                <a:avLst/>
              </a:prstGeom>
              <a:blipFill>
                <a:blip r:embed="rId4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7B3DC33-DE3B-14FE-6752-885F09AC78A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79" r="8947" b="2656"/>
          <a:stretch/>
        </p:blipFill>
        <p:spPr>
          <a:xfrm>
            <a:off x="2476503" y="4699419"/>
            <a:ext cx="2150776" cy="21439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2599078-F33D-664B-B465-9AF8B104C7E5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82" r="9437" b="2629"/>
          <a:stretch/>
        </p:blipFill>
        <p:spPr>
          <a:xfrm>
            <a:off x="165370" y="4680659"/>
            <a:ext cx="2169300" cy="2162748"/>
          </a:xfrm>
          <a:prstGeom prst="rect">
            <a:avLst/>
          </a:prstGeom>
        </p:spPr>
      </p:pic>
      <p:sp>
        <p:nvSpPr>
          <p:cNvPr id="8" name="Right Arrow 7">
            <a:extLst>
              <a:ext uri="{FF2B5EF4-FFF2-40B4-BE49-F238E27FC236}">
                <a16:creationId xmlns:a16="http://schemas.microsoft.com/office/drawing/2014/main" xmlns="" id="{8D3E96B6-8522-56BE-3C86-6605E2144017}"/>
              </a:ext>
            </a:extLst>
          </p:cNvPr>
          <p:cNvSpPr/>
          <p:nvPr/>
        </p:nvSpPr>
        <p:spPr>
          <a:xfrm>
            <a:off x="2136537" y="5579955"/>
            <a:ext cx="364735" cy="5252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0302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C255533-E569-D156-E00B-04EA94A90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Termo momentum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spaço Reservado para Conteúdo 4">
                <a:extLst>
                  <a:ext uri="{FF2B5EF4-FFF2-40B4-BE49-F238E27FC236}">
                    <a16:creationId xmlns:a16="http://schemas.microsoft.com/office/drawing/2014/main" xmlns="" id="{9F8D780D-C739-EE50-7309-37EB11B27A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99945" y="1825624"/>
                <a:ext cx="8534399" cy="5032375"/>
              </a:xfrm>
            </p:spPr>
            <p:txBody>
              <a:bodyPr/>
              <a:lstStyle/>
              <a:p>
                <a:r>
                  <a:rPr lang="pt-BR" dirty="0"/>
                  <a:t>Como vimos antes, o termo momentum adiciona uma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média movente de estimativas do vetor gradiente</a:t>
                </a:r>
                <a:r>
                  <a:rPr lang="pt-BR" dirty="0"/>
                  <a:t>,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𝝂</m:t>
                    </m:r>
                  </m:oMath>
                </a14:m>
                <a:r>
                  <a:rPr lang="pt-BR" dirty="0"/>
                  <a:t>,</a:t>
                </a:r>
                <a:r>
                  <a:rPr lang="pt-BR" b="1" i="1" dirty="0"/>
                  <a:t> </a:t>
                </a:r>
                <a:r>
                  <a:rPr lang="pt-BR" dirty="0"/>
                  <a:t>à equação de atualização dos pesos,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tornando as atualizações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menos ruidosas</a:t>
                </a:r>
                <a:r>
                  <a:rPr lang="pt-BR" dirty="0"/>
                  <a:t> e, consequentemente,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acelerando a convergência e aumentando a estabilidade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 </a:t>
                </a:r>
                <a:r>
                  <a:rPr lang="pt-BR" dirty="0"/>
                  <a:t>do algoritmo.</a:t>
                </a: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𝝂</m:t>
                      </m:r>
                      <m:d>
                        <m:dPr>
                          <m:ctrlP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pt-BR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l-G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𝝂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l-G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</m:e>
                      </m:d>
                      <m:r>
                        <a:rPr lang="pt-B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𝛻</m:t>
                      </m:r>
                      <m:acc>
                        <m:accPr>
                          <m:chr m:val="̂"/>
                          <m:ctrlPr>
                            <a:rPr lang="pt-B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pt-BR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acc>
                      <m:r>
                        <a:rPr lang="pt-B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pt-BR" sz="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𝒘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pt-BR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pt-B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l-G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𝝂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dirty="0"/>
              </a:p>
              <a:p>
                <a:pPr marL="0" indent="0">
                  <a:buNone/>
                </a:pPr>
                <a:r>
                  <a:rPr lang="pt-BR" dirty="0"/>
                  <a:t>onde </a:t>
                </a:r>
                <a14:m>
                  <m:oMath xmlns:m="http://schemas.openxmlformats.org/officeDocument/2006/math">
                    <m:r>
                      <a:rPr lang="pt-B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𝛻</m:t>
                    </m:r>
                    <m:acc>
                      <m:accPr>
                        <m:chr m:val="̂"/>
                        <m:ctrlP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pt-B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e>
                    </m:acc>
                    <m:r>
                      <a:rPr lang="pt-B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pt-BR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𝒘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pt-BR" dirty="0"/>
                  <a:t> é 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estimativa do vetor gradiente </a:t>
                </a:r>
                <a:r>
                  <a:rPr lang="pt-BR" dirty="0"/>
                  <a:t>e </a:t>
                </a:r>
                <a14:m>
                  <m:oMath xmlns:m="http://schemas.openxmlformats.org/officeDocument/2006/math">
                    <m: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∈[0,1)</m:t>
                    </m:r>
                  </m:oMath>
                </a14:m>
                <a:r>
                  <a:rPr lang="pt-BR" dirty="0"/>
                  <a:t> (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coeficiente de momentum</a:t>
                </a:r>
                <a:r>
                  <a:rPr lang="pt-BR" dirty="0"/>
                  <a:t>) determina a quantidade de estimativas anteriores que são consideradas no cálculo da média.</a:t>
                </a:r>
              </a:p>
            </p:txBody>
          </p:sp>
        </mc:Choice>
        <mc:Fallback xmlns="">
          <p:sp>
            <p:nvSpPr>
              <p:cNvPr id="5" name="Espaço Reservado para Conteúdo 4">
                <a:extLst>
                  <a:ext uri="{FF2B5EF4-FFF2-40B4-BE49-F238E27FC236}">
                    <a16:creationId xmlns:a16="http://schemas.microsoft.com/office/drawing/2014/main" id="{9F8D780D-C739-EE50-7309-37EB11B27A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99945" y="1825624"/>
                <a:ext cx="8534399" cy="5032375"/>
              </a:xfrm>
              <a:blipFill>
                <a:blip r:embed="rId3"/>
                <a:stretch>
                  <a:fillRect l="-1429" t="-1937" r="-157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3">
            <a:extLst>
              <a:ext uri="{FF2B5EF4-FFF2-40B4-BE49-F238E27FC236}">
                <a16:creationId xmlns:a16="http://schemas.microsoft.com/office/drawing/2014/main" xmlns="" id="{EFE574B9-9C76-EB21-4B01-2DB90146BAB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82"/>
          <a:stretch/>
        </p:blipFill>
        <p:spPr>
          <a:xfrm>
            <a:off x="157656" y="1825624"/>
            <a:ext cx="3048155" cy="486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497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4C255533-E569-D156-E00B-04EA94A90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Termo momentum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Espaço Reservado para Conteúdo 4">
                <a:extLst>
                  <a:ext uri="{FF2B5EF4-FFF2-40B4-BE49-F238E27FC236}">
                    <a16:creationId xmlns:a16="http://schemas.microsoft.com/office/drawing/2014/main" xmlns="" id="{9F8D780D-C739-EE50-7309-37EB11B27A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67807" y="1825624"/>
                <a:ext cx="8166537" cy="5032375"/>
              </a:xfrm>
            </p:spPr>
            <p:txBody>
              <a:bodyPr/>
              <a:lstStyle/>
              <a:p>
                <a:r>
                  <a:rPr lang="pt-BR" dirty="0"/>
                  <a:t>O termo momentum adiciona uma média das estimativas dos gradientes anteriores à atualização corrente.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Quando as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estimativas apontam na mesma direção </a:t>
                </a:r>
                <a:r>
                  <a:rPr lang="pt-BR" dirty="0"/>
                  <a:t>por várias iterações, o termo faz com que o tamanho dos passos dados naquela direção aumentem, ou seja, o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modelo ganha impulso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Quando as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estimativas mudam de direção</a:t>
                </a:r>
                <a:r>
                  <a:rPr lang="pt-BR" dirty="0"/>
                  <a:t> a cada nova iteração, o termo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suaviza as variações</a:t>
                </a:r>
                <a:r>
                  <a:rPr lang="pt-BR" dirty="0"/>
                  <a:t>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Como resultado, temos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convergência mais rápida e oscilação reduzida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A </a:t>
                </a:r>
                <a:r>
                  <a:rPr lang="pt-BR" b="1" i="1" dirty="0">
                    <a:solidFill>
                      <a:srgbClr val="FF0000"/>
                    </a:solidFill>
                  </a:rPr>
                  <a:t>desvantagem</a:t>
                </a:r>
                <a:r>
                  <a:rPr lang="pt-BR" dirty="0"/>
                  <a:t> é que nós precisamos encontrar as valores ideais dos </a:t>
                </a:r>
                <a:r>
                  <a:rPr lang="pt-BR" b="1" i="1" dirty="0">
                    <a:solidFill>
                      <a:srgbClr val="FF0000"/>
                    </a:solidFill>
                  </a:rPr>
                  <a:t>hiperparâmetros</a:t>
                </a: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5" name="Espaço Reservado para Conteúdo 4">
                <a:extLst>
                  <a:ext uri="{FF2B5EF4-FFF2-40B4-BE49-F238E27FC236}">
                    <a16:creationId xmlns:a16="http://schemas.microsoft.com/office/drawing/2014/main" id="{9F8D780D-C739-EE50-7309-37EB11B27A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67807" y="1825624"/>
                <a:ext cx="8166537" cy="5032375"/>
              </a:xfrm>
              <a:blipFill>
                <a:blip r:embed="rId3"/>
                <a:stretch>
                  <a:fillRect l="-1343" t="-1937" b="-205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3">
            <a:extLst>
              <a:ext uri="{FF2B5EF4-FFF2-40B4-BE49-F238E27FC236}">
                <a16:creationId xmlns:a16="http://schemas.microsoft.com/office/drawing/2014/main" xmlns="" id="{EFE574B9-9C76-EB21-4B01-2DB90146BAB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82"/>
          <a:stretch/>
        </p:blipFill>
        <p:spPr>
          <a:xfrm>
            <a:off x="409902" y="1825624"/>
            <a:ext cx="3048155" cy="486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058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143E453-3B70-BBF0-0C1A-4F63A3DD8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Momento de Nesterov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447E95C3-AC41-0888-3CA7-1EAB28F9A4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070021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O método do </a:t>
                </a:r>
                <a:r>
                  <a:rPr lang="pt-BR" b="1" i="1" dirty="0"/>
                  <a:t>momento de Nesterov </a:t>
                </a:r>
                <a:r>
                  <a:rPr lang="pt-BR" dirty="0"/>
                  <a:t>é uma variação do </a:t>
                </a:r>
                <a:r>
                  <a:rPr lang="pt-BR" b="1" i="1" dirty="0"/>
                  <a:t>termo momentum</a:t>
                </a:r>
                <a:r>
                  <a:rPr lang="pt-BR" dirty="0"/>
                  <a:t> em que o cálculo da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estimativa do vetor gradiente</a:t>
                </a:r>
                <a:r>
                  <a:rPr lang="pt-BR" dirty="0"/>
                  <a:t> não é feito em relação ao vetor de pesos atual,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, mas em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relação ao próximo vetor de pesos</a:t>
                </a:r>
                <a:r>
                  <a:rPr lang="pt-BR" dirty="0"/>
                  <a:t>, ou seja, em relação ao valor do vetor de pesos após sua atualização com o termo momentum,</a:t>
                </a:r>
                <a:endParaRPr lang="pt-BR" b="1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  <m:d>
                      <m:dPr>
                        <m:ctrlP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pt-BR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pt-B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𝒘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pt-BR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l-GR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𝝂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. </a:t>
                </a:r>
              </a:p>
              <a:p>
                <a:r>
                  <a:rPr lang="pt-BR" dirty="0"/>
                  <a:t>Essa mudança no cálculo da estimativa do vetor gradiente faz com que o </a:t>
                </a:r>
                <a:r>
                  <a:rPr lang="pt-BR" b="1" i="1" dirty="0"/>
                  <a:t>momento de Nesterov </a:t>
                </a:r>
                <a:r>
                  <a:rPr lang="pt-BR" dirty="0"/>
                  <a:t>apresente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convergência mais rápida e ajustes mais precisos dos pesos </a:t>
                </a:r>
                <a:r>
                  <a:rPr lang="pt-BR" dirty="0"/>
                  <a:t>do que o termo momentum, especialmente em regiões onde 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superfície de erro se assemelha à forma de um vale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447E95C3-AC41-0888-3CA7-1EAB28F9A4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070021" cy="5032375"/>
              </a:xfrm>
              <a:blipFill>
                <a:blip r:embed="rId3"/>
                <a:stretch>
                  <a:fillRect l="-936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08907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FE2DAD2-5657-42A1-35B9-4BB9FD00F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6600" cy="1325563"/>
          </a:xfrm>
        </p:spPr>
        <p:txBody>
          <a:bodyPr/>
          <a:lstStyle/>
          <a:p>
            <a:r>
              <a:rPr lang="pt-BR" dirty="0"/>
              <a:t>Passo de aprendizagem adaptativo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90C1EAA3-4293-62D4-5778-91C90AA885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4"/>
                <a:ext cx="11085095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Na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variação adaptativa</a:t>
                </a:r>
                <a:r>
                  <a:rPr lang="pt-BR" dirty="0"/>
                  <a:t>, o passo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de aprendizagem é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ajustado adaptativamente </a:t>
                </a:r>
                <a:r>
                  <a:rPr lang="pt-BR" dirty="0"/>
                  <a:t>de acordo com a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inclinação da superfície de erro</a:t>
                </a:r>
                <a:r>
                  <a:rPr lang="pt-BR" dirty="0"/>
                  <a:t>. </a:t>
                </a:r>
              </a:p>
              <a:p>
                <a:r>
                  <a:rPr lang="pt-BR" dirty="0"/>
                  <a:t>Além disso, usa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passos de aprendizagem diferentes para cada peso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 </a:t>
                </a:r>
                <a:r>
                  <a:rPr lang="pt-BR" dirty="0"/>
                  <a:t>do modelo,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os atualizando de forma independente</a:t>
                </a:r>
                <a:r>
                  <a:rPr lang="pt-BR" dirty="0"/>
                  <a:t> de acordo com a inclinação da superfície na direção dos pesos.</a:t>
                </a:r>
              </a:p>
              <a:p>
                <a:r>
                  <a:rPr lang="pt-BR" dirty="0"/>
                  <a:t>Assim, esses métodos são adequados para redes neurais, onde 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superfície de erro é bastante irregular e diferente em diferentes dimensões, tornando a atualização dos pesos mais efetiva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Uma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vantagem</a:t>
                </a:r>
                <a:r>
                  <a:rPr lang="pt-BR" dirty="0"/>
                  <a:t> é que na maioria dos casos,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não é necessário se ajustar manualmente nenhum </a:t>
                </a:r>
                <a:r>
                  <a:rPr lang="pt-BR" b="1" i="1" dirty="0" err="1">
                    <a:solidFill>
                      <a:srgbClr val="00B050"/>
                    </a:solidFill>
                  </a:rPr>
                  <a:t>hiperparâmetro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As técnicas mais conhecidas são </a:t>
                </a:r>
                <a:r>
                  <a:rPr lang="pt-BR" dirty="0" err="1"/>
                  <a:t>RMSProp</a:t>
                </a:r>
                <a:r>
                  <a:rPr lang="pt-BR" dirty="0"/>
                  <a:t>, </a:t>
                </a:r>
                <a:r>
                  <a:rPr lang="pt-BR" dirty="0" err="1"/>
                  <a:t>AdaGrad</a:t>
                </a:r>
                <a:r>
                  <a:rPr lang="pt-BR" dirty="0"/>
                  <a:t> e Adam.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90C1EAA3-4293-62D4-5778-91C90AA885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4"/>
                <a:ext cx="11085095" cy="5032375"/>
              </a:xfrm>
              <a:blipFill>
                <a:blip r:embed="rId3"/>
                <a:stretch>
                  <a:fillRect l="-935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4290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E428791-3DA4-5B74-468E-92866ACF3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Inicialização dos pesos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75BB692B-7CD6-BD6B-43F7-47D0588E1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65732" cy="503237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Um outro aspecto prático que é importante discutirmos é a </a:t>
            </a:r>
            <a:r>
              <a:rPr lang="pt-BR" b="1" i="1" dirty="0">
                <a:solidFill>
                  <a:srgbClr val="7030A0"/>
                </a:solidFill>
              </a:rPr>
              <a:t>inicialização dos pesos de uma rede neural</a:t>
            </a:r>
            <a:r>
              <a:rPr lang="pt-BR" dirty="0"/>
              <a:t>.</a:t>
            </a:r>
          </a:p>
          <a:p>
            <a:r>
              <a:rPr lang="pt-BR" dirty="0"/>
              <a:t>Como os métodos de treinamento de </a:t>
            </a:r>
            <a:r>
              <a:rPr lang="pt-BR" b="1" i="1" dirty="0"/>
              <a:t>redes neurais </a:t>
            </a:r>
            <a:r>
              <a:rPr lang="pt-BR" dirty="0"/>
              <a:t>são de </a:t>
            </a:r>
            <a:r>
              <a:rPr lang="pt-BR" b="1" i="1" dirty="0">
                <a:solidFill>
                  <a:srgbClr val="00B050"/>
                </a:solidFill>
              </a:rPr>
              <a:t>busca local</a:t>
            </a:r>
            <a:r>
              <a:rPr lang="pt-BR" dirty="0"/>
              <a:t>, eles dependem da </a:t>
            </a:r>
            <a:r>
              <a:rPr lang="pt-BR" b="1" i="1" dirty="0">
                <a:solidFill>
                  <a:srgbClr val="00B050"/>
                </a:solidFill>
              </a:rPr>
              <a:t>inicialização dos pesos</a:t>
            </a:r>
            <a:r>
              <a:rPr lang="pt-BR" dirty="0"/>
              <a:t>.</a:t>
            </a:r>
          </a:p>
          <a:p>
            <a:r>
              <a:rPr lang="pt-BR" dirty="0"/>
              <a:t>Porém, a inicialização pode afetar drasticamente a qualidade da solução obtida.</a:t>
            </a:r>
          </a:p>
          <a:p>
            <a:r>
              <a:rPr lang="pt-BR" dirty="0"/>
              <a:t>O </a:t>
            </a:r>
            <a:r>
              <a:rPr lang="pt-BR" b="1" i="1" dirty="0"/>
              <a:t>ponto de inicialização dos pesos </a:t>
            </a:r>
            <a:r>
              <a:rPr lang="pt-BR" dirty="0"/>
              <a:t>pode afetar a velocidade de </a:t>
            </a:r>
            <a:r>
              <a:rPr lang="pt-BR" dirty="0" smtClean="0"/>
              <a:t>convergência e a estabilidade </a:t>
            </a:r>
            <a:r>
              <a:rPr lang="pt-BR" dirty="0"/>
              <a:t>do </a:t>
            </a:r>
            <a:r>
              <a:rPr lang="pt-BR" dirty="0" smtClean="0"/>
              <a:t>algoritmo.</a:t>
            </a:r>
            <a:endParaRPr lang="pt-BR" dirty="0"/>
          </a:p>
          <a:p>
            <a:r>
              <a:rPr lang="pt-BR" dirty="0"/>
              <a:t>Alguns </a:t>
            </a:r>
            <a:r>
              <a:rPr lang="pt-BR" b="1" i="1" dirty="0"/>
              <a:t>pontos de inicialização </a:t>
            </a:r>
            <a:r>
              <a:rPr lang="pt-BR" dirty="0"/>
              <a:t>fazem com que a rede alcance uma </a:t>
            </a:r>
            <a:r>
              <a:rPr lang="pt-BR" b="1" i="1" dirty="0">
                <a:solidFill>
                  <a:srgbClr val="00B050"/>
                </a:solidFill>
              </a:rPr>
              <a:t>boa solução mais rapidamente</a:t>
            </a:r>
            <a:r>
              <a:rPr lang="pt-BR" dirty="0"/>
              <a:t>, enquanto outros pontos podem levar a uma </a:t>
            </a:r>
            <a:r>
              <a:rPr lang="pt-BR" b="1" i="1" dirty="0">
                <a:solidFill>
                  <a:srgbClr val="00B050"/>
                </a:solidFill>
              </a:rPr>
              <a:t>convergência mais lenta</a:t>
            </a:r>
            <a:r>
              <a:rPr lang="pt-BR" dirty="0"/>
              <a:t> (e.g., algoritmo pode ser inicializado em um ponto de sela ou em uma região de platô).</a:t>
            </a:r>
          </a:p>
        </p:txBody>
      </p:sp>
    </p:spTree>
    <p:extLst>
      <p:ext uri="{BB962C8B-B14F-4D97-AF65-F5344CB8AC3E}">
        <p14:creationId xmlns:p14="http://schemas.microsoft.com/office/powerpoint/2010/main" val="2365938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E5B52B4-554F-EA14-6F5D-C6A1B0CAE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Inicialização dos pesos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60D4529-22E6-EDA7-A512-7D4EBDA02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5032375"/>
          </a:xfrm>
        </p:spPr>
        <p:txBody>
          <a:bodyPr/>
          <a:lstStyle/>
          <a:p>
            <a:r>
              <a:rPr lang="pt-BR" dirty="0"/>
              <a:t>Alguns </a:t>
            </a:r>
            <a:r>
              <a:rPr lang="pt-BR" b="1" i="1" dirty="0"/>
              <a:t>pontos de inicialização</a:t>
            </a:r>
            <a:r>
              <a:rPr lang="pt-BR" dirty="0"/>
              <a:t> são tão instáveis que o algoritmo pode encontrar dificuldades numéricas (</a:t>
            </a:r>
            <a:r>
              <a:rPr lang="pt-BR" b="1" i="1" dirty="0" err="1"/>
              <a:t>underflow</a:t>
            </a:r>
            <a:r>
              <a:rPr lang="pt-BR" dirty="0"/>
              <a:t> e </a:t>
            </a:r>
            <a:r>
              <a:rPr lang="pt-BR" b="1" i="1" dirty="0"/>
              <a:t>overflow</a:t>
            </a:r>
            <a:r>
              <a:rPr lang="pt-BR" dirty="0"/>
              <a:t>), falhando completamente em convergir (</a:t>
            </a:r>
            <a:r>
              <a:rPr lang="pt-BR" b="1" i="1" dirty="0"/>
              <a:t>desaparecimento</a:t>
            </a:r>
            <a:r>
              <a:rPr lang="pt-BR" dirty="0"/>
              <a:t> ou </a:t>
            </a:r>
            <a:r>
              <a:rPr lang="pt-BR" b="1" i="1" dirty="0"/>
              <a:t>explosão</a:t>
            </a:r>
            <a:r>
              <a:rPr lang="pt-BR" dirty="0"/>
              <a:t> dos gradientes).</a:t>
            </a:r>
          </a:p>
          <a:p>
            <a:r>
              <a:rPr lang="pt-BR" dirty="0"/>
              <a:t>Uma questão importante da inicialização dos pesos é </a:t>
            </a:r>
            <a:r>
              <a:rPr lang="pt-BR" b="1" i="1" dirty="0">
                <a:solidFill>
                  <a:srgbClr val="7030A0"/>
                </a:solidFill>
              </a:rPr>
              <a:t>quebrar a simetria</a:t>
            </a:r>
            <a:r>
              <a:rPr lang="pt-BR" dirty="0"/>
              <a:t> entre os </a:t>
            </a:r>
            <a:r>
              <a:rPr lang="pt-BR" b="1" i="1" dirty="0"/>
              <a:t>nós</a:t>
            </a:r>
            <a:r>
              <a:rPr lang="pt-BR" dirty="0"/>
              <a:t>, ou seja, </a:t>
            </a:r>
            <a:r>
              <a:rPr lang="pt-BR" b="1" i="1" dirty="0"/>
              <a:t>nós</a:t>
            </a:r>
            <a:r>
              <a:rPr lang="pt-BR" dirty="0"/>
              <a:t> com a </a:t>
            </a:r>
            <a:r>
              <a:rPr lang="pt-BR" b="1" i="1" dirty="0">
                <a:solidFill>
                  <a:srgbClr val="00B050"/>
                </a:solidFill>
              </a:rPr>
              <a:t>mesma função de ativação</a:t>
            </a:r>
            <a:r>
              <a:rPr lang="pt-BR" dirty="0"/>
              <a:t> e </a:t>
            </a:r>
            <a:r>
              <a:rPr lang="pt-BR" b="1" i="1" dirty="0">
                <a:solidFill>
                  <a:srgbClr val="00B050"/>
                </a:solidFill>
              </a:rPr>
              <a:t>conectados aos mesmos nós</a:t>
            </a:r>
            <a:r>
              <a:rPr lang="pt-BR" dirty="0"/>
              <a:t>, devem ter pesos iniciais diferentes, caso contrário, eles terão </a:t>
            </a:r>
            <a:r>
              <a:rPr lang="pt-BR" dirty="0" smtClean="0"/>
              <a:t>as mesmas atualizações e os</a:t>
            </a:r>
            <a:r>
              <a:rPr lang="pt-BR" dirty="0" smtClean="0"/>
              <a:t> </a:t>
            </a:r>
            <a:r>
              <a:rPr lang="pt-BR" dirty="0"/>
              <a:t>mesmos pesos ao longo do treinamento </a:t>
            </a:r>
            <a:r>
              <a:rPr lang="pt-BR" dirty="0" smtClean="0"/>
              <a:t>e, consequentemente, </a:t>
            </a:r>
            <a:r>
              <a:rPr lang="pt-BR" b="1" i="1" dirty="0" smtClean="0">
                <a:solidFill>
                  <a:schemeClr val="accent2"/>
                </a:solidFill>
              </a:rPr>
              <a:t>aprenderão a </a:t>
            </a:r>
            <a:r>
              <a:rPr lang="pt-BR" b="1" i="1" dirty="0">
                <a:solidFill>
                  <a:schemeClr val="accent2"/>
                </a:solidFill>
              </a:rPr>
              <a:t>mesma </a:t>
            </a:r>
            <a:r>
              <a:rPr lang="pt-BR" b="1" i="1" dirty="0" smtClean="0">
                <a:solidFill>
                  <a:schemeClr val="accent2"/>
                </a:solidFill>
              </a:rPr>
              <a:t>coisa</a:t>
            </a:r>
            <a:r>
              <a:rPr lang="pt-BR" dirty="0" smtClean="0"/>
              <a:t>. </a:t>
            </a:r>
            <a:endParaRPr lang="pt-BR" dirty="0"/>
          </a:p>
          <a:p>
            <a:r>
              <a:rPr lang="pt-BR" dirty="0"/>
              <a:t>Portanto, como veremos a seguir, para </a:t>
            </a:r>
            <a:r>
              <a:rPr lang="pt-BR" b="1" i="1" dirty="0">
                <a:solidFill>
                  <a:srgbClr val="7030A0"/>
                </a:solidFill>
              </a:rPr>
              <a:t>quebrar a simetria e evitar problemas de convergência</a:t>
            </a:r>
            <a:r>
              <a:rPr lang="pt-BR" dirty="0"/>
              <a:t>, </a:t>
            </a:r>
            <a:r>
              <a:rPr lang="pt-BR" dirty="0" smtClean="0"/>
              <a:t>devemos usar algumas </a:t>
            </a:r>
            <a:r>
              <a:rPr lang="pt-BR" b="1" i="1" dirty="0">
                <a:solidFill>
                  <a:srgbClr val="FF0000"/>
                </a:solidFill>
              </a:rPr>
              <a:t>heurísticas</a:t>
            </a:r>
            <a:r>
              <a:rPr lang="pt-BR" b="1" i="1" dirty="0">
                <a:solidFill>
                  <a:srgbClr val="7030A0"/>
                </a:solidFill>
              </a:rPr>
              <a:t> de inicialização aleatória dos pesos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6981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42A1312-8FBD-F4EC-A0B1-BCBB5B1CE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Inicialização dos pesos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B81EEEB-3D53-992A-94F1-E7CCB97CE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146277" cy="5032375"/>
          </a:xfrm>
        </p:spPr>
        <p:txBody>
          <a:bodyPr>
            <a:normAutofit/>
          </a:bodyPr>
          <a:lstStyle/>
          <a:p>
            <a:r>
              <a:rPr lang="pt-BR" dirty="0"/>
              <a:t>Os pesos iniciais são tipicamente obtidos a partir de </a:t>
            </a:r>
            <a:r>
              <a:rPr lang="pt-BR" b="1" i="1" dirty="0">
                <a:solidFill>
                  <a:srgbClr val="00B050"/>
                </a:solidFill>
              </a:rPr>
              <a:t>distribuições gaussianas ou uniformes</a:t>
            </a:r>
            <a:r>
              <a:rPr lang="pt-BR" dirty="0"/>
              <a:t>, não importando muito qual delas é usada.</a:t>
            </a:r>
          </a:p>
          <a:p>
            <a:r>
              <a:rPr lang="pt-BR" dirty="0"/>
              <a:t>No entanto, a </a:t>
            </a:r>
            <a:r>
              <a:rPr lang="pt-BR" b="1" i="1" dirty="0">
                <a:solidFill>
                  <a:srgbClr val="7030A0"/>
                </a:solidFill>
              </a:rPr>
              <a:t>escala de variação da distribuição de inicialização dos pesos</a:t>
            </a:r>
            <a:r>
              <a:rPr lang="pt-BR" dirty="0"/>
              <a:t> tem um efeito significativo no </a:t>
            </a:r>
            <a:r>
              <a:rPr lang="pt-BR" b="1" i="1" dirty="0">
                <a:solidFill>
                  <a:schemeClr val="accent2"/>
                </a:solidFill>
              </a:rPr>
              <a:t>resultado da otimização</a:t>
            </a:r>
            <a:r>
              <a:rPr lang="pt-BR" dirty="0"/>
              <a:t> e, consequentemente, na </a:t>
            </a:r>
            <a:r>
              <a:rPr lang="pt-BR" b="1" i="1" dirty="0">
                <a:solidFill>
                  <a:schemeClr val="accent2"/>
                </a:solidFill>
              </a:rPr>
              <a:t>capacidade de generalização</a:t>
            </a:r>
            <a:r>
              <a:rPr lang="pt-BR" dirty="0"/>
              <a:t> da rede neural.</a:t>
            </a:r>
          </a:p>
          <a:p>
            <a:r>
              <a:rPr lang="pt-BR" dirty="0"/>
              <a:t>Sendo assim, a </a:t>
            </a:r>
            <a:r>
              <a:rPr lang="pt-BR" b="1" i="1" dirty="0">
                <a:solidFill>
                  <a:srgbClr val="00B050"/>
                </a:solidFill>
              </a:rPr>
              <a:t>escala de variação</a:t>
            </a:r>
            <a:r>
              <a:rPr lang="pt-BR" dirty="0"/>
              <a:t> da inicialização dos pesos levanta algumas discussões.</a:t>
            </a:r>
          </a:p>
          <a:p>
            <a:r>
              <a:rPr lang="pt-BR" dirty="0"/>
              <a:t>Distribuições com </a:t>
            </a:r>
            <a:r>
              <a:rPr lang="pt-BR" b="1" i="1" dirty="0">
                <a:solidFill>
                  <a:srgbClr val="7030A0"/>
                </a:solidFill>
              </a:rPr>
              <a:t>grande escala variação</a:t>
            </a:r>
            <a:r>
              <a:rPr lang="pt-BR" dirty="0"/>
              <a:t> tendem a </a:t>
            </a:r>
            <a:r>
              <a:rPr lang="pt-BR" b="1" i="1" dirty="0">
                <a:solidFill>
                  <a:schemeClr val="accent2"/>
                </a:solidFill>
              </a:rPr>
              <a:t>reduzir o problema da simetria</a:t>
            </a:r>
            <a:r>
              <a:rPr lang="pt-BR" dirty="0"/>
              <a:t>, pois a probabilidade de valores iniciais bastante distintos é maior.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24262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376E3AB-5174-DE2C-39F4-65701DAC3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Inicialização dos pesos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B154AAA-E17D-7EF0-2985-A3CB24744A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56004" cy="5032375"/>
          </a:xfrm>
        </p:spPr>
        <p:txBody>
          <a:bodyPr>
            <a:normAutofit lnSpcReduction="10000"/>
          </a:bodyPr>
          <a:lstStyle/>
          <a:p>
            <a:r>
              <a:rPr lang="pt-BR" dirty="0"/>
              <a:t>Porém, se as </a:t>
            </a:r>
            <a:r>
              <a:rPr lang="pt-BR" b="1" i="1" dirty="0">
                <a:solidFill>
                  <a:srgbClr val="00B050"/>
                </a:solidFill>
              </a:rPr>
              <a:t>magnitudes dos valores iniciais forem muito grandes</a:t>
            </a:r>
            <a:r>
              <a:rPr lang="pt-BR" dirty="0"/>
              <a:t>, podemos ter problemas de </a:t>
            </a:r>
            <a:r>
              <a:rPr lang="pt-BR" b="1" i="1" dirty="0">
                <a:solidFill>
                  <a:srgbClr val="7030A0"/>
                </a:solidFill>
              </a:rPr>
              <a:t>instabilidade</a:t>
            </a:r>
            <a:r>
              <a:rPr lang="pt-BR" dirty="0"/>
              <a:t>.</a:t>
            </a:r>
          </a:p>
          <a:p>
            <a:r>
              <a:rPr lang="pt-BR" dirty="0"/>
              <a:t>Pesos com magnitudes muito grandes podem levar os </a:t>
            </a:r>
            <a:r>
              <a:rPr lang="pt-BR" b="1" i="1" dirty="0"/>
              <a:t>nós</a:t>
            </a:r>
            <a:r>
              <a:rPr lang="pt-BR" dirty="0"/>
              <a:t> com </a:t>
            </a:r>
            <a:r>
              <a:rPr lang="pt-BR" b="1" i="1" dirty="0"/>
              <a:t>funções de ativação </a:t>
            </a:r>
            <a:r>
              <a:rPr lang="pt-BR" dirty="0"/>
              <a:t>do tipo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Sigmoide a operarem na região de saturação, causando o </a:t>
            </a:r>
            <a:r>
              <a:rPr lang="pt-BR" b="1" i="1" dirty="0"/>
              <a:t>desaparecimento do gradiente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 err="1"/>
              <a:t>ReLU</a:t>
            </a:r>
            <a:r>
              <a:rPr lang="pt-BR" dirty="0"/>
              <a:t> à </a:t>
            </a:r>
            <a:r>
              <a:rPr lang="pt-BR" b="1" i="1" dirty="0"/>
              <a:t>explosão do gradiente</a:t>
            </a:r>
            <a:r>
              <a:rPr lang="pt-BR" dirty="0"/>
              <a:t>.</a:t>
            </a:r>
          </a:p>
          <a:p>
            <a:r>
              <a:rPr lang="pt-BR" dirty="0"/>
              <a:t>Por outro lado, distribuições com </a:t>
            </a:r>
            <a:r>
              <a:rPr lang="pt-BR" b="1" i="1" dirty="0">
                <a:solidFill>
                  <a:srgbClr val="00B050"/>
                </a:solidFill>
              </a:rPr>
              <a:t>escala de variação muito pequena</a:t>
            </a:r>
            <a:r>
              <a:rPr lang="pt-BR" dirty="0"/>
              <a:t> têm </a:t>
            </a:r>
            <a:r>
              <a:rPr lang="pt-BR" b="1" i="1" dirty="0">
                <a:solidFill>
                  <a:srgbClr val="7030A0"/>
                </a:solidFill>
              </a:rPr>
              <a:t>maiores chances causar a simetria entre nós</a:t>
            </a:r>
            <a:r>
              <a:rPr lang="pt-BR" dirty="0"/>
              <a:t> e também podem apresentar </a:t>
            </a:r>
            <a:r>
              <a:rPr lang="pt-BR" b="1" i="1" dirty="0" smtClean="0">
                <a:solidFill>
                  <a:srgbClr val="7030A0"/>
                </a:solidFill>
              </a:rPr>
              <a:t>lentidão </a:t>
            </a:r>
            <a:r>
              <a:rPr lang="pt-BR" dirty="0"/>
              <a:t>durante o treinamento.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Por exemplo, redes com </a:t>
            </a:r>
            <a:r>
              <a:rPr lang="pt-BR" b="1" i="1" dirty="0">
                <a:solidFill>
                  <a:schemeClr val="accent2"/>
                </a:solidFill>
              </a:rPr>
              <a:t>pesos muito pequenos e com nós usando função de ativação </a:t>
            </a:r>
            <a:r>
              <a:rPr lang="pt-BR" b="1" i="1" dirty="0" err="1">
                <a:solidFill>
                  <a:schemeClr val="accent2"/>
                </a:solidFill>
              </a:rPr>
              <a:t>ReLU</a:t>
            </a:r>
            <a:r>
              <a:rPr lang="pt-BR" dirty="0"/>
              <a:t>, podem ter problemas com o </a:t>
            </a:r>
            <a:r>
              <a:rPr lang="pt-BR" b="1" i="1" dirty="0">
                <a:solidFill>
                  <a:schemeClr val="accent2"/>
                </a:solidFill>
              </a:rPr>
              <a:t>desaparecimento do gradiente</a:t>
            </a:r>
            <a:r>
              <a:rPr lang="pt-BR" dirty="0"/>
              <a:t>.</a:t>
            </a:r>
          </a:p>
          <a:p>
            <a:r>
              <a:rPr lang="pt-BR" dirty="0"/>
              <a:t>Na sequência veremos algumas </a:t>
            </a:r>
            <a:r>
              <a:rPr lang="pt-BR" b="1" i="1" dirty="0">
                <a:solidFill>
                  <a:srgbClr val="00B0F0"/>
                </a:solidFill>
              </a:rPr>
              <a:t>heurísticas para inicialização dos pesos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5790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86FD8F7-2118-E1F9-E400-402C61B9B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Heurísticas de inicialização dos pesos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9A595344-CA31-A0FF-C172-CCD7759FE5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214370" cy="244481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A ideia por trás destas heurísticas </a:t>
                </a:r>
                <a:r>
                  <a:rPr lang="pt-BR" dirty="0" smtClean="0"/>
                  <a:t>é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manter a média das </a:t>
                </a:r>
                <a:r>
                  <a:rPr lang="pt-BR" b="1" i="1" dirty="0" smtClean="0">
                    <a:solidFill>
                      <a:srgbClr val="00B050"/>
                    </a:solidFill>
                  </a:rPr>
                  <a:t>ativações igual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a zero </a:t>
                </a:r>
                <a:r>
                  <a:rPr lang="pt-BR" dirty="0" smtClean="0"/>
                  <a:t>e </a:t>
                </a:r>
                <a:r>
                  <a:rPr lang="pt-BR" b="1" dirty="0" smtClean="0">
                    <a:solidFill>
                      <a:schemeClr val="accent2"/>
                    </a:solidFill>
                  </a:rPr>
                  <a:t>preservar </a:t>
                </a:r>
                <a:r>
                  <a:rPr lang="pt-BR" b="1" dirty="0">
                    <a:solidFill>
                      <a:schemeClr val="accent2"/>
                    </a:solidFill>
                  </a:rPr>
                  <a:t>aproximadamente a variância das ativações e dos gradientes</a:t>
                </a:r>
                <a:r>
                  <a:rPr lang="pt-BR" dirty="0"/>
                  <a:t> ao longo da propagação direta e </a:t>
                </a:r>
                <a:r>
                  <a:rPr lang="pt-BR" dirty="0" err="1"/>
                  <a:t>retropropagação</a:t>
                </a:r>
                <a:r>
                  <a:rPr lang="pt-BR" dirty="0"/>
                  <a:t>, </a:t>
                </a:r>
                <a:r>
                  <a:rPr lang="pt-BR" dirty="0" smtClean="0"/>
                  <a:t>mitigando</a:t>
                </a:r>
                <a:r>
                  <a:rPr lang="pt-BR" dirty="0" smtClean="0"/>
                  <a:t>-se </a:t>
                </a:r>
                <a:r>
                  <a:rPr lang="pt-BR" dirty="0"/>
                  <a:t>o desaparecimento ou a explosão do gradiente.</a:t>
                </a:r>
              </a:p>
              <a:p>
                <a:r>
                  <a:rPr lang="pt-BR" dirty="0"/>
                  <a:t>Considerando uma camada com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pt-BR" dirty="0"/>
                  <a:t> entradas 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 saídas, temos as seguintes </a:t>
                </a:r>
                <a:r>
                  <a:rPr lang="pt-BR" b="1" i="1" dirty="0"/>
                  <a:t>heurísticas</a:t>
                </a:r>
                <a:r>
                  <a:rPr lang="pt-BR" dirty="0"/>
                  <a:t> para inicializar os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pesos sinápticos*</a:t>
                </a:r>
                <a:r>
                  <a:rPr lang="pt-BR" dirty="0">
                    <a:solidFill>
                      <a:srgbClr val="7030A0"/>
                    </a:solidFill>
                  </a:rPr>
                  <a:t> </a:t>
                </a:r>
                <a:r>
                  <a:rPr lang="pt-BR" dirty="0"/>
                  <a:t>de seus nós.</a:t>
                </a: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A595344-CA31-A0FF-C172-CCD7759FE5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214370" cy="2444819"/>
              </a:xfrm>
              <a:blipFill rotWithShape="0">
                <a:blip r:embed="rId3"/>
                <a:stretch>
                  <a:fillRect l="-979" t="-5473" r="-17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="" id="{E2B30CC6-FD89-06DA-0809-BF2604EB86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5148530"/>
                  </p:ext>
                </p:extLst>
              </p:nvPr>
            </p:nvGraphicFramePr>
            <p:xfrm>
              <a:off x="1016096" y="4081832"/>
              <a:ext cx="11036474" cy="235267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54751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663486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308066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  <a:gridCol w="2437577">
                      <a:extLst>
                        <a:ext uri="{9D8B030D-6E8A-4147-A177-3AD203B41FA5}">
                          <a16:colId xmlns:a16="http://schemas.microsoft.com/office/drawing/2014/main" xmlns="" val="20003"/>
                        </a:ext>
                      </a:extLst>
                    </a:gridCol>
                  </a:tblGrid>
                  <a:tr h="31658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1" dirty="0"/>
                            <a:t>Inicialização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1" dirty="0"/>
                            <a:t>Funções de ativação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1" dirty="0"/>
                            <a:t>Distribuição Uniforme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(−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sz="12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1" dirty="0"/>
                            <a:t>Distribuição Normal 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(0,</m:t>
                                </m:r>
                                <m:sSup>
                                  <m:sSupPr>
                                    <m:ctrlPr>
                                      <a:rPr lang="pt-B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2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pt-BR" sz="1200" b="0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4410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/>
                            <a:t>Xavier/Glorot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/>
                            <a:t>Linear</a:t>
                          </a:r>
                          <a:r>
                            <a:rPr lang="pt-BR" sz="1200" baseline="0" dirty="0"/>
                            <a:t> (i.e., n</a:t>
                          </a:r>
                          <a:r>
                            <a:rPr lang="pt-BR" sz="1200" dirty="0"/>
                            <a:t>enhuma), Tanh, Logística, Softmax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num>
                                      <m:den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2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4410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/>
                            <a:t>He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/>
                            <a:t>ReLU</a:t>
                          </a:r>
                          <a:r>
                            <a:rPr lang="pt-BR" sz="1200" baseline="0" dirty="0"/>
                            <a:t> e suas variantes</a:t>
                          </a:r>
                          <a:endParaRPr lang="pt-BR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6</m:t>
                                        </m:r>
                                      </m:num>
                                      <m:den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2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44100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/>
                            <a:t>LeCun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/>
                            <a:t>SELU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pt-BR" sz="1200" b="0" i="1" smtClean="0">
                                            <a:latin typeface="Cambria Math" panose="02040503050406030204" pitchFamily="18" charset="0"/>
                                          </a:rPr>
                                          <m:t>𝑚</m:t>
                                        </m:r>
                                      </m:den>
                                    </m:f>
                                  </m:e>
                                </m:rad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pt-BR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pt-BR" sz="12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pt-BR" sz="12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pt-BR" sz="1200" b="0" i="1" smtClean="0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pt-BR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2B30CC6-FD89-06DA-0809-BF2604EB869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95148530"/>
                  </p:ext>
                </p:extLst>
              </p:nvPr>
            </p:nvGraphicFramePr>
            <p:xfrm>
              <a:off x="1016096" y="4081832"/>
              <a:ext cx="11036474" cy="2352675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85475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66348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30806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43757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1" dirty="0"/>
                            <a:t>Inicialização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b="1" dirty="0"/>
                            <a:t>Funções de ativação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9249" t="-1333" r="-79447" b="-418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3250" t="-1333" r="-500" b="-418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318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/>
                            <a:t>Xavier/Glorot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/>
                            <a:t>Linear</a:t>
                          </a:r>
                          <a:r>
                            <a:rPr lang="pt-BR" sz="1200" baseline="0" dirty="0"/>
                            <a:t> (i.e., n</a:t>
                          </a:r>
                          <a:r>
                            <a:rPr lang="pt-BR" sz="1200" dirty="0"/>
                            <a:t>enhuma), Tanh, Logística, Softmax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9249" t="-73077" r="-79447" b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3250" t="-73077" r="-500" b="-201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318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/>
                            <a:t>He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/>
                            <a:t>ReLU</a:t>
                          </a:r>
                          <a:r>
                            <a:rPr lang="pt-BR" sz="1200" baseline="0" dirty="0"/>
                            <a:t> e suas variantes</a:t>
                          </a:r>
                          <a:endParaRPr lang="pt-BR" sz="12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9249" t="-173077" r="-79447" b="-1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3250" t="-173077" r="-500" b="-101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3182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/>
                            <a:t>LeCun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pt-BR" sz="1200" dirty="0"/>
                            <a:t>SELU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9249" t="-273077" r="-79447" b="-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pt-B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3250" t="-273077" r="-500" b="-192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E5557117-42B8-ED06-8392-EAE399DA24A0}"/>
              </a:ext>
            </a:extLst>
          </p:cNvPr>
          <p:cNvSpPr txBox="1"/>
          <p:nvPr/>
        </p:nvSpPr>
        <p:spPr>
          <a:xfrm>
            <a:off x="0" y="6581001"/>
            <a:ext cx="87159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/>
              <a:t>*Em geral, inicializa-se os </a:t>
            </a:r>
            <a:r>
              <a:rPr lang="pt-BR" sz="1200" b="1" i="1" dirty="0"/>
              <a:t>pesos de bias </a:t>
            </a:r>
            <a:r>
              <a:rPr lang="pt-BR" sz="1200" dirty="0"/>
              <a:t>com </a:t>
            </a:r>
            <a:r>
              <a:rPr lang="pt-BR" sz="1200" b="1" i="1" dirty="0"/>
              <a:t>valores iguais a 0</a:t>
            </a:r>
            <a:r>
              <a:rPr lang="pt-BR" sz="1200" dirty="0"/>
              <a:t>, pois se mostra uma inicialização bastante eficiente na maioria dos casos.</a:t>
            </a:r>
          </a:p>
        </p:txBody>
      </p:sp>
    </p:spTree>
    <p:extLst>
      <p:ext uri="{BB962C8B-B14F-4D97-AF65-F5344CB8AC3E}">
        <p14:creationId xmlns:p14="http://schemas.microsoft.com/office/powerpoint/2010/main" val="41307924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832"/>
            <a:ext cx="10515600" cy="982412"/>
          </a:xfrm>
        </p:spPr>
        <p:txBody>
          <a:bodyPr/>
          <a:lstStyle/>
          <a:p>
            <a:r>
              <a:rPr lang="pt-BR" dirty="0"/>
              <a:t>Redes neurais com a biblioteca </a:t>
            </a:r>
            <a:r>
              <a:rPr lang="pt-BR" dirty="0" err="1"/>
              <a:t>SciKit-Learn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0" y="1562352"/>
            <a:ext cx="7099852" cy="5295648"/>
          </a:xfrm>
        </p:spPr>
        <p:txBody>
          <a:bodyPr>
            <a:normAutofit/>
          </a:bodyPr>
          <a:lstStyle/>
          <a:p>
            <a:r>
              <a:rPr lang="pt-BR" dirty="0"/>
              <a:t>A biblioteca </a:t>
            </a:r>
            <a:r>
              <a:rPr lang="pt-BR" dirty="0" err="1"/>
              <a:t>SciKit-Learn</a:t>
            </a:r>
            <a:r>
              <a:rPr lang="pt-BR" dirty="0"/>
              <a:t> </a:t>
            </a:r>
            <a:r>
              <a:rPr lang="pt-BR" b="1" i="1" dirty="0">
                <a:solidFill>
                  <a:srgbClr val="7030A0"/>
                </a:solidFill>
              </a:rPr>
              <a:t>disponibiliza apenas dois tipos de arquiteturas</a:t>
            </a:r>
            <a:r>
              <a:rPr lang="pt-BR" dirty="0"/>
              <a:t> de redes neurais, MLP e </a:t>
            </a:r>
            <a:r>
              <a:rPr lang="pt-BR" b="1" i="1" dirty="0">
                <a:solidFill>
                  <a:schemeClr val="accent2"/>
                </a:solidFill>
              </a:rPr>
              <a:t>máquina de Boltzmann restrita</a:t>
            </a:r>
            <a:r>
              <a:rPr lang="pt-BR" dirty="0"/>
              <a:t>. </a:t>
            </a:r>
          </a:p>
          <a:p>
            <a:r>
              <a:rPr lang="pt-BR" dirty="0"/>
              <a:t>A </a:t>
            </a:r>
            <a:r>
              <a:rPr lang="pt-BR" b="1" i="1" dirty="0">
                <a:solidFill>
                  <a:schemeClr val="accent2"/>
                </a:solidFill>
              </a:rPr>
              <a:t>máquina de Boltzmann</a:t>
            </a:r>
            <a:r>
              <a:rPr lang="pt-BR" dirty="0"/>
              <a:t> é implementada através da classe Bernoulli </a:t>
            </a:r>
            <a:r>
              <a:rPr lang="pt-BR" i="1" dirty="0" err="1"/>
              <a:t>restricted</a:t>
            </a:r>
            <a:r>
              <a:rPr lang="pt-BR" i="1" dirty="0"/>
              <a:t> Boltzmann machine</a:t>
            </a:r>
            <a:r>
              <a:rPr lang="pt-BR" dirty="0"/>
              <a:t> (</a:t>
            </a:r>
            <a:r>
              <a:rPr lang="pt-BR" dirty="0" err="1"/>
              <a:t>BernoulliRBM</a:t>
            </a:r>
            <a:r>
              <a:rPr lang="pt-BR" dirty="0"/>
              <a:t>) e é usada para redução de dimensionalidade, classificação, geração de imagens, etc.</a:t>
            </a:r>
          </a:p>
          <a:p>
            <a:r>
              <a:rPr lang="pt-BR" dirty="0"/>
              <a:t>Além disso, suas implementações </a:t>
            </a:r>
            <a:r>
              <a:rPr lang="pt-BR" b="1" i="1" dirty="0">
                <a:solidFill>
                  <a:srgbClr val="7030A0"/>
                </a:solidFill>
              </a:rPr>
              <a:t>não são flexíveis</a:t>
            </a:r>
            <a:r>
              <a:rPr lang="pt-BR" dirty="0"/>
              <a:t> e </a:t>
            </a:r>
            <a:r>
              <a:rPr lang="pt-BR" b="1" i="1" dirty="0">
                <a:solidFill>
                  <a:srgbClr val="7030A0"/>
                </a:solidFill>
              </a:rPr>
              <a:t>não se destinam a aplicações de larga escala</a:t>
            </a:r>
            <a:r>
              <a:rPr lang="pt-BR" dirty="0"/>
              <a:t>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Por exemplo, a biblioteca </a:t>
            </a:r>
            <a:r>
              <a:rPr lang="pt-BR" i="1" dirty="0" err="1"/>
              <a:t>SciKit-Learn</a:t>
            </a:r>
            <a:r>
              <a:rPr lang="pt-BR" dirty="0"/>
              <a:t> não oferece suporte a </a:t>
            </a:r>
            <a:r>
              <a:rPr lang="pt-BR" dirty="0" err="1"/>
              <a:t>GPUs</a:t>
            </a:r>
            <a:r>
              <a:rPr lang="pt-BR" dirty="0"/>
              <a:t>.</a:t>
            </a:r>
          </a:p>
        </p:txBody>
      </p:sp>
      <p:pic>
        <p:nvPicPr>
          <p:cNvPr id="1026" name="Picture 2" descr="scikit-learn – Wikipédia, a enciclopédia livre">
            <a:extLst>
              <a:ext uri="{FF2B5EF4-FFF2-40B4-BE49-F238E27FC236}">
                <a16:creationId xmlns:a16="http://schemas.microsoft.com/office/drawing/2014/main" xmlns="" id="{513F0B97-EA3C-F3BD-7E8A-DEEBB3FE3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899613"/>
            <a:ext cx="3489960" cy="1878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4142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2832"/>
            <a:ext cx="10515600" cy="982412"/>
          </a:xfrm>
        </p:spPr>
        <p:txBody>
          <a:bodyPr/>
          <a:lstStyle/>
          <a:p>
            <a:r>
              <a:rPr lang="pt-BR" dirty="0"/>
              <a:t>Redes neurais com a biblioteca </a:t>
            </a:r>
            <a:r>
              <a:rPr lang="pt-BR" dirty="0" err="1"/>
              <a:t>SciKit-Learn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8868" y="1562352"/>
            <a:ext cx="11247784" cy="5295648"/>
          </a:xfrm>
        </p:spPr>
        <p:txBody>
          <a:bodyPr>
            <a:normAutofit/>
          </a:bodyPr>
          <a:lstStyle/>
          <a:p>
            <a:r>
              <a:rPr lang="pt-BR" dirty="0"/>
              <a:t>Para implementações de </a:t>
            </a:r>
            <a:r>
              <a:rPr lang="pt-BR" b="1" i="1" dirty="0"/>
              <a:t>modelos de aprendizado profundo </a:t>
            </a:r>
            <a:r>
              <a:rPr lang="pt-BR" dirty="0"/>
              <a:t>escaláveis, </a:t>
            </a:r>
            <a:r>
              <a:rPr lang="pt-BR" dirty="0" smtClean="0"/>
              <a:t>flexíveis, muito </a:t>
            </a:r>
            <a:r>
              <a:rPr lang="pt-BR" dirty="0"/>
              <a:t>mais </a:t>
            </a:r>
            <a:r>
              <a:rPr lang="pt-BR" dirty="0" smtClean="0"/>
              <a:t>rápidos e </a:t>
            </a:r>
            <a:r>
              <a:rPr lang="pt-BR" dirty="0"/>
              <a:t>baseados em GPU, devemos utilizar bibliotecas como: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 err="1"/>
              <a:t>Tensorflow</a:t>
            </a:r>
            <a:r>
              <a:rPr lang="pt-BR" dirty="0"/>
              <a:t>: criada pela equipe </a:t>
            </a:r>
            <a:r>
              <a:rPr lang="pt-BR" i="1" dirty="0"/>
              <a:t>Google </a:t>
            </a:r>
            <a:r>
              <a:rPr lang="pt-BR" i="1" dirty="0" err="1"/>
              <a:t>Brain</a:t>
            </a:r>
            <a:r>
              <a:rPr lang="pt-BR" dirty="0"/>
              <a:t> do </a:t>
            </a:r>
            <a:r>
              <a:rPr lang="pt-BR" i="1" dirty="0"/>
              <a:t>Google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 err="1"/>
              <a:t>PyTorch</a:t>
            </a:r>
            <a:r>
              <a:rPr lang="pt-BR" dirty="0"/>
              <a:t>: criada pela </a:t>
            </a:r>
            <a:r>
              <a:rPr lang="pt-BR" i="1" dirty="0"/>
              <a:t>Meta AI</a:t>
            </a:r>
            <a:r>
              <a:rPr lang="pt-BR" dirty="0"/>
              <a:t> (antigo </a:t>
            </a:r>
            <a:r>
              <a:rPr lang="pt-BR" i="1" dirty="0" err="1"/>
              <a:t>Facebook</a:t>
            </a:r>
            <a:r>
              <a:rPr lang="pt-BR" dirty="0"/>
              <a:t>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 err="1" smtClean="0"/>
              <a:t>Matlab</a:t>
            </a:r>
            <a:r>
              <a:rPr lang="pt-BR" dirty="0"/>
              <a:t>:</a:t>
            </a:r>
            <a:r>
              <a:rPr lang="pt-BR" dirty="0"/>
              <a:t> </a:t>
            </a:r>
            <a:r>
              <a:rPr lang="pt-BR" dirty="0" smtClean="0"/>
              <a:t>criada </a:t>
            </a:r>
            <a:r>
              <a:rPr lang="pt-BR" dirty="0"/>
              <a:t>pela </a:t>
            </a:r>
            <a:r>
              <a:rPr lang="pt-BR" dirty="0" err="1"/>
              <a:t>Mathworks</a:t>
            </a:r>
            <a:r>
              <a:rPr lang="pt-BR" dirty="0"/>
              <a:t>.</a:t>
            </a:r>
            <a:endParaRPr lang="pt-BR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 err="1"/>
              <a:t>MXNet</a:t>
            </a:r>
            <a:r>
              <a:rPr lang="pt-BR" dirty="0"/>
              <a:t>: criada pela </a:t>
            </a:r>
            <a:r>
              <a:rPr lang="pt-BR" i="1" dirty="0"/>
              <a:t>Apache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 err="1"/>
              <a:t>Caffe</a:t>
            </a:r>
            <a:r>
              <a:rPr lang="pt-BR" dirty="0"/>
              <a:t>: criada na universidade da Califórnia em Berkeley.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 err="1"/>
              <a:t>Theano</a:t>
            </a:r>
            <a:r>
              <a:rPr lang="pt-BR" dirty="0"/>
              <a:t>: criada pela Universidade de Montreal (primeira versão) e mantida posteriormente pela equipe de desenvolvedores do pacote </a:t>
            </a:r>
            <a:r>
              <a:rPr lang="pt-BR" dirty="0" err="1"/>
              <a:t>PyMC</a:t>
            </a:r>
            <a:r>
              <a:rPr lang="pt-BR" dirty="0"/>
              <a:t> sob o nome de </a:t>
            </a:r>
            <a:r>
              <a:rPr lang="pt-BR" dirty="0" err="1"/>
              <a:t>Aesara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Entre outras: </a:t>
            </a:r>
            <a:r>
              <a:rPr lang="pt-BR" dirty="0">
                <a:hlinkClick r:id="rId3"/>
              </a:rPr>
              <a:t>https://en.wikipedia.org/wiki/Comparison_of_deep_learning_software</a:t>
            </a:r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43875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Tarefas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4"/>
            <a:ext cx="11154879" cy="5032376"/>
          </a:xfrm>
        </p:spPr>
        <p:txBody>
          <a:bodyPr>
            <a:normAutofit/>
          </a:bodyPr>
          <a:lstStyle/>
          <a:p>
            <a:r>
              <a:rPr lang="pt-BR" b="1" dirty="0"/>
              <a:t>Quiz</a:t>
            </a:r>
            <a:r>
              <a:rPr lang="pt-BR" dirty="0"/>
              <a:t>: “</a:t>
            </a:r>
            <a:r>
              <a:rPr lang="pt-BR" i="1" dirty="0"/>
              <a:t>T320 - Quiz – Redes Neurais Artificiais (Parte VII)</a:t>
            </a:r>
            <a:r>
              <a:rPr lang="pt-BR" dirty="0"/>
              <a:t>” que se encontra no MS </a:t>
            </a:r>
            <a:r>
              <a:rPr lang="pt-BR" dirty="0" err="1"/>
              <a:t>Teams</a:t>
            </a:r>
            <a:r>
              <a:rPr lang="pt-BR" dirty="0" smtClean="0"/>
              <a:t>.</a:t>
            </a:r>
          </a:p>
          <a:p>
            <a:r>
              <a:rPr lang="pt-BR" b="1" dirty="0" smtClean="0"/>
              <a:t>Avaliação presencial</a:t>
            </a:r>
            <a:r>
              <a:rPr lang="pt-BR" dirty="0" smtClean="0"/>
              <a:t>: </a:t>
            </a:r>
            <a:r>
              <a:rPr lang="pt-BR" b="1" dirty="0" smtClean="0">
                <a:solidFill>
                  <a:srgbClr val="7030A0"/>
                </a:solidFill>
              </a:rPr>
              <a:t>06/06/2026</a:t>
            </a:r>
            <a:r>
              <a:rPr lang="pt-BR" dirty="0" smtClean="0"/>
              <a:t> às 10:00 na sala I-18.</a:t>
            </a:r>
            <a:endParaRPr lang="pt-BR" dirty="0"/>
          </a:p>
          <a:p>
            <a:r>
              <a:rPr lang="pt-BR" b="1" dirty="0"/>
              <a:t>Projeto</a:t>
            </a:r>
            <a:r>
              <a:rPr lang="pt-BR" dirty="0"/>
              <a:t>: Projeto #2.</a:t>
            </a:r>
          </a:p>
          <a:p>
            <a:pPr lvl="1"/>
            <a:r>
              <a:rPr lang="pt-BR" dirty="0"/>
              <a:t>Projeto está no </a:t>
            </a:r>
            <a:r>
              <a:rPr lang="pt-BR" dirty="0" err="1"/>
              <a:t>github</a:t>
            </a:r>
            <a:r>
              <a:rPr lang="pt-BR" dirty="0"/>
              <a:t> e pode ser feito em grupos de no máximo 3 alunos</a:t>
            </a:r>
            <a:r>
              <a:rPr lang="pt-BR" dirty="0" smtClean="0"/>
              <a:t>.</a:t>
            </a:r>
            <a:endParaRPr lang="pt-BR" b="1" dirty="0" smtClean="0"/>
          </a:p>
          <a:p>
            <a:pPr lvl="1"/>
            <a:r>
              <a:rPr lang="pt-BR" b="1" dirty="0" smtClean="0"/>
              <a:t>Entrega</a:t>
            </a:r>
            <a:r>
              <a:rPr lang="pt-BR" dirty="0"/>
              <a:t>: </a:t>
            </a:r>
            <a:r>
              <a:rPr lang="pt-BR" b="1" dirty="0" smtClean="0">
                <a:solidFill>
                  <a:srgbClr val="00B050"/>
                </a:solidFill>
              </a:rPr>
              <a:t>28</a:t>
            </a:r>
            <a:r>
              <a:rPr lang="pt-BR" b="1" dirty="0" smtClean="0">
                <a:solidFill>
                  <a:srgbClr val="00B050"/>
                </a:solidFill>
              </a:rPr>
              <a:t>/06/2026 </a:t>
            </a:r>
            <a:r>
              <a:rPr lang="pt-BR" b="1" dirty="0">
                <a:solidFill>
                  <a:srgbClr val="00B050"/>
                </a:solidFill>
              </a:rPr>
              <a:t>até às 23:59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Leiam os enunciados atentamente.</a:t>
            </a:r>
          </a:p>
          <a:p>
            <a:pPr lvl="1"/>
            <a:r>
              <a:rPr lang="pt-BR" dirty="0"/>
              <a:t>Apenas um integrante do grupo precisa fazer a entrega.</a:t>
            </a:r>
          </a:p>
          <a:p>
            <a:pPr lvl="1"/>
            <a:r>
              <a:rPr lang="pt-BR" b="1" dirty="0">
                <a:solidFill>
                  <a:srgbClr val="FF0000"/>
                </a:solidFill>
              </a:rPr>
              <a:t>Mas não se esqueçam de colocar os nomes de todos os integrantes do grupo.</a:t>
            </a:r>
          </a:p>
        </p:txBody>
      </p:sp>
    </p:spTree>
    <p:extLst>
      <p:ext uri="{BB962C8B-B14F-4D97-AF65-F5344CB8AC3E}">
        <p14:creationId xmlns:p14="http://schemas.microsoft.com/office/powerpoint/2010/main" val="28493163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6687714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tupid Neural Network - 9G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65" y="480707"/>
            <a:ext cx="3401957" cy="21890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Don't be afraid of artificial neural networks - it is easy to start! An overview of deep learning with links to didactic materials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3788" y="480707"/>
            <a:ext cx="3730405" cy="2612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Journey to Machine Learning – Towards Data Scien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06" y="3360518"/>
            <a:ext cx="3815474" cy="2148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 descr="13 Best New Neural Network Books To Read In 2020 - BookAuthority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24" r="9242" b="29845"/>
          <a:stretch/>
        </p:blipFill>
        <p:spPr bwMode="auto">
          <a:xfrm>
            <a:off x="4672303" y="3938633"/>
            <a:ext cx="2050141" cy="274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 descr="https://storage.googleapis.com/groundai-web-prod/media/users/user_129478/project_202937/images/x1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7616" y="4070557"/>
            <a:ext cx="2476500" cy="2486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ntroduction to Deep Learning | Hacker Noon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2017" y="565503"/>
            <a:ext cx="2855639" cy="286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7708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Figuras</a:t>
            </a:r>
          </a:p>
        </p:txBody>
      </p:sp>
    </p:spTree>
    <p:extLst>
      <p:ext uri="{BB962C8B-B14F-4D97-AF65-F5344CB8AC3E}">
        <p14:creationId xmlns:p14="http://schemas.microsoft.com/office/powerpoint/2010/main" val="7128192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5034465" y="3089448"/>
            <a:ext cx="5180001" cy="3048149"/>
            <a:chOff x="5034465" y="3089448"/>
            <a:chExt cx="5180001" cy="3048149"/>
          </a:xfrm>
        </p:grpSpPr>
        <p:sp>
          <p:nvSpPr>
            <p:cNvPr id="5" name="Freeform 4"/>
            <p:cNvSpPr/>
            <p:nvPr/>
          </p:nvSpPr>
          <p:spPr>
            <a:xfrm>
              <a:off x="5178136" y="3647922"/>
              <a:ext cx="4343400" cy="1972366"/>
            </a:xfrm>
            <a:custGeom>
              <a:avLst/>
              <a:gdLst>
                <a:gd name="connsiteX0" fmla="*/ 0 w 4343400"/>
                <a:gd name="connsiteY0" fmla="*/ 0 h 1972366"/>
                <a:gd name="connsiteX1" fmla="*/ 561109 w 4343400"/>
                <a:gd name="connsiteY1" fmla="*/ 1600200 h 1972366"/>
                <a:gd name="connsiteX2" fmla="*/ 1132609 w 4343400"/>
                <a:gd name="connsiteY2" fmla="*/ 914400 h 1972366"/>
                <a:gd name="connsiteX3" fmla="*/ 1756063 w 4343400"/>
                <a:gd name="connsiteY3" fmla="*/ 1963882 h 1972366"/>
                <a:gd name="connsiteX4" fmla="*/ 2389909 w 4343400"/>
                <a:gd name="connsiteY4" fmla="*/ 1402773 h 1972366"/>
                <a:gd name="connsiteX5" fmla="*/ 3917373 w 4343400"/>
                <a:gd name="connsiteY5" fmla="*/ 1278082 h 1972366"/>
                <a:gd name="connsiteX6" fmla="*/ 4343400 w 4343400"/>
                <a:gd name="connsiteY6" fmla="*/ 955964 h 1972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43400" h="1972366">
                  <a:moveTo>
                    <a:pt x="0" y="0"/>
                  </a:moveTo>
                  <a:cubicBezTo>
                    <a:pt x="186170" y="723900"/>
                    <a:pt x="372341" y="1447800"/>
                    <a:pt x="561109" y="1600200"/>
                  </a:cubicBezTo>
                  <a:cubicBezTo>
                    <a:pt x="749877" y="1752600"/>
                    <a:pt x="933450" y="853786"/>
                    <a:pt x="1132609" y="914400"/>
                  </a:cubicBezTo>
                  <a:cubicBezTo>
                    <a:pt x="1331768" y="975014"/>
                    <a:pt x="1546513" y="1882487"/>
                    <a:pt x="1756063" y="1963882"/>
                  </a:cubicBezTo>
                  <a:cubicBezTo>
                    <a:pt x="1965613" y="2045277"/>
                    <a:pt x="2029691" y="1517073"/>
                    <a:pt x="2389909" y="1402773"/>
                  </a:cubicBezTo>
                  <a:cubicBezTo>
                    <a:pt x="2750127" y="1288473"/>
                    <a:pt x="3591791" y="1352550"/>
                    <a:pt x="3917373" y="1278082"/>
                  </a:cubicBezTo>
                  <a:cubicBezTo>
                    <a:pt x="4242955" y="1203614"/>
                    <a:pt x="4158096" y="1046019"/>
                    <a:pt x="4343400" y="955964"/>
                  </a:cubicBezTo>
                </a:path>
              </a:pathLst>
            </a:cu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6" name="Flowchart: Connector 5"/>
            <p:cNvSpPr/>
            <p:nvPr/>
          </p:nvSpPr>
          <p:spPr>
            <a:xfrm>
              <a:off x="5200996" y="3828637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7" name="Flowchart: Connector 6"/>
            <p:cNvSpPr/>
            <p:nvPr/>
          </p:nvSpPr>
          <p:spPr>
            <a:xfrm>
              <a:off x="5271481" y="4110868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8" name="Flowchart: Connector 7"/>
            <p:cNvSpPr/>
            <p:nvPr/>
          </p:nvSpPr>
          <p:spPr>
            <a:xfrm>
              <a:off x="5361016" y="4415377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9" name="Flowchart: Connector 8"/>
            <p:cNvSpPr/>
            <p:nvPr/>
          </p:nvSpPr>
          <p:spPr>
            <a:xfrm>
              <a:off x="5452456" y="4712557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0" name="Flowchart: Connector 9"/>
            <p:cNvSpPr/>
            <p:nvPr/>
          </p:nvSpPr>
          <p:spPr>
            <a:xfrm>
              <a:off x="5551516" y="4979257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11" name="Curved Connector 10"/>
            <p:cNvCxnSpPr>
              <a:stCxn id="6" idx="6"/>
              <a:endCxn id="7" idx="7"/>
            </p:cNvCxnSpPr>
            <p:nvPr/>
          </p:nvCxnSpPr>
          <p:spPr>
            <a:xfrm>
              <a:off x="5286721" y="3879395"/>
              <a:ext cx="57931" cy="246340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urved Connector 11"/>
            <p:cNvCxnSpPr>
              <a:stCxn id="7" idx="6"/>
              <a:endCxn id="8" idx="7"/>
            </p:cNvCxnSpPr>
            <p:nvPr/>
          </p:nvCxnSpPr>
          <p:spPr>
            <a:xfrm>
              <a:off x="5357206" y="4161626"/>
              <a:ext cx="76981" cy="268618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urved Connector 12"/>
            <p:cNvCxnSpPr>
              <a:stCxn id="8" idx="6"/>
              <a:endCxn id="9" idx="7"/>
            </p:cNvCxnSpPr>
            <p:nvPr/>
          </p:nvCxnSpPr>
          <p:spPr>
            <a:xfrm>
              <a:off x="5446741" y="4466135"/>
              <a:ext cx="78886" cy="261289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urved Connector 13"/>
            <p:cNvCxnSpPr>
              <a:stCxn id="9" idx="6"/>
              <a:endCxn id="10" idx="7"/>
            </p:cNvCxnSpPr>
            <p:nvPr/>
          </p:nvCxnSpPr>
          <p:spPr>
            <a:xfrm>
              <a:off x="5538181" y="4763315"/>
              <a:ext cx="86506" cy="230809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urved Connector 14"/>
            <p:cNvCxnSpPr>
              <a:stCxn id="10" idx="6"/>
              <a:endCxn id="35" idx="0"/>
            </p:cNvCxnSpPr>
            <p:nvPr/>
          </p:nvCxnSpPr>
          <p:spPr>
            <a:xfrm>
              <a:off x="5637241" y="5030015"/>
              <a:ext cx="147638" cy="185462"/>
            </a:xfrm>
            <a:prstGeom prst="curvedConnector2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Flowchart: Connector 15"/>
            <p:cNvSpPr/>
            <p:nvPr/>
          </p:nvSpPr>
          <p:spPr>
            <a:xfrm>
              <a:off x="9261504" y="4777203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7" name="Flowchart: Connector 16"/>
            <p:cNvSpPr/>
            <p:nvPr/>
          </p:nvSpPr>
          <p:spPr>
            <a:xfrm>
              <a:off x="9118623" y="4842250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8" name="Flowchart: Connector 17"/>
            <p:cNvSpPr/>
            <p:nvPr/>
          </p:nvSpPr>
          <p:spPr>
            <a:xfrm>
              <a:off x="9001472" y="4878719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19" name="Flowchart: Connector 18"/>
            <p:cNvSpPr/>
            <p:nvPr/>
          </p:nvSpPr>
          <p:spPr>
            <a:xfrm>
              <a:off x="8892889" y="4893008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20" name="Flowchart: Connector 19"/>
            <p:cNvSpPr/>
            <p:nvPr/>
          </p:nvSpPr>
          <p:spPr>
            <a:xfrm>
              <a:off x="8793832" y="4897771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21" name="Flowchart: Connector 20"/>
            <p:cNvSpPr/>
            <p:nvPr/>
          </p:nvSpPr>
          <p:spPr>
            <a:xfrm>
              <a:off x="8693814" y="4910425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22" name="Flowchart: Connector 21"/>
            <p:cNvSpPr/>
            <p:nvPr/>
          </p:nvSpPr>
          <p:spPr>
            <a:xfrm>
              <a:off x="8589990" y="4914210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cxnSp>
          <p:nvCxnSpPr>
            <p:cNvPr id="23" name="Curved Connector 22"/>
            <p:cNvCxnSpPr>
              <a:stCxn id="16" idx="0"/>
              <a:endCxn id="17" idx="0"/>
            </p:cNvCxnSpPr>
            <p:nvPr/>
          </p:nvCxnSpPr>
          <p:spPr>
            <a:xfrm rot="16200000" flipH="1" flipV="1">
              <a:off x="9200403" y="4738285"/>
              <a:ext cx="65047" cy="142881"/>
            </a:xfrm>
            <a:prstGeom prst="curvedConnector3">
              <a:avLst>
                <a:gd name="adj1" fmla="val -21964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urved Connector 23"/>
            <p:cNvCxnSpPr>
              <a:stCxn id="17" idx="0"/>
              <a:endCxn id="18" idx="0"/>
            </p:cNvCxnSpPr>
            <p:nvPr/>
          </p:nvCxnSpPr>
          <p:spPr>
            <a:xfrm rot="16200000" flipH="1" flipV="1">
              <a:off x="9084676" y="4801908"/>
              <a:ext cx="36469" cy="117151"/>
            </a:xfrm>
            <a:prstGeom prst="curvedConnector3">
              <a:avLst>
                <a:gd name="adj1" fmla="val -40482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urved Connector 24"/>
            <p:cNvCxnSpPr>
              <a:stCxn id="18" idx="0"/>
              <a:endCxn id="19" idx="0"/>
            </p:cNvCxnSpPr>
            <p:nvPr/>
          </p:nvCxnSpPr>
          <p:spPr>
            <a:xfrm rot="16200000" flipH="1" flipV="1">
              <a:off x="8982899" y="4831571"/>
              <a:ext cx="14289" cy="108583"/>
            </a:xfrm>
            <a:prstGeom prst="curvedConnector3">
              <a:avLst>
                <a:gd name="adj1" fmla="val -799916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urved Connector 25"/>
            <p:cNvCxnSpPr>
              <a:stCxn id="19" idx="0"/>
              <a:endCxn id="20" idx="0"/>
            </p:cNvCxnSpPr>
            <p:nvPr/>
          </p:nvCxnSpPr>
          <p:spPr>
            <a:xfrm rot="16200000" flipH="1" flipV="1">
              <a:off x="8883842" y="4845860"/>
              <a:ext cx="4763" cy="99057"/>
            </a:xfrm>
            <a:prstGeom prst="curvedConnector3">
              <a:avLst>
                <a:gd name="adj1" fmla="val -2299769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urved Connector 26"/>
            <p:cNvCxnSpPr>
              <a:stCxn id="20" idx="0"/>
              <a:endCxn id="21" idx="0"/>
            </p:cNvCxnSpPr>
            <p:nvPr/>
          </p:nvCxnSpPr>
          <p:spPr>
            <a:xfrm rot="16200000" flipH="1" flipV="1">
              <a:off x="8780359" y="4854089"/>
              <a:ext cx="12654" cy="100018"/>
            </a:xfrm>
            <a:prstGeom prst="curvedConnector3">
              <a:avLst>
                <a:gd name="adj1" fmla="val -828007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urved Connector 27"/>
            <p:cNvCxnSpPr>
              <a:stCxn id="21" idx="0"/>
              <a:endCxn id="22" idx="0"/>
            </p:cNvCxnSpPr>
            <p:nvPr/>
          </p:nvCxnSpPr>
          <p:spPr>
            <a:xfrm rot="16200000" flipH="1" flipV="1">
              <a:off x="8682872" y="4860405"/>
              <a:ext cx="3785" cy="103824"/>
            </a:xfrm>
            <a:prstGeom prst="curvedConnector3">
              <a:avLst>
                <a:gd name="adj1" fmla="val -2768190"/>
              </a:avLst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5048250" y="3181615"/>
              <a:ext cx="0" cy="2628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rot="5400000">
              <a:off x="7464465" y="3379430"/>
              <a:ext cx="0" cy="486000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/>
                <p:cNvSpPr/>
                <p:nvPr/>
              </p:nvSpPr>
              <p:spPr>
                <a:xfrm>
                  <a:off x="5070131" y="3089448"/>
                  <a:ext cx="753220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pt-B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pt-BR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𝒂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nl-BE" dirty="0"/>
                </a:p>
              </p:txBody>
            </p:sp>
          </mc:Choice>
          <mc:Fallback xmlns="">
            <p:sp>
              <p:nvSpPr>
                <p:cNvPr id="31" name="Rectangle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70131" y="3089448"/>
                  <a:ext cx="753220" cy="369332"/>
                </a:xfrm>
                <a:prstGeom prst="rect">
                  <a:avLst/>
                </a:prstGeom>
                <a:blipFill>
                  <a:blip r:embed="rId2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/>
                <p:cNvSpPr/>
                <p:nvPr/>
              </p:nvSpPr>
              <p:spPr>
                <a:xfrm>
                  <a:off x="9834234" y="5604557"/>
                  <a:ext cx="38023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lang="nl-BE" b="1" dirty="0"/>
                </a:p>
              </p:txBody>
            </p:sp>
          </mc:Choice>
          <mc:Fallback xmlns="">
            <p:sp>
              <p:nvSpPr>
                <p:cNvPr id="32" name="Rectangle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34234" y="5604557"/>
                  <a:ext cx="380232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nl-BE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Connector 32"/>
            <p:cNvCxnSpPr/>
            <p:nvPr/>
          </p:nvCxnSpPr>
          <p:spPr>
            <a:xfrm>
              <a:off x="5784878" y="5282575"/>
              <a:ext cx="0" cy="5400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6985028" y="5620288"/>
              <a:ext cx="0" cy="180000"/>
            </a:xfrm>
            <a:prstGeom prst="line">
              <a:avLst/>
            </a:prstGeom>
            <a:ln w="190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Flowchart: Connector 34"/>
            <p:cNvSpPr/>
            <p:nvPr/>
          </p:nvSpPr>
          <p:spPr>
            <a:xfrm>
              <a:off x="5742016" y="5215477"/>
              <a:ext cx="85725" cy="101516"/>
            </a:xfrm>
            <a:prstGeom prst="flowChartConnector">
              <a:avLst/>
            </a:prstGeom>
            <a:solidFill>
              <a:srgbClr val="00B0F0"/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5067300" y="5829820"/>
              <a:ext cx="14388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mínimo local</a:t>
              </a:r>
              <a:endParaRPr lang="nl-BE" sz="1400" dirty="0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031541" y="5812790"/>
              <a:ext cx="19355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mínimo global</a:t>
              </a:r>
              <a:endParaRPr lang="nl-BE" sz="1400" dirty="0"/>
            </a:p>
          </p:txBody>
        </p:sp>
        <p:sp>
          <p:nvSpPr>
            <p:cNvPr id="38" name="Flowchart: Connector 37"/>
            <p:cNvSpPr/>
            <p:nvPr/>
          </p:nvSpPr>
          <p:spPr>
            <a:xfrm>
              <a:off x="6932641" y="5558377"/>
              <a:ext cx="85725" cy="101516"/>
            </a:xfrm>
            <a:prstGeom prst="flowChartConnector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BE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8041560" y="4972605"/>
              <a:ext cx="193554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400" dirty="0"/>
                <a:t>platô</a:t>
              </a:r>
              <a:endParaRPr lang="nl-BE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890796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2128770" cy="1325563"/>
          </a:xfrm>
        </p:spPr>
        <p:txBody>
          <a:bodyPr/>
          <a:lstStyle/>
          <a:p>
            <a:r>
              <a:rPr lang="pt-BR" dirty="0"/>
              <a:t>Algumas visões práticas de algoritmos de aprendizado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116827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pt-BR" sz="2000" b="1" dirty="0"/>
                  <a:t>Versão Online</a:t>
                </a:r>
                <a:endParaRPr lang="pt-BR" sz="20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 | </m:t>
                              </m:r>
                              <m:r>
                                <a:rPr lang="pt-BR" sz="20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pt-BR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num>
                        <m:den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bSup>
                        </m:den>
                      </m:f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pt-BR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pt-BR" sz="20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pt-BR" sz="200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</m:e>
                                        <m:sub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pt-B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</m:d>
                                      <m:r>
                                        <a:rPr lang="pt-BR" sz="2000" b="1" i="1">
                                          <a:latin typeface="Cambria Math" panose="02040503050406030204" pitchFamily="18" charset="0"/>
                                        </a:rPr>
                                        <m:t>| </m:t>
                                      </m:r>
                                      <m:r>
                                        <a:rPr lang="pt-BR" sz="2000" b="1" i="1">
                                          <a:latin typeface="Cambria Math" panose="02040503050406030204" pitchFamily="18" charset="0"/>
                                        </a:rPr>
                                        <m:t>𝒘</m:t>
                                      </m:r>
                                      <m:r>
                                        <a:rPr lang="pt-BR" sz="2000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pt-BR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pt-BR" sz="2000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pt-B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  <m:r>
                        <a:rPr lang="pt-BR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sSub>
                            <m:sSub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pt-BR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sz="2000" b="1" i="1">
                                      <a:latin typeface="Cambria Math" panose="02040503050406030204" pitchFamily="18" charset="0"/>
                                    </a:rPr>
                                    <m:t>| </m:t>
                                  </m:r>
                                  <m:r>
                                    <a:rPr lang="pt-BR" sz="2000" b="1" i="1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num>
                            <m:den>
                              <m:r>
                                <a:rPr lang="pt-BR" sz="2000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pt-BR" sz="2000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𝛻</m:t>
                      </m:r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1" i="1">
                              <a:latin typeface="Cambria Math" panose="02040503050406030204" pitchFamily="18" charset="0"/>
                            </a:rPr>
                            <m:t>𝒘</m:t>
                          </m:r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1168270" cy="5032375"/>
              </a:xfrm>
              <a:blipFill>
                <a:blip r:embed="rId2"/>
                <a:stretch>
                  <a:fillRect l="-600" t="-1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1483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20136</TotalTime>
  <Words>3144</Words>
  <Application>Microsoft Office PowerPoint</Application>
  <PresentationFormat>Widescreen</PresentationFormat>
  <Paragraphs>282</Paragraphs>
  <Slides>26</Slides>
  <Notes>14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Söhne</vt:lpstr>
      <vt:lpstr>Wingdings</vt:lpstr>
      <vt:lpstr>Office Theme</vt:lpstr>
      <vt:lpstr>T320 - Introdução ao Aprendizado de Máquina II: Redes Neurais Artificiais (Parte IV)</vt:lpstr>
      <vt:lpstr>Recapitulando</vt:lpstr>
      <vt:lpstr>Algumas questões práticas sobre algoritmos de aprendizado</vt:lpstr>
      <vt:lpstr>Cálculo do vetor gradiente</vt:lpstr>
      <vt:lpstr>Cálculo do vetor gradiente</vt:lpstr>
      <vt:lpstr>Cálculo do vetor gradiente</vt:lpstr>
      <vt:lpstr>Variações dos algoritmos de otimização dos pesos</vt:lpstr>
      <vt:lpstr>Redução gradual do passo de aprendizagem</vt:lpstr>
      <vt:lpstr>Redução gradual do passo de aprendizagem</vt:lpstr>
      <vt:lpstr>Termo momentum</vt:lpstr>
      <vt:lpstr>Termo momentum</vt:lpstr>
      <vt:lpstr>Momento de Nesterov</vt:lpstr>
      <vt:lpstr>Passo de aprendizagem adaptativo</vt:lpstr>
      <vt:lpstr>Inicialização dos pesos</vt:lpstr>
      <vt:lpstr>Inicialização dos pesos</vt:lpstr>
      <vt:lpstr>Inicialização dos pesos</vt:lpstr>
      <vt:lpstr>Inicialização dos pesos</vt:lpstr>
      <vt:lpstr>Heurísticas de inicialização dos pesos</vt:lpstr>
      <vt:lpstr>Redes neurais com a biblioteca SciKit-Learn</vt:lpstr>
      <vt:lpstr>Redes neurais com a biblioteca SciKit-Learn</vt:lpstr>
      <vt:lpstr>Tarefas</vt:lpstr>
      <vt:lpstr>Apresentação do PowerPoint</vt:lpstr>
      <vt:lpstr>Apresentação do PowerPoint</vt:lpstr>
      <vt:lpstr>Apresentação do PowerPoint</vt:lpstr>
      <vt:lpstr>Apresentação do PowerPoint</vt:lpstr>
      <vt:lpstr>Algumas visões práticas de algoritmos de aprendizado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Learning: Classificadores Lineares</dc:title>
  <dc:creator>Felipe Augusto Pereira de Figueiredo</dc:creator>
  <cp:lastModifiedBy>Felipe Augusto Pereira de Figueiredo</cp:lastModifiedBy>
  <cp:revision>1594</cp:revision>
  <dcterms:created xsi:type="dcterms:W3CDTF">2020-04-06T23:46:10Z</dcterms:created>
  <dcterms:modified xsi:type="dcterms:W3CDTF">2026-05-30T11:32:12Z</dcterms:modified>
</cp:coreProperties>
</file>