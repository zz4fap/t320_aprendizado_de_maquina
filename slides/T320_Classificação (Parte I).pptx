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314" r:id="rId3"/>
    <p:sldId id="257" r:id="rId4"/>
    <p:sldId id="282" r:id="rId5"/>
    <p:sldId id="346" r:id="rId6"/>
    <p:sldId id="263" r:id="rId7"/>
    <p:sldId id="349" r:id="rId8"/>
    <p:sldId id="347" r:id="rId9"/>
    <p:sldId id="348" r:id="rId10"/>
    <p:sldId id="329" r:id="rId11"/>
    <p:sldId id="338" r:id="rId12"/>
    <p:sldId id="331" r:id="rId13"/>
    <p:sldId id="360" r:id="rId14"/>
    <p:sldId id="332" r:id="rId15"/>
    <p:sldId id="350" r:id="rId16"/>
    <p:sldId id="361" r:id="rId17"/>
    <p:sldId id="344" r:id="rId18"/>
    <p:sldId id="351" r:id="rId19"/>
    <p:sldId id="345" r:id="rId20"/>
    <p:sldId id="352" r:id="rId21"/>
    <p:sldId id="353" r:id="rId22"/>
    <p:sldId id="355" r:id="rId23"/>
    <p:sldId id="356" r:id="rId24"/>
    <p:sldId id="357" r:id="rId25"/>
    <p:sldId id="337" r:id="rId26"/>
    <p:sldId id="359" r:id="rId27"/>
    <p:sldId id="324" r:id="rId28"/>
    <p:sldId id="306" r:id="rId29"/>
    <p:sldId id="339" r:id="rId30"/>
    <p:sldId id="341" r:id="rId31"/>
    <p:sldId id="343" r:id="rId32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1" autoAdjust="0"/>
    <p:restoredTop sz="93705" autoAdjust="0"/>
  </p:normalViewPr>
  <p:slideViewPr>
    <p:cSldViewPr snapToGrid="0">
      <p:cViewPr varScale="1">
        <p:scale>
          <a:sx n="104" d="100"/>
          <a:sy n="104" d="100"/>
        </p:scale>
        <p:origin x="882" y="72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31/07/2026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5676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8407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083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40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err="1"/>
              <a:t>Motivacão</a:t>
            </a:r>
            <a:r>
              <a:rPr lang="pt-BR" dirty="0"/>
              <a:t>:</a:t>
            </a:r>
            <a:r>
              <a:rPr lang="pt-BR" baseline="0" dirty="0"/>
              <a:t> </a:t>
            </a:r>
            <a:r>
              <a:rPr lang="pt-BR" baseline="0" dirty="0" err="1"/>
              <a:t>classificacão</a:t>
            </a:r>
            <a:r>
              <a:rPr lang="pt-BR" baseline="0" dirty="0"/>
              <a:t> de e-mails, detecção de símbolos, classificação de modulações, etc.</a:t>
            </a:r>
            <a:endParaRPr lang="pt-BR" dirty="0"/>
          </a:p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863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048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buFont typeface="Arial" panose="020B0604020202020204" pitchFamily="34" charset="0"/>
                  <a:buNone/>
                </a:pPr>
                <a:r>
                  <a:rPr lang="pt-BR" dirty="0"/>
                  <a:t>Como veremos a seguir,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 pode ser um escalar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pt-BR" dirty="0"/>
                  <a:t> ou um vetor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buFont typeface="Arial" panose="020B0604020202020204" pitchFamily="34" charset="0"/>
                  <a:buNone/>
                </a:pPr>
                <a:r>
                  <a:rPr lang="pt-BR" dirty="0" smtClean="0"/>
                  <a:t>Como </a:t>
                </a:r>
                <a:r>
                  <a:rPr lang="pt-BR" dirty="0"/>
                  <a:t>veremos a seguir, </a:t>
                </a:r>
                <a:r>
                  <a:rPr lang="pt-BR" i="0">
                    <a:latin typeface="Cambria Math" panose="02040503050406030204" pitchFamily="18" charset="0"/>
                  </a:rPr>
                  <a:t>𝑦</a:t>
                </a:r>
                <a:r>
                  <a:rPr lang="pt-BR" dirty="0"/>
                  <a:t> pode ser um escalar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ℝ^1</a:t>
                </a:r>
                <a:r>
                  <a:rPr lang="pt-BR" dirty="0"/>
                  <a:t> ou um vetor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ℝ^(𝑄×1)</a:t>
                </a:r>
                <a:r>
                  <a:rPr lang="pt-BR" dirty="0" smtClean="0"/>
                  <a:t>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010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buFont typeface="Arial" panose="020B0604020202020204" pitchFamily="34" charset="0"/>
                  <a:buNone/>
                </a:pPr>
                <a:r>
                  <a:rPr lang="pt-BR" dirty="0"/>
                  <a:t>Como veremos a seguir,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 pode ser um escalar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pt-BR" dirty="0"/>
                  <a:t> ou um vetor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buFont typeface="Arial" panose="020B0604020202020204" pitchFamily="34" charset="0"/>
                  <a:buNone/>
                </a:pPr>
                <a:r>
                  <a:rPr lang="pt-BR" dirty="0" smtClean="0"/>
                  <a:t>Como </a:t>
                </a:r>
                <a:r>
                  <a:rPr lang="pt-BR" dirty="0"/>
                  <a:t>veremos a seguir, </a:t>
                </a:r>
                <a:r>
                  <a:rPr lang="pt-BR" i="0">
                    <a:latin typeface="Cambria Math" panose="02040503050406030204" pitchFamily="18" charset="0"/>
                  </a:rPr>
                  <a:t>𝑦</a:t>
                </a:r>
                <a:r>
                  <a:rPr lang="pt-BR" dirty="0"/>
                  <a:t> pode ser um escalar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ℝ^1</a:t>
                </a:r>
                <a:r>
                  <a:rPr lang="pt-BR" dirty="0"/>
                  <a:t> ou um vetor </a:t>
                </a:r>
                <a:r>
                  <a:rPr lang="pt-BR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ℝ^(𝑄×1)</a:t>
                </a:r>
                <a:r>
                  <a:rPr lang="pt-BR" dirty="0" smtClean="0"/>
                  <a:t>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2493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As fronteiras de decisão são definidas por funções (lineares ou não) que separam</a:t>
            </a:r>
            <a:r>
              <a:rPr lang="pt-BR" baseline="0" dirty="0"/>
              <a:t> ou discriminam as classes. Essas funções são normalmente chamadas de funções discriminantes, pois vão discriminar (ou separar) as classes.</a:t>
            </a:r>
            <a:endParaRPr lang="pt-BR" dirty="0"/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i="1" dirty="0"/>
              <a:t>fronteira de decisão</a:t>
            </a:r>
            <a:r>
              <a:rPr lang="pt-BR" b="0" i="0" dirty="0"/>
              <a:t>  é onde </a:t>
            </a:r>
            <a:r>
              <a:rPr lang="pt-BR" dirty="0"/>
              <a:t>onde ocorre uma indeterminação, ou seja, um empate entre diferentes classes possíveis.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047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As fronteiras de decisão são definidas por funções (lineares ou não) que separam</a:t>
            </a:r>
            <a:r>
              <a:rPr lang="pt-BR" baseline="0" dirty="0"/>
              <a:t> ou discriminam as classes. Essas funções são normalmente chamadas de funções discriminantes, pois vão discriminar (ou separar) as classes.</a:t>
            </a:r>
            <a:endParaRPr lang="pt-BR" dirty="0"/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i="1" dirty="0"/>
              <a:t>fronteira de decisão</a:t>
            </a:r>
            <a:r>
              <a:rPr lang="pt-BR" b="0" i="0" dirty="0"/>
              <a:t>  é onde </a:t>
            </a:r>
            <a:r>
              <a:rPr lang="pt-BR" dirty="0"/>
              <a:t>onde ocorre uma indeterminação, ou seja, um empate entre diferentes classes possíveis.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2824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As fronteiras de decisão são definidas por funções (lineares ou não) que separam</a:t>
            </a:r>
            <a:r>
              <a:rPr lang="pt-BR" baseline="0" dirty="0"/>
              <a:t> ou discriminam as classes. Essas funções são normalmente chamadas de funções discriminantes, pois vão discriminar (ou seja, separar) as classes.</a:t>
            </a:r>
            <a:endParaRPr lang="pt-BR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7098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um problema de classificação de duas classes, pode-se visualizar a operação de um classificador linear como a divisão de um espaço de entrada de alta dimensão com um hiperplano: todos os pontos de um lado do hiperplano são classificados como "sim", enquanto os outros são classificados como "não".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27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um problema de classificação de duas classes, pode-se visualizar a operação de um classificador linear como a divisão de um espaço de entrada de alta dimensão com um hiperplano: todos os pontos de um lado do hiperplano são classificados como "sim", enquanto os outros são classificados como "não".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401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/>
              <a:t>Exemplo</a:t>
            </a:r>
            <a:r>
              <a:rPr lang="pt-BR" sz="1200" dirty="0"/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Binder: https://</a:t>
            </a:r>
            <a:r>
              <a:rPr lang="pt-BR" sz="1200" b="0" i="0" dirty="0"/>
              <a:t>mybinder.org/v2/gh/zz4fap/t320_aprendizado_de_maquina/main?filepath=notebooks%2Fclassificação%2F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encontrando_pesos_da_função_discriminante.ipynb</a:t>
            </a:r>
            <a:endParaRPr lang="pt-BR" sz="1200" b="0" i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200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Colab: </a:t>
            </a:r>
            <a:r>
              <a:rPr lang="pt-BR" sz="1200" dirty="0"/>
              <a:t>https://colab.research.google.com/github/zz4fap/t320_aprendizado_de_maquina/blob/main/notebooks/</a:t>
            </a:r>
            <a:r>
              <a:rPr lang="pt-BR" sz="1200" b="0" i="0" dirty="0"/>
              <a:t>classificação</a:t>
            </a:r>
            <a:r>
              <a:rPr lang="pt-BR" sz="1200" dirty="0"/>
              <a:t>/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encontrando_pesos_da_função_discriminante.ipynb</a:t>
            </a:r>
            <a:endParaRPr lang="pt-BR" sz="1200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5196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dirty="0"/>
              <a:t>Laboratório #1</a:t>
            </a:r>
            <a:r>
              <a:rPr lang="pt-BR" sz="1200" dirty="0"/>
              <a:t>: https://mybinder.org/v2/gh/zz4fap/t320_aprendizado_de_maquina/main?filepath=labs%2FLaboratorio1.ipynb</a:t>
            </a:r>
          </a:p>
          <a:p>
            <a:endParaRPr lang="pt-BR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6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ca.fee.unicamp.br/~lboccato/ia006_2s2019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inyurl.com/mp64ksye" TargetMode="External"/><Relationship Id="rId4" Type="http://schemas.openxmlformats.org/officeDocument/2006/relationships/hyperlink" Target="https://github.com/josephmisiti/awesome-machine-learning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zz4fap/t320_aprendizado_de_maquina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1.png"/><Relationship Id="rId4" Type="http://schemas.openxmlformats.org/officeDocument/2006/relationships/image" Target="../media/image20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1.png"/><Relationship Id="rId4" Type="http://schemas.openxmlformats.org/officeDocument/2006/relationships/image" Target="../media/image20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1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1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9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0" Type="http://schemas.openxmlformats.org/officeDocument/2006/relationships/image" Target="../media/image291.png"/><Relationship Id="rId9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38.png"/><Relationship Id="rId7" Type="http://schemas.openxmlformats.org/officeDocument/2006/relationships/image" Target="../media/image37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302.png"/><Relationship Id="rId10" Type="http://schemas.openxmlformats.org/officeDocument/2006/relationships/image" Target="../media/image291.png"/><Relationship Id="rId4" Type="http://schemas.openxmlformats.org/officeDocument/2006/relationships/image" Target="../media/image292.png"/><Relationship Id="rId9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0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00.png"/><Relationship Id="rId4" Type="http://schemas.openxmlformats.org/officeDocument/2006/relationships/image" Target="../media/image401.png"/><Relationship Id="rId9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3.png"/><Relationship Id="rId7" Type="http://schemas.openxmlformats.org/officeDocument/2006/relationships/image" Target="../media/image33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11" Type="http://schemas.openxmlformats.org/officeDocument/2006/relationships/hyperlink" Target="https://colab.research.google.com/github/zz4fap/t320_aprendizado_de_maquina/blob/main/notebooks/classifica&#231;&#227;o/encontrando_pesos_da_fun&#231;&#227;o_discriminante.ipynb" TargetMode="External"/><Relationship Id="rId10" Type="http://schemas.openxmlformats.org/officeDocument/2006/relationships/image" Target="../media/image400.png"/><Relationship Id="rId9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320_aprendizado_de_maquina/blob/main/labs/Laboratorio1.ipynb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zz4fap/t319_aprendizado_de_maquina/blob/main/docs/Resolu%C3%A7%C3%A3o%20e%20entrega%20dos%20laborat%C3%B3rios.pdf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png"/><Relationship Id="rId18" Type="http://schemas.openxmlformats.org/officeDocument/2006/relationships/image" Target="../media/image210.png"/><Relationship Id="rId12" Type="http://schemas.openxmlformats.org/officeDocument/2006/relationships/image" Target="../media/image240.png"/><Relationship Id="rId17" Type="http://schemas.openxmlformats.org/officeDocument/2006/relationships/image" Target="../media/image52.png"/><Relationship Id="rId2" Type="http://schemas.openxmlformats.org/officeDocument/2006/relationships/image" Target="../media/image230.png"/><Relationship Id="rId16" Type="http://schemas.openxmlformats.org/officeDocument/2006/relationships/image" Target="../media/image190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80.png"/><Relationship Id="rId15" Type="http://schemas.openxmlformats.org/officeDocument/2006/relationships/image" Target="../media/image51.png"/><Relationship Id="rId10" Type="http://schemas.openxmlformats.org/officeDocument/2006/relationships/image" Target="../media/image170.png"/><Relationship Id="rId19" Type="http://schemas.openxmlformats.org/officeDocument/2006/relationships/image" Target="../media/image220.png"/><Relationship Id="rId9" Type="http://schemas.openxmlformats.org/officeDocument/2006/relationships/image" Target="../media/image160.png"/><Relationship Id="rId1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0" Type="http://schemas.openxmlformats.org/officeDocument/2006/relationships/image" Target="../media/image430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T320 - Introdução ao Aprendizado de Máquina II:</a:t>
            </a:r>
            <a:br>
              <a:rPr lang="pt-BR" dirty="0"/>
            </a:br>
            <a:r>
              <a:rPr lang="pt-BR" b="1" i="1" dirty="0"/>
              <a:t>Classificação (Parte I)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2" y="5519955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271853" y="5528345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396429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disciplina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66695" cy="5032376"/>
          </a:xfrm>
        </p:spPr>
        <p:txBody>
          <a:bodyPr>
            <a:normAutofit/>
          </a:bodyPr>
          <a:lstStyle/>
          <a:p>
            <a:r>
              <a:rPr lang="pt-BR" dirty="0"/>
              <a:t>Continuação de </a:t>
            </a:r>
            <a:r>
              <a:rPr lang="pt-BR" b="1" i="1" dirty="0"/>
              <a:t>T319 - Introdução ao Aprendizado de Máquina I</a:t>
            </a:r>
            <a:r>
              <a:rPr lang="pt-BR" dirty="0"/>
              <a:t>.</a:t>
            </a:r>
          </a:p>
          <a:p>
            <a:r>
              <a:rPr lang="pt-BR" b="1" i="1" dirty="0"/>
              <a:t>Curso introdutório</a:t>
            </a:r>
            <a:r>
              <a:rPr lang="pt-BR" dirty="0"/>
              <a:t> onde veremos os conceitos básicos de funcionamento dos seguintes algoritmos de </a:t>
            </a:r>
            <a:r>
              <a:rPr lang="pt-BR" b="1" i="1" dirty="0"/>
              <a:t>machine learning</a:t>
            </a:r>
            <a:r>
              <a:rPr lang="pt-BR" dirty="0"/>
              <a:t> (ML):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Classificadores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Regressão logística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Regressão softmax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Redes Neurais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Clustering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k-Means</a:t>
            </a:r>
          </a:p>
          <a:p>
            <a:r>
              <a:rPr lang="pt-BR" dirty="0"/>
              <a:t>O curso terá sempre uma parte </a:t>
            </a:r>
            <a:r>
              <a:rPr lang="pt-BR" b="1" i="1" dirty="0"/>
              <a:t>expositiva</a:t>
            </a:r>
            <a:r>
              <a:rPr lang="pt-BR" dirty="0"/>
              <a:t> e outra </a:t>
            </a:r>
            <a:r>
              <a:rPr lang="pt-BR" b="1" i="1" dirty="0"/>
              <a:t>prática</a:t>
            </a:r>
            <a:r>
              <a:rPr lang="pt-BR" dirty="0"/>
              <a:t> para fixação dos conceitos introduzidos.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 Quizzes e laboratórios envolvendo os conceitos discutidos.</a:t>
            </a:r>
          </a:p>
        </p:txBody>
      </p:sp>
    </p:spTree>
    <p:extLst>
      <p:ext uri="{BB962C8B-B14F-4D97-AF65-F5344CB8AC3E}">
        <p14:creationId xmlns:p14="http://schemas.microsoft.com/office/powerpoint/2010/main" val="193916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48192-B348-4C3E-8621-D3755D223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DECB90-AFD9-4AC6-A356-C93A7442A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8930268" cy="5032376"/>
          </a:xfrm>
        </p:spPr>
        <p:txBody>
          <a:bodyPr>
            <a:normAutofit/>
          </a:bodyPr>
          <a:lstStyle/>
          <a:p>
            <a:r>
              <a:rPr lang="pt-BR" dirty="0"/>
              <a:t>O objetivo principal do curso é apresentar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os </a:t>
            </a:r>
            <a:r>
              <a:rPr lang="pt-BR" b="1" i="1" dirty="0"/>
              <a:t>conceitos fundamentais </a:t>
            </a:r>
            <a:r>
              <a:rPr lang="pt-BR" dirty="0"/>
              <a:t>da teoria do aprendizado de máquina.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um </a:t>
            </a:r>
            <a:r>
              <a:rPr lang="pt-BR" b="1" i="1" dirty="0"/>
              <a:t>conjunto de ferramentas</a:t>
            </a:r>
            <a:r>
              <a:rPr lang="pt-BR" dirty="0"/>
              <a:t> (i.e., </a:t>
            </a:r>
            <a:r>
              <a:rPr lang="en-US" dirty="0" err="1"/>
              <a:t>algoritmos</a:t>
            </a:r>
            <a:r>
              <a:rPr lang="en-US" dirty="0"/>
              <a:t>, </a:t>
            </a:r>
            <a:r>
              <a:rPr lang="en-US" dirty="0" err="1"/>
              <a:t>métricas</a:t>
            </a:r>
            <a:r>
              <a:rPr lang="en-US" dirty="0"/>
              <a:t>, </a:t>
            </a:r>
            <a:r>
              <a:rPr lang="en-US" dirty="0" err="1"/>
              <a:t>técnicas</a:t>
            </a:r>
            <a:r>
              <a:rPr lang="pt-BR" dirty="0"/>
              <a:t>) de aprendizado de máquina para solução de problemas.</a:t>
            </a:r>
          </a:p>
          <a:p>
            <a:r>
              <a:rPr lang="pt-BR" dirty="0"/>
              <a:t>Ao final do curso vocês devem ser capazes de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Entender e discutir sobre os principais algoritmos de ML.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Compreender a terminologia utilizada na área.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Entender o funcionamento de novos algoritmos de ML.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Aplicar algoritmos de ML para a resolução de problemas.</a:t>
            </a:r>
          </a:p>
        </p:txBody>
      </p:sp>
      <p:pic>
        <p:nvPicPr>
          <p:cNvPr id="3074" name="Picture 2" descr="Image result for machine learning">
            <a:extLst>
              <a:ext uri="{FF2B5EF4-FFF2-40B4-BE49-F238E27FC236}">
                <a16:creationId xmlns:a16="http://schemas.microsoft.com/office/drawing/2014/main" id="{78A93243-9634-4B0E-B1B2-37A218EAE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2216" y="4583150"/>
            <a:ext cx="3249784" cy="2274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achine Learning | Informate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9543" y="132931"/>
            <a:ext cx="3512457" cy="1620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791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Critérios de Avaliação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4006"/>
            <a:ext cx="8667750" cy="5343994"/>
          </a:xfrm>
        </p:spPr>
        <p:txBody>
          <a:bodyPr>
            <a:normAutofit/>
          </a:bodyPr>
          <a:lstStyle/>
          <a:p>
            <a:r>
              <a:rPr lang="pt-BR" b="1" i="1" dirty="0">
                <a:solidFill>
                  <a:srgbClr val="00B050"/>
                </a:solidFill>
              </a:rPr>
              <a:t>Dois (2) trabalhos em grupo </a:t>
            </a:r>
            <a:r>
              <a:rPr lang="pt-BR" dirty="0"/>
              <a:t>com peso de 85% cada.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Envolvem questões práticas e/ou teóricas.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rgbClr val="00B050"/>
                </a:solidFill>
              </a:rPr>
              <a:t>Uma parte </a:t>
            </a:r>
            <a:r>
              <a:rPr lang="pt-BR" b="1" dirty="0">
                <a:solidFill>
                  <a:srgbClr val="FF0000"/>
                </a:solidFill>
              </a:rPr>
              <a:t>de cada </a:t>
            </a:r>
            <a:r>
              <a:rPr lang="pt-BR" b="1" dirty="0">
                <a:solidFill>
                  <a:srgbClr val="00B050"/>
                </a:solidFill>
              </a:rPr>
              <a:t>trabalho será feita </a:t>
            </a:r>
            <a:r>
              <a:rPr lang="pt-BR" b="1" dirty="0">
                <a:solidFill>
                  <a:srgbClr val="7030A0"/>
                </a:solidFill>
              </a:rPr>
              <a:t>presencialmente</a:t>
            </a:r>
            <a:r>
              <a:rPr lang="pt-BR" dirty="0"/>
              <a:t>.</a:t>
            </a:r>
          </a:p>
          <a:p>
            <a:r>
              <a:rPr lang="pt-BR" dirty="0"/>
              <a:t>Dois (2) conjuntos de exercícios (</a:t>
            </a:r>
            <a:r>
              <a:rPr lang="pt-BR" b="1" i="1" dirty="0">
                <a:solidFill>
                  <a:srgbClr val="00B050"/>
                </a:solidFill>
              </a:rPr>
              <a:t>quizzes e laboratórios</a:t>
            </a:r>
            <a:r>
              <a:rPr lang="pt-BR" dirty="0"/>
              <a:t>) com peso de 15% cada.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Podem ser resolvidos em grupos de no máximo 3 alunos.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Exercícios serão atribuídos e entregues através do MS Teams.</a:t>
            </a:r>
          </a:p>
          <a:p>
            <a:r>
              <a:rPr lang="pt-BR" dirty="0"/>
              <a:t>Extra: 10% da nota da FETIN na segunda nota.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trabalho precisa usar IA.</a:t>
            </a:r>
          </a:p>
          <a:p>
            <a:r>
              <a:rPr lang="pt-BR" b="1" dirty="0"/>
              <a:t>Frequência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Gerada automaticamente pelo Teams.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Por favor, acompanhem suas frequências no portal.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889403"/>
            <a:ext cx="2514600" cy="1819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450" y="2978715"/>
            <a:ext cx="2533650" cy="1809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300" y="5134702"/>
            <a:ext cx="2857500" cy="1600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76201"/>
            <a:ext cx="2037969" cy="135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92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</a:t>
            </a:r>
            <a:endParaRPr lang="en-US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590914"/>
              </p:ext>
            </p:extLst>
          </p:nvPr>
        </p:nvGraphicFramePr>
        <p:xfrm>
          <a:off x="838200" y="1375493"/>
          <a:ext cx="11049001" cy="5256278"/>
        </p:xfrm>
        <a:graphic>
          <a:graphicData uri="http://schemas.openxmlformats.org/drawingml/2006/table">
            <a:tbl>
              <a:tblPr/>
              <a:tblGrid>
                <a:gridCol w="967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150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389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effectLst/>
                        </a:rPr>
                        <a:t>Aula</a:t>
                      </a: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effectLst/>
                        </a:rPr>
                        <a:t>Data</a:t>
                      </a: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1" dirty="0">
                          <a:effectLst/>
                        </a:rPr>
                        <a:t>Dia</a:t>
                      </a:r>
                      <a:endParaRPr lang="en-US" sz="1400" b="1" dirty="0">
                        <a:effectLst/>
                      </a:endParaRPr>
                    </a:p>
                  </a:txBody>
                  <a:tcPr marL="10288" marR="10288" marT="6859" marB="68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1" dirty="0">
                          <a:effectLst/>
                        </a:rPr>
                        <a:t>Horário</a:t>
                      </a:r>
                      <a:endParaRPr lang="en-US" sz="1400" b="1" dirty="0">
                        <a:effectLst/>
                      </a:endParaRPr>
                    </a:p>
                  </a:txBody>
                  <a:tcPr marL="10288" marR="10288" marT="6859" marB="68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 err="1">
                          <a:effectLst/>
                        </a:rPr>
                        <a:t>Atividade</a:t>
                      </a:r>
                      <a:endParaRPr lang="en-US" sz="1400" b="1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1/8/2026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0">
                  <a:txBody>
                    <a:bodyPr/>
                    <a:lstStyle/>
                    <a:p>
                      <a:pPr algn="ctr" rtl="0" fontAlgn="b"/>
                      <a:r>
                        <a:rPr lang="pt-BR" sz="1400" dirty="0">
                          <a:effectLst/>
                        </a:rPr>
                        <a:t>Sábado</a:t>
                      </a:r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0">
                  <a:txBody>
                    <a:bodyPr/>
                    <a:lstStyle/>
                    <a:p>
                      <a:pPr algn="ctr" rtl="0" fontAlgn="b"/>
                      <a:r>
                        <a:rPr lang="pt-BR" sz="1400" dirty="0">
                          <a:effectLst/>
                        </a:rPr>
                        <a:t>10:00 às 11:40</a:t>
                      </a:r>
                    </a:p>
                  </a:txBody>
                  <a:tcPr marL="10288" marR="10288" marT="6859" marB="685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Introdução</a:t>
                      </a:r>
                      <a:r>
                        <a:rPr lang="pt-BR" sz="1400" baseline="0"/>
                        <a:t> ao Aprendizado de Máquina</a:t>
                      </a:r>
                      <a:endParaRPr lang="en-US" sz="1400" dirty="0"/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9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8/8/2026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/>
                        <a:t>Introdução</a:t>
                      </a:r>
                      <a:r>
                        <a:rPr lang="pt-BR" sz="1400" baseline="0"/>
                        <a:t> ao Aprendizado de Máquina</a:t>
                      </a:r>
                      <a:endParaRPr lang="en-US" sz="1400" dirty="0"/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>
                          <a:effectLst/>
                        </a:rPr>
                        <a:t>3</a:t>
                      </a:r>
                      <a:endParaRPr lang="en-US" sz="1400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15/8/2026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Introdução</a:t>
                      </a:r>
                      <a:r>
                        <a:rPr lang="pt-BR" sz="1400" baseline="0" dirty="0"/>
                        <a:t> ao Aprendizado de Máquina</a:t>
                      </a:r>
                      <a:endParaRPr lang="en-US" sz="1400" dirty="0"/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22/8/2026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Introdução</a:t>
                      </a:r>
                      <a:r>
                        <a:rPr lang="pt-BR" sz="1400" baseline="0"/>
                        <a:t> ao Aprendizado de Máquina</a:t>
                      </a:r>
                      <a:endParaRPr lang="en-US" sz="1400" dirty="0"/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1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29/8/2026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Introdução</a:t>
                      </a:r>
                      <a:r>
                        <a:rPr lang="pt-BR" sz="1400" baseline="0"/>
                        <a:t> ao Aprendizado de Máquina</a:t>
                      </a:r>
                      <a:endParaRPr lang="en-US" sz="1400" dirty="0"/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5/9/2026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Introdução</a:t>
                      </a:r>
                      <a:r>
                        <a:rPr lang="pt-BR" sz="1400" baseline="0"/>
                        <a:t> ao Aprendizado de Máquina</a:t>
                      </a:r>
                      <a:endParaRPr lang="en-US" sz="1400" dirty="0"/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12/9/2026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Introdução</a:t>
                      </a:r>
                      <a:r>
                        <a:rPr lang="pt-BR" sz="1400" baseline="0"/>
                        <a:t> ao Aprendizado de Máquina</a:t>
                      </a:r>
                      <a:endParaRPr lang="en-US" sz="1400" dirty="0"/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19/9/2026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b="1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Introdução</a:t>
                      </a:r>
                      <a:r>
                        <a:rPr lang="pt-BR" sz="1400" baseline="0" dirty="0"/>
                        <a:t> ao Aprendizado de Máquina</a:t>
                      </a:r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26/9/2026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dirty="0"/>
                        <a:t>Introdução</a:t>
                      </a:r>
                      <a:r>
                        <a:rPr lang="pt-BR" sz="1400" baseline="0" dirty="0"/>
                        <a:t> ao Aprendizado de Máquina</a:t>
                      </a:r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solidFill>
                            <a:srgbClr val="00B050"/>
                          </a:solidFill>
                          <a:effectLst/>
                        </a:rPr>
                        <a:t>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3/10/2026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 err="1">
                          <a:solidFill>
                            <a:srgbClr val="00B050"/>
                          </a:solidFill>
                          <a:effectLst/>
                        </a:rPr>
                        <a:t>Avaliação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rgbClr val="00B050"/>
                          </a:solidFill>
                          <a:effectLst/>
                        </a:rPr>
                        <a:t>Presencial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  <a:effectLst/>
                        </a:rPr>
                        <a:t> I (</a:t>
                      </a:r>
                      <a:r>
                        <a:rPr lang="en-US" sz="1400" b="1" dirty="0" err="1">
                          <a:solidFill>
                            <a:srgbClr val="00B050"/>
                          </a:solidFill>
                          <a:effectLst/>
                        </a:rPr>
                        <a:t>Projeto</a:t>
                      </a:r>
                      <a:r>
                        <a:rPr lang="en-US" sz="1400" b="1" baseline="0" dirty="0">
                          <a:solidFill>
                            <a:srgbClr val="00B050"/>
                          </a:solidFill>
                          <a:effectLst/>
                        </a:rPr>
                        <a:t> I) </a:t>
                      </a:r>
                      <a:r>
                        <a:rPr lang="en-US" sz="1400" b="1" baseline="0" dirty="0">
                          <a:solidFill>
                            <a:srgbClr val="FF0000"/>
                          </a:solidFill>
                          <a:effectLst/>
                        </a:rPr>
                        <a:t>(Sala ??)</a:t>
                      </a:r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10/10/2026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Introdução</a:t>
                      </a:r>
                      <a:r>
                        <a:rPr lang="pt-BR" sz="1400" baseline="0" dirty="0"/>
                        <a:t> ao Aprendizado de Máquina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17/10/2026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Introdução</a:t>
                      </a:r>
                      <a:r>
                        <a:rPr lang="pt-BR" sz="1400" baseline="0" dirty="0"/>
                        <a:t> ao Aprendizado de Máquina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24/10/2026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/>
                        <a:t>Introdução</a:t>
                      </a:r>
                      <a:r>
                        <a:rPr lang="pt-BR" sz="1400" baseline="0"/>
                        <a:t> ao Aprendizado de Máquina</a:t>
                      </a:r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31/10/2026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/>
                        <a:t>Introdução</a:t>
                      </a:r>
                      <a:r>
                        <a:rPr lang="pt-BR" sz="1400" baseline="0"/>
                        <a:t> ao Aprendizado de Máquina</a:t>
                      </a:r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7/11/2026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dirty="0"/>
                        <a:t>Introdução</a:t>
                      </a:r>
                      <a:r>
                        <a:rPr lang="pt-BR" sz="1400" baseline="0" dirty="0"/>
                        <a:t> ao Aprendizado de Máquina</a:t>
                      </a:r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14/11/2026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b="1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 err="1">
                          <a:solidFill>
                            <a:srgbClr val="00B050"/>
                          </a:solidFill>
                          <a:effectLst/>
                        </a:rPr>
                        <a:t>Avaliação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  <a:effectLst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rgbClr val="00B050"/>
                          </a:solidFill>
                          <a:effectLst/>
                        </a:rPr>
                        <a:t>Presencial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  <a:effectLst/>
                        </a:rPr>
                        <a:t> II (</a:t>
                      </a:r>
                      <a:r>
                        <a:rPr lang="en-US" sz="1400" b="1" dirty="0" err="1">
                          <a:solidFill>
                            <a:srgbClr val="00B050"/>
                          </a:solidFill>
                          <a:effectLst/>
                        </a:rPr>
                        <a:t>Projeto</a:t>
                      </a:r>
                      <a:r>
                        <a:rPr lang="en-US" sz="1400" b="1" baseline="0" dirty="0">
                          <a:solidFill>
                            <a:srgbClr val="00B050"/>
                          </a:solidFill>
                          <a:effectLst/>
                        </a:rPr>
                        <a:t> II) </a:t>
                      </a:r>
                      <a:r>
                        <a:rPr lang="en-US" sz="1400" b="1" baseline="0" dirty="0">
                          <a:solidFill>
                            <a:srgbClr val="FF0000"/>
                          </a:solidFill>
                          <a:effectLst/>
                        </a:rPr>
                        <a:t>(Sala ??)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21/11/2026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Introdução</a:t>
                      </a:r>
                      <a:r>
                        <a:rPr lang="pt-BR" sz="1400" baseline="0" dirty="0"/>
                        <a:t> ao Aprendizado de Máquina</a:t>
                      </a:r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28/11/2026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dirty="0"/>
                        <a:t>Introdução</a:t>
                      </a:r>
                      <a:r>
                        <a:rPr lang="pt-BR" sz="1400" baseline="0" dirty="0"/>
                        <a:t> ao Aprendizado de Máquina</a:t>
                      </a:r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19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5/12/2026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/>
                        <a:t>Introdução</a:t>
                      </a:r>
                      <a:r>
                        <a:rPr lang="pt-BR" sz="1400" baseline="0"/>
                        <a:t> ao Aprendizado de Máquina</a:t>
                      </a:r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26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dirty="0">
                          <a:solidFill>
                            <a:srgbClr val="00B050"/>
                          </a:solidFill>
                          <a:effectLst/>
                        </a:rPr>
                        <a:t>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12/12/2026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b"/>
                      <a:endParaRPr lang="en-US" sz="1400" dirty="0"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1" dirty="0">
                          <a:solidFill>
                            <a:srgbClr val="00B050"/>
                          </a:solidFill>
                        </a:rPr>
                        <a:t>NP3 (via Teams)</a:t>
                      </a:r>
                      <a:endParaRPr lang="en-US" sz="1400" b="1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10288" marR="10288" marT="6859" marB="685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40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4684C-1159-4F88-A2B1-6BABEDE38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432B31-D382-41FF-BB6B-2ABDD3224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915"/>
            <a:ext cx="11126492" cy="52090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[1] Stuart Russell e Peter </a:t>
            </a:r>
            <a:r>
              <a:rPr lang="pt-BR" dirty="0" err="1"/>
              <a:t>Norvig</a:t>
            </a:r>
            <a:r>
              <a:rPr lang="pt-BR" dirty="0"/>
              <a:t>, “</a:t>
            </a:r>
            <a:r>
              <a:rPr lang="pt-BR" i="1" dirty="0"/>
              <a:t>Artificial </a:t>
            </a:r>
            <a:r>
              <a:rPr lang="pt-BR" i="1" dirty="0" err="1"/>
              <a:t>Intelligence</a:t>
            </a:r>
            <a:r>
              <a:rPr lang="pt-BR" i="1" dirty="0"/>
              <a:t>: A </a:t>
            </a:r>
            <a:r>
              <a:rPr lang="pt-BR" i="1" dirty="0" err="1"/>
              <a:t>Modern</a:t>
            </a:r>
            <a:r>
              <a:rPr lang="pt-BR" i="1" dirty="0"/>
              <a:t> Approach</a:t>
            </a:r>
            <a:r>
              <a:rPr lang="pt-BR" dirty="0"/>
              <a:t>,” Prentice Hall Series in Artificial </a:t>
            </a:r>
            <a:r>
              <a:rPr lang="pt-BR" dirty="0" err="1"/>
              <a:t>Intelligence</a:t>
            </a:r>
            <a:r>
              <a:rPr lang="pt-BR" dirty="0"/>
              <a:t>, 3rd ed., 2015.</a:t>
            </a:r>
          </a:p>
          <a:p>
            <a:pPr marL="0" indent="0">
              <a:buNone/>
            </a:pPr>
            <a:r>
              <a:rPr lang="pt-BR" dirty="0"/>
              <a:t>[2] </a:t>
            </a:r>
            <a:r>
              <a:rPr lang="pt-BR" dirty="0" err="1"/>
              <a:t>Aurélien</a:t>
            </a:r>
            <a:r>
              <a:rPr lang="pt-BR" dirty="0"/>
              <a:t> </a:t>
            </a:r>
            <a:r>
              <a:rPr lang="pt-BR" dirty="0" err="1"/>
              <a:t>Géron</a:t>
            </a:r>
            <a:r>
              <a:rPr lang="pt-BR" dirty="0"/>
              <a:t>, “</a:t>
            </a:r>
            <a:r>
              <a:rPr lang="pt-BR" i="1" dirty="0"/>
              <a:t>Hands-On </a:t>
            </a:r>
            <a:r>
              <a:rPr lang="pt-BR" i="1" dirty="0" err="1"/>
              <a:t>Machine</a:t>
            </a:r>
            <a:r>
              <a:rPr lang="pt-BR" i="1" dirty="0"/>
              <a:t> Learning </a:t>
            </a:r>
            <a:r>
              <a:rPr lang="pt-BR" i="1" dirty="0" err="1"/>
              <a:t>with</a:t>
            </a:r>
            <a:r>
              <a:rPr lang="pt-BR" i="1" dirty="0"/>
              <a:t> </a:t>
            </a:r>
            <a:r>
              <a:rPr lang="pt-BR" i="1" dirty="0" err="1"/>
              <a:t>Scikit-Learn</a:t>
            </a:r>
            <a:r>
              <a:rPr lang="pt-BR" i="1" dirty="0"/>
              <a:t> </a:t>
            </a:r>
            <a:r>
              <a:rPr lang="pt-BR" i="1" dirty="0" err="1"/>
              <a:t>and</a:t>
            </a:r>
            <a:r>
              <a:rPr lang="pt-BR" i="1" dirty="0"/>
              <a:t> TensorFlow: </a:t>
            </a:r>
            <a:r>
              <a:rPr lang="pt-BR" i="1" dirty="0" err="1"/>
              <a:t>Concepts</a:t>
            </a:r>
            <a:r>
              <a:rPr lang="pt-BR" i="1" dirty="0"/>
              <a:t>, Tools, </a:t>
            </a:r>
            <a:r>
              <a:rPr lang="pt-BR" i="1" dirty="0" err="1"/>
              <a:t>and</a:t>
            </a:r>
            <a:r>
              <a:rPr lang="pt-BR" i="1" dirty="0"/>
              <a:t> </a:t>
            </a:r>
            <a:r>
              <a:rPr lang="pt-BR" i="1" dirty="0" err="1"/>
              <a:t>Techniques</a:t>
            </a:r>
            <a:r>
              <a:rPr lang="pt-BR" i="1" dirty="0"/>
              <a:t> </a:t>
            </a:r>
            <a:r>
              <a:rPr lang="pt-BR" i="1" dirty="0" err="1"/>
              <a:t>to</a:t>
            </a:r>
            <a:r>
              <a:rPr lang="pt-BR" i="1" dirty="0"/>
              <a:t> Build </a:t>
            </a:r>
            <a:r>
              <a:rPr lang="pt-BR" i="1" dirty="0" err="1"/>
              <a:t>Intelligent</a:t>
            </a:r>
            <a:r>
              <a:rPr lang="pt-BR" i="1" dirty="0"/>
              <a:t> Systems</a:t>
            </a:r>
            <a:r>
              <a:rPr lang="pt-BR" dirty="0"/>
              <a:t>”, 1st ed., O'Reilly Media, 2017.</a:t>
            </a:r>
          </a:p>
          <a:p>
            <a:pPr marL="0" indent="0">
              <a:buNone/>
            </a:pPr>
            <a:r>
              <a:rPr lang="pt-BR" dirty="0"/>
              <a:t>[3] Levy Boccato, “Notas de aula do curso Tópicos em Sistemas Inteligentes II - Aprendizado de Máquina” (IA006), disponíveis em </a:t>
            </a:r>
            <a:r>
              <a:rPr lang="pt-BR" dirty="0">
                <a:hlinkClick r:id="rId3"/>
              </a:rPr>
              <a:t>https://www.dca.fee.unicamp.br/~lboccato/ia006_2s2019.html</a:t>
            </a:r>
            <a:r>
              <a:rPr lang="pt-BR" dirty="0"/>
              <a:t> (2019).</a:t>
            </a:r>
          </a:p>
          <a:p>
            <a:pPr marL="0" indent="0">
              <a:buNone/>
            </a:pPr>
            <a:r>
              <a:rPr lang="pt-BR" dirty="0"/>
              <a:t>[4] Joseph </a:t>
            </a:r>
            <a:r>
              <a:rPr lang="pt-BR" dirty="0" err="1"/>
              <a:t>Misiti</a:t>
            </a:r>
            <a:r>
              <a:rPr lang="pt-BR" dirty="0"/>
              <a:t>, “</a:t>
            </a:r>
            <a:r>
              <a:rPr lang="pt-BR" i="1" dirty="0" err="1"/>
              <a:t>Awesome</a:t>
            </a:r>
            <a:r>
              <a:rPr lang="pt-BR" i="1" dirty="0"/>
              <a:t> </a:t>
            </a:r>
            <a:r>
              <a:rPr lang="pt-BR" i="1" dirty="0" err="1"/>
              <a:t>Machine</a:t>
            </a:r>
            <a:r>
              <a:rPr lang="pt-BR" i="1" dirty="0"/>
              <a:t>-Learning</a:t>
            </a:r>
            <a:r>
              <a:rPr lang="pt-BR" dirty="0"/>
              <a:t>,” on-line data base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several</a:t>
            </a:r>
            <a:r>
              <a:rPr lang="pt-BR" dirty="0"/>
              <a:t> </a:t>
            </a:r>
            <a:r>
              <a:rPr lang="pt-BR" dirty="0" err="1"/>
              <a:t>free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/</a:t>
            </a:r>
            <a:r>
              <a:rPr lang="pt-BR" dirty="0" err="1"/>
              <a:t>or</a:t>
            </a:r>
            <a:r>
              <a:rPr lang="pt-BR" dirty="0"/>
              <a:t> open-</a:t>
            </a:r>
            <a:r>
              <a:rPr lang="pt-BR" dirty="0" err="1"/>
              <a:t>source</a:t>
            </a:r>
            <a:r>
              <a:rPr lang="pt-BR" dirty="0"/>
              <a:t> books (</a:t>
            </a:r>
            <a:r>
              <a:rPr lang="pt-BR" dirty="0">
                <a:hlinkClick r:id="rId4"/>
              </a:rPr>
              <a:t>https://github.com/</a:t>
            </a:r>
            <a:r>
              <a:rPr lang="pt-BR" dirty="0" err="1">
                <a:hlinkClick r:id="rId4"/>
              </a:rPr>
              <a:t>josephmisiti</a:t>
            </a:r>
            <a:r>
              <a:rPr lang="pt-BR" dirty="0">
                <a:hlinkClick r:id="rId4"/>
              </a:rPr>
              <a:t>/</a:t>
            </a:r>
            <a:r>
              <a:rPr lang="pt-BR" dirty="0" err="1">
                <a:hlinkClick r:id="rId4"/>
              </a:rPr>
              <a:t>awesome-machine-learning</a:t>
            </a:r>
            <a:r>
              <a:rPr lang="pt-BR" dirty="0"/>
              <a:t>). </a:t>
            </a:r>
          </a:p>
          <a:p>
            <a:pPr marL="0" indent="0">
              <a:buNone/>
            </a:pPr>
            <a:r>
              <a:rPr lang="pt-BR" dirty="0"/>
              <a:t>[5] C. M. Bishop, “</a:t>
            </a:r>
            <a:r>
              <a:rPr lang="pt-BR" i="1" dirty="0" err="1"/>
              <a:t>Pattern</a:t>
            </a:r>
            <a:r>
              <a:rPr lang="pt-BR" i="1" dirty="0"/>
              <a:t> </a:t>
            </a:r>
            <a:r>
              <a:rPr lang="pt-BR" i="1" dirty="0" err="1"/>
              <a:t>Recognition</a:t>
            </a:r>
            <a:r>
              <a:rPr lang="pt-BR" i="1" dirty="0"/>
              <a:t> </a:t>
            </a:r>
            <a:r>
              <a:rPr lang="pt-BR" i="1" dirty="0" err="1"/>
              <a:t>and</a:t>
            </a:r>
            <a:r>
              <a:rPr lang="pt-BR" i="1" dirty="0"/>
              <a:t> </a:t>
            </a:r>
            <a:r>
              <a:rPr lang="pt-BR" i="1" dirty="0" err="1"/>
              <a:t>Machine</a:t>
            </a:r>
            <a:r>
              <a:rPr lang="pt-BR" i="1" dirty="0"/>
              <a:t> Learning</a:t>
            </a:r>
            <a:r>
              <a:rPr lang="pt-BR" dirty="0"/>
              <a:t>,” Springer, 1st ed., 2006.</a:t>
            </a:r>
          </a:p>
          <a:p>
            <a:pPr marL="0" indent="0">
              <a:buNone/>
            </a:pPr>
            <a:r>
              <a:rPr lang="pt-BR" dirty="0"/>
              <a:t>[6] Coleção de livros, </a:t>
            </a:r>
            <a:r>
              <a:rPr lang="pt-BR" dirty="0">
                <a:hlinkClick r:id="rId5"/>
              </a:rPr>
              <a:t>https://tinyurl.com/mp64ksye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4522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Avisos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6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Toda nossa comunicação será feita via Teams.</a:t>
            </a:r>
          </a:p>
          <a:p>
            <a:r>
              <a:rPr lang="pt-BR" dirty="0"/>
              <a:t>Todas as aulas serão gravadas e ficarão disponíveis na pasta “</a:t>
            </a:r>
            <a:r>
              <a:rPr lang="pt-BR" dirty="0" err="1"/>
              <a:t>Recordings</a:t>
            </a:r>
            <a:r>
              <a:rPr lang="pt-BR" dirty="0"/>
              <a:t>”.</a:t>
            </a:r>
          </a:p>
          <a:p>
            <a:r>
              <a:rPr lang="pt-BR" dirty="0"/>
              <a:t>Todo material do curso está disponível no GitHub: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2"/>
              </a:rPr>
              <a:t>https://github.com/zz4fap/t320_aprendizado_de_maquina</a:t>
            </a:r>
            <a:endParaRPr lang="en-US" dirty="0"/>
          </a:p>
          <a:p>
            <a:r>
              <a:rPr lang="en-US" dirty="0" err="1"/>
              <a:t>Entregas</a:t>
            </a:r>
            <a:r>
              <a:rPr lang="en-US" dirty="0"/>
              <a:t> de </a:t>
            </a:r>
            <a:r>
              <a:rPr lang="pt-BR" dirty="0" err="1"/>
              <a:t>aboratórios</a:t>
            </a:r>
            <a:r>
              <a:rPr lang="pt-BR" dirty="0"/>
              <a:t> e quizzes </a:t>
            </a:r>
            <a:r>
              <a:rPr lang="en-US" dirty="0" err="1"/>
              <a:t>devem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feitas</a:t>
            </a:r>
            <a:r>
              <a:rPr lang="en-US" dirty="0"/>
              <a:t> </a:t>
            </a:r>
            <a:r>
              <a:rPr lang="en-US" dirty="0" err="1"/>
              <a:t>através</a:t>
            </a:r>
            <a:r>
              <a:rPr lang="en-US" dirty="0"/>
              <a:t> do Teams.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Se </a:t>
            </a:r>
            <a:r>
              <a:rPr lang="en-US" dirty="0" err="1"/>
              <a:t>atentem</a:t>
            </a:r>
            <a:r>
              <a:rPr lang="en-US" dirty="0"/>
              <a:t> </a:t>
            </a:r>
            <a:r>
              <a:rPr lang="en-US" dirty="0" err="1"/>
              <a:t>às</a:t>
            </a:r>
            <a:r>
              <a:rPr lang="en-US" dirty="0"/>
              <a:t> </a:t>
            </a:r>
            <a:r>
              <a:rPr lang="en-US" dirty="0" err="1"/>
              <a:t>datas</a:t>
            </a:r>
            <a:r>
              <a:rPr lang="en-US" dirty="0"/>
              <a:t> e </a:t>
            </a:r>
            <a:r>
              <a:rPr lang="en-US" dirty="0" err="1"/>
              <a:t>horários</a:t>
            </a:r>
            <a:r>
              <a:rPr lang="en-US" dirty="0"/>
              <a:t> de </a:t>
            </a:r>
            <a:r>
              <a:rPr lang="en-US" dirty="0" err="1"/>
              <a:t>entrega</a:t>
            </a:r>
            <a:r>
              <a:rPr lang="en-US" dirty="0"/>
              <a:t> das </a:t>
            </a:r>
            <a:r>
              <a:rPr lang="en-US" dirty="0" err="1"/>
              <a:t>atividades</a:t>
            </a:r>
            <a:r>
              <a:rPr lang="en-US" dirty="0"/>
              <a:t>.</a:t>
            </a:r>
          </a:p>
          <a:p>
            <a:r>
              <a:rPr lang="en-US" dirty="0" err="1"/>
              <a:t>Vídeos</a:t>
            </a:r>
            <a:r>
              <a:rPr lang="en-US" dirty="0"/>
              <a:t> do </a:t>
            </a:r>
            <a:r>
              <a:rPr lang="en-US" dirty="0" err="1"/>
              <a:t>minicurso</a:t>
            </a:r>
            <a:r>
              <a:rPr lang="en-US" dirty="0"/>
              <a:t> de Python e de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usar</a:t>
            </a:r>
            <a:r>
              <a:rPr lang="en-US" dirty="0"/>
              <a:t> o </a:t>
            </a:r>
            <a:r>
              <a:rPr lang="en-US" dirty="0" err="1"/>
              <a:t>Colab</a:t>
            </a:r>
            <a:r>
              <a:rPr lang="en-US" dirty="0"/>
              <a:t> </a:t>
            </a:r>
            <a:r>
              <a:rPr lang="en-US" dirty="0" err="1"/>
              <a:t>estão</a:t>
            </a:r>
            <a:r>
              <a:rPr lang="en-US" dirty="0"/>
              <a:t> </a:t>
            </a:r>
            <a:r>
              <a:rPr lang="pt-BR" dirty="0"/>
              <a:t>na pasta "</a:t>
            </a:r>
            <a:r>
              <a:rPr lang="pt-BR" dirty="0" err="1"/>
              <a:t>Recordings</a:t>
            </a:r>
            <a:r>
              <a:rPr lang="pt-BR" dirty="0"/>
              <a:t>".</a:t>
            </a:r>
          </a:p>
          <a:p>
            <a:r>
              <a:rPr lang="pt-BR" dirty="0"/>
              <a:t>Horários de atendimento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Professor: terças-feiras das 10:00 às 11:00 e das 17:30 às 18:30.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Monitor (</a:t>
            </a:r>
            <a:r>
              <a:rPr lang="en-US" dirty="0"/>
              <a:t>João Gabriel: joao.g@get.inatel.br): </a:t>
            </a:r>
            <a:r>
              <a:rPr lang="en-US" dirty="0" err="1"/>
              <a:t>segundas-feiras</a:t>
            </a:r>
            <a:r>
              <a:rPr lang="en-US" dirty="0"/>
              <a:t> das 17:30 </a:t>
            </a:r>
            <a:r>
              <a:rPr lang="en-US" dirty="0" err="1"/>
              <a:t>às</a:t>
            </a:r>
            <a:r>
              <a:rPr lang="en-US" dirty="0"/>
              <a:t> 19:30.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Atendimento remoto via Teams.</a:t>
            </a:r>
          </a:p>
        </p:txBody>
      </p:sp>
    </p:spTree>
    <p:extLst>
      <p:ext uri="{BB962C8B-B14F-4D97-AF65-F5344CB8AC3E}">
        <p14:creationId xmlns:p14="http://schemas.microsoft.com/office/powerpoint/2010/main" val="127444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10900" cy="4351338"/>
              </a:xfrm>
            </p:spPr>
            <p:txBody>
              <a:bodyPr/>
              <a:lstStyle/>
              <a:p>
                <a:r>
                  <a:rPr lang="pt-BR" dirty="0"/>
                  <a:t>Tarefa (ou problema) de </a:t>
                </a:r>
                <a:r>
                  <a:rPr lang="pt-BR" b="1" dirty="0">
                    <a:solidFill>
                      <a:schemeClr val="accent2"/>
                    </a:solidFill>
                  </a:rPr>
                  <a:t>aprendizado supervisionado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As saídas esperadas (rótulos) são conhecidas.</a:t>
                </a:r>
              </a:p>
              <a:p>
                <a:r>
                  <a:rPr lang="pt-BR" dirty="0"/>
                  <a:t>Envolve encontrar uma função,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que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mapeie</a:t>
                </a:r>
                <a:r>
                  <a:rPr lang="pt-BR" dirty="0"/>
                  <a:t> os atributos de entrada em um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conjunto finito de valores discretos</a:t>
                </a:r>
                <a:r>
                  <a:rPr lang="pt-BR" dirty="0"/>
                  <a:t>, ou seja, em classes.</a:t>
                </a:r>
                <a:endParaRPr lang="en-US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10900" cy="4351338"/>
              </a:xfrm>
              <a:blipFill>
                <a:blip r:embed="rId2"/>
                <a:stretch>
                  <a:fillRect l="-99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miro.medium.com/max/1276/1*4sixxtuD8unWceZ-yp9TgQ.jpe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3" t="33761" r="47008" b="10621"/>
          <a:stretch/>
        </p:blipFill>
        <p:spPr bwMode="auto">
          <a:xfrm>
            <a:off x="7031891" y="3774326"/>
            <a:ext cx="2549237" cy="2537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s://miro.medium.com/max/1276/1*4sixxtuD8unWceZ-yp9TgQ.jpe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47" t="33424" r="5087" b="12524"/>
          <a:stretch/>
        </p:blipFill>
        <p:spPr bwMode="auto">
          <a:xfrm>
            <a:off x="1671781" y="3763638"/>
            <a:ext cx="2538080" cy="2466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1088136" y="6229747"/>
                <a:ext cx="384047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 err="1">
                    <a:solidFill>
                      <a:srgbClr val="00B050"/>
                    </a:solidFill>
                  </a:rPr>
                  <a:t>aproxima</a:t>
                </a:r>
                <a:r>
                  <a:rPr lang="en-US" dirty="0"/>
                  <a:t> o </a:t>
                </a:r>
                <a:r>
                  <a:rPr lang="en-US" dirty="0" err="1"/>
                  <a:t>comportamento</a:t>
                </a:r>
                <a:r>
                  <a:rPr lang="en-US" dirty="0"/>
                  <a:t> dos dados.</a:t>
                </a:r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136" y="6229747"/>
                <a:ext cx="3840479" cy="646331"/>
              </a:xfrm>
              <a:prstGeom prst="rect">
                <a:avLst/>
              </a:prstGeom>
              <a:blipFill rotWithShape="0">
                <a:blip r:embed="rId4"/>
                <a:stretch>
                  <a:fillRect t="-5660" r="-1113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6509713" y="6311900"/>
                <a:ext cx="35935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classifica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 err="1"/>
                  <a:t>os</a:t>
                </a:r>
                <a:r>
                  <a:rPr lang="en-US" dirty="0"/>
                  <a:t> dados.</a:t>
                </a:r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713" y="6311900"/>
                <a:ext cx="3593592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ECF4BC9-393F-92F3-2241-24670E5635B4}"/>
                  </a:ext>
                </a:extLst>
              </p:cNvPr>
              <p:cNvSpPr txBox="1"/>
              <p:nvPr/>
            </p:nvSpPr>
            <p:spPr>
              <a:xfrm>
                <a:off x="9716654" y="4664364"/>
                <a:ext cx="163714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pt-BR" dirty="0"/>
                  <a:t>forma uma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fronteira de decisão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ECF4BC9-393F-92F3-2241-24670E563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654" y="4664364"/>
                <a:ext cx="1637146" cy="923330"/>
              </a:xfrm>
              <a:prstGeom prst="rect">
                <a:avLst/>
              </a:prstGeom>
              <a:blipFill>
                <a:blip r:embed="rId6"/>
                <a:stretch>
                  <a:fillRect t="-3289" r="-1487" b="-9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5">
                <a:extLst>
                  <a:ext uri="{FF2B5EF4-FFF2-40B4-BE49-F238E27FC236}">
                    <a16:creationId xmlns:a16="http://schemas.microsoft.com/office/drawing/2014/main" id="{48D3A820-D198-F9AB-C6B3-3F78DA6684D0}"/>
                  </a:ext>
                </a:extLst>
              </p:cNvPr>
              <p:cNvSpPr txBox="1"/>
              <p:nvPr/>
            </p:nvSpPr>
            <p:spPr>
              <a:xfrm>
                <a:off x="4209861" y="4664364"/>
                <a:ext cx="176606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pt-BR" dirty="0"/>
                  <a:t>captura o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comportamento geral</a:t>
                </a:r>
                <a:r>
                  <a:rPr lang="pt-BR" dirty="0"/>
                  <a:t> dos dados.</a:t>
                </a:r>
              </a:p>
            </p:txBody>
          </p:sp>
        </mc:Choice>
        <mc:Fallback xmlns="">
          <p:sp>
            <p:nvSpPr>
              <p:cNvPr id="8" name="CaixaDeTexto 5">
                <a:extLst>
                  <a:ext uri="{FF2B5EF4-FFF2-40B4-BE49-F238E27FC236}">
                    <a16:creationId xmlns:a16="http://schemas.microsoft.com/office/drawing/2014/main" id="{48D3A820-D198-F9AB-C6B3-3F78DA668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861" y="4664364"/>
                <a:ext cx="1766066" cy="923330"/>
              </a:xfrm>
              <a:prstGeom prst="rect">
                <a:avLst/>
              </a:prstGeom>
              <a:blipFill>
                <a:blip r:embed="rId7"/>
                <a:stretch>
                  <a:fillRect l="-2422" t="-3289" r="-3806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474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Tarefas de classificação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4734961"/>
            <a:ext cx="10515600" cy="2123039"/>
          </a:xfrm>
        </p:spPr>
        <p:txBody>
          <a:bodyPr>
            <a:normAutofit/>
          </a:bodyPr>
          <a:lstStyle/>
          <a:p>
            <a:r>
              <a:rPr lang="pt-BR" dirty="0"/>
              <a:t>Classificação de </a:t>
            </a:r>
            <a:r>
              <a:rPr lang="pt-BR" dirty="0" err="1"/>
              <a:t>emails</a:t>
            </a:r>
            <a:r>
              <a:rPr lang="pt-BR" dirty="0"/>
              <a:t> entre </a:t>
            </a:r>
            <a:r>
              <a:rPr lang="pt-BR" i="1" dirty="0"/>
              <a:t>spam</a:t>
            </a:r>
            <a:r>
              <a:rPr lang="pt-BR" dirty="0"/>
              <a:t> e </a:t>
            </a:r>
            <a:r>
              <a:rPr lang="pt-BR" i="1" dirty="0" err="1"/>
              <a:t>ham</a:t>
            </a:r>
            <a:r>
              <a:rPr lang="pt-BR" dirty="0"/>
              <a:t> (legítimo).</a:t>
            </a:r>
          </a:p>
          <a:p>
            <a:r>
              <a:rPr lang="pt-BR" dirty="0"/>
              <a:t>Classificação de objetos em imagens ou vídeos.</a:t>
            </a:r>
          </a:p>
          <a:p>
            <a:r>
              <a:rPr lang="pt-BR" dirty="0"/>
              <a:t>Detecção ou classificação de símbolos de modulações digitais.</a:t>
            </a:r>
          </a:p>
          <a:p>
            <a:r>
              <a:rPr lang="pt-BR" dirty="0"/>
              <a:t>Classificação de modulações (QPSK, AM, FM, etc.)</a:t>
            </a:r>
            <a:r>
              <a:rPr lang="en-US" dirty="0"/>
              <a:t>.</a:t>
            </a:r>
            <a:endParaRPr lang="pt-BR" dirty="0"/>
          </a:p>
        </p:txBody>
      </p:sp>
      <p:pic>
        <p:nvPicPr>
          <p:cNvPr id="4" name="Picture 5" descr="Image result for supervised learning">
            <a:extLst>
              <a:ext uri="{FF2B5EF4-FFF2-40B4-BE49-F238E27FC236}">
                <a16:creationId xmlns:a16="http://schemas.microsoft.com/office/drawing/2014/main" id="{2520F4EA-1E3E-4F3B-97C0-DF47861DC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12" y="2332180"/>
            <a:ext cx="4096017" cy="131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rcRect l="6494" t="4277" r="8205" b="4390"/>
          <a:stretch/>
        </p:blipFill>
        <p:spPr>
          <a:xfrm>
            <a:off x="8379518" y="1306960"/>
            <a:ext cx="3611553" cy="3360751"/>
          </a:xfrm>
          <a:prstGeom prst="rect">
            <a:avLst/>
          </a:prstGeom>
        </p:spPr>
      </p:pic>
      <p:pic>
        <p:nvPicPr>
          <p:cNvPr id="6" name="Picture 2" descr="Measure Classification Performance: New in Wolfram Languag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589" y="1690688"/>
            <a:ext cx="2879696" cy="287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742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22156"/>
            <a:ext cx="10858500" cy="1834185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Reconhecimento de texto.</a:t>
            </a:r>
          </a:p>
          <a:p>
            <a:r>
              <a:rPr lang="pt-BR" dirty="0"/>
              <a:t>Classificação de texto (e.g., notícias).</a:t>
            </a:r>
          </a:p>
          <a:p>
            <a:r>
              <a:rPr lang="pt-BR" dirty="0"/>
              <a:t>Classificação de sentimentos.</a:t>
            </a:r>
          </a:p>
          <a:p>
            <a:r>
              <a:rPr lang="pt-BR" dirty="0"/>
              <a:t>Classificação do doenças (e.g., pulmonares).</a:t>
            </a:r>
          </a:p>
        </p:txBody>
      </p:sp>
      <p:pic>
        <p:nvPicPr>
          <p:cNvPr id="1026" name="Picture 2" descr="Ana Barros (@anathinker) | Twit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11" y="1817483"/>
            <a:ext cx="3635331" cy="240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nalyzing Text Classification Techniques on Youtube Dat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7" t="4114" r="9213" b="4823"/>
          <a:stretch/>
        </p:blipFill>
        <p:spPr bwMode="auto">
          <a:xfrm>
            <a:off x="3988099" y="1757087"/>
            <a:ext cx="4215802" cy="240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entiment Fig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358" y="809625"/>
            <a:ext cx="3177806" cy="225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838200" y="10165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Tarefas de classificação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9D184C6-ECA9-05BF-F6B4-C0965441E4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0" r="73203" b="10234"/>
          <a:stretch/>
        </p:blipFill>
        <p:spPr bwMode="auto">
          <a:xfrm>
            <a:off x="8402081" y="3424860"/>
            <a:ext cx="3267075" cy="333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082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 do problema de classificação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25201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b="1" dirty="0"/>
                  <a:t>Problema</a:t>
                </a:r>
                <a:r>
                  <a:rPr lang="pt-BR" dirty="0"/>
                  <a:t>: encontrar uma função,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que atribua a um </a:t>
                </a:r>
                <a:r>
                  <a:rPr lang="pt-BR" b="1" i="1" dirty="0"/>
                  <a:t>exemplo de entrada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:r>
                  <a:rPr lang="pt-BR" dirty="0"/>
                  <a:t>uma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 classes possíveis, as quais denotaremos como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Por exemplo, as classes podem ser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i="1" dirty="0"/>
                  <a:t>Spam</a:t>
                </a:r>
                <a:r>
                  <a:rPr lang="pt-BR" dirty="0"/>
                  <a:t> e </a:t>
                </a:r>
                <a:r>
                  <a:rPr lang="pt-BR" i="1" dirty="0" err="1"/>
                  <a:t>ham</a:t>
                </a:r>
                <a:r>
                  <a:rPr lang="pt-BR" dirty="0"/>
                  <a:t> (legítimo):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Dígitos de 0 a 9: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Símbolos de uma modulação específica (e.g., QPSK: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pt-BR" dirty="0"/>
                  <a:t>).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pt-BR" dirty="0"/>
                  <a:t>Objetos (carros, barcos, cães, gatos, etc.)</a:t>
                </a:r>
              </a:p>
              <a:p>
                <a:r>
                  <a:rPr lang="pt-BR" dirty="0"/>
                  <a:t>Semelhante ao problema da </a:t>
                </a:r>
                <a:r>
                  <a:rPr lang="pt-BR" b="1" i="1" dirty="0"/>
                  <a:t>regressão linear</a:t>
                </a:r>
                <a:r>
                  <a:rPr lang="pt-BR" dirty="0"/>
                  <a:t>, existe um conjunto de treinamento com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dirty="0"/>
                  <a:t> pares de </a:t>
                </a:r>
                <a:r>
                  <a:rPr lang="pt-BR" b="1" i="1" dirty="0"/>
                  <a:t>vetores de atributos </a:t>
                </a:r>
                <a:r>
                  <a:rPr lang="pt-BR" dirty="0"/>
                  <a:t>e </a:t>
                </a:r>
                <a:r>
                  <a:rPr lang="pt-BR" b="1" i="1" dirty="0"/>
                  <a:t>rótulos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d>
                              <m:d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pt-BR" dirty="0"/>
                  <a:t> que é utilizado para treinar um </a:t>
                </a:r>
                <a:r>
                  <a:rPr lang="pt-BR" b="1" i="1" dirty="0"/>
                  <a:t>classificador</a:t>
                </a:r>
                <a:r>
                  <a:rPr lang="pt-BR" dirty="0"/>
                  <a:t>, onde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sub>
                                  </m:sSub>
                                  <m:r>
                                    <m:rPr>
                                      <m:brk m:alnAt="7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r>
                  <a:rPr lang="pt-BR" dirty="0"/>
                  <a:t> representa o </a:t>
                </a:r>
                <a:r>
                  <a:rPr lang="pt-BR" i="1" dirty="0"/>
                  <a:t>i</a:t>
                </a:r>
                <a:r>
                  <a:rPr lang="pt-BR" dirty="0"/>
                  <a:t>-ésimo vetor de atributos, o qual é composto por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pt-BR" dirty="0"/>
                  <a:t> atributos,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), …,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;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pt-BR" dirty="0"/>
                  <a:t> representa o </a:t>
                </a:r>
                <a:r>
                  <a:rPr lang="pt-BR" i="1" dirty="0"/>
                  <a:t>i</a:t>
                </a:r>
                <a:r>
                  <a:rPr lang="pt-BR" dirty="0"/>
                  <a:t>-ésimo </a:t>
                </a:r>
                <a:r>
                  <a:rPr lang="pt-BR" b="1" i="1" dirty="0"/>
                  <a:t>rótulo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25201" cy="5032375"/>
              </a:xfrm>
              <a:blipFill>
                <a:blip r:embed="rId3"/>
                <a:stretch>
                  <a:fillRect l="-931" t="-2663" b="-2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935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representar a saída desejada?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825624"/>
                <a:ext cx="5962650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</a:t>
                </a:r>
                <a:r>
                  <a:rPr lang="pt-BR" b="1" i="1" dirty="0"/>
                  <a:t>saída desejada</a:t>
                </a:r>
                <a:r>
                  <a:rPr lang="pt-BR" dirty="0"/>
                  <a:t> (i.e., </a:t>
                </a:r>
                <a:r>
                  <a:rPr lang="pt-BR" b="1" i="1" dirty="0"/>
                  <a:t>rótulo</a:t>
                </a:r>
                <a:r>
                  <a:rPr lang="pt-BR" dirty="0"/>
                  <a:t>) de um classificador para um </a:t>
                </a:r>
                <a:r>
                  <a:rPr lang="pt-BR" b="1" i="1" dirty="0"/>
                  <a:t>vetor de atributos</a:t>
                </a:r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:r>
                  <a:rPr lang="pt-BR" dirty="0"/>
                  <a:t>deve ser um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valor que identifique</a:t>
                </a:r>
                <a:r>
                  <a:rPr lang="pt-BR" dirty="0"/>
                  <a:t> a qual </a:t>
                </a:r>
                <a:r>
                  <a:rPr lang="pt-BR" b="1" i="1" dirty="0"/>
                  <a:t>classe </a:t>
                </a:r>
                <a:r>
                  <a:rPr lang="pt-BR" dirty="0"/>
                  <a:t>o vetor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pertence. </a:t>
                </a:r>
              </a:p>
              <a:p>
                <a:r>
                  <a:rPr lang="pt-BR" dirty="0"/>
                  <a:t>Sendo assim, a </a:t>
                </a:r>
                <a:r>
                  <a:rPr lang="pt-BR" b="1" i="1" dirty="0"/>
                  <a:t>saída</a:t>
                </a:r>
                <a:r>
                  <a:rPr lang="pt-BR" dirty="0"/>
                  <a:t> de um </a:t>
                </a:r>
                <a:r>
                  <a:rPr lang="pt-BR" b="1" i="1" dirty="0"/>
                  <a:t>classificador</a:t>
                </a:r>
                <a:r>
                  <a:rPr lang="pt-BR" dirty="0"/>
                  <a:t> é uma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variável</a:t>
                </a:r>
                <a:r>
                  <a:rPr lang="pt-BR" dirty="0"/>
                  <a:t>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categórica</a:t>
                </a:r>
                <a:r>
                  <a:rPr lang="pt-BR" dirty="0"/>
                  <a:t> (i.e., </a:t>
                </a:r>
                <a:r>
                  <a:rPr lang="pt-BR" b="1" i="1" dirty="0"/>
                  <a:t>valor discreto pertencente a um conjunto finito de valores</a:t>
                </a:r>
                <a:r>
                  <a:rPr lang="pt-BR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825624"/>
                <a:ext cx="5962650" cy="5032376"/>
              </a:xfrm>
              <a:blipFill>
                <a:blip r:embed="rId3"/>
                <a:stretch>
                  <a:fillRect l="-1840" t="-1937" r="-3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Agrupar 7">
            <a:extLst>
              <a:ext uri="{FF2B5EF4-FFF2-40B4-BE49-F238E27FC236}">
                <a16:creationId xmlns:a16="http://schemas.microsoft.com/office/drawing/2014/main" id="{C7F00696-64EA-1DE3-26F4-7ED0C2679228}"/>
              </a:ext>
            </a:extLst>
          </p:cNvPr>
          <p:cNvGrpSpPr/>
          <p:nvPr/>
        </p:nvGrpSpPr>
        <p:grpSpPr>
          <a:xfrm>
            <a:off x="838200" y="3121390"/>
            <a:ext cx="4585008" cy="805758"/>
            <a:chOff x="3784324" y="5704589"/>
            <a:chExt cx="4585008" cy="805758"/>
          </a:xfrm>
        </p:grpSpPr>
        <p:sp>
          <p:nvSpPr>
            <p:cNvPr id="4" name="Rectangle 3"/>
            <p:cNvSpPr/>
            <p:nvPr/>
          </p:nvSpPr>
          <p:spPr>
            <a:xfrm>
              <a:off x="5252580" y="5704589"/>
              <a:ext cx="1548142" cy="8057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Algoritmo de treinamento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4892580" y="5904696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4892580" y="6302538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4309211" y="5712910"/>
                  <a:ext cx="64325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9211" y="5712910"/>
                  <a:ext cx="64325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3784324" y="6114762"/>
                  <a:ext cx="1168140" cy="37555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?</m:t>
                            </m:r>
                          </m:sup>
                        </m:sSup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4324" y="6114762"/>
                  <a:ext cx="1168140" cy="375552"/>
                </a:xfrm>
                <a:prstGeom prst="rect">
                  <a:avLst/>
                </a:prstGeom>
                <a:blipFill>
                  <a:blip r:embed="rId5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8">
              <a:extLst>
                <a:ext uri="{FF2B5EF4-FFF2-40B4-BE49-F238E27FC236}">
                  <a16:creationId xmlns:a16="http://schemas.microsoft.com/office/drawing/2014/main" id="{6C954B5F-25A1-B9C2-C45C-4B987E131C32}"/>
                </a:ext>
              </a:extLst>
            </p:cNvPr>
            <p:cNvCxnSpPr/>
            <p:nvPr/>
          </p:nvCxnSpPr>
          <p:spPr>
            <a:xfrm>
              <a:off x="6800722" y="6098106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D8ED50EE-63AF-FD00-2B7E-68F6C66B4736}"/>
                </a:ext>
              </a:extLst>
            </p:cNvPr>
            <p:cNvSpPr txBox="1"/>
            <p:nvPr/>
          </p:nvSpPr>
          <p:spPr>
            <a:xfrm>
              <a:off x="7033754" y="5759076"/>
              <a:ext cx="13355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Modelo de classificação</a:t>
              </a:r>
            </a:p>
          </p:txBody>
        </p:sp>
      </p:grpSp>
      <p:sp>
        <p:nvSpPr>
          <p:cNvPr id="13" name="Retângulo 12">
            <a:extLst>
              <a:ext uri="{FF2B5EF4-FFF2-40B4-BE49-F238E27FC236}">
                <a16:creationId xmlns:a16="http://schemas.microsoft.com/office/drawing/2014/main" id="{E3E7437A-31EF-96FF-1A36-96431F7A6F1B}"/>
              </a:ext>
            </a:extLst>
          </p:cNvPr>
          <p:cNvSpPr/>
          <p:nvPr/>
        </p:nvSpPr>
        <p:spPr>
          <a:xfrm>
            <a:off x="924360" y="3531563"/>
            <a:ext cx="1022096" cy="375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5730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representar a saída desejada?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9964" y="1825624"/>
                <a:ext cx="5768686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Portanto, para realizarmos o treinamento do </a:t>
                </a:r>
                <a:r>
                  <a:rPr lang="pt-BR" b="1" i="1" dirty="0"/>
                  <a:t>modelo de classificação</a:t>
                </a:r>
                <a:r>
                  <a:rPr lang="pt-BR" dirty="0"/>
                  <a:t>, nós devemos escolher uma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representação numérica </a:t>
                </a:r>
                <a:r>
                  <a:rPr lang="pt-BR" dirty="0"/>
                  <a:t>para as </a:t>
                </a:r>
                <a:r>
                  <a:rPr lang="pt-BR" b="1" i="1" dirty="0"/>
                  <a:t>saídas desejadas</a:t>
                </a:r>
                <a:r>
                  <a:rPr lang="pt-BR" dirty="0"/>
                  <a:t>. </a:t>
                </a:r>
              </a:p>
              <a:p>
                <a:r>
                  <a:rPr lang="pt-BR" dirty="0"/>
                  <a:t>Assim, como veremos a seguir, duas opções podem ser adotadas, dependendo se a classificação é </a:t>
                </a:r>
                <a:r>
                  <a:rPr lang="pt-BR" b="1" i="1" dirty="0"/>
                  <a:t>binária</a:t>
                </a:r>
                <a:r>
                  <a:rPr lang="pt-BR" dirty="0"/>
                  <a:t> (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pt-BR" dirty="0"/>
                  <a:t> ou </a:t>
                </a:r>
                <a:r>
                  <a:rPr lang="pt-BR" b="1" i="1" dirty="0"/>
                  <a:t>multi-classes</a:t>
                </a:r>
                <a:r>
                  <a:rPr lang="pt-BR" dirty="0"/>
                  <a:t> (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&gt;2)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9964" y="1825624"/>
                <a:ext cx="5768686" cy="5032376"/>
              </a:xfrm>
              <a:blipFill>
                <a:blip r:embed="rId3"/>
                <a:stretch>
                  <a:fillRect l="-1903" t="-1937" r="-1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Agrupar 7">
            <a:extLst>
              <a:ext uri="{FF2B5EF4-FFF2-40B4-BE49-F238E27FC236}">
                <a16:creationId xmlns:a16="http://schemas.microsoft.com/office/drawing/2014/main" id="{C7F00696-64EA-1DE3-26F4-7ED0C2679228}"/>
              </a:ext>
            </a:extLst>
          </p:cNvPr>
          <p:cNvGrpSpPr/>
          <p:nvPr/>
        </p:nvGrpSpPr>
        <p:grpSpPr>
          <a:xfrm>
            <a:off x="838200" y="3352299"/>
            <a:ext cx="4585008" cy="805758"/>
            <a:chOff x="3784324" y="5704589"/>
            <a:chExt cx="4585008" cy="805758"/>
          </a:xfrm>
        </p:grpSpPr>
        <p:sp>
          <p:nvSpPr>
            <p:cNvPr id="4" name="Rectangle 3"/>
            <p:cNvSpPr/>
            <p:nvPr/>
          </p:nvSpPr>
          <p:spPr>
            <a:xfrm>
              <a:off x="5252580" y="5704589"/>
              <a:ext cx="1548142" cy="80575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Algoritmo de treinamento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4892580" y="5904696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4892580" y="6302538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4309211" y="5712910"/>
                  <a:ext cx="64325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9211" y="5712910"/>
                  <a:ext cx="64325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3784324" y="6114762"/>
                  <a:ext cx="1168140" cy="37555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?</m:t>
                            </m:r>
                          </m:sup>
                        </m:sSup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4324" y="6114762"/>
                  <a:ext cx="1168140" cy="375552"/>
                </a:xfrm>
                <a:prstGeom prst="rect">
                  <a:avLst/>
                </a:prstGeom>
                <a:blipFill>
                  <a:blip r:embed="rId5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8">
              <a:extLst>
                <a:ext uri="{FF2B5EF4-FFF2-40B4-BE49-F238E27FC236}">
                  <a16:creationId xmlns:a16="http://schemas.microsoft.com/office/drawing/2014/main" id="{6C954B5F-25A1-B9C2-C45C-4B987E131C32}"/>
                </a:ext>
              </a:extLst>
            </p:cNvPr>
            <p:cNvCxnSpPr/>
            <p:nvPr/>
          </p:nvCxnSpPr>
          <p:spPr>
            <a:xfrm>
              <a:off x="6800722" y="6098106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D8ED50EE-63AF-FD00-2B7E-68F6C66B4736}"/>
                </a:ext>
              </a:extLst>
            </p:cNvPr>
            <p:cNvSpPr txBox="1"/>
            <p:nvPr/>
          </p:nvSpPr>
          <p:spPr>
            <a:xfrm>
              <a:off x="7033754" y="5759076"/>
              <a:ext cx="13355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Modelo de classificação</a:t>
              </a:r>
            </a:p>
          </p:txBody>
        </p:sp>
      </p:grpSp>
      <p:sp>
        <p:nvSpPr>
          <p:cNvPr id="13" name="Retângulo 12">
            <a:extLst>
              <a:ext uri="{FF2B5EF4-FFF2-40B4-BE49-F238E27FC236}">
                <a16:creationId xmlns:a16="http://schemas.microsoft.com/office/drawing/2014/main" id="{E3E7437A-31EF-96FF-1A36-96431F7A6F1B}"/>
              </a:ext>
            </a:extLst>
          </p:cNvPr>
          <p:cNvSpPr/>
          <p:nvPr/>
        </p:nvSpPr>
        <p:spPr>
          <a:xfrm>
            <a:off x="924360" y="3762472"/>
            <a:ext cx="1022096" cy="375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3584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da saída desejada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15255" cy="5032376"/>
              </a:xfrm>
            </p:spPr>
            <p:txBody>
              <a:bodyPr>
                <a:normAutofit/>
              </a:bodyPr>
              <a:lstStyle/>
              <a:p>
                <a:r>
                  <a:rPr lang="pt-BR" b="1" dirty="0"/>
                  <a:t>Classificação binária </a:t>
                </a:r>
                <a:r>
                  <a:rPr lang="pt-BR" dirty="0"/>
                  <a:t>(</a:t>
                </a:r>
                <a14:m>
                  <m:oMath xmlns:m="http://schemas.openxmlformats.org/officeDocument/2006/math">
                    <m:r>
                      <a:rPr lang="pt-BR" b="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): existem apenas duas classes possíveis,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, 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é chamada de </a:t>
                </a:r>
                <a:r>
                  <a:rPr lang="pt-BR" b="1" i="1" dirty="0"/>
                  <a:t>classe negativa </a:t>
                </a:r>
                <a:r>
                  <a:rPr lang="pt-BR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de </a:t>
                </a:r>
                <a:r>
                  <a:rPr lang="pt-BR" b="1" i="1" dirty="0"/>
                  <a:t>classe positiva</a:t>
                </a:r>
                <a:r>
                  <a:rPr lang="pt-BR" dirty="0"/>
                  <a:t>. </a:t>
                </a:r>
              </a:p>
              <a:p>
                <a:r>
                  <a:rPr lang="pt-BR" dirty="0"/>
                  <a:t>Portanto, nesse caso, o classificador possui </a:t>
                </a:r>
                <a:r>
                  <a:rPr lang="pt-BR" b="1" i="1" dirty="0"/>
                  <a:t>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única saída escalar binária</a:t>
                </a:r>
                <a:r>
                  <a:rPr lang="pt-BR" b="1" i="1" dirty="0"/>
                  <a:t> </a:t>
                </a:r>
                <a:r>
                  <a:rPr lang="pt-BR" dirty="0"/>
                  <a:t>para indicar a </a:t>
                </a:r>
                <a:r>
                  <a:rPr lang="pt-BR" b="1" i="1" dirty="0"/>
                  <a:t>classe</a:t>
                </a:r>
                <a:r>
                  <a:rPr lang="pt-BR" dirty="0"/>
                  <a:t> correspondente ao </a:t>
                </a:r>
                <a:r>
                  <a:rPr lang="pt-BR" b="1" i="1" dirty="0"/>
                  <a:t>vetor de atributos</a:t>
                </a:r>
                <a:r>
                  <a:rPr lang="pt-BR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b="1" dirty="0"/>
              </a:p>
              <a:p>
                <a:r>
                  <a:rPr lang="pt-BR" dirty="0"/>
                  <a:t>Assim, </a:t>
                </a:r>
                <a14:m>
                  <m:oMath xmlns:m="http://schemas.openxmlformats.org/officeDocument/2006/math">
                    <m:r>
                      <a:rPr lang="pt-BR" b="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pt-BR" dirty="0"/>
                  <a:t> (</a:t>
                </a:r>
                <a:r>
                  <a:rPr lang="pt-BR" b="1" i="1" dirty="0"/>
                  <a:t>escalar</a:t>
                </a:r>
                <a:r>
                  <a:rPr lang="pt-BR" dirty="0"/>
                  <a:t>), de maneira que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o classificador realiza um mapeamento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pt-BR" dirty="0"/>
                  <a:t>, i.e.,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pt-BR" dirty="0"/>
                  <a:t>, onde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Também é possível utilizar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pt-BR" dirty="0"/>
                  <a:t> para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ou seja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pt-BR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sSub>
                                <m:sSub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15255" cy="5032376"/>
              </a:xfrm>
              <a:blipFill>
                <a:blip r:embed="rId2"/>
                <a:stretch>
                  <a:fillRect l="-924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5758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F13A7-6475-7E02-C676-D8D3C7EC5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da saída desejada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3DCFC65-5F42-A4AC-CF04-CC9394A2B1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68436" y="1825624"/>
                <a:ext cx="8237636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1" dirty="0"/>
                  <a:t>Classificação multi-classes</a:t>
                </a:r>
                <a:r>
                  <a:rPr lang="pt-BR" dirty="0"/>
                  <a:t>: existem mais de 2 classes possíveis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&gt;2)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Uma estratégia bastante utilizada para representar estas classes é conhecida como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codificação one-hot</a:t>
                </a:r>
                <a:r>
                  <a:rPr lang="pt-BR" dirty="0"/>
                  <a:t>. </a:t>
                </a:r>
              </a:p>
              <a:p>
                <a:pPr marL="457200" lvl="1" indent="0">
                  <a:buNone/>
                </a:pPr>
                <a:endParaRPr lang="pt-BR" sz="1700" dirty="0"/>
              </a:p>
              <a:p>
                <a:pPr marL="0" indent="0">
                  <a:buNone/>
                </a:pPr>
                <a:endParaRPr lang="pt-BR" sz="22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3DCFC65-5F42-A4AC-CF04-CC9394A2B1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68436" y="1825624"/>
                <a:ext cx="8237636" cy="5032375"/>
              </a:xfrm>
              <a:blipFill>
                <a:blip r:embed="rId2"/>
                <a:stretch>
                  <a:fillRect l="-1331" t="-1937" r="-74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Measure Classification Performance: New in Wolfram Language 11">
            <a:extLst>
              <a:ext uri="{FF2B5EF4-FFF2-40B4-BE49-F238E27FC236}">
                <a16:creationId xmlns:a16="http://schemas.microsoft.com/office/drawing/2014/main" id="{5AEF77B0-D576-36D5-C0B8-032120ED1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16" y="1893887"/>
            <a:ext cx="2879696" cy="287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Analyzing Text Classification Techniques on Youtube Data">
            <a:extLst>
              <a:ext uri="{FF2B5EF4-FFF2-40B4-BE49-F238E27FC236}">
                <a16:creationId xmlns:a16="http://schemas.microsoft.com/office/drawing/2014/main" id="{05441597-6899-F384-7DBF-4520E56A6E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7" t="4114" r="9213" b="4823"/>
          <a:stretch/>
        </p:blipFill>
        <p:spPr bwMode="auto">
          <a:xfrm>
            <a:off x="3792130" y="3823089"/>
            <a:ext cx="4215802" cy="240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entiment Fig 1">
            <a:extLst>
              <a:ext uri="{FF2B5EF4-FFF2-40B4-BE49-F238E27FC236}">
                <a16:creationId xmlns:a16="http://schemas.microsoft.com/office/drawing/2014/main" id="{0E3A50CA-2548-2E5C-7B42-2E69D402B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856" y="4341811"/>
            <a:ext cx="3177806" cy="225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862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F13A7-6475-7E02-C676-D8D3C7EC5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da saída desejada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3DCFC65-5F42-A4AC-CF04-CC9394A2B1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67872" cy="5032375"/>
              </a:xfrm>
            </p:spPr>
            <p:txBody>
              <a:bodyPr>
                <a:normAutofit/>
              </a:bodyPr>
              <a:lstStyle/>
              <a:p>
                <a:r>
                  <a:rPr lang="pt-BR" b="1" i="1" dirty="0"/>
                  <a:t>Codificação one-hot</a:t>
                </a:r>
                <a:r>
                  <a:rPr lang="pt-BR" dirty="0"/>
                  <a:t>:</a:t>
                </a:r>
                <a:r>
                  <a:rPr lang="pt-BR" b="1" i="1" dirty="0"/>
                  <a:t> </a:t>
                </a:r>
                <a:r>
                  <a:rPr lang="pt-BR" dirty="0"/>
                  <a:t>saídas são representadas por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vetores</a:t>
                </a:r>
                <a:r>
                  <a:rPr lang="pt-BR" dirty="0">
                    <a:solidFill>
                      <a:srgbClr val="7030A0"/>
                    </a:solidFill>
                  </a:rPr>
                  <a:t>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binários.</a:t>
                </a:r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As saídas são vetores com comprimento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 com o valor 1 no elemento que representa a classe do exemplo de entrada e 0 nos demais elementos.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Nesse caso, 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classificador possui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múltiplas saídas</a:t>
                </a:r>
                <a:r>
                  <a:rPr lang="pt-BR" dirty="0">
                    <a:solidFill>
                      <a:srgbClr val="7030A0"/>
                    </a:solidFill>
                  </a:rPr>
                  <a:t> </a:t>
                </a:r>
                <a:r>
                  <a:rPr lang="pt-BR" dirty="0"/>
                  <a:t>(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 saídas), cada uma representando uma classe específica.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b="1" dirty="0"/>
                  <a:t>Exemplo</a:t>
                </a:r>
                <a:r>
                  <a:rPr lang="pt-BR" dirty="0"/>
                  <a:t>: imaginemos um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classificador de notícias </a:t>
                </a:r>
                <a:r>
                  <a:rPr lang="pt-BR" dirty="0"/>
                  <a:t>com quatro classes possíveis: </a:t>
                </a:r>
                <a:r>
                  <a:rPr lang="pt-BR" i="1" dirty="0"/>
                  <a:t>esportes</a:t>
                </a:r>
                <a:r>
                  <a:rPr lang="pt-BR" dirty="0"/>
                  <a:t>, </a:t>
                </a:r>
                <a:r>
                  <a:rPr lang="pt-BR" i="1" dirty="0"/>
                  <a:t>política</a:t>
                </a:r>
                <a:r>
                  <a:rPr lang="pt-BR" dirty="0"/>
                  <a:t>, </a:t>
                </a:r>
                <a:r>
                  <a:rPr lang="pt-BR" i="1" dirty="0"/>
                  <a:t>ciências</a:t>
                </a:r>
                <a:r>
                  <a:rPr lang="pt-BR" dirty="0"/>
                  <a:t> e </a:t>
                </a:r>
                <a:r>
                  <a:rPr lang="pt-BR" i="1" dirty="0"/>
                  <a:t>variedades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Como seria a representação com a codificação </a:t>
                </a:r>
                <a:r>
                  <a:rPr lang="pt-BR" b="1" i="1" dirty="0" err="1"/>
                  <a:t>one</a:t>
                </a:r>
                <a:r>
                  <a:rPr lang="pt-BR" b="1" i="1" dirty="0"/>
                  <a:t>-hot</a:t>
                </a:r>
                <a:r>
                  <a:rPr lang="pt-BR" dirty="0"/>
                  <a:t>?</a:t>
                </a:r>
              </a:p>
              <a:p>
                <a:pPr marL="457200" lvl="1" indent="0">
                  <a:buNone/>
                </a:pPr>
                <a:endParaRPr lang="pt-BR" sz="1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pt-BR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pt-BR" sz="2200" i="0" dirty="0"/>
                                  <m:t>esporte</m:t>
                                </m:r>
                                <m:r>
                                  <m:rPr>
                                    <m:nor/>
                                  </m:rPr>
                                  <a:rPr lang="pt-BR" sz="2200" b="0" i="0" dirty="0" smtClean="0"/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lang="pt-BR" sz="2200" b="0" i="0" dirty="0" smtClean="0"/>
                                  <m:t>:     </m:t>
                                </m:r>
                                <m:sSup>
                                  <m:sSupPr>
                                    <m:ctrlPr>
                                      <a:rPr lang="pt-BR" sz="2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2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3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BR" sz="2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pt-BR" sz="22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r>
                                                <a:rPr lang="pt-BR" sz="22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2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pt-BR" sz="2200" b="0" i="1" dirty="0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pt-BR" sz="22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pt-BR" sz="22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</m:mr>
                                              </m:m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sup>
                                    <m:r>
                                      <a:rPr lang="pt-BR" sz="2200" b="0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pt-BR" sz="2200" i="0" dirty="0"/>
                                  <m:t>pol</m:t>
                                </m:r>
                                <m:r>
                                  <m:rPr>
                                    <m:nor/>
                                  </m:rPr>
                                  <a:rPr lang="pt-BR" sz="2200" i="0" dirty="0"/>
                                  <m:t>í</m:t>
                                </m:r>
                                <m:r>
                                  <m:rPr>
                                    <m:nor/>
                                  </m:rPr>
                                  <a:rPr lang="pt-BR" sz="2200" i="0" dirty="0"/>
                                  <m:t>tica</m:t>
                                </m:r>
                                <m:r>
                                  <m:rPr>
                                    <m:nor/>
                                  </m:rPr>
                                  <a:rPr lang="pt-BR" sz="2200" i="0" dirty="0"/>
                                  <m:t>:       </m:t>
                                </m:r>
                                <m:sSup>
                                  <m:sSupPr>
                                    <m:ctrlPr>
                                      <a:rPr lang="pt-BR" sz="2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pt-BR" sz="22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3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pt-BR" sz="22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pt-BR" sz="22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pt-BR" sz="22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2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pt-BR" sz="22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pt-BR" sz="22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pt-BR" sz="22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</m:mr>
                                              </m:m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  <m:sup>
                                    <m:r>
                                      <a:rPr lang="pt-BR" sz="2200" i="1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pt-BR" sz="2200" i="0" dirty="0"/>
                                        <m:t>ci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pt-BR" sz="2200" i="0" dirty="0"/>
                                        <m:t>ê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pt-BR" sz="2200" i="0" dirty="0"/>
                                        <m:t>ncias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pt-BR" sz="2200" i="0" dirty="0"/>
                                        <m:t>: </m:t>
                                      </m:r>
                                      <m:sSup>
                                        <m:sSupPr>
                                          <m:ctrlPr>
                                            <a:rPr lang="pt-BR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pt-BR" sz="22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     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pt-BR" sz="22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3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pt-BR" sz="22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pt-BR" sz="22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pt-BR" sz="22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m>
                                                      <m:mPr>
                                                        <m:mcs>
                                                          <m:mc>
                                                            <m:mcPr>
                                                              <m:count m:val="2"/>
                                                              <m:mcJc m:val="center"/>
                                                            </m:mcPr>
                                                          </m:mc>
                                                        </m:mcs>
                                                        <m:ctrlPr>
                                                          <a:rPr lang="pt-BR" sz="2200" i="1" dirty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mPr>
                                                      <m:mr>
                                                        <m:e>
                                                          <m:r>
                                                            <m:rPr>
                                                              <m:brk m:alnAt="7"/>
                                                            </m:rPr>
                                                            <a:rPr lang="pt-BR" sz="2200" b="0" i="1" dirty="0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</m:e>
                                                        <m:e>
                                                          <m:r>
                                                            <a:rPr lang="pt-BR" sz="2200" i="1" dirty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</m:t>
                                                          </m:r>
                                                        </m:e>
                                                      </m:mr>
                                                    </m:m>
                                                  </m:e>
                                                </m:mr>
                                              </m:m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pt-BR" sz="2200" i="1" dirty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pt-BR" sz="2200" i="0" dirty="0"/>
                                        <m:t>variedades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pt-BR" sz="2200" i="0" dirty="0"/>
                                        <m:t>: </m:t>
                                      </m:r>
                                      <m:sSup>
                                        <m:sSupPr>
                                          <m:ctrlPr>
                                            <a:rPr lang="pt-BR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pt-BR" sz="22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m>
                                                <m:mPr>
                                                  <m:mcs>
                                                    <m:mc>
                                                      <m:mcPr>
                                                        <m:count m:val="3"/>
                                                        <m:mcJc m:val="center"/>
                                                      </m:mcPr>
                                                    </m:mc>
                                                  </m:mcs>
                                                  <m:ctrlPr>
                                                    <a:rPr lang="pt-BR" sz="2200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mPr>
                                                <m:m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pt-BR" sz="22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r>
                                                      <a:rPr lang="pt-BR" sz="22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0</m:t>
                                                    </m:r>
                                                  </m:e>
                                                  <m:e>
                                                    <m:m>
                                                      <m:mPr>
                                                        <m:mcs>
                                                          <m:mc>
                                                            <m:mcPr>
                                                              <m:count m:val="2"/>
                                                              <m:mcJc m:val="center"/>
                                                            </m:mcPr>
                                                          </m:mc>
                                                        </m:mcs>
                                                        <m:ctrlPr>
                                                          <a:rPr lang="pt-BR" sz="2200" i="1" dirty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mPr>
                                                      <m:mr>
                                                        <m:e>
                                                          <m:r>
                                                            <m:rPr>
                                                              <m:brk m:alnAt="7"/>
                                                            </m:rPr>
                                                            <a:rPr lang="pt-BR" sz="2200" i="1" dirty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0</m:t>
                                                          </m:r>
                                                        </m:e>
                                                        <m:e>
                                                          <m:r>
                                                            <a:rPr lang="pt-BR" sz="2200" b="0" i="1" dirty="0" smtClean="0">
                                                              <a:latin typeface="Cambria Math" panose="02040503050406030204" pitchFamily="18" charset="0"/>
                                                            </a:rPr>
                                                            <m:t>1</m:t>
                                                          </m:r>
                                                        </m:e>
                                                      </m:mr>
                                                    </m:m>
                                                  </m:e>
                                                </m:mr>
                                              </m:m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pt-BR" sz="2200" i="1" dirty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3DCFC65-5F42-A4AC-CF04-CC9394A2B1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67872" cy="5032375"/>
              </a:xfrm>
              <a:blipFill>
                <a:blip r:embed="rId2"/>
                <a:stretch>
                  <a:fillRect l="-983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44C7BF8-36C0-F2D3-6461-F1A070E0CBC3}"/>
                  </a:ext>
                </a:extLst>
              </p:cNvPr>
              <p:cNvSpPr/>
              <p:nvPr/>
            </p:nvSpPr>
            <p:spPr>
              <a:xfrm>
                <a:off x="8029536" y="5318465"/>
                <a:ext cx="3109519" cy="832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600" dirty="0"/>
                  <a:t>Assim, </a:t>
                </a:r>
                <a14:m>
                  <m:oMath xmlns:m="http://schemas.openxmlformats.org/officeDocument/2006/math">
                    <m:r>
                      <a:rPr lang="pt-BR" sz="1600" b="1" i="1">
                        <a:latin typeface="Cambria Math" panose="02040503050406030204" pitchFamily="18" charset="0"/>
                      </a:rPr>
                      <m:t>𝒚</m:t>
                    </m:r>
                    <m:d>
                      <m:d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r>
                  <a:rPr lang="pt-BR" sz="1600" dirty="0"/>
                  <a:t>, de maneira que o </a:t>
                </a:r>
                <a:r>
                  <a:rPr lang="pt-BR" sz="1600" b="1" i="1" dirty="0">
                    <a:solidFill>
                      <a:schemeClr val="accent2"/>
                    </a:solidFill>
                  </a:rPr>
                  <a:t>classificador realiza um mapeamento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pt-B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pt-B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pt-B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pt-BR" sz="1600" dirty="0"/>
                  <a:t>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44C7BF8-36C0-F2D3-6461-F1A070E0CB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536" y="5318465"/>
                <a:ext cx="3109519" cy="832664"/>
              </a:xfrm>
              <a:prstGeom prst="rect">
                <a:avLst/>
              </a:prstGeom>
              <a:blipFill>
                <a:blip r:embed="rId3"/>
                <a:stretch>
                  <a:fillRect t="-1460" b="-8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8543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Fronteiras de decisão de um classificador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32784" y="1825624"/>
                <a:ext cx="7054439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Antes, nós usávamos </a:t>
                </a:r>
                <a:r>
                  <a:rPr lang="pt-BR" b="1" i="1" dirty="0"/>
                  <a:t>funções hipótese</a:t>
                </a:r>
                <a:r>
                  <a:rPr lang="pt-BR" dirty="0"/>
                  <a:t> para </a:t>
                </a:r>
                <a:r>
                  <a:rPr lang="pt-BR" b="1" i="1" dirty="0"/>
                  <a:t>aproximar o comportamento de um conjunto de dados</a:t>
                </a:r>
                <a:r>
                  <a:rPr lang="pt-BR" dirty="0"/>
                  <a:t>, agora, as usaremos para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separar grupos de dados (i.e., classes)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Para facilitar o entendimento, vamos imaginar o </a:t>
                </a:r>
                <a:r>
                  <a:rPr lang="pt-BR" b="1" i="1" dirty="0"/>
                  <a:t>espaço bi-dimensional</a:t>
                </a:r>
                <a:r>
                  <a:rPr lang="pt-BR" dirty="0"/>
                  <a:t>,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, criado pelos </a:t>
                </a:r>
                <a:r>
                  <a:rPr lang="pt-BR" b="1" i="1" dirty="0"/>
                  <a:t>atributos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e</a:t>
                </a:r>
                <a:r>
                  <a:rPr lang="pt-BR" b="1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, mostrado na figura ao lado.</a:t>
                </a:r>
              </a:p>
              <a:p>
                <a:r>
                  <a:rPr lang="pt-BR" dirty="0"/>
                  <a:t>Os </a:t>
                </a:r>
                <a:r>
                  <a:rPr lang="pt-BR" b="1" i="1" dirty="0"/>
                  <a:t>pares de atributos </a:t>
                </a:r>
                <a:r>
                  <a:rPr lang="pt-BR" dirty="0"/>
                  <a:t>pertencem a duas classes (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):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Círculos azuis pertencem à 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Triângulos vermelhos pertencem à 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2784" y="1825624"/>
                <a:ext cx="7054439" cy="5032375"/>
              </a:xfrm>
              <a:blipFill>
                <a:blip r:embed="rId3"/>
                <a:stretch>
                  <a:fillRect l="-1556" t="-1937" r="-2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Agrupar 11">
            <a:extLst>
              <a:ext uri="{FF2B5EF4-FFF2-40B4-BE49-F238E27FC236}">
                <a16:creationId xmlns:a16="http://schemas.microsoft.com/office/drawing/2014/main" id="{745C0A43-FD12-CEC1-71CC-612BDB16C776}"/>
              </a:ext>
            </a:extLst>
          </p:cNvPr>
          <p:cNvGrpSpPr/>
          <p:nvPr/>
        </p:nvGrpSpPr>
        <p:grpSpPr>
          <a:xfrm>
            <a:off x="1135086" y="2427640"/>
            <a:ext cx="3089466" cy="3257287"/>
            <a:chOff x="9125712" y="2808640"/>
            <a:chExt cx="3089466" cy="3257287"/>
          </a:xfrm>
        </p:grpSpPr>
        <p:pic>
          <p:nvPicPr>
            <p:cNvPr id="13" name="Picture 3">
              <a:extLst>
                <a:ext uri="{FF2B5EF4-FFF2-40B4-BE49-F238E27FC236}">
                  <a16:creationId xmlns:a16="http://schemas.microsoft.com/office/drawing/2014/main" id="{64DA2A01-47B5-2B94-DBFC-FB53B1B820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15" t="3775" r="7505" b="1098"/>
            <a:stretch/>
          </p:blipFill>
          <p:spPr>
            <a:xfrm>
              <a:off x="9125712" y="2808640"/>
              <a:ext cx="2960664" cy="2280684"/>
            </a:xfrm>
            <a:prstGeom prst="rect">
              <a:avLst/>
            </a:prstGeom>
          </p:spPr>
        </p:pic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5ACECBBD-5168-48DA-64EF-8BDD58AE7E65}"/>
                </a:ext>
              </a:extLst>
            </p:cNvPr>
            <p:cNvSpPr txBox="1"/>
            <p:nvPr/>
          </p:nvSpPr>
          <p:spPr>
            <a:xfrm>
              <a:off x="9909743" y="5327263"/>
              <a:ext cx="187406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/>
                <a:t>Fronteira de decisão</a:t>
              </a:r>
              <a:r>
                <a:rPr lang="pt-BR" sz="1400" dirty="0"/>
                <a:t>: no caso deste exemplo, ela é uma reta.</a:t>
              </a:r>
            </a:p>
          </p:txBody>
        </p:sp>
        <p:cxnSp>
          <p:nvCxnSpPr>
            <p:cNvPr id="15" name="Curved Connector 8">
              <a:extLst>
                <a:ext uri="{FF2B5EF4-FFF2-40B4-BE49-F238E27FC236}">
                  <a16:creationId xmlns:a16="http://schemas.microsoft.com/office/drawing/2014/main" id="{7D2B1880-C7A7-A071-10B2-08F118026EDA}"/>
                </a:ext>
              </a:extLst>
            </p:cNvPr>
            <p:cNvCxnSpPr/>
            <p:nvPr/>
          </p:nvCxnSpPr>
          <p:spPr>
            <a:xfrm rot="5400000">
              <a:off x="10830268" y="4695983"/>
              <a:ext cx="657723" cy="624705"/>
            </a:xfrm>
            <a:prstGeom prst="curvedConnector3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tângulo 15">
                  <a:extLst>
                    <a:ext uri="{FF2B5EF4-FFF2-40B4-BE49-F238E27FC236}">
                      <a16:creationId xmlns:a16="http://schemas.microsoft.com/office/drawing/2014/main" id="{036F5727-D9EE-E211-8459-926C7C8C80B1}"/>
                    </a:ext>
                  </a:extLst>
                </p:cNvPr>
                <p:cNvSpPr/>
                <p:nvPr/>
              </p:nvSpPr>
              <p:spPr>
                <a:xfrm>
                  <a:off x="11374884" y="3305149"/>
                  <a:ext cx="84029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pt-BR" b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Retângulo 15">
                  <a:extLst>
                    <a:ext uri="{FF2B5EF4-FFF2-40B4-BE49-F238E27FC236}">
                      <a16:creationId xmlns:a16="http://schemas.microsoft.com/office/drawing/2014/main" id="{036F5727-D9EE-E211-8459-926C7C8C80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4884" y="3305149"/>
                  <a:ext cx="840294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22614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Fronteiras de decisão de um classificador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514249" y="1825624"/>
                <a:ext cx="6592025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Esse espaço pode ser dividido em </a:t>
                </a:r>
                <a:r>
                  <a:rPr lang="pt-BR" b="1" i="1" dirty="0"/>
                  <a:t>duas</a:t>
                </a:r>
                <a:r>
                  <a:rPr lang="pt-BR" dirty="0"/>
                  <a:t> </a:t>
                </a:r>
                <a:r>
                  <a:rPr lang="pt-BR" b="1" i="1" dirty="0"/>
                  <a:t>regiões de decisão</a:t>
                </a:r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, onde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cada região </a:t>
                </a:r>
                <a:r>
                  <a:rPr lang="pt-BR" dirty="0"/>
                  <a:t>corresponde a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uma classe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dirty="0"/>
              </a:p>
              <a:p>
                <a:r>
                  <a:rPr lang="pt-BR" dirty="0"/>
                  <a:t>As regiões de decisão são separadas por </a:t>
                </a:r>
                <a:r>
                  <a:rPr lang="pt-BR" b="1" i="1" dirty="0"/>
                  <a:t>fronteiras de decisão</a:t>
                </a:r>
                <a:r>
                  <a:rPr lang="pt-BR" dirty="0"/>
                  <a:t>, que nada mais são do que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funções</a:t>
                </a:r>
                <a:r>
                  <a:rPr lang="pt-BR" dirty="0"/>
                  <a:t>. </a:t>
                </a:r>
              </a:p>
              <a:p>
                <a:r>
                  <a:rPr lang="pt-BR" dirty="0"/>
                  <a:t>Na figura, como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, temos apenas uma fronteira de decisão.</a:t>
                </a:r>
              </a:p>
              <a:p>
                <a:r>
                  <a:rPr lang="pt-BR" dirty="0"/>
                  <a:t>Uma </a:t>
                </a:r>
                <a:r>
                  <a:rPr lang="pt-BR" b="1" i="1" dirty="0"/>
                  <a:t>fronteira de decisão </a:t>
                </a:r>
                <a:r>
                  <a:rPr lang="pt-BR" dirty="0"/>
                  <a:t>corresponde a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superfície de separação</a:t>
                </a:r>
                <a:r>
                  <a:rPr lang="pt-BR" b="1" i="1" dirty="0"/>
                  <a:t> </a:t>
                </a:r>
                <a:r>
                  <a:rPr lang="pt-BR" dirty="0"/>
                  <a:t>(1D, 2D, 3D, etc.) no </a:t>
                </a:r>
                <a:r>
                  <a:rPr lang="pt-BR" b="1" i="1" dirty="0"/>
                  <a:t>espaço de atributos </a:t>
                </a:r>
                <a:r>
                  <a:rPr lang="pt-BR" dirty="0"/>
                  <a:t>que separa as classes.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4249" y="1825624"/>
                <a:ext cx="6592025" cy="5032375"/>
              </a:xfrm>
              <a:blipFill>
                <a:blip r:embed="rId3"/>
                <a:stretch>
                  <a:fillRect l="-1665" t="-2663" r="-2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Agrupar 13">
            <a:extLst>
              <a:ext uri="{FF2B5EF4-FFF2-40B4-BE49-F238E27FC236}">
                <a16:creationId xmlns:a16="http://schemas.microsoft.com/office/drawing/2014/main" id="{D3D49D8E-0821-33E1-5823-3E158A4FB182}"/>
              </a:ext>
            </a:extLst>
          </p:cNvPr>
          <p:cNvGrpSpPr/>
          <p:nvPr/>
        </p:nvGrpSpPr>
        <p:grpSpPr>
          <a:xfrm>
            <a:off x="1135086" y="2427640"/>
            <a:ext cx="3089466" cy="3257287"/>
            <a:chOff x="9125712" y="2808640"/>
            <a:chExt cx="3089466" cy="3257287"/>
          </a:xfrm>
        </p:grpSpPr>
        <p:pic>
          <p:nvPicPr>
            <p:cNvPr id="15" name="Picture 3">
              <a:extLst>
                <a:ext uri="{FF2B5EF4-FFF2-40B4-BE49-F238E27FC236}">
                  <a16:creationId xmlns:a16="http://schemas.microsoft.com/office/drawing/2014/main" id="{BD3F5D0C-F310-ED7B-BBE9-A892027EAD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15" t="3775" r="7505" b="1098"/>
            <a:stretch/>
          </p:blipFill>
          <p:spPr>
            <a:xfrm>
              <a:off x="9125712" y="2808640"/>
              <a:ext cx="2960664" cy="2280684"/>
            </a:xfrm>
            <a:prstGeom prst="rect">
              <a:avLst/>
            </a:prstGeom>
          </p:spPr>
        </p:pic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D474B403-303E-639E-341F-AA50DF86D3BE}"/>
                </a:ext>
              </a:extLst>
            </p:cNvPr>
            <p:cNvSpPr txBox="1"/>
            <p:nvPr/>
          </p:nvSpPr>
          <p:spPr>
            <a:xfrm>
              <a:off x="9909743" y="5327263"/>
              <a:ext cx="187406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/>
                <a:t>Fronteira de decisão</a:t>
              </a:r>
              <a:r>
                <a:rPr lang="pt-BR" sz="1400" dirty="0"/>
                <a:t>: no caso deste exemplo, ela é uma reta.</a:t>
              </a:r>
            </a:p>
          </p:txBody>
        </p:sp>
        <p:cxnSp>
          <p:nvCxnSpPr>
            <p:cNvPr id="17" name="Curved Connector 8">
              <a:extLst>
                <a:ext uri="{FF2B5EF4-FFF2-40B4-BE49-F238E27FC236}">
                  <a16:creationId xmlns:a16="http://schemas.microsoft.com/office/drawing/2014/main" id="{B45603A2-AC84-D66F-F06E-0371CA5BE810}"/>
                </a:ext>
              </a:extLst>
            </p:cNvPr>
            <p:cNvCxnSpPr/>
            <p:nvPr/>
          </p:nvCxnSpPr>
          <p:spPr>
            <a:xfrm rot="5400000">
              <a:off x="10830268" y="4695983"/>
              <a:ext cx="657723" cy="624705"/>
            </a:xfrm>
            <a:prstGeom prst="curvedConnector3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tângulo 17">
                  <a:extLst>
                    <a:ext uri="{FF2B5EF4-FFF2-40B4-BE49-F238E27FC236}">
                      <a16:creationId xmlns:a16="http://schemas.microsoft.com/office/drawing/2014/main" id="{C5162CC1-DD2F-DFBD-35CF-B876410E54B6}"/>
                    </a:ext>
                  </a:extLst>
                </p:cNvPr>
                <p:cNvSpPr/>
                <p:nvPr/>
              </p:nvSpPr>
              <p:spPr>
                <a:xfrm>
                  <a:off x="11374884" y="3305149"/>
                  <a:ext cx="84029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pt-BR" b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8" name="Retângulo 17">
                  <a:extLst>
                    <a:ext uri="{FF2B5EF4-FFF2-40B4-BE49-F238E27FC236}">
                      <a16:creationId xmlns:a16="http://schemas.microsoft.com/office/drawing/2014/main" id="{C5162CC1-DD2F-DFBD-35CF-B876410E54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4884" y="3305149"/>
                  <a:ext cx="840294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01774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Fronteiras de decisão de um classificador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77588" cy="3045345"/>
          </a:xfrm>
        </p:spPr>
        <p:txBody>
          <a:bodyPr>
            <a:normAutofit fontScale="92500"/>
          </a:bodyPr>
          <a:lstStyle/>
          <a:p>
            <a:r>
              <a:rPr lang="pt-BR" dirty="0"/>
              <a:t>As </a:t>
            </a:r>
            <a:r>
              <a:rPr lang="pt-BR" b="1" i="1" dirty="0"/>
              <a:t>superfícies de separação</a:t>
            </a:r>
            <a:r>
              <a:rPr lang="pt-BR" dirty="0"/>
              <a:t> podem ser </a:t>
            </a:r>
            <a:r>
              <a:rPr lang="pt-BR" b="1" i="1" dirty="0">
                <a:solidFill>
                  <a:schemeClr val="accent2"/>
                </a:solidFill>
              </a:rPr>
              <a:t>lineares</a:t>
            </a:r>
            <a:r>
              <a:rPr lang="pt-BR" dirty="0"/>
              <a:t> (e.g., retas e planos) ou </a:t>
            </a:r>
            <a:r>
              <a:rPr lang="pt-BR" b="1" i="1" dirty="0">
                <a:solidFill>
                  <a:schemeClr val="accent2"/>
                </a:solidFill>
              </a:rPr>
              <a:t>não-lineares</a:t>
            </a:r>
            <a:r>
              <a:rPr lang="pt-BR" dirty="0"/>
              <a:t> (e.g., círculos e elipses).</a:t>
            </a:r>
          </a:p>
          <a:p>
            <a:r>
              <a:rPr lang="pt-BR" b="1" i="1" dirty="0"/>
              <a:t>Superfícies de separação </a:t>
            </a:r>
            <a:r>
              <a:rPr lang="pt-BR" dirty="0"/>
              <a:t>são </a:t>
            </a:r>
            <a:r>
              <a:rPr lang="pt-BR" b="1" i="1" dirty="0">
                <a:solidFill>
                  <a:schemeClr val="accent2"/>
                </a:solidFill>
              </a:rPr>
              <a:t>funções</a:t>
            </a:r>
            <a:r>
              <a:rPr lang="pt-BR" dirty="0"/>
              <a:t> (lineares ou não) que separam as classes. </a:t>
            </a:r>
          </a:p>
          <a:p>
            <a:r>
              <a:rPr lang="pt-BR" dirty="0"/>
              <a:t>Essas funções são chamadas de </a:t>
            </a:r>
            <a:r>
              <a:rPr lang="pt-BR" b="1" i="1" dirty="0">
                <a:solidFill>
                  <a:srgbClr val="00B050"/>
                </a:solidFill>
              </a:rPr>
              <a:t>funções discriminantes</a:t>
            </a:r>
            <a:r>
              <a:rPr lang="pt-BR" dirty="0"/>
              <a:t>, pois separam as classes.</a:t>
            </a:r>
          </a:p>
          <a:p>
            <a:r>
              <a:rPr lang="pt-BR" dirty="0"/>
              <a:t>As figuras abaixo mostram </a:t>
            </a:r>
            <a:r>
              <a:rPr lang="pt-BR" b="1" i="1" dirty="0"/>
              <a:t>regiões de separação </a:t>
            </a:r>
            <a:r>
              <a:rPr lang="pt-BR" dirty="0"/>
              <a:t>em problemas de classificação </a:t>
            </a:r>
            <a:r>
              <a:rPr lang="pt-BR" b="1" i="1" dirty="0"/>
              <a:t>binária</a:t>
            </a:r>
            <a:r>
              <a:rPr lang="pt-BR" dirty="0"/>
              <a:t> e </a:t>
            </a:r>
            <a:r>
              <a:rPr lang="pt-BR" b="1" i="1" dirty="0"/>
              <a:t>multi-classes</a:t>
            </a:r>
            <a:r>
              <a:rPr lang="pt-BR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3775" r="7505" b="1098"/>
          <a:stretch/>
        </p:blipFill>
        <p:spPr>
          <a:xfrm>
            <a:off x="1014411" y="4856687"/>
            <a:ext cx="2578071" cy="19859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6" t="3773" r="7252"/>
          <a:stretch/>
        </p:blipFill>
        <p:spPr>
          <a:xfrm>
            <a:off x="9425163" y="4842399"/>
            <a:ext cx="2590625" cy="19815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" t="3260" r="7500" b="1927"/>
          <a:stretch/>
        </p:blipFill>
        <p:spPr>
          <a:xfrm>
            <a:off x="5223462" y="4834394"/>
            <a:ext cx="2570720" cy="198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31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DF5BB-4965-42FA-1FE9-FA4F63D3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discriminantes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57DDB69-30DD-CFD2-808A-F52FDB98EF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76800" y="1825624"/>
                <a:ext cx="7153275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Uma</a:t>
                </a:r>
                <a:r>
                  <a:rPr lang="pt-BR" dirty="0">
                    <a:solidFill>
                      <a:srgbClr val="7030A0"/>
                    </a:solidFill>
                  </a:rPr>
                  <a:t>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função discriminante</a:t>
                </a:r>
                <a:r>
                  <a:rPr lang="pt-BR" b="1" i="1" dirty="0"/>
                  <a:t> </a:t>
                </a:r>
                <a:r>
                  <a:rPr lang="pt-BR" dirty="0"/>
                  <a:t>com formato de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hiperplano</a:t>
                </a:r>
                <a:r>
                  <a:rPr lang="pt-BR" dirty="0"/>
                  <a:t> é dada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pt-BR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b="1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Um </a:t>
                </a:r>
                <a:r>
                  <a:rPr lang="pt-BR" b="1" i="1" dirty="0"/>
                  <a:t>hiperplano</a:t>
                </a:r>
                <a:r>
                  <a:rPr lang="pt-BR" dirty="0"/>
                  <a:t> pode ser 1 ponto em 1D, uma reta em 2D, um plano em 3D, etc.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coeficiente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 (</a:t>
                </a:r>
                <a:r>
                  <a:rPr lang="pt-BR" b="1" i="1" dirty="0"/>
                  <a:t>bias</a:t>
                </a:r>
                <a:r>
                  <a:rPr lang="pt-BR" dirty="0"/>
                  <a:t>) dá o deslocamento com relação à origem.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restante dos pesos determina a orientação do </a:t>
                </a:r>
                <a:r>
                  <a:rPr lang="pt-BR" b="1" i="1" dirty="0"/>
                  <a:t>hiperplano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Lembrem-se que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hiperplanos</a:t>
                </a:r>
                <a:r>
                  <a:rPr lang="pt-BR" dirty="0"/>
                  <a:t> fazem </a:t>
                </a:r>
                <a:r>
                  <a:rPr lang="pt-BR" b="1" i="1" dirty="0">
                    <a:solidFill>
                      <a:schemeClr val="accent5"/>
                    </a:solidFill>
                  </a:rPr>
                  <a:t>mapeamentos lineares </a:t>
                </a:r>
                <a:r>
                  <a:rPr lang="pt-BR" dirty="0"/>
                  <a:t>dos atributos nas saídas.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57DDB69-30DD-CFD2-808A-F52FDB98EF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76800" y="1825624"/>
                <a:ext cx="7153275" cy="5032375"/>
              </a:xfrm>
              <a:blipFill>
                <a:blip r:embed="rId3"/>
                <a:stretch>
                  <a:fillRect l="-1535" t="-1937" r="-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F06FD70-E89F-BC52-2900-5506EBD6CF3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8" t="2623" r="7430" b="1353"/>
          <a:stretch/>
        </p:blipFill>
        <p:spPr>
          <a:xfrm>
            <a:off x="1139670" y="2602756"/>
            <a:ext cx="2841780" cy="326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52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50ACD-2DE0-7E6B-F65F-1A40170C1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discriminantes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C254C3E-10F9-2C66-DDBB-99D1164F61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48201" y="1825624"/>
                <a:ext cx="744855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Nosso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objetivo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 é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encontrar os pesos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da função discriminante </a:t>
                </a:r>
                <a:r>
                  <a:rPr lang="pt-BR" dirty="0"/>
                  <a:t>de tal forma que que a classe atribuída a um exemplo de entrada,</a:t>
                </a:r>
                <a:r>
                  <a:rPr lang="pt-BR" b="1" dirty="0"/>
                  <a:t>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, seja: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pt-BR" sz="24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=1,                    </m:t>
                              </m:r>
                              <m:r>
                                <a:rPr lang="pt-BR" sz="2400" b="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sz="24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=2,                    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pt-BR" sz="24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pt-BR" sz="2400" i="0" dirty="0"/>
                                <m:t>ndetermina</m:t>
                              </m:r>
                              <m:r>
                                <m:rPr>
                                  <m:nor/>
                                </m:rPr>
                                <a:rPr lang="pt-BR" sz="2400" i="0" dirty="0"/>
                                <m:t>çã</m:t>
                              </m:r>
                              <m:r>
                                <m:rPr>
                                  <m:nor/>
                                </m:rPr>
                                <a:rPr lang="pt-BR" sz="2400" i="0" dirty="0"/>
                                <m:t>o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700" dirty="0"/>
              </a:p>
              <a:p>
                <a:r>
                  <a:rPr lang="pt-BR" dirty="0"/>
                  <a:t>OBS.: Podemos usar também </a:t>
                </a:r>
                <a:r>
                  <a:rPr lang="pt-BR" b="1" i="1" dirty="0"/>
                  <a:t>funções discriminantes com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mapeamentos não-lineares.</a:t>
                </a:r>
                <a:endParaRPr lang="pt-BR" dirty="0">
                  <a:solidFill>
                    <a:srgbClr val="7030A0"/>
                  </a:solidFill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Exemplo: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dirty="0"/>
                  <a:t> (eq. de um círculo centrado na origem, 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).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C254C3E-10F9-2C66-DDBB-99D1164F6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48201" y="1825624"/>
                <a:ext cx="7448550" cy="5032375"/>
              </a:xfrm>
              <a:blipFill>
                <a:blip r:embed="rId3"/>
                <a:stretch>
                  <a:fillRect l="-1474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45F5C35-CA80-831D-CD26-407BBC3BE21C}"/>
              </a:ext>
            </a:extLst>
          </p:cNvPr>
          <p:cNvSpPr/>
          <p:nvPr/>
        </p:nvSpPr>
        <p:spPr>
          <a:xfrm>
            <a:off x="10793207" y="3750882"/>
            <a:ext cx="1219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pt-BR" sz="1100" dirty="0"/>
              <a:t>empate entre as classes, pois a amostra está sobre a função.</a:t>
            </a:r>
          </a:p>
        </p:txBody>
      </p:sp>
      <p:cxnSp>
        <p:nvCxnSpPr>
          <p:cNvPr id="6" name="Straight Arrow Connector 6">
            <a:extLst>
              <a:ext uri="{FF2B5EF4-FFF2-40B4-BE49-F238E27FC236}">
                <a16:creationId xmlns:a16="http://schemas.microsoft.com/office/drawing/2014/main" id="{2EC6DCB0-48FC-CD2A-E18F-D7B490834350}"/>
              </a:ext>
            </a:extLst>
          </p:cNvPr>
          <p:cNvCxnSpPr>
            <a:cxnSpLocks/>
          </p:cNvCxnSpPr>
          <p:nvPr/>
        </p:nvCxnSpPr>
        <p:spPr>
          <a:xfrm flipH="1">
            <a:off x="10747027" y="3902516"/>
            <a:ext cx="177800" cy="1048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3">
            <a:extLst>
              <a:ext uri="{FF2B5EF4-FFF2-40B4-BE49-F238E27FC236}">
                <a16:creationId xmlns:a16="http://schemas.microsoft.com/office/drawing/2014/main" id="{797B4B4A-0E8F-6A84-F64E-0B174596F8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8" t="2623" r="7430" b="1353"/>
          <a:stretch/>
        </p:blipFill>
        <p:spPr>
          <a:xfrm>
            <a:off x="1139670" y="2602756"/>
            <a:ext cx="2841780" cy="3263704"/>
          </a:xfrm>
          <a:prstGeom prst="rect">
            <a:avLst/>
          </a:prstGeom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6CF5207C-210F-5440-56B3-8F1EAD36FFAF}"/>
              </a:ext>
            </a:extLst>
          </p:cNvPr>
          <p:cNvSpPr/>
          <p:nvPr/>
        </p:nvSpPr>
        <p:spPr>
          <a:xfrm>
            <a:off x="10793207" y="2912025"/>
            <a:ext cx="1219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pt-BR" sz="1100" dirty="0"/>
              <a:t>Acima da função.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71CBD8-E5F7-29C9-3744-56F52318FE10}"/>
              </a:ext>
            </a:extLst>
          </p:cNvPr>
          <p:cNvCxnSpPr>
            <a:cxnSpLocks/>
          </p:cNvCxnSpPr>
          <p:nvPr/>
        </p:nvCxnSpPr>
        <p:spPr>
          <a:xfrm flipH="1">
            <a:off x="10756264" y="3119682"/>
            <a:ext cx="177800" cy="1048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">
            <a:extLst>
              <a:ext uri="{FF2B5EF4-FFF2-40B4-BE49-F238E27FC236}">
                <a16:creationId xmlns:a16="http://schemas.microsoft.com/office/drawing/2014/main" id="{B8052885-3BC2-70B9-B921-5DDB2DD151B4}"/>
              </a:ext>
            </a:extLst>
          </p:cNvPr>
          <p:cNvSpPr/>
          <p:nvPr/>
        </p:nvSpPr>
        <p:spPr>
          <a:xfrm>
            <a:off x="10774735" y="3365237"/>
            <a:ext cx="1219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pt-BR" sz="1100" dirty="0"/>
              <a:t>Abaixo da função.</a:t>
            </a:r>
          </a:p>
        </p:txBody>
      </p:sp>
      <p:cxnSp>
        <p:nvCxnSpPr>
          <p:cNvPr id="9" name="Straight Arrow Connector 6">
            <a:extLst>
              <a:ext uri="{FF2B5EF4-FFF2-40B4-BE49-F238E27FC236}">
                <a16:creationId xmlns:a16="http://schemas.microsoft.com/office/drawing/2014/main" id="{D8DB8446-863A-7210-136E-FC97FB27A3F5}"/>
              </a:ext>
            </a:extLst>
          </p:cNvPr>
          <p:cNvCxnSpPr>
            <a:cxnSpLocks/>
          </p:cNvCxnSpPr>
          <p:nvPr/>
        </p:nvCxnSpPr>
        <p:spPr>
          <a:xfrm flipH="1">
            <a:off x="10747027" y="3563510"/>
            <a:ext cx="177800" cy="1048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435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A0CFAA7-5C29-6851-46E4-B7F4A82E8A0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Exemplo: Encontrando os pesos da função discriminante,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A0CFAA7-5C29-6851-46E4-B7F4A82E8A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80068F1-0EF1-0C76-49EC-DEA1A6CCB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38750" y="1825624"/>
                <a:ext cx="6810375" cy="5032375"/>
              </a:xfrm>
            </p:spPr>
            <p:txBody>
              <a:bodyPr/>
              <a:lstStyle/>
              <a:p>
                <a:r>
                  <a:rPr lang="pt-BR" dirty="0"/>
                  <a:t>Analisem a figura ao lado.</a:t>
                </a:r>
              </a:p>
              <a:p>
                <a:r>
                  <a:rPr lang="pt-BR" dirty="0"/>
                  <a:t>Temos 2 classes, 2 atributos,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, e queremos encontrar uma </a:t>
                </a:r>
                <a:r>
                  <a:rPr lang="pt-BR" b="1" i="1" dirty="0"/>
                  <a:t>função discriminante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que as separe.</a:t>
                </a:r>
              </a:p>
              <a:p>
                <a:r>
                  <a:rPr lang="pt-BR" dirty="0"/>
                  <a:t>Qual formato deve ter esta </a:t>
                </a:r>
                <a:r>
                  <a:rPr lang="pt-BR" b="1" i="1" dirty="0"/>
                  <a:t>função discriminante</a:t>
                </a:r>
                <a:r>
                  <a:rPr lang="pt-BR" dirty="0"/>
                  <a:t> para que ela tenha boa capacidade de generalização?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Lembrem-se do princípio da navalha de Occam: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 explicação mais simples (i.e., menos complexa) é geralmente a mais provável de estar correta.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80068F1-0EF1-0C76-49EC-DEA1A6CCB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38750" y="1825624"/>
                <a:ext cx="6810375" cy="5032375"/>
              </a:xfrm>
              <a:blipFill>
                <a:blip r:embed="rId3"/>
                <a:stretch>
                  <a:fillRect l="-1610" t="-1937" r="-12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78">
            <a:extLst>
              <a:ext uri="{FF2B5EF4-FFF2-40B4-BE49-F238E27FC236}">
                <a16:creationId xmlns:a16="http://schemas.microsoft.com/office/drawing/2014/main" id="{487D5658-0FD0-C968-EFBE-A7E95C2E443E}"/>
              </a:ext>
            </a:extLst>
          </p:cNvPr>
          <p:cNvGrpSpPr/>
          <p:nvPr/>
        </p:nvGrpSpPr>
        <p:grpSpPr>
          <a:xfrm>
            <a:off x="838200" y="2216276"/>
            <a:ext cx="3579851" cy="3073148"/>
            <a:chOff x="4781484" y="1471556"/>
            <a:chExt cx="3579851" cy="3073148"/>
          </a:xfrm>
        </p:grpSpPr>
        <p:sp>
          <p:nvSpPr>
            <p:cNvPr id="5" name="Oval 79">
              <a:extLst>
                <a:ext uri="{FF2B5EF4-FFF2-40B4-BE49-F238E27FC236}">
                  <a16:creationId xmlns:a16="http://schemas.microsoft.com/office/drawing/2014/main" id="{E89BE7AF-2058-7295-B197-E0E62CA67B80}"/>
                </a:ext>
              </a:extLst>
            </p:cNvPr>
            <p:cNvSpPr/>
            <p:nvPr/>
          </p:nvSpPr>
          <p:spPr>
            <a:xfrm>
              <a:off x="5329942" y="2900769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Isosceles Triangle 80">
              <a:extLst>
                <a:ext uri="{FF2B5EF4-FFF2-40B4-BE49-F238E27FC236}">
                  <a16:creationId xmlns:a16="http://schemas.microsoft.com/office/drawing/2014/main" id="{5E216DC1-7B59-8729-AD9C-ABCE16E2E38D}"/>
                </a:ext>
              </a:extLst>
            </p:cNvPr>
            <p:cNvSpPr/>
            <p:nvPr/>
          </p:nvSpPr>
          <p:spPr>
            <a:xfrm>
              <a:off x="6475659" y="2759416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Oval 81">
              <a:extLst>
                <a:ext uri="{FF2B5EF4-FFF2-40B4-BE49-F238E27FC236}">
                  <a16:creationId xmlns:a16="http://schemas.microsoft.com/office/drawing/2014/main" id="{FDE081DA-35A3-0681-028B-40BCBCBB9C33}"/>
                </a:ext>
              </a:extLst>
            </p:cNvPr>
            <p:cNvSpPr/>
            <p:nvPr/>
          </p:nvSpPr>
          <p:spPr>
            <a:xfrm>
              <a:off x="5305099" y="2146283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Oval 82">
              <a:extLst>
                <a:ext uri="{FF2B5EF4-FFF2-40B4-BE49-F238E27FC236}">
                  <a16:creationId xmlns:a16="http://schemas.microsoft.com/office/drawing/2014/main" id="{CD56379E-2071-1597-E64B-D6E6AFAEBDCD}"/>
                </a:ext>
              </a:extLst>
            </p:cNvPr>
            <p:cNvSpPr/>
            <p:nvPr/>
          </p:nvSpPr>
          <p:spPr>
            <a:xfrm>
              <a:off x="5689347" y="265196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Oval 83">
              <a:extLst>
                <a:ext uri="{FF2B5EF4-FFF2-40B4-BE49-F238E27FC236}">
                  <a16:creationId xmlns:a16="http://schemas.microsoft.com/office/drawing/2014/main" id="{9F26F39D-B606-8295-3D00-FF4635307DAB}"/>
                </a:ext>
              </a:extLst>
            </p:cNvPr>
            <p:cNvSpPr/>
            <p:nvPr/>
          </p:nvSpPr>
          <p:spPr>
            <a:xfrm>
              <a:off x="5535745" y="2230041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84">
              <a:extLst>
                <a:ext uri="{FF2B5EF4-FFF2-40B4-BE49-F238E27FC236}">
                  <a16:creationId xmlns:a16="http://schemas.microsoft.com/office/drawing/2014/main" id="{913EE23A-1061-70DD-5BDA-C211A9951928}"/>
                </a:ext>
              </a:extLst>
            </p:cNvPr>
            <p:cNvSpPr/>
            <p:nvPr/>
          </p:nvSpPr>
          <p:spPr>
            <a:xfrm>
              <a:off x="5353717" y="2494983"/>
              <a:ext cx="193774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85">
              <a:extLst>
                <a:ext uri="{FF2B5EF4-FFF2-40B4-BE49-F238E27FC236}">
                  <a16:creationId xmlns:a16="http://schemas.microsoft.com/office/drawing/2014/main" id="{FD04490C-2F72-D1FE-464F-36C22F317BB4}"/>
                </a:ext>
              </a:extLst>
            </p:cNvPr>
            <p:cNvSpPr/>
            <p:nvPr/>
          </p:nvSpPr>
          <p:spPr>
            <a:xfrm>
              <a:off x="5970773" y="230769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Isosceles Triangle 86">
              <a:extLst>
                <a:ext uri="{FF2B5EF4-FFF2-40B4-BE49-F238E27FC236}">
                  <a16:creationId xmlns:a16="http://schemas.microsoft.com/office/drawing/2014/main" id="{803F83EE-6FA7-206A-3D1A-BF461F9D8E73}"/>
                </a:ext>
              </a:extLst>
            </p:cNvPr>
            <p:cNvSpPr/>
            <p:nvPr/>
          </p:nvSpPr>
          <p:spPr>
            <a:xfrm>
              <a:off x="6659487" y="3873434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Isosceles Triangle 87">
              <a:extLst>
                <a:ext uri="{FF2B5EF4-FFF2-40B4-BE49-F238E27FC236}">
                  <a16:creationId xmlns:a16="http://schemas.microsoft.com/office/drawing/2014/main" id="{68BD49C0-0090-9FF3-95FD-4ECBFC459A55}"/>
                </a:ext>
              </a:extLst>
            </p:cNvPr>
            <p:cNvSpPr/>
            <p:nvPr/>
          </p:nvSpPr>
          <p:spPr>
            <a:xfrm>
              <a:off x="6268346" y="3547330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Isosceles Triangle 88">
              <a:extLst>
                <a:ext uri="{FF2B5EF4-FFF2-40B4-BE49-F238E27FC236}">
                  <a16:creationId xmlns:a16="http://schemas.microsoft.com/office/drawing/2014/main" id="{C6A1D6A8-188A-3ED2-CD76-CE792D0788E8}"/>
                </a:ext>
              </a:extLst>
            </p:cNvPr>
            <p:cNvSpPr/>
            <p:nvPr/>
          </p:nvSpPr>
          <p:spPr>
            <a:xfrm>
              <a:off x="5738153" y="3894891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Isosceles Triangle 89">
              <a:extLst>
                <a:ext uri="{FF2B5EF4-FFF2-40B4-BE49-F238E27FC236}">
                  <a16:creationId xmlns:a16="http://schemas.microsoft.com/office/drawing/2014/main" id="{659CDF21-7AB2-3FEF-2E4F-93C207EFCC72}"/>
                </a:ext>
              </a:extLst>
            </p:cNvPr>
            <p:cNvSpPr/>
            <p:nvPr/>
          </p:nvSpPr>
          <p:spPr>
            <a:xfrm>
              <a:off x="5865128" y="3390838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Isosceles Triangle 90">
              <a:extLst>
                <a:ext uri="{FF2B5EF4-FFF2-40B4-BE49-F238E27FC236}">
                  <a16:creationId xmlns:a16="http://schemas.microsoft.com/office/drawing/2014/main" id="{FF6A084D-0EB5-D541-7150-65DDDD23F92E}"/>
                </a:ext>
              </a:extLst>
            </p:cNvPr>
            <p:cNvSpPr/>
            <p:nvPr/>
          </p:nvSpPr>
          <p:spPr>
            <a:xfrm>
              <a:off x="6088948" y="3035955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Isosceles Triangle 91">
              <a:extLst>
                <a:ext uri="{FF2B5EF4-FFF2-40B4-BE49-F238E27FC236}">
                  <a16:creationId xmlns:a16="http://schemas.microsoft.com/office/drawing/2014/main" id="{18C4667B-AF47-8F94-C29F-69647A84EDD2}"/>
                </a:ext>
              </a:extLst>
            </p:cNvPr>
            <p:cNvSpPr/>
            <p:nvPr/>
          </p:nvSpPr>
          <p:spPr>
            <a:xfrm>
              <a:off x="6088892" y="3760762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Isosceles Triangle 92">
              <a:extLst>
                <a:ext uri="{FF2B5EF4-FFF2-40B4-BE49-F238E27FC236}">
                  <a16:creationId xmlns:a16="http://schemas.microsoft.com/office/drawing/2014/main" id="{4CF16A92-05BE-5B9F-4B3F-AB35A06BF248}"/>
                </a:ext>
              </a:extLst>
            </p:cNvPr>
            <p:cNvSpPr/>
            <p:nvPr/>
          </p:nvSpPr>
          <p:spPr>
            <a:xfrm>
              <a:off x="6920054" y="2244819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95">
                  <a:extLst>
                    <a:ext uri="{FF2B5EF4-FFF2-40B4-BE49-F238E27FC236}">
                      <a16:creationId xmlns:a16="http://schemas.microsoft.com/office/drawing/2014/main" id="{A8DD1272-3AF8-A7AF-6C02-A3C1259B4EA7}"/>
                    </a:ext>
                  </a:extLst>
                </p:cNvPr>
                <p:cNvSpPr txBox="1"/>
                <p:nvPr/>
              </p:nvSpPr>
              <p:spPr>
                <a:xfrm>
                  <a:off x="7360168" y="4019497"/>
                  <a:ext cx="1001167" cy="467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0168" y="4019497"/>
                  <a:ext cx="1001167" cy="46707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 98">
              <a:extLst>
                <a:ext uri="{FF2B5EF4-FFF2-40B4-BE49-F238E27FC236}">
                  <a16:creationId xmlns:a16="http://schemas.microsoft.com/office/drawing/2014/main" id="{83B038ED-AA33-E457-BD37-7ED05EC46859}"/>
                </a:ext>
              </a:extLst>
            </p:cNvPr>
            <p:cNvSpPr/>
            <p:nvPr/>
          </p:nvSpPr>
          <p:spPr>
            <a:xfrm rot="5400000">
              <a:off x="5250191" y="3686716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1" name="Straight Arrow Connector 99">
              <a:extLst>
                <a:ext uri="{FF2B5EF4-FFF2-40B4-BE49-F238E27FC236}">
                  <a16:creationId xmlns:a16="http://schemas.microsoft.com/office/drawing/2014/main" id="{47DA0291-6CD0-85F5-0170-2EDF086E63DA}"/>
                </a:ext>
              </a:extLst>
            </p:cNvPr>
            <p:cNvCxnSpPr/>
            <p:nvPr/>
          </p:nvCxnSpPr>
          <p:spPr>
            <a:xfrm>
              <a:off x="5252394" y="4227065"/>
              <a:ext cx="241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100">
              <a:extLst>
                <a:ext uri="{FF2B5EF4-FFF2-40B4-BE49-F238E27FC236}">
                  <a16:creationId xmlns:a16="http://schemas.microsoft.com/office/drawing/2014/main" id="{B21AB59B-5EB6-4D44-57C0-3DA5DA17F91B}"/>
                </a:ext>
              </a:extLst>
            </p:cNvPr>
            <p:cNvCxnSpPr/>
            <p:nvPr/>
          </p:nvCxnSpPr>
          <p:spPr>
            <a:xfrm flipV="1">
              <a:off x="5252394" y="1827380"/>
              <a:ext cx="0" cy="2412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101">
                  <a:extLst>
                    <a:ext uri="{FF2B5EF4-FFF2-40B4-BE49-F238E27FC236}">
                      <a16:creationId xmlns:a16="http://schemas.microsoft.com/office/drawing/2014/main" id="{746DA016-25BC-E716-6E4E-CBF1E977C129}"/>
                    </a:ext>
                  </a:extLst>
                </p:cNvPr>
                <p:cNvSpPr txBox="1"/>
                <p:nvPr/>
              </p:nvSpPr>
              <p:spPr>
                <a:xfrm>
                  <a:off x="4781484" y="1471556"/>
                  <a:ext cx="1001167" cy="467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484" y="1471556"/>
                  <a:ext cx="1001167" cy="46707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Box 103">
              <a:extLst>
                <a:ext uri="{FF2B5EF4-FFF2-40B4-BE49-F238E27FC236}">
                  <a16:creationId xmlns:a16="http://schemas.microsoft.com/office/drawing/2014/main" id="{5250E4E8-B7DD-04A3-DAC8-38563AC35511}"/>
                </a:ext>
              </a:extLst>
            </p:cNvPr>
            <p:cNvSpPr txBox="1"/>
            <p:nvPr/>
          </p:nvSpPr>
          <p:spPr>
            <a:xfrm>
              <a:off x="5074370" y="4180493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0</a:t>
              </a:r>
            </a:p>
          </p:txBody>
        </p:sp>
        <p:sp>
          <p:nvSpPr>
            <p:cNvPr id="25" name="TextBox 104">
              <a:extLst>
                <a:ext uri="{FF2B5EF4-FFF2-40B4-BE49-F238E27FC236}">
                  <a16:creationId xmlns:a16="http://schemas.microsoft.com/office/drawing/2014/main" id="{44208387-CBDD-A071-2AD0-32249E61BE26}"/>
                </a:ext>
              </a:extLst>
            </p:cNvPr>
            <p:cNvSpPr txBox="1"/>
            <p:nvPr/>
          </p:nvSpPr>
          <p:spPr>
            <a:xfrm>
              <a:off x="5024915" y="3544589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</a:t>
              </a:r>
            </a:p>
          </p:txBody>
        </p:sp>
        <p:sp>
          <p:nvSpPr>
            <p:cNvPr id="26" name="TextBox 105">
              <a:extLst>
                <a:ext uri="{FF2B5EF4-FFF2-40B4-BE49-F238E27FC236}">
                  <a16:creationId xmlns:a16="http://schemas.microsoft.com/office/drawing/2014/main" id="{9DA9B49A-A1DF-75A9-6A71-339628F521DA}"/>
                </a:ext>
              </a:extLst>
            </p:cNvPr>
            <p:cNvSpPr txBox="1"/>
            <p:nvPr/>
          </p:nvSpPr>
          <p:spPr>
            <a:xfrm>
              <a:off x="5024915" y="3009222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</a:t>
              </a:r>
            </a:p>
          </p:txBody>
        </p:sp>
        <p:sp>
          <p:nvSpPr>
            <p:cNvPr id="27" name="TextBox 106">
              <a:extLst>
                <a:ext uri="{FF2B5EF4-FFF2-40B4-BE49-F238E27FC236}">
                  <a16:creationId xmlns:a16="http://schemas.microsoft.com/office/drawing/2014/main" id="{1B965F7F-7388-84C2-C3B5-0459476EC2AE}"/>
                </a:ext>
              </a:extLst>
            </p:cNvPr>
            <p:cNvSpPr txBox="1"/>
            <p:nvPr/>
          </p:nvSpPr>
          <p:spPr>
            <a:xfrm>
              <a:off x="5024915" y="246968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</a:t>
              </a:r>
            </a:p>
          </p:txBody>
        </p:sp>
        <p:sp>
          <p:nvSpPr>
            <p:cNvPr id="28" name="TextBox 107">
              <a:extLst>
                <a:ext uri="{FF2B5EF4-FFF2-40B4-BE49-F238E27FC236}">
                  <a16:creationId xmlns:a16="http://schemas.microsoft.com/office/drawing/2014/main" id="{E37863C8-D501-6B0A-4A3E-BB3031160D5C}"/>
                </a:ext>
              </a:extLst>
            </p:cNvPr>
            <p:cNvSpPr txBox="1"/>
            <p:nvPr/>
          </p:nvSpPr>
          <p:spPr>
            <a:xfrm>
              <a:off x="5025998" y="1946408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</a:t>
              </a:r>
            </a:p>
          </p:txBody>
        </p:sp>
        <p:sp>
          <p:nvSpPr>
            <p:cNvPr id="29" name="TextBox 108">
              <a:extLst>
                <a:ext uri="{FF2B5EF4-FFF2-40B4-BE49-F238E27FC236}">
                  <a16:creationId xmlns:a16="http://schemas.microsoft.com/office/drawing/2014/main" id="{E20FE8D7-72D4-7CC6-2B72-9CB00DFCBB33}"/>
                </a:ext>
              </a:extLst>
            </p:cNvPr>
            <p:cNvSpPr txBox="1"/>
            <p:nvPr/>
          </p:nvSpPr>
          <p:spPr>
            <a:xfrm>
              <a:off x="5663911" y="4194402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</a:t>
              </a:r>
            </a:p>
          </p:txBody>
        </p:sp>
        <p:sp>
          <p:nvSpPr>
            <p:cNvPr id="30" name="TextBox 109">
              <a:extLst>
                <a:ext uri="{FF2B5EF4-FFF2-40B4-BE49-F238E27FC236}">
                  <a16:creationId xmlns:a16="http://schemas.microsoft.com/office/drawing/2014/main" id="{7C674789-D095-5162-99D7-B44DBE8D8F3E}"/>
                </a:ext>
              </a:extLst>
            </p:cNvPr>
            <p:cNvSpPr txBox="1"/>
            <p:nvPr/>
          </p:nvSpPr>
          <p:spPr>
            <a:xfrm>
              <a:off x="6204000" y="419346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</a:t>
              </a:r>
            </a:p>
          </p:txBody>
        </p:sp>
        <p:sp>
          <p:nvSpPr>
            <p:cNvPr id="31" name="TextBox 110">
              <a:extLst>
                <a:ext uri="{FF2B5EF4-FFF2-40B4-BE49-F238E27FC236}">
                  <a16:creationId xmlns:a16="http://schemas.microsoft.com/office/drawing/2014/main" id="{51F67162-69A4-7489-85AF-4978F49B4D81}"/>
                </a:ext>
              </a:extLst>
            </p:cNvPr>
            <p:cNvSpPr txBox="1"/>
            <p:nvPr/>
          </p:nvSpPr>
          <p:spPr>
            <a:xfrm>
              <a:off x="6754934" y="4193807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</a:t>
              </a:r>
            </a:p>
          </p:txBody>
        </p:sp>
        <p:sp>
          <p:nvSpPr>
            <p:cNvPr id="32" name="TextBox 111">
              <a:extLst>
                <a:ext uri="{FF2B5EF4-FFF2-40B4-BE49-F238E27FC236}">
                  <a16:creationId xmlns:a16="http://schemas.microsoft.com/office/drawing/2014/main" id="{09FC0559-1ED2-58D0-5D8E-8D6301EA09D9}"/>
                </a:ext>
              </a:extLst>
            </p:cNvPr>
            <p:cNvSpPr txBox="1"/>
            <p:nvPr/>
          </p:nvSpPr>
          <p:spPr>
            <a:xfrm>
              <a:off x="7277932" y="419346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</a:t>
              </a:r>
            </a:p>
          </p:txBody>
        </p:sp>
        <p:sp>
          <p:nvSpPr>
            <p:cNvPr id="33" name="Rectangle 112">
              <a:extLst>
                <a:ext uri="{FF2B5EF4-FFF2-40B4-BE49-F238E27FC236}">
                  <a16:creationId xmlns:a16="http://schemas.microsoft.com/office/drawing/2014/main" id="{AF36E35B-B3F5-532A-2D12-833815CB5ECB}"/>
                </a:ext>
              </a:extLst>
            </p:cNvPr>
            <p:cNvSpPr/>
            <p:nvPr/>
          </p:nvSpPr>
          <p:spPr>
            <a:xfrm rot="5400000">
              <a:off x="5794458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Rectangle 113">
              <a:extLst>
                <a:ext uri="{FF2B5EF4-FFF2-40B4-BE49-F238E27FC236}">
                  <a16:creationId xmlns:a16="http://schemas.microsoft.com/office/drawing/2014/main" id="{5BEF69AC-89A1-1E54-D4FA-F51670A78DC8}"/>
                </a:ext>
              </a:extLst>
            </p:cNvPr>
            <p:cNvSpPr/>
            <p:nvPr/>
          </p:nvSpPr>
          <p:spPr>
            <a:xfrm rot="5400000">
              <a:off x="6337913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Rectangle 114">
              <a:extLst>
                <a:ext uri="{FF2B5EF4-FFF2-40B4-BE49-F238E27FC236}">
                  <a16:creationId xmlns:a16="http://schemas.microsoft.com/office/drawing/2014/main" id="{6AA579BC-C30E-C031-523B-B6224C88A2C4}"/>
                </a:ext>
              </a:extLst>
            </p:cNvPr>
            <p:cNvSpPr/>
            <p:nvPr/>
          </p:nvSpPr>
          <p:spPr>
            <a:xfrm rot="5400000">
              <a:off x="6879325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Rectangle 115">
              <a:extLst>
                <a:ext uri="{FF2B5EF4-FFF2-40B4-BE49-F238E27FC236}">
                  <a16:creationId xmlns:a16="http://schemas.microsoft.com/office/drawing/2014/main" id="{1372A63C-358E-6F46-792A-D5D077AE1A16}"/>
                </a:ext>
              </a:extLst>
            </p:cNvPr>
            <p:cNvSpPr/>
            <p:nvPr/>
          </p:nvSpPr>
          <p:spPr>
            <a:xfrm rot="5400000">
              <a:off x="5253990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Rectangle 116">
              <a:extLst>
                <a:ext uri="{FF2B5EF4-FFF2-40B4-BE49-F238E27FC236}">
                  <a16:creationId xmlns:a16="http://schemas.microsoft.com/office/drawing/2014/main" id="{03ABEB89-F00B-93C9-EBE6-0B3B9141FE57}"/>
                </a:ext>
              </a:extLst>
            </p:cNvPr>
            <p:cNvSpPr/>
            <p:nvPr/>
          </p:nvSpPr>
          <p:spPr>
            <a:xfrm rot="5400000">
              <a:off x="5795508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Rectangle 117">
              <a:extLst>
                <a:ext uri="{FF2B5EF4-FFF2-40B4-BE49-F238E27FC236}">
                  <a16:creationId xmlns:a16="http://schemas.microsoft.com/office/drawing/2014/main" id="{598EC6D8-84D5-6607-35B6-AAC7FC2ED7AA}"/>
                </a:ext>
              </a:extLst>
            </p:cNvPr>
            <p:cNvSpPr/>
            <p:nvPr/>
          </p:nvSpPr>
          <p:spPr>
            <a:xfrm rot="5400000">
              <a:off x="6337913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Rectangle 118">
              <a:extLst>
                <a:ext uri="{FF2B5EF4-FFF2-40B4-BE49-F238E27FC236}">
                  <a16:creationId xmlns:a16="http://schemas.microsoft.com/office/drawing/2014/main" id="{47FEDB24-A32F-B651-29FD-442442B8B07A}"/>
                </a:ext>
              </a:extLst>
            </p:cNvPr>
            <p:cNvSpPr/>
            <p:nvPr/>
          </p:nvSpPr>
          <p:spPr>
            <a:xfrm rot="5400000">
              <a:off x="6879325" y="314578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0" name="Rectangle 119">
              <a:extLst>
                <a:ext uri="{FF2B5EF4-FFF2-40B4-BE49-F238E27FC236}">
                  <a16:creationId xmlns:a16="http://schemas.microsoft.com/office/drawing/2014/main" id="{7B09D1F5-5E55-1FA4-C741-79F6FEF4A4C6}"/>
                </a:ext>
              </a:extLst>
            </p:cNvPr>
            <p:cNvSpPr/>
            <p:nvPr/>
          </p:nvSpPr>
          <p:spPr>
            <a:xfrm rot="5400000">
              <a:off x="5252850" y="2605657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ctangle 120">
              <a:extLst>
                <a:ext uri="{FF2B5EF4-FFF2-40B4-BE49-F238E27FC236}">
                  <a16:creationId xmlns:a16="http://schemas.microsoft.com/office/drawing/2014/main" id="{179F9E0A-6C4C-22EE-7447-5C4C776E5093}"/>
                </a:ext>
              </a:extLst>
            </p:cNvPr>
            <p:cNvSpPr/>
            <p:nvPr/>
          </p:nvSpPr>
          <p:spPr>
            <a:xfrm rot="5400000">
              <a:off x="5794739" y="2605571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Rectangle 121">
              <a:extLst>
                <a:ext uri="{FF2B5EF4-FFF2-40B4-BE49-F238E27FC236}">
                  <a16:creationId xmlns:a16="http://schemas.microsoft.com/office/drawing/2014/main" id="{5EC463B1-4A44-DAA8-F277-2B6AD1C06DD5}"/>
                </a:ext>
              </a:extLst>
            </p:cNvPr>
            <p:cNvSpPr/>
            <p:nvPr/>
          </p:nvSpPr>
          <p:spPr>
            <a:xfrm rot="5400000">
              <a:off x="6337913" y="260521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Rectangle 122">
              <a:extLst>
                <a:ext uri="{FF2B5EF4-FFF2-40B4-BE49-F238E27FC236}">
                  <a16:creationId xmlns:a16="http://schemas.microsoft.com/office/drawing/2014/main" id="{C30A254C-7088-C718-6467-D3BC3B541801}"/>
                </a:ext>
              </a:extLst>
            </p:cNvPr>
            <p:cNvSpPr/>
            <p:nvPr/>
          </p:nvSpPr>
          <p:spPr>
            <a:xfrm rot="5400000">
              <a:off x="6876584" y="260681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ctangle 123">
              <a:extLst>
                <a:ext uri="{FF2B5EF4-FFF2-40B4-BE49-F238E27FC236}">
                  <a16:creationId xmlns:a16="http://schemas.microsoft.com/office/drawing/2014/main" id="{1B9FEC0A-AF88-A403-E761-3224B5F95C62}"/>
                </a:ext>
              </a:extLst>
            </p:cNvPr>
            <p:cNvSpPr/>
            <p:nvPr/>
          </p:nvSpPr>
          <p:spPr>
            <a:xfrm rot="5400000">
              <a:off x="5249098" y="206620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Rectangle 124">
              <a:extLst>
                <a:ext uri="{FF2B5EF4-FFF2-40B4-BE49-F238E27FC236}">
                  <a16:creationId xmlns:a16="http://schemas.microsoft.com/office/drawing/2014/main" id="{79D66154-FD3E-3804-B10A-7B7283D6463E}"/>
                </a:ext>
              </a:extLst>
            </p:cNvPr>
            <p:cNvSpPr/>
            <p:nvPr/>
          </p:nvSpPr>
          <p:spPr>
            <a:xfrm rot="5400000">
              <a:off x="5797975" y="2067041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Rectangle 125">
              <a:extLst>
                <a:ext uri="{FF2B5EF4-FFF2-40B4-BE49-F238E27FC236}">
                  <a16:creationId xmlns:a16="http://schemas.microsoft.com/office/drawing/2014/main" id="{340AF437-9EE7-2DB1-370F-FBF3ACC408E0}"/>
                </a:ext>
              </a:extLst>
            </p:cNvPr>
            <p:cNvSpPr/>
            <p:nvPr/>
          </p:nvSpPr>
          <p:spPr>
            <a:xfrm rot="5400000">
              <a:off x="6336382" y="206761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Rectangle 126">
              <a:extLst>
                <a:ext uri="{FF2B5EF4-FFF2-40B4-BE49-F238E27FC236}">
                  <a16:creationId xmlns:a16="http://schemas.microsoft.com/office/drawing/2014/main" id="{D879C168-F49F-9943-3173-0EB461F700FC}"/>
                </a:ext>
              </a:extLst>
            </p:cNvPr>
            <p:cNvSpPr/>
            <p:nvPr/>
          </p:nvSpPr>
          <p:spPr>
            <a:xfrm rot="5400000">
              <a:off x="6877913" y="206620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Isosceles Triangle 127">
              <a:extLst>
                <a:ext uri="{FF2B5EF4-FFF2-40B4-BE49-F238E27FC236}">
                  <a16:creationId xmlns:a16="http://schemas.microsoft.com/office/drawing/2014/main" id="{E66752DB-6D9E-C6F8-E975-9A43C8D709F0}"/>
                </a:ext>
              </a:extLst>
            </p:cNvPr>
            <p:cNvSpPr/>
            <p:nvPr/>
          </p:nvSpPr>
          <p:spPr>
            <a:xfrm>
              <a:off x="5518764" y="3476007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Isosceles Triangle 128">
              <a:extLst>
                <a:ext uri="{FF2B5EF4-FFF2-40B4-BE49-F238E27FC236}">
                  <a16:creationId xmlns:a16="http://schemas.microsoft.com/office/drawing/2014/main" id="{FF2809A7-5680-4DE5-5D4C-D0A13E9908FF}"/>
                </a:ext>
              </a:extLst>
            </p:cNvPr>
            <p:cNvSpPr/>
            <p:nvPr/>
          </p:nvSpPr>
          <p:spPr>
            <a:xfrm>
              <a:off x="6594489" y="3181056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Isosceles Triangle 129">
              <a:extLst>
                <a:ext uri="{FF2B5EF4-FFF2-40B4-BE49-F238E27FC236}">
                  <a16:creationId xmlns:a16="http://schemas.microsoft.com/office/drawing/2014/main" id="{9F64AFE6-39B5-963E-F270-7AFFA7C84D50}"/>
                </a:ext>
              </a:extLst>
            </p:cNvPr>
            <p:cNvSpPr/>
            <p:nvPr/>
          </p:nvSpPr>
          <p:spPr>
            <a:xfrm>
              <a:off x="6993083" y="2692118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Isosceles Triangle 130">
              <a:extLst>
                <a:ext uri="{FF2B5EF4-FFF2-40B4-BE49-F238E27FC236}">
                  <a16:creationId xmlns:a16="http://schemas.microsoft.com/office/drawing/2014/main" id="{1D2588A8-49CE-E1AE-7671-8CE3CE53ECF8}"/>
                </a:ext>
              </a:extLst>
            </p:cNvPr>
            <p:cNvSpPr/>
            <p:nvPr/>
          </p:nvSpPr>
          <p:spPr>
            <a:xfrm>
              <a:off x="5376898" y="3856497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Isosceles Triangle 131">
              <a:extLst>
                <a:ext uri="{FF2B5EF4-FFF2-40B4-BE49-F238E27FC236}">
                  <a16:creationId xmlns:a16="http://schemas.microsoft.com/office/drawing/2014/main" id="{C2704713-68FB-F715-3845-FF447A418DF0}"/>
                </a:ext>
              </a:extLst>
            </p:cNvPr>
            <p:cNvSpPr/>
            <p:nvPr/>
          </p:nvSpPr>
          <p:spPr>
            <a:xfrm>
              <a:off x="6680555" y="2380414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Oval 132">
              <a:extLst>
                <a:ext uri="{FF2B5EF4-FFF2-40B4-BE49-F238E27FC236}">
                  <a16:creationId xmlns:a16="http://schemas.microsoft.com/office/drawing/2014/main" id="{5C6D4EF8-A172-AD9F-C206-3C0F57BE3274}"/>
                </a:ext>
              </a:extLst>
            </p:cNvPr>
            <p:cNvSpPr/>
            <p:nvPr/>
          </p:nvSpPr>
          <p:spPr>
            <a:xfrm>
              <a:off x="6262720" y="212016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317836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A0CFAA7-5C29-6851-46E4-B7F4A82E8A0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Exemplo: Encontrando os pesos da função discriminante,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8A0CFAA7-5C29-6851-46E4-B7F4A82E8A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80068F1-0EF1-0C76-49EC-DEA1A6CCB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38750" y="1825624"/>
                <a:ext cx="6810375" cy="5032375"/>
              </a:xfrm>
            </p:spPr>
            <p:txBody>
              <a:bodyPr/>
              <a:lstStyle/>
              <a:p>
                <a:r>
                  <a:rPr lang="pt-BR" dirty="0"/>
                  <a:t>Qual formato deve ter esta </a:t>
                </a:r>
                <a:r>
                  <a:rPr lang="pt-BR" b="1" i="1" dirty="0"/>
                  <a:t>função discriminante</a:t>
                </a:r>
                <a:r>
                  <a:rPr lang="pt-BR" dirty="0"/>
                  <a:t> para que ela tenha boa capacidade de generalização?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formato mais simples, seguindo o princípio da navalha de Occam, é o de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reta</a:t>
                </a:r>
                <a:r>
                  <a:rPr lang="pt-BR" dirty="0"/>
                  <a:t> traçada no plano formado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80068F1-0EF1-0C76-49EC-DEA1A6CCB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38750" y="1825624"/>
                <a:ext cx="6810375" cy="5032375"/>
              </a:xfrm>
              <a:blipFill>
                <a:blip r:embed="rId3"/>
                <a:stretch>
                  <a:fillRect l="-1610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Group 3">
            <a:extLst>
              <a:ext uri="{FF2B5EF4-FFF2-40B4-BE49-F238E27FC236}">
                <a16:creationId xmlns:a16="http://schemas.microsoft.com/office/drawing/2014/main" id="{0804103E-93D4-FECC-2D73-97363B0EA605}"/>
              </a:ext>
            </a:extLst>
          </p:cNvPr>
          <p:cNvGrpSpPr/>
          <p:nvPr/>
        </p:nvGrpSpPr>
        <p:grpSpPr>
          <a:xfrm>
            <a:off x="924662" y="2436883"/>
            <a:ext cx="3724806" cy="3073148"/>
            <a:chOff x="4781484" y="1471556"/>
            <a:chExt cx="3724806" cy="3073148"/>
          </a:xfrm>
        </p:grpSpPr>
        <p:sp>
          <p:nvSpPr>
            <p:cNvPr id="55" name="Oval 5">
              <a:extLst>
                <a:ext uri="{FF2B5EF4-FFF2-40B4-BE49-F238E27FC236}">
                  <a16:creationId xmlns:a16="http://schemas.microsoft.com/office/drawing/2014/main" id="{E1599D47-2C59-AD8D-4E8A-1A3C51FBFBCC}"/>
                </a:ext>
              </a:extLst>
            </p:cNvPr>
            <p:cNvSpPr/>
            <p:nvPr/>
          </p:nvSpPr>
          <p:spPr>
            <a:xfrm>
              <a:off x="5329942" y="2900769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Isosceles Triangle 6">
              <a:extLst>
                <a:ext uri="{FF2B5EF4-FFF2-40B4-BE49-F238E27FC236}">
                  <a16:creationId xmlns:a16="http://schemas.microsoft.com/office/drawing/2014/main" id="{5C959D4B-1F07-A80B-DE4F-85E60049268E}"/>
                </a:ext>
              </a:extLst>
            </p:cNvPr>
            <p:cNvSpPr/>
            <p:nvPr/>
          </p:nvSpPr>
          <p:spPr>
            <a:xfrm>
              <a:off x="6475659" y="2759416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Oval 8">
              <a:extLst>
                <a:ext uri="{FF2B5EF4-FFF2-40B4-BE49-F238E27FC236}">
                  <a16:creationId xmlns:a16="http://schemas.microsoft.com/office/drawing/2014/main" id="{C3E1A439-B0E9-A725-CB19-E60291B4A58E}"/>
                </a:ext>
              </a:extLst>
            </p:cNvPr>
            <p:cNvSpPr/>
            <p:nvPr/>
          </p:nvSpPr>
          <p:spPr>
            <a:xfrm>
              <a:off x="5305099" y="2146283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Oval 9">
              <a:extLst>
                <a:ext uri="{FF2B5EF4-FFF2-40B4-BE49-F238E27FC236}">
                  <a16:creationId xmlns:a16="http://schemas.microsoft.com/office/drawing/2014/main" id="{50DABBD2-4E98-BC24-4EFF-934FC8F93B79}"/>
                </a:ext>
              </a:extLst>
            </p:cNvPr>
            <p:cNvSpPr/>
            <p:nvPr/>
          </p:nvSpPr>
          <p:spPr>
            <a:xfrm>
              <a:off x="5689347" y="265196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Oval 10">
              <a:extLst>
                <a:ext uri="{FF2B5EF4-FFF2-40B4-BE49-F238E27FC236}">
                  <a16:creationId xmlns:a16="http://schemas.microsoft.com/office/drawing/2014/main" id="{4AE61079-6614-308D-3A98-F2A771104A70}"/>
                </a:ext>
              </a:extLst>
            </p:cNvPr>
            <p:cNvSpPr/>
            <p:nvPr/>
          </p:nvSpPr>
          <p:spPr>
            <a:xfrm>
              <a:off x="5535745" y="2230041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Oval 12">
              <a:extLst>
                <a:ext uri="{FF2B5EF4-FFF2-40B4-BE49-F238E27FC236}">
                  <a16:creationId xmlns:a16="http://schemas.microsoft.com/office/drawing/2014/main" id="{F94CC628-659B-59A8-2047-29710CB620EE}"/>
                </a:ext>
              </a:extLst>
            </p:cNvPr>
            <p:cNvSpPr/>
            <p:nvPr/>
          </p:nvSpPr>
          <p:spPr>
            <a:xfrm>
              <a:off x="5353717" y="2494983"/>
              <a:ext cx="193774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Oval 13">
              <a:extLst>
                <a:ext uri="{FF2B5EF4-FFF2-40B4-BE49-F238E27FC236}">
                  <a16:creationId xmlns:a16="http://schemas.microsoft.com/office/drawing/2014/main" id="{8B3BF275-A8C4-1D9F-0789-EAC90A71234D}"/>
                </a:ext>
              </a:extLst>
            </p:cNvPr>
            <p:cNvSpPr/>
            <p:nvPr/>
          </p:nvSpPr>
          <p:spPr>
            <a:xfrm>
              <a:off x="5970773" y="230769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Isosceles Triangle 14">
              <a:extLst>
                <a:ext uri="{FF2B5EF4-FFF2-40B4-BE49-F238E27FC236}">
                  <a16:creationId xmlns:a16="http://schemas.microsoft.com/office/drawing/2014/main" id="{62579967-A543-3E35-2276-00443A818A18}"/>
                </a:ext>
              </a:extLst>
            </p:cNvPr>
            <p:cNvSpPr/>
            <p:nvPr/>
          </p:nvSpPr>
          <p:spPr>
            <a:xfrm>
              <a:off x="6659487" y="3873434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Isosceles Triangle 15">
              <a:extLst>
                <a:ext uri="{FF2B5EF4-FFF2-40B4-BE49-F238E27FC236}">
                  <a16:creationId xmlns:a16="http://schemas.microsoft.com/office/drawing/2014/main" id="{CF41BF40-C68C-2BFA-AA36-9DF97953DE5C}"/>
                </a:ext>
              </a:extLst>
            </p:cNvPr>
            <p:cNvSpPr/>
            <p:nvPr/>
          </p:nvSpPr>
          <p:spPr>
            <a:xfrm>
              <a:off x="6268346" y="3547330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4" name="Isosceles Triangle 16">
              <a:extLst>
                <a:ext uri="{FF2B5EF4-FFF2-40B4-BE49-F238E27FC236}">
                  <a16:creationId xmlns:a16="http://schemas.microsoft.com/office/drawing/2014/main" id="{7FCDA260-F08F-1790-73F4-B6BCB7008F03}"/>
                </a:ext>
              </a:extLst>
            </p:cNvPr>
            <p:cNvSpPr/>
            <p:nvPr/>
          </p:nvSpPr>
          <p:spPr>
            <a:xfrm>
              <a:off x="5738153" y="3894891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Isosceles Triangle 17">
              <a:extLst>
                <a:ext uri="{FF2B5EF4-FFF2-40B4-BE49-F238E27FC236}">
                  <a16:creationId xmlns:a16="http://schemas.microsoft.com/office/drawing/2014/main" id="{14391E23-11FC-3F3C-4CE7-89F024B2E572}"/>
                </a:ext>
              </a:extLst>
            </p:cNvPr>
            <p:cNvSpPr/>
            <p:nvPr/>
          </p:nvSpPr>
          <p:spPr>
            <a:xfrm>
              <a:off x="5865128" y="3390838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Isosceles Triangle 18">
              <a:extLst>
                <a:ext uri="{FF2B5EF4-FFF2-40B4-BE49-F238E27FC236}">
                  <a16:creationId xmlns:a16="http://schemas.microsoft.com/office/drawing/2014/main" id="{8687EC5D-8A5A-E107-43D9-E35D32E79211}"/>
                </a:ext>
              </a:extLst>
            </p:cNvPr>
            <p:cNvSpPr/>
            <p:nvPr/>
          </p:nvSpPr>
          <p:spPr>
            <a:xfrm>
              <a:off x="6088948" y="3035955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Isosceles Triangle 19">
              <a:extLst>
                <a:ext uri="{FF2B5EF4-FFF2-40B4-BE49-F238E27FC236}">
                  <a16:creationId xmlns:a16="http://schemas.microsoft.com/office/drawing/2014/main" id="{C16488B7-E303-0945-E655-7FCD98FA5B8F}"/>
                </a:ext>
              </a:extLst>
            </p:cNvPr>
            <p:cNvSpPr/>
            <p:nvPr/>
          </p:nvSpPr>
          <p:spPr>
            <a:xfrm>
              <a:off x="6088892" y="3760762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Isosceles Triangle 20">
              <a:extLst>
                <a:ext uri="{FF2B5EF4-FFF2-40B4-BE49-F238E27FC236}">
                  <a16:creationId xmlns:a16="http://schemas.microsoft.com/office/drawing/2014/main" id="{5E441CB1-0732-3856-B82B-79DE77EDFE44}"/>
                </a:ext>
              </a:extLst>
            </p:cNvPr>
            <p:cNvSpPr/>
            <p:nvPr/>
          </p:nvSpPr>
          <p:spPr>
            <a:xfrm>
              <a:off x="6920054" y="2244819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23">
                  <a:extLst>
                    <a:ext uri="{FF2B5EF4-FFF2-40B4-BE49-F238E27FC236}">
                      <a16:creationId xmlns:a16="http://schemas.microsoft.com/office/drawing/2014/main" id="{11DBC759-BA8B-4950-F3F6-5AA81D9C057C}"/>
                    </a:ext>
                  </a:extLst>
                </p:cNvPr>
                <p:cNvSpPr txBox="1"/>
                <p:nvPr/>
              </p:nvSpPr>
              <p:spPr>
                <a:xfrm>
                  <a:off x="7360168" y="4019497"/>
                  <a:ext cx="1001167" cy="467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0168" y="4019497"/>
                  <a:ext cx="1001167" cy="46707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Rectangle 35">
              <a:extLst>
                <a:ext uri="{FF2B5EF4-FFF2-40B4-BE49-F238E27FC236}">
                  <a16:creationId xmlns:a16="http://schemas.microsoft.com/office/drawing/2014/main" id="{2EF1D3D0-9C67-6840-052F-D50312ADF1F0}"/>
                </a:ext>
              </a:extLst>
            </p:cNvPr>
            <p:cNvSpPr/>
            <p:nvPr/>
          </p:nvSpPr>
          <p:spPr>
            <a:xfrm rot="5400000">
              <a:off x="5250191" y="3686716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5" name="Straight Arrow Connector 36">
              <a:extLst>
                <a:ext uri="{FF2B5EF4-FFF2-40B4-BE49-F238E27FC236}">
                  <a16:creationId xmlns:a16="http://schemas.microsoft.com/office/drawing/2014/main" id="{3C73BF14-3205-D356-E8E6-D163D65C572B}"/>
                </a:ext>
              </a:extLst>
            </p:cNvPr>
            <p:cNvCxnSpPr/>
            <p:nvPr/>
          </p:nvCxnSpPr>
          <p:spPr>
            <a:xfrm>
              <a:off x="5252394" y="4227065"/>
              <a:ext cx="241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43">
              <a:extLst>
                <a:ext uri="{FF2B5EF4-FFF2-40B4-BE49-F238E27FC236}">
                  <a16:creationId xmlns:a16="http://schemas.microsoft.com/office/drawing/2014/main" id="{414DC7F4-B0AF-DF72-F5AA-D2C3946FBD18}"/>
                </a:ext>
              </a:extLst>
            </p:cNvPr>
            <p:cNvCxnSpPr/>
            <p:nvPr/>
          </p:nvCxnSpPr>
          <p:spPr>
            <a:xfrm flipV="1">
              <a:off x="5252394" y="1827380"/>
              <a:ext cx="0" cy="2412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44">
                  <a:extLst>
                    <a:ext uri="{FF2B5EF4-FFF2-40B4-BE49-F238E27FC236}">
                      <a16:creationId xmlns:a16="http://schemas.microsoft.com/office/drawing/2014/main" id="{8DE4151A-CC72-BE59-AA9C-CE7E0FF28888}"/>
                    </a:ext>
                  </a:extLst>
                </p:cNvPr>
                <p:cNvSpPr txBox="1"/>
                <p:nvPr/>
              </p:nvSpPr>
              <p:spPr>
                <a:xfrm>
                  <a:off x="4781484" y="1471556"/>
                  <a:ext cx="1001167" cy="467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484" y="1471556"/>
                  <a:ext cx="1001167" cy="46707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Straight Connector 46">
              <a:extLst>
                <a:ext uri="{FF2B5EF4-FFF2-40B4-BE49-F238E27FC236}">
                  <a16:creationId xmlns:a16="http://schemas.microsoft.com/office/drawing/2014/main" id="{276150E5-C691-28FF-A4A1-9A4BE695FC14}"/>
                </a:ext>
              </a:extLst>
            </p:cNvPr>
            <p:cNvCxnSpPr/>
            <p:nvPr/>
          </p:nvCxnSpPr>
          <p:spPr>
            <a:xfrm flipV="1">
              <a:off x="5251694" y="2065591"/>
              <a:ext cx="1627631" cy="162188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47">
              <a:extLst>
                <a:ext uri="{FF2B5EF4-FFF2-40B4-BE49-F238E27FC236}">
                  <a16:creationId xmlns:a16="http://schemas.microsoft.com/office/drawing/2014/main" id="{9C733B1E-D319-F58A-B08A-62B045ECFB02}"/>
                </a:ext>
              </a:extLst>
            </p:cNvPr>
            <p:cNvSpPr txBox="1"/>
            <p:nvPr/>
          </p:nvSpPr>
          <p:spPr>
            <a:xfrm>
              <a:off x="5074370" y="4180493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0</a:t>
              </a:r>
            </a:p>
          </p:txBody>
        </p:sp>
        <p:sp>
          <p:nvSpPr>
            <p:cNvPr id="80" name="TextBox 48">
              <a:extLst>
                <a:ext uri="{FF2B5EF4-FFF2-40B4-BE49-F238E27FC236}">
                  <a16:creationId xmlns:a16="http://schemas.microsoft.com/office/drawing/2014/main" id="{8EB74DC8-111C-00B9-F7DA-CC6ED424F3E4}"/>
                </a:ext>
              </a:extLst>
            </p:cNvPr>
            <p:cNvSpPr txBox="1"/>
            <p:nvPr/>
          </p:nvSpPr>
          <p:spPr>
            <a:xfrm>
              <a:off x="5024915" y="3544589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</a:t>
              </a:r>
            </a:p>
          </p:txBody>
        </p:sp>
        <p:sp>
          <p:nvSpPr>
            <p:cNvPr id="81" name="TextBox 49">
              <a:extLst>
                <a:ext uri="{FF2B5EF4-FFF2-40B4-BE49-F238E27FC236}">
                  <a16:creationId xmlns:a16="http://schemas.microsoft.com/office/drawing/2014/main" id="{099AAD58-42B0-B96F-25A2-8FD3F16B5572}"/>
                </a:ext>
              </a:extLst>
            </p:cNvPr>
            <p:cNvSpPr txBox="1"/>
            <p:nvPr/>
          </p:nvSpPr>
          <p:spPr>
            <a:xfrm>
              <a:off x="5024915" y="3009222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</a:t>
              </a:r>
            </a:p>
          </p:txBody>
        </p:sp>
        <p:sp>
          <p:nvSpPr>
            <p:cNvPr id="82" name="TextBox 50">
              <a:extLst>
                <a:ext uri="{FF2B5EF4-FFF2-40B4-BE49-F238E27FC236}">
                  <a16:creationId xmlns:a16="http://schemas.microsoft.com/office/drawing/2014/main" id="{D7631B42-9D90-F8C9-7AA9-8970355DF2A2}"/>
                </a:ext>
              </a:extLst>
            </p:cNvPr>
            <p:cNvSpPr txBox="1"/>
            <p:nvPr/>
          </p:nvSpPr>
          <p:spPr>
            <a:xfrm>
              <a:off x="5024915" y="246968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</a:t>
              </a:r>
            </a:p>
          </p:txBody>
        </p:sp>
        <p:sp>
          <p:nvSpPr>
            <p:cNvPr id="83" name="TextBox 51">
              <a:extLst>
                <a:ext uri="{FF2B5EF4-FFF2-40B4-BE49-F238E27FC236}">
                  <a16:creationId xmlns:a16="http://schemas.microsoft.com/office/drawing/2014/main" id="{CA8AEF4F-B8D2-E5AD-1523-7FA3D45A47C6}"/>
                </a:ext>
              </a:extLst>
            </p:cNvPr>
            <p:cNvSpPr txBox="1"/>
            <p:nvPr/>
          </p:nvSpPr>
          <p:spPr>
            <a:xfrm>
              <a:off x="5025998" y="1946408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</a:t>
              </a:r>
            </a:p>
          </p:txBody>
        </p:sp>
        <p:sp>
          <p:nvSpPr>
            <p:cNvPr id="84" name="TextBox 52">
              <a:extLst>
                <a:ext uri="{FF2B5EF4-FFF2-40B4-BE49-F238E27FC236}">
                  <a16:creationId xmlns:a16="http://schemas.microsoft.com/office/drawing/2014/main" id="{E4BCBBAD-3447-638D-8F4B-331EEA858B64}"/>
                </a:ext>
              </a:extLst>
            </p:cNvPr>
            <p:cNvSpPr txBox="1"/>
            <p:nvPr/>
          </p:nvSpPr>
          <p:spPr>
            <a:xfrm>
              <a:off x="5663911" y="4194402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</a:t>
              </a:r>
            </a:p>
          </p:txBody>
        </p:sp>
        <p:sp>
          <p:nvSpPr>
            <p:cNvPr id="85" name="TextBox 53">
              <a:extLst>
                <a:ext uri="{FF2B5EF4-FFF2-40B4-BE49-F238E27FC236}">
                  <a16:creationId xmlns:a16="http://schemas.microsoft.com/office/drawing/2014/main" id="{9AAFDDD9-423A-1CA6-A60F-8838E3A2168F}"/>
                </a:ext>
              </a:extLst>
            </p:cNvPr>
            <p:cNvSpPr txBox="1"/>
            <p:nvPr/>
          </p:nvSpPr>
          <p:spPr>
            <a:xfrm>
              <a:off x="6204000" y="419346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</a:t>
              </a:r>
            </a:p>
          </p:txBody>
        </p:sp>
        <p:sp>
          <p:nvSpPr>
            <p:cNvPr id="86" name="TextBox 54">
              <a:extLst>
                <a:ext uri="{FF2B5EF4-FFF2-40B4-BE49-F238E27FC236}">
                  <a16:creationId xmlns:a16="http://schemas.microsoft.com/office/drawing/2014/main" id="{D4586FA2-50AD-AF82-E018-77A4F89364C7}"/>
                </a:ext>
              </a:extLst>
            </p:cNvPr>
            <p:cNvSpPr txBox="1"/>
            <p:nvPr/>
          </p:nvSpPr>
          <p:spPr>
            <a:xfrm>
              <a:off x="6754934" y="4193807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</a:t>
              </a:r>
            </a:p>
          </p:txBody>
        </p:sp>
        <p:sp>
          <p:nvSpPr>
            <p:cNvPr id="87" name="TextBox 55">
              <a:extLst>
                <a:ext uri="{FF2B5EF4-FFF2-40B4-BE49-F238E27FC236}">
                  <a16:creationId xmlns:a16="http://schemas.microsoft.com/office/drawing/2014/main" id="{1A28826F-CE91-EC81-B018-3A20FE542CA0}"/>
                </a:ext>
              </a:extLst>
            </p:cNvPr>
            <p:cNvSpPr txBox="1"/>
            <p:nvPr/>
          </p:nvSpPr>
          <p:spPr>
            <a:xfrm>
              <a:off x="7277932" y="419346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</a:t>
              </a:r>
            </a:p>
          </p:txBody>
        </p:sp>
        <p:sp>
          <p:nvSpPr>
            <p:cNvPr id="88" name="Rectangle 45">
              <a:extLst>
                <a:ext uri="{FF2B5EF4-FFF2-40B4-BE49-F238E27FC236}">
                  <a16:creationId xmlns:a16="http://schemas.microsoft.com/office/drawing/2014/main" id="{23254CDF-4E3F-B861-1A9D-1B9BBFBE9B8E}"/>
                </a:ext>
              </a:extLst>
            </p:cNvPr>
            <p:cNvSpPr/>
            <p:nvPr/>
          </p:nvSpPr>
          <p:spPr>
            <a:xfrm rot="5400000">
              <a:off x="5794458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Rectangle 57">
              <a:extLst>
                <a:ext uri="{FF2B5EF4-FFF2-40B4-BE49-F238E27FC236}">
                  <a16:creationId xmlns:a16="http://schemas.microsoft.com/office/drawing/2014/main" id="{4536833C-6783-11AA-DBA8-7FF921EFF45A}"/>
                </a:ext>
              </a:extLst>
            </p:cNvPr>
            <p:cNvSpPr/>
            <p:nvPr/>
          </p:nvSpPr>
          <p:spPr>
            <a:xfrm rot="5400000">
              <a:off x="6337913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Rectangle 58">
              <a:extLst>
                <a:ext uri="{FF2B5EF4-FFF2-40B4-BE49-F238E27FC236}">
                  <a16:creationId xmlns:a16="http://schemas.microsoft.com/office/drawing/2014/main" id="{B7643E05-5FBD-8578-2C68-60517383B5AC}"/>
                </a:ext>
              </a:extLst>
            </p:cNvPr>
            <p:cNvSpPr/>
            <p:nvPr/>
          </p:nvSpPr>
          <p:spPr>
            <a:xfrm rot="5400000">
              <a:off x="6879325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1" name="Rectangle 59">
              <a:extLst>
                <a:ext uri="{FF2B5EF4-FFF2-40B4-BE49-F238E27FC236}">
                  <a16:creationId xmlns:a16="http://schemas.microsoft.com/office/drawing/2014/main" id="{0DCD453D-CB4C-D4A7-4176-29BB7B44F03D}"/>
                </a:ext>
              </a:extLst>
            </p:cNvPr>
            <p:cNvSpPr/>
            <p:nvPr/>
          </p:nvSpPr>
          <p:spPr>
            <a:xfrm rot="5400000">
              <a:off x="5253990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Rectangle 60">
              <a:extLst>
                <a:ext uri="{FF2B5EF4-FFF2-40B4-BE49-F238E27FC236}">
                  <a16:creationId xmlns:a16="http://schemas.microsoft.com/office/drawing/2014/main" id="{2CFF6AA0-A741-D9AC-7EB6-D1C06A007E6E}"/>
                </a:ext>
              </a:extLst>
            </p:cNvPr>
            <p:cNvSpPr/>
            <p:nvPr/>
          </p:nvSpPr>
          <p:spPr>
            <a:xfrm rot="5400000">
              <a:off x="5795508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3" name="Rectangle 61">
              <a:extLst>
                <a:ext uri="{FF2B5EF4-FFF2-40B4-BE49-F238E27FC236}">
                  <a16:creationId xmlns:a16="http://schemas.microsoft.com/office/drawing/2014/main" id="{E63B669A-0B88-3351-DE15-FCE664BB2896}"/>
                </a:ext>
              </a:extLst>
            </p:cNvPr>
            <p:cNvSpPr/>
            <p:nvPr/>
          </p:nvSpPr>
          <p:spPr>
            <a:xfrm rot="5400000">
              <a:off x="6337913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4" name="Rectangle 62">
              <a:extLst>
                <a:ext uri="{FF2B5EF4-FFF2-40B4-BE49-F238E27FC236}">
                  <a16:creationId xmlns:a16="http://schemas.microsoft.com/office/drawing/2014/main" id="{564A3FC0-A340-C039-CDCE-EAE26E443D50}"/>
                </a:ext>
              </a:extLst>
            </p:cNvPr>
            <p:cNvSpPr/>
            <p:nvPr/>
          </p:nvSpPr>
          <p:spPr>
            <a:xfrm rot="5400000">
              <a:off x="6879325" y="314578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5" name="Rectangle 63">
              <a:extLst>
                <a:ext uri="{FF2B5EF4-FFF2-40B4-BE49-F238E27FC236}">
                  <a16:creationId xmlns:a16="http://schemas.microsoft.com/office/drawing/2014/main" id="{B6424DF6-BCDE-B38A-840B-94878A526B23}"/>
                </a:ext>
              </a:extLst>
            </p:cNvPr>
            <p:cNvSpPr/>
            <p:nvPr/>
          </p:nvSpPr>
          <p:spPr>
            <a:xfrm rot="5400000">
              <a:off x="5252850" y="2605657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6" name="Rectangle 64">
              <a:extLst>
                <a:ext uri="{FF2B5EF4-FFF2-40B4-BE49-F238E27FC236}">
                  <a16:creationId xmlns:a16="http://schemas.microsoft.com/office/drawing/2014/main" id="{6740E770-FD9C-13C7-4ED7-FB7F549D75FA}"/>
                </a:ext>
              </a:extLst>
            </p:cNvPr>
            <p:cNvSpPr/>
            <p:nvPr/>
          </p:nvSpPr>
          <p:spPr>
            <a:xfrm rot="5400000">
              <a:off x="5794739" y="2605571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7" name="Rectangle 65">
              <a:extLst>
                <a:ext uri="{FF2B5EF4-FFF2-40B4-BE49-F238E27FC236}">
                  <a16:creationId xmlns:a16="http://schemas.microsoft.com/office/drawing/2014/main" id="{71FB09BB-5380-5382-3E05-F4A7D67BD650}"/>
                </a:ext>
              </a:extLst>
            </p:cNvPr>
            <p:cNvSpPr/>
            <p:nvPr/>
          </p:nvSpPr>
          <p:spPr>
            <a:xfrm rot="5400000">
              <a:off x="6337913" y="260521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8" name="Rectangle 66">
              <a:extLst>
                <a:ext uri="{FF2B5EF4-FFF2-40B4-BE49-F238E27FC236}">
                  <a16:creationId xmlns:a16="http://schemas.microsoft.com/office/drawing/2014/main" id="{560EBFDA-1461-99F4-7FF4-B421F799A683}"/>
                </a:ext>
              </a:extLst>
            </p:cNvPr>
            <p:cNvSpPr/>
            <p:nvPr/>
          </p:nvSpPr>
          <p:spPr>
            <a:xfrm rot="5400000">
              <a:off x="6876584" y="260681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9" name="Rectangle 67">
              <a:extLst>
                <a:ext uri="{FF2B5EF4-FFF2-40B4-BE49-F238E27FC236}">
                  <a16:creationId xmlns:a16="http://schemas.microsoft.com/office/drawing/2014/main" id="{328A587F-F15E-35CE-18A9-6E4677DD5407}"/>
                </a:ext>
              </a:extLst>
            </p:cNvPr>
            <p:cNvSpPr/>
            <p:nvPr/>
          </p:nvSpPr>
          <p:spPr>
            <a:xfrm rot="5400000">
              <a:off x="5255448" y="206620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0" name="Rectangle 68">
              <a:extLst>
                <a:ext uri="{FF2B5EF4-FFF2-40B4-BE49-F238E27FC236}">
                  <a16:creationId xmlns:a16="http://schemas.microsoft.com/office/drawing/2014/main" id="{717AB771-049C-E1F4-E1A2-AB1A30FA9FA6}"/>
                </a:ext>
              </a:extLst>
            </p:cNvPr>
            <p:cNvSpPr/>
            <p:nvPr/>
          </p:nvSpPr>
          <p:spPr>
            <a:xfrm rot="5400000">
              <a:off x="5797975" y="2067041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1" name="Rectangle 69">
              <a:extLst>
                <a:ext uri="{FF2B5EF4-FFF2-40B4-BE49-F238E27FC236}">
                  <a16:creationId xmlns:a16="http://schemas.microsoft.com/office/drawing/2014/main" id="{AE9F8F3D-8379-85E1-D832-1EFCC08EC161}"/>
                </a:ext>
              </a:extLst>
            </p:cNvPr>
            <p:cNvSpPr/>
            <p:nvPr/>
          </p:nvSpPr>
          <p:spPr>
            <a:xfrm rot="5400000">
              <a:off x="6336382" y="206761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2" name="Rectangle 70">
              <a:extLst>
                <a:ext uri="{FF2B5EF4-FFF2-40B4-BE49-F238E27FC236}">
                  <a16:creationId xmlns:a16="http://schemas.microsoft.com/office/drawing/2014/main" id="{0296EAEF-21CC-BA7C-9A9C-8FAB137D4C8F}"/>
                </a:ext>
              </a:extLst>
            </p:cNvPr>
            <p:cNvSpPr/>
            <p:nvPr/>
          </p:nvSpPr>
          <p:spPr>
            <a:xfrm rot="5400000">
              <a:off x="6877913" y="206620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" name="Isosceles Triangle 73">
              <a:extLst>
                <a:ext uri="{FF2B5EF4-FFF2-40B4-BE49-F238E27FC236}">
                  <a16:creationId xmlns:a16="http://schemas.microsoft.com/office/drawing/2014/main" id="{B51D8FDA-A2A2-67D2-6665-DC4752058981}"/>
                </a:ext>
              </a:extLst>
            </p:cNvPr>
            <p:cNvSpPr/>
            <p:nvPr/>
          </p:nvSpPr>
          <p:spPr>
            <a:xfrm>
              <a:off x="5518764" y="3476007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4" name="Isosceles Triangle 74">
              <a:extLst>
                <a:ext uri="{FF2B5EF4-FFF2-40B4-BE49-F238E27FC236}">
                  <a16:creationId xmlns:a16="http://schemas.microsoft.com/office/drawing/2014/main" id="{874D7E6E-A039-DF47-0A40-2D860D0D6A1F}"/>
                </a:ext>
              </a:extLst>
            </p:cNvPr>
            <p:cNvSpPr/>
            <p:nvPr/>
          </p:nvSpPr>
          <p:spPr>
            <a:xfrm>
              <a:off x="6594489" y="3181056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5" name="Isosceles Triangle 75">
              <a:extLst>
                <a:ext uri="{FF2B5EF4-FFF2-40B4-BE49-F238E27FC236}">
                  <a16:creationId xmlns:a16="http://schemas.microsoft.com/office/drawing/2014/main" id="{AB3161B6-C712-D209-F00F-C0470B547387}"/>
                </a:ext>
              </a:extLst>
            </p:cNvPr>
            <p:cNvSpPr/>
            <p:nvPr/>
          </p:nvSpPr>
          <p:spPr>
            <a:xfrm>
              <a:off x="6993083" y="2692118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6" name="Isosceles Triangle 76">
              <a:extLst>
                <a:ext uri="{FF2B5EF4-FFF2-40B4-BE49-F238E27FC236}">
                  <a16:creationId xmlns:a16="http://schemas.microsoft.com/office/drawing/2014/main" id="{F2562716-3534-F5E6-59B8-971FFC5F5540}"/>
                </a:ext>
              </a:extLst>
            </p:cNvPr>
            <p:cNvSpPr/>
            <p:nvPr/>
          </p:nvSpPr>
          <p:spPr>
            <a:xfrm>
              <a:off x="5376898" y="3856497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" name="Isosceles Triangle 77">
              <a:extLst>
                <a:ext uri="{FF2B5EF4-FFF2-40B4-BE49-F238E27FC236}">
                  <a16:creationId xmlns:a16="http://schemas.microsoft.com/office/drawing/2014/main" id="{68D5851B-0F91-BF8E-4DC4-0B12A785F289}"/>
                </a:ext>
              </a:extLst>
            </p:cNvPr>
            <p:cNvSpPr/>
            <p:nvPr/>
          </p:nvSpPr>
          <p:spPr>
            <a:xfrm>
              <a:off x="6680555" y="2380414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8" name="Oval 11">
              <a:extLst>
                <a:ext uri="{FF2B5EF4-FFF2-40B4-BE49-F238E27FC236}">
                  <a16:creationId xmlns:a16="http://schemas.microsoft.com/office/drawing/2014/main" id="{C6D2D7F0-3DA4-AA9F-D600-D3EA1B16F4EA}"/>
                </a:ext>
              </a:extLst>
            </p:cNvPr>
            <p:cNvSpPr/>
            <p:nvPr/>
          </p:nvSpPr>
          <p:spPr>
            <a:xfrm>
              <a:off x="6262720" y="212016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Rectangle 71">
                  <a:extLst>
                    <a:ext uri="{FF2B5EF4-FFF2-40B4-BE49-F238E27FC236}">
                      <a16:creationId xmlns:a16="http://schemas.microsoft.com/office/drawing/2014/main" id="{8E71EFEB-4005-724E-9EFA-199E5FBD6BE5}"/>
                    </a:ext>
                  </a:extLst>
                </p:cNvPr>
                <p:cNvSpPr/>
                <p:nvPr/>
              </p:nvSpPr>
              <p:spPr>
                <a:xfrm>
                  <a:off x="7799045" y="1569141"/>
                  <a:ext cx="7072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72" name="Rectangle 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9045" y="1569141"/>
                  <a:ext cx="707245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Freeform 72">
              <a:extLst>
                <a:ext uri="{FF2B5EF4-FFF2-40B4-BE49-F238E27FC236}">
                  <a16:creationId xmlns:a16="http://schemas.microsoft.com/office/drawing/2014/main" id="{1D9CF7FE-A9E8-5BC7-A557-D41813198BCC}"/>
                </a:ext>
              </a:extLst>
            </p:cNvPr>
            <p:cNvSpPr/>
            <p:nvPr/>
          </p:nvSpPr>
          <p:spPr>
            <a:xfrm>
              <a:off x="6868177" y="1780064"/>
              <a:ext cx="993278" cy="279397"/>
            </a:xfrm>
            <a:custGeom>
              <a:avLst/>
              <a:gdLst>
                <a:gd name="connsiteX0" fmla="*/ 0 w 751114"/>
                <a:gd name="connsiteY0" fmla="*/ 212271 h 212271"/>
                <a:gd name="connsiteX1" fmla="*/ 751114 w 751114"/>
                <a:gd name="connsiteY1" fmla="*/ 0 h 212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1114" h="212271">
                  <a:moveTo>
                    <a:pt x="0" y="212271"/>
                  </a:moveTo>
                  <a:cubicBezTo>
                    <a:pt x="269421" y="131989"/>
                    <a:pt x="538843" y="51707"/>
                    <a:pt x="751114" y="0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96055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E6A71149-3D12-4F5B-CFAD-CB5E31E5AA2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Exemplo: Encontrando os pesos da função discriminante,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E6A71149-3D12-4F5B-CFAD-CB5E31E5AA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406D1FE-9F3C-0C92-B3EF-6F24E0D665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29300" y="1825624"/>
                <a:ext cx="6200775" cy="5032376"/>
              </a:xfrm>
            </p:spPr>
            <p:txBody>
              <a:bodyPr>
                <a:normAutofit/>
              </a:bodyPr>
              <a:lstStyle/>
              <a:p>
                <a:r>
                  <a:rPr lang="pt-BR" b="1" i="1" dirty="0">
                    <a:solidFill>
                      <a:srgbClr val="00B050"/>
                    </a:solidFill>
                  </a:rPr>
                  <a:t>Visualmente</a:t>
                </a:r>
                <a:r>
                  <a:rPr lang="pt-BR" dirty="0"/>
                  <a:t>, nós traçamos a reta em uma posição que separe as classes da melhor forma possível.</a:t>
                </a:r>
              </a:p>
              <a:p>
                <a:r>
                  <a:rPr lang="pt-BR" dirty="0"/>
                  <a:t>A </a:t>
                </a:r>
                <a:r>
                  <a:rPr lang="pt-BR" b="1" i="1" dirty="0"/>
                  <a:t>função discriminante </a:t>
                </a:r>
                <a:r>
                  <a:rPr lang="pt-BR" dirty="0"/>
                  <a:t>que representa esta reta é definida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Agora que definimos o formato da função e sua posição no gráfico, precisamos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encontrar os pesos</a:t>
                </a:r>
                <a:r>
                  <a:rPr lang="pt-BR" dirty="0"/>
                  <a:t> e, com isso,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definir as regiões de decisão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Como podemos encontrar os pesos?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406D1FE-9F3C-0C92-B3EF-6F24E0D66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29300" y="1825624"/>
                <a:ext cx="6200775" cy="5032376"/>
              </a:xfrm>
              <a:blipFill>
                <a:blip r:embed="rId3"/>
                <a:stretch>
                  <a:fillRect l="-1770" t="-1937" r="-1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60563BF-B64C-5EEB-D453-CEEC94869E4C}"/>
              </a:ext>
            </a:extLst>
          </p:cNvPr>
          <p:cNvGrpSpPr/>
          <p:nvPr/>
        </p:nvGrpSpPr>
        <p:grpSpPr>
          <a:xfrm>
            <a:off x="1077062" y="2370208"/>
            <a:ext cx="3773884" cy="3073148"/>
            <a:chOff x="4781484" y="1471556"/>
            <a:chExt cx="3773884" cy="3073148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640E0144-5597-99E8-C833-30E06AFE7678}"/>
                </a:ext>
              </a:extLst>
            </p:cNvPr>
            <p:cNvSpPr/>
            <p:nvPr/>
          </p:nvSpPr>
          <p:spPr>
            <a:xfrm>
              <a:off x="5329942" y="2900769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Isosceles Triangle 6">
              <a:extLst>
                <a:ext uri="{FF2B5EF4-FFF2-40B4-BE49-F238E27FC236}">
                  <a16:creationId xmlns:a16="http://schemas.microsoft.com/office/drawing/2014/main" id="{D961BC48-0820-8C22-18B6-F7AAD9FEA825}"/>
                </a:ext>
              </a:extLst>
            </p:cNvPr>
            <p:cNvSpPr/>
            <p:nvPr/>
          </p:nvSpPr>
          <p:spPr>
            <a:xfrm>
              <a:off x="6475659" y="2759416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54CF6FD7-CC71-4C99-CB24-65088165FD26}"/>
                </a:ext>
              </a:extLst>
            </p:cNvPr>
            <p:cNvSpPr/>
            <p:nvPr/>
          </p:nvSpPr>
          <p:spPr>
            <a:xfrm>
              <a:off x="5305099" y="2146283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C7DD2C36-0991-6C5D-F0A6-F1EE8F16D1C1}"/>
                </a:ext>
              </a:extLst>
            </p:cNvPr>
            <p:cNvSpPr/>
            <p:nvPr/>
          </p:nvSpPr>
          <p:spPr>
            <a:xfrm>
              <a:off x="5689347" y="265196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7F4B6B60-DA3D-E820-D471-FDA4C2027EBC}"/>
                </a:ext>
              </a:extLst>
            </p:cNvPr>
            <p:cNvSpPr/>
            <p:nvPr/>
          </p:nvSpPr>
          <p:spPr>
            <a:xfrm>
              <a:off x="5535745" y="2230041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223236FA-907E-EBA0-CB3E-028F0D9E2706}"/>
                </a:ext>
              </a:extLst>
            </p:cNvPr>
            <p:cNvSpPr/>
            <p:nvPr/>
          </p:nvSpPr>
          <p:spPr>
            <a:xfrm>
              <a:off x="5353717" y="2494983"/>
              <a:ext cx="193774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13">
              <a:extLst>
                <a:ext uri="{FF2B5EF4-FFF2-40B4-BE49-F238E27FC236}">
                  <a16:creationId xmlns:a16="http://schemas.microsoft.com/office/drawing/2014/main" id="{7B119CDE-38FF-635E-79E3-F03A68592EA6}"/>
                </a:ext>
              </a:extLst>
            </p:cNvPr>
            <p:cNvSpPr/>
            <p:nvPr/>
          </p:nvSpPr>
          <p:spPr>
            <a:xfrm>
              <a:off x="5970773" y="230769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Isosceles Triangle 14">
              <a:extLst>
                <a:ext uri="{FF2B5EF4-FFF2-40B4-BE49-F238E27FC236}">
                  <a16:creationId xmlns:a16="http://schemas.microsoft.com/office/drawing/2014/main" id="{157D094F-6F7C-3800-FAF7-4476B250BC50}"/>
                </a:ext>
              </a:extLst>
            </p:cNvPr>
            <p:cNvSpPr/>
            <p:nvPr/>
          </p:nvSpPr>
          <p:spPr>
            <a:xfrm>
              <a:off x="6659487" y="3873434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Isosceles Triangle 15">
              <a:extLst>
                <a:ext uri="{FF2B5EF4-FFF2-40B4-BE49-F238E27FC236}">
                  <a16:creationId xmlns:a16="http://schemas.microsoft.com/office/drawing/2014/main" id="{E8AAEE5F-0CF0-B811-24D0-B7835F68CE4E}"/>
                </a:ext>
              </a:extLst>
            </p:cNvPr>
            <p:cNvSpPr/>
            <p:nvPr/>
          </p:nvSpPr>
          <p:spPr>
            <a:xfrm>
              <a:off x="6268346" y="3547330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Isosceles Triangle 16">
              <a:extLst>
                <a:ext uri="{FF2B5EF4-FFF2-40B4-BE49-F238E27FC236}">
                  <a16:creationId xmlns:a16="http://schemas.microsoft.com/office/drawing/2014/main" id="{E8819065-C933-D4A6-8B55-4E6598C58FDD}"/>
                </a:ext>
              </a:extLst>
            </p:cNvPr>
            <p:cNvSpPr/>
            <p:nvPr/>
          </p:nvSpPr>
          <p:spPr>
            <a:xfrm>
              <a:off x="5738153" y="3894891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Isosceles Triangle 17">
              <a:extLst>
                <a:ext uri="{FF2B5EF4-FFF2-40B4-BE49-F238E27FC236}">
                  <a16:creationId xmlns:a16="http://schemas.microsoft.com/office/drawing/2014/main" id="{7FBD92D1-C8CF-BF78-4543-562964B60702}"/>
                </a:ext>
              </a:extLst>
            </p:cNvPr>
            <p:cNvSpPr/>
            <p:nvPr/>
          </p:nvSpPr>
          <p:spPr>
            <a:xfrm>
              <a:off x="5865128" y="3390838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Isosceles Triangle 18">
              <a:extLst>
                <a:ext uri="{FF2B5EF4-FFF2-40B4-BE49-F238E27FC236}">
                  <a16:creationId xmlns:a16="http://schemas.microsoft.com/office/drawing/2014/main" id="{44EBC8DE-4048-5DF0-5ADB-96BEF8E86D32}"/>
                </a:ext>
              </a:extLst>
            </p:cNvPr>
            <p:cNvSpPr/>
            <p:nvPr/>
          </p:nvSpPr>
          <p:spPr>
            <a:xfrm>
              <a:off x="6088948" y="3035955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Isosceles Triangle 19">
              <a:extLst>
                <a:ext uri="{FF2B5EF4-FFF2-40B4-BE49-F238E27FC236}">
                  <a16:creationId xmlns:a16="http://schemas.microsoft.com/office/drawing/2014/main" id="{7E80B96D-A671-AD05-5087-000B87489FB7}"/>
                </a:ext>
              </a:extLst>
            </p:cNvPr>
            <p:cNvSpPr/>
            <p:nvPr/>
          </p:nvSpPr>
          <p:spPr>
            <a:xfrm>
              <a:off x="6088892" y="3760762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Isosceles Triangle 20">
              <a:extLst>
                <a:ext uri="{FF2B5EF4-FFF2-40B4-BE49-F238E27FC236}">
                  <a16:creationId xmlns:a16="http://schemas.microsoft.com/office/drawing/2014/main" id="{FE4FB03D-3CA5-8524-7C04-396207CED08F}"/>
                </a:ext>
              </a:extLst>
            </p:cNvPr>
            <p:cNvSpPr/>
            <p:nvPr/>
          </p:nvSpPr>
          <p:spPr>
            <a:xfrm>
              <a:off x="6920054" y="2244819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21">
                  <a:extLst>
                    <a:ext uri="{FF2B5EF4-FFF2-40B4-BE49-F238E27FC236}">
                      <a16:creationId xmlns:a16="http://schemas.microsoft.com/office/drawing/2014/main" id="{98CFA31E-8EBE-FD15-E9A0-8C7D7F4F4263}"/>
                    </a:ext>
                  </a:extLst>
                </p:cNvPr>
                <p:cNvSpPr/>
                <p:nvPr/>
              </p:nvSpPr>
              <p:spPr>
                <a:xfrm>
                  <a:off x="6850107" y="3195866"/>
                  <a:ext cx="49071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0107" y="3195866"/>
                  <a:ext cx="490712" cy="40011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22">
                  <a:extLst>
                    <a:ext uri="{FF2B5EF4-FFF2-40B4-BE49-F238E27FC236}">
                      <a16:creationId xmlns:a16="http://schemas.microsoft.com/office/drawing/2014/main" id="{4F8B8110-A634-BCC2-47C4-7DCDE45C26B6}"/>
                    </a:ext>
                  </a:extLst>
                </p:cNvPr>
                <p:cNvSpPr/>
                <p:nvPr/>
              </p:nvSpPr>
              <p:spPr>
                <a:xfrm>
                  <a:off x="5720241" y="1527875"/>
                  <a:ext cx="490712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0241" y="1527875"/>
                  <a:ext cx="490712" cy="40011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3">
                  <a:extLst>
                    <a:ext uri="{FF2B5EF4-FFF2-40B4-BE49-F238E27FC236}">
                      <a16:creationId xmlns:a16="http://schemas.microsoft.com/office/drawing/2014/main" id="{12319318-275C-0FC4-3ED9-7CBC38F85706}"/>
                    </a:ext>
                  </a:extLst>
                </p:cNvPr>
                <p:cNvSpPr txBox="1"/>
                <p:nvPr/>
              </p:nvSpPr>
              <p:spPr>
                <a:xfrm>
                  <a:off x="7360168" y="4019497"/>
                  <a:ext cx="1001167" cy="467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0168" y="4019497"/>
                  <a:ext cx="1001167" cy="46707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5">
                  <a:extLst>
                    <a:ext uri="{FF2B5EF4-FFF2-40B4-BE49-F238E27FC236}">
                      <a16:creationId xmlns:a16="http://schemas.microsoft.com/office/drawing/2014/main" id="{15E9639C-E60F-C5AF-21DF-78CC837FD73E}"/>
                    </a:ext>
                  </a:extLst>
                </p:cNvPr>
                <p:cNvSpPr/>
                <p:nvPr/>
              </p:nvSpPr>
              <p:spPr>
                <a:xfrm>
                  <a:off x="7254594" y="3212581"/>
                  <a:ext cx="1300774" cy="46707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?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4594" y="3212581"/>
                  <a:ext cx="1300774" cy="46707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6">
                  <a:extLst>
                    <a:ext uri="{FF2B5EF4-FFF2-40B4-BE49-F238E27FC236}">
                      <a16:creationId xmlns:a16="http://schemas.microsoft.com/office/drawing/2014/main" id="{5068A8DF-2713-C92C-B6F0-0259DF9D58C3}"/>
                    </a:ext>
                  </a:extLst>
                </p:cNvPr>
                <p:cNvSpPr/>
                <p:nvPr/>
              </p:nvSpPr>
              <p:spPr>
                <a:xfrm>
                  <a:off x="6140461" y="1526710"/>
                  <a:ext cx="1300774" cy="46707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?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0461" y="1526710"/>
                  <a:ext cx="1300774" cy="46707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Rectangle 35">
              <a:extLst>
                <a:ext uri="{FF2B5EF4-FFF2-40B4-BE49-F238E27FC236}">
                  <a16:creationId xmlns:a16="http://schemas.microsoft.com/office/drawing/2014/main" id="{C315E367-78E0-438E-1DB1-1371AEF43B3A}"/>
                </a:ext>
              </a:extLst>
            </p:cNvPr>
            <p:cNvSpPr/>
            <p:nvPr/>
          </p:nvSpPr>
          <p:spPr>
            <a:xfrm rot="5400000">
              <a:off x="5250191" y="3686716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5" name="Straight Arrow Connector 36">
              <a:extLst>
                <a:ext uri="{FF2B5EF4-FFF2-40B4-BE49-F238E27FC236}">
                  <a16:creationId xmlns:a16="http://schemas.microsoft.com/office/drawing/2014/main" id="{9EA916E6-02A4-0A96-C4AC-326F542C0901}"/>
                </a:ext>
              </a:extLst>
            </p:cNvPr>
            <p:cNvCxnSpPr/>
            <p:nvPr/>
          </p:nvCxnSpPr>
          <p:spPr>
            <a:xfrm>
              <a:off x="5252394" y="4227065"/>
              <a:ext cx="241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43">
              <a:extLst>
                <a:ext uri="{FF2B5EF4-FFF2-40B4-BE49-F238E27FC236}">
                  <a16:creationId xmlns:a16="http://schemas.microsoft.com/office/drawing/2014/main" id="{14FC6EB1-62DC-1E25-28FE-D6397B3DB0BF}"/>
                </a:ext>
              </a:extLst>
            </p:cNvPr>
            <p:cNvCxnSpPr/>
            <p:nvPr/>
          </p:nvCxnSpPr>
          <p:spPr>
            <a:xfrm flipV="1">
              <a:off x="5252394" y="1827380"/>
              <a:ext cx="0" cy="2412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44">
                  <a:extLst>
                    <a:ext uri="{FF2B5EF4-FFF2-40B4-BE49-F238E27FC236}">
                      <a16:creationId xmlns:a16="http://schemas.microsoft.com/office/drawing/2014/main" id="{2EE27188-2380-072C-64EB-4A4D9E32C708}"/>
                    </a:ext>
                  </a:extLst>
                </p:cNvPr>
                <p:cNvSpPr txBox="1"/>
                <p:nvPr/>
              </p:nvSpPr>
              <p:spPr>
                <a:xfrm>
                  <a:off x="4781484" y="1471556"/>
                  <a:ext cx="1001167" cy="467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484" y="1471556"/>
                  <a:ext cx="1001167" cy="46707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46">
              <a:extLst>
                <a:ext uri="{FF2B5EF4-FFF2-40B4-BE49-F238E27FC236}">
                  <a16:creationId xmlns:a16="http://schemas.microsoft.com/office/drawing/2014/main" id="{041E08B9-9EFA-200C-5EAD-4C4935276E35}"/>
                </a:ext>
              </a:extLst>
            </p:cNvPr>
            <p:cNvCxnSpPr/>
            <p:nvPr/>
          </p:nvCxnSpPr>
          <p:spPr>
            <a:xfrm flipV="1">
              <a:off x="5251694" y="2065591"/>
              <a:ext cx="1627631" cy="162188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47">
              <a:extLst>
                <a:ext uri="{FF2B5EF4-FFF2-40B4-BE49-F238E27FC236}">
                  <a16:creationId xmlns:a16="http://schemas.microsoft.com/office/drawing/2014/main" id="{1459452D-6032-F0FA-B184-6F9A3091A541}"/>
                </a:ext>
              </a:extLst>
            </p:cNvPr>
            <p:cNvSpPr txBox="1"/>
            <p:nvPr/>
          </p:nvSpPr>
          <p:spPr>
            <a:xfrm>
              <a:off x="5074370" y="4180493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0</a:t>
              </a:r>
            </a:p>
          </p:txBody>
        </p:sp>
        <p:sp>
          <p:nvSpPr>
            <p:cNvPr id="30" name="TextBox 48">
              <a:extLst>
                <a:ext uri="{FF2B5EF4-FFF2-40B4-BE49-F238E27FC236}">
                  <a16:creationId xmlns:a16="http://schemas.microsoft.com/office/drawing/2014/main" id="{C8E0C301-2CD6-4F8E-0368-45305C473663}"/>
                </a:ext>
              </a:extLst>
            </p:cNvPr>
            <p:cNvSpPr txBox="1"/>
            <p:nvPr/>
          </p:nvSpPr>
          <p:spPr>
            <a:xfrm>
              <a:off x="5024915" y="3544589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</a:t>
              </a:r>
            </a:p>
          </p:txBody>
        </p:sp>
        <p:sp>
          <p:nvSpPr>
            <p:cNvPr id="31" name="TextBox 49">
              <a:extLst>
                <a:ext uri="{FF2B5EF4-FFF2-40B4-BE49-F238E27FC236}">
                  <a16:creationId xmlns:a16="http://schemas.microsoft.com/office/drawing/2014/main" id="{C2772B3D-DFC6-F0E1-7D7E-7284B664AB22}"/>
                </a:ext>
              </a:extLst>
            </p:cNvPr>
            <p:cNvSpPr txBox="1"/>
            <p:nvPr/>
          </p:nvSpPr>
          <p:spPr>
            <a:xfrm>
              <a:off x="5024915" y="3009222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</a:t>
              </a:r>
            </a:p>
          </p:txBody>
        </p:sp>
        <p:sp>
          <p:nvSpPr>
            <p:cNvPr id="32" name="TextBox 50">
              <a:extLst>
                <a:ext uri="{FF2B5EF4-FFF2-40B4-BE49-F238E27FC236}">
                  <a16:creationId xmlns:a16="http://schemas.microsoft.com/office/drawing/2014/main" id="{48FA6900-981E-DA5D-658A-54E0AE253B45}"/>
                </a:ext>
              </a:extLst>
            </p:cNvPr>
            <p:cNvSpPr txBox="1"/>
            <p:nvPr/>
          </p:nvSpPr>
          <p:spPr>
            <a:xfrm>
              <a:off x="5024915" y="246968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</a:t>
              </a:r>
            </a:p>
          </p:txBody>
        </p:sp>
        <p:sp>
          <p:nvSpPr>
            <p:cNvPr id="33" name="TextBox 51">
              <a:extLst>
                <a:ext uri="{FF2B5EF4-FFF2-40B4-BE49-F238E27FC236}">
                  <a16:creationId xmlns:a16="http://schemas.microsoft.com/office/drawing/2014/main" id="{63E8D778-4B29-3C55-F319-A67FBE223AE1}"/>
                </a:ext>
              </a:extLst>
            </p:cNvPr>
            <p:cNvSpPr txBox="1"/>
            <p:nvPr/>
          </p:nvSpPr>
          <p:spPr>
            <a:xfrm>
              <a:off x="5025998" y="1946408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</a:t>
              </a:r>
            </a:p>
          </p:txBody>
        </p:sp>
        <p:sp>
          <p:nvSpPr>
            <p:cNvPr id="34" name="TextBox 52">
              <a:extLst>
                <a:ext uri="{FF2B5EF4-FFF2-40B4-BE49-F238E27FC236}">
                  <a16:creationId xmlns:a16="http://schemas.microsoft.com/office/drawing/2014/main" id="{02A1578E-16D7-F09B-6585-EFA8AADA15CD}"/>
                </a:ext>
              </a:extLst>
            </p:cNvPr>
            <p:cNvSpPr txBox="1"/>
            <p:nvPr/>
          </p:nvSpPr>
          <p:spPr>
            <a:xfrm>
              <a:off x="5663911" y="4194402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</a:t>
              </a:r>
            </a:p>
          </p:txBody>
        </p:sp>
        <p:sp>
          <p:nvSpPr>
            <p:cNvPr id="35" name="TextBox 53">
              <a:extLst>
                <a:ext uri="{FF2B5EF4-FFF2-40B4-BE49-F238E27FC236}">
                  <a16:creationId xmlns:a16="http://schemas.microsoft.com/office/drawing/2014/main" id="{DA209521-823B-C94F-553F-F8D507BE793E}"/>
                </a:ext>
              </a:extLst>
            </p:cNvPr>
            <p:cNvSpPr txBox="1"/>
            <p:nvPr/>
          </p:nvSpPr>
          <p:spPr>
            <a:xfrm>
              <a:off x="6204000" y="419346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</a:t>
              </a:r>
            </a:p>
          </p:txBody>
        </p:sp>
        <p:sp>
          <p:nvSpPr>
            <p:cNvPr id="36" name="TextBox 54">
              <a:extLst>
                <a:ext uri="{FF2B5EF4-FFF2-40B4-BE49-F238E27FC236}">
                  <a16:creationId xmlns:a16="http://schemas.microsoft.com/office/drawing/2014/main" id="{FA2E93F7-A5E6-F0D5-6904-7D62BBBD944B}"/>
                </a:ext>
              </a:extLst>
            </p:cNvPr>
            <p:cNvSpPr txBox="1"/>
            <p:nvPr/>
          </p:nvSpPr>
          <p:spPr>
            <a:xfrm>
              <a:off x="6754934" y="4193807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</a:t>
              </a:r>
            </a:p>
          </p:txBody>
        </p:sp>
        <p:sp>
          <p:nvSpPr>
            <p:cNvPr id="37" name="TextBox 55">
              <a:extLst>
                <a:ext uri="{FF2B5EF4-FFF2-40B4-BE49-F238E27FC236}">
                  <a16:creationId xmlns:a16="http://schemas.microsoft.com/office/drawing/2014/main" id="{14394B16-918A-997F-1557-95FFCF2694CA}"/>
                </a:ext>
              </a:extLst>
            </p:cNvPr>
            <p:cNvSpPr txBox="1"/>
            <p:nvPr/>
          </p:nvSpPr>
          <p:spPr>
            <a:xfrm>
              <a:off x="7277932" y="419346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</a:t>
              </a:r>
            </a:p>
          </p:txBody>
        </p:sp>
        <p:sp>
          <p:nvSpPr>
            <p:cNvPr id="38" name="Rectangle 45">
              <a:extLst>
                <a:ext uri="{FF2B5EF4-FFF2-40B4-BE49-F238E27FC236}">
                  <a16:creationId xmlns:a16="http://schemas.microsoft.com/office/drawing/2014/main" id="{215D2CD6-90A2-4DFA-CDEA-1532EEA97534}"/>
                </a:ext>
              </a:extLst>
            </p:cNvPr>
            <p:cNvSpPr/>
            <p:nvPr/>
          </p:nvSpPr>
          <p:spPr>
            <a:xfrm rot="5400000">
              <a:off x="5794458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Rectangle 57">
              <a:extLst>
                <a:ext uri="{FF2B5EF4-FFF2-40B4-BE49-F238E27FC236}">
                  <a16:creationId xmlns:a16="http://schemas.microsoft.com/office/drawing/2014/main" id="{1156C69F-DF41-1D71-BE0E-DDCF670DCB91}"/>
                </a:ext>
              </a:extLst>
            </p:cNvPr>
            <p:cNvSpPr/>
            <p:nvPr/>
          </p:nvSpPr>
          <p:spPr>
            <a:xfrm rot="5400000">
              <a:off x="6337913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Rectangle 58">
              <a:extLst>
                <a:ext uri="{FF2B5EF4-FFF2-40B4-BE49-F238E27FC236}">
                  <a16:creationId xmlns:a16="http://schemas.microsoft.com/office/drawing/2014/main" id="{6069B9FD-8320-FFDA-057E-1673BC2F4ABF}"/>
                </a:ext>
              </a:extLst>
            </p:cNvPr>
            <p:cNvSpPr/>
            <p:nvPr/>
          </p:nvSpPr>
          <p:spPr>
            <a:xfrm rot="5400000">
              <a:off x="6879325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ctangle 59">
              <a:extLst>
                <a:ext uri="{FF2B5EF4-FFF2-40B4-BE49-F238E27FC236}">
                  <a16:creationId xmlns:a16="http://schemas.microsoft.com/office/drawing/2014/main" id="{60461D92-83E4-F583-2232-3729714EC37F}"/>
                </a:ext>
              </a:extLst>
            </p:cNvPr>
            <p:cNvSpPr/>
            <p:nvPr/>
          </p:nvSpPr>
          <p:spPr>
            <a:xfrm rot="5400000">
              <a:off x="5253990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Rectangle 60">
              <a:extLst>
                <a:ext uri="{FF2B5EF4-FFF2-40B4-BE49-F238E27FC236}">
                  <a16:creationId xmlns:a16="http://schemas.microsoft.com/office/drawing/2014/main" id="{85F882FF-7E6A-FB77-FAFE-6F03C810AF6B}"/>
                </a:ext>
              </a:extLst>
            </p:cNvPr>
            <p:cNvSpPr/>
            <p:nvPr/>
          </p:nvSpPr>
          <p:spPr>
            <a:xfrm rot="5400000">
              <a:off x="5795508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Rectangle 61">
              <a:extLst>
                <a:ext uri="{FF2B5EF4-FFF2-40B4-BE49-F238E27FC236}">
                  <a16:creationId xmlns:a16="http://schemas.microsoft.com/office/drawing/2014/main" id="{ED7C62DF-994A-2D16-617A-DF5D75FEE98C}"/>
                </a:ext>
              </a:extLst>
            </p:cNvPr>
            <p:cNvSpPr/>
            <p:nvPr/>
          </p:nvSpPr>
          <p:spPr>
            <a:xfrm rot="5400000">
              <a:off x="6337913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ctangle 62">
              <a:extLst>
                <a:ext uri="{FF2B5EF4-FFF2-40B4-BE49-F238E27FC236}">
                  <a16:creationId xmlns:a16="http://schemas.microsoft.com/office/drawing/2014/main" id="{2BC3E2A8-7479-8FE8-5B18-BE4F695D8CC8}"/>
                </a:ext>
              </a:extLst>
            </p:cNvPr>
            <p:cNvSpPr/>
            <p:nvPr/>
          </p:nvSpPr>
          <p:spPr>
            <a:xfrm rot="5400000">
              <a:off x="6879325" y="314578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Rectangle 63">
              <a:extLst>
                <a:ext uri="{FF2B5EF4-FFF2-40B4-BE49-F238E27FC236}">
                  <a16:creationId xmlns:a16="http://schemas.microsoft.com/office/drawing/2014/main" id="{A65C23ED-46C2-516A-090C-E8F283927CFA}"/>
                </a:ext>
              </a:extLst>
            </p:cNvPr>
            <p:cNvSpPr/>
            <p:nvPr/>
          </p:nvSpPr>
          <p:spPr>
            <a:xfrm rot="5400000">
              <a:off x="5252850" y="2605657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Rectangle 64">
              <a:extLst>
                <a:ext uri="{FF2B5EF4-FFF2-40B4-BE49-F238E27FC236}">
                  <a16:creationId xmlns:a16="http://schemas.microsoft.com/office/drawing/2014/main" id="{4924E85E-AF86-0A9A-067E-CC27D28A2DD4}"/>
                </a:ext>
              </a:extLst>
            </p:cNvPr>
            <p:cNvSpPr/>
            <p:nvPr/>
          </p:nvSpPr>
          <p:spPr>
            <a:xfrm rot="5400000">
              <a:off x="5794739" y="2605571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Rectangle 65">
              <a:extLst>
                <a:ext uri="{FF2B5EF4-FFF2-40B4-BE49-F238E27FC236}">
                  <a16:creationId xmlns:a16="http://schemas.microsoft.com/office/drawing/2014/main" id="{B36994BC-1EEC-FC02-84F5-1CEC2C401A1B}"/>
                </a:ext>
              </a:extLst>
            </p:cNvPr>
            <p:cNvSpPr/>
            <p:nvPr/>
          </p:nvSpPr>
          <p:spPr>
            <a:xfrm rot="5400000">
              <a:off x="6337913" y="260521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Rectangle 66">
              <a:extLst>
                <a:ext uri="{FF2B5EF4-FFF2-40B4-BE49-F238E27FC236}">
                  <a16:creationId xmlns:a16="http://schemas.microsoft.com/office/drawing/2014/main" id="{6AD8E3FC-5F8A-6F8C-6461-684A29387239}"/>
                </a:ext>
              </a:extLst>
            </p:cNvPr>
            <p:cNvSpPr/>
            <p:nvPr/>
          </p:nvSpPr>
          <p:spPr>
            <a:xfrm rot="5400000">
              <a:off x="6876584" y="260681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Rectangle 67">
              <a:extLst>
                <a:ext uri="{FF2B5EF4-FFF2-40B4-BE49-F238E27FC236}">
                  <a16:creationId xmlns:a16="http://schemas.microsoft.com/office/drawing/2014/main" id="{BC5B50D0-5AD5-C5A2-3FFB-4A55C322A0FB}"/>
                </a:ext>
              </a:extLst>
            </p:cNvPr>
            <p:cNvSpPr/>
            <p:nvPr/>
          </p:nvSpPr>
          <p:spPr>
            <a:xfrm rot="5400000">
              <a:off x="5255448" y="206620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ctangle 68">
              <a:extLst>
                <a:ext uri="{FF2B5EF4-FFF2-40B4-BE49-F238E27FC236}">
                  <a16:creationId xmlns:a16="http://schemas.microsoft.com/office/drawing/2014/main" id="{5269ADFD-172A-7A19-0079-7FEB34A1DC8B}"/>
                </a:ext>
              </a:extLst>
            </p:cNvPr>
            <p:cNvSpPr/>
            <p:nvPr/>
          </p:nvSpPr>
          <p:spPr>
            <a:xfrm rot="5400000">
              <a:off x="5797975" y="2067041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ctangle 69">
              <a:extLst>
                <a:ext uri="{FF2B5EF4-FFF2-40B4-BE49-F238E27FC236}">
                  <a16:creationId xmlns:a16="http://schemas.microsoft.com/office/drawing/2014/main" id="{06625F8A-D7F2-C316-4E83-F0EE3613776E}"/>
                </a:ext>
              </a:extLst>
            </p:cNvPr>
            <p:cNvSpPr/>
            <p:nvPr/>
          </p:nvSpPr>
          <p:spPr>
            <a:xfrm rot="5400000">
              <a:off x="6336382" y="206761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Rectangle 70">
              <a:extLst>
                <a:ext uri="{FF2B5EF4-FFF2-40B4-BE49-F238E27FC236}">
                  <a16:creationId xmlns:a16="http://schemas.microsoft.com/office/drawing/2014/main" id="{DEBC4696-877C-EE78-5615-162903AACA6C}"/>
                </a:ext>
              </a:extLst>
            </p:cNvPr>
            <p:cNvSpPr/>
            <p:nvPr/>
          </p:nvSpPr>
          <p:spPr>
            <a:xfrm rot="5400000">
              <a:off x="6877913" y="206620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Isosceles Triangle 73">
              <a:extLst>
                <a:ext uri="{FF2B5EF4-FFF2-40B4-BE49-F238E27FC236}">
                  <a16:creationId xmlns:a16="http://schemas.microsoft.com/office/drawing/2014/main" id="{8F27F061-5624-3BA8-32C3-5DCBB0104981}"/>
                </a:ext>
              </a:extLst>
            </p:cNvPr>
            <p:cNvSpPr/>
            <p:nvPr/>
          </p:nvSpPr>
          <p:spPr>
            <a:xfrm>
              <a:off x="5518764" y="3476007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Isosceles Triangle 74">
              <a:extLst>
                <a:ext uri="{FF2B5EF4-FFF2-40B4-BE49-F238E27FC236}">
                  <a16:creationId xmlns:a16="http://schemas.microsoft.com/office/drawing/2014/main" id="{5CED0B7F-65D7-5DA8-2FC9-88BCD9DD55D4}"/>
                </a:ext>
              </a:extLst>
            </p:cNvPr>
            <p:cNvSpPr/>
            <p:nvPr/>
          </p:nvSpPr>
          <p:spPr>
            <a:xfrm>
              <a:off x="6594489" y="3181056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5" name="Isosceles Triangle 75">
              <a:extLst>
                <a:ext uri="{FF2B5EF4-FFF2-40B4-BE49-F238E27FC236}">
                  <a16:creationId xmlns:a16="http://schemas.microsoft.com/office/drawing/2014/main" id="{4D69BBB3-9987-AC15-4747-073357179928}"/>
                </a:ext>
              </a:extLst>
            </p:cNvPr>
            <p:cNvSpPr/>
            <p:nvPr/>
          </p:nvSpPr>
          <p:spPr>
            <a:xfrm>
              <a:off x="6993083" y="2692118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Isosceles Triangle 76">
              <a:extLst>
                <a:ext uri="{FF2B5EF4-FFF2-40B4-BE49-F238E27FC236}">
                  <a16:creationId xmlns:a16="http://schemas.microsoft.com/office/drawing/2014/main" id="{9E57BCBF-EA54-B1B1-8B8F-F2CC814C875A}"/>
                </a:ext>
              </a:extLst>
            </p:cNvPr>
            <p:cNvSpPr/>
            <p:nvPr/>
          </p:nvSpPr>
          <p:spPr>
            <a:xfrm>
              <a:off x="5376898" y="3856497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Isosceles Triangle 77">
              <a:extLst>
                <a:ext uri="{FF2B5EF4-FFF2-40B4-BE49-F238E27FC236}">
                  <a16:creationId xmlns:a16="http://schemas.microsoft.com/office/drawing/2014/main" id="{B9172EFF-4764-4361-6E17-4C0DD80E58A7}"/>
                </a:ext>
              </a:extLst>
            </p:cNvPr>
            <p:cNvSpPr/>
            <p:nvPr/>
          </p:nvSpPr>
          <p:spPr>
            <a:xfrm>
              <a:off x="6680555" y="2380414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Oval 11">
              <a:extLst>
                <a:ext uri="{FF2B5EF4-FFF2-40B4-BE49-F238E27FC236}">
                  <a16:creationId xmlns:a16="http://schemas.microsoft.com/office/drawing/2014/main" id="{02F600BF-D776-B400-3927-68FC1AE112D6}"/>
                </a:ext>
              </a:extLst>
            </p:cNvPr>
            <p:cNvSpPr/>
            <p:nvPr/>
          </p:nvSpPr>
          <p:spPr>
            <a:xfrm>
              <a:off x="6262720" y="212016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 71">
                  <a:extLst>
                    <a:ext uri="{FF2B5EF4-FFF2-40B4-BE49-F238E27FC236}">
                      <a16:creationId xmlns:a16="http://schemas.microsoft.com/office/drawing/2014/main" id="{F0EC275F-B40D-ED86-7890-D8FE11F77618}"/>
                    </a:ext>
                  </a:extLst>
                </p:cNvPr>
                <p:cNvSpPr/>
                <p:nvPr/>
              </p:nvSpPr>
              <p:spPr>
                <a:xfrm>
                  <a:off x="7799045" y="1569141"/>
                  <a:ext cx="7072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72" name="Rectangle 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9045" y="1569141"/>
                  <a:ext cx="707245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Freeform 72">
              <a:extLst>
                <a:ext uri="{FF2B5EF4-FFF2-40B4-BE49-F238E27FC236}">
                  <a16:creationId xmlns:a16="http://schemas.microsoft.com/office/drawing/2014/main" id="{C468AB1D-D69D-CA57-E21D-0C4FFFDB2462}"/>
                </a:ext>
              </a:extLst>
            </p:cNvPr>
            <p:cNvSpPr/>
            <p:nvPr/>
          </p:nvSpPr>
          <p:spPr>
            <a:xfrm>
              <a:off x="6868177" y="1780064"/>
              <a:ext cx="993278" cy="279397"/>
            </a:xfrm>
            <a:custGeom>
              <a:avLst/>
              <a:gdLst>
                <a:gd name="connsiteX0" fmla="*/ 0 w 751114"/>
                <a:gd name="connsiteY0" fmla="*/ 212271 h 212271"/>
                <a:gd name="connsiteX1" fmla="*/ 751114 w 751114"/>
                <a:gd name="connsiteY1" fmla="*/ 0 h 212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1114" h="212271">
                  <a:moveTo>
                    <a:pt x="0" y="212271"/>
                  </a:moveTo>
                  <a:cubicBezTo>
                    <a:pt x="269421" y="131989"/>
                    <a:pt x="538843" y="51707"/>
                    <a:pt x="751114" y="0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A97F457-7C68-DA7F-75E6-FBB40FEDE666}"/>
                  </a:ext>
                </a:extLst>
              </p:cNvPr>
              <p:cNvSpPr txBox="1"/>
              <p:nvPr/>
            </p:nvSpPr>
            <p:spPr>
              <a:xfrm flipH="1">
                <a:off x="10871507" y="3932032"/>
                <a:ext cx="82636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sz="1600" b="0" i="0" smtClean="0">
                          <a:latin typeface="Cambria Math" panose="02040503050406030204" pitchFamily="18" charset="0"/>
                        </a:rPr>
                        <m:t>plano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A97F457-7C68-DA7F-75E6-FBB40FEDE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871507" y="3932032"/>
                <a:ext cx="826367" cy="338554"/>
              </a:xfrm>
              <a:prstGeom prst="rect">
                <a:avLst/>
              </a:prstGeom>
              <a:blipFill>
                <a:blip r:embed="rId11"/>
                <a:stretch>
                  <a:fillRect r="-2206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5516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4452" y="108877"/>
                <a:ext cx="11545289" cy="1327627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Exemplo: Encontrando os pesos da função discriminante,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4452" y="108877"/>
                <a:ext cx="11545289" cy="1327627"/>
              </a:xfrm>
              <a:blipFill rotWithShape="0">
                <a:blip r:embed="rId3"/>
                <a:stretch>
                  <a:fillRect l="-2166" t="-13303" b="-206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4323043"/>
                <a:ext cx="10970053" cy="253495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Se temos 3 incógnitas, precisamos de um sistema com 3 equações: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=0,</m:t>
                            </m:r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pt-B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/2</a:t>
                </a:r>
              </a:p>
              <a:p>
                <a:r>
                  <a:rPr lang="pt-BR" dirty="0"/>
                  <a:t>Resolvendo o sistema, encontramos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dirty="0"/>
                  <a:t>, então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4323043"/>
                <a:ext cx="10970053" cy="2534956"/>
              </a:xfrm>
              <a:blipFill>
                <a:blip r:embed="rId4"/>
                <a:stretch>
                  <a:fillRect l="-944" t="-52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2" name="Group 191"/>
          <p:cNvGrpSpPr/>
          <p:nvPr/>
        </p:nvGrpSpPr>
        <p:grpSpPr>
          <a:xfrm>
            <a:off x="4862110" y="1249895"/>
            <a:ext cx="4154411" cy="3073148"/>
            <a:chOff x="4781484" y="1471556"/>
            <a:chExt cx="4154411" cy="3073148"/>
          </a:xfrm>
        </p:grpSpPr>
        <p:sp>
          <p:nvSpPr>
            <p:cNvPr id="193" name="Oval 192"/>
            <p:cNvSpPr/>
            <p:nvPr/>
          </p:nvSpPr>
          <p:spPr>
            <a:xfrm>
              <a:off x="5329942" y="2900769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4" name="Isosceles Triangle 193"/>
            <p:cNvSpPr/>
            <p:nvPr/>
          </p:nvSpPr>
          <p:spPr>
            <a:xfrm>
              <a:off x="6475659" y="2759416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5" name="Oval 194"/>
            <p:cNvSpPr/>
            <p:nvPr/>
          </p:nvSpPr>
          <p:spPr>
            <a:xfrm>
              <a:off x="5305099" y="2146283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6" name="Oval 195"/>
            <p:cNvSpPr/>
            <p:nvPr/>
          </p:nvSpPr>
          <p:spPr>
            <a:xfrm>
              <a:off x="5689347" y="265196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7" name="Oval 196"/>
            <p:cNvSpPr/>
            <p:nvPr/>
          </p:nvSpPr>
          <p:spPr>
            <a:xfrm>
              <a:off x="5535745" y="2230041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8" name="Oval 197"/>
            <p:cNvSpPr/>
            <p:nvPr/>
          </p:nvSpPr>
          <p:spPr>
            <a:xfrm>
              <a:off x="5353717" y="2494983"/>
              <a:ext cx="193774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9" name="Oval 198"/>
            <p:cNvSpPr/>
            <p:nvPr/>
          </p:nvSpPr>
          <p:spPr>
            <a:xfrm>
              <a:off x="5970773" y="230769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0" name="Isosceles Triangle 199"/>
            <p:cNvSpPr/>
            <p:nvPr/>
          </p:nvSpPr>
          <p:spPr>
            <a:xfrm>
              <a:off x="6659487" y="3873434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1" name="Isosceles Triangle 200"/>
            <p:cNvSpPr/>
            <p:nvPr/>
          </p:nvSpPr>
          <p:spPr>
            <a:xfrm>
              <a:off x="6268346" y="3547330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2" name="Isosceles Triangle 201"/>
            <p:cNvSpPr/>
            <p:nvPr/>
          </p:nvSpPr>
          <p:spPr>
            <a:xfrm>
              <a:off x="5738153" y="3894891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3" name="Isosceles Triangle 202"/>
            <p:cNvSpPr/>
            <p:nvPr/>
          </p:nvSpPr>
          <p:spPr>
            <a:xfrm>
              <a:off x="5865128" y="3390838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4" name="Isosceles Triangle 203"/>
            <p:cNvSpPr/>
            <p:nvPr/>
          </p:nvSpPr>
          <p:spPr>
            <a:xfrm>
              <a:off x="6088948" y="3035955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5" name="Isosceles Triangle 204"/>
            <p:cNvSpPr/>
            <p:nvPr/>
          </p:nvSpPr>
          <p:spPr>
            <a:xfrm>
              <a:off x="6088892" y="3760762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6" name="Isosceles Triangle 205"/>
            <p:cNvSpPr/>
            <p:nvPr/>
          </p:nvSpPr>
          <p:spPr>
            <a:xfrm>
              <a:off x="6920054" y="2244819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Rectangle 206"/>
                <p:cNvSpPr/>
                <p:nvPr/>
              </p:nvSpPr>
              <p:spPr>
                <a:xfrm>
                  <a:off x="7416522" y="2924650"/>
                  <a:ext cx="134601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?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07" name="Rectangle 20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6522" y="2924650"/>
                  <a:ext cx="1346010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Rectangle 207"/>
                <p:cNvSpPr/>
                <p:nvPr/>
              </p:nvSpPr>
              <p:spPr>
                <a:xfrm>
                  <a:off x="5720241" y="1527875"/>
                  <a:ext cx="134601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?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 ?0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08" name="Rectangle 20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0241" y="1527875"/>
                  <a:ext cx="134601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TextBox 208"/>
                <p:cNvSpPr txBox="1"/>
                <p:nvPr/>
              </p:nvSpPr>
              <p:spPr>
                <a:xfrm>
                  <a:off x="7360168" y="4019497"/>
                  <a:ext cx="1001167" cy="467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0168" y="4019497"/>
                  <a:ext cx="1001167" cy="46707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0" name="Rectangle 209"/>
            <p:cNvSpPr/>
            <p:nvPr/>
          </p:nvSpPr>
          <p:spPr>
            <a:xfrm>
              <a:off x="6140461" y="152671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pt-BR" dirty="0"/>
            </a:p>
          </p:txBody>
        </p:sp>
        <p:sp>
          <p:nvSpPr>
            <p:cNvPr id="211" name="Rectangle 210"/>
            <p:cNvSpPr/>
            <p:nvPr/>
          </p:nvSpPr>
          <p:spPr>
            <a:xfrm rot="5400000">
              <a:off x="5250191" y="3686716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12" name="Straight Arrow Connector 211"/>
            <p:cNvCxnSpPr/>
            <p:nvPr/>
          </p:nvCxnSpPr>
          <p:spPr>
            <a:xfrm>
              <a:off x="5252394" y="4227065"/>
              <a:ext cx="241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Arrow Connector 212"/>
            <p:cNvCxnSpPr/>
            <p:nvPr/>
          </p:nvCxnSpPr>
          <p:spPr>
            <a:xfrm flipV="1">
              <a:off x="5252394" y="1827380"/>
              <a:ext cx="0" cy="2412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TextBox 213"/>
                <p:cNvSpPr txBox="1"/>
                <p:nvPr/>
              </p:nvSpPr>
              <p:spPr>
                <a:xfrm>
                  <a:off x="4781484" y="1471556"/>
                  <a:ext cx="1001167" cy="467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484" y="1471556"/>
                  <a:ext cx="1001167" cy="46707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5" name="Straight Connector 214"/>
            <p:cNvCxnSpPr/>
            <p:nvPr/>
          </p:nvCxnSpPr>
          <p:spPr>
            <a:xfrm flipV="1">
              <a:off x="5251694" y="2065591"/>
              <a:ext cx="1627631" cy="162188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TextBox 215"/>
            <p:cNvSpPr txBox="1"/>
            <p:nvPr/>
          </p:nvSpPr>
          <p:spPr>
            <a:xfrm>
              <a:off x="5074370" y="4180493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0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5024915" y="3544589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</a:t>
              </a:r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5024915" y="3009222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</a:t>
              </a: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5024915" y="246968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</a:t>
              </a: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5025998" y="1946408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</a:t>
              </a:r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5663911" y="4194402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</a:t>
              </a:r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6204000" y="419346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</a:t>
              </a:r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6754934" y="4193807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</a:t>
              </a:r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7277932" y="419346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</a:t>
              </a:r>
            </a:p>
          </p:txBody>
        </p:sp>
        <p:sp>
          <p:nvSpPr>
            <p:cNvPr id="225" name="Rectangle 224"/>
            <p:cNvSpPr/>
            <p:nvPr/>
          </p:nvSpPr>
          <p:spPr>
            <a:xfrm rot="5400000">
              <a:off x="5794458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6" name="Rectangle 225"/>
            <p:cNvSpPr/>
            <p:nvPr/>
          </p:nvSpPr>
          <p:spPr>
            <a:xfrm rot="5400000">
              <a:off x="6337913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7" name="Rectangle 226"/>
            <p:cNvSpPr/>
            <p:nvPr/>
          </p:nvSpPr>
          <p:spPr>
            <a:xfrm rot="5400000">
              <a:off x="6879325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8" name="Rectangle 227"/>
            <p:cNvSpPr/>
            <p:nvPr/>
          </p:nvSpPr>
          <p:spPr>
            <a:xfrm rot="5400000">
              <a:off x="5253990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9" name="Rectangle 228"/>
            <p:cNvSpPr/>
            <p:nvPr/>
          </p:nvSpPr>
          <p:spPr>
            <a:xfrm rot="5400000">
              <a:off x="5795508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0" name="Rectangle 229"/>
            <p:cNvSpPr/>
            <p:nvPr/>
          </p:nvSpPr>
          <p:spPr>
            <a:xfrm rot="5400000">
              <a:off x="6337913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1" name="Rectangle 230"/>
            <p:cNvSpPr/>
            <p:nvPr/>
          </p:nvSpPr>
          <p:spPr>
            <a:xfrm rot="5400000">
              <a:off x="6879325" y="314578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2" name="Rectangle 231"/>
            <p:cNvSpPr/>
            <p:nvPr/>
          </p:nvSpPr>
          <p:spPr>
            <a:xfrm rot="5400000">
              <a:off x="5252850" y="2605657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3" name="Rectangle 232"/>
            <p:cNvSpPr/>
            <p:nvPr/>
          </p:nvSpPr>
          <p:spPr>
            <a:xfrm rot="5400000">
              <a:off x="5794739" y="2605571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4" name="Rectangle 233"/>
            <p:cNvSpPr/>
            <p:nvPr/>
          </p:nvSpPr>
          <p:spPr>
            <a:xfrm rot="5400000">
              <a:off x="6337913" y="260521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5" name="Rectangle 234"/>
            <p:cNvSpPr/>
            <p:nvPr/>
          </p:nvSpPr>
          <p:spPr>
            <a:xfrm rot="5400000">
              <a:off x="6876584" y="260681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6" name="Rectangle 235"/>
            <p:cNvSpPr/>
            <p:nvPr/>
          </p:nvSpPr>
          <p:spPr>
            <a:xfrm rot="5400000">
              <a:off x="5255448" y="206620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7" name="Rectangle 236"/>
            <p:cNvSpPr/>
            <p:nvPr/>
          </p:nvSpPr>
          <p:spPr>
            <a:xfrm rot="5400000">
              <a:off x="5797975" y="2067041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8" name="Rectangle 237"/>
            <p:cNvSpPr/>
            <p:nvPr/>
          </p:nvSpPr>
          <p:spPr>
            <a:xfrm rot="5400000">
              <a:off x="6336382" y="206761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9" name="Rectangle 238"/>
            <p:cNvSpPr/>
            <p:nvPr/>
          </p:nvSpPr>
          <p:spPr>
            <a:xfrm rot="5400000">
              <a:off x="6877913" y="206620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0" name="Isosceles Triangle 239"/>
            <p:cNvSpPr/>
            <p:nvPr/>
          </p:nvSpPr>
          <p:spPr>
            <a:xfrm>
              <a:off x="5518764" y="3476007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1" name="Isosceles Triangle 240"/>
            <p:cNvSpPr/>
            <p:nvPr/>
          </p:nvSpPr>
          <p:spPr>
            <a:xfrm>
              <a:off x="6594489" y="3181056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2" name="Isosceles Triangle 241"/>
            <p:cNvSpPr/>
            <p:nvPr/>
          </p:nvSpPr>
          <p:spPr>
            <a:xfrm>
              <a:off x="6993083" y="2692118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3" name="Isosceles Triangle 242"/>
            <p:cNvSpPr/>
            <p:nvPr/>
          </p:nvSpPr>
          <p:spPr>
            <a:xfrm>
              <a:off x="5376898" y="3856497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4" name="Isosceles Triangle 243"/>
            <p:cNvSpPr/>
            <p:nvPr/>
          </p:nvSpPr>
          <p:spPr>
            <a:xfrm>
              <a:off x="6680555" y="2380414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5" name="Oval 244"/>
            <p:cNvSpPr/>
            <p:nvPr/>
          </p:nvSpPr>
          <p:spPr>
            <a:xfrm>
              <a:off x="6262720" y="212016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" name="Rectangle 245"/>
                <p:cNvSpPr/>
                <p:nvPr/>
              </p:nvSpPr>
              <p:spPr>
                <a:xfrm>
                  <a:off x="7799045" y="1569141"/>
                  <a:ext cx="1136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46" name="Rectangle 2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9045" y="1569141"/>
                  <a:ext cx="1136850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7" name="Freeform 246"/>
            <p:cNvSpPr/>
            <p:nvPr/>
          </p:nvSpPr>
          <p:spPr>
            <a:xfrm>
              <a:off x="6868177" y="1780064"/>
              <a:ext cx="993278" cy="279397"/>
            </a:xfrm>
            <a:custGeom>
              <a:avLst/>
              <a:gdLst>
                <a:gd name="connsiteX0" fmla="*/ 0 w 751114"/>
                <a:gd name="connsiteY0" fmla="*/ 212271 h 212271"/>
                <a:gd name="connsiteX1" fmla="*/ 751114 w 751114"/>
                <a:gd name="connsiteY1" fmla="*/ 0 h 212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1114" h="212271">
                  <a:moveTo>
                    <a:pt x="0" y="212271"/>
                  </a:moveTo>
                  <a:cubicBezTo>
                    <a:pt x="269421" y="131989"/>
                    <a:pt x="538843" y="51707"/>
                    <a:pt x="751114" y="0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0354338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A40DA219-5B1E-A50B-9F92-A49056A7DA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Exemplo: Encontrando os pesos da função discriminante,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A40DA219-5B1E-A50B-9F92-A49056A7DA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189DCC1-6DC0-06B7-ACB8-229783AC8F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00636" y="1825624"/>
                <a:ext cx="7048489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Vamos definir as </a:t>
                </a:r>
                <a:r>
                  <a:rPr lang="pt-BR" b="1" i="1" dirty="0"/>
                  <a:t>regiões de decisão </a:t>
                </a:r>
                <a:r>
                  <a:rPr lang="pt-BR" dirty="0"/>
                  <a:t>substituindo alguns valores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=1+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 resulta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pt-BR" dirty="0"/>
                  <a:t>Região da classe </a:t>
                </a:r>
                <a:r>
                  <a:rPr lang="pt-BR" b="1" i="1" dirty="0">
                    <a:solidFill>
                      <a:srgbClr val="00B0F0"/>
                    </a:solidFill>
                  </a:rPr>
                  <a:t>positiva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dirty="0"/>
                  <a:t> resulta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pt-BR" dirty="0"/>
                  <a:t>Região da classe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negativa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 resulta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pt-BR" b="1" i="1" dirty="0"/>
                  <a:t>Indeterminação</a:t>
                </a:r>
                <a:r>
                  <a:rPr lang="pt-BR" dirty="0"/>
                  <a:t>: não podemos afirmar a qual classe o exemplo pertence.</a:t>
                </a:r>
              </a:p>
              <a:p>
                <a:pPr lvl="2">
                  <a:buFont typeface="Wingdings" panose="05000000000000000000" pitchFamily="2" charset="2"/>
                  <a:buChar char="ü"/>
                </a:pPr>
                <a:r>
                  <a:rPr lang="pt-BR" dirty="0"/>
                  <a:t>Podemos atribuir arbitrariamente a uma das duas classes, escolher a classe que possui maior número de exemplos ou a mais frequente.</a:t>
                </a:r>
              </a:p>
              <a:p>
                <a:r>
                  <a:rPr lang="pt-BR" dirty="0"/>
                  <a:t>O classificador pode ser implementado como uma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estrutura de controle de fluxo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189DCC1-6DC0-06B7-ACB8-229783AC8F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0636" y="1825624"/>
                <a:ext cx="7048489" cy="5032375"/>
              </a:xfrm>
              <a:blipFill>
                <a:blip r:embed="rId3"/>
                <a:stretch>
                  <a:fillRect l="-1556" t="-2663" r="-1037" b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191">
            <a:extLst>
              <a:ext uri="{FF2B5EF4-FFF2-40B4-BE49-F238E27FC236}">
                <a16:creationId xmlns:a16="http://schemas.microsoft.com/office/drawing/2014/main" id="{131D70C2-43D2-4494-632F-3ADF1223E31B}"/>
              </a:ext>
            </a:extLst>
          </p:cNvPr>
          <p:cNvGrpSpPr/>
          <p:nvPr/>
        </p:nvGrpSpPr>
        <p:grpSpPr>
          <a:xfrm>
            <a:off x="441036" y="2493476"/>
            <a:ext cx="4154411" cy="3073148"/>
            <a:chOff x="4781484" y="1471556"/>
            <a:chExt cx="4154411" cy="3073148"/>
          </a:xfrm>
        </p:grpSpPr>
        <p:sp>
          <p:nvSpPr>
            <p:cNvPr id="5" name="Oval 192">
              <a:extLst>
                <a:ext uri="{FF2B5EF4-FFF2-40B4-BE49-F238E27FC236}">
                  <a16:creationId xmlns:a16="http://schemas.microsoft.com/office/drawing/2014/main" id="{951BDBB1-C287-D4C4-208F-D6F0F62EDA62}"/>
                </a:ext>
              </a:extLst>
            </p:cNvPr>
            <p:cNvSpPr/>
            <p:nvPr/>
          </p:nvSpPr>
          <p:spPr>
            <a:xfrm>
              <a:off x="5329942" y="2900769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Isosceles Triangle 193">
              <a:extLst>
                <a:ext uri="{FF2B5EF4-FFF2-40B4-BE49-F238E27FC236}">
                  <a16:creationId xmlns:a16="http://schemas.microsoft.com/office/drawing/2014/main" id="{4D2D75C5-D280-1FE2-0A7E-76CE08ABE7A6}"/>
                </a:ext>
              </a:extLst>
            </p:cNvPr>
            <p:cNvSpPr/>
            <p:nvPr/>
          </p:nvSpPr>
          <p:spPr>
            <a:xfrm>
              <a:off x="6475659" y="2759416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Oval 194">
              <a:extLst>
                <a:ext uri="{FF2B5EF4-FFF2-40B4-BE49-F238E27FC236}">
                  <a16:creationId xmlns:a16="http://schemas.microsoft.com/office/drawing/2014/main" id="{2821FDC5-FCF9-C641-ECCA-7918C60AC58D}"/>
                </a:ext>
              </a:extLst>
            </p:cNvPr>
            <p:cNvSpPr/>
            <p:nvPr/>
          </p:nvSpPr>
          <p:spPr>
            <a:xfrm>
              <a:off x="5305099" y="2146283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Oval 195">
              <a:extLst>
                <a:ext uri="{FF2B5EF4-FFF2-40B4-BE49-F238E27FC236}">
                  <a16:creationId xmlns:a16="http://schemas.microsoft.com/office/drawing/2014/main" id="{5CC2CA3D-1370-9945-FAE0-9B6EE7C2A0B2}"/>
                </a:ext>
              </a:extLst>
            </p:cNvPr>
            <p:cNvSpPr/>
            <p:nvPr/>
          </p:nvSpPr>
          <p:spPr>
            <a:xfrm>
              <a:off x="5689347" y="265196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Oval 196">
              <a:extLst>
                <a:ext uri="{FF2B5EF4-FFF2-40B4-BE49-F238E27FC236}">
                  <a16:creationId xmlns:a16="http://schemas.microsoft.com/office/drawing/2014/main" id="{7A08A5AF-DA38-F554-D909-215BEA7A1DA5}"/>
                </a:ext>
              </a:extLst>
            </p:cNvPr>
            <p:cNvSpPr/>
            <p:nvPr/>
          </p:nvSpPr>
          <p:spPr>
            <a:xfrm>
              <a:off x="5535745" y="2230041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197">
              <a:extLst>
                <a:ext uri="{FF2B5EF4-FFF2-40B4-BE49-F238E27FC236}">
                  <a16:creationId xmlns:a16="http://schemas.microsoft.com/office/drawing/2014/main" id="{0A2FF774-5547-1518-D571-D13D52ED6A08}"/>
                </a:ext>
              </a:extLst>
            </p:cNvPr>
            <p:cNvSpPr/>
            <p:nvPr/>
          </p:nvSpPr>
          <p:spPr>
            <a:xfrm>
              <a:off x="5353717" y="2494983"/>
              <a:ext cx="193774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198">
              <a:extLst>
                <a:ext uri="{FF2B5EF4-FFF2-40B4-BE49-F238E27FC236}">
                  <a16:creationId xmlns:a16="http://schemas.microsoft.com/office/drawing/2014/main" id="{0495D267-CDD7-56C4-DCFD-DD2E3D63FA14}"/>
                </a:ext>
              </a:extLst>
            </p:cNvPr>
            <p:cNvSpPr/>
            <p:nvPr/>
          </p:nvSpPr>
          <p:spPr>
            <a:xfrm>
              <a:off x="5970773" y="230769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Isosceles Triangle 199">
              <a:extLst>
                <a:ext uri="{FF2B5EF4-FFF2-40B4-BE49-F238E27FC236}">
                  <a16:creationId xmlns:a16="http://schemas.microsoft.com/office/drawing/2014/main" id="{92314B82-FBE5-26C9-6E2B-5C7068513951}"/>
                </a:ext>
              </a:extLst>
            </p:cNvPr>
            <p:cNvSpPr/>
            <p:nvPr/>
          </p:nvSpPr>
          <p:spPr>
            <a:xfrm>
              <a:off x="6659487" y="3873434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Isosceles Triangle 200">
              <a:extLst>
                <a:ext uri="{FF2B5EF4-FFF2-40B4-BE49-F238E27FC236}">
                  <a16:creationId xmlns:a16="http://schemas.microsoft.com/office/drawing/2014/main" id="{073242D9-C223-0CA5-3AB8-98AF3A4DA8D5}"/>
                </a:ext>
              </a:extLst>
            </p:cNvPr>
            <p:cNvSpPr/>
            <p:nvPr/>
          </p:nvSpPr>
          <p:spPr>
            <a:xfrm>
              <a:off x="6268346" y="3547330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Isosceles Triangle 201">
              <a:extLst>
                <a:ext uri="{FF2B5EF4-FFF2-40B4-BE49-F238E27FC236}">
                  <a16:creationId xmlns:a16="http://schemas.microsoft.com/office/drawing/2014/main" id="{7BF881C0-85CB-1F9E-1A58-B2A64447E861}"/>
                </a:ext>
              </a:extLst>
            </p:cNvPr>
            <p:cNvSpPr/>
            <p:nvPr/>
          </p:nvSpPr>
          <p:spPr>
            <a:xfrm>
              <a:off x="5738153" y="3894891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Isosceles Triangle 202">
              <a:extLst>
                <a:ext uri="{FF2B5EF4-FFF2-40B4-BE49-F238E27FC236}">
                  <a16:creationId xmlns:a16="http://schemas.microsoft.com/office/drawing/2014/main" id="{5D4668CE-3CC0-A625-7137-D42520E376C9}"/>
                </a:ext>
              </a:extLst>
            </p:cNvPr>
            <p:cNvSpPr/>
            <p:nvPr/>
          </p:nvSpPr>
          <p:spPr>
            <a:xfrm>
              <a:off x="5865128" y="3390838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Isosceles Triangle 203">
              <a:extLst>
                <a:ext uri="{FF2B5EF4-FFF2-40B4-BE49-F238E27FC236}">
                  <a16:creationId xmlns:a16="http://schemas.microsoft.com/office/drawing/2014/main" id="{65DB8952-5A20-B441-22B9-08189B5F79D7}"/>
                </a:ext>
              </a:extLst>
            </p:cNvPr>
            <p:cNvSpPr/>
            <p:nvPr/>
          </p:nvSpPr>
          <p:spPr>
            <a:xfrm>
              <a:off x="6088948" y="3035955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Isosceles Triangle 204">
              <a:extLst>
                <a:ext uri="{FF2B5EF4-FFF2-40B4-BE49-F238E27FC236}">
                  <a16:creationId xmlns:a16="http://schemas.microsoft.com/office/drawing/2014/main" id="{3A0AF3DE-C6E1-B01F-AA6A-B8F344293C03}"/>
                </a:ext>
              </a:extLst>
            </p:cNvPr>
            <p:cNvSpPr/>
            <p:nvPr/>
          </p:nvSpPr>
          <p:spPr>
            <a:xfrm>
              <a:off x="6088892" y="3760762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Isosceles Triangle 205">
              <a:extLst>
                <a:ext uri="{FF2B5EF4-FFF2-40B4-BE49-F238E27FC236}">
                  <a16:creationId xmlns:a16="http://schemas.microsoft.com/office/drawing/2014/main" id="{965376A3-404D-EE15-324D-4E198BDA31B4}"/>
                </a:ext>
              </a:extLst>
            </p:cNvPr>
            <p:cNvSpPr/>
            <p:nvPr/>
          </p:nvSpPr>
          <p:spPr>
            <a:xfrm>
              <a:off x="6920054" y="2244819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206">
                  <a:extLst>
                    <a:ext uri="{FF2B5EF4-FFF2-40B4-BE49-F238E27FC236}">
                      <a16:creationId xmlns:a16="http://schemas.microsoft.com/office/drawing/2014/main" id="{0A64D676-718C-F540-0291-CD2C158E4EDF}"/>
                    </a:ext>
                  </a:extLst>
                </p:cNvPr>
                <p:cNvSpPr/>
                <p:nvPr/>
              </p:nvSpPr>
              <p:spPr>
                <a:xfrm>
                  <a:off x="7416522" y="2924650"/>
                  <a:ext cx="148707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07" name="Rectangle 20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6522" y="2924650"/>
                  <a:ext cx="1487074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207">
                  <a:extLst>
                    <a:ext uri="{FF2B5EF4-FFF2-40B4-BE49-F238E27FC236}">
                      <a16:creationId xmlns:a16="http://schemas.microsoft.com/office/drawing/2014/main" id="{7207C552-CE63-D630-382A-C51AEBF2BF7F}"/>
                    </a:ext>
                  </a:extLst>
                </p:cNvPr>
                <p:cNvSpPr/>
                <p:nvPr/>
              </p:nvSpPr>
              <p:spPr>
                <a:xfrm>
                  <a:off x="5720241" y="1527875"/>
                  <a:ext cx="148175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08" name="Rectangle 20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0241" y="1527875"/>
                  <a:ext cx="1481752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8">
                  <a:extLst>
                    <a:ext uri="{FF2B5EF4-FFF2-40B4-BE49-F238E27FC236}">
                      <a16:creationId xmlns:a16="http://schemas.microsoft.com/office/drawing/2014/main" id="{A543A807-C3C8-BD51-8597-1EBB58C84893}"/>
                    </a:ext>
                  </a:extLst>
                </p:cNvPr>
                <p:cNvSpPr txBox="1"/>
                <p:nvPr/>
              </p:nvSpPr>
              <p:spPr>
                <a:xfrm>
                  <a:off x="7360168" y="4019497"/>
                  <a:ext cx="1001167" cy="467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0168" y="4019497"/>
                  <a:ext cx="1001167" cy="46707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209">
              <a:extLst>
                <a:ext uri="{FF2B5EF4-FFF2-40B4-BE49-F238E27FC236}">
                  <a16:creationId xmlns:a16="http://schemas.microsoft.com/office/drawing/2014/main" id="{3C9EC24F-2E75-EBF6-8409-4B406FE8885F}"/>
                </a:ext>
              </a:extLst>
            </p:cNvPr>
            <p:cNvSpPr/>
            <p:nvPr/>
          </p:nvSpPr>
          <p:spPr>
            <a:xfrm>
              <a:off x="6140461" y="152671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pt-BR" dirty="0"/>
            </a:p>
          </p:txBody>
        </p:sp>
        <p:sp>
          <p:nvSpPr>
            <p:cNvPr id="23" name="Rectangle 210">
              <a:extLst>
                <a:ext uri="{FF2B5EF4-FFF2-40B4-BE49-F238E27FC236}">
                  <a16:creationId xmlns:a16="http://schemas.microsoft.com/office/drawing/2014/main" id="{613B01BE-7AFB-14BD-8B16-F3B017BD300E}"/>
                </a:ext>
              </a:extLst>
            </p:cNvPr>
            <p:cNvSpPr/>
            <p:nvPr/>
          </p:nvSpPr>
          <p:spPr>
            <a:xfrm rot="5400000">
              <a:off x="5250191" y="3686716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4" name="Straight Arrow Connector 211">
              <a:extLst>
                <a:ext uri="{FF2B5EF4-FFF2-40B4-BE49-F238E27FC236}">
                  <a16:creationId xmlns:a16="http://schemas.microsoft.com/office/drawing/2014/main" id="{A94D67DE-D359-015C-7A5F-F22C1603B4D4}"/>
                </a:ext>
              </a:extLst>
            </p:cNvPr>
            <p:cNvCxnSpPr/>
            <p:nvPr/>
          </p:nvCxnSpPr>
          <p:spPr>
            <a:xfrm>
              <a:off x="5252394" y="4227065"/>
              <a:ext cx="241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12">
              <a:extLst>
                <a:ext uri="{FF2B5EF4-FFF2-40B4-BE49-F238E27FC236}">
                  <a16:creationId xmlns:a16="http://schemas.microsoft.com/office/drawing/2014/main" id="{3B3FF642-CFA5-D5DD-BCCF-4813E8B92E49}"/>
                </a:ext>
              </a:extLst>
            </p:cNvPr>
            <p:cNvCxnSpPr/>
            <p:nvPr/>
          </p:nvCxnSpPr>
          <p:spPr>
            <a:xfrm flipV="1">
              <a:off x="5252394" y="1827380"/>
              <a:ext cx="0" cy="2412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13">
                  <a:extLst>
                    <a:ext uri="{FF2B5EF4-FFF2-40B4-BE49-F238E27FC236}">
                      <a16:creationId xmlns:a16="http://schemas.microsoft.com/office/drawing/2014/main" id="{C302097C-EB4F-859A-F2CE-7956A62F9AEE}"/>
                    </a:ext>
                  </a:extLst>
                </p:cNvPr>
                <p:cNvSpPr txBox="1"/>
                <p:nvPr/>
              </p:nvSpPr>
              <p:spPr>
                <a:xfrm>
                  <a:off x="4781484" y="1471556"/>
                  <a:ext cx="1001167" cy="467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484" y="1471556"/>
                  <a:ext cx="1001167" cy="46707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Connector 214">
              <a:extLst>
                <a:ext uri="{FF2B5EF4-FFF2-40B4-BE49-F238E27FC236}">
                  <a16:creationId xmlns:a16="http://schemas.microsoft.com/office/drawing/2014/main" id="{5129EE84-529E-28A1-4C57-590CCA417322}"/>
                </a:ext>
              </a:extLst>
            </p:cNvPr>
            <p:cNvCxnSpPr/>
            <p:nvPr/>
          </p:nvCxnSpPr>
          <p:spPr>
            <a:xfrm flipV="1">
              <a:off x="5251694" y="2065591"/>
              <a:ext cx="1627631" cy="162188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15">
              <a:extLst>
                <a:ext uri="{FF2B5EF4-FFF2-40B4-BE49-F238E27FC236}">
                  <a16:creationId xmlns:a16="http://schemas.microsoft.com/office/drawing/2014/main" id="{419C4EF9-84E4-F619-BD46-C934DDBF20B3}"/>
                </a:ext>
              </a:extLst>
            </p:cNvPr>
            <p:cNvSpPr txBox="1"/>
            <p:nvPr/>
          </p:nvSpPr>
          <p:spPr>
            <a:xfrm>
              <a:off x="5074370" y="4180493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0</a:t>
              </a:r>
            </a:p>
          </p:txBody>
        </p:sp>
        <p:sp>
          <p:nvSpPr>
            <p:cNvPr id="29" name="TextBox 216">
              <a:extLst>
                <a:ext uri="{FF2B5EF4-FFF2-40B4-BE49-F238E27FC236}">
                  <a16:creationId xmlns:a16="http://schemas.microsoft.com/office/drawing/2014/main" id="{B49C8A19-C5D3-CB8A-1FFE-C838096537D7}"/>
                </a:ext>
              </a:extLst>
            </p:cNvPr>
            <p:cNvSpPr txBox="1"/>
            <p:nvPr/>
          </p:nvSpPr>
          <p:spPr>
            <a:xfrm>
              <a:off x="5024915" y="3544589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</a:t>
              </a:r>
            </a:p>
          </p:txBody>
        </p:sp>
        <p:sp>
          <p:nvSpPr>
            <p:cNvPr id="30" name="TextBox 217">
              <a:extLst>
                <a:ext uri="{FF2B5EF4-FFF2-40B4-BE49-F238E27FC236}">
                  <a16:creationId xmlns:a16="http://schemas.microsoft.com/office/drawing/2014/main" id="{8B5444C1-4835-4DC9-95D4-2D797009FE88}"/>
                </a:ext>
              </a:extLst>
            </p:cNvPr>
            <p:cNvSpPr txBox="1"/>
            <p:nvPr/>
          </p:nvSpPr>
          <p:spPr>
            <a:xfrm>
              <a:off x="5024915" y="3009222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</a:t>
              </a:r>
            </a:p>
          </p:txBody>
        </p:sp>
        <p:sp>
          <p:nvSpPr>
            <p:cNvPr id="31" name="TextBox 218">
              <a:extLst>
                <a:ext uri="{FF2B5EF4-FFF2-40B4-BE49-F238E27FC236}">
                  <a16:creationId xmlns:a16="http://schemas.microsoft.com/office/drawing/2014/main" id="{8F598DA6-57EC-689B-4B3B-03A30C599C71}"/>
                </a:ext>
              </a:extLst>
            </p:cNvPr>
            <p:cNvSpPr txBox="1"/>
            <p:nvPr/>
          </p:nvSpPr>
          <p:spPr>
            <a:xfrm>
              <a:off x="5024915" y="246968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</a:t>
              </a:r>
            </a:p>
          </p:txBody>
        </p:sp>
        <p:sp>
          <p:nvSpPr>
            <p:cNvPr id="32" name="TextBox 219">
              <a:extLst>
                <a:ext uri="{FF2B5EF4-FFF2-40B4-BE49-F238E27FC236}">
                  <a16:creationId xmlns:a16="http://schemas.microsoft.com/office/drawing/2014/main" id="{5AFC2D2C-2E35-799B-7530-20318FD4C3FD}"/>
                </a:ext>
              </a:extLst>
            </p:cNvPr>
            <p:cNvSpPr txBox="1"/>
            <p:nvPr/>
          </p:nvSpPr>
          <p:spPr>
            <a:xfrm>
              <a:off x="5025998" y="1946408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</a:t>
              </a:r>
            </a:p>
          </p:txBody>
        </p:sp>
        <p:sp>
          <p:nvSpPr>
            <p:cNvPr id="33" name="TextBox 220">
              <a:extLst>
                <a:ext uri="{FF2B5EF4-FFF2-40B4-BE49-F238E27FC236}">
                  <a16:creationId xmlns:a16="http://schemas.microsoft.com/office/drawing/2014/main" id="{72E7FCAD-8086-DA86-9D1A-01CD8D297D6D}"/>
                </a:ext>
              </a:extLst>
            </p:cNvPr>
            <p:cNvSpPr txBox="1"/>
            <p:nvPr/>
          </p:nvSpPr>
          <p:spPr>
            <a:xfrm>
              <a:off x="5663911" y="4194402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</a:t>
              </a:r>
            </a:p>
          </p:txBody>
        </p:sp>
        <p:sp>
          <p:nvSpPr>
            <p:cNvPr id="34" name="TextBox 221">
              <a:extLst>
                <a:ext uri="{FF2B5EF4-FFF2-40B4-BE49-F238E27FC236}">
                  <a16:creationId xmlns:a16="http://schemas.microsoft.com/office/drawing/2014/main" id="{67985B3B-35C0-A256-F177-DABD146D355D}"/>
                </a:ext>
              </a:extLst>
            </p:cNvPr>
            <p:cNvSpPr txBox="1"/>
            <p:nvPr/>
          </p:nvSpPr>
          <p:spPr>
            <a:xfrm>
              <a:off x="6204000" y="419346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</a:t>
              </a:r>
            </a:p>
          </p:txBody>
        </p:sp>
        <p:sp>
          <p:nvSpPr>
            <p:cNvPr id="35" name="TextBox 222">
              <a:extLst>
                <a:ext uri="{FF2B5EF4-FFF2-40B4-BE49-F238E27FC236}">
                  <a16:creationId xmlns:a16="http://schemas.microsoft.com/office/drawing/2014/main" id="{1082F9D4-ED49-B699-3054-2512297442F3}"/>
                </a:ext>
              </a:extLst>
            </p:cNvPr>
            <p:cNvSpPr txBox="1"/>
            <p:nvPr/>
          </p:nvSpPr>
          <p:spPr>
            <a:xfrm>
              <a:off x="6754934" y="4193807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</a:t>
              </a:r>
            </a:p>
          </p:txBody>
        </p:sp>
        <p:sp>
          <p:nvSpPr>
            <p:cNvPr id="36" name="TextBox 223">
              <a:extLst>
                <a:ext uri="{FF2B5EF4-FFF2-40B4-BE49-F238E27FC236}">
                  <a16:creationId xmlns:a16="http://schemas.microsoft.com/office/drawing/2014/main" id="{B12FE238-DCF7-C2AA-53CA-BD857DDAD2CA}"/>
                </a:ext>
              </a:extLst>
            </p:cNvPr>
            <p:cNvSpPr txBox="1"/>
            <p:nvPr/>
          </p:nvSpPr>
          <p:spPr>
            <a:xfrm>
              <a:off x="7277932" y="419346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</a:t>
              </a:r>
            </a:p>
          </p:txBody>
        </p:sp>
        <p:sp>
          <p:nvSpPr>
            <p:cNvPr id="37" name="Rectangle 224">
              <a:extLst>
                <a:ext uri="{FF2B5EF4-FFF2-40B4-BE49-F238E27FC236}">
                  <a16:creationId xmlns:a16="http://schemas.microsoft.com/office/drawing/2014/main" id="{BE3C4AB5-520D-C097-9298-A5857B904614}"/>
                </a:ext>
              </a:extLst>
            </p:cNvPr>
            <p:cNvSpPr/>
            <p:nvPr/>
          </p:nvSpPr>
          <p:spPr>
            <a:xfrm rot="5400000">
              <a:off x="5794458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Rectangle 225">
              <a:extLst>
                <a:ext uri="{FF2B5EF4-FFF2-40B4-BE49-F238E27FC236}">
                  <a16:creationId xmlns:a16="http://schemas.microsoft.com/office/drawing/2014/main" id="{25CE2C4D-01F0-5CAF-47B3-F308830F6DA0}"/>
                </a:ext>
              </a:extLst>
            </p:cNvPr>
            <p:cNvSpPr/>
            <p:nvPr/>
          </p:nvSpPr>
          <p:spPr>
            <a:xfrm rot="5400000">
              <a:off x="6337913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Rectangle 226">
              <a:extLst>
                <a:ext uri="{FF2B5EF4-FFF2-40B4-BE49-F238E27FC236}">
                  <a16:creationId xmlns:a16="http://schemas.microsoft.com/office/drawing/2014/main" id="{524F2839-63B5-E0B8-E4B3-12A7B9331786}"/>
                </a:ext>
              </a:extLst>
            </p:cNvPr>
            <p:cNvSpPr/>
            <p:nvPr/>
          </p:nvSpPr>
          <p:spPr>
            <a:xfrm rot="5400000">
              <a:off x="6879325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Rectangle 227">
              <a:extLst>
                <a:ext uri="{FF2B5EF4-FFF2-40B4-BE49-F238E27FC236}">
                  <a16:creationId xmlns:a16="http://schemas.microsoft.com/office/drawing/2014/main" id="{18A9C2BE-6A76-22CC-779F-19FF0B5C6019}"/>
                </a:ext>
              </a:extLst>
            </p:cNvPr>
            <p:cNvSpPr/>
            <p:nvPr/>
          </p:nvSpPr>
          <p:spPr>
            <a:xfrm rot="5400000">
              <a:off x="5253990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ctangle 228">
              <a:extLst>
                <a:ext uri="{FF2B5EF4-FFF2-40B4-BE49-F238E27FC236}">
                  <a16:creationId xmlns:a16="http://schemas.microsoft.com/office/drawing/2014/main" id="{4809BEB6-301C-24A2-4452-4371B42601F3}"/>
                </a:ext>
              </a:extLst>
            </p:cNvPr>
            <p:cNvSpPr/>
            <p:nvPr/>
          </p:nvSpPr>
          <p:spPr>
            <a:xfrm rot="5400000">
              <a:off x="5795508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Rectangle 229">
              <a:extLst>
                <a:ext uri="{FF2B5EF4-FFF2-40B4-BE49-F238E27FC236}">
                  <a16:creationId xmlns:a16="http://schemas.microsoft.com/office/drawing/2014/main" id="{55F9D93A-7C15-8DF8-23D0-7AB98387F308}"/>
                </a:ext>
              </a:extLst>
            </p:cNvPr>
            <p:cNvSpPr/>
            <p:nvPr/>
          </p:nvSpPr>
          <p:spPr>
            <a:xfrm rot="5400000">
              <a:off x="6337913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Rectangle 230">
              <a:extLst>
                <a:ext uri="{FF2B5EF4-FFF2-40B4-BE49-F238E27FC236}">
                  <a16:creationId xmlns:a16="http://schemas.microsoft.com/office/drawing/2014/main" id="{1FD7C302-B512-2F79-7717-AE1CC46D169D}"/>
                </a:ext>
              </a:extLst>
            </p:cNvPr>
            <p:cNvSpPr/>
            <p:nvPr/>
          </p:nvSpPr>
          <p:spPr>
            <a:xfrm rot="5400000">
              <a:off x="6879325" y="314578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ctangle 231">
              <a:extLst>
                <a:ext uri="{FF2B5EF4-FFF2-40B4-BE49-F238E27FC236}">
                  <a16:creationId xmlns:a16="http://schemas.microsoft.com/office/drawing/2014/main" id="{F105126A-C062-5E16-EBAB-2793FBB4C5E5}"/>
                </a:ext>
              </a:extLst>
            </p:cNvPr>
            <p:cNvSpPr/>
            <p:nvPr/>
          </p:nvSpPr>
          <p:spPr>
            <a:xfrm rot="5400000">
              <a:off x="5252850" y="2605657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Rectangle 232">
              <a:extLst>
                <a:ext uri="{FF2B5EF4-FFF2-40B4-BE49-F238E27FC236}">
                  <a16:creationId xmlns:a16="http://schemas.microsoft.com/office/drawing/2014/main" id="{27054C75-3F57-C464-7E18-413CDA753AAB}"/>
                </a:ext>
              </a:extLst>
            </p:cNvPr>
            <p:cNvSpPr/>
            <p:nvPr/>
          </p:nvSpPr>
          <p:spPr>
            <a:xfrm rot="5400000">
              <a:off x="5794739" y="2605571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Rectangle 233">
              <a:extLst>
                <a:ext uri="{FF2B5EF4-FFF2-40B4-BE49-F238E27FC236}">
                  <a16:creationId xmlns:a16="http://schemas.microsoft.com/office/drawing/2014/main" id="{6C5A7B3A-2D2B-BFE7-E8E3-C21547E926D4}"/>
                </a:ext>
              </a:extLst>
            </p:cNvPr>
            <p:cNvSpPr/>
            <p:nvPr/>
          </p:nvSpPr>
          <p:spPr>
            <a:xfrm rot="5400000">
              <a:off x="6337913" y="260521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Rectangle 234">
              <a:extLst>
                <a:ext uri="{FF2B5EF4-FFF2-40B4-BE49-F238E27FC236}">
                  <a16:creationId xmlns:a16="http://schemas.microsoft.com/office/drawing/2014/main" id="{600541E6-B9E5-4369-A503-DE197CCE88EE}"/>
                </a:ext>
              </a:extLst>
            </p:cNvPr>
            <p:cNvSpPr/>
            <p:nvPr/>
          </p:nvSpPr>
          <p:spPr>
            <a:xfrm rot="5400000">
              <a:off x="6876584" y="260681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Rectangle 235">
              <a:extLst>
                <a:ext uri="{FF2B5EF4-FFF2-40B4-BE49-F238E27FC236}">
                  <a16:creationId xmlns:a16="http://schemas.microsoft.com/office/drawing/2014/main" id="{BFE2F29F-99DA-0057-8182-0601BA2352A8}"/>
                </a:ext>
              </a:extLst>
            </p:cNvPr>
            <p:cNvSpPr/>
            <p:nvPr/>
          </p:nvSpPr>
          <p:spPr>
            <a:xfrm rot="5400000">
              <a:off x="5255448" y="206620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Rectangle 236">
              <a:extLst>
                <a:ext uri="{FF2B5EF4-FFF2-40B4-BE49-F238E27FC236}">
                  <a16:creationId xmlns:a16="http://schemas.microsoft.com/office/drawing/2014/main" id="{6A9C1E84-7EFB-9996-390A-F7D573E5BDE5}"/>
                </a:ext>
              </a:extLst>
            </p:cNvPr>
            <p:cNvSpPr/>
            <p:nvPr/>
          </p:nvSpPr>
          <p:spPr>
            <a:xfrm rot="5400000">
              <a:off x="5797975" y="2067041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ctangle 237">
              <a:extLst>
                <a:ext uri="{FF2B5EF4-FFF2-40B4-BE49-F238E27FC236}">
                  <a16:creationId xmlns:a16="http://schemas.microsoft.com/office/drawing/2014/main" id="{FFEC69C1-8AE0-25B2-0DC8-0EB94E8A6620}"/>
                </a:ext>
              </a:extLst>
            </p:cNvPr>
            <p:cNvSpPr/>
            <p:nvPr/>
          </p:nvSpPr>
          <p:spPr>
            <a:xfrm rot="5400000">
              <a:off x="6336382" y="206761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ctangle 238">
              <a:extLst>
                <a:ext uri="{FF2B5EF4-FFF2-40B4-BE49-F238E27FC236}">
                  <a16:creationId xmlns:a16="http://schemas.microsoft.com/office/drawing/2014/main" id="{AF5BFC24-A1A6-F4F4-27C8-A1C75FB4ACA7}"/>
                </a:ext>
              </a:extLst>
            </p:cNvPr>
            <p:cNvSpPr/>
            <p:nvPr/>
          </p:nvSpPr>
          <p:spPr>
            <a:xfrm rot="5400000">
              <a:off x="6877913" y="206620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Isosceles Triangle 239">
              <a:extLst>
                <a:ext uri="{FF2B5EF4-FFF2-40B4-BE49-F238E27FC236}">
                  <a16:creationId xmlns:a16="http://schemas.microsoft.com/office/drawing/2014/main" id="{B31D200D-84E6-1E3E-DF28-26CE3C2AE058}"/>
                </a:ext>
              </a:extLst>
            </p:cNvPr>
            <p:cNvSpPr/>
            <p:nvPr/>
          </p:nvSpPr>
          <p:spPr>
            <a:xfrm>
              <a:off x="5518764" y="3476007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Isosceles Triangle 240">
              <a:extLst>
                <a:ext uri="{FF2B5EF4-FFF2-40B4-BE49-F238E27FC236}">
                  <a16:creationId xmlns:a16="http://schemas.microsoft.com/office/drawing/2014/main" id="{7FEF68A4-E379-3019-4460-F040608CABBC}"/>
                </a:ext>
              </a:extLst>
            </p:cNvPr>
            <p:cNvSpPr/>
            <p:nvPr/>
          </p:nvSpPr>
          <p:spPr>
            <a:xfrm>
              <a:off x="6594489" y="3181056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Isosceles Triangle 241">
              <a:extLst>
                <a:ext uri="{FF2B5EF4-FFF2-40B4-BE49-F238E27FC236}">
                  <a16:creationId xmlns:a16="http://schemas.microsoft.com/office/drawing/2014/main" id="{40A76D57-0831-B181-48A0-EE3B8D2DDDCB}"/>
                </a:ext>
              </a:extLst>
            </p:cNvPr>
            <p:cNvSpPr/>
            <p:nvPr/>
          </p:nvSpPr>
          <p:spPr>
            <a:xfrm>
              <a:off x="6993083" y="2692118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5" name="Isosceles Triangle 242">
              <a:extLst>
                <a:ext uri="{FF2B5EF4-FFF2-40B4-BE49-F238E27FC236}">
                  <a16:creationId xmlns:a16="http://schemas.microsoft.com/office/drawing/2014/main" id="{AFE6660D-9BDD-4BD7-3C65-779BA770EF52}"/>
                </a:ext>
              </a:extLst>
            </p:cNvPr>
            <p:cNvSpPr/>
            <p:nvPr/>
          </p:nvSpPr>
          <p:spPr>
            <a:xfrm>
              <a:off x="5376898" y="3856497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Isosceles Triangle 243">
              <a:extLst>
                <a:ext uri="{FF2B5EF4-FFF2-40B4-BE49-F238E27FC236}">
                  <a16:creationId xmlns:a16="http://schemas.microsoft.com/office/drawing/2014/main" id="{7B813541-A5A8-369C-40D8-01AEDDD90FAB}"/>
                </a:ext>
              </a:extLst>
            </p:cNvPr>
            <p:cNvSpPr/>
            <p:nvPr/>
          </p:nvSpPr>
          <p:spPr>
            <a:xfrm>
              <a:off x="6680555" y="2380414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Oval 244">
              <a:extLst>
                <a:ext uri="{FF2B5EF4-FFF2-40B4-BE49-F238E27FC236}">
                  <a16:creationId xmlns:a16="http://schemas.microsoft.com/office/drawing/2014/main" id="{B64B1456-7B54-BB8B-E249-DA12E016EB63}"/>
                </a:ext>
              </a:extLst>
            </p:cNvPr>
            <p:cNvSpPr/>
            <p:nvPr/>
          </p:nvSpPr>
          <p:spPr>
            <a:xfrm>
              <a:off x="6262720" y="212016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245">
                  <a:extLst>
                    <a:ext uri="{FF2B5EF4-FFF2-40B4-BE49-F238E27FC236}">
                      <a16:creationId xmlns:a16="http://schemas.microsoft.com/office/drawing/2014/main" id="{B1ECE845-B3C2-A718-00AA-95A5F2CEBF75}"/>
                    </a:ext>
                  </a:extLst>
                </p:cNvPr>
                <p:cNvSpPr/>
                <p:nvPr/>
              </p:nvSpPr>
              <p:spPr>
                <a:xfrm>
                  <a:off x="7799045" y="1569141"/>
                  <a:ext cx="1136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46" name="Rectangle 2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9045" y="1569141"/>
                  <a:ext cx="1136850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Freeform 246">
              <a:extLst>
                <a:ext uri="{FF2B5EF4-FFF2-40B4-BE49-F238E27FC236}">
                  <a16:creationId xmlns:a16="http://schemas.microsoft.com/office/drawing/2014/main" id="{F0E4220D-D436-A312-4B38-08EEBB8CA41B}"/>
                </a:ext>
              </a:extLst>
            </p:cNvPr>
            <p:cNvSpPr/>
            <p:nvPr/>
          </p:nvSpPr>
          <p:spPr>
            <a:xfrm>
              <a:off x="6868177" y="1780064"/>
              <a:ext cx="993278" cy="279397"/>
            </a:xfrm>
            <a:custGeom>
              <a:avLst/>
              <a:gdLst>
                <a:gd name="connsiteX0" fmla="*/ 0 w 751114"/>
                <a:gd name="connsiteY0" fmla="*/ 212271 h 212271"/>
                <a:gd name="connsiteX1" fmla="*/ 751114 w 751114"/>
                <a:gd name="connsiteY1" fmla="*/ 0 h 212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1114" h="212271">
                  <a:moveTo>
                    <a:pt x="0" y="212271"/>
                  </a:moveTo>
                  <a:cubicBezTo>
                    <a:pt x="269421" y="131989"/>
                    <a:pt x="538843" y="51707"/>
                    <a:pt x="751114" y="0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0" name="Rectangle 7">
            <a:extLst>
              <a:ext uri="{FF2B5EF4-FFF2-40B4-BE49-F238E27FC236}">
                <a16:creationId xmlns:a16="http://schemas.microsoft.com/office/drawing/2014/main" id="{605CFD57-551E-2269-3818-45F21FD91DFC}"/>
              </a:ext>
            </a:extLst>
          </p:cNvPr>
          <p:cNvSpPr/>
          <p:nvPr/>
        </p:nvSpPr>
        <p:spPr>
          <a:xfrm>
            <a:off x="-8884" y="6542434"/>
            <a:ext cx="4746651" cy="315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sz="1400" dirty="0">
                <a:hlinkClick r:id="rId11"/>
              </a:rPr>
              <a:t>Exemplo: encontrando_pesos_da_função_discriminante.ipynb</a:t>
            </a:r>
            <a:endParaRPr lang="pt-BR" sz="1400" dirty="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22C75E14-C0F8-AE30-2699-62A9682CF83A}"/>
              </a:ext>
            </a:extLst>
          </p:cNvPr>
          <p:cNvCxnSpPr>
            <a:cxnSpLocks/>
          </p:cNvCxnSpPr>
          <p:nvPr/>
        </p:nvCxnSpPr>
        <p:spPr>
          <a:xfrm flipV="1">
            <a:off x="9254836" y="3142084"/>
            <a:ext cx="1014892" cy="2602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91F62356-6BE5-D2AB-E57F-27A92311839B}"/>
              </a:ext>
            </a:extLst>
          </p:cNvPr>
          <p:cNvCxnSpPr>
            <a:cxnSpLocks/>
          </p:cNvCxnSpPr>
          <p:nvPr/>
        </p:nvCxnSpPr>
        <p:spPr>
          <a:xfrm flipV="1">
            <a:off x="9254836" y="3869329"/>
            <a:ext cx="1014892" cy="1859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2614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Quiz</a:t>
            </a:r>
            <a:r>
              <a:rPr lang="pt-BR" dirty="0"/>
              <a:t>: “</a:t>
            </a:r>
            <a:r>
              <a:rPr lang="pt-BR" i="1" dirty="0"/>
              <a:t>T320 - Quiz - Classificação (Parte I)</a:t>
            </a:r>
            <a:r>
              <a:rPr lang="pt-BR" dirty="0"/>
              <a:t>” que se encontra no MS Teams.</a:t>
            </a:r>
          </a:p>
          <a:p>
            <a:r>
              <a:rPr lang="pt-BR" b="1" dirty="0"/>
              <a:t>Exercício Prático</a:t>
            </a:r>
            <a:r>
              <a:rPr lang="pt-BR" dirty="0"/>
              <a:t>: </a:t>
            </a:r>
            <a:r>
              <a:rPr lang="pt-BR" b="1" dirty="0">
                <a:hlinkClick r:id="rId3"/>
              </a:rPr>
              <a:t>Laboratório #1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Pode ser acessado através do link acima (Google </a:t>
            </a:r>
            <a:r>
              <a:rPr lang="pt-BR" dirty="0" err="1"/>
              <a:t>Colab</a:t>
            </a:r>
            <a:r>
              <a:rPr lang="pt-BR" dirty="0"/>
              <a:t>) ou no GitHub.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Se atentem aos prazos de entrega.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>
                <a:hlinkClick r:id="rId4"/>
              </a:rPr>
              <a:t>Instruções para resolução e entrega dos laboratórios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160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95178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/>
          <p:cNvGrpSpPr/>
          <p:nvPr/>
        </p:nvGrpSpPr>
        <p:grpSpPr>
          <a:xfrm>
            <a:off x="4316866" y="1705666"/>
            <a:ext cx="3738422" cy="2613547"/>
            <a:chOff x="4316866" y="1705666"/>
            <a:chExt cx="3738422" cy="26135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316866" y="1705666"/>
                  <a:ext cx="787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6866" y="1705666"/>
                  <a:ext cx="787400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7" name="Group 26"/>
            <p:cNvGrpSpPr/>
            <p:nvPr/>
          </p:nvGrpSpPr>
          <p:grpSpPr>
            <a:xfrm>
              <a:off x="4695454" y="2105877"/>
              <a:ext cx="3359834" cy="2213336"/>
              <a:chOff x="4712575" y="4400375"/>
              <a:chExt cx="3359834" cy="2213336"/>
            </a:xfrm>
          </p:grpSpPr>
          <p:cxnSp>
            <p:nvCxnSpPr>
              <p:cNvPr id="28" name="Straight Arrow Connector 27"/>
              <p:cNvCxnSpPr/>
              <p:nvPr/>
            </p:nvCxnSpPr>
            <p:spPr>
              <a:xfrm flipV="1">
                <a:off x="4725275" y="4400375"/>
                <a:ext cx="0" cy="200910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>
                <a:off x="4712575" y="6409479"/>
                <a:ext cx="2772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Oval 29"/>
              <p:cNvSpPr/>
              <p:nvPr/>
            </p:nvSpPr>
            <p:spPr>
              <a:xfrm>
                <a:off x="5579028" y="5546866"/>
                <a:ext cx="146765" cy="15454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Isosceles Triangle 30"/>
              <p:cNvSpPr/>
              <p:nvPr/>
            </p:nvSpPr>
            <p:spPr>
              <a:xfrm>
                <a:off x="5258573" y="5864589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5505645" y="5272742"/>
                <a:ext cx="146765" cy="15454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5807850" y="5350015"/>
                <a:ext cx="146765" cy="15454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6027998" y="5538281"/>
                <a:ext cx="146765" cy="15454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5829135" y="5663223"/>
                <a:ext cx="146765" cy="15454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5664478" y="5019636"/>
                <a:ext cx="152400" cy="15454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5969993" y="5088324"/>
                <a:ext cx="146765" cy="15454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8" name="Isosceles Triangle 37"/>
              <p:cNvSpPr/>
              <p:nvPr/>
            </p:nvSpPr>
            <p:spPr>
              <a:xfrm>
                <a:off x="5292773" y="4787319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9" name="Isosceles Triangle 38"/>
              <p:cNvSpPr/>
              <p:nvPr/>
            </p:nvSpPr>
            <p:spPr>
              <a:xfrm>
                <a:off x="6605560" y="5350015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0" name="Isosceles Triangle 39"/>
              <p:cNvSpPr/>
              <p:nvPr/>
            </p:nvSpPr>
            <p:spPr>
              <a:xfrm>
                <a:off x="5054712" y="5315731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1" name="Isosceles Triangle 40"/>
              <p:cNvSpPr/>
              <p:nvPr/>
            </p:nvSpPr>
            <p:spPr>
              <a:xfrm>
                <a:off x="6351848" y="4753800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2" name="Isosceles Triangle 41"/>
              <p:cNvSpPr/>
              <p:nvPr/>
            </p:nvSpPr>
            <p:spPr>
              <a:xfrm>
                <a:off x="5768375" y="4566339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3" name="Isosceles Triangle 42"/>
              <p:cNvSpPr/>
              <p:nvPr/>
            </p:nvSpPr>
            <p:spPr>
              <a:xfrm>
                <a:off x="5821265" y="6059155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4" name="Isosceles Triangle 43"/>
              <p:cNvSpPr/>
              <p:nvPr/>
            </p:nvSpPr>
            <p:spPr>
              <a:xfrm>
                <a:off x="6407231" y="5826130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Rectangle 44"/>
                  <p:cNvSpPr/>
                  <p:nvPr/>
                </p:nvSpPr>
                <p:spPr>
                  <a:xfrm>
                    <a:off x="5969993" y="5138171"/>
                    <a:ext cx="515205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56" name="Rectangle 5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69993" y="5138171"/>
                    <a:ext cx="515205" cy="400110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ctangle 45"/>
                  <p:cNvSpPr/>
                  <p:nvPr/>
                </p:nvSpPr>
                <p:spPr>
                  <a:xfrm>
                    <a:off x="6623704" y="5581283"/>
                    <a:ext cx="521168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57" name="Rectangle 5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23704" y="5581283"/>
                    <a:ext cx="521168" cy="400110"/>
                  </a:xfrm>
                  <a:prstGeom prst="rect">
                    <a:avLst/>
                  </a:prstGeom>
                  <a:blipFill rotWithShape="0"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/>
                  <p:cNvSpPr txBox="1"/>
                  <p:nvPr/>
                </p:nvSpPr>
                <p:spPr>
                  <a:xfrm>
                    <a:off x="7285009" y="6244379"/>
                    <a:ext cx="7874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58" name="TextBox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85009" y="6244379"/>
                    <a:ext cx="787400" cy="369332"/>
                  </a:xfrm>
                  <a:prstGeom prst="rect">
                    <a:avLst/>
                  </a:prstGeom>
                  <a:blipFill rotWithShape="0"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8" name="Oval 47"/>
              <p:cNvSpPr/>
              <p:nvPr/>
            </p:nvSpPr>
            <p:spPr>
              <a:xfrm>
                <a:off x="5216257" y="4836350"/>
                <a:ext cx="1329949" cy="117377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81" name="Rectangle 80"/>
            <p:cNvSpPr/>
            <p:nvPr/>
          </p:nvSpPr>
          <p:spPr>
            <a:xfrm>
              <a:off x="5543230" y="1767152"/>
              <a:ext cx="217328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sz="1400" dirty="0"/>
                <a:t>classificação não-linear</a:t>
              </a:r>
            </a:p>
            <a:p>
              <a:pPr algn="ctr"/>
              <a:r>
                <a:rPr lang="pt-BR" sz="1400" dirty="0"/>
                <a:t>(com relação aos atributos)</a:t>
              </a: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545095" y="1705666"/>
            <a:ext cx="3740834" cy="2602233"/>
            <a:chOff x="545095" y="1705666"/>
            <a:chExt cx="3740834" cy="2602233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38795" y="2094563"/>
              <a:ext cx="0" cy="20091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/>
            <p:nvPr/>
          </p:nvCxnSpPr>
          <p:spPr>
            <a:xfrm>
              <a:off x="926095" y="4103667"/>
              <a:ext cx="277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1556622" y="3635913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Isosceles Triangle 6"/>
            <p:cNvSpPr/>
            <p:nvPr/>
          </p:nvSpPr>
          <p:spPr>
            <a:xfrm>
              <a:off x="2580851" y="245427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937578" y="2295525"/>
              <a:ext cx="2664000" cy="172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1483239" y="3361789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9"/>
            <p:cNvSpPr/>
            <p:nvPr/>
          </p:nvSpPr>
          <p:spPr>
            <a:xfrm>
              <a:off x="1785444" y="3439062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10"/>
            <p:cNvSpPr/>
            <p:nvPr/>
          </p:nvSpPr>
          <p:spPr>
            <a:xfrm>
              <a:off x="2005592" y="3627328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Oval 11"/>
            <p:cNvSpPr/>
            <p:nvPr/>
          </p:nvSpPr>
          <p:spPr>
            <a:xfrm>
              <a:off x="1806729" y="3752270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Oval 12"/>
            <p:cNvSpPr/>
            <p:nvPr/>
          </p:nvSpPr>
          <p:spPr>
            <a:xfrm>
              <a:off x="1642072" y="3108683"/>
              <a:ext cx="152400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Oval 13"/>
            <p:cNvSpPr/>
            <p:nvPr/>
          </p:nvSpPr>
          <p:spPr>
            <a:xfrm>
              <a:off x="1947587" y="3177371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733251" y="260667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2447501" y="268922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2666576" y="2928379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Isosceles Triangle 17"/>
            <p:cNvSpPr/>
            <p:nvPr/>
          </p:nvSpPr>
          <p:spPr>
            <a:xfrm>
              <a:off x="2019007" y="2504003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2271938" y="228917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Isosceles Triangle 19"/>
            <p:cNvSpPr/>
            <p:nvPr/>
          </p:nvSpPr>
          <p:spPr>
            <a:xfrm>
              <a:off x="2185095" y="2763279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2885651" y="275907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2346491" y="3644877"/>
                  <a:ext cx="51520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6491" y="3644877"/>
                  <a:ext cx="515205" cy="400110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3049588" y="3185956"/>
                  <a:ext cx="52116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588" y="3185956"/>
                  <a:ext cx="521168" cy="400110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3498529" y="3938567"/>
                  <a:ext cx="787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8529" y="3938567"/>
                  <a:ext cx="787400" cy="369332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545095" y="1705666"/>
                  <a:ext cx="787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095" y="1705666"/>
                  <a:ext cx="787400" cy="369332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Rectangle 81"/>
            <p:cNvSpPr/>
            <p:nvPr/>
          </p:nvSpPr>
          <p:spPr>
            <a:xfrm>
              <a:off x="2358353" y="1862348"/>
              <a:ext cx="15394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400" dirty="0"/>
                <a:t>classificação linear</a:t>
              </a: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7939181" y="1705666"/>
            <a:ext cx="3819432" cy="2613547"/>
            <a:chOff x="7939181" y="1705666"/>
            <a:chExt cx="3743199" cy="2570483"/>
          </a:xfrm>
        </p:grpSpPr>
        <p:grpSp>
          <p:nvGrpSpPr>
            <p:cNvPr id="49" name="Group 48"/>
            <p:cNvGrpSpPr/>
            <p:nvPr/>
          </p:nvGrpSpPr>
          <p:grpSpPr>
            <a:xfrm>
              <a:off x="7939181" y="1705666"/>
              <a:ext cx="3153000" cy="2398001"/>
              <a:chOff x="8324943" y="4011478"/>
              <a:chExt cx="3153000" cy="2398001"/>
            </a:xfrm>
          </p:grpSpPr>
          <p:cxnSp>
            <p:nvCxnSpPr>
              <p:cNvPr id="50" name="Straight Arrow Connector 49"/>
              <p:cNvCxnSpPr/>
              <p:nvPr/>
            </p:nvCxnSpPr>
            <p:spPr>
              <a:xfrm flipV="1">
                <a:off x="8718643" y="4400375"/>
                <a:ext cx="0" cy="200910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/>
              <p:nvPr/>
            </p:nvCxnSpPr>
            <p:spPr>
              <a:xfrm>
                <a:off x="8705943" y="6409479"/>
                <a:ext cx="2772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Oval 51"/>
              <p:cNvSpPr/>
              <p:nvPr/>
            </p:nvSpPr>
            <p:spPr>
              <a:xfrm>
                <a:off x="9336470" y="5941725"/>
                <a:ext cx="146765" cy="15454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3" name="Isosceles Triangle 52"/>
              <p:cNvSpPr/>
              <p:nvPr/>
            </p:nvSpPr>
            <p:spPr>
              <a:xfrm>
                <a:off x="9713130" y="4494239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9263087" y="5667601"/>
                <a:ext cx="146765" cy="15454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9565292" y="5744874"/>
                <a:ext cx="146765" cy="15454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9785440" y="5933140"/>
                <a:ext cx="146765" cy="15454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9586577" y="6058082"/>
                <a:ext cx="146765" cy="15454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9421920" y="5414495"/>
                <a:ext cx="152400" cy="15454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9727435" y="5483183"/>
                <a:ext cx="146765" cy="154547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0" name="Isosceles Triangle 59"/>
              <p:cNvSpPr/>
              <p:nvPr/>
            </p:nvSpPr>
            <p:spPr>
              <a:xfrm>
                <a:off x="9865530" y="4646639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1" name="Isosceles Triangle 60"/>
              <p:cNvSpPr/>
              <p:nvPr/>
            </p:nvSpPr>
            <p:spPr>
              <a:xfrm>
                <a:off x="9579780" y="4729189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2" name="Isosceles Triangle 61"/>
              <p:cNvSpPr/>
              <p:nvPr/>
            </p:nvSpPr>
            <p:spPr>
              <a:xfrm>
                <a:off x="9798855" y="4968342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3" name="Isosceles Triangle 62"/>
              <p:cNvSpPr/>
              <p:nvPr/>
            </p:nvSpPr>
            <p:spPr>
              <a:xfrm>
                <a:off x="9151286" y="4543966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4" name="Isosceles Triangle 63"/>
              <p:cNvSpPr/>
              <p:nvPr/>
            </p:nvSpPr>
            <p:spPr>
              <a:xfrm>
                <a:off x="9404217" y="4329139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5" name="Isosceles Triangle 64"/>
              <p:cNvSpPr/>
              <p:nvPr/>
            </p:nvSpPr>
            <p:spPr>
              <a:xfrm>
                <a:off x="9317374" y="4803242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6" name="Isosceles Triangle 65"/>
              <p:cNvSpPr/>
              <p:nvPr/>
            </p:nvSpPr>
            <p:spPr>
              <a:xfrm>
                <a:off x="10017930" y="4799039"/>
                <a:ext cx="133350" cy="1651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Rectangle 66"/>
                  <p:cNvSpPr/>
                  <p:nvPr/>
                </p:nvSpPr>
                <p:spPr>
                  <a:xfrm>
                    <a:off x="10126339" y="5950689"/>
                    <a:ext cx="515205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79" name="Rectangle 7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26339" y="5950689"/>
                    <a:ext cx="515205" cy="400110"/>
                  </a:xfrm>
                  <a:prstGeom prst="rect">
                    <a:avLst/>
                  </a:prstGeom>
                  <a:blipFill rotWithShape="0"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Rectangle 67"/>
                  <p:cNvSpPr/>
                  <p:nvPr/>
                </p:nvSpPr>
                <p:spPr>
                  <a:xfrm>
                    <a:off x="9506752" y="4074240"/>
                    <a:ext cx="521168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68" name="Rectangle 6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06752" y="4074240"/>
                    <a:ext cx="521168" cy="400110"/>
                  </a:xfrm>
                  <a:prstGeom prst="rect">
                    <a:avLst/>
                  </a:prstGeom>
                  <a:blipFill rotWithShape="0"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/>
                  <p:cNvSpPr txBox="1"/>
                  <p:nvPr/>
                </p:nvSpPr>
                <p:spPr>
                  <a:xfrm>
                    <a:off x="8324943" y="4011478"/>
                    <a:ext cx="7874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81" name="TextBox 8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4943" y="4011478"/>
                    <a:ext cx="787400" cy="369332"/>
                  </a:xfrm>
                  <a:prstGeom prst="rect">
                    <a:avLst/>
                  </a:prstGeom>
                  <a:blipFill rotWithShape="0"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Rectangle 69"/>
              <p:cNvSpPr/>
              <p:nvPr/>
            </p:nvSpPr>
            <p:spPr>
              <a:xfrm>
                <a:off x="10541339" y="5325892"/>
                <a:ext cx="114300" cy="132277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10693739" y="5478292"/>
                <a:ext cx="114300" cy="132277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10776781" y="5174183"/>
                <a:ext cx="114300" cy="132277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10936469" y="5530946"/>
                <a:ext cx="114300" cy="132277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10998539" y="5300288"/>
                <a:ext cx="114300" cy="132277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11179199" y="5515115"/>
                <a:ext cx="114300" cy="132277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11042698" y="5772606"/>
                <a:ext cx="114300" cy="132277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Rectangle 76"/>
                  <p:cNvSpPr/>
                  <p:nvPr/>
                </p:nvSpPr>
                <p:spPr>
                  <a:xfrm>
                    <a:off x="10918615" y="4718845"/>
                    <a:ext cx="521168" cy="40011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pt-BR" sz="2000" dirty="0"/>
                  </a:p>
                </p:txBody>
              </p:sp>
            </mc:Choice>
            <mc:Fallback xmlns="">
              <p:sp>
                <p:nvSpPr>
                  <p:cNvPr id="89" name="Rectangle 8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918615" y="4718845"/>
                    <a:ext cx="521168" cy="400110"/>
                  </a:xfrm>
                  <a:prstGeom prst="rect">
                    <a:avLst/>
                  </a:prstGeom>
                  <a:blipFill rotWithShape="0">
                    <a:blip r:embed="rId19"/>
                    <a:stretch>
                      <a:fillRect b="-1538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8" name="Straight Connector 77"/>
              <p:cNvCxnSpPr/>
              <p:nvPr/>
            </p:nvCxnSpPr>
            <p:spPr>
              <a:xfrm>
                <a:off x="8788081" y="4728656"/>
                <a:ext cx="2432050" cy="156684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flipV="1">
                <a:off x="10020518" y="4646639"/>
                <a:ext cx="621026" cy="84767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3" name="Rectangle 82"/>
            <p:cNvSpPr/>
            <p:nvPr/>
          </p:nvSpPr>
          <p:spPr>
            <a:xfrm>
              <a:off x="9780977" y="1859869"/>
              <a:ext cx="15394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400" dirty="0"/>
                <a:t>classificação linear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10894980" y="3906817"/>
                  <a:ext cx="787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94980" y="3906817"/>
                  <a:ext cx="787400" cy="369332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87630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/>
        </p:nvGrpSpPr>
        <p:grpSpPr>
          <a:xfrm>
            <a:off x="3985525" y="1463116"/>
            <a:ext cx="3740834" cy="3838933"/>
            <a:chOff x="3985525" y="1463116"/>
            <a:chExt cx="3740834" cy="3838933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4379225" y="1852013"/>
              <a:ext cx="0" cy="20091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/>
            <p:nvPr/>
          </p:nvCxnSpPr>
          <p:spPr>
            <a:xfrm>
              <a:off x="4366525" y="3861117"/>
              <a:ext cx="277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4646532" y="3408603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Isosceles Triangle 6"/>
            <p:cNvSpPr/>
            <p:nvPr/>
          </p:nvSpPr>
          <p:spPr>
            <a:xfrm>
              <a:off x="5701241" y="221172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4378008" y="2052975"/>
              <a:ext cx="1929023" cy="17842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4573149" y="3134479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9"/>
            <p:cNvSpPr/>
            <p:nvPr/>
          </p:nvSpPr>
          <p:spPr>
            <a:xfrm>
              <a:off x="4875354" y="3211752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10"/>
            <p:cNvSpPr/>
            <p:nvPr/>
          </p:nvSpPr>
          <p:spPr>
            <a:xfrm>
              <a:off x="5095502" y="3400018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Oval 11"/>
            <p:cNvSpPr/>
            <p:nvPr/>
          </p:nvSpPr>
          <p:spPr>
            <a:xfrm>
              <a:off x="4896639" y="3524960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Oval 12"/>
            <p:cNvSpPr/>
            <p:nvPr/>
          </p:nvSpPr>
          <p:spPr>
            <a:xfrm>
              <a:off x="4731982" y="2881373"/>
              <a:ext cx="152400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Oval 13"/>
            <p:cNvSpPr/>
            <p:nvPr/>
          </p:nvSpPr>
          <p:spPr>
            <a:xfrm>
              <a:off x="5037497" y="2950061"/>
              <a:ext cx="146765" cy="154547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5853641" y="236412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5567891" y="244667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5786966" y="2685829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Isosceles Triangle 17"/>
            <p:cNvSpPr/>
            <p:nvPr/>
          </p:nvSpPr>
          <p:spPr>
            <a:xfrm>
              <a:off x="5139397" y="2261453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5392328" y="204662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Isosceles Triangle 19"/>
            <p:cNvSpPr/>
            <p:nvPr/>
          </p:nvSpPr>
          <p:spPr>
            <a:xfrm>
              <a:off x="5305485" y="2520729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006041" y="2516526"/>
              <a:ext cx="133350" cy="165100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5436401" y="3417567"/>
                  <a:ext cx="52116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6401" y="3417567"/>
                  <a:ext cx="521168" cy="400110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6169978" y="2943406"/>
                  <a:ext cx="51520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9978" y="2943406"/>
                  <a:ext cx="515206" cy="40011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6938959" y="3696017"/>
                  <a:ext cx="787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8959" y="3696017"/>
                  <a:ext cx="787400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3985525" y="1463116"/>
                  <a:ext cx="787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5525" y="1463116"/>
                  <a:ext cx="787400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4651975" y="3935664"/>
                  <a:ext cx="1136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1975" y="3935664"/>
                  <a:ext cx="1136850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5052160" y="1546984"/>
                  <a:ext cx="1136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2160" y="1546984"/>
                  <a:ext cx="1136850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6048546" y="4378719"/>
                  <a:ext cx="1273415" cy="92333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pt-BR" dirty="0"/>
                    <a:t>Superfície </a:t>
                  </a:r>
                  <a:r>
                    <a:rPr lang="pt-BR" b="0" dirty="0"/>
                    <a:t>de decisão, 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546" y="4378719"/>
                  <a:ext cx="1273415" cy="92333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2392" t="-3289" r="-6220" b="-197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Curved Connector 28"/>
            <p:cNvCxnSpPr>
              <a:endCxn id="28" idx="0"/>
            </p:cNvCxnSpPr>
            <p:nvPr/>
          </p:nvCxnSpPr>
          <p:spPr>
            <a:xfrm rot="16200000" flipH="1">
              <a:off x="6215621" y="3909086"/>
              <a:ext cx="561042" cy="378224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116481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686453" y="1664905"/>
            <a:ext cx="4154411" cy="3073148"/>
            <a:chOff x="4781484" y="1471556"/>
            <a:chExt cx="4154411" cy="3073148"/>
          </a:xfrm>
        </p:grpSpPr>
        <p:sp>
          <p:nvSpPr>
            <p:cNvPr id="5" name="Oval 4"/>
            <p:cNvSpPr/>
            <p:nvPr/>
          </p:nvSpPr>
          <p:spPr>
            <a:xfrm>
              <a:off x="5329942" y="2900769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Isosceles Triangle 5"/>
            <p:cNvSpPr/>
            <p:nvPr/>
          </p:nvSpPr>
          <p:spPr>
            <a:xfrm>
              <a:off x="6475659" y="2759416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Oval 6"/>
            <p:cNvSpPr/>
            <p:nvPr/>
          </p:nvSpPr>
          <p:spPr>
            <a:xfrm>
              <a:off x="5305099" y="2146283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Oval 7"/>
            <p:cNvSpPr/>
            <p:nvPr/>
          </p:nvSpPr>
          <p:spPr>
            <a:xfrm>
              <a:off x="5689347" y="265196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Oval 8"/>
            <p:cNvSpPr/>
            <p:nvPr/>
          </p:nvSpPr>
          <p:spPr>
            <a:xfrm>
              <a:off x="5535745" y="2230041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9"/>
            <p:cNvSpPr/>
            <p:nvPr/>
          </p:nvSpPr>
          <p:spPr>
            <a:xfrm>
              <a:off x="5353717" y="2494983"/>
              <a:ext cx="193774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Oval 10"/>
            <p:cNvSpPr/>
            <p:nvPr/>
          </p:nvSpPr>
          <p:spPr>
            <a:xfrm>
              <a:off x="5970773" y="230769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Isosceles Triangle 11"/>
            <p:cNvSpPr/>
            <p:nvPr/>
          </p:nvSpPr>
          <p:spPr>
            <a:xfrm>
              <a:off x="6659487" y="3873434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Isosceles Triangle 12"/>
            <p:cNvSpPr/>
            <p:nvPr/>
          </p:nvSpPr>
          <p:spPr>
            <a:xfrm>
              <a:off x="6268346" y="3547330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5738153" y="3894891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5865128" y="3390838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6088948" y="3035955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6088892" y="3760762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Isosceles Triangle 17"/>
            <p:cNvSpPr/>
            <p:nvPr/>
          </p:nvSpPr>
          <p:spPr>
            <a:xfrm>
              <a:off x="6920054" y="2244819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7416522" y="2924650"/>
                  <a:ext cx="148707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6522" y="2924650"/>
                  <a:ext cx="1487074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5720241" y="1527875"/>
                  <a:ext cx="148175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0241" y="1527875"/>
                  <a:ext cx="1481752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7360168" y="4019497"/>
                  <a:ext cx="1001167" cy="467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0168" y="4019497"/>
                  <a:ext cx="1001167" cy="46707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Rectangle 21"/>
            <p:cNvSpPr/>
            <p:nvPr/>
          </p:nvSpPr>
          <p:spPr>
            <a:xfrm>
              <a:off x="6140461" y="1526710"/>
              <a:ext cx="1847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pt-BR" dirty="0"/>
            </a:p>
          </p:txBody>
        </p:sp>
        <p:sp>
          <p:nvSpPr>
            <p:cNvPr id="23" name="Rectangle 22"/>
            <p:cNvSpPr/>
            <p:nvPr/>
          </p:nvSpPr>
          <p:spPr>
            <a:xfrm rot="5400000">
              <a:off x="5250191" y="3686716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5252394" y="4227065"/>
              <a:ext cx="2412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5252394" y="1827380"/>
              <a:ext cx="0" cy="2412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781484" y="1471556"/>
                  <a:ext cx="1001167" cy="4670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1484" y="1471556"/>
                  <a:ext cx="1001167" cy="46707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Connector 26"/>
            <p:cNvCxnSpPr/>
            <p:nvPr/>
          </p:nvCxnSpPr>
          <p:spPr>
            <a:xfrm flipV="1">
              <a:off x="5251694" y="2065591"/>
              <a:ext cx="1627631" cy="162188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5074370" y="4180493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24915" y="3544589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24915" y="3009222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024915" y="246968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25998" y="1946408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663911" y="4194402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204000" y="419346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754934" y="4193807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77932" y="4193465"/>
              <a:ext cx="334672" cy="3503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</a:t>
              </a:r>
            </a:p>
          </p:txBody>
        </p:sp>
        <p:sp>
          <p:nvSpPr>
            <p:cNvPr id="37" name="Rectangle 36"/>
            <p:cNvSpPr/>
            <p:nvPr/>
          </p:nvSpPr>
          <p:spPr>
            <a:xfrm rot="5400000">
              <a:off x="5794458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Rectangle 37"/>
            <p:cNvSpPr/>
            <p:nvPr/>
          </p:nvSpPr>
          <p:spPr>
            <a:xfrm rot="5400000">
              <a:off x="6337913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Rectangle 38"/>
            <p:cNvSpPr/>
            <p:nvPr/>
          </p:nvSpPr>
          <p:spPr>
            <a:xfrm rot="5400000">
              <a:off x="6879325" y="369034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Rectangle 39"/>
            <p:cNvSpPr/>
            <p:nvPr/>
          </p:nvSpPr>
          <p:spPr>
            <a:xfrm rot="5400000">
              <a:off x="5253990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ctangle 40"/>
            <p:cNvSpPr/>
            <p:nvPr/>
          </p:nvSpPr>
          <p:spPr>
            <a:xfrm rot="5400000">
              <a:off x="5795508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Rectangle 41"/>
            <p:cNvSpPr/>
            <p:nvPr/>
          </p:nvSpPr>
          <p:spPr>
            <a:xfrm rot="5400000">
              <a:off x="6337913" y="314747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Rectangle 42"/>
            <p:cNvSpPr/>
            <p:nvPr/>
          </p:nvSpPr>
          <p:spPr>
            <a:xfrm rot="5400000">
              <a:off x="6879325" y="314578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Rectangle 43"/>
            <p:cNvSpPr/>
            <p:nvPr/>
          </p:nvSpPr>
          <p:spPr>
            <a:xfrm rot="5400000">
              <a:off x="5252850" y="2605657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Rectangle 44"/>
            <p:cNvSpPr/>
            <p:nvPr/>
          </p:nvSpPr>
          <p:spPr>
            <a:xfrm rot="5400000">
              <a:off x="5794739" y="2605571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Rectangle 45"/>
            <p:cNvSpPr/>
            <p:nvPr/>
          </p:nvSpPr>
          <p:spPr>
            <a:xfrm rot="5400000">
              <a:off x="6337913" y="2605213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Rectangle 46"/>
            <p:cNvSpPr/>
            <p:nvPr/>
          </p:nvSpPr>
          <p:spPr>
            <a:xfrm rot="5400000">
              <a:off x="6876584" y="260681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Rectangle 47"/>
            <p:cNvSpPr/>
            <p:nvPr/>
          </p:nvSpPr>
          <p:spPr>
            <a:xfrm rot="5400000">
              <a:off x="5255448" y="206620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Rectangle 48"/>
            <p:cNvSpPr/>
            <p:nvPr/>
          </p:nvSpPr>
          <p:spPr>
            <a:xfrm rot="5400000">
              <a:off x="5797975" y="2067041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ctangle 49"/>
            <p:cNvSpPr/>
            <p:nvPr/>
          </p:nvSpPr>
          <p:spPr>
            <a:xfrm rot="5400000">
              <a:off x="6336382" y="2067619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ctangle 50"/>
            <p:cNvSpPr/>
            <p:nvPr/>
          </p:nvSpPr>
          <p:spPr>
            <a:xfrm rot="5400000">
              <a:off x="6877913" y="2066200"/>
              <a:ext cx="540000" cy="54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Isosceles Triangle 51"/>
            <p:cNvSpPr/>
            <p:nvPr/>
          </p:nvSpPr>
          <p:spPr>
            <a:xfrm>
              <a:off x="5518764" y="3476007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Isosceles Triangle 52"/>
            <p:cNvSpPr/>
            <p:nvPr/>
          </p:nvSpPr>
          <p:spPr>
            <a:xfrm>
              <a:off x="6594489" y="3181056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Isosceles Triangle 53"/>
            <p:cNvSpPr/>
            <p:nvPr/>
          </p:nvSpPr>
          <p:spPr>
            <a:xfrm>
              <a:off x="6993083" y="2692118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5" name="Isosceles Triangle 54"/>
            <p:cNvSpPr/>
            <p:nvPr/>
          </p:nvSpPr>
          <p:spPr>
            <a:xfrm>
              <a:off x="5376898" y="3856497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Isosceles Triangle 55"/>
            <p:cNvSpPr/>
            <p:nvPr/>
          </p:nvSpPr>
          <p:spPr>
            <a:xfrm>
              <a:off x="6680555" y="2380414"/>
              <a:ext cx="169552" cy="208791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Oval 56"/>
            <p:cNvSpPr/>
            <p:nvPr/>
          </p:nvSpPr>
          <p:spPr>
            <a:xfrm>
              <a:off x="6262720" y="2120164"/>
              <a:ext cx="186609" cy="195445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/>
                <p:cNvSpPr/>
                <p:nvPr/>
              </p:nvSpPr>
              <p:spPr>
                <a:xfrm>
                  <a:off x="7799045" y="1569141"/>
                  <a:ext cx="113685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9045" y="1569141"/>
                  <a:ext cx="1136850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Freeform 58"/>
            <p:cNvSpPr/>
            <p:nvPr/>
          </p:nvSpPr>
          <p:spPr>
            <a:xfrm>
              <a:off x="6868177" y="1780064"/>
              <a:ext cx="993278" cy="279397"/>
            </a:xfrm>
            <a:custGeom>
              <a:avLst/>
              <a:gdLst>
                <a:gd name="connsiteX0" fmla="*/ 0 w 751114"/>
                <a:gd name="connsiteY0" fmla="*/ 212271 h 212271"/>
                <a:gd name="connsiteX1" fmla="*/ 751114 w 751114"/>
                <a:gd name="connsiteY1" fmla="*/ 0 h 212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1114" h="212271">
                  <a:moveTo>
                    <a:pt x="0" y="212271"/>
                  </a:moveTo>
                  <a:cubicBezTo>
                    <a:pt x="269421" y="131989"/>
                    <a:pt x="538843" y="51707"/>
                    <a:pt x="751114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001980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8207</TotalTime>
  <Words>3124</Words>
  <Application>Microsoft Office PowerPoint</Application>
  <PresentationFormat>Widescreen</PresentationFormat>
  <Paragraphs>398</Paragraphs>
  <Slides>31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Courier New</vt:lpstr>
      <vt:lpstr>Wingdings</vt:lpstr>
      <vt:lpstr>Tema do Office</vt:lpstr>
      <vt:lpstr>T320 - Introdução ao Aprendizado de Máquina II: Classificação (Parte I)</vt:lpstr>
      <vt:lpstr>A disciplina</vt:lpstr>
      <vt:lpstr>Objetivo do curso</vt:lpstr>
      <vt:lpstr>Critérios de Avaliação</vt:lpstr>
      <vt:lpstr>Cronograma</vt:lpstr>
      <vt:lpstr>Referências</vt:lpstr>
      <vt:lpstr>Avisos</vt:lpstr>
      <vt:lpstr>Classificação</vt:lpstr>
      <vt:lpstr>Tarefas de classificação</vt:lpstr>
      <vt:lpstr>Apresentação do PowerPoint</vt:lpstr>
      <vt:lpstr>Definição do problema de classificação</vt:lpstr>
      <vt:lpstr>Como representar a saída desejada?</vt:lpstr>
      <vt:lpstr>Como representar a saída desejada?</vt:lpstr>
      <vt:lpstr>Representação da saída desejada</vt:lpstr>
      <vt:lpstr>Representação da saída desejada</vt:lpstr>
      <vt:lpstr>Representação da saída desejada</vt:lpstr>
      <vt:lpstr>Fronteiras de decisão de um classificador</vt:lpstr>
      <vt:lpstr>Fronteiras de decisão de um classificador</vt:lpstr>
      <vt:lpstr>Fronteiras de decisão de um classificador</vt:lpstr>
      <vt:lpstr>Funções discriminantes</vt:lpstr>
      <vt:lpstr>Funções discriminantes</vt:lpstr>
      <vt:lpstr>Exemplo: Encontrando os pesos da função discriminante, g(x)</vt:lpstr>
      <vt:lpstr>Exemplo: Encontrando os pesos da função discriminante, g(x)</vt:lpstr>
      <vt:lpstr>Exemplo: Encontrando os pesos da função discriminante, g(x)</vt:lpstr>
      <vt:lpstr>Exemplo: Encontrando os pesos da função discriminante, g(x)</vt:lpstr>
      <vt:lpstr>Exemplo: Encontrando os pesos da função discriminante, g(x)</vt:lpstr>
      <vt:lpstr>Tarefas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1904</cp:revision>
  <dcterms:created xsi:type="dcterms:W3CDTF">2020-01-20T13:50:05Z</dcterms:created>
  <dcterms:modified xsi:type="dcterms:W3CDTF">2026-07-31T13:25:53Z</dcterms:modified>
</cp:coreProperties>
</file>