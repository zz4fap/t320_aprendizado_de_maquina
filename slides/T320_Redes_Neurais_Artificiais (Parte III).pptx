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03" r:id="rId9"/>
    <p:sldId id="423" r:id="rId10"/>
    <p:sldId id="404" r:id="rId11"/>
    <p:sldId id="405" r:id="rId12"/>
    <p:sldId id="406" r:id="rId13"/>
    <p:sldId id="407" r:id="rId14"/>
    <p:sldId id="367" r:id="rId15"/>
    <p:sldId id="402" r:id="rId16"/>
    <p:sldId id="424" r:id="rId17"/>
    <p:sldId id="409" r:id="rId18"/>
    <p:sldId id="410" r:id="rId19"/>
    <p:sldId id="411" r:id="rId20"/>
    <p:sldId id="408" r:id="rId21"/>
    <p:sldId id="412" r:id="rId22"/>
    <p:sldId id="416" r:id="rId23"/>
    <p:sldId id="415" r:id="rId24"/>
    <p:sldId id="414" r:id="rId25"/>
    <p:sldId id="418" r:id="rId26"/>
    <p:sldId id="417" r:id="rId27"/>
    <p:sldId id="377" r:id="rId28"/>
    <p:sldId id="425" r:id="rId29"/>
    <p:sldId id="378" r:id="rId30"/>
    <p:sldId id="331" r:id="rId31"/>
    <p:sldId id="386" r:id="rId32"/>
    <p:sldId id="419" r:id="rId33"/>
    <p:sldId id="421" r:id="rId34"/>
    <p:sldId id="333" r:id="rId35"/>
    <p:sldId id="422" r:id="rId36"/>
    <p:sldId id="388" r:id="rId37"/>
    <p:sldId id="335" r:id="rId38"/>
    <p:sldId id="301" r:id="rId39"/>
    <p:sldId id="269" r:id="rId40"/>
    <p:sldId id="303" r:id="rId41"/>
    <p:sldId id="271" r:id="rId42"/>
    <p:sldId id="365" r:id="rId43"/>
    <p:sldId id="382" r:id="rId44"/>
    <p:sldId id="383" r:id="rId45"/>
    <p:sldId id="384" r:id="rId4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9" autoAdjust="0"/>
    <p:restoredTop sz="88510" autoAdjust="0"/>
  </p:normalViewPr>
  <p:slideViewPr>
    <p:cSldViewPr snapToGrid="0">
      <p:cViewPr varScale="1">
        <p:scale>
          <a:sx n="66" d="100"/>
          <a:sy n="66" d="100"/>
        </p:scale>
        <p:origin x="9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</a:t>
            </a:r>
            <a:r>
              <a:rPr lang="pt-BR" baseline="0" dirty="0" smtClean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 smtClean="0"/>
          </a:p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matriz definida positiva tem todas as linhas e colunas linearmente independentes.</a:t>
            </a:r>
            <a:endParaRPr lang="pt-BR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smtClean="0"/>
              <a:t>Se </a:t>
            </a:r>
            <a:r>
              <a:rPr lang="pt-BR" dirty="0"/>
              <a:t>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Um **método de busca local** é uma estratégia de otimização que parte de uma solução inicial e iterativamente se move para soluções "vizinhas" que melhoram o valor da função objetivo, até que nenhuma melhoria significativa possa ser encontrada.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**Ideia Central**</a:t>
            </a:r>
          </a:p>
          <a:p>
            <a:r>
              <a:rPr lang="pt-BR" dirty="0" smtClean="0"/>
              <a:t>Começar com uma solução inicial \( x_0 \) e, em cada iteração, explorar soluções na **vizinhança** de \( x_0 \). Se uma solução melhor for encontrada, ela se torna a nova solução atual. O processo para quando atinge um **ótimo local** (nenhuma solução vizinha é melhor).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**Características Principais**</a:t>
            </a:r>
          </a:p>
          <a:p>
            <a:r>
              <a:rPr lang="pt-BR" dirty="0" smtClean="0"/>
              <a:t>1. **Exploração local**:  </a:t>
            </a:r>
          </a:p>
          <a:p>
            <a:r>
              <a:rPr lang="pt-BR" dirty="0" smtClean="0"/>
              <a:t>   Não busca o espaço inteiro de soluções, mas sim uma região próxima à solução atual.</a:t>
            </a:r>
          </a:p>
          <a:p>
            <a:endParaRPr lang="pt-BR" dirty="0" smtClean="0"/>
          </a:p>
          <a:p>
            <a:r>
              <a:rPr lang="pt-BR" dirty="0" smtClean="0"/>
              <a:t>2. **Dependência da solução inicial**:  </a:t>
            </a:r>
          </a:p>
          <a:p>
            <a:r>
              <a:rPr lang="pt-BR" dirty="0" smtClean="0"/>
              <a:t>   Diferentes pontos de partida podem levar a diferentes ótimos locais.</a:t>
            </a:r>
          </a:p>
          <a:p>
            <a:endParaRPr lang="pt-BR" dirty="0" smtClean="0"/>
          </a:p>
          <a:p>
            <a:r>
              <a:rPr lang="pt-BR" dirty="0" smtClean="0"/>
              <a:t>3. **Eficiência computacional**:  </a:t>
            </a:r>
          </a:p>
          <a:p>
            <a:r>
              <a:rPr lang="pt-BR" dirty="0" smtClean="0"/>
              <a:t>   Geralmente requer menos recursos que métodos globais, mas pode ficar preso em ótimos locais.</a:t>
            </a:r>
          </a:p>
          <a:p>
            <a:endParaRPr lang="pt-BR" dirty="0" smtClean="0"/>
          </a:p>
          <a:p>
            <a:r>
              <a:rPr lang="pt-BR" dirty="0" smtClean="0"/>
              <a:t>4. **Critério de parada**:  </a:t>
            </a:r>
          </a:p>
          <a:p>
            <a:r>
              <a:rPr lang="pt-BR" dirty="0" smtClean="0"/>
              <a:t>   Quando nenhum vizinho melhora a solução atual, ou após um número máximo de iterações.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**Exemplo Ilustrativo**</a:t>
            </a:r>
          </a:p>
          <a:p>
            <a:r>
              <a:rPr lang="pt-BR" dirty="0" smtClean="0"/>
              <a:t>Suponha que queremos minimizar \( f(x) = x^2 \):</a:t>
            </a:r>
          </a:p>
          <a:p>
            <a:r>
              <a:rPr lang="pt-BR" dirty="0" smtClean="0"/>
              <a:t>- **Solução inicial**: \( x_0 = 2 \)</a:t>
            </a:r>
          </a:p>
          <a:p>
            <a:r>
              <a:rPr lang="pt-BR" dirty="0" smtClean="0"/>
              <a:t>- **Vizinhança**: \( x \</a:t>
            </a:r>
            <a:r>
              <a:rPr lang="pt-BR" dirty="0" err="1" smtClean="0"/>
              <a:t>pm</a:t>
            </a:r>
            <a:r>
              <a:rPr lang="pt-BR" dirty="0" smtClean="0"/>
              <a:t> 0.5 \)</a:t>
            </a:r>
          </a:p>
          <a:p>
            <a:r>
              <a:rPr lang="pt-BR" dirty="0" smtClean="0"/>
              <a:t>- **Iteração 1**:  </a:t>
            </a:r>
          </a:p>
          <a:p>
            <a:r>
              <a:rPr lang="pt-BR" dirty="0" smtClean="0"/>
              <a:t>  - Testa \( 1.5 \) (melhor) → move para \( x = 1.5 \)</a:t>
            </a:r>
          </a:p>
          <a:p>
            <a:r>
              <a:rPr lang="pt-BR" dirty="0" smtClean="0"/>
              <a:t>- **Iteração 2**:  </a:t>
            </a:r>
          </a:p>
          <a:p>
            <a:r>
              <a:rPr lang="pt-BR" dirty="0" smtClean="0"/>
              <a:t>  - Testa \( 1.0 \) (melhor) → move para \( x = 1.0 \)</a:t>
            </a:r>
          </a:p>
          <a:p>
            <a:r>
              <a:rPr lang="pt-BR" dirty="0" smtClean="0"/>
              <a:t>- **Iteração 3**:  </a:t>
            </a:r>
          </a:p>
          <a:p>
            <a:r>
              <a:rPr lang="pt-BR" dirty="0" smtClean="0"/>
              <a:t>  - Testa \( 0.5 \) (melhor) → move para \( x = 0.5 \)</a:t>
            </a:r>
          </a:p>
          <a:p>
            <a:r>
              <a:rPr lang="pt-BR" dirty="0" smtClean="0"/>
              <a:t>- **Iteração 4**:  </a:t>
            </a:r>
          </a:p>
          <a:p>
            <a:r>
              <a:rPr lang="pt-BR" dirty="0" smtClean="0"/>
              <a:t>  - Testa \( 0.0 \) (melhor) → move para \( x = 0 \)</a:t>
            </a:r>
          </a:p>
          <a:p>
            <a:r>
              <a:rPr lang="pt-BR" dirty="0" smtClean="0"/>
              <a:t>- **Parada**:  </a:t>
            </a:r>
          </a:p>
          <a:p>
            <a:r>
              <a:rPr lang="pt-BR" dirty="0" smtClean="0"/>
              <a:t>  Nenhum vizinho de \( 0 \) é melhor → **ótimo local** (e global, neste caso).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**Algoritmos Clássicos de Busca Local**</a:t>
            </a:r>
          </a:p>
          <a:p>
            <a:r>
              <a:rPr lang="pt-BR" dirty="0" smtClean="0"/>
              <a:t>1. **Subida da Encosta (Hill </a:t>
            </a:r>
            <a:r>
              <a:rPr lang="pt-BR" dirty="0" err="1" smtClean="0"/>
              <a:t>Climbing</a:t>
            </a:r>
            <a:r>
              <a:rPr lang="pt-BR" dirty="0" smtClean="0"/>
              <a:t>)**:</a:t>
            </a:r>
          </a:p>
          <a:p>
            <a:r>
              <a:rPr lang="pt-BR" dirty="0" smtClean="0"/>
              <a:t>   - Versão para maximização.</a:t>
            </a:r>
          </a:p>
          <a:p>
            <a:r>
              <a:rPr lang="pt-BR" dirty="0" smtClean="0"/>
              <a:t>   - Move sempre para o vizinho que dá maior ganho.</a:t>
            </a:r>
          </a:p>
          <a:p>
            <a:endParaRPr lang="pt-BR" dirty="0" smtClean="0"/>
          </a:p>
          <a:p>
            <a:r>
              <a:rPr lang="pt-BR" dirty="0" smtClean="0"/>
              <a:t>2. **Descida do Gradiente**:</a:t>
            </a:r>
          </a:p>
          <a:p>
            <a:r>
              <a:rPr lang="pt-BR" dirty="0" smtClean="0"/>
              <a:t>   - Usa informações do gradiente para determinar a direção de maior descida.</a:t>
            </a:r>
          </a:p>
          <a:p>
            <a:r>
              <a:rPr lang="pt-BR" dirty="0" smtClean="0"/>
              <a:t>   - Específico para funções diferenciáveis.</a:t>
            </a:r>
          </a:p>
          <a:p>
            <a:endParaRPr lang="pt-BR" dirty="0" smtClean="0"/>
          </a:p>
          <a:p>
            <a:r>
              <a:rPr lang="pt-BR" dirty="0" smtClean="0"/>
              <a:t>3. **Algoritmos Genéticos (operadores locais)**:</a:t>
            </a:r>
          </a:p>
          <a:p>
            <a:r>
              <a:rPr lang="pt-BR" dirty="0" smtClean="0"/>
              <a:t>   - Mutações e cruzamentos podem atuar como busca local.</a:t>
            </a:r>
          </a:p>
          <a:p>
            <a:endParaRPr lang="pt-BR" dirty="0" smtClean="0"/>
          </a:p>
          <a:p>
            <a:r>
              <a:rPr lang="pt-BR" dirty="0" smtClean="0"/>
              <a:t>4. **</a:t>
            </a:r>
            <a:r>
              <a:rPr lang="pt-BR" dirty="0" err="1" smtClean="0"/>
              <a:t>Simulated</a:t>
            </a:r>
            <a:r>
              <a:rPr lang="pt-BR" dirty="0" smtClean="0"/>
              <a:t> </a:t>
            </a:r>
            <a:r>
              <a:rPr lang="pt-BR" dirty="0" err="1" smtClean="0"/>
              <a:t>Annealing</a:t>
            </a:r>
            <a:r>
              <a:rPr lang="pt-BR" dirty="0" smtClean="0"/>
              <a:t>**:</a:t>
            </a:r>
          </a:p>
          <a:p>
            <a:r>
              <a:rPr lang="pt-BR" dirty="0" smtClean="0"/>
              <a:t>   - Permite movimentos para soluções piores (com probabilidade decrescente) para escapar de ótimos locais.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**Vantagens e Desvantagens**</a:t>
            </a:r>
          </a:p>
          <a:p>
            <a:r>
              <a:rPr lang="pt-BR" dirty="0" smtClean="0"/>
              <a:t>| **Vantagens** | **Desvantagens** |</a:t>
            </a:r>
          </a:p>
          <a:p>
            <a:r>
              <a:rPr lang="pt-BR" dirty="0" smtClean="0"/>
              <a:t>|---------------|------------------|</a:t>
            </a:r>
          </a:p>
          <a:p>
            <a:r>
              <a:rPr lang="pt-BR" dirty="0" smtClean="0"/>
              <a:t>| Simplicidade | Pode convergir para ótimos locais |</a:t>
            </a:r>
          </a:p>
          <a:p>
            <a:r>
              <a:rPr lang="pt-BR" dirty="0" smtClean="0"/>
              <a:t>| Eficiência em problemas grandes | Sensível à solução inicial |</a:t>
            </a:r>
          </a:p>
          <a:p>
            <a:r>
              <a:rPr lang="pt-BR" dirty="0" smtClean="0"/>
              <a:t>| Boa para refinamento de soluções | Pode ser necessário reiniciar com diferentes pontos iniciais |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**Aplicações Práticas**</a:t>
            </a:r>
          </a:p>
          <a:p>
            <a:r>
              <a:rPr lang="pt-BR" dirty="0" smtClean="0"/>
              <a:t>- **Roteamento de veículos**: Melhorar rotas a partir de uma solução inicial.</a:t>
            </a:r>
          </a:p>
          <a:p>
            <a:r>
              <a:rPr lang="pt-BR" dirty="0" smtClean="0"/>
              <a:t>- **Ajuste de parâmetros em ML**: Fine-</a:t>
            </a:r>
            <a:r>
              <a:rPr lang="pt-BR" dirty="0" err="1" smtClean="0"/>
              <a:t>tuning</a:t>
            </a:r>
            <a:r>
              <a:rPr lang="pt-BR" dirty="0" smtClean="0"/>
              <a:t> de hiperparâmetros.</a:t>
            </a:r>
          </a:p>
          <a:p>
            <a:r>
              <a:rPr lang="pt-BR" dirty="0" smtClean="0"/>
              <a:t>- **Problemas de atribuição**: Alocação de recursos/tarefas.</a:t>
            </a:r>
          </a:p>
          <a:p>
            <a:r>
              <a:rPr lang="pt-BR" dirty="0" smtClean="0"/>
              <a:t>- **Arranjo físico (layout)**: Disposição de máquinas em uma fábrica.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**Busca Local vs. Busca Global**</a:t>
            </a:r>
          </a:p>
          <a:p>
            <a:r>
              <a:rPr lang="pt-BR" dirty="0" smtClean="0"/>
              <a:t>- **Busca local**:  </a:t>
            </a:r>
          </a:p>
          <a:p>
            <a:r>
              <a:rPr lang="pt-BR" dirty="0" smtClean="0"/>
              <a:t>  Foca em melhorar </a:t>
            </a:r>
            <a:r>
              <a:rPr lang="pt-BR" dirty="0" err="1" smtClean="0"/>
              <a:t>incrementalmente</a:t>
            </a:r>
            <a:r>
              <a:rPr lang="pt-BR" dirty="0" smtClean="0"/>
              <a:t> uma solução, mas pode perder o ótimo global.</a:t>
            </a:r>
          </a:p>
          <a:p>
            <a:endParaRPr lang="pt-BR" dirty="0" smtClean="0"/>
          </a:p>
          <a:p>
            <a:r>
              <a:rPr lang="pt-BR" dirty="0" smtClean="0"/>
              <a:t>- **Busca global**:  </a:t>
            </a:r>
          </a:p>
          <a:p>
            <a:r>
              <a:rPr lang="pt-BR" dirty="0" smtClean="0"/>
              <a:t>  Explora todo o espaço de soluções (</a:t>
            </a:r>
            <a:r>
              <a:rPr lang="pt-BR" dirty="0" err="1" smtClean="0"/>
              <a:t>ex</a:t>
            </a:r>
            <a:r>
              <a:rPr lang="pt-BR" dirty="0" smtClean="0"/>
              <a:t>: algoritmos genéticos, enxame de partículas), mas é computacionalmente mais cara.</a:t>
            </a:r>
          </a:p>
          <a:p>
            <a:endParaRPr lang="pt-BR" dirty="0" smtClean="0"/>
          </a:p>
          <a:p>
            <a:r>
              <a:rPr lang="pt-BR" dirty="0" smtClean="0"/>
              <a:t>---</a:t>
            </a:r>
          </a:p>
          <a:p>
            <a:endParaRPr lang="pt-BR" dirty="0" smtClean="0"/>
          </a:p>
          <a:p>
            <a:r>
              <a:rPr lang="pt-BR" dirty="0" smtClean="0"/>
              <a:t>### **Extensões para Evitar Ótimos Locais**</a:t>
            </a:r>
          </a:p>
          <a:p>
            <a:r>
              <a:rPr lang="pt-BR" dirty="0" smtClean="0"/>
              <a:t>- **Reinício aleatório**: Executar a busca múltiplas vezes a partir de pontos iniciais diferentes.</a:t>
            </a:r>
          </a:p>
          <a:p>
            <a:r>
              <a:rPr lang="pt-BR" dirty="0" smtClean="0"/>
              <a:t>- **Busca local iterada**: Perturbar a solução atual quando estagnada.</a:t>
            </a:r>
          </a:p>
          <a:p>
            <a:r>
              <a:rPr lang="pt-BR" dirty="0" smtClean="0"/>
              <a:t>- **Algoritmos híbridos**: Combinar busca local com métodos globais.</a:t>
            </a:r>
          </a:p>
          <a:p>
            <a:endParaRPr lang="pt-BR" dirty="0" smtClean="0"/>
          </a:p>
          <a:p>
            <a:r>
              <a:rPr lang="pt-BR" dirty="0" smtClean="0"/>
              <a:t>Referências</a:t>
            </a:r>
            <a:r>
              <a:rPr lang="pt-BR" dirty="0"/>
              <a:t>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9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3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No último tópico, vocês foram apresentados às redes 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são 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vetor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contém todos os pesos de uma camada da rede neural.</a:t>
                </a:r>
              </a:p>
              <a:p>
                <a:r>
                  <a:rPr lang="pt-BR" dirty="0"/>
                  <a:t>Assim, o problema do aprendizado em redes neurais pode ser formulado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Em geral, esse 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  <a:blipFill rotWithShape="0">
                <a:blip r:embed="rId3"/>
                <a:stretch>
                  <a:fillRect l="-92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 e usam versões da 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endParaRPr lang="pt-BR" sz="1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/>
                  <a:t>O gradiente descente e suas várias versões, além das variantes adaptativas e do termo momentum, são exemplos de métodos de primeira ordem.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2"/>
                <a:stretch>
                  <a:fillRect l="-1144" t="-1937" r="-1852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Essa informação está contida 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pt-BR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uma aproximação de Taylor de segunda ordem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 resulta na seguinte </a:t>
                </a:r>
                <a:r>
                  <a:rPr lang="pt-BR" b="1" i="1" dirty="0"/>
                  <a:t>equação de atualização dos pesos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r>
                  <a:rPr lang="pt-BR" dirty="0"/>
                  <a:t>Porém, há um conjunto de métodos de segunda ordem que evitam esse cálculo direto, como os métodos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ou os métodos de </a:t>
                </a:r>
                <a:r>
                  <a:rPr lang="pt-BR" b="1" i="1" dirty="0"/>
                  <a:t>gradiente escalonado</a:t>
                </a:r>
                <a:r>
                  <a:rPr lang="pt-BR" dirty="0"/>
                  <a:t>, os quais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aproximam</a:t>
                </a:r>
                <a:r>
                  <a:rPr lang="pt-BR" dirty="0"/>
                  <a:t> a matriz Hessiana.</a:t>
                </a:r>
              </a:p>
              <a:p>
                <a:r>
                  <a:rPr lang="pt-BR" dirty="0"/>
                  <a:t>O algoritmo </a:t>
                </a:r>
                <a:r>
                  <a:rPr lang="pt-BR" i="1" dirty="0" err="1"/>
                  <a:t>limited-memory</a:t>
                </a:r>
                <a:r>
                  <a:rPr lang="pt-BR" dirty="0"/>
                  <a:t> </a:t>
                </a:r>
                <a:r>
                  <a:rPr lang="pt-BR" dirty="0" err="1"/>
                  <a:t>Broyden</a:t>
                </a:r>
                <a:r>
                  <a:rPr lang="pt-BR" dirty="0"/>
                  <a:t>–</a:t>
                </a:r>
                <a:r>
                  <a:rPr lang="pt-BR" dirty="0" err="1"/>
                  <a:t>Fletcher</a:t>
                </a:r>
                <a:r>
                  <a:rPr lang="pt-BR" dirty="0"/>
                  <a:t>–</a:t>
                </a:r>
                <a:r>
                  <a:rPr lang="pt-BR" dirty="0" err="1"/>
                  <a:t>Goldfarb</a:t>
                </a:r>
                <a:r>
                  <a:rPr lang="pt-BR" dirty="0"/>
                  <a:t>–</a:t>
                </a:r>
                <a:r>
                  <a:rPr lang="pt-BR" dirty="0" err="1"/>
                  <a:t>Shanno</a:t>
                </a:r>
                <a:r>
                  <a:rPr lang="pt-BR" dirty="0"/>
                  <a:t> (LBFGS) é um exemplo de método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implementado pela biblioteca </a:t>
                </a:r>
                <a:r>
                  <a:rPr lang="pt-BR" i="1" dirty="0" err="1"/>
                  <a:t>SciKit-Learn</a:t>
                </a:r>
                <a:r>
                  <a:rPr lang="pt-BR" dirty="0"/>
                  <a:t> em algumas de suas classes.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  <a:blipFill rotWithShape="0">
                <a:blip r:embed="rId2"/>
                <a:stretch>
                  <a:fillRect l="-927" t="-2663" r="-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596" y="1825624"/>
            <a:ext cx="848408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</a:t>
            </a:r>
            <a:r>
              <a:rPr lang="pt-BR" b="1" i="1" dirty="0" smtClean="0">
                <a:solidFill>
                  <a:srgbClr val="00B050"/>
                </a:solidFill>
                <a:effectLst/>
              </a:rPr>
              <a:t>proximidades do ponto de inicialização</a:t>
            </a:r>
            <a:r>
              <a:rPr lang="pt-BR" b="0" i="0" dirty="0" smtClean="0">
                <a:effectLst/>
              </a:rPr>
              <a:t>.  </a:t>
            </a:r>
            <a:endParaRPr lang="pt-BR" b="0" i="0" dirty="0">
              <a:effectLst/>
            </a:endParaRP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</p:txBody>
      </p:sp>
      <p:grpSp>
        <p:nvGrpSpPr>
          <p:cNvPr id="4" name="Group 9">
            <a:extLst>
              <a:ext uri="{FF2B5EF4-FFF2-40B4-BE49-F238E27FC236}">
                <a16:creationId xmlns:a16="http://schemas.microsoft.com/office/drawing/2014/main" xmlns="" id="{27C9E80A-2337-64E7-FF6A-22E340A8A6CC}"/>
              </a:ext>
            </a:extLst>
          </p:cNvPr>
          <p:cNvGrpSpPr/>
          <p:nvPr/>
        </p:nvGrpSpPr>
        <p:grpSpPr>
          <a:xfrm>
            <a:off x="323845" y="2719080"/>
            <a:ext cx="2930222" cy="2711640"/>
            <a:chOff x="9102437" y="2064497"/>
            <a:chExt cx="3061853" cy="2795274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1B2B1901-3474-09A8-9D05-19ADFE742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242" t="5396" r="8367" b="4906"/>
            <a:stretch/>
          </p:blipFill>
          <p:spPr>
            <a:xfrm>
              <a:off x="9102437" y="2064497"/>
              <a:ext cx="3061853" cy="279527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xmlns="" id="{6067F316-1C82-8253-B1FF-B0A245EFABB1}"/>
                </a:ext>
              </a:extLst>
            </p:cNvPr>
            <p:cNvSpPr/>
            <p:nvPr/>
          </p:nvSpPr>
          <p:spPr>
            <a:xfrm>
              <a:off x="10046624" y="32779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xmlns="" id="{A8FC4BD1-0013-27EA-F13F-619BD7F97625}"/>
                </a:ext>
              </a:extLst>
            </p:cNvPr>
            <p:cNvSpPr/>
            <p:nvPr/>
          </p:nvSpPr>
          <p:spPr>
            <a:xfrm>
              <a:off x="11540144" y="432192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xmlns="" id="{E809E1B7-9742-F691-1849-1DF4D7569C66}"/>
                </a:ext>
              </a:extLst>
            </p:cNvPr>
            <p:cNvSpPr txBox="1"/>
            <p:nvPr/>
          </p:nvSpPr>
          <p:spPr>
            <a:xfrm>
              <a:off x="9705434" y="3339548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local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A24967E2-4212-29D9-11A4-6F1EB1947E4A}"/>
                </a:ext>
              </a:extLst>
            </p:cNvPr>
            <p:cNvSpPr txBox="1"/>
            <p:nvPr/>
          </p:nvSpPr>
          <p:spPr>
            <a:xfrm>
              <a:off x="11234954" y="3673354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global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xmlns="" id="{4478FE68-145B-064E-47C1-8B8CC902AD9F}"/>
                  </a:ext>
                </a:extLst>
              </p:cNvPr>
              <p:cNvSpPr txBox="1"/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blipFill>
                <a:blip r:embed="rId4"/>
                <a:stretch>
                  <a:fillRect r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258BEE84-736A-6F63-CAC7-CE9927ACE6C8}"/>
                  </a:ext>
                </a:extLst>
              </p:cNvPr>
              <p:cNvSpPr txBox="1"/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xmlns="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xmlns="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xmlns="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xmlns="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xmlns="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xmlns="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283" y="1825624"/>
            <a:ext cx="712440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em muitos problemas envolvendo redes neurais,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têm valor de erro próximo ao do mínimo global</a:t>
            </a:r>
            <a:r>
              <a:rPr lang="pt-BR" sz="2800" dirty="0"/>
              <a:t> e, portanto, encontrar um mínimo local já é bom o suficiente para um dado problema.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B9FF175E-F923-645E-CDBC-2CB0D22B6676}"/>
              </a:ext>
            </a:extLst>
          </p:cNvPr>
          <p:cNvGrpSpPr/>
          <p:nvPr/>
        </p:nvGrpSpPr>
        <p:grpSpPr>
          <a:xfrm>
            <a:off x="982746" y="2350591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xmlns="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xmlns="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xmlns="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xmlns="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xmlns="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xmlns="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6541" y="1825624"/>
            <a:ext cx="7498645" cy="5032375"/>
          </a:xfrm>
        </p:spPr>
        <p:txBody>
          <a:bodyPr>
            <a:normAutofit/>
          </a:bodyPr>
          <a:lstStyle/>
          <a:p>
            <a:r>
              <a:rPr lang="pt-BR" dirty="0"/>
              <a:t>Uma irregularidade comumente encontrada são os </a:t>
            </a:r>
            <a:r>
              <a:rPr lang="pt-BR" b="1" i="1" dirty="0"/>
              <a:t>pontos de sela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xmlns="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131439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xmlns="" id="{3850DA1C-824C-FF23-C5D2-A293D9C00F8E}"/>
              </a:ext>
            </a:extLst>
          </p:cNvPr>
          <p:cNvSpPr/>
          <p:nvPr/>
        </p:nvSpPr>
        <p:spPr>
          <a:xfrm>
            <a:off x="2028969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xmlns="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136969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98B28DAF-FE1B-579F-44FC-F067DE348314}"/>
              </a:ext>
            </a:extLst>
          </p:cNvPr>
          <p:cNvSpPr txBox="1"/>
          <p:nvPr/>
        </p:nvSpPr>
        <p:spPr>
          <a:xfrm>
            <a:off x="226526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930" y="1825624"/>
            <a:ext cx="6476255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, Adam, podem escapar destas regiões.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540" y="1825624"/>
            <a:ext cx="6188148" cy="5032375"/>
          </a:xfrm>
        </p:spPr>
        <p:txBody>
          <a:bodyPr/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Treina-se o modelo várias vezes, sempre </a:t>
            </a:r>
            <a:r>
              <a:rPr lang="pt-BR" b="1" i="1" dirty="0">
                <a:solidFill>
                  <a:srgbClr val="00B050"/>
                </a:solidFill>
              </a:rPr>
              <a:t>inicializando os pesos de forma </a:t>
            </a:r>
            <a:r>
              <a:rPr lang="pt-BR" b="1" i="1" dirty="0" smtClean="0">
                <a:solidFill>
                  <a:srgbClr val="00B050"/>
                </a:solidFill>
              </a:rPr>
              <a:t>aleatória (i.e., em outros pontos da superfície)</a:t>
            </a:r>
            <a:r>
              <a:rPr lang="pt-BR" dirty="0" smtClean="0"/>
              <a:t>, </a:t>
            </a:r>
            <a:r>
              <a:rPr lang="pt-BR" dirty="0"/>
              <a:t>com a esperança de que em alguma dessas vezes ele inicialize mais </a:t>
            </a:r>
            <a:r>
              <a:rPr lang="pt-BR" b="1" i="1" dirty="0">
                <a:solidFill>
                  <a:srgbClr val="7030A0"/>
                </a:solidFill>
              </a:rPr>
              <a:t>próximo do mínimo global ou de um bom mínimo local</a:t>
            </a:r>
            <a:r>
              <a:rPr lang="pt-BR" dirty="0"/>
              <a:t>. 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dirty="0" smtClean="0"/>
              <a:t>22/11/2025 </a:t>
            </a:r>
            <a:r>
              <a:rPr lang="pt-BR" dirty="0"/>
              <a:t>às 10:00 na sala </a:t>
            </a:r>
            <a:r>
              <a:rPr lang="pt-BR" dirty="0" smtClean="0"/>
              <a:t>I-18</a:t>
            </a:r>
            <a:endParaRPr lang="pt-BR" dirty="0"/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projeto: </a:t>
            </a:r>
            <a:r>
              <a:rPr lang="pt-BR" b="1" dirty="0" smtClean="0">
                <a:solidFill>
                  <a:srgbClr val="00B050"/>
                </a:solidFill>
              </a:rPr>
              <a:t>07/12/2025 </a:t>
            </a:r>
            <a:r>
              <a:rPr lang="pt-BR" b="1" dirty="0">
                <a:solidFill>
                  <a:srgbClr val="00B050"/>
                </a:solidFill>
              </a:rPr>
              <a:t>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7086" y="1825624"/>
            <a:ext cx="6911499" cy="5032375"/>
          </a:xfrm>
        </p:spPr>
        <p:txBody>
          <a:bodyPr>
            <a:normAutofit/>
          </a:bodyPr>
          <a:lstStyle/>
          <a:p>
            <a:r>
              <a:rPr lang="pt-BR" dirty="0"/>
              <a:t>Conforme nós discutimos antes, os métodos </a:t>
            </a:r>
            <a:r>
              <a:rPr lang="pt-BR" dirty="0" smtClean="0"/>
              <a:t>mais usados no </a:t>
            </a:r>
            <a:r>
              <a:rPr lang="pt-BR" b="1" i="1" dirty="0">
                <a:solidFill>
                  <a:srgbClr val="7030A0"/>
                </a:solidFill>
              </a:rPr>
              <a:t>aprendizado para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232397" y="2452913"/>
            <a:ext cx="4750271" cy="320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825624"/>
            <a:ext cx="6896986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Essa </a:t>
            </a:r>
            <a:r>
              <a:rPr lang="pt-BR" dirty="0"/>
              <a:t>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  <a:endParaRPr lang="pt-BR" dirty="0" smtClean="0"/>
          </a:p>
          <a:p>
            <a:r>
              <a:rPr lang="pt-BR" dirty="0" smtClean="0"/>
              <a:t>Como </a:t>
            </a:r>
            <a:r>
              <a:rPr lang="pt-BR" dirty="0"/>
              <a:t>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392054" y="2351314"/>
            <a:ext cx="4556953" cy="307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313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400" b="1" dirty="0"/>
                                                    <m:t> </m:t>
                                                  </m:r>
                                                  <m: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xmlns="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 (i.e., atualizar os pesos),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todas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958" cy="5032375"/>
          </a:xfrm>
        </p:spPr>
        <p:txBody>
          <a:bodyPr/>
          <a:lstStyle/>
          <a:p>
            <a:r>
              <a:rPr lang="pt-BR" b="1" dirty="0" smtClean="0"/>
              <a:t>Assim, surge </a:t>
            </a:r>
            <a:r>
              <a:rPr lang="pt-BR" b="1" dirty="0"/>
              <a:t>a pergunta</a:t>
            </a:r>
            <a:r>
              <a:rPr lang="pt-BR" dirty="0"/>
              <a:t>: Como podemos atribuir aos pesos dos nós das camadas ocultas sua influência no cálculo dos valores de saída e, consequentemente, do erro?</a:t>
            </a:r>
          </a:p>
          <a:p>
            <a:r>
              <a:rPr lang="pt-BR" b="1" dirty="0"/>
              <a:t>Resposta</a:t>
            </a:r>
            <a:r>
              <a:rPr lang="pt-BR" dirty="0"/>
              <a:t>: 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ao longo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Assim,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1136085" cy="5167311"/>
          </a:xfrm>
        </p:spPr>
        <p:txBody>
          <a:bodyPr>
            <a:normAutofit/>
          </a:bodyPr>
          <a:lstStyle/>
          <a:p>
            <a:r>
              <a:rPr lang="pt-BR" dirty="0"/>
              <a:t>Portanto, a estratégia de otimização adotada para atualização dos pesos (sinápticos e de bias) da rede neural é a seguinte: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Começa-se </a:t>
            </a:r>
            <a:r>
              <a:rPr lang="pt-BR" dirty="0" smtClean="0"/>
              <a:t>pelo cálculo das saídas, </a:t>
            </a:r>
            <a:r>
              <a:rPr lang="pt-BR" dirty="0"/>
              <a:t>onde o erro é calculado.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direta</a:t>
            </a:r>
            <a:r>
              <a:rPr lang="pt-BR" dirty="0"/>
              <a:t>, pois aplica-se as entradas (i.e., atributos) à </a:t>
            </a:r>
            <a:r>
              <a:rPr lang="pt-BR" dirty="0" smtClean="0"/>
              <a:t>rede, entra-se os valores de saída </a:t>
            </a:r>
            <a:r>
              <a:rPr lang="pt-BR" dirty="0"/>
              <a:t>e calcula-se </a:t>
            </a:r>
            <a:r>
              <a:rPr lang="pt-BR" dirty="0" smtClean="0"/>
              <a:t>seu erro com relação aos rótulos.</a:t>
            </a:r>
            <a:endParaRPr lang="pt-BR" dirty="0"/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Encontra-se uma </a:t>
            </a:r>
            <a:r>
              <a:rPr lang="pt-BR" b="1" i="1" dirty="0"/>
              <a:t>regra recursiva </a:t>
            </a:r>
            <a:r>
              <a:rPr lang="pt-BR" dirty="0"/>
              <a:t>que gere os valores de </a:t>
            </a:r>
            <a:r>
              <a:rPr lang="pt-BR" b="1" i="1" dirty="0"/>
              <a:t>sensibilidade </a:t>
            </a:r>
            <a:r>
              <a:rPr lang="pt-BR" dirty="0"/>
              <a:t>para os </a:t>
            </a:r>
            <a:r>
              <a:rPr lang="pt-BR" b="1" i="1" dirty="0"/>
              <a:t>nós</a:t>
            </a:r>
            <a:r>
              <a:rPr lang="pt-BR" dirty="0"/>
              <a:t> das camadas anteriores até a primeira camada oculta.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reversa</a:t>
            </a:r>
            <a:r>
              <a:rPr lang="pt-BR" dirty="0"/>
              <a:t>, pois calcula-se a </a:t>
            </a:r>
            <a:r>
              <a:rPr lang="pt-BR" b="1" i="1" dirty="0">
                <a:solidFill>
                  <a:srgbClr val="00B050"/>
                </a:solidFill>
              </a:rPr>
              <a:t>contribuição de cada nó</a:t>
            </a:r>
            <a:r>
              <a:rPr lang="pt-BR" dirty="0"/>
              <a:t> das camadas ocultas no erro </a:t>
            </a:r>
            <a:r>
              <a:rPr lang="pt-BR" dirty="0" smtClean="0"/>
              <a:t>da camada de </a:t>
            </a:r>
            <a:r>
              <a:rPr lang="pt-BR" dirty="0"/>
              <a:t>saída</a:t>
            </a:r>
            <a:r>
              <a:rPr lang="pt-BR" dirty="0" smtClean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Esse </a:t>
                </a:r>
                <a:r>
                  <a:rPr lang="pt-BR" dirty="0"/>
                  <a:t>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</a:t>
                </a:r>
                <a:r>
                  <a:rPr lang="pt-BR" b="1" i="1" dirty="0" err="1" smtClean="0"/>
                  <a:t>error</a:t>
                </a:r>
                <a:r>
                  <a:rPr lang="pt-BR" b="1" i="1" dirty="0" smtClean="0"/>
                  <a:t> </a:t>
                </a:r>
                <a:r>
                  <a:rPr lang="pt-BR" b="1" i="1" dirty="0" err="1" smtClean="0"/>
                  <a:t>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 rotWithShape="0">
                <a:blip r:embed="rId2"/>
                <a:stretch>
                  <a:fillRect l="-980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753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xmlns="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xmlns="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xmlns="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31/05/2025 às 10:00 na sala I-22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</a:t>
            </a:r>
            <a:r>
              <a:rPr lang="pt-BR" dirty="0" err="1"/>
              <a:t>github</a:t>
            </a:r>
            <a:r>
              <a:rPr lang="pt-BR" dirty="0"/>
              <a:t> até segunda e pode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22/06/2025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:a16="http://schemas.microsoft.com/office/drawing/2014/main" xmlns="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xmlns="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:a16="http://schemas.microsoft.com/office/drawing/2014/main" xmlns="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:a16="http://schemas.microsoft.com/office/drawing/2014/main" xmlns="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:a16="http://schemas.microsoft.com/office/drawing/2014/main" xmlns="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:a16="http://schemas.microsoft.com/office/drawing/2014/main" xmlns="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:a16="http://schemas.microsoft.com/office/drawing/2014/main" xmlns="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:a16="http://schemas.microsoft.com/office/drawing/2014/main" xmlns="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:a16="http://schemas.microsoft.com/office/drawing/2014/main" xmlns="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:a16="http://schemas.microsoft.com/office/drawing/2014/main" xmlns="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:a16="http://schemas.microsoft.com/office/drawing/2014/main" xmlns="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:a16="http://schemas.microsoft.com/office/drawing/2014/main" xmlns="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:a16="http://schemas.microsoft.com/office/drawing/2014/main" xmlns="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:a16="http://schemas.microsoft.com/office/drawing/2014/main" xmlns="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:a16="http://schemas.microsoft.com/office/drawing/2014/main" xmlns="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:a16="http://schemas.microsoft.com/office/drawing/2014/main" xmlns="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:a16="http://schemas.microsoft.com/office/drawing/2014/main" xmlns="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:a16="http://schemas.microsoft.com/office/drawing/2014/main" xmlns="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:a16="http://schemas.microsoft.com/office/drawing/2014/main" xmlns="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:a16="http://schemas.microsoft.com/office/drawing/2014/main" xmlns="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:a16="http://schemas.microsoft.com/office/drawing/2014/main" xmlns="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:a16="http://schemas.microsoft.com/office/drawing/2014/main" xmlns="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:a16="http://schemas.microsoft.com/office/drawing/2014/main" xmlns="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:a16="http://schemas.microsoft.com/office/drawing/2014/main" xmlns="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:a16="http://schemas.microsoft.com/office/drawing/2014/main" xmlns="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:a16="http://schemas.microsoft.com/office/drawing/2014/main" xmlns="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:a16="http://schemas.microsoft.com/office/drawing/2014/main" xmlns="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xmlns="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xmlns="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:a16="http://schemas.microsoft.com/office/drawing/2014/main" xmlns="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:a16="http://schemas.microsoft.com/office/drawing/2014/main" xmlns="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:a16="http://schemas.microsoft.com/office/drawing/2014/main" xmlns="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:a16="http://schemas.microsoft.com/office/drawing/2014/main" xmlns="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:a16="http://schemas.microsoft.com/office/drawing/2014/main" xmlns="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:a16="http://schemas.microsoft.com/office/drawing/2014/main" xmlns="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:a16="http://schemas.microsoft.com/office/drawing/2014/main" xmlns="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20150</TotalTime>
  <Words>3710</Words>
  <Application>Microsoft Office PowerPoint</Application>
  <PresentationFormat>Widescreen</PresentationFormat>
  <Paragraphs>575</Paragraphs>
  <Slides>45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1565</cp:revision>
  <dcterms:created xsi:type="dcterms:W3CDTF">2020-04-06T23:46:10Z</dcterms:created>
  <dcterms:modified xsi:type="dcterms:W3CDTF">2025-11-08T12:17:02Z</dcterms:modified>
</cp:coreProperties>
</file>