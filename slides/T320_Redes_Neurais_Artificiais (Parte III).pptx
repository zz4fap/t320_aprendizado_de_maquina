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300" r:id="rId2"/>
    <p:sldId id="292" r:id="rId3"/>
    <p:sldId id="397" r:id="rId4"/>
    <p:sldId id="399" r:id="rId5"/>
    <p:sldId id="400" r:id="rId6"/>
    <p:sldId id="398" r:id="rId7"/>
    <p:sldId id="401" r:id="rId8"/>
    <p:sldId id="426" r:id="rId9"/>
    <p:sldId id="403" r:id="rId10"/>
    <p:sldId id="423" r:id="rId11"/>
    <p:sldId id="404" r:id="rId12"/>
    <p:sldId id="405" r:id="rId13"/>
    <p:sldId id="406" r:id="rId14"/>
    <p:sldId id="407" r:id="rId15"/>
    <p:sldId id="367" r:id="rId16"/>
    <p:sldId id="402" r:id="rId17"/>
    <p:sldId id="424" r:id="rId18"/>
    <p:sldId id="409" r:id="rId19"/>
    <p:sldId id="410" r:id="rId20"/>
    <p:sldId id="411" r:id="rId21"/>
    <p:sldId id="408" r:id="rId22"/>
    <p:sldId id="412" r:id="rId23"/>
    <p:sldId id="416" r:id="rId24"/>
    <p:sldId id="415" r:id="rId25"/>
    <p:sldId id="414" r:id="rId26"/>
    <p:sldId id="418" r:id="rId27"/>
    <p:sldId id="417" r:id="rId28"/>
    <p:sldId id="377" r:id="rId29"/>
    <p:sldId id="425" r:id="rId30"/>
    <p:sldId id="378" r:id="rId31"/>
    <p:sldId id="331" r:id="rId32"/>
    <p:sldId id="386" r:id="rId33"/>
    <p:sldId id="419" r:id="rId34"/>
    <p:sldId id="421" r:id="rId35"/>
    <p:sldId id="333" r:id="rId36"/>
    <p:sldId id="422" r:id="rId37"/>
    <p:sldId id="388" r:id="rId38"/>
    <p:sldId id="335" r:id="rId39"/>
    <p:sldId id="301" r:id="rId40"/>
    <p:sldId id="269" r:id="rId41"/>
    <p:sldId id="303" r:id="rId42"/>
    <p:sldId id="271" r:id="rId43"/>
    <p:sldId id="365" r:id="rId44"/>
    <p:sldId id="382" r:id="rId45"/>
    <p:sldId id="383" r:id="rId46"/>
    <p:sldId id="384" r:id="rId4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19" autoAdjust="0"/>
    <p:restoredTop sz="88510" autoAdjust="0"/>
  </p:normalViewPr>
  <p:slideViewPr>
    <p:cSldViewPr snapToGrid="0">
      <p:cViewPr varScale="1">
        <p:scale>
          <a:sx n="98" d="100"/>
          <a:sy n="98" d="100"/>
        </p:scale>
        <p:origin x="10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nry_J._Kelley" TargetMode="External"/><Relationship Id="rId3" Type="http://schemas.openxmlformats.org/officeDocument/2006/relationships/hyperlink" Target="https://en.wikipedia.org/wiki/Backpropagation#CITEREFRumelhartHintonWilliams1986a" TargetMode="External"/><Relationship Id="rId7" Type="http://schemas.openxmlformats.org/officeDocument/2006/relationships/hyperlink" Target="https://en.wikipedia.org/wiki/Control_theory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Backpropagation#cite_note-learning-representations-20" TargetMode="External"/><Relationship Id="rId5" Type="http://schemas.openxmlformats.org/officeDocument/2006/relationships/hyperlink" Target="https://en.wikipedia.org/wiki/Backpropagation#cite_note-DL-history-6" TargetMode="External"/><Relationship Id="rId4" Type="http://schemas.openxmlformats.org/officeDocument/2006/relationships/hyperlink" Target="https://en.wikipedia.org/wiki/Backpropagation#CITEREFRumelhartHintonWilliams1986b" TargetMode="External"/><Relationship Id="rId9" Type="http://schemas.openxmlformats.org/officeDocument/2006/relationships/hyperlink" Target="https://en.wikipedia.org/wiki/Arthur_E._Bryson" TargetMode="Externa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</a:t>
            </a:r>
            <a:r>
              <a:rPr lang="pt-BR" baseline="0" dirty="0"/>
              <a:t> função de custo também é conhecida como função de perda (</a:t>
            </a:r>
            <a:r>
              <a:rPr lang="pt-BR" baseline="0" dirty="0" err="1"/>
              <a:t>loss</a:t>
            </a:r>
            <a:r>
              <a:rPr lang="pt-BR" baseline="0" dirty="0"/>
              <a:t>) ou função objetivo.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aseline="0" dirty="0"/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Redes neurais definitivamente podem ser treinadas sem o uso de derivadas.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Algoritmos Evolutivos, métodos de busca estocástica e técnicas de aprendizado por reforço são exemplos viáveis e são usados em problemas específicos onde o cálculo do gradiente é impossível, muito caro ou ineficaz.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para a grande maioria das aplicações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(visão computacional, processamento de linguagem natural, etc.), os métodos baseados em derivadas, devido à sua eficiência e velocidade de convergência superiores, continuam sendo a ferramenta certa para a tarefa.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alternativas sem derivadas são ferramentas de especialidade valiosas no arsenal do cientista de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699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905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matriz definida positiva tem todas as linhas e colunas linearmente independentes.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83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**método de busca local** é uma estratégia de otimização que parte de uma solução inicial e iterativamente se move para soluções "vizinhas" que melhoram o valor da função objetivo, até que nenhuma melhoria significativa possa ser encontrada.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**Ideia Central**</a:t>
            </a:r>
          </a:p>
          <a:p>
            <a:r>
              <a:rPr lang="pt-BR" dirty="0"/>
              <a:t>Começar com uma solução inicial \( x_0 \) e, em cada iteração, explorar soluções na **vizinhança** de \( x_0 \). Se uma solução melhor for encontrada, ela se torna a nova solução atual. O processo para quando atinge um **ótimo local** (nenhuma solução vizinha é melhor).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**Características Principais**</a:t>
            </a:r>
          </a:p>
          <a:p>
            <a:r>
              <a:rPr lang="pt-BR" dirty="0"/>
              <a:t>1. **Exploração local**:  </a:t>
            </a:r>
          </a:p>
          <a:p>
            <a:r>
              <a:rPr lang="pt-BR" dirty="0"/>
              <a:t>   Não busca o espaço inteiro de soluções, mas sim uma região próxima à solução atual.</a:t>
            </a:r>
          </a:p>
          <a:p>
            <a:endParaRPr lang="pt-BR" dirty="0"/>
          </a:p>
          <a:p>
            <a:r>
              <a:rPr lang="pt-BR" dirty="0"/>
              <a:t>2. **Dependência da solução inicial**:  </a:t>
            </a:r>
          </a:p>
          <a:p>
            <a:r>
              <a:rPr lang="pt-BR" dirty="0"/>
              <a:t>   Diferentes pontos de partida podem levar a diferentes ótimos locais.</a:t>
            </a:r>
          </a:p>
          <a:p>
            <a:endParaRPr lang="pt-BR" dirty="0"/>
          </a:p>
          <a:p>
            <a:r>
              <a:rPr lang="pt-BR" dirty="0"/>
              <a:t>3. **Eficiência computacional**:  </a:t>
            </a:r>
          </a:p>
          <a:p>
            <a:r>
              <a:rPr lang="pt-BR" dirty="0"/>
              <a:t>   Geralmente requer menos recursos que métodos globais, mas pode ficar preso em ótimos locais.</a:t>
            </a:r>
          </a:p>
          <a:p>
            <a:endParaRPr lang="pt-BR" dirty="0"/>
          </a:p>
          <a:p>
            <a:r>
              <a:rPr lang="pt-BR" dirty="0"/>
              <a:t>4. **Critério de parada**:  </a:t>
            </a:r>
          </a:p>
          <a:p>
            <a:r>
              <a:rPr lang="pt-BR" dirty="0"/>
              <a:t>   Quando nenhum vizinho melhora a solução atual, ou após um número máximo de iterações.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**Exemplo Ilustrativo**</a:t>
            </a:r>
          </a:p>
          <a:p>
            <a:r>
              <a:rPr lang="pt-BR" dirty="0"/>
              <a:t>Suponha que queremos minimizar \( f(x) = x^2 \):</a:t>
            </a:r>
          </a:p>
          <a:p>
            <a:r>
              <a:rPr lang="pt-BR" dirty="0"/>
              <a:t>- **Solução inicial**: \( x_0 = 2 \)</a:t>
            </a:r>
          </a:p>
          <a:p>
            <a:r>
              <a:rPr lang="pt-BR" dirty="0"/>
              <a:t>- **Vizinhança**: \( x \</a:t>
            </a:r>
            <a:r>
              <a:rPr lang="pt-BR" dirty="0" err="1"/>
              <a:t>pm</a:t>
            </a:r>
            <a:r>
              <a:rPr lang="pt-BR" dirty="0"/>
              <a:t> 0.5 \)</a:t>
            </a:r>
          </a:p>
          <a:p>
            <a:r>
              <a:rPr lang="pt-BR" dirty="0"/>
              <a:t>- **Iteração 1**:  </a:t>
            </a:r>
          </a:p>
          <a:p>
            <a:r>
              <a:rPr lang="pt-BR" dirty="0"/>
              <a:t>  - Testa \( 1.5 \) (melhor) → move para \( x = 1.5 \)</a:t>
            </a:r>
          </a:p>
          <a:p>
            <a:r>
              <a:rPr lang="pt-BR" dirty="0"/>
              <a:t>- **Iteração 2**:  </a:t>
            </a:r>
          </a:p>
          <a:p>
            <a:r>
              <a:rPr lang="pt-BR" dirty="0"/>
              <a:t>  - Testa \( 1.0 \) (melhor) → move para \( x = 1.0 \)</a:t>
            </a:r>
          </a:p>
          <a:p>
            <a:r>
              <a:rPr lang="pt-BR" dirty="0"/>
              <a:t>- **Iteração 3**:  </a:t>
            </a:r>
          </a:p>
          <a:p>
            <a:r>
              <a:rPr lang="pt-BR" dirty="0"/>
              <a:t>  - Testa \( 0.5 \) (melhor) → move para \( x = 0.5 \)</a:t>
            </a:r>
          </a:p>
          <a:p>
            <a:r>
              <a:rPr lang="pt-BR" dirty="0"/>
              <a:t>- **Iteração 4**:  </a:t>
            </a:r>
          </a:p>
          <a:p>
            <a:r>
              <a:rPr lang="pt-BR" dirty="0"/>
              <a:t>  - Testa \( 0.0 \) (melhor) → move para \( x = 0 \)</a:t>
            </a:r>
          </a:p>
          <a:p>
            <a:r>
              <a:rPr lang="pt-BR" dirty="0"/>
              <a:t>- **Parada**:  </a:t>
            </a:r>
          </a:p>
          <a:p>
            <a:r>
              <a:rPr lang="pt-BR" dirty="0"/>
              <a:t>  Nenhum vizinho de \( 0 \) é melhor → **ótimo local** (e global, neste caso).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**Algoritmos Clássicos de Busca Local**</a:t>
            </a:r>
          </a:p>
          <a:p>
            <a:r>
              <a:rPr lang="pt-BR" dirty="0"/>
              <a:t>1. **Subida da Encosta (Hill </a:t>
            </a:r>
            <a:r>
              <a:rPr lang="pt-BR" dirty="0" err="1"/>
              <a:t>Climbing</a:t>
            </a:r>
            <a:r>
              <a:rPr lang="pt-BR" dirty="0"/>
              <a:t>)**:</a:t>
            </a:r>
          </a:p>
          <a:p>
            <a:r>
              <a:rPr lang="pt-BR" dirty="0"/>
              <a:t>   - Versão para maximização.</a:t>
            </a:r>
          </a:p>
          <a:p>
            <a:r>
              <a:rPr lang="pt-BR" dirty="0"/>
              <a:t>   - Move sempre para o vizinho que dá maior ganho.</a:t>
            </a:r>
          </a:p>
          <a:p>
            <a:endParaRPr lang="pt-BR" dirty="0"/>
          </a:p>
          <a:p>
            <a:r>
              <a:rPr lang="pt-BR" dirty="0"/>
              <a:t>2. **Descida do Gradiente**:</a:t>
            </a:r>
          </a:p>
          <a:p>
            <a:r>
              <a:rPr lang="pt-BR" dirty="0"/>
              <a:t>   - Usa informações do gradiente para determinar a direção de maior descida.</a:t>
            </a:r>
          </a:p>
          <a:p>
            <a:r>
              <a:rPr lang="pt-BR" dirty="0"/>
              <a:t>   - Específico para funções diferenciáveis.</a:t>
            </a:r>
          </a:p>
          <a:p>
            <a:endParaRPr lang="pt-BR" dirty="0"/>
          </a:p>
          <a:p>
            <a:r>
              <a:rPr lang="pt-BR" dirty="0"/>
              <a:t>3. **Algoritmos Genéticos (operadores locais)**:</a:t>
            </a:r>
          </a:p>
          <a:p>
            <a:r>
              <a:rPr lang="pt-BR" dirty="0"/>
              <a:t>   - Mutações e cruzamentos podem atuar como busca local.</a:t>
            </a:r>
          </a:p>
          <a:p>
            <a:endParaRPr lang="pt-BR" dirty="0"/>
          </a:p>
          <a:p>
            <a:r>
              <a:rPr lang="pt-BR" dirty="0"/>
              <a:t>4. **</a:t>
            </a:r>
            <a:r>
              <a:rPr lang="pt-BR" dirty="0" err="1"/>
              <a:t>Simulated</a:t>
            </a:r>
            <a:r>
              <a:rPr lang="pt-BR" dirty="0"/>
              <a:t> </a:t>
            </a:r>
            <a:r>
              <a:rPr lang="pt-BR" dirty="0" err="1"/>
              <a:t>Annealing</a:t>
            </a:r>
            <a:r>
              <a:rPr lang="pt-BR" dirty="0"/>
              <a:t>**:</a:t>
            </a:r>
          </a:p>
          <a:p>
            <a:r>
              <a:rPr lang="pt-BR" dirty="0"/>
              <a:t>   - Permite movimentos para soluções piores (com probabilidade decrescente) para escapar de ótimos locais.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**Vantagens e Desvantagens**</a:t>
            </a:r>
          </a:p>
          <a:p>
            <a:r>
              <a:rPr lang="pt-BR" dirty="0"/>
              <a:t>| **Vantagens** | **Desvantagens** |</a:t>
            </a:r>
          </a:p>
          <a:p>
            <a:r>
              <a:rPr lang="pt-BR" dirty="0"/>
              <a:t>|---------------|------------------|</a:t>
            </a:r>
          </a:p>
          <a:p>
            <a:r>
              <a:rPr lang="pt-BR" dirty="0"/>
              <a:t>| Simplicidade | Pode convergir para ótimos locais |</a:t>
            </a:r>
          </a:p>
          <a:p>
            <a:r>
              <a:rPr lang="pt-BR" dirty="0"/>
              <a:t>| Eficiência em problemas grandes | Sensível à solução inicial |</a:t>
            </a:r>
          </a:p>
          <a:p>
            <a:r>
              <a:rPr lang="pt-BR" dirty="0"/>
              <a:t>| Boa para refinamento de soluções | Pode ser necessário reiniciar com diferentes pontos iniciais |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**Aplicações Práticas**</a:t>
            </a:r>
          </a:p>
          <a:p>
            <a:r>
              <a:rPr lang="pt-BR" dirty="0"/>
              <a:t>- **Roteamento de veículos**: Melhorar rotas a partir de uma solução inicial.</a:t>
            </a:r>
          </a:p>
          <a:p>
            <a:r>
              <a:rPr lang="pt-BR" dirty="0"/>
              <a:t>- **Ajuste de parâmetros em ML**: Fine-</a:t>
            </a:r>
            <a:r>
              <a:rPr lang="pt-BR" dirty="0" err="1"/>
              <a:t>tuning</a:t>
            </a:r>
            <a:r>
              <a:rPr lang="pt-BR" dirty="0"/>
              <a:t> de hiperparâmetros.</a:t>
            </a:r>
          </a:p>
          <a:p>
            <a:r>
              <a:rPr lang="pt-BR" dirty="0"/>
              <a:t>- **Problemas de atribuição**: Alocação de recursos/tarefas.</a:t>
            </a:r>
          </a:p>
          <a:p>
            <a:r>
              <a:rPr lang="pt-BR" dirty="0"/>
              <a:t>- **Arranjo físico (layout)**: Disposição de máquinas em uma fábrica.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**Busca Local vs. Busca Global**</a:t>
            </a:r>
          </a:p>
          <a:p>
            <a:r>
              <a:rPr lang="pt-BR" dirty="0"/>
              <a:t>- **Busca local**:  </a:t>
            </a:r>
          </a:p>
          <a:p>
            <a:r>
              <a:rPr lang="pt-BR" dirty="0"/>
              <a:t>  Foca em melhorar </a:t>
            </a:r>
            <a:r>
              <a:rPr lang="pt-BR" dirty="0" err="1"/>
              <a:t>incrementalmente</a:t>
            </a:r>
            <a:r>
              <a:rPr lang="pt-BR" dirty="0"/>
              <a:t> uma solução, mas pode perder o ótimo global.</a:t>
            </a:r>
          </a:p>
          <a:p>
            <a:endParaRPr lang="pt-BR" dirty="0"/>
          </a:p>
          <a:p>
            <a:r>
              <a:rPr lang="pt-BR" dirty="0"/>
              <a:t>- **Busca global**:  </a:t>
            </a:r>
          </a:p>
          <a:p>
            <a:r>
              <a:rPr lang="pt-BR" dirty="0"/>
              <a:t>  Explora todo o espaço de soluções (</a:t>
            </a:r>
            <a:r>
              <a:rPr lang="pt-BR" dirty="0" err="1"/>
              <a:t>ex</a:t>
            </a:r>
            <a:r>
              <a:rPr lang="pt-BR" dirty="0"/>
              <a:t>: algoritmos genéticos, enxame de partículas), mas é computacionalmente mais cara.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**Extensões para Evitar Ótimos Locais**</a:t>
            </a:r>
          </a:p>
          <a:p>
            <a:r>
              <a:rPr lang="pt-BR" dirty="0"/>
              <a:t>- **Reinício aleatório**: Executar a busca múltiplas vezes a partir de pontos iniciais diferentes.</a:t>
            </a:r>
          </a:p>
          <a:p>
            <a:r>
              <a:rPr lang="pt-BR" dirty="0"/>
              <a:t>- **Busca local iterada**: Perturbar a solução atual quando estagnada.</a:t>
            </a:r>
          </a:p>
          <a:p>
            <a:r>
              <a:rPr lang="pt-BR" dirty="0"/>
              <a:t>- **Algoritmos híbridos**: Combinar busca local com métodos globais.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952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4648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3910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152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44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8184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7224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1667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690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previsão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e em seguida, passa por cada camada no sentido inverso para medir a contribuição do erro de cada conexão (passagem reversa) e, finalmente, o algoritmo ajusta ligeiramente os pesos da conexão para reduzir o erro (etapa do gradiente descendente).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backpropagation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its general use in neural networks was announced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 Hinton &amp; Williams (1986a)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 elaborated and popularized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, Hinton &amp; Williams (1986b)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the technique was independently rediscovered many times, and had many predecessors dating to the 1960s.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[6]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[12]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basics of backpropagation were derived in the context 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Control theory"/>
              </a:rPr>
              <a:t>control theory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Henry J. Kelley"/>
              </a:rPr>
              <a:t>Henry J. Kelley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1960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Arthur E. Bryson"/>
              </a:rPr>
              <a:t>Arthur E. Bryson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1169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3727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o valor desejado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(rótulo)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i="0">
                    <a:latin typeface="Cambria Math" panose="02040503050406030204" pitchFamily="18" charset="0"/>
                  </a:rPr>
                  <a:t>𝑑_𝑗 (𝑛)</a:t>
                </a:r>
                <a:r>
                  <a:rPr lang="pt-BR" dirty="0"/>
                  <a:t> é o valor desejado da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-ésima saída (rótulo)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 e </a:t>
                </a:r>
                <a:r>
                  <a:rPr lang="pt-BR" i="0">
                    <a:latin typeface="Cambria Math" panose="02040503050406030204" pitchFamily="18" charset="0"/>
                  </a:rPr>
                  <a:t>𝑦_𝑗^𝑀 (𝑛)</a:t>
                </a:r>
                <a:r>
                  <a:rPr lang="pt-BR" dirty="0"/>
                  <a:t> é a saída do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6041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7605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5224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14:m>
                  <m:oMath xmlns:m="http://schemas.openxmlformats.org/officeDocument/2006/math">
                    <m:r>
                      <m:rPr>
                        <m:brk m:alnAt="23"/>
                      </m:rP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38573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𝛿</a:t>
                </a:r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3225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(ou, no caso dos termos de bias, pela unidade)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14987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Ao final, calcula-se o vetor de sensibilidade da última camada,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recursiva, obtêm-se os vetores de todas as camadas e portanto, esse é o processo conhecido como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Ao final, calcula-se o vetor de sensibilidade da última camada, </a:t>
                </a:r>
                <a:r>
                  <a:rPr lang="pt-BR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𝜹^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𝑀</a:t>
                </a:r>
                <a:r>
                  <a:rPr lang="pt-BR" dirty="0" smtClean="0"/>
                  <a:t>, </a:t>
                </a:r>
                <a:r>
                  <a:rPr lang="pt-BR" dirty="0"/>
                  <a:t>e, de maneira recursiva, </a:t>
                </a:r>
                <a:r>
                  <a:rPr lang="pt-BR" dirty="0" smtClean="0"/>
                  <a:t>obtêm-se </a:t>
                </a:r>
                <a:r>
                  <a:rPr lang="pt-BR" dirty="0"/>
                  <a:t>os vetores de todas as camadas e portanto, esse é o processo conhecido como </a:t>
                </a:r>
                <a:r>
                  <a:rPr lang="pt-BR" b="1" i="1" dirty="0" smtClean="0"/>
                  <a:t>retropropagação do erro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1182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Derivada da função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</a:t>
                </a:r>
              </a:p>
              <a:p>
                <a:endParaRPr lang="pt-BR" dirty="0"/>
              </a:p>
              <a:p>
                <a:r>
                  <a:rPr lang="pt-BR" dirty="0"/>
                  <a:t>Matriz com os pesos que conectam a camada m-1 à camada m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Derivada da função de ativação em relação às ativações dos </a:t>
                </a:r>
                <a:r>
                  <a:rPr lang="pt-BR" i="0">
                    <a:latin typeface="Cambria Math" panose="02040503050406030204" pitchFamily="18" charset="0"/>
                  </a:rPr>
                  <a:t>𝑁</a:t>
                </a:r>
                <a:r>
                  <a:rPr lang="pt-BR" i="0" smtClean="0">
                    <a:latin typeface="Cambria Math" panose="02040503050406030204" pitchFamily="18" charset="0"/>
                  </a:rPr>
                  <a:t>_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 nós da </a:t>
                </a:r>
                <a:r>
                  <a:rPr lang="pt-BR" i="0" smtClean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-</a:t>
                </a:r>
                <a:r>
                  <a:rPr lang="pt-BR" dirty="0" err="1" smtClean="0"/>
                  <a:t>ésima</a:t>
                </a:r>
                <a:r>
                  <a:rPr lang="pt-BR" dirty="0" smtClean="0"/>
                  <a:t> camada</a:t>
                </a:r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8788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45839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0245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#8:</a:t>
            </a:r>
            <a:r>
              <a:rPr lang="pt-BR" sz="1200" dirty="0"/>
              <a:t> https://mybinder.org/v2/gh/zz4fap/t320_aprendizado_de_maquina/main?filepath=labs%2FLaboratorio8.ipynb</a:t>
            </a:r>
          </a:p>
          <a:p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Laboratório #8:</a:t>
            </a:r>
            <a:r>
              <a:rPr lang="pt-BR" sz="1200" dirty="0"/>
              <a:t> </a:t>
            </a:r>
            <a:r>
              <a:rPr lang="pt-BR" dirty="0"/>
              <a:t>https://colab.research.google.com/github/zz4fap/t320_aprendizado_de_maquina/blob/main/labs/</a:t>
            </a:r>
            <a:r>
              <a:rPr lang="pt-BR" sz="1200" dirty="0"/>
              <a:t>Laboratorio8.ipynb</a:t>
            </a:r>
          </a:p>
          <a:p>
            <a:endParaRPr lang="pt-BR" sz="1200" dirty="0"/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1.png"/><Relationship Id="rId4" Type="http://schemas.openxmlformats.org/officeDocument/2006/relationships/image" Target="../media/image19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7" Type="http://schemas.openxmlformats.org/officeDocument/2006/relationships/image" Target="../media/image26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1.png"/><Relationship Id="rId4" Type="http://schemas.openxmlformats.org/officeDocument/2006/relationships/image" Target="../media/image321.png"/></Relationships>
</file>

<file path=ppt/slides/_rels/slide44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290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70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70.png"/><Relationship Id="rId21" Type="http://schemas.openxmlformats.org/officeDocument/2006/relationships/image" Target="../media/image42.png"/><Relationship Id="rId7" Type="http://schemas.openxmlformats.org/officeDocument/2006/relationships/image" Target="../media/image310.png"/><Relationship Id="rId12" Type="http://schemas.openxmlformats.org/officeDocument/2006/relationships/image" Target="../media/image360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image" Target="../media/image260.png"/><Relationship Id="rId16" Type="http://schemas.openxmlformats.org/officeDocument/2006/relationships/image" Target="NULL"/><Relationship Id="rId20" Type="http://schemas.openxmlformats.org/officeDocument/2006/relationships/image" Target="../media/image41.png"/><Relationship Id="rId29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11" Type="http://schemas.openxmlformats.org/officeDocument/2006/relationships/image" Target="../media/image350.png"/><Relationship Id="rId24" Type="http://schemas.openxmlformats.org/officeDocument/2006/relationships/image" Target="../media/image45.png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40.png"/><Relationship Id="rId19" Type="http://schemas.openxmlformats.org/officeDocument/2006/relationships/image" Target="../media/image400.png"/><Relationship Id="rId31" Type="http://schemas.openxmlformats.org/officeDocument/2006/relationships/image" Target="../media/image52.png"/><Relationship Id="rId4" Type="http://schemas.openxmlformats.org/officeDocument/2006/relationships/image" Target="../media/image280.png"/><Relationship Id="rId9" Type="http://schemas.openxmlformats.org/officeDocument/2006/relationships/image" Target="../media/image330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819807"/>
            <a:ext cx="9309315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Redes Neurais Artificiais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66988" cy="5032376"/>
          </a:xfrm>
        </p:spPr>
        <p:txBody>
          <a:bodyPr>
            <a:normAutofit/>
          </a:bodyPr>
          <a:lstStyle/>
          <a:p>
            <a:r>
              <a:rPr lang="pt-BR" dirty="0"/>
              <a:t>No último tópico, aprendemos o que são redes neurais.</a:t>
            </a:r>
          </a:p>
          <a:p>
            <a:r>
              <a:rPr lang="pt-BR" dirty="0"/>
              <a:t>Vimos que elas são formadas por </a:t>
            </a:r>
            <a:r>
              <a:rPr lang="pt-BR" b="1" i="1" dirty="0">
                <a:solidFill>
                  <a:srgbClr val="00B050"/>
                </a:solidFill>
              </a:rPr>
              <a:t>camadas de neurônios </a:t>
            </a:r>
            <a:r>
              <a:rPr lang="pt-BR" dirty="0"/>
              <a:t>que se </a:t>
            </a:r>
            <a:r>
              <a:rPr lang="pt-BR" b="1" i="1" dirty="0">
                <a:solidFill>
                  <a:srgbClr val="00B050"/>
                </a:solidFill>
              </a:rPr>
              <a:t>conectam através dos pesos sinápticos</a:t>
            </a:r>
            <a:r>
              <a:rPr lang="pt-BR" dirty="0"/>
              <a:t>.</a:t>
            </a:r>
          </a:p>
          <a:p>
            <a:r>
              <a:rPr lang="pt-BR" dirty="0"/>
              <a:t>Aprendemos que as </a:t>
            </a:r>
            <a:r>
              <a:rPr lang="pt-BR" b="1" i="1" dirty="0">
                <a:solidFill>
                  <a:srgbClr val="00B050"/>
                </a:solidFill>
              </a:rPr>
              <a:t>funções de ativação logística e tangente hiperbólica </a:t>
            </a:r>
            <a:r>
              <a:rPr lang="pt-BR" dirty="0"/>
              <a:t>causam o </a:t>
            </a:r>
            <a:r>
              <a:rPr lang="pt-BR" b="1" i="1" dirty="0">
                <a:solidFill>
                  <a:srgbClr val="00B050"/>
                </a:solidFill>
              </a:rPr>
              <a:t>problema do desaparecimento do gradiente</a:t>
            </a:r>
            <a:r>
              <a:rPr lang="pt-BR" dirty="0"/>
              <a:t>, o qual pode ser mitigado usando-se a </a:t>
            </a:r>
            <a:r>
              <a:rPr lang="pt-BR" b="1" i="1" dirty="0">
                <a:solidFill>
                  <a:srgbClr val="7030A0"/>
                </a:solidFill>
              </a:rPr>
              <a:t>função retificadora ou suas variantes</a:t>
            </a:r>
            <a:r>
              <a:rPr lang="pt-BR" dirty="0"/>
              <a:t>.</a:t>
            </a:r>
          </a:p>
          <a:p>
            <a:r>
              <a:rPr lang="pt-BR" dirty="0"/>
              <a:t>Discutimos </a:t>
            </a:r>
            <a:r>
              <a:rPr lang="pt-BR" b="1" i="1" dirty="0">
                <a:solidFill>
                  <a:srgbClr val="00B050"/>
                </a:solidFill>
              </a:rPr>
              <a:t>dois tipos de conexões de neurônios</a:t>
            </a:r>
            <a:r>
              <a:rPr lang="pt-BR" dirty="0"/>
              <a:t> mais usadas.</a:t>
            </a:r>
          </a:p>
          <a:p>
            <a:r>
              <a:rPr lang="pt-BR" dirty="0"/>
              <a:t>Aprendemos que as redes neurais são </a:t>
            </a:r>
            <a:r>
              <a:rPr lang="pt-BR" b="1" i="1" dirty="0">
                <a:solidFill>
                  <a:srgbClr val="00B050"/>
                </a:solidFill>
              </a:rPr>
              <a:t>aproximadoras universais de funções</a:t>
            </a:r>
            <a:r>
              <a:rPr lang="pt-BR" dirty="0"/>
              <a:t>.</a:t>
            </a:r>
          </a:p>
          <a:p>
            <a:r>
              <a:rPr lang="pt-BR" dirty="0"/>
              <a:t>Neste tópico, veremos </a:t>
            </a:r>
            <a:r>
              <a:rPr lang="pt-BR" b="1" i="1" dirty="0">
                <a:solidFill>
                  <a:srgbClr val="0070C0"/>
                </a:solidFill>
              </a:rPr>
              <a:t>como as redes neurais aprendem</a:t>
            </a:r>
            <a:r>
              <a:rPr lang="pt-BR" dirty="0"/>
              <a:t>, ou seja, como elas são treinadas.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A9F2CF-047A-F843-A364-D9DA28BB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20130F-9DE3-285A-0891-6397B0C79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598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processo de atualização dos pesos</a:t>
                </a:r>
                <a:r>
                  <a:rPr lang="pt-BR" dirty="0"/>
                  <a:t> de uma rede neural corresponde 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problema de minimização </a:t>
                </a:r>
                <a:r>
                  <a:rPr lang="pt-BR" dirty="0"/>
                  <a:t>de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de erro</a:t>
                </a:r>
                <a:r>
                  <a:rPr lang="pt-BR" dirty="0"/>
                  <a:t> (ou de perda ou custo),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, com relação a um vetor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Esse processo de otimização é </a:t>
                </a:r>
                <a:r>
                  <a:rPr lang="pt-BR" b="1" i="1" dirty="0"/>
                  <a:t>conduzido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 iterativa</a:t>
                </a:r>
                <a:r>
                  <a:rPr lang="pt-BR" dirty="0"/>
                  <a:t>, o que dá um </a:t>
                </a:r>
                <a:r>
                  <a:rPr lang="pt-BR" b="1" i="1" dirty="0"/>
                  <a:t>sentido mais natural à noção de aprendizado</a:t>
                </a:r>
                <a:r>
                  <a:rPr lang="pt-BR" dirty="0"/>
                  <a:t> (i.e., um processo gradual).</a:t>
                </a:r>
              </a:p>
              <a:p>
                <a:r>
                  <a:rPr lang="pt-BR" dirty="0"/>
                  <a:t>Existem </a:t>
                </a:r>
                <a:r>
                  <a:rPr lang="pt-BR" b="1" i="1" dirty="0"/>
                  <a:t>vários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métodos de otimização </a:t>
                </a:r>
                <a:r>
                  <a:rPr lang="pt-BR" dirty="0"/>
                  <a:t>aplicáveis, mas, sem dúvida,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utilizados </a:t>
                </a:r>
                <a:r>
                  <a:rPr lang="pt-BR" dirty="0"/>
                  <a:t>são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baseados nas derivadas da função de custo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Dentre esses métodos, existem os de </a:t>
                </a:r>
                <a:r>
                  <a:rPr lang="pt-BR" b="1" i="1" dirty="0"/>
                  <a:t>primeira ordem </a:t>
                </a:r>
                <a:r>
                  <a:rPr lang="pt-BR" dirty="0"/>
                  <a:t>e os de </a:t>
                </a:r>
                <a:r>
                  <a:rPr lang="pt-BR" b="1" i="1" dirty="0"/>
                  <a:t>segunda ordem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D20130F-9DE3-285A-0891-6397B0C79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5982" cy="5032375"/>
              </a:xfrm>
              <a:blipFill rotWithShape="0">
                <a:blip r:embed="rId3"/>
                <a:stretch>
                  <a:fillRect l="-923" t="-1937" r="-4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907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primeira ordem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são baseados nas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primeira ordem </a:t>
                </a:r>
                <a:r>
                  <a:rPr lang="pt-BR" dirty="0"/>
                  <a:t>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Eles usam a seguinte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𝛼𝛻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>
                    <a:ea typeface="Cambria Math" panose="02040503050406030204" pitchFamily="18" charset="0"/>
                  </a:rPr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  <m:t>⋯</m:t>
                                        </m:r>
                                      </m:e>
                                      <m:e>
                                        <m:f>
                                          <m:fPr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  <m:t>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(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)</m:t>
                                                </m:r>
                                              </m:e>
                                            </m:d>
                                          </m:num>
                                          <m:den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𝑤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+1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a iteração de atualização.</a:t>
                </a:r>
              </a:p>
              <a:p>
                <a:r>
                  <a:rPr lang="pt-BR" dirty="0"/>
                  <a:t>As várias versões do gradiente descendente, além das variantes adaptativas e do termo momentum, são exemplos de métodos de primeira ordem.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 rotWithShape="0">
                <a:blip r:embed="rId2"/>
                <a:stretch>
                  <a:fillRect l="-11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0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os 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segunda ordem</a:t>
                </a:r>
                <a:r>
                  <a:rPr lang="pt-BR" dirty="0"/>
                  <a:t>, além das informações de primeira ordem, utilizam informações fornecidas pelas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segunda ordem</a:t>
                </a:r>
                <a:r>
                  <a:rPr lang="pt-BR" dirty="0"/>
                  <a:t>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 contidas na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matriz Hessiana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sz="2400" b="1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f>
                                            <m:f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𝜕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)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𝜕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𝐾</m:t>
                                                  </m:r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+1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den>
                                          </m:f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matriz informa se a função é convexa, se um ponto é mínimo/máximo/sela, e quão “íngreme” ou “plana” é a superfície localmente.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836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D3DB5E-6462-A56E-2145-7ACF43F25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8143727-18C5-4552-34C3-074BF938F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/>
                  <a:t>equação de atualização dos pesos </a:t>
                </a:r>
                <a:r>
                  <a:rPr lang="pt-BR" dirty="0"/>
                  <a:t>usando as informações de primeira e segunda ordem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Essa expressão requer que 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seja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invertível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definida positiva</a:t>
                </a:r>
                <a:r>
                  <a:rPr lang="pt-BR" dirty="0"/>
                  <a:t> a cada iteração,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𝑯𝒛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∀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 (vetor nulo).</a:t>
                </a:r>
              </a:p>
              <a:p>
                <a:r>
                  <a:rPr lang="pt-BR" dirty="0"/>
                  <a:t>A atualização dos pesos utilizando informações de primeira e de segunda ordem é mais precisa do que a fornecida por métodos de primeira ordem.</a:t>
                </a:r>
              </a:p>
              <a:p>
                <a:r>
                  <a:rPr lang="pt-BR" dirty="0"/>
                  <a:t>Portanto, métodos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segunda ordem convergem mais rapidamente</a:t>
                </a:r>
                <a:r>
                  <a:rPr lang="pt-BR" dirty="0"/>
                  <a:t> do que métodos de </a:t>
                </a:r>
                <a:r>
                  <a:rPr lang="pt-BR" b="1" i="1" dirty="0"/>
                  <a:t>primeira ordem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98143727-18C5-4552-34C3-074BF938F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  <a:blipFill rotWithShape="0">
                <a:blip r:embed="rId3"/>
                <a:stretch>
                  <a:fillRect l="-934" t="-1937" r="-17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5046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F0913-967E-D3D6-A1DA-CDA652C3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ACABAFA-C59D-58C4-EB01-2F19A06C0E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Entretanto, o cálculo exato da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pode ser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custoso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computacionalmente </a:t>
                </a:r>
                <a:r>
                  <a:rPr lang="pt-BR" dirty="0"/>
                  <a:t>em vários casos práticos.</a:t>
                </a:r>
              </a:p>
              <a:p>
                <a:r>
                  <a:rPr lang="pt-BR" dirty="0"/>
                  <a:t>Por exemplo, se tivermos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 pesos para otimizar, precisamos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×10=100</m:t>
                    </m:r>
                  </m:oMath>
                </a14:m>
                <a:r>
                  <a:rPr lang="pt-BR" dirty="0"/>
                  <a:t> derivadas parciais para formar a matriz Hessiana.</a:t>
                </a:r>
              </a:p>
              <a:p>
                <a:r>
                  <a:rPr lang="pt-BR" dirty="0"/>
                  <a:t>As matrizes podem consumir muita memória para seu armazenamento.</a:t>
                </a:r>
              </a:p>
              <a:p>
                <a:r>
                  <a:rPr lang="pt-BR" dirty="0"/>
                  <a:t>Além disso, ela precisa ser invertida, o que tem complexidade cúbica,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Portanto, essa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abordagem direta não é eficiente </a:t>
                </a:r>
                <a:r>
                  <a:rPr lang="pt-BR" dirty="0"/>
                  <a:t>se o número de pesos for muito grande, o que é o caso quando se usa redes neurais profundas.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3ACABAFA-C59D-58C4-EB01-2F19A06C0E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 rotWithShape="0">
                <a:blip r:embed="rId2"/>
                <a:stretch>
                  <a:fillRect l="-913" t="-1937" r="-37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07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F0913-967E-D3D6-A1DA-CDA652C3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CABAFA-C59D-58C4-EB01-2F19A06C0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181737" cy="5032375"/>
          </a:xfrm>
        </p:spPr>
        <p:txBody>
          <a:bodyPr>
            <a:normAutofit/>
          </a:bodyPr>
          <a:lstStyle/>
          <a:p>
            <a:r>
              <a:rPr lang="pt-BR" dirty="0"/>
              <a:t>Porém, há um conjunto de métodos de segunda ordem que evita esse cálculo direto.</a:t>
            </a:r>
          </a:p>
          <a:p>
            <a:r>
              <a:rPr lang="pt-BR" dirty="0"/>
              <a:t>Métodos </a:t>
            </a:r>
            <a:r>
              <a:rPr lang="pt-BR" b="1" i="1" dirty="0" err="1"/>
              <a:t>quasi</a:t>
            </a:r>
            <a:r>
              <a:rPr lang="pt-BR" b="1" i="1" dirty="0"/>
              <a:t>-Newton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aproximam</a:t>
            </a:r>
            <a:r>
              <a:rPr lang="pt-BR" dirty="0"/>
              <a:t> a matriz Hessiana sem calculá-la explicitamente.</a:t>
            </a:r>
          </a:p>
          <a:p>
            <a:r>
              <a:rPr lang="pt-BR" dirty="0"/>
              <a:t>Em vez disso, usam:</a:t>
            </a:r>
          </a:p>
          <a:p>
            <a:pPr lvl="1"/>
            <a:r>
              <a:rPr lang="pt-BR" dirty="0"/>
              <a:t>histórico de gradientes, </a:t>
            </a:r>
          </a:p>
          <a:p>
            <a:pPr lvl="1"/>
            <a:r>
              <a:rPr lang="pt-BR" dirty="0"/>
              <a:t>histórico de atualizações dos pesos,</a:t>
            </a:r>
          </a:p>
          <a:p>
            <a:pPr lvl="1"/>
            <a:r>
              <a:rPr lang="pt-BR" dirty="0"/>
              <a:t>e aproximações iterativas da curvatura da superfície.</a:t>
            </a:r>
          </a:p>
          <a:p>
            <a:r>
              <a:rPr lang="pt-BR" dirty="0"/>
              <a:t>Por exemplo, o algoritmo </a:t>
            </a:r>
            <a:r>
              <a:rPr lang="pt-BR" i="1" dirty="0" err="1"/>
              <a:t>limited-memory</a:t>
            </a:r>
            <a:r>
              <a:rPr lang="pt-BR" dirty="0"/>
              <a:t> </a:t>
            </a:r>
            <a:r>
              <a:rPr lang="pt-BR" dirty="0" err="1"/>
              <a:t>Broyden</a:t>
            </a:r>
            <a:r>
              <a:rPr lang="pt-BR" dirty="0"/>
              <a:t>–</a:t>
            </a:r>
            <a:r>
              <a:rPr lang="pt-BR" dirty="0" err="1"/>
              <a:t>Fletcher</a:t>
            </a:r>
            <a:r>
              <a:rPr lang="pt-BR" dirty="0"/>
              <a:t>–</a:t>
            </a:r>
            <a:r>
              <a:rPr lang="pt-BR" dirty="0" err="1"/>
              <a:t>Goldfarb</a:t>
            </a:r>
            <a:r>
              <a:rPr lang="pt-BR" dirty="0"/>
              <a:t>–</a:t>
            </a:r>
            <a:r>
              <a:rPr lang="pt-BR" dirty="0" err="1"/>
              <a:t>Shanno</a:t>
            </a:r>
            <a:r>
              <a:rPr lang="pt-BR" dirty="0"/>
              <a:t> (L-BFGS) é um exemplo de método </a:t>
            </a:r>
            <a:r>
              <a:rPr lang="pt-BR" b="1" i="1" dirty="0" err="1"/>
              <a:t>quasi</a:t>
            </a:r>
            <a:r>
              <a:rPr lang="pt-BR" b="1" i="1" dirty="0"/>
              <a:t>-Newton</a:t>
            </a:r>
            <a:r>
              <a:rPr lang="pt-BR" dirty="0"/>
              <a:t> implementado pela biblioteca </a:t>
            </a:r>
            <a:r>
              <a:rPr lang="pt-BR" i="1" dirty="0" err="1"/>
              <a:t>SciKit-Learn</a:t>
            </a:r>
            <a:r>
              <a:rPr lang="pt-BR" dirty="0"/>
              <a:t> em várias de suas classes. 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435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7626" y="1825624"/>
            <a:ext cx="6327058" cy="5032375"/>
          </a:xfrm>
        </p:spPr>
        <p:txBody>
          <a:bodyPr>
            <a:normAutofit/>
          </a:bodyPr>
          <a:lstStyle/>
          <a:p>
            <a:r>
              <a:rPr lang="pt-BR" dirty="0"/>
              <a:t>Todos os métodos que acabamos de discutir são métodos de </a:t>
            </a:r>
            <a:r>
              <a:rPr lang="pt-BR" b="1" i="1" dirty="0">
                <a:solidFill>
                  <a:srgbClr val="00B050"/>
                </a:solidFill>
              </a:rPr>
              <a:t>busca local</a:t>
            </a:r>
            <a:r>
              <a:rPr lang="pt-BR" dirty="0"/>
              <a:t>, ou seja, eles </a:t>
            </a:r>
            <a:r>
              <a:rPr lang="pt-BR" b="1" i="1" dirty="0">
                <a:solidFill>
                  <a:srgbClr val="00B050"/>
                </a:solidFill>
              </a:rPr>
              <a:t>buscam uma solução n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as proximidades do ponto de inicialização</a:t>
            </a:r>
            <a:r>
              <a:rPr lang="pt-BR" b="0" i="0" dirty="0">
                <a:effectLst/>
              </a:rPr>
              <a:t>.  </a:t>
            </a:r>
          </a:p>
          <a:p>
            <a:r>
              <a:rPr lang="pt-BR" dirty="0"/>
              <a:t>Consequentemente,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convergência para um mínimo global não é assegurada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Portanto, dependendo de onde o algoritmo é </a:t>
            </a:r>
            <a:r>
              <a:rPr lang="pt-BR" b="1" i="1" dirty="0">
                <a:solidFill>
                  <a:srgbClr val="002060"/>
                </a:solidFill>
              </a:rPr>
              <a:t>inicializado</a:t>
            </a:r>
            <a:r>
              <a:rPr lang="pt-BR" dirty="0"/>
              <a:t>, ele pode </a:t>
            </a:r>
            <a:r>
              <a:rPr lang="pt-BR" b="1" i="1" dirty="0">
                <a:solidFill>
                  <a:srgbClr val="002060"/>
                </a:solidFill>
              </a:rPr>
              <a:t>convergir para um mínimo local</a:t>
            </a:r>
            <a:r>
              <a:rPr lang="pt-BR" dirty="0"/>
              <a:t>.</a:t>
            </a:r>
          </a:p>
        </p:txBody>
      </p:sp>
      <p:grpSp>
        <p:nvGrpSpPr>
          <p:cNvPr id="12" name="Grupo 11"/>
          <p:cNvGrpSpPr/>
          <p:nvPr/>
        </p:nvGrpSpPr>
        <p:grpSpPr>
          <a:xfrm>
            <a:off x="982746" y="2512602"/>
            <a:ext cx="3185721" cy="2954746"/>
            <a:chOff x="68346" y="2719080"/>
            <a:chExt cx="3185721" cy="2954746"/>
          </a:xfrm>
        </p:grpSpPr>
        <p:grpSp>
          <p:nvGrpSpPr>
            <p:cNvPr id="4" name="Group 9">
              <a:extLst>
                <a:ext uri="{FF2B5EF4-FFF2-40B4-BE49-F238E27FC236}">
                  <a16:creationId xmlns:a16="http://schemas.microsoft.com/office/drawing/2014/main" id="{27C9E80A-2337-64E7-FF6A-22E340A8A6CC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5" name="Picture 3">
                <a:extLst>
                  <a:ext uri="{FF2B5EF4-FFF2-40B4-BE49-F238E27FC236}">
                    <a16:creationId xmlns:a16="http://schemas.microsoft.com/office/drawing/2014/main" id="{1B2B1901-3474-09A8-9D05-19ADFE74258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6067F316-1C82-8253-B1FF-B0A245EFABB1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8FC4BD1-0013-27EA-F13F-619BD7F9762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09E1B7-9742-F691-1849-1DF4D7569C66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4967E2-4212-29D9-11A4-6F1EB1947E4A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4478FE68-145B-064E-47C1-8B8CC902AD9F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4478FE68-145B-064E-47C1-8B8CC902AD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258BEE84-736A-6F63-CAC7-CE9927ACE6C8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258BEE84-736A-6F63-CAC7-CE9927ACE6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11967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628" y="1825624"/>
            <a:ext cx="6792056" cy="5032375"/>
          </a:xfrm>
        </p:spPr>
        <p:txBody>
          <a:bodyPr>
            <a:normAutofit/>
          </a:bodyPr>
          <a:lstStyle/>
          <a:p>
            <a:r>
              <a:rPr lang="pt-BR" dirty="0"/>
              <a:t>A figura apresenta dois mínimos: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local</a:t>
            </a:r>
            <a:r>
              <a:rPr lang="pt-BR" dirty="0"/>
              <a:t>: é uma </a:t>
            </a:r>
            <a:r>
              <a:rPr lang="pt-BR" b="1" i="1" dirty="0"/>
              <a:t>solução ótima </a:t>
            </a:r>
            <a:r>
              <a:rPr lang="pt-BR" b="1" i="1" dirty="0">
                <a:solidFill>
                  <a:srgbClr val="7030A0"/>
                </a:solidFill>
              </a:rPr>
              <a:t>apenas</a:t>
            </a:r>
            <a:r>
              <a:rPr lang="pt-BR" b="1" i="1" dirty="0"/>
              <a:t> em relação aos seus vizinhos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global</a:t>
            </a:r>
            <a:r>
              <a:rPr lang="pt-BR" dirty="0"/>
              <a:t>: é uma </a:t>
            </a:r>
            <a:r>
              <a:rPr lang="pt-BR" b="1" i="1" dirty="0"/>
              <a:t>solução ótima em</a:t>
            </a:r>
            <a:r>
              <a:rPr lang="pt-BR" b="1" i="1" dirty="0">
                <a:solidFill>
                  <a:srgbClr val="7030A0"/>
                </a:solidFill>
              </a:rPr>
              <a:t> relação a todo o domínio da função de erro</a:t>
            </a:r>
            <a:r>
              <a:rPr lang="pt-BR" dirty="0"/>
              <a:t>.</a:t>
            </a:r>
          </a:p>
          <a:p>
            <a:r>
              <a:rPr lang="pt-BR" dirty="0"/>
              <a:t>Por serem formadas pela </a:t>
            </a:r>
            <a:r>
              <a:rPr lang="pt-BR" b="1" i="1" dirty="0">
                <a:solidFill>
                  <a:srgbClr val="00B050"/>
                </a:solidFill>
              </a:rPr>
              <a:t>combinação de vários nós com funções de ativação não-lineares</a:t>
            </a:r>
            <a:r>
              <a:rPr lang="pt-BR" dirty="0"/>
              <a:t>, as superfícies de erro de redes neurais </a:t>
            </a:r>
            <a:r>
              <a:rPr lang="pt-BR" b="1" i="1" dirty="0">
                <a:solidFill>
                  <a:srgbClr val="FF0000"/>
                </a:solidFill>
              </a:rPr>
              <a:t>não são convexas</a:t>
            </a:r>
            <a:r>
              <a:rPr lang="pt-BR" dirty="0"/>
              <a:t>,</a:t>
            </a:r>
            <a:r>
              <a:rPr lang="pt-BR" dirty="0">
                <a:solidFill>
                  <a:srgbClr val="FF0000"/>
                </a:solidFill>
              </a:rPr>
              <a:t> </a:t>
            </a:r>
            <a:r>
              <a:rPr lang="pt-BR" dirty="0"/>
              <a:t>ou seja, elas são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altamente irregulares</a:t>
            </a:r>
            <a:r>
              <a:rPr lang="pt-BR" dirty="0"/>
              <a:t>, </a:t>
            </a:r>
            <a:r>
              <a:rPr lang="pt-BR" b="1" i="1" dirty="0"/>
              <a:t>podendo conter vários mínimos locais</a:t>
            </a:r>
            <a:r>
              <a:rPr lang="pt-BR" dirty="0"/>
              <a:t>.</a:t>
            </a:r>
          </a:p>
          <a:p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B9FF175E-F923-645E-CDBC-2CB0D22B6676}"/>
              </a:ext>
            </a:extLst>
          </p:cNvPr>
          <p:cNvGrpSpPr/>
          <p:nvPr/>
        </p:nvGrpSpPr>
        <p:grpSpPr>
          <a:xfrm>
            <a:off x="1037336" y="2487068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:a16="http://schemas.microsoft.com/office/drawing/2014/main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:a16="http://schemas.microsoft.com/office/drawing/2014/main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:a16="http://schemas.microsoft.com/office/drawing/2014/main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0544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3263" y="1825624"/>
            <a:ext cx="7341421" cy="5032375"/>
          </a:xfrm>
        </p:spPr>
        <p:txBody>
          <a:bodyPr>
            <a:normAutofit/>
          </a:bodyPr>
          <a:lstStyle/>
          <a:p>
            <a:r>
              <a:rPr lang="pt-BR" sz="2800" dirty="0"/>
              <a:t>Entretanto, felizmente, </a:t>
            </a:r>
            <a:r>
              <a:rPr lang="pt-BR" sz="2800" b="1" i="1" dirty="0">
                <a:solidFill>
                  <a:srgbClr val="7030A0"/>
                </a:solidFill>
              </a:rPr>
              <a:t>quase todos os mínimos locais </a:t>
            </a:r>
            <a:r>
              <a:rPr lang="pt-BR" sz="2800" dirty="0"/>
              <a:t>de uma rede neural </a:t>
            </a:r>
            <a:r>
              <a:rPr lang="pt-BR" sz="2800" b="1" i="1" dirty="0">
                <a:solidFill>
                  <a:srgbClr val="7030A0"/>
                </a:solidFill>
              </a:rPr>
              <a:t>têm valor de erro próximo ao do mínimo global</a:t>
            </a:r>
            <a:r>
              <a:rPr lang="pt-BR" sz="2800" dirty="0"/>
              <a:t> e, portanto, encontrar um desses mínimos locais já é bom o suficiente para um dado problema [1].</a:t>
            </a:r>
          </a:p>
          <a:p>
            <a:r>
              <a:rPr lang="pt-BR" dirty="0"/>
              <a:t>Além dos mínimos locais e global, as superfícies de erro de redes neurais podem apresentar outras </a:t>
            </a:r>
            <a:r>
              <a:rPr lang="pt-BR" b="1" i="1" dirty="0">
                <a:solidFill>
                  <a:srgbClr val="00B050"/>
                </a:solidFill>
              </a:rPr>
              <a:t>irregularidades que dificultam seu aprendizado</a:t>
            </a:r>
            <a:r>
              <a:rPr lang="pt-BR" dirty="0"/>
              <a:t>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B9FF175E-F923-645E-CDBC-2CB0D22B6676}"/>
              </a:ext>
            </a:extLst>
          </p:cNvPr>
          <p:cNvGrpSpPr/>
          <p:nvPr/>
        </p:nvGrpSpPr>
        <p:grpSpPr>
          <a:xfrm>
            <a:off x="838200" y="2689804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:a16="http://schemas.microsoft.com/office/drawing/2014/main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:a16="http://schemas.microsoft.com/office/drawing/2014/main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:a16="http://schemas.microsoft.com/office/drawing/2014/main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Retângulo 3"/>
          <p:cNvSpPr/>
          <p:nvPr/>
        </p:nvSpPr>
        <p:spPr>
          <a:xfrm>
            <a:off x="5278330" y="6550222"/>
            <a:ext cx="691367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[1] “The </a:t>
            </a:r>
            <a:r>
              <a:rPr lang="pt-BR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Loss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pt-BR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Surfaces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pt-BR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of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pt-BR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Multilayer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 Networks” - Anna </a:t>
            </a:r>
            <a:r>
              <a:rPr lang="pt-BR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Choromanska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, </a:t>
            </a:r>
            <a:r>
              <a:rPr lang="pt-BR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Yann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pt-BR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LeCun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 et al., 2015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485659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4955" y="1825624"/>
            <a:ext cx="7207045" cy="5032375"/>
          </a:xfrm>
        </p:spPr>
        <p:txBody>
          <a:bodyPr>
            <a:normAutofit/>
          </a:bodyPr>
          <a:lstStyle/>
          <a:p>
            <a:r>
              <a:rPr lang="pt-BR" b="1" i="1" dirty="0"/>
              <a:t>Pontos de sela </a:t>
            </a:r>
            <a:r>
              <a:rPr lang="pt-BR" dirty="0"/>
              <a:t>são</a:t>
            </a:r>
            <a:r>
              <a:rPr lang="pt-BR" b="1" i="1" dirty="0"/>
              <a:t> </a:t>
            </a:r>
            <a:r>
              <a:rPr lang="pt-BR" dirty="0"/>
              <a:t>irregularidades muito comuns: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um ponto que é um </a:t>
            </a:r>
            <a:r>
              <a:rPr lang="pt-BR" b="1" i="1" dirty="0">
                <a:solidFill>
                  <a:srgbClr val="00B050"/>
                </a:solidFill>
              </a:rPr>
              <a:t>mínimo ao longo de um eixo</a:t>
            </a:r>
            <a:r>
              <a:rPr lang="pt-BR" dirty="0"/>
              <a:t>, mas um </a:t>
            </a:r>
            <a:r>
              <a:rPr lang="pt-BR" b="1" i="1" dirty="0">
                <a:solidFill>
                  <a:srgbClr val="00B050"/>
                </a:solidFill>
              </a:rPr>
              <a:t>máximo ao longo de outro</a:t>
            </a:r>
            <a:r>
              <a:rPr lang="pt-BR" dirty="0"/>
              <a:t>.</a:t>
            </a:r>
            <a:r>
              <a:rPr lang="pt-BR" dirty="0">
                <a:cs typeface="Calibri"/>
              </a:rPr>
              <a:t>​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algumas direções são </a:t>
            </a:r>
            <a:r>
              <a:rPr lang="pt-BR" b="1" i="1" dirty="0"/>
              <a:t>atratores</a:t>
            </a:r>
            <a:r>
              <a:rPr lang="pt-BR" dirty="0"/>
              <a:t> (i.e., alta declividade), mas em outras não.</a:t>
            </a:r>
          </a:p>
          <a:p>
            <a:r>
              <a:rPr lang="pt-BR" dirty="0"/>
              <a:t>O algoritmo de otimização pode passar um longo período de tempo sendo atraído por eles, o que prejudica seu desempenho.</a:t>
            </a:r>
          </a:p>
          <a:p>
            <a:r>
              <a:rPr lang="pt-BR" dirty="0"/>
              <a:t>Para escapar destes pontos, usa-se métodos de </a:t>
            </a:r>
            <a:r>
              <a:rPr lang="pt-BR" b="1" i="1" dirty="0"/>
              <a:t>segunda ordem</a:t>
            </a:r>
            <a:r>
              <a:rPr lang="pt-BR" dirty="0"/>
              <a:t> ou </a:t>
            </a:r>
            <a:r>
              <a:rPr lang="pt-BR" b="1" i="1" dirty="0"/>
              <a:t>versões estocásticas (i.e., ruidosas) do gradiente descendente</a:t>
            </a:r>
            <a:r>
              <a:rPr lang="pt-BR" dirty="0"/>
              <a:t>.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CD53714B-59DC-DB4A-6266-5DE82F04D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10" t="17829" r="14573" b="10077"/>
          <a:stretch/>
        </p:blipFill>
        <p:spPr bwMode="auto">
          <a:xfrm>
            <a:off x="455903" y="2593330"/>
            <a:ext cx="4287210" cy="385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id="{3850DA1C-824C-FF23-C5D2-A293D9C00F8E}"/>
              </a:ext>
            </a:extLst>
          </p:cNvPr>
          <p:cNvSpPr/>
          <p:nvPr/>
        </p:nvSpPr>
        <p:spPr>
          <a:xfrm>
            <a:off x="2353433" y="4115261"/>
            <a:ext cx="108000" cy="10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7B36AE48-BAE5-0F6C-8DF3-F9AE0B31F4BB}"/>
              </a:ext>
            </a:extLst>
          </p:cNvPr>
          <p:cNvCxnSpPr>
            <a:cxnSpLocks/>
          </p:cNvCxnSpPr>
          <p:nvPr/>
        </p:nvCxnSpPr>
        <p:spPr>
          <a:xfrm flipH="1">
            <a:off x="2461433" y="2593330"/>
            <a:ext cx="1041660" cy="14378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8B28DAF-FE1B-579F-44FC-F067DE348314}"/>
              </a:ext>
            </a:extLst>
          </p:cNvPr>
          <p:cNvSpPr txBox="1"/>
          <p:nvPr/>
        </p:nvSpPr>
        <p:spPr>
          <a:xfrm>
            <a:off x="550990" y="2207584"/>
            <a:ext cx="3820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Superfície com Ponto de Sela</a:t>
            </a:r>
          </a:p>
        </p:txBody>
      </p:sp>
    </p:spTree>
    <p:extLst>
      <p:ext uri="{BB962C8B-B14F-4D97-AF65-F5344CB8AC3E}">
        <p14:creationId xmlns:p14="http://schemas.microsoft.com/office/powerpoint/2010/main" val="1686448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5394" y="1825624"/>
            <a:ext cx="6646606" cy="5032375"/>
          </a:xfrm>
        </p:spPr>
        <p:txBody>
          <a:bodyPr>
            <a:normAutofit/>
          </a:bodyPr>
          <a:lstStyle/>
          <a:p>
            <a:r>
              <a:rPr lang="pt-BR" dirty="0"/>
              <a:t>Outro tipo de irregularidade são os </a:t>
            </a:r>
            <a:r>
              <a:rPr lang="pt-BR" b="1" i="1" dirty="0">
                <a:solidFill>
                  <a:srgbClr val="7030A0"/>
                </a:solidFill>
              </a:rPr>
              <a:t>platôs</a:t>
            </a:r>
            <a:r>
              <a:rPr lang="pt-BR" b="1" i="1" dirty="0"/>
              <a:t>.</a:t>
            </a:r>
          </a:p>
          <a:p>
            <a:r>
              <a:rPr lang="pt-BR" dirty="0"/>
              <a:t>Eles são </a:t>
            </a:r>
            <a:r>
              <a:rPr lang="pt-BR" b="1" i="1" dirty="0">
                <a:solidFill>
                  <a:srgbClr val="7030A0"/>
                </a:solidFill>
              </a:rPr>
              <a:t>regiões planas e com erro elevado</a:t>
            </a:r>
            <a:r>
              <a:rPr lang="pt-BR" dirty="0"/>
              <a:t>.</a:t>
            </a:r>
          </a:p>
          <a:p>
            <a:r>
              <a:rPr lang="pt-BR" dirty="0"/>
              <a:t>Como a </a:t>
            </a:r>
            <a:r>
              <a:rPr lang="pt-BR" b="1" i="1" dirty="0">
                <a:solidFill>
                  <a:srgbClr val="00B050"/>
                </a:solidFill>
              </a:rPr>
              <a:t>inclinação da superfície </a:t>
            </a:r>
            <a:r>
              <a:rPr lang="pt-BR" dirty="0"/>
              <a:t>nessa região é </a:t>
            </a:r>
            <a:r>
              <a:rPr lang="pt-BR" b="1" i="1" dirty="0">
                <a:solidFill>
                  <a:srgbClr val="00B050"/>
                </a:solidFill>
              </a:rPr>
              <a:t>próxima de zero </a:t>
            </a:r>
            <a:r>
              <a:rPr lang="pt-BR" dirty="0"/>
              <a:t>(i.e., o gradiente é próximo de zero) o algoritmo pode levar muito tempo para atravessá-la.</a:t>
            </a:r>
          </a:p>
          <a:p>
            <a:r>
              <a:rPr lang="pt-BR" dirty="0"/>
              <a:t>Métodos de </a:t>
            </a:r>
            <a:r>
              <a:rPr lang="pt-BR" b="1" i="1" dirty="0"/>
              <a:t>aprendizado adaptativo</a:t>
            </a:r>
            <a:r>
              <a:rPr lang="pt-BR" dirty="0"/>
              <a:t>, como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 e Adam, podem escapar destas regiões.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0319121-9B05-B1F7-F1F5-FFAD1E028F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5" y="2331705"/>
            <a:ext cx="5289717" cy="310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932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CE6215-F8F6-B2CE-55D3-12C93532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61C462-DCAD-E604-85FB-9F3661AB0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6619" y="1825624"/>
            <a:ext cx="6425381" cy="5032375"/>
          </a:xfrm>
        </p:spPr>
        <p:txBody>
          <a:bodyPr>
            <a:normAutofit/>
          </a:bodyPr>
          <a:lstStyle/>
          <a:p>
            <a:r>
              <a:rPr lang="pt-BR" dirty="0"/>
              <a:t>Portanto, como garantir que o mínimo encontrado é bom o suficiente?</a:t>
            </a:r>
          </a:p>
          <a:p>
            <a:r>
              <a:rPr lang="pt-BR" dirty="0"/>
              <a:t>Avaliar os resultados de vários treinamentos com inicializações diferentes (pesos e </a:t>
            </a:r>
            <a:r>
              <a:rPr lang="pt-BR" i="1" dirty="0" err="1"/>
              <a:t>dataset</a:t>
            </a:r>
            <a:r>
              <a:rPr lang="pt-BR" dirty="0"/>
              <a:t>), por exemplo, usando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todos os treinamentos convergem para erros parecidos, então o mínimo ou os mínimos encontrados são provavelmente bons.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resultados variam muito, então os mínimos podem ser ruins e isso pode indicar </a:t>
            </a:r>
            <a:r>
              <a:rPr lang="pt-BR" dirty="0" err="1"/>
              <a:t>sobreajuste</a:t>
            </a:r>
            <a:r>
              <a:rPr lang="pt-BR" dirty="0"/>
              <a:t> do modelo.</a:t>
            </a:r>
          </a:p>
          <a:p>
            <a:endParaRPr lang="pt-BR" dirty="0"/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145311" y="2650347"/>
            <a:ext cx="5188401" cy="350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F4897C6-798F-2842-1FB0-D5F4EF293AB4}"/>
              </a:ext>
            </a:extLst>
          </p:cNvPr>
          <p:cNvSpPr txBox="1"/>
          <p:nvPr/>
        </p:nvSpPr>
        <p:spPr>
          <a:xfrm>
            <a:off x="329610" y="2067208"/>
            <a:ext cx="5110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Exemplo da superfície de erro de uma rede neural</a:t>
            </a:r>
          </a:p>
        </p:txBody>
      </p:sp>
    </p:spTree>
    <p:extLst>
      <p:ext uri="{BB962C8B-B14F-4D97-AF65-F5344CB8AC3E}">
        <p14:creationId xmlns:p14="http://schemas.microsoft.com/office/powerpoint/2010/main" val="273536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1782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V)</a:t>
            </a:r>
            <a:r>
              <a:rPr lang="pt-BR" dirty="0"/>
              <a:t>” que se encontra no MS </a:t>
            </a:r>
            <a:r>
              <a:rPr lang="pt-BR" dirty="0" err="1"/>
              <a:t>Teams</a:t>
            </a:r>
            <a:r>
              <a:rPr lang="pt-BR" dirty="0"/>
              <a:t>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</a:t>
            </a:r>
            <a:r>
              <a:rPr lang="pt-BR" b="1" dirty="0">
                <a:solidFill>
                  <a:schemeClr val="accent2"/>
                </a:solidFill>
              </a:rPr>
              <a:t>06/06/2026 às 10:00 na sala I-18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projeto estará disponível no </a:t>
            </a:r>
            <a:r>
              <a:rPr lang="pt-BR" dirty="0" err="1"/>
              <a:t>github</a:t>
            </a:r>
            <a:r>
              <a:rPr lang="pt-BR" dirty="0"/>
              <a:t>, logo abaixo do laboratório # 7.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Tanto o projeto quanto a avaliação presencial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 do projeto: </a:t>
            </a:r>
            <a:r>
              <a:rPr lang="pt-BR" b="1" dirty="0">
                <a:solidFill>
                  <a:srgbClr val="00B050"/>
                </a:solidFill>
              </a:rPr>
              <a:t>28/06/2026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1409651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7086" y="1825624"/>
            <a:ext cx="6911499" cy="5032375"/>
          </a:xfrm>
        </p:spPr>
        <p:txBody>
          <a:bodyPr>
            <a:normAutofit/>
          </a:bodyPr>
          <a:lstStyle/>
          <a:p>
            <a:r>
              <a:rPr lang="pt-BR" dirty="0"/>
              <a:t>Conforme nós discutimos antes, os métodos mais usados no </a:t>
            </a:r>
            <a:r>
              <a:rPr lang="pt-BR" b="1" i="1" dirty="0">
                <a:solidFill>
                  <a:srgbClr val="7030A0"/>
                </a:solidFill>
              </a:rPr>
              <a:t>aprendizado de redes neurais</a:t>
            </a:r>
            <a:r>
              <a:rPr lang="pt-BR" b="1" i="1" dirty="0"/>
              <a:t> </a:t>
            </a:r>
            <a:r>
              <a:rPr lang="pt-BR" dirty="0"/>
              <a:t>são </a:t>
            </a:r>
            <a:r>
              <a:rPr lang="pt-BR" b="1" i="1" dirty="0">
                <a:solidFill>
                  <a:srgbClr val="7030A0"/>
                </a:solidFill>
              </a:rPr>
              <a:t>baseados no cálculo das derivadas parciais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dirty="0"/>
              <a:t>com relação aos seus </a:t>
            </a:r>
            <a:r>
              <a:rPr lang="pt-BR" b="1" i="1" dirty="0"/>
              <a:t>pesos</a:t>
            </a:r>
            <a:r>
              <a:rPr lang="pt-BR" dirty="0"/>
              <a:t> (sinápticos e de bias).</a:t>
            </a:r>
          </a:p>
          <a:p>
            <a:r>
              <a:rPr lang="pt-BR" dirty="0"/>
              <a:t>Esses métodos têm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conjunto de pesos </a:t>
            </a:r>
            <a:r>
              <a:rPr lang="pt-BR" dirty="0"/>
              <a:t>que </a:t>
            </a:r>
            <a:r>
              <a:rPr lang="pt-BR" b="1" i="1" dirty="0">
                <a:solidFill>
                  <a:srgbClr val="00B050"/>
                </a:solidFill>
              </a:rPr>
              <a:t>minimiza a função de erro </a:t>
            </a:r>
            <a:r>
              <a:rPr lang="pt-BR" dirty="0"/>
              <a:t>escolhida.</a:t>
            </a:r>
          </a:p>
          <a:p>
            <a:r>
              <a:rPr lang="pt-BR" dirty="0"/>
              <a:t>Assim, é necessário encontrar uma maneira de se calcular o </a:t>
            </a:r>
            <a:r>
              <a:rPr lang="pt-BR" b="1" i="1" dirty="0"/>
              <a:t>vetor gradiente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00B050"/>
                </a:solidFill>
              </a:rPr>
              <a:t>com respeito aos pesos das várias camadas de uma rede neural</a:t>
            </a:r>
            <a:r>
              <a:rPr lang="pt-BR" dirty="0"/>
              <a:t>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232397" y="2452913"/>
            <a:ext cx="4750271" cy="3209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6945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825624"/>
            <a:ext cx="6896986" cy="5032375"/>
          </a:xfrm>
        </p:spPr>
        <p:txBody>
          <a:bodyPr>
            <a:normAutofit/>
          </a:bodyPr>
          <a:lstStyle/>
          <a:p>
            <a:r>
              <a:rPr lang="pt-BR" dirty="0"/>
              <a:t>Essa tarefa pode parecer </a:t>
            </a:r>
            <a:r>
              <a:rPr lang="pt-BR" b="1" i="1" dirty="0">
                <a:solidFill>
                  <a:srgbClr val="7030A0"/>
                </a:solidFill>
              </a:rPr>
              <a:t>trivial</a:t>
            </a:r>
            <a:r>
              <a:rPr lang="pt-BR" dirty="0"/>
              <a:t>, mas não é o caso. </a:t>
            </a:r>
          </a:p>
          <a:p>
            <a:r>
              <a:rPr lang="pt-BR" dirty="0"/>
              <a:t>Como podemos calcular a influência dos pesos das camadas ocultas no erro da camada de saída?</a:t>
            </a:r>
          </a:p>
          <a:p>
            <a:r>
              <a:rPr lang="pt-BR" dirty="0"/>
              <a:t>Foram necessários 17 anos desde a criação do </a:t>
            </a:r>
            <a:r>
              <a:rPr lang="pt-BR" b="1" i="1" dirty="0"/>
              <a:t>Perceptron</a:t>
            </a:r>
            <a:r>
              <a:rPr lang="pt-BR" dirty="0"/>
              <a:t> até que se “</a:t>
            </a:r>
            <a:r>
              <a:rPr lang="pt-BR" b="1" i="1" dirty="0"/>
              <a:t>descobrisse</a:t>
            </a:r>
            <a:r>
              <a:rPr lang="pt-BR" dirty="0"/>
              <a:t>” uma forma de treinar redes neurais.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392054" y="2351314"/>
            <a:ext cx="4556953" cy="3079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4313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95FDE8-3449-0EB9-1E69-253510EC67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que entendamos melhor o motivo desta tarefa não ser trivial, nós iremos considerar as notações abaixo, as quais serão úteis a seguir.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sináptico,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a matriz com todos os pesos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vetor com todos os pesos de bias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i="1" dirty="0"/>
                  <a:t>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à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</a:t>
                </a:r>
                <a:r>
                  <a:rPr lang="pt-BR" b="1" i="1" dirty="0"/>
                  <a:t> 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</a:t>
                </a:r>
                <a:r>
                  <a:rPr lang="pt-BR" b="1" i="1" dirty="0"/>
                  <a:t>vetor de ativações</a:t>
                </a:r>
                <a:r>
                  <a:rPr lang="pt-BR" dirty="0"/>
                  <a:t> com as </a:t>
                </a:r>
                <a:r>
                  <a:rPr lang="pt-BR" b="1" i="1" dirty="0"/>
                  <a:t>combinações lineares</a:t>
                </a:r>
                <a:r>
                  <a:rPr lang="pt-BR" dirty="0"/>
                  <a:t> das entradas de todos os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a função de ativação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Essas notações nos ajudarão a obter os gradientes para atualizar os pesos de todos os nós de uma rede neural.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95FDE8-3449-0EB9-1E69-253510EC6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  <a:blipFill rotWithShape="0">
                <a:blip r:embed="rId3"/>
                <a:stretch>
                  <a:fillRect l="-97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666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E97C7-3559-F5E7-7900-71CBAB4A6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34D2CF-CF13-F5BE-1EB2-5DA56F674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as notações definidas, podemos representar uma MLP como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 mapeamento realizado pela rede MLP acima é dado pela expressão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limLow>
                            <m:limLow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p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000" b="1" i="1">
                                              <a:latin typeface="Cambria Math" panose="02040503050406030204" pitchFamily="18" charset="0"/>
                                            </a:rPr>
                                            <m:t>𝑾</m:t>
                                          </m:r>
                                        </m:e>
                                        <m:sup>
                                          <m: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limLow>
                                        <m:limLowPr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pt-BR" sz="2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pt-BR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𝒇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0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p>
                                              </m:sSup>
                                              <m:d>
                                                <m:dPr>
                                                  <m:ctrlPr>
                                                    <a:rPr lang="pt-BR" sz="2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0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0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𝑾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0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a:rPr lang="pt-BR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000" b="1" dirty="0"/>
                                                    <m:t> </m:t>
                                                  </m:r>
                                                  <m:r>
                                                    <a:rPr lang="pt-BR" sz="20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pt-BR" sz="20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0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𝒃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0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p>
                                            <m:sSupPr>
                                              <m:ctrlPr>
                                                <a:rPr lang="pt-BR" sz="2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sz="20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p>
                                        </m:lim>
                                      </m:limLow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000" b="1" i="1">
                                              <a:latin typeface="Cambria Math" panose="02040503050406030204" pitchFamily="18" charset="0"/>
                                            </a:rPr>
                                            <m:t>𝒃</m:t>
                                          </m:r>
                                        </m:e>
                                        <m:sup>
                                          <m: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groupChr>
                            </m:e>
                            <m:lim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lim>
                          </m:limLow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CF34D2CF-CF13-F5BE-1EB2-5DA56F674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  <a:blipFill rotWithShape="0"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43988C8A-74A9-F620-1E49-900D73E2C3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31" y="2357683"/>
            <a:ext cx="6728915" cy="2446878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1363CC91-E256-D0B1-0BD4-FB8860473E99}"/>
              </a:ext>
            </a:extLst>
          </p:cNvPr>
          <p:cNvSpPr txBox="1"/>
          <p:nvPr/>
        </p:nvSpPr>
        <p:spPr>
          <a:xfrm>
            <a:off x="9769471" y="2736502"/>
            <a:ext cx="20673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OBS.</a:t>
            </a:r>
            <a:r>
              <a:rPr lang="pt-BR" sz="1400" dirty="0"/>
              <a:t>: Para facilitar nossa análise, não vamos considerar as entradas como uma camada, apenas as camadas ocultas e a de saída.</a:t>
            </a:r>
          </a:p>
        </p:txBody>
      </p:sp>
    </p:spTree>
    <p:extLst>
      <p:ext uri="{BB962C8B-B14F-4D97-AF65-F5344CB8AC3E}">
        <p14:creationId xmlns:p14="http://schemas.microsoft.com/office/powerpoint/2010/main" val="3794769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04E0A-7C8C-95A0-088F-9C355C397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AA48D4-7E99-7665-1134-80135ED02F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Para facilitar a análise, iremos supor, sem nenhuma perda de generalidade, que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escolhida é a função do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 (MSE).</a:t>
                </a:r>
              </a:p>
              <a:p>
                <a:r>
                  <a:rPr lang="pt-BR" dirty="0"/>
                  <a:t>Assumiremos que a </a:t>
                </a:r>
                <a:r>
                  <a:rPr lang="pt-BR" b="1" i="1" dirty="0"/>
                  <a:t>última camada da rede MLP </a:t>
                </a:r>
                <a:r>
                  <a:rPr lang="pt-BR" dirty="0"/>
                  <a:t>(definida como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-ésima camada) tem uma quantidade genérica de </a:t>
                </a:r>
                <a:r>
                  <a:rPr lang="pt-BR" b="1" i="1" dirty="0"/>
                  <a:t>nós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. Assim, o MSE é dado por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exemplos,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valor desejado (i.e., rótulo)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respectivamente, ambos correspondentes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AA48D4-7E99-7665-1134-80135ED02F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  <a:blipFill rotWithShape="0">
                <a:blip r:embed="rId3"/>
                <a:stretch>
                  <a:fillRect l="-921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415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B0C1E2-3000-EE1A-026A-33A294146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C25460-3591-A072-4888-7BD94A9703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devemos derivar 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com relação aos </a:t>
                </a:r>
                <a:r>
                  <a:rPr lang="pt-BR" b="1" i="1" dirty="0"/>
                  <a:t>pesos</a:t>
                </a:r>
                <a:r>
                  <a:rPr lang="pt-BR" dirty="0"/>
                  <a:t> (sinápticos e de bias) de cada uma de suas camadas.</a:t>
                </a:r>
              </a:p>
              <a:p>
                <a:r>
                  <a:rPr lang="pt-BR" dirty="0"/>
                  <a:t>Como as </a:t>
                </a:r>
                <a:r>
                  <a:rPr lang="pt-BR" b="1" i="1" dirty="0"/>
                  <a:t>saídas dos nós da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pt-BR" b="1" i="1" dirty="0"/>
                  <a:t>-ésima camada</a:t>
                </a:r>
                <a:r>
                  <a:rPr lang="pt-BR" dirty="0"/>
                  <a:t> e, consequentemente, </a:t>
                </a:r>
                <a:r>
                  <a:rPr lang="pt-BR" b="1" i="1" dirty="0"/>
                  <a:t>seus pesos</a:t>
                </a:r>
                <a:r>
                  <a:rPr lang="pt-BR" dirty="0"/>
                  <a:t>, </a:t>
                </a:r>
                <a:r>
                  <a:rPr lang="pt-BR" b="1" i="1" dirty="0"/>
                  <a:t>aparecem de forma direta na equação do MSE</a:t>
                </a:r>
                <a:r>
                  <a:rPr lang="pt-BR" dirty="0"/>
                  <a:t>, é simples se obter as derivadas parciais com relação aos pesos desta camada.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70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7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limLow>
                                        <m:limLowPr>
                                          <m:ctrlPr>
                                            <a:rPr lang="pt-BR" sz="27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70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𝑀</m:t>
                                                  </m:r>
                                                </m:sup>
                                              </m:sSubSup>
                                              <m:d>
                                                <m:d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(</m:t>
                                                      </m:r>
                                                      <m:sSubSup>
                                                        <m:sSubSupPr>
                                                          <m:ctrlP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SupPr>
                                                        <m:e>
                                                          <m:r>
                                                            <a:rPr lang="pt-BR" sz="2700" b="1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𝒘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𝑗</m:t>
                                                          </m:r>
                                                        </m:sub>
                                                        <m:sup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𝑀</m:t>
                                                          </m:r>
                                                        </m:sup>
                                                      </m:sSub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)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𝑇</m:t>
                                                      </m:r>
                                                    </m:sup>
                                                  </m:sSup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−1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700" b="1" dirty="0"/>
                                                    <m:t> </m:t>
                                                  </m:r>
                                                  <m:r>
                                                    <a:rPr lang="pt-BR" sz="27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bSup>
                                            <m:sSubSup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𝑀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e>
                                          </m:d>
                                        </m:lim>
                                      </m:limLow>
                                    </m:e>
                                  </m:d>
                                </m:e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7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é o vetor de pesos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a função de ativação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76C25460-3591-A072-4888-7BD94A9703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  <a:blipFill rotWithShape="0">
                <a:blip r:embed="rId2"/>
                <a:stretch>
                  <a:fillRect l="-1143" t="-1937" r="-5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397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398DE78-94D4-5FD1-9D9F-FFCD42A13F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percebam que os </a:t>
                </a:r>
                <a:r>
                  <a:rPr lang="pt-BR" b="1" i="1" dirty="0"/>
                  <a:t>pesos dos nós das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camadas ocultas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aparecem explícitamente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na expressão do erro,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quando precisamos avaliar as </a:t>
                </a:r>
                <a:r>
                  <a:rPr lang="pt-BR" b="1" i="1" dirty="0"/>
                  <a:t>derivadas parciais com relação aos pesos das camadas ocultas</a:t>
                </a:r>
                <a:r>
                  <a:rPr lang="pt-BR" dirty="0"/>
                  <a:t>, a situação fica mais complexa, pois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existe uma dependência direta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dependência dos pesos apareça de maneira clara </a:t>
                </a:r>
                <a:r>
                  <a:rPr lang="pt-BR" dirty="0"/>
                  <a:t>na expressão do erro, nós precisaremos recorrer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aplicações sucessivas da regra da cadeia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398DE78-94D4-5FD1-9D9F-FFCD42A13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  <a:blipFill rotWithShape="0">
                <a:blip r:embed="rId3"/>
                <a:stretch>
                  <a:fillRect l="-983" t="-1937" r="-18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034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98DE78-94D4-5FD1-9D9F-FFCD42A13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25981" cy="5032375"/>
          </a:xfrm>
        </p:spPr>
        <p:txBody>
          <a:bodyPr/>
          <a:lstStyle/>
          <a:p>
            <a:r>
              <a:rPr lang="pt-BR" b="1" dirty="0"/>
              <a:t>Assim, surge a pergunta</a:t>
            </a:r>
            <a:r>
              <a:rPr lang="pt-BR" dirty="0"/>
              <a:t>: </a:t>
            </a:r>
          </a:p>
          <a:p>
            <a:pPr marL="0" indent="0" algn="ctr">
              <a:buNone/>
            </a:pPr>
            <a:r>
              <a:rPr lang="pt-BR" dirty="0"/>
              <a:t>Como podemos atribuir aos pesos dos nós das camadas ocultas sua influência no cálculo dos valores de saída e, consequentemente, do erro?</a:t>
            </a:r>
          </a:p>
          <a:p>
            <a:r>
              <a:rPr lang="pt-BR" b="1" dirty="0"/>
              <a:t>Resposta</a:t>
            </a:r>
            <a:r>
              <a:rPr lang="pt-BR" dirty="0"/>
              <a:t>: </a:t>
            </a:r>
          </a:p>
          <a:p>
            <a:pPr marL="0" indent="0" algn="ctr">
              <a:buNone/>
            </a:pPr>
            <a:r>
              <a:rPr lang="pt-BR" dirty="0"/>
              <a:t>Propaga-se o erro calculado na saída da rede neural para suas camadas anteriores até a primeira camada oculta usando-se um</a:t>
            </a:r>
            <a:r>
              <a:rPr lang="pt-BR" b="1" i="1" dirty="0">
                <a:solidFill>
                  <a:srgbClr val="7030A0"/>
                </a:solidFill>
              </a:rPr>
              <a:t> algoritmo, baseado na regra da cadeia</a:t>
            </a:r>
            <a:r>
              <a:rPr lang="pt-BR" dirty="0"/>
              <a:t>, conhecido como </a:t>
            </a:r>
            <a:r>
              <a:rPr lang="pt-BR" b="1" i="1" dirty="0" err="1">
                <a:solidFill>
                  <a:srgbClr val="00B050"/>
                </a:solidFill>
              </a:rPr>
              <a:t>backpropagation</a:t>
            </a:r>
            <a:r>
              <a:rPr lang="pt-BR" b="1" i="1" dirty="0"/>
              <a:t> </a:t>
            </a:r>
            <a:r>
              <a:rPr lang="pt-BR" dirty="0"/>
              <a:t>ou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Portanto, na sequência, veremos de maneira </a:t>
            </a:r>
            <a:r>
              <a:rPr lang="pt-BR" b="1" i="1" dirty="0"/>
              <a:t>sistemática</a:t>
            </a:r>
            <a:r>
              <a:rPr lang="pt-BR" dirty="0"/>
              <a:t> como a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é realizada para treinar uma rede neural.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5054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CF7F96-CDD5-8399-3EA4-9E957473F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77E124E-72C2-13FE-ED81-37EE4E35E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Inicialmente, nós devemos observar um fato fundamental. </a:t>
                </a:r>
              </a:p>
              <a:p>
                <a:r>
                  <a:rPr lang="pt-BR" dirty="0"/>
                  <a:t>O cálculo da derivada do erro com relação a um peso qualquer é dado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dados</m:t>
                                  </m:r>
                                </m:sub>
                              </m:sSub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OBS.1</a:t>
                </a:r>
                <a:r>
                  <a:rPr lang="pt-BR" dirty="0"/>
                  <a:t>: Operação da derivada parcial é </a:t>
                </a:r>
                <a:r>
                  <a:rPr lang="pt-BR" b="1" i="1" dirty="0"/>
                  <a:t>distributiva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OBS.2</a:t>
                </a:r>
                <a:r>
                  <a:rPr lang="pt-BR" dirty="0"/>
                  <a:t>: A divisão pelo número de amostras e saídas é omitida, pois não afeta a otimização por ser um valor constante.</a:t>
                </a:r>
              </a:p>
              <a:p>
                <a:r>
                  <a:rPr lang="pt-BR" dirty="0"/>
                  <a:t>A equação mostra que é necessário se calcular a derivada parcial apenas do quadrado do erro associado ao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exemplo de entrada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saída, pois o gradiente será a </a:t>
                </a:r>
                <a:r>
                  <a:rPr lang="pt-BR" b="1" i="1" dirty="0"/>
                  <a:t>média destes 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77E124E-72C2-13FE-ED81-37EE4E35E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  <a:blipFill>
                <a:blip r:embed="rId3"/>
                <a:stretch>
                  <a:fillRect l="-980" t="-2663" r="-1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C9B3689-2265-7E57-2262-D015D1846A1F}"/>
                  </a:ext>
                </a:extLst>
              </p:cNvPr>
              <p:cNvSpPr txBox="1"/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OBS.</a:t>
                </a:r>
                <a:r>
                  <a:rPr lang="pt-BR" sz="1200" dirty="0"/>
                  <a:t>: mudei o índice do erro de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sz="1200" dirty="0"/>
                  <a:t> para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200" dirty="0"/>
                  <a:t> para não haver confusão com o índice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do peso.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C9B3689-2265-7E57-2262-D015D184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blipFill>
                <a:blip r:embed="rId4"/>
                <a:stretch>
                  <a:fillRect b="-3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82015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AAB46E-834E-CE61-B1D8-64A16D55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0684098-16D0-AAA4-4764-1BA5B621B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Considerando a derivada parcial do erro em relação a um peso qualquer e usando a </a:t>
                </a:r>
                <a:r>
                  <a:rPr lang="pt-BR" b="1" i="1" dirty="0"/>
                  <a:t>regra da cadeia</a:t>
                </a:r>
                <a:r>
                  <a:rPr lang="pt-BR" dirty="0"/>
                  <a:t>, podemos reescrevê-la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primeira derivada após a igualdade é a derivada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em relação à </a:t>
                </a:r>
                <a:r>
                  <a:rPr lang="pt-BR" b="1" i="1" dirty="0"/>
                  <a:t>ativação</a:t>
                </a:r>
                <a:r>
                  <a:rPr lang="pt-BR" dirty="0"/>
                  <a:t>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será denotada pela letra grega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. Desta forma: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𝐽</m:t>
                        </m:r>
                      </m:num>
                      <m:den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  <m:r>
                      <a:rPr lang="pt-BR" sz="32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3200" dirty="0"/>
                  <a:t> </a:t>
                </a:r>
                <a:endParaRPr lang="pt-BR" sz="2400" dirty="0"/>
              </a:p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 </a:t>
                </a:r>
                <a:r>
                  <a:rPr lang="pt-BR" i="1" dirty="0">
                    <a:solidFill>
                      <a:schemeClr val="accent2"/>
                    </a:solidFill>
                  </a:rPr>
                  <a:t>é único para cada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nó</a:t>
                </a:r>
                <a:r>
                  <a:rPr lang="pt-BR" i="1" dirty="0">
                    <a:solidFill>
                      <a:schemeClr val="accent2"/>
                    </a:solidFill>
                  </a:rPr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i="1" dirty="0">
                    <a:solidFill>
                      <a:schemeClr val="accent2"/>
                    </a:solidFill>
                  </a:rPr>
                  <a:t>-ésima camada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0684098-16D0-AAA4-4764-1BA5B621B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  <a:blipFill rotWithShape="0">
                <a:blip r:embed="rId3"/>
                <a:stretch>
                  <a:fillRect l="-991" t="-1937" r="-1706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4531C32-4625-3DE1-C8C0-A7A7360F9B9A}"/>
                  </a:ext>
                </a:extLst>
              </p:cNvPr>
              <p:cNvSpPr txBox="1"/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Sensibilidade</a:t>
                </a:r>
                <a:r>
                  <a:rPr lang="pt-BR" sz="1200" dirty="0"/>
                  <a:t> do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ésimo</a:t>
                </a:r>
                <a:r>
                  <a:rPr lang="pt-BR" sz="1200" dirty="0"/>
                  <a:t> nó da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ésima</a:t>
                </a:r>
                <a:r>
                  <a:rPr lang="pt-BR" sz="1200" dirty="0"/>
                  <a:t> camada.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4531C32-4625-3DE1-C8C0-A7A7360F9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blipFill>
                <a:blip r:embed="rId4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0629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4E5C06-2AB5-0609-9FAC-189B09C99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93E6364-6E76-8E40-1CC5-0CF94BB678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segundo termo, por sua vez, varia dependendo das entradas do </a:t>
                </a:r>
                <a:r>
                  <a:rPr lang="pt-BR" b="1" i="1" dirty="0"/>
                  <a:t>nó</a:t>
                </a:r>
                <a:r>
                  <a:rPr lang="pt-BR" dirty="0"/>
                  <a:t> em questão. </a:t>
                </a:r>
              </a:p>
              <a:p>
                <a:r>
                  <a:rPr lang="pt-BR" dirty="0"/>
                  <a:t>Lembrando que 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ponderada das entradas mais o peso de bias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7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27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 ∈ </m:t>
                              </m:r>
                              <m:r>
                                <m:rPr>
                                  <m:sty m:val="p"/>
                                  <m:brk m:alnAt="9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ntradas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e>
                          </m:nary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pt-BR" sz="27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Então, a derivada em relação ao peso sináptico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sz="2400" dirty="0"/>
                  <a:t> </a:t>
                </a:r>
                <a:r>
                  <a:rPr lang="pt-BR" dirty="0"/>
                  <a:t>é dada por</a:t>
                </a:r>
                <a:endParaRPr lang="pt-BR" sz="24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Caso a derivada seja em relação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1.</m:t>
                      </m:r>
                    </m:oMath>
                  </m:oMathPara>
                </a14:m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E93E6364-6E76-8E40-1CC5-0CF94BB678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  <a:blipFill rotWithShape="0">
                <a:blip r:embed="rId2"/>
                <a:stretch>
                  <a:fillRect l="-922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4A90176-F613-470E-9A9A-ADCF02995AC3}"/>
              </a:ext>
            </a:extLst>
          </p:cNvPr>
          <p:cNvSpPr txBox="1"/>
          <p:nvPr/>
        </p:nvSpPr>
        <p:spPr>
          <a:xfrm>
            <a:off x="8000072" y="5057373"/>
            <a:ext cx="1633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Saída da camada anterior.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31C80E57-58EF-A8FE-8FD0-31668FA31C3B}"/>
              </a:ext>
            </a:extLst>
          </p:cNvPr>
          <p:cNvCxnSpPr>
            <a:cxnSpLocks/>
          </p:cNvCxnSpPr>
          <p:nvPr/>
        </p:nvCxnSpPr>
        <p:spPr>
          <a:xfrm flipH="1" flipV="1">
            <a:off x="7028121" y="5167423"/>
            <a:ext cx="1233377" cy="1488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6915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8034F4-3E81-1660-6B15-0FDA05507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BFA37E-3B7C-E1A6-3150-2C8CB6061C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Desta forma, vemos que todas as derivadas da função de erro em relação aos pesos são produtos de uma sensibilidade,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por uma entrada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nó da rede.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m:rPr>
                          <m:nor/>
                        </m:rPr>
                        <a:rPr lang="pt-BR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ou, no caso do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pela unidade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São os valores de </a:t>
                </a:r>
                <a:r>
                  <a:rPr lang="pt-BR" b="1" i="1" dirty="0"/>
                  <a:t>sensibilidade</a:t>
                </a:r>
                <a:r>
                  <a:rPr lang="pt-BR" i="1" dirty="0"/>
                  <a:t>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que trazem mais dificuldades em seu cálculo, pois 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/>
                  <a:t> é trivial (ela é apenas o valor de uma entrada daquele nó).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BFA37E-3B7C-E1A6-3150-2C8CB6061C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  <a:blipFill>
                <a:blip r:embed="rId3"/>
                <a:stretch>
                  <a:fillRect l="-1083" t="-1937" b="-23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5265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1353800" cy="5167311"/>
          </a:xfrm>
        </p:spPr>
        <p:txBody>
          <a:bodyPr>
            <a:normAutofit/>
          </a:bodyPr>
          <a:lstStyle/>
          <a:p>
            <a:r>
              <a:rPr lang="pt-BR" dirty="0"/>
              <a:t>Portanto, a estratégia de otimização adotada para atualização dos pesos (sinápticos e de bias) da rede neural é a seguinte: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Começa-se pelo cálculo das saídas, onde o erro é calculado.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direta</a:t>
            </a:r>
            <a:r>
              <a:rPr lang="pt-BR" dirty="0"/>
              <a:t>, pois aplica-se as entradas (i.e., atributos) à rede, encontra-se os valores de saída e calcula-se seu erro com relação aos rótulos.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Encontra-se uma </a:t>
            </a:r>
            <a:r>
              <a:rPr lang="pt-BR" b="1" i="1" dirty="0"/>
              <a:t>regra recursiva </a:t>
            </a:r>
            <a:r>
              <a:rPr lang="pt-BR" dirty="0"/>
              <a:t>que gere os valores de </a:t>
            </a:r>
            <a:r>
              <a:rPr lang="pt-BR" b="1" i="1" dirty="0"/>
              <a:t>sensibilidade </a:t>
            </a:r>
            <a:r>
              <a:rPr lang="pt-BR" dirty="0"/>
              <a:t>para os </a:t>
            </a:r>
            <a:r>
              <a:rPr lang="pt-BR" b="1" i="1" dirty="0"/>
              <a:t>nós</a:t>
            </a:r>
            <a:r>
              <a:rPr lang="pt-BR" dirty="0"/>
              <a:t> das camadas anteriores até a primeira camada oculta.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reversa</a:t>
            </a:r>
            <a:r>
              <a:rPr lang="pt-BR" dirty="0"/>
              <a:t>, pois calcula-se a </a:t>
            </a:r>
            <a:r>
              <a:rPr lang="pt-BR" b="1" i="1" dirty="0">
                <a:solidFill>
                  <a:srgbClr val="00B050"/>
                </a:solidFill>
              </a:rPr>
              <a:t>contribuição de cada nó</a:t>
            </a:r>
            <a:r>
              <a:rPr lang="pt-BR" dirty="0"/>
              <a:t> das camadas ocultas no erro da camada de saída.</a:t>
            </a:r>
          </a:p>
        </p:txBody>
      </p:sp>
    </p:spTree>
    <p:extLst>
      <p:ext uri="{BB962C8B-B14F-4D97-AF65-F5344CB8AC3E}">
        <p14:creationId xmlns:p14="http://schemas.microsoft.com/office/powerpoint/2010/main" val="569586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processo é chamado de </a:t>
                </a:r>
                <a:r>
                  <a:rPr lang="pt-BR" b="1" i="1" dirty="0"/>
                  <a:t>retropropagação do erro </a:t>
                </a:r>
                <a:r>
                  <a:rPr lang="pt-BR" dirty="0"/>
                  <a:t>ou</a:t>
                </a:r>
                <a:r>
                  <a:rPr lang="pt-BR" b="1" i="1" dirty="0"/>
                  <a:t> </a:t>
                </a:r>
                <a:r>
                  <a:rPr lang="pt-BR" b="1" i="1" dirty="0" err="1"/>
                  <a:t>error</a:t>
                </a:r>
                <a:r>
                  <a:rPr lang="pt-BR" b="1" i="1" dirty="0"/>
                  <a:t> </a:t>
                </a:r>
                <a:r>
                  <a:rPr lang="pt-BR" b="1" i="1" dirty="0" err="1"/>
                  <a:t>backpropagation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a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, nós vamos inicialmente agrupar todas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, em um vetor,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vamos definir uma regra que fará a transição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Ou seja, a partir do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iremos encontrar 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anterior,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  <a:blipFill rotWithShape="0">
                <a:blip r:embed="rId2"/>
                <a:stretch>
                  <a:fillRect l="-980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7538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Em resumo, o processo de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 é iniciado calculando-se o </a:t>
                </a:r>
                <a:r>
                  <a:rPr lang="pt-BR" b="1" i="1" dirty="0"/>
                  <a:t>vetor de sensibilidades </a:t>
                </a:r>
                <a:r>
                  <a:rPr lang="pt-BR" dirty="0"/>
                  <a:t>da camada de saída,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</a:t>
                </a:r>
                <a:r>
                  <a:rPr lang="pt-BR" b="1" i="1" dirty="0"/>
                  <a:t>recursiva</a:t>
                </a:r>
                <a:r>
                  <a:rPr lang="pt-BR" dirty="0"/>
                  <a:t>, obtém-se os </a:t>
                </a:r>
                <a:r>
                  <a:rPr lang="pt-BR" b="1" i="1" dirty="0"/>
                  <a:t>vetores de sensibilidades </a:t>
                </a:r>
                <a:r>
                  <a:rPr lang="pt-BR" dirty="0"/>
                  <a:t>de todas as camadas anteriores.</a:t>
                </a:r>
              </a:p>
              <a:p>
                <a:r>
                  <a:rPr lang="pt-BR" dirty="0"/>
                  <a:t>Para calcular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 consideramos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saídas (i.e., nós) e, assim, temos que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elemento do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é dado por: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 =  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  <a:blipFill>
                <a:blip r:embed="rId3"/>
                <a:stretch>
                  <a:fillRect l="-933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dirty="0"/>
                  <a:t>Função logística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  <a:blipFill rotWithShape="0">
                <a:blip r:embed="rId4"/>
                <a:stretch>
                  <a:fillRect l="-1660" t="-4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dirty="0"/>
                  <a:t>Função tangente hiperbólica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  <a:blipFill rotWithShape="0">
                <a:blip r:embed="rId5"/>
                <a:stretch>
                  <a:fillRect l="-1706" t="-3356" r="-14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ixaDeTexto 5"/>
          <p:cNvSpPr txBox="1"/>
          <p:nvPr/>
        </p:nvSpPr>
        <p:spPr>
          <a:xfrm>
            <a:off x="5121965" y="3588026"/>
            <a:ext cx="765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Regra da cadeia</a:t>
            </a:r>
          </a:p>
        </p:txBody>
      </p:sp>
      <p:cxnSp>
        <p:nvCxnSpPr>
          <p:cNvPr id="9" name="Conector de seta reta 8"/>
          <p:cNvCxnSpPr/>
          <p:nvPr/>
        </p:nvCxnSpPr>
        <p:spPr>
          <a:xfrm flipV="1">
            <a:off x="7940058" y="5019261"/>
            <a:ext cx="1154246" cy="1013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 flipV="1">
            <a:off x="7943321" y="6033054"/>
            <a:ext cx="1150983" cy="23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824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dirty="0"/>
                  <a:t>Matricialmente nós podemos expressar 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como: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a matriz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dirty="0"/>
                  <a:t> é uma </a:t>
                </a:r>
                <a:r>
                  <a:rPr lang="pt-BR" b="1" i="1" dirty="0"/>
                  <a:t>matriz diagonal</a:t>
                </a:r>
                <a:r>
                  <a:rPr lang="pt-BR" dirty="0"/>
                  <a:t> com as derivadas das funções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</m:t>
                                            </m:r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               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𝑓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Sup>
                                                  <m:sSubSup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sSub>
                                                      <m:sSubPr>
                                                        <m:ctrlP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𝑁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𝑀</m:t>
                                                        </m:r>
                                                      </m:sub>
                                                    </m:sSub>
                                                  </m:sub>
                                                  <m:sup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𝑀</m:t>
                                                    </m:r>
                                                  </m:sup>
                                                </m:sSubSup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são vetores coluna de dimensão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com os valores esperados e de saída da rede neural, respectivamente.</a:t>
                </a:r>
              </a:p>
              <a:p>
                <a:r>
                  <a:rPr lang="pt-BR" dirty="0"/>
                  <a:t>Desta forma, a aplicação sucessiva da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leva a uma </a:t>
                </a:r>
                <a:r>
                  <a:rPr lang="pt-BR" b="1" i="1" dirty="0"/>
                  <a:t>recursão</a:t>
                </a:r>
                <a:r>
                  <a:rPr lang="pt-BR" dirty="0"/>
                  <a:t> que, em termos matriciais, é dada por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  <a:blipFill>
                <a:blip r:embed="rId3"/>
                <a:stretch>
                  <a:fillRect l="-925" t="-3027" r="-4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23B41FCE-C935-3E1B-FCFA-7A1779D753FD}"/>
                  </a:ext>
                </a:extLst>
              </p:cNvPr>
              <p:cNvSpPr txBox="1"/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dirty="0"/>
                  <a:t>Matriz ou vetor com os pesos que conectam a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à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23B41FCE-C935-3E1B-FCFA-7A1779D75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blipFill>
                <a:blip r:embed="rId4"/>
                <a:stretch>
                  <a:fillRect l="-221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61515396-40A5-1A5F-4CE9-2B43B26D4A3A}"/>
              </a:ext>
            </a:extLst>
          </p:cNvPr>
          <p:cNvCxnSpPr/>
          <p:nvPr/>
        </p:nvCxnSpPr>
        <p:spPr>
          <a:xfrm flipH="1">
            <a:off x="7826477" y="6017342"/>
            <a:ext cx="1238865" cy="1376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7625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para todos os pesos do nó 1 (camada oculta)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 de forma genérica, ou seja, sem assumir 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26562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rede possui uma camada oculta com dois nós e uma </a:t>
                </a:r>
                <a:r>
                  <a:rPr lang="pt-BR" b="1" i="1" dirty="0"/>
                  <a:t>camada de saída com um único nó</a:t>
                </a:r>
                <a:r>
                  <a:rPr lang="pt-BR" dirty="0"/>
                  <a:t>, portanto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Devemos começar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percebam que essa </a:t>
                </a:r>
                <a:r>
                  <a:rPr lang="pt-BR" b="1" i="1" dirty="0"/>
                  <a:t>sensibilidade</a:t>
                </a:r>
                <a:r>
                  <a:rPr lang="pt-BR" dirty="0"/>
                  <a:t> é na verdade um escalar, pois há apenas um </a:t>
                </a:r>
                <a:r>
                  <a:rPr lang="pt-BR" b="1" i="1" dirty="0"/>
                  <a:t>nó</a:t>
                </a:r>
                <a:r>
                  <a:rPr lang="pt-BR" b="1" dirty="0"/>
                  <a:t> </a:t>
                </a:r>
                <a:r>
                  <a:rPr lang="pt-BR" dirty="0"/>
                  <a:t>na camada de saída.</a:t>
                </a:r>
              </a:p>
              <a:p>
                <a:r>
                  <a:rPr lang="pt-BR" dirty="0"/>
                  <a:t>Vamos considerar um </a:t>
                </a:r>
                <a:r>
                  <a:rPr lang="pt-BR" b="1" i="1" dirty="0"/>
                  <a:t>único exemplo de entrada,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a respectiva saída desejada,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Assim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2663" r="-2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206478" y="2614714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1640798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i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6266131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o erro, podemos calcular a sensibilidade do </a:t>
                </a:r>
                <a:r>
                  <a:rPr lang="pt-BR" b="1" i="1" dirty="0"/>
                  <a:t>nó</a:t>
                </a:r>
                <a:r>
                  <a:rPr lang="pt-BR" dirty="0"/>
                  <a:t> da camada de saída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Temos, assim, nossa primeira </a:t>
                </a:r>
                <a:r>
                  <a:rPr lang="pt-BR" b="1" i="1" dirty="0"/>
                  <a:t>sensibilidade</a:t>
                </a:r>
                <a:r>
                  <a:rPr lang="pt-BR" dirty="0"/>
                  <a:t>. Agora, usamos a equação de recursão para </a:t>
                </a:r>
                <a:r>
                  <a:rPr lang="pt-BR" b="1" i="1" dirty="0"/>
                  <a:t>retropropagar</a:t>
                </a:r>
                <a:r>
                  <a:rPr lang="pt-BR" dirty="0"/>
                  <a:t> o erro até a camada anterior. A equação nos diz: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1,1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1,2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>
                <a:blip r:embed="rId3"/>
                <a:stretch>
                  <a:fillRect l="-1148" t="-2663" r="-6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8218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pt-BR" dirty="0"/>
                  <a:t>Portanto,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para obtermos o vetor gradiente, multiplicamos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pelas entradas correspondentes da camada.</a:t>
                </a:r>
              </a:p>
              <a:p>
                <a:r>
                  <a:rPr lang="pt-BR" dirty="0"/>
                  <a:t>Por 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>
                <a:blip r:embed="rId2"/>
                <a:stretch>
                  <a:fillRect l="-759" t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id="{16260731-3F89-F14E-E515-C1A83B54B10E}"/>
              </a:ext>
            </a:extLst>
          </p:cNvPr>
          <p:cNvSpPr/>
          <p:nvPr/>
        </p:nvSpPr>
        <p:spPr>
          <a:xfrm>
            <a:off x="2820128" y="4237652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:a16="http://schemas.microsoft.com/office/drawing/2014/main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2916936" y="4511088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331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73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47216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58331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</a:t>
            </a:r>
            <a:r>
              <a:rPr lang="pt-BR" b="1" dirty="0">
                <a:solidFill>
                  <a:schemeClr val="accent2"/>
                </a:solidFill>
              </a:rPr>
              <a:t>06/06/2026 às 10:00 na sala I-18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Projeto estará disponível no github e poderá ser feito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Entrega: </a:t>
            </a:r>
            <a:r>
              <a:rPr lang="pt-BR" b="1" dirty="0">
                <a:solidFill>
                  <a:srgbClr val="00B050"/>
                </a:solidFill>
              </a:rPr>
              <a:t>28/06/2026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upid Neural Network - 9GA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65" y="480707"/>
            <a:ext cx="3401957" cy="2189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Don't be afraid of artificial neural networks - it is easy to start! An overview of deep learning with links to didactic materi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788" y="480707"/>
            <a:ext cx="3730405" cy="261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Journey to Machine Learning – Towards Data Scienc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06" y="3360518"/>
            <a:ext cx="3815474" cy="2148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13 Best New Neural Network Books To Read In 2020 - BookAuthority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9242" b="29845"/>
          <a:stretch/>
        </p:blipFill>
        <p:spPr bwMode="auto">
          <a:xfrm>
            <a:off x="4672303" y="3938633"/>
            <a:ext cx="2050141" cy="274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https://storage.googleapis.com/groundai-web-prod/media/users/user_129478/project_202937/images/x1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7616" y="4070557"/>
            <a:ext cx="2476500" cy="248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ntroduction to Deep Learning | Hacker No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2017" y="565503"/>
            <a:ext cx="2855639" cy="286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708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841999" y="3809851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  <p:grpSp>
        <p:nvGrpSpPr>
          <p:cNvPr id="2" name="Group 3">
            <a:extLst>
              <a:ext uri="{FF2B5EF4-FFF2-40B4-BE49-F238E27FC236}">
                <a16:creationId xmlns:a16="http://schemas.microsoft.com/office/drawing/2014/main" id="{AC4A9D1D-1E57-A5B0-822C-F32BFC05B549}"/>
              </a:ext>
            </a:extLst>
          </p:cNvPr>
          <p:cNvGrpSpPr/>
          <p:nvPr/>
        </p:nvGrpSpPr>
        <p:grpSpPr>
          <a:xfrm>
            <a:off x="562015" y="508458"/>
            <a:ext cx="5218473" cy="3048149"/>
            <a:chOff x="5034465" y="3089448"/>
            <a:chExt cx="5218473" cy="3048149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229C05F9-574B-9F01-C440-C6813D318B59}"/>
                </a:ext>
              </a:extLst>
            </p:cNvPr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5">
              <a:extLst>
                <a:ext uri="{FF2B5EF4-FFF2-40B4-BE49-F238E27FC236}">
                  <a16:creationId xmlns:a16="http://schemas.microsoft.com/office/drawing/2014/main" id="{B9D2869B-494D-51EE-CA03-92919122B659}"/>
                </a:ext>
              </a:extLst>
            </p:cNvPr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6">
              <a:extLst>
                <a:ext uri="{FF2B5EF4-FFF2-40B4-BE49-F238E27FC236}">
                  <a16:creationId xmlns:a16="http://schemas.microsoft.com/office/drawing/2014/main" id="{712385BE-AF7C-CFDB-6398-0D6BE2D2833D}"/>
                </a:ext>
              </a:extLst>
            </p:cNvPr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7">
              <a:extLst>
                <a:ext uri="{FF2B5EF4-FFF2-40B4-BE49-F238E27FC236}">
                  <a16:creationId xmlns:a16="http://schemas.microsoft.com/office/drawing/2014/main" id="{885222ED-5CDE-0070-FB8C-A60CC19276B0}"/>
                </a:ext>
              </a:extLst>
            </p:cNvPr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3" name="Flowchart: Connector 8">
              <a:extLst>
                <a:ext uri="{FF2B5EF4-FFF2-40B4-BE49-F238E27FC236}">
                  <a16:creationId xmlns:a16="http://schemas.microsoft.com/office/drawing/2014/main" id="{0FD740B6-1ED4-9624-71E9-9DB22FB6DD32}"/>
                </a:ext>
              </a:extLst>
            </p:cNvPr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4" name="Flowchart: Connector 9">
              <a:extLst>
                <a:ext uri="{FF2B5EF4-FFF2-40B4-BE49-F238E27FC236}">
                  <a16:creationId xmlns:a16="http://schemas.microsoft.com/office/drawing/2014/main" id="{23F7B4DF-C893-9AD8-6626-0149CF13C0A1}"/>
                </a:ext>
              </a:extLst>
            </p:cNvPr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45" name="Curved Connector 10">
              <a:extLst>
                <a:ext uri="{FF2B5EF4-FFF2-40B4-BE49-F238E27FC236}">
                  <a16:creationId xmlns:a16="http://schemas.microsoft.com/office/drawing/2014/main" id="{6E3ABEF2-865F-EA82-11A9-1DC2A9C87651}"/>
                </a:ext>
              </a:extLst>
            </p:cNvPr>
            <p:cNvCxnSpPr>
              <a:stCxn id="40" idx="6"/>
              <a:endCxn id="41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urved Connector 11">
              <a:extLst>
                <a:ext uri="{FF2B5EF4-FFF2-40B4-BE49-F238E27FC236}">
                  <a16:creationId xmlns:a16="http://schemas.microsoft.com/office/drawing/2014/main" id="{B049A0C9-2005-CED3-9BD4-93E9C7339DAC}"/>
                </a:ext>
              </a:extLst>
            </p:cNvPr>
            <p:cNvCxnSpPr>
              <a:stCxn id="41" idx="6"/>
              <a:endCxn id="42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urved Connector 12">
              <a:extLst>
                <a:ext uri="{FF2B5EF4-FFF2-40B4-BE49-F238E27FC236}">
                  <a16:creationId xmlns:a16="http://schemas.microsoft.com/office/drawing/2014/main" id="{F653828D-C16C-7CF5-F3E7-106F869579C8}"/>
                </a:ext>
              </a:extLst>
            </p:cNvPr>
            <p:cNvCxnSpPr>
              <a:stCxn id="42" idx="6"/>
              <a:endCxn id="43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urved Connector 13">
              <a:extLst>
                <a:ext uri="{FF2B5EF4-FFF2-40B4-BE49-F238E27FC236}">
                  <a16:creationId xmlns:a16="http://schemas.microsoft.com/office/drawing/2014/main" id="{668CF2A2-00AB-1F9B-983F-1552FDB93F1F}"/>
                </a:ext>
              </a:extLst>
            </p:cNvPr>
            <p:cNvCxnSpPr>
              <a:stCxn id="43" idx="6"/>
              <a:endCxn id="44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urved Connector 14">
              <a:extLst>
                <a:ext uri="{FF2B5EF4-FFF2-40B4-BE49-F238E27FC236}">
                  <a16:creationId xmlns:a16="http://schemas.microsoft.com/office/drawing/2014/main" id="{2E39479D-516C-398A-9D5B-F38DE58B99DB}"/>
                </a:ext>
              </a:extLst>
            </p:cNvPr>
            <p:cNvCxnSpPr>
              <a:stCxn id="44" idx="6"/>
              <a:endCxn id="69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Flowchart: Connector 15">
              <a:extLst>
                <a:ext uri="{FF2B5EF4-FFF2-40B4-BE49-F238E27FC236}">
                  <a16:creationId xmlns:a16="http://schemas.microsoft.com/office/drawing/2014/main" id="{5FA1897D-DF6E-AA3B-225A-6CED84A128A9}"/>
                </a:ext>
              </a:extLst>
            </p:cNvPr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Flowchart: Connector 16">
              <a:extLst>
                <a:ext uri="{FF2B5EF4-FFF2-40B4-BE49-F238E27FC236}">
                  <a16:creationId xmlns:a16="http://schemas.microsoft.com/office/drawing/2014/main" id="{ED2AEE76-C8A3-3BAE-F4F3-6F4EF1666F85}"/>
                </a:ext>
              </a:extLst>
            </p:cNvPr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2" name="Flowchart: Connector 17">
              <a:extLst>
                <a:ext uri="{FF2B5EF4-FFF2-40B4-BE49-F238E27FC236}">
                  <a16:creationId xmlns:a16="http://schemas.microsoft.com/office/drawing/2014/main" id="{8941C8EC-085A-6B0D-CFB8-D4C366DA996C}"/>
                </a:ext>
              </a:extLst>
            </p:cNvPr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3" name="Flowchart: Connector 18">
              <a:extLst>
                <a:ext uri="{FF2B5EF4-FFF2-40B4-BE49-F238E27FC236}">
                  <a16:creationId xmlns:a16="http://schemas.microsoft.com/office/drawing/2014/main" id="{3B78243E-747B-1D53-7C19-3B3DB6A813F3}"/>
                </a:ext>
              </a:extLst>
            </p:cNvPr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4" name="Flowchart: Connector 19">
              <a:extLst>
                <a:ext uri="{FF2B5EF4-FFF2-40B4-BE49-F238E27FC236}">
                  <a16:creationId xmlns:a16="http://schemas.microsoft.com/office/drawing/2014/main" id="{5B847ABB-E5A4-968E-76F8-8740933D7FC5}"/>
                </a:ext>
              </a:extLst>
            </p:cNvPr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5" name="Flowchart: Connector 20">
              <a:extLst>
                <a:ext uri="{FF2B5EF4-FFF2-40B4-BE49-F238E27FC236}">
                  <a16:creationId xmlns:a16="http://schemas.microsoft.com/office/drawing/2014/main" id="{B5EC1021-6F02-2E75-567F-7CA627F27F71}"/>
                </a:ext>
              </a:extLst>
            </p:cNvPr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6" name="Flowchart: Connector 21">
              <a:extLst>
                <a:ext uri="{FF2B5EF4-FFF2-40B4-BE49-F238E27FC236}">
                  <a16:creationId xmlns:a16="http://schemas.microsoft.com/office/drawing/2014/main" id="{9C8EC1DE-AF7E-D828-11B1-7504C5901468}"/>
                </a:ext>
              </a:extLst>
            </p:cNvPr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7" name="Curved Connector 22">
              <a:extLst>
                <a:ext uri="{FF2B5EF4-FFF2-40B4-BE49-F238E27FC236}">
                  <a16:creationId xmlns:a16="http://schemas.microsoft.com/office/drawing/2014/main" id="{E73B0A89-714C-9715-F9C5-7E29CF04E0FC}"/>
                </a:ext>
              </a:extLst>
            </p:cNvPr>
            <p:cNvCxnSpPr>
              <a:stCxn id="50" idx="0"/>
              <a:endCxn id="51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urved Connector 23">
              <a:extLst>
                <a:ext uri="{FF2B5EF4-FFF2-40B4-BE49-F238E27FC236}">
                  <a16:creationId xmlns:a16="http://schemas.microsoft.com/office/drawing/2014/main" id="{BFD5B3F9-B22F-8DFA-DA6B-C0CFA5FDE8AD}"/>
                </a:ext>
              </a:extLst>
            </p:cNvPr>
            <p:cNvCxnSpPr>
              <a:stCxn id="51" idx="0"/>
              <a:endCxn id="52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urved Connector 24">
              <a:extLst>
                <a:ext uri="{FF2B5EF4-FFF2-40B4-BE49-F238E27FC236}">
                  <a16:creationId xmlns:a16="http://schemas.microsoft.com/office/drawing/2014/main" id="{042130FF-999B-15DB-71E9-30C098D7DFF0}"/>
                </a:ext>
              </a:extLst>
            </p:cNvPr>
            <p:cNvCxnSpPr>
              <a:stCxn id="52" idx="0"/>
              <a:endCxn id="53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urved Connector 25">
              <a:extLst>
                <a:ext uri="{FF2B5EF4-FFF2-40B4-BE49-F238E27FC236}">
                  <a16:creationId xmlns:a16="http://schemas.microsoft.com/office/drawing/2014/main" id="{27BA283B-FEBE-58AE-E9D3-58F06968A238}"/>
                </a:ext>
              </a:extLst>
            </p:cNvPr>
            <p:cNvCxnSpPr>
              <a:stCxn id="53" idx="0"/>
              <a:endCxn id="54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urved Connector 26">
              <a:extLst>
                <a:ext uri="{FF2B5EF4-FFF2-40B4-BE49-F238E27FC236}">
                  <a16:creationId xmlns:a16="http://schemas.microsoft.com/office/drawing/2014/main" id="{147FADF1-8435-AC3F-5157-195A406F66F1}"/>
                </a:ext>
              </a:extLst>
            </p:cNvPr>
            <p:cNvCxnSpPr>
              <a:stCxn id="54" idx="0"/>
              <a:endCxn id="55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urved Connector 27">
              <a:extLst>
                <a:ext uri="{FF2B5EF4-FFF2-40B4-BE49-F238E27FC236}">
                  <a16:creationId xmlns:a16="http://schemas.microsoft.com/office/drawing/2014/main" id="{1E9CAEB7-8B9E-35B6-110A-21D3897F4FB6}"/>
                </a:ext>
              </a:extLst>
            </p:cNvPr>
            <p:cNvCxnSpPr>
              <a:stCxn id="55" idx="0"/>
              <a:endCxn id="56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28">
              <a:extLst>
                <a:ext uri="{FF2B5EF4-FFF2-40B4-BE49-F238E27FC236}">
                  <a16:creationId xmlns:a16="http://schemas.microsoft.com/office/drawing/2014/main" id="{56040E72-2C26-5B80-3751-584C5574E3BF}"/>
                </a:ext>
              </a:extLst>
            </p:cNvPr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29">
              <a:extLst>
                <a:ext uri="{FF2B5EF4-FFF2-40B4-BE49-F238E27FC236}">
                  <a16:creationId xmlns:a16="http://schemas.microsoft.com/office/drawing/2014/main" id="{3255E672-8A38-DE92-23A8-8AB4E0ABDD7E}"/>
                </a:ext>
              </a:extLst>
            </p:cNvPr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id="{88CC11E8-803C-EBAD-9717-44F33F1A76A9}"/>
                    </a:ext>
                  </a:extLst>
                </p:cNvPr>
                <p:cNvSpPr/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id="{88CC11E8-803C-EBAD-9717-44F33F1A76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id="{2BAF5F4F-8072-8BAD-73BC-6FE704FE8497}"/>
                    </a:ext>
                  </a:extLst>
                </p:cNvPr>
                <p:cNvSpPr/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id="{2BAF5F4F-8072-8BAD-73BC-6FE704FE84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Straight Connector 32">
              <a:extLst>
                <a:ext uri="{FF2B5EF4-FFF2-40B4-BE49-F238E27FC236}">
                  <a16:creationId xmlns:a16="http://schemas.microsoft.com/office/drawing/2014/main" id="{6C8CEFE2-01C0-6EB0-0660-E87B8F5158F3}"/>
                </a:ext>
              </a:extLst>
            </p:cNvPr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33">
              <a:extLst>
                <a:ext uri="{FF2B5EF4-FFF2-40B4-BE49-F238E27FC236}">
                  <a16:creationId xmlns:a16="http://schemas.microsoft.com/office/drawing/2014/main" id="{5E97DEBB-CA96-D216-22A6-60F19D7F124A}"/>
                </a:ext>
              </a:extLst>
            </p:cNvPr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Flowchart: Connector 34">
              <a:extLst>
                <a:ext uri="{FF2B5EF4-FFF2-40B4-BE49-F238E27FC236}">
                  <a16:creationId xmlns:a16="http://schemas.microsoft.com/office/drawing/2014/main" id="{5B631BB2-853A-BF42-B188-463C9EC3BDCA}"/>
                </a:ext>
              </a:extLst>
            </p:cNvPr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0" name="TextBox 35">
              <a:extLst>
                <a:ext uri="{FF2B5EF4-FFF2-40B4-BE49-F238E27FC236}">
                  <a16:creationId xmlns:a16="http://schemas.microsoft.com/office/drawing/2014/main" id="{C2A9C018-C12D-72DF-942E-A75276E149D1}"/>
                </a:ext>
              </a:extLst>
            </p:cNvPr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71" name="TextBox 36">
              <a:extLst>
                <a:ext uri="{FF2B5EF4-FFF2-40B4-BE49-F238E27FC236}">
                  <a16:creationId xmlns:a16="http://schemas.microsoft.com/office/drawing/2014/main" id="{A66360EF-8ACC-D954-7546-E04825CF684A}"/>
                </a:ext>
              </a:extLst>
            </p:cNvPr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72" name="Flowchart: Connector 37">
              <a:extLst>
                <a:ext uri="{FF2B5EF4-FFF2-40B4-BE49-F238E27FC236}">
                  <a16:creationId xmlns:a16="http://schemas.microsoft.com/office/drawing/2014/main" id="{6777FB42-5FE0-FD19-F8AB-69F12909F98B}"/>
                </a:ext>
              </a:extLst>
            </p:cNvPr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3" name="TextBox 38">
              <a:extLst>
                <a:ext uri="{FF2B5EF4-FFF2-40B4-BE49-F238E27FC236}">
                  <a16:creationId xmlns:a16="http://schemas.microsoft.com/office/drawing/2014/main" id="{8343957B-37BA-51CC-3296-22BF3AEB5DEA}"/>
                </a:ext>
              </a:extLst>
            </p:cNvPr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90796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3418607" y="1393371"/>
            <a:ext cx="7290582" cy="4399794"/>
            <a:chOff x="3418607" y="1393371"/>
            <a:chExt cx="7290582" cy="4399794"/>
          </a:xfrm>
        </p:grpSpPr>
        <p:grpSp>
          <p:nvGrpSpPr>
            <p:cNvPr id="73" name="Group 72"/>
            <p:cNvGrpSpPr/>
            <p:nvPr/>
          </p:nvGrpSpPr>
          <p:grpSpPr>
            <a:xfrm>
              <a:off x="3418607" y="1393371"/>
              <a:ext cx="7098192" cy="4399794"/>
              <a:chOff x="3418607" y="1393371"/>
              <a:chExt cx="7098192" cy="43997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/>
                  <p:cNvSpPr/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Rectangle 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/>
                  <p:cNvSpPr/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Rectangle 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/>
                  <p:cNvSpPr/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Rectangle 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10185" r="-277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7" name="Group 6"/>
              <p:cNvGrpSpPr/>
              <p:nvPr/>
            </p:nvGrpSpPr>
            <p:grpSpPr>
              <a:xfrm>
                <a:off x="5757023" y="2712359"/>
                <a:ext cx="540000" cy="539571"/>
                <a:chOff x="4419599" y="2282943"/>
                <a:chExt cx="468000" cy="539571"/>
              </a:xfrm>
            </p:grpSpPr>
            <p:sp>
              <p:nvSpPr>
                <p:cNvPr id="8" name="Oval 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Rectangle 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1" name="Straight Arrow Connector 10"/>
              <p:cNvCxnSpPr>
                <a:stCxn id="8" idx="6"/>
                <a:endCxn id="4" idx="1"/>
              </p:cNvCxnSpPr>
              <p:nvPr/>
            </p:nvCxnSpPr>
            <p:spPr>
              <a:xfrm flipV="1">
                <a:off x="6297023" y="2943830"/>
                <a:ext cx="437111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5750690" y="3962796"/>
                <a:ext cx="540000" cy="539571"/>
                <a:chOff x="4419599" y="2282943"/>
                <a:chExt cx="468000" cy="539571"/>
              </a:xfrm>
            </p:grpSpPr>
            <p:sp>
              <p:nvSpPr>
                <p:cNvPr id="15" name="Oval 14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Rectangle 15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" name="Group 16"/>
              <p:cNvGrpSpPr/>
              <p:nvPr/>
            </p:nvGrpSpPr>
            <p:grpSpPr>
              <a:xfrm>
                <a:off x="8730204" y="3256232"/>
                <a:ext cx="540000" cy="539571"/>
                <a:chOff x="4419599" y="2282943"/>
                <a:chExt cx="468000" cy="539571"/>
              </a:xfrm>
            </p:grpSpPr>
            <p:sp>
              <p:nvSpPr>
                <p:cNvPr id="18" name="Oval 1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Rectangle 1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0" name="Straight Arrow Connector 19"/>
              <p:cNvCxnSpPr>
                <a:stCxn id="18" idx="6"/>
                <a:endCxn id="6" idx="1"/>
              </p:cNvCxnSpPr>
              <p:nvPr/>
            </p:nvCxnSpPr>
            <p:spPr>
              <a:xfrm>
                <a:off x="9270204" y="3490232"/>
                <a:ext cx="368701" cy="29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Oval 20"/>
                  <p:cNvSpPr/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Oval 2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6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/>
              <p:cNvCxnSpPr>
                <a:stCxn id="4" idx="3"/>
                <a:endCxn id="21" idx="2"/>
              </p:cNvCxnSpPr>
              <p:nvPr/>
            </p:nvCxnSpPr>
            <p:spPr>
              <a:xfrm>
                <a:off x="7387239" y="2943830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Oval 22"/>
                  <p:cNvSpPr/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Oval 2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7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/>
              <p:cNvCxnSpPr>
                <a:stCxn id="5" idx="3"/>
                <a:endCxn id="23" idx="2"/>
              </p:cNvCxnSpPr>
              <p:nvPr/>
            </p:nvCxnSpPr>
            <p:spPr>
              <a:xfrm>
                <a:off x="7387239" y="4194267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1" idx="6"/>
                <a:endCxn id="18" idx="2"/>
              </p:cNvCxnSpPr>
              <p:nvPr/>
            </p:nvCxnSpPr>
            <p:spPr>
              <a:xfrm>
                <a:off x="8249546" y="2943830"/>
                <a:ext cx="480658" cy="5464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>
                <a:stCxn id="23" idx="6"/>
                <a:endCxn id="18" idx="2"/>
              </p:cNvCxnSpPr>
              <p:nvPr/>
            </p:nvCxnSpPr>
            <p:spPr>
              <a:xfrm flipV="1">
                <a:off x="8249546" y="3490232"/>
                <a:ext cx="480658" cy="70403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>
                <a:stCxn id="6" idx="3"/>
              </p:cNvCxnSpPr>
              <p:nvPr/>
            </p:nvCxnSpPr>
            <p:spPr>
              <a:xfrm>
                <a:off x="10280922" y="3493227"/>
                <a:ext cx="235877" cy="2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/>
                  <p:cNvSpPr/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Oval 3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9"/>
                    <a:stretch>
                      <a:fillRect l="-1099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/>
                  <p:cNvSpPr/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Oval 3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0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/>
                  <p:cNvSpPr/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Oval 3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1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Arrow Connector 33"/>
              <p:cNvCxnSpPr>
                <a:stCxn id="32" idx="6"/>
                <a:endCxn id="8" idx="2"/>
              </p:cNvCxnSpPr>
              <p:nvPr/>
            </p:nvCxnSpPr>
            <p:spPr>
              <a:xfrm>
                <a:off x="5359806" y="2946359"/>
                <a:ext cx="39721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/>
              <p:cNvCxnSpPr>
                <a:stCxn id="33" idx="6"/>
                <a:endCxn id="15" idx="2"/>
              </p:cNvCxnSpPr>
              <p:nvPr/>
            </p:nvCxnSpPr>
            <p:spPr>
              <a:xfrm>
                <a:off x="5356133" y="4196796"/>
                <a:ext cx="39455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/>
                  <p:cNvSpPr/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2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Straight Arrow Connector 37"/>
              <p:cNvCxnSpPr>
                <a:stCxn id="31" idx="6"/>
                <a:endCxn id="8" idx="2"/>
              </p:cNvCxnSpPr>
              <p:nvPr/>
            </p:nvCxnSpPr>
            <p:spPr>
              <a:xfrm>
                <a:off x="5356133" y="1731493"/>
                <a:ext cx="400890" cy="121486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/>
              <p:cNvCxnSpPr>
                <a:stCxn id="15" idx="6"/>
                <a:endCxn id="5" idx="1"/>
              </p:cNvCxnSpPr>
              <p:nvPr/>
            </p:nvCxnSpPr>
            <p:spPr>
              <a:xfrm flipV="1">
                <a:off x="6290690" y="4194267"/>
                <a:ext cx="443445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>
                <a:stCxn id="36" idx="6"/>
                <a:endCxn id="15" idx="2"/>
              </p:cNvCxnSpPr>
              <p:nvPr/>
            </p:nvCxnSpPr>
            <p:spPr>
              <a:xfrm flipV="1">
                <a:off x="5356133" y="4196796"/>
                <a:ext cx="394557" cy="12860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Rectangle 50"/>
              <p:cNvSpPr/>
              <p:nvPr/>
            </p:nvSpPr>
            <p:spPr>
              <a:xfrm>
                <a:off x="3743115" y="22489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3736782" y="47541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54" name="Straight Arrow Connector 53"/>
              <p:cNvCxnSpPr>
                <a:stCxn id="51" idx="3"/>
                <a:endCxn id="31" idx="2"/>
              </p:cNvCxnSpPr>
              <p:nvPr/>
            </p:nvCxnSpPr>
            <p:spPr>
              <a:xfrm flipV="1">
                <a:off x="3923115" y="1731493"/>
                <a:ext cx="893018" cy="6074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/>
              <p:cNvCxnSpPr>
                <a:stCxn id="51" idx="3"/>
                <a:endCxn id="33" idx="2"/>
              </p:cNvCxnSpPr>
              <p:nvPr/>
            </p:nvCxnSpPr>
            <p:spPr>
              <a:xfrm>
                <a:off x="3923115" y="2338926"/>
                <a:ext cx="893018" cy="18578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/>
              <p:cNvCxnSpPr>
                <a:stCxn id="52" idx="3"/>
                <a:endCxn id="32" idx="2"/>
              </p:cNvCxnSpPr>
              <p:nvPr/>
            </p:nvCxnSpPr>
            <p:spPr>
              <a:xfrm flipV="1">
                <a:off x="3916782" y="2946359"/>
                <a:ext cx="903024" cy="18977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/>
              <p:cNvCxnSpPr>
                <a:stCxn id="52" idx="3"/>
                <a:endCxn id="36" idx="2"/>
              </p:cNvCxnSpPr>
              <p:nvPr/>
            </p:nvCxnSpPr>
            <p:spPr>
              <a:xfrm>
                <a:off x="3916782" y="4844126"/>
                <a:ext cx="899351" cy="6386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/>
                  <p:cNvSpPr txBox="1"/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1" name="TextBox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13333" r="-6667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/>
                  <p:cNvSpPr txBox="1"/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TextBox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l="-13043" r="-6522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9" name="Straight Arrow Connector 68"/>
              <p:cNvCxnSpPr/>
              <p:nvPr/>
            </p:nvCxnSpPr>
            <p:spPr>
              <a:xfrm rot="5400000">
                <a:off x="5900480" y="2581353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/>
              <p:cNvSpPr txBox="1"/>
              <p:nvPr/>
            </p:nvSpPr>
            <p:spPr>
              <a:xfrm>
                <a:off x="5982076" y="14772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grpSp>
            <p:nvGrpSpPr>
              <p:cNvPr id="74" name="Group 73"/>
              <p:cNvGrpSpPr/>
              <p:nvPr/>
            </p:nvGrpSpPr>
            <p:grpSpPr>
              <a:xfrm>
                <a:off x="5799754" y="19771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TextBox 69"/>
                    <p:cNvSpPr txBox="1"/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0" name="TextBox 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blipFill rotWithShape="0">
                      <a:blip r:embed="rId15"/>
                      <a:stretch>
                        <a:fillRect l="-19149" t="-2174" r="-8511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2" name="Oval 71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75" name="Straight Arrow Connector 74"/>
              <p:cNvCxnSpPr/>
              <p:nvPr/>
            </p:nvCxnSpPr>
            <p:spPr>
              <a:xfrm rot="5400000">
                <a:off x="5908025" y="1841252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extBox 76"/>
              <p:cNvSpPr txBox="1"/>
              <p:nvPr/>
            </p:nvSpPr>
            <p:spPr>
              <a:xfrm>
                <a:off x="5959215" y="5439804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81" name="Straight Arrow Connector 80"/>
              <p:cNvCxnSpPr/>
              <p:nvPr/>
            </p:nvCxnSpPr>
            <p:spPr>
              <a:xfrm rot="16200000">
                <a:off x="5899194" y="455664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2" name="Group 81"/>
              <p:cNvGrpSpPr/>
              <p:nvPr/>
            </p:nvGrpSpPr>
            <p:grpSpPr>
              <a:xfrm>
                <a:off x="5784267" y="47013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Box 82"/>
                    <p:cNvSpPr txBox="1"/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3" name="TextBox 8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blipFill rotWithShape="0">
                      <a:blip r:embed="rId16"/>
                      <a:stretch>
                        <a:fillRect l="-18750" t="-2174" r="-6250" b="-173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4" name="Oval 83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5" name="Straight Arrow Connector 84"/>
              <p:cNvCxnSpPr/>
              <p:nvPr/>
            </p:nvCxnSpPr>
            <p:spPr>
              <a:xfrm rot="16200000">
                <a:off x="5891996" y="5325201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6" name="Group 85"/>
              <p:cNvGrpSpPr/>
              <p:nvPr/>
            </p:nvGrpSpPr>
            <p:grpSpPr>
              <a:xfrm>
                <a:off x="8779268" y="397118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/>
                    <p:cNvSpPr txBox="1"/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7" name="TextBox 8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blipFill rotWithShape="0">
                      <a:blip r:embed="rId17"/>
                      <a:stretch>
                        <a:fillRect l="-20833" t="-2174" r="-4167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8" name="Oval 87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9" name="Straight Arrow Connector 88"/>
              <p:cNvCxnSpPr/>
              <p:nvPr/>
            </p:nvCxnSpPr>
            <p:spPr>
              <a:xfrm rot="16200000">
                <a:off x="8879954" y="3847435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/>
              <p:cNvSpPr txBox="1"/>
              <p:nvPr/>
            </p:nvSpPr>
            <p:spPr>
              <a:xfrm>
                <a:off x="8947173" y="46795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91" name="Straight Arrow Connector 90"/>
              <p:cNvCxnSpPr/>
              <p:nvPr/>
            </p:nvCxnSpPr>
            <p:spPr>
              <a:xfrm rot="16200000">
                <a:off x="8879954" y="456490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46" name="Rectangle 4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Rectangle 77"/>
                  <p:cNvSpPr/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8" name="Rectangle 7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Rectangle 78"/>
                  <p:cNvSpPr/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Rectangle 66"/>
              <p:cNvSpPr/>
              <p:nvPr/>
            </p:nvSpPr>
            <p:spPr>
              <a:xfrm>
                <a:off x="4576220" y="1393371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569886" y="3857405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570816" y="2593205"/>
                <a:ext cx="2835927" cy="236330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909657" y="142339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1</a:t>
                </a:r>
              </a:p>
            </p:txBody>
          </p:sp>
          <p:sp>
            <p:nvSpPr>
              <p:cNvPr id="95" name="TextBox 94"/>
              <p:cNvSpPr txBox="1"/>
              <p:nvPr/>
            </p:nvSpPr>
            <p:spPr>
              <a:xfrm>
                <a:off x="6902485" y="541821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2</a:t>
                </a:r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9762362" y="4595572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39130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20065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oup 197"/>
          <p:cNvGrpSpPr/>
          <p:nvPr/>
        </p:nvGrpSpPr>
        <p:grpSpPr>
          <a:xfrm>
            <a:off x="1813708" y="1513572"/>
            <a:ext cx="9981331" cy="3270415"/>
            <a:chOff x="1813708" y="1513572"/>
            <a:chExt cx="9981331" cy="32704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/>
                <p:cNvSpPr/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10185" r="-277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/>
            <p:cNvSpPr/>
            <p:nvPr/>
          </p:nvSpPr>
          <p:spPr>
            <a:xfrm>
              <a:off x="3760389" y="1714929"/>
              <a:ext cx="540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/>
                        </m:nary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132258" t="-115730" r="-130645" b="-16292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>
              <a:stCxn id="8" idx="6"/>
              <a:endCxn id="4" idx="1"/>
            </p:cNvCxnSpPr>
            <p:nvPr/>
          </p:nvCxnSpPr>
          <p:spPr>
            <a:xfrm flipV="1">
              <a:off x="4300389" y="1946400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/>
            <p:cNvGrpSpPr/>
            <p:nvPr/>
          </p:nvGrpSpPr>
          <p:grpSpPr>
            <a:xfrm>
              <a:off x="3754056" y="4165516"/>
              <a:ext cx="540000" cy="539571"/>
              <a:chOff x="4419599" y="2282943"/>
              <a:chExt cx="468000" cy="539571"/>
            </a:xfrm>
          </p:grpSpPr>
          <p:sp>
            <p:nvSpPr>
              <p:cNvPr id="15" name="Oval 14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/>
            <p:cNvGrpSpPr/>
            <p:nvPr/>
          </p:nvGrpSpPr>
          <p:grpSpPr>
            <a:xfrm>
              <a:off x="9816054" y="2815776"/>
              <a:ext cx="540000" cy="539571"/>
              <a:chOff x="4419599" y="2282943"/>
              <a:chExt cx="468000" cy="539571"/>
            </a:xfrm>
          </p:grpSpPr>
          <p:sp>
            <p:nvSpPr>
              <p:cNvPr id="18" name="Oval 1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0" name="Straight Arrow Connector 19"/>
            <p:cNvCxnSpPr>
              <a:stCxn id="18" idx="6"/>
              <a:endCxn id="6" idx="1"/>
            </p:cNvCxnSpPr>
            <p:nvPr/>
          </p:nvCxnSpPr>
          <p:spPr>
            <a:xfrm>
              <a:off x="10356054" y="3049776"/>
              <a:ext cx="368701" cy="299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/>
                <p:cNvSpPr/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Oval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blipFill rotWithShape="0">
                  <a:blip r:embed="rId6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/>
            <p:cNvCxnSpPr>
              <a:stCxn id="4" idx="3"/>
              <a:endCxn id="106" idx="2"/>
            </p:cNvCxnSpPr>
            <p:nvPr/>
          </p:nvCxnSpPr>
          <p:spPr>
            <a:xfrm flipV="1">
              <a:off x="5390605" y="1941969"/>
              <a:ext cx="474707" cy="44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Oval 22"/>
                <p:cNvSpPr/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Oval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blipFill rotWithShape="0">
                  <a:blip r:embed="rId7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/>
            <p:cNvCxnSpPr>
              <a:stCxn id="5" idx="3"/>
              <a:endCxn id="111" idx="2"/>
            </p:cNvCxnSpPr>
            <p:nvPr/>
          </p:nvCxnSpPr>
          <p:spPr>
            <a:xfrm flipV="1">
              <a:off x="5390605" y="4392795"/>
              <a:ext cx="479357" cy="41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1" idx="6"/>
              <a:endCxn id="18" idx="2"/>
            </p:cNvCxnSpPr>
            <p:nvPr/>
          </p:nvCxnSpPr>
          <p:spPr>
            <a:xfrm>
              <a:off x="9335396" y="1912824"/>
              <a:ext cx="480658" cy="11369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>
              <a:stCxn id="23" idx="6"/>
              <a:endCxn id="18" idx="2"/>
            </p:cNvCxnSpPr>
            <p:nvPr/>
          </p:nvCxnSpPr>
          <p:spPr>
            <a:xfrm flipV="1">
              <a:off x="9335396" y="3049776"/>
              <a:ext cx="480658" cy="13403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6" idx="3"/>
            </p:cNvCxnSpPr>
            <p:nvPr/>
          </p:nvCxnSpPr>
          <p:spPr>
            <a:xfrm>
              <a:off x="11366772" y="3052771"/>
              <a:ext cx="235877" cy="21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/>
                <p:cNvSpPr/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val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blipFill rotWithShape="0">
                  <a:blip r:embed="rId8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Oval 31"/>
                <p:cNvSpPr/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Oval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blipFill rotWithShape="0">
                  <a:blip r:embed="rId9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Oval 32"/>
                <p:cNvSpPr/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Oval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10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/>
            <p:cNvCxnSpPr>
              <a:stCxn id="32" idx="6"/>
              <a:endCxn id="8" idx="2"/>
            </p:cNvCxnSpPr>
            <p:nvPr/>
          </p:nvCxnSpPr>
          <p:spPr>
            <a:xfrm flipV="1">
              <a:off x="3349975" y="1948929"/>
              <a:ext cx="410414" cy="8184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33" idx="6"/>
              <a:endCxn id="15" idx="2"/>
            </p:cNvCxnSpPr>
            <p:nvPr/>
          </p:nvCxnSpPr>
          <p:spPr>
            <a:xfrm>
              <a:off x="3363172" y="3586656"/>
              <a:ext cx="390884" cy="8128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/>
                <p:cNvSpPr/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blipFill rotWithShape="0">
                  <a:blip r:embed="rId11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/>
            <p:cNvCxnSpPr>
              <a:stCxn id="31" idx="6"/>
              <a:endCxn id="8" idx="2"/>
            </p:cNvCxnSpPr>
            <p:nvPr/>
          </p:nvCxnSpPr>
          <p:spPr>
            <a:xfrm flipV="1">
              <a:off x="3349975" y="1948929"/>
              <a:ext cx="410414" cy="38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stCxn id="15" idx="6"/>
              <a:endCxn id="5" idx="1"/>
            </p:cNvCxnSpPr>
            <p:nvPr/>
          </p:nvCxnSpPr>
          <p:spPr>
            <a:xfrm flipV="1">
              <a:off x="4294056" y="4396987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stCxn id="36" idx="6"/>
              <a:endCxn id="15" idx="2"/>
            </p:cNvCxnSpPr>
            <p:nvPr/>
          </p:nvCxnSpPr>
          <p:spPr>
            <a:xfrm>
              <a:off x="3349975" y="4397416"/>
              <a:ext cx="404081" cy="21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/>
            <p:cNvSpPr/>
            <p:nvPr/>
          </p:nvSpPr>
          <p:spPr>
            <a:xfrm>
              <a:off x="2115347" y="1860475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112348" y="4311988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4" name="Straight Arrow Connector 53"/>
            <p:cNvCxnSpPr>
              <a:stCxn id="51" idx="3"/>
              <a:endCxn id="31" idx="2"/>
            </p:cNvCxnSpPr>
            <p:nvPr/>
          </p:nvCxnSpPr>
          <p:spPr>
            <a:xfrm>
              <a:off x="2295347" y="1950475"/>
              <a:ext cx="514628" cy="22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stCxn id="51" idx="3"/>
              <a:endCxn id="33" idx="2"/>
            </p:cNvCxnSpPr>
            <p:nvPr/>
          </p:nvCxnSpPr>
          <p:spPr>
            <a:xfrm>
              <a:off x="2295347" y="1950475"/>
              <a:ext cx="527825" cy="16361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/>
            <p:cNvCxnSpPr>
              <a:stCxn id="52" idx="3"/>
              <a:endCxn id="32" idx="2"/>
            </p:cNvCxnSpPr>
            <p:nvPr/>
          </p:nvCxnSpPr>
          <p:spPr>
            <a:xfrm flipV="1">
              <a:off x="2292348" y="2767426"/>
              <a:ext cx="517627" cy="1634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>
              <a:stCxn id="52" idx="3"/>
              <a:endCxn id="36" idx="2"/>
            </p:cNvCxnSpPr>
            <p:nvPr/>
          </p:nvCxnSpPr>
          <p:spPr>
            <a:xfrm flipV="1">
              <a:off x="2292348" y="4397416"/>
              <a:ext cx="517627" cy="45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/>
                <p:cNvSpPr txBox="1"/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1" name="TextBox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13043" r="-6522" b="-1555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/>
                <p:cNvSpPr txBox="1"/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2" name="TextBox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l="-13043" r="-6522" b="-1521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Straight Arrow Connector 68"/>
            <p:cNvCxnSpPr>
              <a:endCxn id="72" idx="4"/>
            </p:cNvCxnSpPr>
            <p:nvPr/>
          </p:nvCxnSpPr>
          <p:spPr>
            <a:xfrm flipV="1">
              <a:off x="4027517" y="2815567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4075250" y="2814968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74" name="Group 73"/>
            <p:cNvGrpSpPr/>
            <p:nvPr/>
          </p:nvGrpSpPr>
          <p:grpSpPr>
            <a:xfrm>
              <a:off x="3795497" y="2347567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/>
                  <p:cNvSpPr txBox="1"/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0" name="TextBox 6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 l="-19149" t="-2174" r="-8511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2" name="Oval 71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5" name="Straight Arrow Connector 74"/>
            <p:cNvCxnSpPr>
              <a:stCxn id="72" idx="0"/>
              <a:endCxn id="8" idx="4"/>
            </p:cNvCxnSpPr>
            <p:nvPr/>
          </p:nvCxnSpPr>
          <p:spPr>
            <a:xfrm flipV="1">
              <a:off x="4029497" y="2182929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81"/>
            <p:cNvGrpSpPr/>
            <p:nvPr/>
          </p:nvGrpSpPr>
          <p:grpSpPr>
            <a:xfrm>
              <a:off x="3801091" y="352845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3" name="TextBox 8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18750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Oval 83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6" name="Group 85"/>
            <p:cNvGrpSpPr/>
            <p:nvPr/>
          </p:nvGrpSpPr>
          <p:grpSpPr>
            <a:xfrm>
              <a:off x="9865118" y="3530724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Box 86"/>
                  <p:cNvSpPr txBox="1"/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7" name="TextBox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20833" t="-2174" r="-4167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Oval 87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9" name="Straight Arrow Connector 88"/>
            <p:cNvCxnSpPr/>
            <p:nvPr/>
          </p:nvCxnSpPr>
          <p:spPr>
            <a:xfrm rot="16200000">
              <a:off x="9965804" y="3406979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10033023" y="4239056"/>
              <a:ext cx="117020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cxnSp>
          <p:nvCxnSpPr>
            <p:cNvPr id="91" name="Straight Arrow Connector 90"/>
            <p:cNvCxnSpPr/>
            <p:nvPr/>
          </p:nvCxnSpPr>
          <p:spPr>
            <a:xfrm rot="16200000">
              <a:off x="9965804" y="4124453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Rectangle 77"/>
                <p:cNvSpPr/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8" name="Rectangle 7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/>
                <p:cNvSpPr/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9" name="Rectangle 7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40000" b="-645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Rectangle 79"/>
                <p:cNvSpPr/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Rectangle 7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Rectangle 91"/>
                <p:cNvSpPr/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Rectangle 9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7" name="Group 96"/>
            <p:cNvGrpSpPr/>
            <p:nvPr/>
          </p:nvGrpSpPr>
          <p:grpSpPr>
            <a:xfrm>
              <a:off x="6828039" y="1704213"/>
              <a:ext cx="540000" cy="539571"/>
              <a:chOff x="4419599" y="2282943"/>
              <a:chExt cx="468000" cy="539571"/>
            </a:xfrm>
          </p:grpSpPr>
          <p:sp>
            <p:nvSpPr>
              <p:cNvPr id="98" name="Oval 9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Rectangle 9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0" name="Straight Arrow Connector 99"/>
            <p:cNvCxnSpPr>
              <a:stCxn id="98" idx="6"/>
              <a:endCxn id="80" idx="1"/>
            </p:cNvCxnSpPr>
            <p:nvPr/>
          </p:nvCxnSpPr>
          <p:spPr>
            <a:xfrm flipV="1">
              <a:off x="7368039" y="1935684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1" name="Group 100"/>
            <p:cNvGrpSpPr/>
            <p:nvPr/>
          </p:nvGrpSpPr>
          <p:grpSpPr>
            <a:xfrm>
              <a:off x="6821706" y="4158610"/>
              <a:ext cx="540000" cy="539571"/>
              <a:chOff x="4419599" y="2282943"/>
              <a:chExt cx="468000" cy="539571"/>
            </a:xfrm>
          </p:grpSpPr>
          <p:sp>
            <p:nvSpPr>
              <p:cNvPr id="102" name="Oval 101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Rectangle 102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4" name="Straight Arrow Connector 103"/>
            <p:cNvCxnSpPr>
              <a:stCxn id="80" idx="3"/>
            </p:cNvCxnSpPr>
            <p:nvPr/>
          </p:nvCxnSpPr>
          <p:spPr>
            <a:xfrm>
              <a:off x="8458255" y="1935684"/>
              <a:ext cx="32230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/>
            <p:cNvCxnSpPr>
              <a:stCxn id="92" idx="3"/>
              <a:endCxn id="23" idx="2"/>
            </p:cNvCxnSpPr>
            <p:nvPr/>
          </p:nvCxnSpPr>
          <p:spPr>
            <a:xfrm>
              <a:off x="8458255" y="4390081"/>
              <a:ext cx="33714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val 105"/>
                <p:cNvSpPr/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Oval 10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blipFill rotWithShape="0">
                  <a:blip r:embed="rId24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Oval 106"/>
                <p:cNvSpPr/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Oval 1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25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Oval 110"/>
                <p:cNvSpPr/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1" name="Oval 1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blipFill rotWithShape="0">
                  <a:blip r:embed="rId26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/>
            <p:cNvCxnSpPr>
              <a:stCxn id="106" idx="6"/>
              <a:endCxn id="98" idx="2"/>
            </p:cNvCxnSpPr>
            <p:nvPr/>
          </p:nvCxnSpPr>
          <p:spPr>
            <a:xfrm flipV="1">
              <a:off x="6405312" y="1938213"/>
              <a:ext cx="422727" cy="3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/>
            <p:cNvCxnSpPr>
              <a:stCxn id="102" idx="6"/>
              <a:endCxn id="92" idx="1"/>
            </p:cNvCxnSpPr>
            <p:nvPr/>
          </p:nvCxnSpPr>
          <p:spPr>
            <a:xfrm flipV="1">
              <a:off x="7361706" y="4390081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/>
            <p:cNvCxnSpPr>
              <a:stCxn id="111" idx="6"/>
              <a:endCxn id="102" idx="2"/>
            </p:cNvCxnSpPr>
            <p:nvPr/>
          </p:nvCxnSpPr>
          <p:spPr>
            <a:xfrm flipV="1">
              <a:off x="6409962" y="4392610"/>
              <a:ext cx="411744" cy="1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/>
            <p:cNvGrpSpPr/>
            <p:nvPr/>
          </p:nvGrpSpPr>
          <p:grpSpPr>
            <a:xfrm>
              <a:off x="6880616" y="353194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TextBox 123"/>
                  <p:cNvSpPr txBox="1"/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TextBox 1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blipFill rotWithShape="0">
                    <a:blip r:embed="rId27"/>
                    <a:stretch>
                      <a:fillRect l="-20833" t="-2174" r="-6250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Oval 12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Rectangle 126"/>
                <p:cNvSpPr/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7" name="Rectangle 1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Rectangle 127"/>
                <p:cNvSpPr/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8" name="Rectangle 1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  <a:blipFill rotWithShape="0">
                  <a:blip r:embed="rId2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Oval 137"/>
                <p:cNvSpPr/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8" name="Oval 1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blipFill rotWithShape="0">
                  <a:blip r:embed="rId30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Straight Arrow Connector 140"/>
            <p:cNvCxnSpPr>
              <a:stCxn id="5" idx="3"/>
              <a:endCxn id="138" idx="2"/>
            </p:cNvCxnSpPr>
            <p:nvPr/>
          </p:nvCxnSpPr>
          <p:spPr>
            <a:xfrm flipV="1">
              <a:off x="5390605" y="2756420"/>
              <a:ext cx="474707" cy="16405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/>
            <p:cNvCxnSpPr>
              <a:stCxn id="4" idx="3"/>
              <a:endCxn id="107" idx="2"/>
            </p:cNvCxnSpPr>
            <p:nvPr/>
          </p:nvCxnSpPr>
          <p:spPr>
            <a:xfrm>
              <a:off x="5390605" y="1946400"/>
              <a:ext cx="474707" cy="16402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/>
            <p:cNvCxnSpPr>
              <a:stCxn id="138" idx="6"/>
              <a:endCxn id="98" idx="2"/>
            </p:cNvCxnSpPr>
            <p:nvPr/>
          </p:nvCxnSpPr>
          <p:spPr>
            <a:xfrm flipV="1">
              <a:off x="6405312" y="1938213"/>
              <a:ext cx="422727" cy="81820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/>
            <p:cNvCxnSpPr>
              <a:stCxn id="107" idx="6"/>
              <a:endCxn id="102" idx="2"/>
            </p:cNvCxnSpPr>
            <p:nvPr/>
          </p:nvCxnSpPr>
          <p:spPr>
            <a:xfrm>
              <a:off x="6405312" y="3586656"/>
              <a:ext cx="416394" cy="8059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/>
            <p:cNvCxnSpPr/>
            <p:nvPr/>
          </p:nvCxnSpPr>
          <p:spPr>
            <a:xfrm>
              <a:off x="4040632" y="3998735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/>
            <p:cNvCxnSpPr/>
            <p:nvPr/>
          </p:nvCxnSpPr>
          <p:spPr>
            <a:xfrm>
              <a:off x="4040244" y="3335439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/>
            <p:cNvSpPr txBox="1"/>
            <p:nvPr/>
          </p:nvSpPr>
          <p:spPr>
            <a:xfrm>
              <a:off x="4079136" y="330179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183" name="Group 182"/>
            <p:cNvGrpSpPr/>
            <p:nvPr/>
          </p:nvGrpSpPr>
          <p:grpSpPr>
            <a:xfrm>
              <a:off x="6861939" y="2331981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TextBox 183"/>
                  <p:cNvSpPr txBox="1"/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84" name="TextBox 18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blipFill rotWithShape="0">
                    <a:blip r:embed="rId31"/>
                    <a:stretch>
                      <a:fillRect l="-20833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5" name="Oval 18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86" name="Straight Arrow Connector 185"/>
            <p:cNvCxnSpPr/>
            <p:nvPr/>
          </p:nvCxnSpPr>
          <p:spPr>
            <a:xfrm flipV="1">
              <a:off x="7096237" y="2174963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Arrow Connector 186"/>
            <p:cNvCxnSpPr/>
            <p:nvPr/>
          </p:nvCxnSpPr>
          <p:spPr>
            <a:xfrm>
              <a:off x="7109241" y="3993086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Arrow Connector 187"/>
            <p:cNvCxnSpPr/>
            <p:nvPr/>
          </p:nvCxnSpPr>
          <p:spPr>
            <a:xfrm flipV="1">
              <a:off x="7099862" y="2803440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Box 188"/>
            <p:cNvSpPr txBox="1"/>
            <p:nvPr/>
          </p:nvSpPr>
          <p:spPr>
            <a:xfrm>
              <a:off x="7147595" y="277998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cxnSp>
          <p:nvCxnSpPr>
            <p:cNvPr id="190" name="Straight Arrow Connector 189"/>
            <p:cNvCxnSpPr/>
            <p:nvPr/>
          </p:nvCxnSpPr>
          <p:spPr>
            <a:xfrm>
              <a:off x="7112589" y="3330932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/>
            <p:cNvSpPr txBox="1"/>
            <p:nvPr/>
          </p:nvSpPr>
          <p:spPr>
            <a:xfrm>
              <a:off x="7151481" y="3297284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2495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2852698" y="487979"/>
            <a:ext cx="4296726" cy="5088350"/>
            <a:chOff x="2852698" y="487979"/>
            <a:chExt cx="4296726" cy="5088350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3220585" y="644070"/>
              <a:ext cx="0" cy="3600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3220585" y="4237494"/>
              <a:ext cx="360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/>
            <p:cNvCxnSpPr/>
            <p:nvPr/>
          </p:nvCxnSpPr>
          <p:spPr>
            <a:xfrm>
              <a:off x="3220585" y="1170919"/>
              <a:ext cx="3039154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90110" y="1168604"/>
              <a:ext cx="0" cy="30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184925" y="107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33"/>
            <p:cNvSpPr/>
            <p:nvPr/>
          </p:nvSpPr>
          <p:spPr>
            <a:xfrm>
              <a:off x="3130584" y="413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28922" y="1078604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184925" y="4154070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085572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40171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852698" y="983938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230110" y="644070"/>
              <a:ext cx="30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XOR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3128922" y="4852275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28922" y="5317052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308922" y="4751436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0 (nível lógico 0)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308921" y="5237775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1 (nível lógico 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410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20287</TotalTime>
  <Words>6124</Words>
  <Application>Microsoft Office PowerPoint</Application>
  <PresentationFormat>Widescreen</PresentationFormat>
  <Paragraphs>588</Paragraphs>
  <Slides>46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46</vt:i4>
      </vt:variant>
    </vt:vector>
  </HeadingPairs>
  <TitlesOfParts>
    <vt:vector size="52" baseType="lpstr">
      <vt:lpstr>Arial</vt:lpstr>
      <vt:lpstr>Calibri</vt:lpstr>
      <vt:lpstr>Calibri Light</vt:lpstr>
      <vt:lpstr>Cambria Math</vt:lpstr>
      <vt:lpstr>Wingdings</vt:lpstr>
      <vt:lpstr>Office Theme</vt:lpstr>
      <vt:lpstr>T320 - Introdução ao Aprendizado de Máquina II: Redes Neurais Artificiais (Parte III)</vt:lpstr>
      <vt:lpstr>Recapitulando</vt:lpstr>
      <vt:lpstr>Aprendizado em redes neurais</vt:lpstr>
      <vt:lpstr>Aprendizado em redes neurais</vt:lpstr>
      <vt:lpstr>Aprendizado em redes neurais</vt:lpstr>
      <vt:lpstr>Aprendizado em redes neurais</vt:lpstr>
      <vt:lpstr>Aprendizado em redes neurais</vt:lpstr>
      <vt:lpstr>Aprendizado em redes neurais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Tarefa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Algumas noções básicas da retropropagação </vt:lpstr>
      <vt:lpstr>Algumas noções básicas da retropropagação </vt:lpstr>
      <vt:lpstr>Algumas noções básicas da retropropagação </vt:lpstr>
      <vt:lpstr>Retropropagando o erro</vt:lpstr>
      <vt:lpstr>Retropropagando o erro</vt:lpstr>
      <vt:lpstr>Retropropagando o erro</vt:lpstr>
      <vt:lpstr>Retropropagando o erro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Tarefas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1593</cp:revision>
  <dcterms:created xsi:type="dcterms:W3CDTF">2020-04-06T23:46:10Z</dcterms:created>
  <dcterms:modified xsi:type="dcterms:W3CDTF">2026-05-19T10:14:15Z</dcterms:modified>
</cp:coreProperties>
</file>