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handoutMasterIdLst>
    <p:handoutMasterId r:id="rId47"/>
  </p:handoutMasterIdLst>
  <p:sldIdLst>
    <p:sldId id="256" r:id="rId2"/>
    <p:sldId id="385" r:id="rId3"/>
    <p:sldId id="387" r:id="rId4"/>
    <p:sldId id="386" r:id="rId5"/>
    <p:sldId id="389" r:id="rId6"/>
    <p:sldId id="391" r:id="rId7"/>
    <p:sldId id="428" r:id="rId8"/>
    <p:sldId id="393" r:id="rId9"/>
    <p:sldId id="392" r:id="rId10"/>
    <p:sldId id="394" r:id="rId11"/>
    <p:sldId id="390" r:id="rId12"/>
    <p:sldId id="399" r:id="rId13"/>
    <p:sldId id="398" r:id="rId14"/>
    <p:sldId id="402" r:id="rId15"/>
    <p:sldId id="397" r:id="rId16"/>
    <p:sldId id="401" r:id="rId17"/>
    <p:sldId id="406" r:id="rId18"/>
    <p:sldId id="405" r:id="rId19"/>
    <p:sldId id="408" r:id="rId20"/>
    <p:sldId id="409" r:id="rId21"/>
    <p:sldId id="407" r:id="rId22"/>
    <p:sldId id="370" r:id="rId23"/>
    <p:sldId id="424" r:id="rId24"/>
    <p:sldId id="425" r:id="rId25"/>
    <p:sldId id="372" r:id="rId26"/>
    <p:sldId id="410" r:id="rId27"/>
    <p:sldId id="412" r:id="rId28"/>
    <p:sldId id="414" r:id="rId29"/>
    <p:sldId id="417" r:id="rId30"/>
    <p:sldId id="429" r:id="rId31"/>
    <p:sldId id="413" r:id="rId32"/>
    <p:sldId id="418" r:id="rId33"/>
    <p:sldId id="324" r:id="rId34"/>
    <p:sldId id="306" r:id="rId35"/>
    <p:sldId id="419" r:id="rId36"/>
    <p:sldId id="375" r:id="rId37"/>
    <p:sldId id="376" r:id="rId38"/>
    <p:sldId id="377" r:id="rId39"/>
    <p:sldId id="378" r:id="rId40"/>
    <p:sldId id="420" r:id="rId41"/>
    <p:sldId id="362" r:id="rId42"/>
    <p:sldId id="403" r:id="rId43"/>
    <p:sldId id="430" r:id="rId44"/>
    <p:sldId id="404" r:id="rId45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353" autoAdjust="0"/>
  </p:normalViewPr>
  <p:slideViewPr>
    <p:cSldViewPr snapToGrid="0">
      <p:cViewPr varScale="1">
        <p:scale>
          <a:sx n="69" d="100"/>
          <a:sy n="69" d="100"/>
        </p:scale>
        <p:origin x="780" y="6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handoutMaster" Target="handoutMasters/handoutMaster1.xml"/><Relationship Id="rId50" Type="http://schemas.openxmlformats.org/officeDocument/2006/relationships/theme" Target="theme/theme1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29/08/2026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29/08/2026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logit, classificação de entropia máxima (MaxEnt)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4173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2267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95987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08006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BD62B9A-C89E-FE9F-0BD3-6AF978CB3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2D0F34CF-F73E-6EDC-122F-F89A9C6607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DB49F92C-F191-44C2-39EB-8E8217C5B5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1CDB2C6B-389B-DF7C-9CD4-5DA63FEB11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47463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633067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92458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26296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229489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65470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18050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esquerda</a:t>
                </a:r>
                <a:r>
                  <a:rPr lang="pt-BR" dirty="0"/>
                  <a:t>, o erro</a:t>
                </a:r>
                <a:r>
                  <a:rPr lang="pt-BR" baseline="0" dirty="0"/>
                  <a:t> </a:t>
                </a:r>
                <a:r>
                  <a:rPr lang="pt-BR" dirty="0"/>
                  <a:t>é nulo somente se a saída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= 1  (ou seja, se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é corretamente identificada). À medida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→ 0, o erro tende a infinito.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direita</a:t>
                </a:r>
                <a:r>
                  <a:rPr lang="pt-BR" dirty="0"/>
                  <a:t>, o erro é nulo quando a saída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= 0 (ou seja, quando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é corretamente identificada). Conforme</a:t>
                </a:r>
                <a:r>
                  <a:rPr lang="pt-BR" baseline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→1, o erro tende a infinito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esquerda</a:t>
                </a:r>
                <a:r>
                  <a:rPr lang="pt-BR" dirty="0"/>
                  <a:t>, o erro</a:t>
                </a:r>
                <a:r>
                  <a:rPr lang="pt-BR" baseline="0" dirty="0"/>
                  <a:t> </a:t>
                </a:r>
                <a:r>
                  <a:rPr lang="pt-BR" dirty="0"/>
                  <a:t>é nulo somente se a saída é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= 1  (ou seja, se a classe </a:t>
                </a:r>
                <a:r>
                  <a:rPr lang="pt-BR" i="0">
                    <a:latin typeface="Cambria Math" panose="02040503050406030204" pitchFamily="18" charset="0"/>
                  </a:rPr>
                  <a:t>𝐶_2</a:t>
                </a:r>
                <a:r>
                  <a:rPr lang="pt-BR" dirty="0"/>
                  <a:t> é corretamente identificada). À medida que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→ 0, o erro tende a infinito.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direita</a:t>
                </a:r>
                <a:r>
                  <a:rPr lang="pt-BR" dirty="0"/>
                  <a:t>, o erro é nulo quando a saída é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= 0 (ou seja, quando a classe </a:t>
                </a:r>
                <a:r>
                  <a:rPr lang="pt-BR" i="0">
                    <a:latin typeface="Cambria Math" panose="02040503050406030204" pitchFamily="18" charset="0"/>
                  </a:rPr>
                  <a:t>𝐶_</a:t>
                </a:r>
                <a:r>
                  <a:rPr lang="pt-BR" b="0" i="0">
                    <a:latin typeface="Cambria Math" panose="02040503050406030204" pitchFamily="18" charset="0"/>
                  </a:rPr>
                  <a:t>1</a:t>
                </a:r>
                <a:r>
                  <a:rPr lang="pt-BR" dirty="0"/>
                  <a:t> é corretamente identificada). Conforme</a:t>
                </a:r>
                <a:r>
                  <a:rPr lang="pt-BR" baseline="0" dirty="0"/>
                  <a:t>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→1, o erro tende a infinito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34697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esquerda</a:t>
                </a:r>
                <a:r>
                  <a:rPr lang="pt-BR" dirty="0"/>
                  <a:t>, o erro</a:t>
                </a:r>
                <a:r>
                  <a:rPr lang="pt-BR" baseline="0" dirty="0"/>
                  <a:t> </a:t>
                </a:r>
                <a:r>
                  <a:rPr lang="pt-BR" dirty="0"/>
                  <a:t>é nulo somente se a saída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= 1  (ou seja, se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é corretamente identificada). À medida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→ 0, o erro tende a infinito.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direita</a:t>
                </a:r>
                <a:r>
                  <a:rPr lang="pt-BR" dirty="0"/>
                  <a:t>, o erro é nulo quando a saída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= 0 (ou seja, quando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é corretamente identificada). Conforme</a:t>
                </a:r>
                <a:r>
                  <a:rPr lang="pt-BR" baseline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→1, o erro tende a infinito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esquerda</a:t>
                </a:r>
                <a:r>
                  <a:rPr lang="pt-BR" dirty="0"/>
                  <a:t>, o erro</a:t>
                </a:r>
                <a:r>
                  <a:rPr lang="pt-BR" baseline="0" dirty="0"/>
                  <a:t> </a:t>
                </a:r>
                <a:r>
                  <a:rPr lang="pt-BR" dirty="0"/>
                  <a:t>é nulo somente se a saída é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= 1  (ou seja, se a classe </a:t>
                </a:r>
                <a:r>
                  <a:rPr lang="pt-BR" i="0">
                    <a:latin typeface="Cambria Math" panose="02040503050406030204" pitchFamily="18" charset="0"/>
                  </a:rPr>
                  <a:t>𝐶_2</a:t>
                </a:r>
                <a:r>
                  <a:rPr lang="pt-BR" dirty="0"/>
                  <a:t> é corretamente identificada). À medida que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→ 0, o erro tende a infinito.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direita</a:t>
                </a:r>
                <a:r>
                  <a:rPr lang="pt-BR" dirty="0"/>
                  <a:t>, o erro é nulo quando a saída é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= 0 (ou seja, quando a classe </a:t>
                </a:r>
                <a:r>
                  <a:rPr lang="pt-BR" i="0">
                    <a:latin typeface="Cambria Math" panose="02040503050406030204" pitchFamily="18" charset="0"/>
                  </a:rPr>
                  <a:t>𝐶_</a:t>
                </a:r>
                <a:r>
                  <a:rPr lang="pt-BR" b="0" i="0">
                    <a:latin typeface="Cambria Math" panose="02040503050406030204" pitchFamily="18" charset="0"/>
                  </a:rPr>
                  <a:t>1</a:t>
                </a:r>
                <a:r>
                  <a:rPr lang="pt-BR" dirty="0"/>
                  <a:t> é corretamente identificada). Conforme</a:t>
                </a:r>
                <a:r>
                  <a:rPr lang="pt-BR" baseline="0" dirty="0"/>
                  <a:t>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→1, o erro tende a infinito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74911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214948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92523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711690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973824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4761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Na segunda figura, o uso de um polinômio de ordem elevada resulta em uma fronteira de decisão excessivamente flexível, levando a distorções na tentativa de reduzir o erro de classificação nos dados de treinamento.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7130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#3</a:t>
            </a:r>
            <a:r>
              <a:rPr lang="pt-BR" sz="1200" dirty="0"/>
              <a:t> https://mybinder.org/v2/gh/zz4fap/t320_aprendizado_de_maquina/main?filepath=labs%2FLaboratorio3.ipynb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861438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SPAMClassificationLogisticRegressionGD.ipynb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83811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Exemplo</a:t>
            </a:r>
            <a:r>
              <a:rPr lang="pt-BR" dirty="0"/>
              <a:t>: SPAMClassificationLogisticRegressionSciKit.ipynb</a:t>
            </a:r>
          </a:p>
          <a:p>
            <a:endParaRPr lang="pt-BR" dirty="0"/>
          </a:p>
          <a:p>
            <a:r>
              <a:rPr lang="pt-BR" b="1" i="0" dirty="0"/>
              <a:t>OBS</a:t>
            </a:r>
            <a:r>
              <a:rPr lang="pt-BR" dirty="0"/>
              <a:t>.: Assim como os outros modelos lineares, os modelos de Regressão Logística podem ser regularizados usando penalidades de L1 ou L2. O Scitkit-Learn adiciona uma penalidade L2 por padrão.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36303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3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3.emf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3.emf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image" Target="../media/image3.emf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7" Type="http://schemas.openxmlformats.org/officeDocument/2006/relationships/image" Target="../media/image2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31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20_aprendizado_de_maquina/blob/main/notebooks/classifica&#231;&#227;o/logistic_regression_with_gradient_descent.ipynb" TargetMode="External"/><Relationship Id="rId2" Type="http://schemas.openxmlformats.org/officeDocument/2006/relationships/image" Target="../media/image58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0.png"/><Relationship Id="rId3" Type="http://schemas.openxmlformats.org/officeDocument/2006/relationships/image" Target="../media/image580.png"/><Relationship Id="rId7" Type="http://schemas.openxmlformats.org/officeDocument/2006/relationships/image" Target="../media/image77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0.png"/><Relationship Id="rId5" Type="http://schemas.openxmlformats.org/officeDocument/2006/relationships/image" Target="../media/image75.png"/><Relationship Id="rId9" Type="http://schemas.openxmlformats.org/officeDocument/2006/relationships/image" Target="../media/image730.png"/><Relationship Id="rId4" Type="http://schemas.openxmlformats.org/officeDocument/2006/relationships/image" Target="../media/image74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0.png"/><Relationship Id="rId3" Type="http://schemas.openxmlformats.org/officeDocument/2006/relationships/image" Target="../media/image730.png"/><Relationship Id="rId7" Type="http://schemas.openxmlformats.org/officeDocument/2006/relationships/image" Target="../media/image7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0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0.png"/><Relationship Id="rId3" Type="http://schemas.openxmlformats.org/officeDocument/2006/relationships/image" Target="../media/image730.png"/><Relationship Id="rId7" Type="http://schemas.openxmlformats.org/officeDocument/2006/relationships/image" Target="../media/image77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0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0.png"/><Relationship Id="rId3" Type="http://schemas.openxmlformats.org/officeDocument/2006/relationships/image" Target="../media/image730.png"/><Relationship Id="rId7" Type="http://schemas.openxmlformats.org/officeDocument/2006/relationships/image" Target="../media/image7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0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20_aprendizado_de_maquina/blob/main/labs/Laboratorio3.ipynb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0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0.png"/><Relationship Id="rId4" Type="http://schemas.openxmlformats.org/officeDocument/2006/relationships/image" Target="../media/image460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0.png"/><Relationship Id="rId2" Type="http://schemas.openxmlformats.org/officeDocument/2006/relationships/image" Target="../media/image48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0.png"/><Relationship Id="rId4" Type="http://schemas.openxmlformats.org/officeDocument/2006/relationships/image" Target="../media/image50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T320 - Introdução ao Aprendizado de Máquina II: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Classificação (Parte III)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30887" cy="5032375"/>
          </a:xfrm>
        </p:spPr>
        <p:txBody>
          <a:bodyPr>
            <a:normAutofit/>
          </a:bodyPr>
          <a:lstStyle/>
          <a:p>
            <a:r>
              <a:rPr lang="pt-BR" dirty="0"/>
              <a:t>Anteriormente, vimos que a função de </a:t>
            </a:r>
            <a:r>
              <a:rPr lang="pt-BR" b="1" i="1" dirty="0"/>
              <a:t>limiar rígido </a:t>
            </a:r>
            <a:r>
              <a:rPr lang="pt-BR" dirty="0"/>
              <a:t>apresenta alguns </a:t>
            </a:r>
            <a:r>
              <a:rPr lang="pt-BR" b="1" i="1" dirty="0">
                <a:solidFill>
                  <a:srgbClr val="00B050"/>
                </a:solidFill>
              </a:rPr>
              <a:t>problemas</a:t>
            </a:r>
            <a:r>
              <a:rPr lang="pt-BR" dirty="0"/>
              <a:t> como não poder ser utilizada para encontrar uma </a:t>
            </a:r>
            <a:r>
              <a:rPr lang="pt-BR" b="1" i="1" dirty="0"/>
              <a:t>solução em forma fechada </a:t>
            </a:r>
            <a:r>
              <a:rPr lang="pt-BR" dirty="0"/>
              <a:t>ou com o </a:t>
            </a:r>
            <a:r>
              <a:rPr lang="pt-BR" b="1" i="1" dirty="0"/>
              <a:t>gradiente descendente</a:t>
            </a:r>
            <a:r>
              <a:rPr lang="pt-BR" dirty="0"/>
              <a:t>, além não nos dar a </a:t>
            </a:r>
            <a:r>
              <a:rPr lang="pt-BR" b="1" i="1" dirty="0"/>
              <a:t>confiança das predições</a:t>
            </a:r>
            <a:r>
              <a:rPr lang="pt-BR" dirty="0"/>
              <a:t>.</a:t>
            </a:r>
          </a:p>
          <a:p>
            <a:r>
              <a:rPr lang="pt-BR" dirty="0"/>
              <a:t>Aprendemos também, uma forma intuitiva e iterativa de encontrar os pesos da </a:t>
            </a:r>
            <a:r>
              <a:rPr lang="pt-BR" b="1" i="1" dirty="0"/>
              <a:t>função discriminante </a:t>
            </a:r>
            <a:r>
              <a:rPr lang="pt-BR" dirty="0"/>
              <a:t>quando usamos o </a:t>
            </a:r>
            <a:r>
              <a:rPr lang="pt-BR" b="1" i="1" dirty="0"/>
              <a:t>limiar rígido</a:t>
            </a:r>
            <a:r>
              <a:rPr lang="pt-BR" dirty="0"/>
              <a:t>.</a:t>
            </a:r>
          </a:p>
          <a:p>
            <a:r>
              <a:rPr lang="pt-BR" dirty="0"/>
              <a:t>Na sequência, usaremos </a:t>
            </a:r>
            <a:r>
              <a:rPr lang="pt-BR" b="1" i="1" dirty="0">
                <a:solidFill>
                  <a:srgbClr val="00B050"/>
                </a:solidFill>
              </a:rPr>
              <a:t>outra função de limiar de decisão</a:t>
            </a:r>
            <a:r>
              <a:rPr lang="pt-BR" dirty="0"/>
              <a:t>, chamada de </a:t>
            </a:r>
            <a:r>
              <a:rPr lang="pt-BR" b="1" i="1" dirty="0">
                <a:solidFill>
                  <a:srgbClr val="00B050"/>
                </a:solidFill>
              </a:rPr>
              <a:t>função logística</a:t>
            </a:r>
            <a:r>
              <a:rPr lang="pt-BR" dirty="0"/>
              <a:t>, com a qual é possível encontrar-se uma solução usando o </a:t>
            </a:r>
            <a:r>
              <a:rPr lang="pt-BR" b="1" i="1" dirty="0">
                <a:solidFill>
                  <a:srgbClr val="00B050"/>
                </a:solidFill>
              </a:rPr>
              <a:t>gradiente descendente </a:t>
            </a:r>
            <a:r>
              <a:rPr lang="pt-BR" dirty="0"/>
              <a:t>e termos o </a:t>
            </a:r>
            <a:r>
              <a:rPr lang="pt-BR" b="1" i="1" dirty="0">
                <a:solidFill>
                  <a:srgbClr val="00B050"/>
                </a:solidFill>
              </a:rPr>
              <a:t>grau de confiança </a:t>
            </a:r>
            <a:r>
              <a:rPr lang="pt-BR" dirty="0"/>
              <a:t>de uma predição.</a:t>
            </a:r>
          </a:p>
        </p:txBody>
      </p:sp>
    </p:spTree>
    <p:extLst>
      <p:ext uri="{BB962C8B-B14F-4D97-AF65-F5344CB8AC3E}">
        <p14:creationId xmlns:p14="http://schemas.microsoft.com/office/powerpoint/2010/main" val="29300673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126609"/>
            <a:ext cx="11076297" cy="1415583"/>
          </a:xfrm>
        </p:spPr>
        <p:txBody>
          <a:bodyPr>
            <a:normAutofit/>
          </a:bodyPr>
          <a:lstStyle/>
          <a:p>
            <a:r>
              <a:rPr lang="pt-BR" dirty="0"/>
              <a:t>Classificação com função de limiar logístico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43525" y="1787857"/>
            <a:ext cx="6648450" cy="5070144"/>
          </a:xfrm>
        </p:spPr>
        <p:txBody>
          <a:bodyPr>
            <a:normAutofit/>
          </a:bodyPr>
          <a:lstStyle/>
          <a:p>
            <a:r>
              <a:rPr lang="pt-BR" dirty="0"/>
              <a:t>Em muitas situações, nós precisamos que o modelo indique o </a:t>
            </a:r>
            <a:r>
              <a:rPr lang="pt-BR" b="1" i="1" dirty="0">
                <a:solidFill>
                  <a:srgbClr val="7030A0"/>
                </a:solidFill>
              </a:rPr>
              <a:t>grau de incerteza </a:t>
            </a:r>
            <a:r>
              <a:rPr lang="pt-BR" dirty="0"/>
              <a:t>quanto às predições.</a:t>
            </a:r>
          </a:p>
          <a:p>
            <a:r>
              <a:rPr lang="pt-BR" dirty="0"/>
              <a:t>Todos esses problemas são resolvidos usando-se a função </a:t>
            </a:r>
            <a:r>
              <a:rPr lang="pt-BR" b="1" i="1" dirty="0">
                <a:solidFill>
                  <a:schemeClr val="accent2"/>
                </a:solidFill>
              </a:rPr>
              <a:t>sigmoide</a:t>
            </a:r>
            <a:r>
              <a:rPr lang="pt-BR" dirty="0"/>
              <a:t> (ou </a:t>
            </a:r>
            <a:r>
              <a:rPr lang="pt-BR" b="1" i="1" dirty="0">
                <a:solidFill>
                  <a:schemeClr val="accent2"/>
                </a:solidFill>
              </a:rPr>
              <a:t>logística</a:t>
            </a:r>
            <a:r>
              <a:rPr lang="pt-BR" dirty="0"/>
              <a:t>).</a:t>
            </a:r>
          </a:p>
          <a:p>
            <a:r>
              <a:rPr lang="pt-BR" dirty="0"/>
              <a:t>Ela é </a:t>
            </a:r>
            <a:r>
              <a:rPr lang="pt-BR" b="1" i="1" dirty="0">
                <a:solidFill>
                  <a:srgbClr val="00B050"/>
                </a:solidFill>
              </a:rPr>
              <a:t>contínua</a:t>
            </a:r>
            <a:r>
              <a:rPr lang="pt-BR" dirty="0"/>
              <a:t>, </a:t>
            </a:r>
            <a:r>
              <a:rPr lang="pt-BR" b="1" i="1" dirty="0">
                <a:solidFill>
                  <a:srgbClr val="00B050"/>
                </a:solidFill>
              </a:rPr>
              <a:t>diferenciável</a:t>
            </a:r>
            <a:r>
              <a:rPr lang="pt-BR" dirty="0"/>
              <a:t> e </a:t>
            </a:r>
            <a:r>
              <a:rPr lang="pt-BR" b="1" i="1" dirty="0">
                <a:solidFill>
                  <a:srgbClr val="00B050"/>
                </a:solidFill>
              </a:rPr>
              <a:t>assume valores reais dentro do intervalo de 0 a 1</a:t>
            </a:r>
            <a:r>
              <a:rPr lang="pt-BR" dirty="0"/>
              <a:t>.</a:t>
            </a:r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xmlns="" id="{97111EDA-EAFA-CA5F-4ED2-A39A480B9E4B}"/>
              </a:ext>
            </a:extLst>
          </p:cNvPr>
          <p:cNvGrpSpPr/>
          <p:nvPr/>
        </p:nvGrpSpPr>
        <p:grpSpPr>
          <a:xfrm>
            <a:off x="941484" y="2236587"/>
            <a:ext cx="3668616" cy="3333897"/>
            <a:chOff x="941484" y="2236587"/>
            <a:chExt cx="3668616" cy="333389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xmlns="" id="{F15C7042-261D-AB8B-4466-65E05D03FE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xmlns="" id="{B4EEAF36-9D2D-A150-C6EB-558ABC4725B5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B4EEAF36-9D2D-A150-C6EB-558ABC4725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4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xmlns="" id="{602D3346-13D2-7A67-8DDB-6CD34002C899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602D3346-13D2-7A67-8DDB-6CD34002C8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83902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6313584-3923-0089-84F4-6B545899B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3E3A3288-915D-7D67-5C64-83C7FACAE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dirty="0"/>
                  <a:t>A </a:t>
                </a:r>
                <a:r>
                  <a:rPr lang="pt-BR" b="1" i="1" dirty="0"/>
                  <a:t>função logística </a:t>
                </a:r>
                <a:r>
                  <a:rPr lang="pt-BR" dirty="0"/>
                  <a:t>é definida como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r>
                  <a:rPr lang="pt-BR" i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pPr algn="just"/>
                <a:r>
                  <a:rPr lang="pt-BR" dirty="0"/>
                  <a:t>Utilizando a </a:t>
                </a:r>
                <a:r>
                  <a:rPr lang="pt-BR" b="1" i="1" dirty="0"/>
                  <a:t>função logística </a:t>
                </a:r>
                <a:r>
                  <a:rPr lang="pt-BR" dirty="0"/>
                  <a:t>como </a:t>
                </a:r>
                <a:r>
                  <a:rPr lang="pt-BR" b="1" i="1" dirty="0"/>
                  <a:t>função de limiar de decisão</a:t>
                </a:r>
                <a:r>
                  <a:rPr lang="pt-BR" dirty="0"/>
                  <a:t>, temos a seguinte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hipótese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m:rPr>
                        <m:nor/>
                      </m:rP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sup>
                        </m:sSup>
                      </m:den>
                    </m:f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Os valores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ficam restritos ao intervalo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  <a:endParaRPr lang="pt-BR" b="1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pode assumir o formato de um </a:t>
                </a:r>
                <a:r>
                  <a:rPr lang="pt-BR" b="1" i="1" dirty="0"/>
                  <a:t>hiperplano</a:t>
                </a:r>
                <a:r>
                  <a:rPr lang="pt-BR" dirty="0"/>
                  <a:t> ou de um </a:t>
                </a:r>
                <a:r>
                  <a:rPr lang="pt-BR" b="1" i="1" dirty="0"/>
                  <a:t>polinômio</a:t>
                </a:r>
                <a:r>
                  <a:rPr lang="pt-BR" dirty="0"/>
                  <a:t>.</a:t>
                </a:r>
              </a:p>
              <a:p>
                <a:pPr marL="0" indent="0" algn="ctr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  <a:blipFill>
                <a:blip r:embed="rId3"/>
                <a:stretch>
                  <a:fillRect l="-1627" t="-1937" r="-1808" b="-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34AEE6EF-5ED3-AE55-0A96-F31E1F8942A9}"/>
              </a:ext>
            </a:extLst>
          </p:cNvPr>
          <p:cNvGrpSpPr/>
          <p:nvPr/>
        </p:nvGrpSpPr>
        <p:grpSpPr>
          <a:xfrm>
            <a:off x="838200" y="2427506"/>
            <a:ext cx="3668616" cy="333389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xmlns="" id="{39A0050F-ACE5-1773-16B4-B1D2978551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xmlns="" id="{E80BCF16-47E2-3C13-A194-91D08FD0769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xmlns="" id="{05432B56-34AE-D827-7DB3-E117552BAA43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88605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da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função hipótese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pode ser interpretada como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probabilidade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condicional da classe positiva</a:t>
                </a:r>
                <a:r>
                  <a:rPr lang="pt-BR" dirty="0"/>
                  <a:t>,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dado os vetores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 o de pesos,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.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Consequentemente, o complemento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i.e.,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r>
                  <a:rPr lang="pt-BR" dirty="0"/>
                  <a:t> </a:t>
                </a:r>
              </a:p>
              <a:p>
                <a:pPr marL="0" indent="0">
                  <a:buNone/>
                </a:pPr>
                <a:r>
                  <a:rPr lang="pt-BR" dirty="0"/>
                  <a:t>dá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probabilidade condicional da classe negativa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dado os vetores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 o de pesos,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.</a:t>
                </a:r>
                <a:endParaRPr lang="pt-BR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  <a:blipFill>
                <a:blip r:embed="rId3"/>
                <a:stretch>
                  <a:fillRect l="-1928" t="-1937" r="-2296" b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:a16="http://schemas.microsoft.com/office/drawing/2014/main" xmlns="" id="{4CCF39D0-FE48-6508-8112-034BBE54537C}"/>
              </a:ext>
            </a:extLst>
          </p:cNvPr>
          <p:cNvGrpSpPr/>
          <p:nvPr/>
        </p:nvGrpSpPr>
        <p:grpSpPr>
          <a:xfrm>
            <a:off x="401934" y="2056169"/>
            <a:ext cx="4264646" cy="3867900"/>
            <a:chOff x="473795" y="2024060"/>
            <a:chExt cx="4264646" cy="3867900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xmlns="" id="{470E9AF9-01E7-AC21-572E-01D625BAA0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617437" y="2024060"/>
              <a:ext cx="4121004" cy="376494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xmlns="" id="{58120DB0-6D11-8F44-3B1B-2640960683BF}"/>
                    </a:ext>
                  </a:extLst>
                </p:cNvPr>
                <p:cNvSpPr txBox="1"/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58120DB0-6D11-8F44-3B1B-2640960683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blipFill>
                  <a:blip r:embed="rId5"/>
                  <a:stretch>
                    <a:fillRect t="-3125" r="-892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xmlns="" id="{FA3D70E1-BF88-3581-1B09-149D5EF556B5}"/>
                    </a:ext>
                  </a:extLst>
                </p:cNvPr>
                <p:cNvSpPr txBox="1"/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id="{FA3D70E1-BF88-3581-1B09-149D5EF556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blipFill>
                  <a:blip r:embed="rId8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191481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94030" y="1825624"/>
                <a:ext cx="705509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Dado que função logística tem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transição suave</a:t>
                </a:r>
                <a:r>
                  <a:rPr lang="pt-BR" dirty="0"/>
                  <a:t>, a nova </a:t>
                </a:r>
                <a:r>
                  <a:rPr lang="pt-BR" b="1" i="1" dirty="0"/>
                  <a:t>função hipótese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apresenta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transição suave entre as classes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Esse comportamento é diferente do obtido com o </a:t>
                </a:r>
                <a:r>
                  <a:rPr lang="pt-BR" b="1" i="1" dirty="0"/>
                  <a:t>limiar rígido</a:t>
                </a:r>
                <a:r>
                  <a:rPr lang="pt-BR" dirty="0"/>
                  <a:t>, onde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mudança entre classes é abrupta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94030" y="1825624"/>
                <a:ext cx="7055095" cy="5032375"/>
              </a:xfrm>
              <a:blipFill>
                <a:blip r:embed="rId3"/>
                <a:stretch>
                  <a:fillRect l="-1554" t="-1937" r="-15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7">
            <a:extLst>
              <a:ext uri="{FF2B5EF4-FFF2-40B4-BE49-F238E27FC236}">
                <a16:creationId xmlns:a16="http://schemas.microsoft.com/office/drawing/2014/main" xmlns="" id="{3C71D529-D91C-F460-D3EA-516BF1A172F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75336" y="4570735"/>
            <a:ext cx="2690141" cy="1806007"/>
          </a:xfrm>
          <a:prstGeom prst="rect">
            <a:avLst/>
          </a:prstGeom>
        </p:spPr>
      </p:pic>
      <p:sp>
        <p:nvSpPr>
          <p:cNvPr id="5" name="CaixaDeTexto 8">
            <a:extLst>
              <a:ext uri="{FF2B5EF4-FFF2-40B4-BE49-F238E27FC236}">
                <a16:creationId xmlns:a16="http://schemas.microsoft.com/office/drawing/2014/main" xmlns="" id="{9E7181FE-6BBA-7C58-5CAB-6820E82D8CC9}"/>
              </a:ext>
            </a:extLst>
          </p:cNvPr>
          <p:cNvSpPr txBox="1"/>
          <p:nvPr/>
        </p:nvSpPr>
        <p:spPr>
          <a:xfrm>
            <a:off x="1371120" y="6354375"/>
            <a:ext cx="23943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/>
              <a:t>Fronteira de decisão suave.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xmlns="" id="{910B2765-B62E-E07B-8342-FE8B18514BF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379" t="6664" r="8832"/>
          <a:stretch/>
        </p:blipFill>
        <p:spPr>
          <a:xfrm>
            <a:off x="1075337" y="1825623"/>
            <a:ext cx="2690141" cy="24577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15">
                <a:extLst>
                  <a:ext uri="{FF2B5EF4-FFF2-40B4-BE49-F238E27FC236}">
                    <a16:creationId xmlns:a16="http://schemas.microsoft.com/office/drawing/2014/main" xmlns="" id="{CBAC1B4D-E4BF-1F2F-5817-9898A32C0706}"/>
                  </a:ext>
                </a:extLst>
              </p:cNvPr>
              <p:cNvSpPr txBox="1"/>
              <p:nvPr/>
            </p:nvSpPr>
            <p:spPr>
              <a:xfrm rot="16200000">
                <a:off x="422082" y="2783381"/>
                <a:ext cx="1325562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sz="12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1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7" name="CaixaDeTexto 15">
                <a:extLst>
                  <a:ext uri="{FF2B5EF4-FFF2-40B4-BE49-F238E27FC236}">
                    <a16:creationId xmlns:a16="http://schemas.microsoft.com/office/drawing/2014/main" id="{CBAC1B4D-E4BF-1F2F-5817-9898A32C07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422082" y="2783381"/>
                <a:ext cx="1325562" cy="276999"/>
              </a:xfrm>
              <a:prstGeom prst="rect">
                <a:avLst/>
              </a:prstGeom>
              <a:blipFill>
                <a:blip r:embed="rId6"/>
                <a:stretch>
                  <a:fillRect r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16">
                <a:extLst>
                  <a:ext uri="{FF2B5EF4-FFF2-40B4-BE49-F238E27FC236}">
                    <a16:creationId xmlns:a16="http://schemas.microsoft.com/office/drawing/2014/main" xmlns="" id="{2ACE9A2B-4BBB-3C76-B933-0A3D511F3E82}"/>
                  </a:ext>
                </a:extLst>
              </p:cNvPr>
              <p:cNvSpPr txBox="1"/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0" name="CaixaDeTexto 16">
                <a:extLst>
                  <a:ext uri="{FF2B5EF4-FFF2-40B4-BE49-F238E27FC236}">
                    <a16:creationId xmlns:a16="http://schemas.microsoft.com/office/drawing/2014/main" id="{2ACE9A2B-4BBB-3C76-B933-0A3D511F3E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0700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0A2257C-117A-2627-3A8F-77F321FED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7633290-C48A-3FB2-A186-B4531500D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037660D3-507D-B2CE-313C-479A1D92DD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Lembrem-se que a </a:t>
                </a:r>
                <a:r>
                  <a:rPr lang="pt-BR" b="1" i="1" dirty="0"/>
                  <a:t>fronteira de decisão</a:t>
                </a:r>
                <a:r>
                  <a:rPr lang="pt-BR" dirty="0"/>
                  <a:t> é definida pela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discriminante </a:t>
                </a:r>
                <a:r>
                  <a:rPr lang="pt-BR" dirty="0"/>
                  <a:t>e passa pelos pontos onde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 smtClean="0"/>
                  <a:t>.</a:t>
                </a:r>
                <a:endParaRPr lang="pt-BR" dirty="0"/>
              </a:p>
              <a:p>
                <a:r>
                  <a:rPr lang="pt-BR" dirty="0"/>
                  <a:t>Assim, quanto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mais próximo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estiver da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fronteira de decisão</a:t>
                </a:r>
                <a:r>
                  <a:rPr lang="pt-BR" dirty="0"/>
                  <a:t>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mais próximo</a:t>
                </a:r>
                <a:r>
                  <a:rPr lang="pt-BR" dirty="0"/>
                  <a:t> o valor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estará de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0.5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Se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estiver </a:t>
                </a:r>
                <a:r>
                  <a:rPr lang="pt-BR" dirty="0" smtClean="0"/>
                  <a:t>posicionad</a:t>
                </a:r>
                <a:r>
                  <a:rPr lang="pt-BR" dirty="0"/>
                  <a:t>o exatamente em cima da fronteira de decisão,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Valores próximos a 0.5 indicam 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indecisão</a:t>
                </a:r>
                <a:r>
                  <a:rPr lang="pt-BR" dirty="0" smtClean="0"/>
                  <a:t> </a:t>
                </a:r>
                <a:r>
                  <a:rPr lang="pt-BR" dirty="0"/>
                  <a:t>sobre a classe do exemplo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037660D3-507D-B2CE-313C-479A1D92DD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  <a:blipFill rotWithShape="0">
                <a:blip r:embed="rId3"/>
                <a:stretch>
                  <a:fillRect l="-1494" t="-1937" r="-132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50595A1C-EEBC-E61E-4B0C-E16528871A0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75336" y="4570735"/>
            <a:ext cx="2690141" cy="1806007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xmlns="" id="{D0354606-A277-86BE-1381-5660F15713B6}"/>
              </a:ext>
            </a:extLst>
          </p:cNvPr>
          <p:cNvSpPr txBox="1"/>
          <p:nvPr/>
        </p:nvSpPr>
        <p:spPr>
          <a:xfrm>
            <a:off x="1371120" y="6354375"/>
            <a:ext cx="23943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/>
              <a:t>Fronteira de decisão suave.</a:t>
            </a:r>
          </a:p>
        </p:txBody>
      </p:sp>
      <p:pic>
        <p:nvPicPr>
          <p:cNvPr id="15" name="Picture 3">
            <a:extLst>
              <a:ext uri="{FF2B5EF4-FFF2-40B4-BE49-F238E27FC236}">
                <a16:creationId xmlns:a16="http://schemas.microsoft.com/office/drawing/2014/main" xmlns="" id="{3E4EB82C-9FBC-368C-128F-0FDEAA6F7CA0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379" t="6664" r="8832"/>
          <a:stretch/>
        </p:blipFill>
        <p:spPr>
          <a:xfrm>
            <a:off x="1075337" y="1825623"/>
            <a:ext cx="2690141" cy="24577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xmlns="" id="{688BE98C-8CE9-C9F5-FDF1-AB08325F46C4}"/>
                  </a:ext>
                </a:extLst>
              </p:cNvPr>
              <p:cNvSpPr txBox="1"/>
              <p:nvPr/>
            </p:nvSpPr>
            <p:spPr>
              <a:xfrm rot="16200000">
                <a:off x="422082" y="2783381"/>
                <a:ext cx="1325562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sz="12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1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688BE98C-8CE9-C9F5-FDF1-AB08325F46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422082" y="2783381"/>
                <a:ext cx="1325562" cy="276999"/>
              </a:xfrm>
              <a:prstGeom prst="rect">
                <a:avLst/>
              </a:prstGeom>
              <a:blipFill>
                <a:blip r:embed="rId6"/>
                <a:stretch>
                  <a:fillRect r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xmlns="" id="{038A1FEB-D898-A638-2A3C-5EC037144F41}"/>
                  </a:ext>
                </a:extLst>
              </p:cNvPr>
              <p:cNvSpPr txBox="1"/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id="{F4CC1366-3D43-8EFC-2434-1C28102F9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78495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5041" y="1825624"/>
                <a:ext cx="702408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Quanto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mais longe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estiver da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maior</a:t>
                </a:r>
                <a:r>
                  <a:rPr lang="pt-BR" dirty="0"/>
                  <a:t> será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valor absoluto de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q</a:t>
                </a:r>
                <a:r>
                  <a:rPr lang="pt-BR" sz="2800" dirty="0"/>
                  <a:t>uanto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mais longe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estiver</a:t>
                </a:r>
                <a:r>
                  <a:rPr lang="pt-BR" sz="2800" dirty="0"/>
                  <a:t>,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mais próximo</a:t>
                </a:r>
                <a:r>
                  <a:rPr lang="pt-BR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estará do valor 0 ou de 1 </a:t>
                </a:r>
                <a:r>
                  <a:rPr lang="pt-BR" sz="2800" dirty="0"/>
                  <a:t>e, portanto, mais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certeza teremos sobre uma predição</a:t>
                </a:r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5041" y="1825624"/>
                <a:ext cx="7024084" cy="5032375"/>
              </a:xfrm>
              <a:blipFill>
                <a:blip r:embed="rId3"/>
                <a:stretch>
                  <a:fillRect l="-156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6E97C804-C471-D3F8-C791-2499476ACE1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75336" y="4570735"/>
            <a:ext cx="2690141" cy="1806007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xmlns="" id="{5F364548-9667-99CD-74B4-6A8853A2B975}"/>
              </a:ext>
            </a:extLst>
          </p:cNvPr>
          <p:cNvSpPr txBox="1"/>
          <p:nvPr/>
        </p:nvSpPr>
        <p:spPr>
          <a:xfrm>
            <a:off x="1371120" y="6354375"/>
            <a:ext cx="23943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/>
              <a:t>Fronteira de decisão suave.</a:t>
            </a:r>
          </a:p>
        </p:txBody>
      </p:sp>
      <p:pic>
        <p:nvPicPr>
          <p:cNvPr id="15" name="Picture 3">
            <a:extLst>
              <a:ext uri="{FF2B5EF4-FFF2-40B4-BE49-F238E27FC236}">
                <a16:creationId xmlns:a16="http://schemas.microsoft.com/office/drawing/2014/main" xmlns="" id="{7A8C5BCF-8E26-E6E0-4626-E652F4BFCCD4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379" t="6664" r="8832"/>
          <a:stretch/>
        </p:blipFill>
        <p:spPr>
          <a:xfrm>
            <a:off x="1075337" y="1825623"/>
            <a:ext cx="2690141" cy="24577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xmlns="" id="{AA049472-CC50-0BFE-DB7F-6C2E18475E67}"/>
                  </a:ext>
                </a:extLst>
              </p:cNvPr>
              <p:cNvSpPr txBox="1"/>
              <p:nvPr/>
            </p:nvSpPr>
            <p:spPr>
              <a:xfrm rot="16200000">
                <a:off x="582524" y="2773663"/>
                <a:ext cx="1004677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1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AA049472-CC50-0BFE-DB7F-6C2E18475E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82524" y="2773663"/>
                <a:ext cx="1004677" cy="276999"/>
              </a:xfrm>
              <a:prstGeom prst="rect">
                <a:avLst/>
              </a:prstGeom>
              <a:blipFill>
                <a:blip r:embed="rId6"/>
                <a:stretch>
                  <a:fillRect r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xmlns="" id="{F4CC1366-3D43-8EFC-2434-1C28102F9307}"/>
                  </a:ext>
                </a:extLst>
              </p:cNvPr>
              <p:cNvSpPr txBox="1"/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id="{F4CC1366-3D43-8EFC-2434-1C28102F9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xmlns="" id="{CC64F05A-7E02-1F81-885B-0F985D8A5436}"/>
              </a:ext>
            </a:extLst>
          </p:cNvPr>
          <p:cNvCxnSpPr>
            <a:cxnSpLocks/>
          </p:cNvCxnSpPr>
          <p:nvPr/>
        </p:nvCxnSpPr>
        <p:spPr>
          <a:xfrm flipV="1">
            <a:off x="3686175" y="1895475"/>
            <a:ext cx="0" cy="274320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xmlns="" id="{C51C32C2-02A4-97DF-3A0E-763C4C918454}"/>
              </a:ext>
            </a:extLst>
          </p:cNvPr>
          <p:cNvCxnSpPr>
            <a:cxnSpLocks/>
          </p:cNvCxnSpPr>
          <p:nvPr/>
        </p:nvCxnSpPr>
        <p:spPr>
          <a:xfrm flipV="1">
            <a:off x="1437795" y="4039976"/>
            <a:ext cx="0" cy="201600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xmlns="" id="{3384F1D0-D12F-3050-B768-FC406B60C537}"/>
              </a:ext>
            </a:extLst>
          </p:cNvPr>
          <p:cNvCxnSpPr>
            <a:cxnSpLocks/>
          </p:cNvCxnSpPr>
          <p:nvPr/>
        </p:nvCxnSpPr>
        <p:spPr>
          <a:xfrm flipV="1">
            <a:off x="2562227" y="2944612"/>
            <a:ext cx="0" cy="244800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89645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B348C73-D100-F26C-476F-E2F9B182F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CAF9C095-0678-B568-4C0C-EE57209756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014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Esse modelo que estima 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probabilidade</a:t>
                </a:r>
                <a:r>
                  <a:rPr lang="pt-BR" dirty="0">
                    <a:solidFill>
                      <a:schemeClr val="accent2"/>
                    </a:solidFill>
                  </a:rPr>
                  <a:t> </a:t>
                </a:r>
                <a:r>
                  <a:rPr lang="pt-BR" dirty="0"/>
                  <a:t>de um dado exemplo de entrada pertencer à classe positiva,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não é um classificador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no sentido estrito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Ele é na verdade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regressor</a:t>
                </a:r>
                <a:r>
                  <a:rPr lang="pt-BR" dirty="0"/>
                  <a:t> e é chamado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regressor</a:t>
                </a:r>
                <a:r>
                  <a:rPr lang="pt-BR" dirty="0"/>
                  <a:t> </a:t>
                </a:r>
                <a:r>
                  <a:rPr lang="pt-BR" b="1" i="1" dirty="0"/>
                  <a:t>logístico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É um </a:t>
                </a:r>
                <a:r>
                  <a:rPr lang="pt-BR" dirty="0" err="1" smtClean="0"/>
                  <a:t>regressor</a:t>
                </a:r>
                <a:r>
                  <a:rPr lang="pt-BR" dirty="0" smtClean="0"/>
                  <a:t>, </a:t>
                </a:r>
                <a:r>
                  <a:rPr lang="pt-BR" dirty="0"/>
                  <a:t>pois sua saída pode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assumir infinitos valores </a:t>
                </a:r>
                <a:r>
                  <a:rPr lang="pt-BR" dirty="0"/>
                  <a:t>no intervalo entre 0 e 1.</a:t>
                </a:r>
              </a:p>
              <a:p>
                <a:r>
                  <a:rPr lang="pt-BR" dirty="0" smtClean="0"/>
                  <a:t>O </a:t>
                </a:r>
                <a:r>
                  <a:rPr lang="pt-BR" b="1" i="1" dirty="0"/>
                  <a:t>regressor logístico </a:t>
                </a:r>
                <a:r>
                  <a:rPr lang="pt-BR" dirty="0"/>
                  <a:t>é normalmente usado para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classificação binária </a:t>
                </a:r>
                <a:r>
                  <a:rPr lang="pt-BR" dirty="0"/>
                  <a:t>(i.e., classificação entre duas classes,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), </a:t>
                </a:r>
                <a:r>
                  <a:rPr lang="pt-BR" dirty="0" smtClean="0"/>
                  <a:t>mas, </a:t>
                </a:r>
                <a:r>
                  <a:rPr lang="pt-BR" dirty="0"/>
                  <a:t>para isso, precisamos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quantizar 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a sua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saída</a:t>
                </a:r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Toda </a:t>
                </a:r>
                <a:r>
                  <a:rPr lang="pt-BR" dirty="0"/>
                  <a:t>a teoria por trás da </a:t>
                </a:r>
                <a:r>
                  <a:rPr lang="pt-BR" b="1" i="1" dirty="0"/>
                  <a:t>regressão logística</a:t>
                </a:r>
                <a:r>
                  <a:rPr lang="pt-BR" dirty="0"/>
                  <a:t> </a:t>
                </a:r>
                <a:r>
                  <a:rPr lang="pt-BR" dirty="0" smtClean="0"/>
                  <a:t>nos ajudará a entender o funcionamento das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redes neurais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CAF9C095-0678-B568-4C0C-EE57209756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01401" cy="5032375"/>
              </a:xfrm>
              <a:blipFill rotWithShape="0">
                <a:blip r:embed="rId3"/>
                <a:stretch>
                  <a:fillRect l="-925" t="-1937" r="-152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42561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E072F66-404A-E27E-D039-06DFA218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6442BD45-72D4-E6C4-1F35-F41807AA4F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19338" cy="5032375"/>
              </a:xfrm>
            </p:spPr>
            <p:txBody>
              <a:bodyPr/>
              <a:lstStyle/>
              <a:p>
                <a:r>
                  <a:rPr lang="pt-BR" dirty="0" smtClean="0"/>
                  <a:t>Se quantiza a saída da </a:t>
                </a:r>
                <a:r>
                  <a:rPr lang="pt-BR" b="1" i="1" dirty="0"/>
                  <a:t>função hipótese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nos valores 0 ou 1 estabelecendo-se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limiar de </a:t>
                </a:r>
                <a:r>
                  <a:rPr lang="pt-BR" b="1" i="1" dirty="0" smtClean="0">
                    <a:solidFill>
                      <a:srgbClr val="7030A0"/>
                    </a:solidFill>
                  </a:rPr>
                  <a:t>decisão</a:t>
                </a:r>
                <a:r>
                  <a:rPr lang="pt-BR" i="1" dirty="0" smtClean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 smtClean="0"/>
                  <a:t>.</a:t>
                </a:r>
                <a:endParaRPr lang="pt-BR" dirty="0"/>
              </a:p>
              <a:p>
                <a:r>
                  <a:rPr lang="pt-BR" dirty="0"/>
                  <a:t>Em geral,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 é feito igual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pt-BR" dirty="0" smtClean="0"/>
                  <a:t> </a:t>
                </a:r>
                <a:r>
                  <a:rPr lang="pt-BR" dirty="0"/>
                  <a:t>(i.e., 50% de probabilidade).</a:t>
                </a:r>
              </a:p>
              <a:p>
                <a:r>
                  <a:rPr lang="pt-BR" dirty="0" smtClean="0"/>
                  <a:t>A </a:t>
                </a:r>
                <a:r>
                  <a:rPr lang="pt-BR" dirty="0"/>
                  <a:t>saída </a:t>
                </a:r>
                <a:r>
                  <a:rPr lang="pt-BR" b="1" i="1" dirty="0"/>
                  <a:t>quantizada</a:t>
                </a:r>
                <a:r>
                  <a:rPr lang="pt-BR" dirty="0"/>
                  <a:t> do </a:t>
                </a:r>
                <a:r>
                  <a:rPr lang="pt-BR" b="1" i="1" dirty="0"/>
                  <a:t>regressor logístico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𝐶𝑙𝑎𝑠𝑠𝑒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 </m:t>
                      </m:r>
                      <m:acc>
                        <m:accPr>
                          <m:chr m:val="̂"/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b="0" i="0" smtClean="0">
                                        <a:latin typeface="Cambria Math" panose="02040503050406030204" pitchFamily="18" charset="0"/>
                                      </a:rPr>
                                      <m:t>Negativa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&lt;0.5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 (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Positiva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),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𝑠𝑒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≥0.5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6442BD45-72D4-E6C4-1F35-F41807AA4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19338" cy="5032375"/>
              </a:xfrm>
              <a:blipFill rotWithShape="0">
                <a:blip r:embed="rId3"/>
                <a:stretch>
                  <a:fillRect l="-987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42672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72AC13C-45BB-B28E-F816-A97767018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077809CD-1BD7-E7EB-6571-1A28F2AF7B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12846" y="1825624"/>
                <a:ext cx="678488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Notem que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>
                        <a:latin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)&lt;0</m:t>
                    </m:r>
                  </m:oMath>
                </a14:m>
                <a:r>
                  <a:rPr lang="pt-BR" dirty="0"/>
                  <a:t> 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pt-BR" dirty="0"/>
                  <a:t> 0.5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Portanto, o </a:t>
                </a:r>
                <a:r>
                  <a:rPr lang="pt-BR" b="1" i="1" dirty="0"/>
                  <a:t>regressor logístico com limiar de quantização igual a 0.5 </a:t>
                </a:r>
                <a:r>
                  <a:rPr lang="pt-BR" dirty="0"/>
                  <a:t>prediz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(i.e.,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), se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 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 (i.e.,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i="1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), se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77809CD-1BD7-E7EB-6571-1A28F2AF7B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12846" y="1825624"/>
                <a:ext cx="6784886" cy="5032375"/>
              </a:xfrm>
              <a:blipFill>
                <a:blip r:embed="rId2"/>
                <a:stretch>
                  <a:fillRect l="-1617" t="-1937" r="-12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DEB44443-FFD9-DE17-AE4D-5329DCB80EFD}"/>
              </a:ext>
            </a:extLst>
          </p:cNvPr>
          <p:cNvGrpSpPr/>
          <p:nvPr/>
        </p:nvGrpSpPr>
        <p:grpSpPr>
          <a:xfrm>
            <a:off x="496556" y="2204516"/>
            <a:ext cx="4264646" cy="3867900"/>
            <a:chOff x="473795" y="2024060"/>
            <a:chExt cx="4264646" cy="3867900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xmlns="" id="{6CFDE865-B8F2-4862-00D0-2F299E8F06B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379" t="6664" r="8832"/>
            <a:stretch/>
          </p:blipFill>
          <p:spPr>
            <a:xfrm>
              <a:off x="617437" y="2024060"/>
              <a:ext cx="4121004" cy="376494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xmlns="" id="{CF28521A-7BAB-5D5B-7A24-F7AE92AD9921}"/>
                    </a:ext>
                  </a:extLst>
                </p:cNvPr>
                <p:cNvSpPr txBox="1"/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CF28521A-7BAB-5D5B-7A24-F7AE92AD99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blipFill>
                  <a:blip r:embed="rId4"/>
                  <a:stretch>
                    <a:fillRect t="-2344" r="-10909" b="-78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Right Brace 5">
              <a:extLst>
                <a:ext uri="{FF2B5EF4-FFF2-40B4-BE49-F238E27FC236}">
                  <a16:creationId xmlns:a16="http://schemas.microsoft.com/office/drawing/2014/main" xmlns="" id="{36FFBC54-E8AA-B8DC-C018-7AF210B1204B}"/>
                </a:ext>
              </a:extLst>
            </p:cNvPr>
            <p:cNvSpPr/>
            <p:nvPr/>
          </p:nvSpPr>
          <p:spPr>
            <a:xfrm rot="5400000">
              <a:off x="3721046" y="2913581"/>
              <a:ext cx="166155" cy="1800725"/>
            </a:xfrm>
            <a:prstGeom prst="rightBrace">
              <a:avLst>
                <a:gd name="adj1" fmla="val 8333"/>
                <a:gd name="adj2" fmla="val 5074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6">
                  <a:extLst>
                    <a:ext uri="{FF2B5EF4-FFF2-40B4-BE49-F238E27FC236}">
                      <a16:creationId xmlns:a16="http://schemas.microsoft.com/office/drawing/2014/main" xmlns="" id="{84CA50B8-20A8-7860-76B6-EBE98B2C591B}"/>
                    </a:ext>
                  </a:extLst>
                </p:cNvPr>
                <p:cNvSpPr txBox="1"/>
                <p:nvPr/>
              </p:nvSpPr>
              <p:spPr>
                <a:xfrm>
                  <a:off x="2880726" y="3891839"/>
                  <a:ext cx="180491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sz="16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pt-BR" sz="1600" b="0" i="0" dirty="0" smtClean="0">
                            <a:latin typeface="Cambria Math" panose="02040503050406030204" pitchFamily="18" charset="0"/>
                          </a:rPr>
                          <m:t>se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≥0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8" name="TextBox 6">
                  <a:extLst>
                    <a:ext uri="{FF2B5EF4-FFF2-40B4-BE49-F238E27FC236}">
                      <a16:creationId xmlns:a16="http://schemas.microsoft.com/office/drawing/2014/main" id="{84CA50B8-20A8-7860-76B6-EBE98B2C5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0726" y="3891839"/>
                  <a:ext cx="1804918" cy="338554"/>
                </a:xfrm>
                <a:prstGeom prst="rect">
                  <a:avLst/>
                </a:prstGeom>
                <a:blipFill>
                  <a:blip r:embed="rId5"/>
                  <a:stretch>
                    <a:fillRect b="-357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Right Brace 9">
              <a:extLst>
                <a:ext uri="{FF2B5EF4-FFF2-40B4-BE49-F238E27FC236}">
                  <a16:creationId xmlns:a16="http://schemas.microsoft.com/office/drawing/2014/main" xmlns="" id="{7CD5DAF8-692D-4FFB-3889-4F4811A96859}"/>
                </a:ext>
              </a:extLst>
            </p:cNvPr>
            <p:cNvSpPr/>
            <p:nvPr/>
          </p:nvSpPr>
          <p:spPr>
            <a:xfrm rot="16200000">
              <a:off x="1920322" y="2652479"/>
              <a:ext cx="166155" cy="1800725"/>
            </a:xfrm>
            <a:prstGeom prst="rightBrace">
              <a:avLst>
                <a:gd name="adj1" fmla="val 8333"/>
                <a:gd name="adj2" fmla="val 5074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10">
                  <a:extLst>
                    <a:ext uri="{FF2B5EF4-FFF2-40B4-BE49-F238E27FC236}">
                      <a16:creationId xmlns:a16="http://schemas.microsoft.com/office/drawing/2014/main" xmlns="" id="{7B8A9F24-4A03-367E-79F6-C51C042914F2}"/>
                    </a:ext>
                  </a:extLst>
                </p:cNvPr>
                <p:cNvSpPr txBox="1"/>
                <p:nvPr/>
              </p:nvSpPr>
              <p:spPr>
                <a:xfrm>
                  <a:off x="1103037" y="3107812"/>
                  <a:ext cx="180491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sz="16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0 </m:t>
                        </m:r>
                        <m:r>
                          <m:rPr>
                            <m:sty m:val="p"/>
                          </m:rPr>
                          <a:rPr lang="pt-BR" sz="1600" b="0" i="0" dirty="0" smtClean="0">
                            <a:latin typeface="Cambria Math" panose="02040503050406030204" pitchFamily="18" charset="0"/>
                          </a:rPr>
                          <m:t>se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&lt;0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0" name="TextBox 10">
                  <a:extLst>
                    <a:ext uri="{FF2B5EF4-FFF2-40B4-BE49-F238E27FC236}">
                      <a16:creationId xmlns:a16="http://schemas.microsoft.com/office/drawing/2014/main" id="{7B8A9F24-4A03-367E-79F6-C51C042914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3037" y="3107812"/>
                  <a:ext cx="1804918" cy="338554"/>
                </a:xfrm>
                <a:prstGeom prst="rect">
                  <a:avLst/>
                </a:prstGeom>
                <a:blipFill>
                  <a:blip r:embed="rId6"/>
                  <a:stretch>
                    <a:fillRect b="-363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xmlns="" id="{E4DC8A7C-AC93-892F-B7D9-AF42FDBFE8D8}"/>
                    </a:ext>
                  </a:extLst>
                </p:cNvPr>
                <p:cNvSpPr txBox="1"/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E4DC8A7C-AC93-892F-B7D9-AF42FDBFE8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blipFill>
                  <a:blip r:embed="rId7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836500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m 15">
            <a:extLst>
              <a:ext uri="{FF2B5EF4-FFF2-40B4-BE49-F238E27FC236}">
                <a16:creationId xmlns:a16="http://schemas.microsoft.com/office/drawing/2014/main" xmlns="" id="{B8A641DB-726F-6426-9FE6-9A9B9C3C80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9903" y="4242547"/>
            <a:ext cx="2378723" cy="2156297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A5233AA-51F7-6ACD-208D-18BEC80FF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Propriedades da 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3885C979-AADA-BE1B-E924-EADEBB483E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59778" y="1825624"/>
                <a:ext cx="6432222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transição entre classes </a:t>
                </a:r>
                <a:r>
                  <a:rPr lang="pt-BR" dirty="0"/>
                  <a:t>com o regressor logístico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é suave</a:t>
                </a:r>
                <a:r>
                  <a:rPr lang="pt-BR" dirty="0"/>
                  <a:t>, mas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após a quantização</a:t>
                </a:r>
                <a:r>
                  <a:rPr lang="pt-BR" dirty="0"/>
                  <a:t> de sua saída, ela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se torna abrupta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fronteira de decisão </a:t>
                </a:r>
                <a:r>
                  <a:rPr lang="pt-BR" dirty="0" smtClean="0"/>
                  <a:t>é </a:t>
                </a:r>
                <a:r>
                  <a:rPr lang="pt-BR" dirty="0"/>
                  <a:t>determinada quando há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indecisão</a:t>
                </a:r>
                <a:r>
                  <a:rPr lang="pt-BR" dirty="0"/>
                  <a:t> entre as classes.</a:t>
                </a:r>
              </a:p>
              <a:p>
                <a:r>
                  <a:rPr lang="pt-BR" dirty="0"/>
                  <a:t>Ou seja, </a:t>
                </a:r>
                <a:r>
                  <a:rPr lang="pt-BR" dirty="0" smtClean="0"/>
                  <a:t>quando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0.5.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3885C979-AADA-BE1B-E924-EADEBB483E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59778" y="1825624"/>
                <a:ext cx="6432222" cy="5032375"/>
              </a:xfrm>
              <a:blipFill rotWithShape="0">
                <a:blip r:embed="rId3"/>
                <a:stretch>
                  <a:fillRect l="-1706" t="-1937" r="-312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301DF147-5AD8-4827-1B3C-934BCB6CAB6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0241" y="2301118"/>
            <a:ext cx="2252879" cy="1512454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DC81A026-AE51-E462-440C-065E87F63FC5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33" t="11662" r="9254"/>
          <a:stretch/>
        </p:blipFill>
        <p:spPr>
          <a:xfrm>
            <a:off x="3172460" y="2301118"/>
            <a:ext cx="2257744" cy="1512454"/>
          </a:xfrm>
          <a:prstGeom prst="rect">
            <a:avLst/>
          </a:prstGeom>
        </p:spPr>
      </p:pic>
      <p:cxnSp>
        <p:nvCxnSpPr>
          <p:cNvPr id="7" name="Conector de seta reta 8">
            <a:extLst>
              <a:ext uri="{FF2B5EF4-FFF2-40B4-BE49-F238E27FC236}">
                <a16:creationId xmlns:a16="http://schemas.microsoft.com/office/drawing/2014/main" xmlns="" id="{A5564AF5-415F-E5A8-B289-2CB45DE72C76}"/>
              </a:ext>
            </a:extLst>
          </p:cNvPr>
          <p:cNvCxnSpPr>
            <a:cxnSpLocks/>
            <a:stCxn id="9" idx="0"/>
            <a:endCxn id="8" idx="2"/>
          </p:cNvCxnSpPr>
          <p:nvPr/>
        </p:nvCxnSpPr>
        <p:spPr>
          <a:xfrm flipV="1">
            <a:off x="4390356" y="2995996"/>
            <a:ext cx="561" cy="2129544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 7">
            <a:extLst>
              <a:ext uri="{FF2B5EF4-FFF2-40B4-BE49-F238E27FC236}">
                <a16:creationId xmlns:a16="http://schemas.microsoft.com/office/drawing/2014/main" xmlns="" id="{F14A03E5-8AEE-CC43-1C61-4E5D3EB0F774}"/>
              </a:ext>
            </a:extLst>
          </p:cNvPr>
          <p:cNvSpPr/>
          <p:nvPr/>
        </p:nvSpPr>
        <p:spPr>
          <a:xfrm rot="2198129">
            <a:off x="3331970" y="2904814"/>
            <a:ext cx="2178268" cy="101176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xmlns="" id="{A160CDC7-3DB9-F339-904B-ECCF2FF687F4}"/>
              </a:ext>
            </a:extLst>
          </p:cNvPr>
          <p:cNvSpPr/>
          <p:nvPr/>
        </p:nvSpPr>
        <p:spPr>
          <a:xfrm>
            <a:off x="4336356" y="5125540"/>
            <a:ext cx="108000" cy="108000"/>
          </a:xfrm>
          <a:prstGeom prst="ellipse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xmlns="" id="{ED590EC9-E826-C9B7-DB48-DB5893E946E0}"/>
              </a:ext>
            </a:extLst>
          </p:cNvPr>
          <p:cNvSpPr txBox="1"/>
          <p:nvPr/>
        </p:nvSpPr>
        <p:spPr>
          <a:xfrm>
            <a:off x="2329684" y="2618144"/>
            <a:ext cx="9742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/>
              <a:t>Quantização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xmlns="" id="{CA218BEA-C92F-A9D2-5B95-1181A660E6D5}"/>
              </a:ext>
            </a:extLst>
          </p:cNvPr>
          <p:cNvSpPr txBox="1"/>
          <p:nvPr/>
        </p:nvSpPr>
        <p:spPr>
          <a:xfrm>
            <a:off x="3438126" y="1993341"/>
            <a:ext cx="19857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Transição abrupta</a:t>
            </a:r>
          </a:p>
        </p:txBody>
      </p:sp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xmlns="" id="{96DC723A-0689-21BA-776F-298D6AEB8996}"/>
              </a:ext>
            </a:extLst>
          </p:cNvPr>
          <p:cNvSpPr/>
          <p:nvPr/>
        </p:nvSpPr>
        <p:spPr>
          <a:xfrm>
            <a:off x="2501514" y="2850735"/>
            <a:ext cx="576483" cy="37793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xmlns="" id="{8FDC2F49-7E99-272A-7D45-CF96AD496CCE}"/>
              </a:ext>
            </a:extLst>
          </p:cNvPr>
          <p:cNvSpPr txBox="1"/>
          <p:nvPr/>
        </p:nvSpPr>
        <p:spPr>
          <a:xfrm>
            <a:off x="343944" y="2006844"/>
            <a:ext cx="19857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Transição suave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xmlns="" id="{9C42078E-5BB7-D014-6267-4D199DCDA337}"/>
              </a:ext>
            </a:extLst>
          </p:cNvPr>
          <p:cNvSpPr txBox="1"/>
          <p:nvPr/>
        </p:nvSpPr>
        <p:spPr>
          <a:xfrm>
            <a:off x="5014663" y="3682128"/>
            <a:ext cx="7997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Fronteira de decisão</a:t>
            </a:r>
          </a:p>
        </p:txBody>
      </p:sp>
      <p:cxnSp>
        <p:nvCxnSpPr>
          <p:cNvPr id="26" name="Conector: Curvo 25">
            <a:extLst>
              <a:ext uri="{FF2B5EF4-FFF2-40B4-BE49-F238E27FC236}">
                <a16:creationId xmlns:a16="http://schemas.microsoft.com/office/drawing/2014/main" xmlns="" id="{A6DB7626-F455-A040-5E09-CAACB2A4E564}"/>
              </a:ext>
            </a:extLst>
          </p:cNvPr>
          <p:cNvCxnSpPr>
            <a:cxnSpLocks/>
            <a:endCxn id="24" idx="1"/>
          </p:cNvCxnSpPr>
          <p:nvPr/>
        </p:nvCxnSpPr>
        <p:spPr>
          <a:xfrm rot="16200000" flipH="1">
            <a:off x="4601307" y="3484215"/>
            <a:ext cx="637641" cy="189071"/>
          </a:xfrm>
          <a:prstGeom prst="curvedConnector2">
            <a:avLst/>
          </a:prstGeom>
          <a:ln w="1905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1086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811B56D-A8C3-D4ED-E68C-5C692F58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ABDE3F7-7E8F-5003-373A-62B0BD376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8343" y="1825624"/>
            <a:ext cx="6600460" cy="5032375"/>
          </a:xfrm>
        </p:spPr>
        <p:txBody>
          <a:bodyPr/>
          <a:lstStyle/>
          <a:p>
            <a:r>
              <a:rPr lang="pt-BR" dirty="0" smtClean="0"/>
              <a:t>Para </a:t>
            </a:r>
            <a:r>
              <a:rPr lang="pt-BR" b="1" i="1" dirty="0" smtClean="0">
                <a:solidFill>
                  <a:srgbClr val="00B050"/>
                </a:solidFill>
              </a:rPr>
              <a:t>treinarmos </a:t>
            </a:r>
            <a:r>
              <a:rPr lang="pt-BR" dirty="0"/>
              <a:t>um</a:t>
            </a:r>
            <a:r>
              <a:rPr lang="pt-BR" b="1" i="1" dirty="0"/>
              <a:t> </a:t>
            </a:r>
            <a:r>
              <a:rPr lang="pt-BR" b="1" i="1" dirty="0">
                <a:solidFill>
                  <a:srgbClr val="00B050"/>
                </a:solidFill>
              </a:rPr>
              <a:t>regressor logístico</a:t>
            </a:r>
            <a:r>
              <a:rPr lang="pt-BR" b="1" i="1" dirty="0"/>
              <a:t> </a:t>
            </a:r>
            <a:r>
              <a:rPr lang="pt-BR" dirty="0"/>
              <a:t>e encontrarmos os </a:t>
            </a:r>
            <a:r>
              <a:rPr lang="pt-BR" b="1" i="1" dirty="0"/>
              <a:t>pesos</a:t>
            </a:r>
            <a:r>
              <a:rPr lang="pt-BR" dirty="0"/>
              <a:t> da </a:t>
            </a:r>
            <a:r>
              <a:rPr lang="pt-BR" b="1" i="1" dirty="0"/>
              <a:t>função discriminante</a:t>
            </a:r>
            <a:r>
              <a:rPr lang="pt-BR" dirty="0"/>
              <a:t>, nós </a:t>
            </a:r>
            <a:r>
              <a:rPr lang="pt-BR" b="1" i="1" dirty="0">
                <a:solidFill>
                  <a:srgbClr val="00B050"/>
                </a:solidFill>
              </a:rPr>
              <a:t>precisamos</a:t>
            </a:r>
            <a:r>
              <a:rPr lang="pt-BR" dirty="0"/>
              <a:t>, assim como fizemos com a </a:t>
            </a:r>
            <a:r>
              <a:rPr lang="pt-BR" b="1" i="1" dirty="0"/>
              <a:t>regressão linear</a:t>
            </a:r>
            <a:r>
              <a:rPr lang="pt-BR" dirty="0"/>
              <a:t>, </a:t>
            </a:r>
            <a:r>
              <a:rPr lang="pt-BR" b="1" i="1" dirty="0">
                <a:solidFill>
                  <a:srgbClr val="00B050"/>
                </a:solidFill>
              </a:rPr>
              <a:t>definir uma função de </a:t>
            </a:r>
            <a:r>
              <a:rPr lang="pt-BR" b="1" i="1" dirty="0" smtClean="0">
                <a:solidFill>
                  <a:srgbClr val="00B050"/>
                </a:solidFill>
              </a:rPr>
              <a:t>erro a ser </a:t>
            </a:r>
            <a:r>
              <a:rPr lang="pt-BR" b="1" i="1" dirty="0" smtClean="0">
                <a:solidFill>
                  <a:schemeClr val="accent5"/>
                </a:solidFill>
              </a:rPr>
              <a:t>minimizada</a:t>
            </a:r>
            <a:r>
              <a:rPr lang="pt-BR" dirty="0" smtClean="0"/>
              <a:t>.</a:t>
            </a:r>
            <a:endParaRPr lang="pt-BR" dirty="0"/>
          </a:p>
          <a:p>
            <a:r>
              <a:rPr lang="pt-BR" dirty="0"/>
              <a:t>Porém, adotar a função do </a:t>
            </a:r>
            <a:r>
              <a:rPr lang="pt-BR" b="1" i="1" dirty="0">
                <a:solidFill>
                  <a:schemeClr val="accent2"/>
                </a:solidFill>
              </a:rPr>
              <a:t>erro quadrático médio</a:t>
            </a:r>
            <a:r>
              <a:rPr lang="pt-BR" b="1" i="1" dirty="0"/>
              <a:t> </a:t>
            </a:r>
            <a:r>
              <a:rPr lang="pt-BR" dirty="0"/>
              <a:t>como </a:t>
            </a:r>
            <a:r>
              <a:rPr lang="pt-BR" b="1" i="1" dirty="0"/>
              <a:t>função de erro </a:t>
            </a:r>
            <a:r>
              <a:rPr lang="pt-BR" b="1" i="1" dirty="0">
                <a:solidFill>
                  <a:srgbClr val="7030A0"/>
                </a:solidFill>
              </a:rPr>
              <a:t>não é uma boa escolha </a:t>
            </a:r>
            <a:r>
              <a:rPr lang="pt-BR" dirty="0"/>
              <a:t>para a </a:t>
            </a:r>
            <a:r>
              <a:rPr lang="pt-BR" b="1" i="1" dirty="0"/>
              <a:t>atualização dos pesos </a:t>
            </a:r>
            <a:r>
              <a:rPr lang="pt-BR" dirty="0"/>
              <a:t>no caso da</a:t>
            </a:r>
            <a:r>
              <a:rPr lang="pt-BR" b="1" i="1" dirty="0"/>
              <a:t> regressão logística</a:t>
            </a:r>
            <a:r>
              <a:rPr lang="pt-BR" dirty="0"/>
              <a:t> e </a:t>
            </a:r>
            <a:r>
              <a:rPr lang="pt-BR" b="1" i="1" dirty="0"/>
              <a:t>classificadores em geral </a:t>
            </a:r>
            <a:r>
              <a:rPr lang="pt-BR" dirty="0"/>
              <a:t>como veremos a seguir.</a:t>
            </a:r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xmlns="" id="{545F6B8B-1D68-3257-4D30-A8B30FF629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97" y="2667000"/>
            <a:ext cx="5112948" cy="249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3048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806EC75-4D21-4D67-B663-BBB1A0602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FBFE5126-77BD-A65E-0D48-3492430214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 smtClean="0"/>
                  <a:t>Se considerarmos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como sendo o </a:t>
                </a:r>
                <a:r>
                  <a:rPr lang="pt-BR" b="1" i="1" dirty="0"/>
                  <a:t>erro quadrático médio</a:t>
                </a:r>
                <a:r>
                  <a:rPr lang="pt-BR" dirty="0"/>
                  <a:t>, temos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limLow>
                                    <m:limLow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groupChr>
                                        <m:groupChrPr>
                                          <m:chr m:val="⏟"/>
                                          <m:ctrlP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groupChr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</m:d>
                                        </m:e>
                                      </m:groupChr>
                                    </m:e>
                                    <m:lim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</m:d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lim>
                                  </m:limLow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Porém,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não-linear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não será</a:t>
                </a:r>
                <a:r>
                  <a:rPr lang="pt-BR" dirty="0"/>
                  <a:t>, consequentemente,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uma função convexa</a:t>
                </a:r>
                <a:r>
                  <a:rPr lang="pt-BR" dirty="0"/>
                  <a:t>, de forma que a </a:t>
                </a:r>
                <a:r>
                  <a:rPr lang="pt-BR" b="1" i="1" dirty="0"/>
                  <a:t>superfície de erro</a:t>
                </a:r>
                <a:r>
                  <a:rPr lang="pt-BR" dirty="0"/>
                  <a:t> poderá </a:t>
                </a:r>
                <a:r>
                  <a:rPr lang="pt-BR" dirty="0" smtClean="0"/>
                  <a:t>apresentar várias irregularidades, incluindo </a:t>
                </a:r>
                <a:r>
                  <a:rPr lang="pt-BR" b="1" i="1" dirty="0" smtClean="0">
                    <a:solidFill>
                      <a:srgbClr val="FF0000"/>
                    </a:solidFill>
                  </a:rPr>
                  <a:t>diversos mínimos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locais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que vão dificultar o aprendizado do </a:t>
                </a:r>
                <a:r>
                  <a:rPr lang="pt-BR" dirty="0" smtClean="0"/>
                  <a:t>modelo.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Por exemplo, o </a:t>
                </a:r>
                <a:r>
                  <a:rPr lang="pt-BR" dirty="0"/>
                  <a:t>algoritmo do GD pode ficar preso em um mínimo </a:t>
                </a:r>
                <a:r>
                  <a:rPr lang="pt-BR" dirty="0" smtClean="0"/>
                  <a:t>local.</a:t>
                </a:r>
                <a:endParaRPr lang="pt-BR" i="1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FBFE5126-77BD-A65E-0D48-3492430214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  <a:blipFill rotWithShape="0">
                <a:blip r:embed="rId3"/>
                <a:stretch>
                  <a:fillRect l="-1462" t="-2663" r="-195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115D6186-8BB1-898C-24EC-20F1164C3EE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18" y="2005175"/>
            <a:ext cx="3686982" cy="4164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2932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20E2DF9-2743-23C2-DE46-E7AD9A871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C34F70FE-EECC-0DF5-F655-DE58234088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55885" y="1825624"/>
                <a:ext cx="7531799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Ideia</a:t>
                </a:r>
                <a:r>
                  <a:rPr lang="pt-BR" dirty="0"/>
                  <a:t>: encontrar uma </a:t>
                </a:r>
                <a:r>
                  <a:rPr lang="pt-BR" b="1" i="1" dirty="0"/>
                  <a:t>função de erro </a:t>
                </a:r>
                <a:r>
                  <a:rPr lang="pt-BR" dirty="0"/>
                  <a:t>que tenha </a:t>
                </a:r>
                <a:r>
                  <a:rPr lang="pt-BR" b="1" i="1" dirty="0"/>
                  <a:t>superfície de erro </a:t>
                </a:r>
                <a:r>
                  <a:rPr lang="pt-BR" dirty="0"/>
                  <a:t>resultante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Uma proposta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intuitiva</a:t>
                </a:r>
                <a:r>
                  <a:rPr lang="pt-BR" dirty="0"/>
                  <a:t> para a </a:t>
                </a:r>
                <a:r>
                  <a:rPr lang="pt-BR" b="1" i="1" dirty="0"/>
                  <a:t>função de</a:t>
                </a:r>
                <a:r>
                  <a:rPr lang="pt-BR" dirty="0"/>
                  <a:t> </a:t>
                </a:r>
                <a:r>
                  <a:rPr lang="pt-BR" b="1" i="1" dirty="0"/>
                  <a:t>erro</a:t>
                </a:r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para cada exemplo de entrada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𝐸𝑟𝑟𝑜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l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og</m:t>
                                    </m:r>
                                  </m:fName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e>
                                      <m:sub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𝒂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</m:e>
                                </m:func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l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og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b>
                                          <m:sSub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h</m:t>
                                            </m:r>
                                          </m:e>
                                          <m:sub>
                                            <m: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𝒂</m:t>
                                            </m:r>
                                          </m:sub>
                                        </m:sSub>
                                        <m:d>
                                          <m:d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𝒙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d>
                                      </m:e>
                                    </m:d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</m:func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é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 smtClean="0"/>
                  <a:t>ésimo</a:t>
                </a:r>
                <a:r>
                  <a:rPr lang="pt-BR" dirty="0" smtClean="0"/>
                  <a:t> rótulo.</a:t>
                </a:r>
                <a:endParaRPr lang="pt-BR" dirty="0"/>
              </a:p>
              <a:p>
                <a:r>
                  <a:rPr lang="pt-BR" dirty="0"/>
                  <a:t>Veremos a seguir uma </a:t>
                </a:r>
                <a:r>
                  <a:rPr lang="pt-BR" dirty="0" smtClean="0"/>
                  <a:t>motivação para </a:t>
                </a:r>
                <a:r>
                  <a:rPr lang="pt-BR" dirty="0"/>
                  <a:t>esta escolha.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C34F70FE-EECC-0DF5-F655-DE58234088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55885" y="1825624"/>
                <a:ext cx="7531799" cy="5032375"/>
              </a:xfrm>
              <a:blipFill rotWithShape="0">
                <a:blip r:embed="rId3"/>
                <a:stretch>
                  <a:fillRect l="-170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AB29F58F-4448-78CD-6BD9-06E43E18AD0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656" y="1990946"/>
            <a:ext cx="3425371" cy="41828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xmlns="" id="{00DD6890-7287-3E1E-773F-7EAB37BD2F8A}"/>
                  </a:ext>
                </a:extLst>
              </p:cNvPr>
              <p:cNvSpPr txBox="1"/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200" b="1" dirty="0"/>
                  <a:t>Obs</a:t>
                </a:r>
                <a:r>
                  <a:rPr lang="pt-BR" sz="1200" dirty="0"/>
                  <a:t>.: </a:t>
                </a:r>
                <a14:m>
                  <m:oMath xmlns:m="http://schemas.openxmlformats.org/officeDocument/2006/math">
                    <m:r>
                      <m:rPr>
                        <m:sty m:val="p"/>
                        <m:brk m:alnAt="7"/>
                      </m:rPr>
                      <a:rPr lang="pt-BR" sz="1200" smtClean="0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pt-BR" sz="1200">
                        <a:latin typeface="Cambria Math" panose="02040503050406030204" pitchFamily="18" charset="0"/>
                      </a:rPr>
                      <m:t>og</m:t>
                    </m:r>
                    <m:r>
                      <a:rPr lang="pt-BR" sz="1200" b="0" i="0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sz="1200" dirty="0"/>
                  <a:t> é o logaritmo natural ou neperiano.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00DD6890-7287-3E1E-773F-7EAB37BD2F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blipFill>
                <a:blip r:embed="rId5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58073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72C6C58-2120-4F47-1BAC-334526DF8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DAA41FEE-FFE7-A8B3-A6BF-64195006E3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62145" y="1825624"/>
                <a:ext cx="7054147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Quando o </a:t>
                </a:r>
                <a:r>
                  <a:rPr lang="pt-BR" dirty="0" smtClean="0"/>
                  <a:t>rótulo é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, o valor de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pt-BR" dirty="0"/>
                  <a:t> se torna muito grande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se aproxima de 0.</a:t>
                </a:r>
              </a:p>
              <a:p>
                <a:r>
                  <a:rPr lang="pt-BR" dirty="0"/>
                  <a:t>Ou seja,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erro será grande</a:t>
                </a:r>
                <a:r>
                  <a:rPr lang="pt-BR" dirty="0"/>
                  <a:t> se o regressor estimar uma probabilidade próxima a 0 para um exemplo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Por outro lado,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pt-BR" dirty="0"/>
                  <a:t> se torna próximo de 0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se aproxima de 1.</a:t>
                </a:r>
              </a:p>
              <a:p>
                <a:r>
                  <a:rPr lang="pt-BR" dirty="0"/>
                  <a:t>Portanto,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erro será próximo de 0 </a:t>
                </a:r>
                <a:r>
                  <a:rPr lang="pt-BR" dirty="0"/>
                  <a:t>se a probabilidade estimada for próxima de 1 para um exemplo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DAA41FEE-FFE7-A8B3-A6BF-64195006E3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62145" y="1825624"/>
                <a:ext cx="7054147" cy="5032375"/>
              </a:xfrm>
              <a:blipFill rotWithShape="0">
                <a:blip r:embed="rId3"/>
                <a:stretch>
                  <a:fillRect l="-1556" t="-2663" r="-207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7">
            <a:extLst>
              <a:ext uri="{FF2B5EF4-FFF2-40B4-BE49-F238E27FC236}">
                <a16:creationId xmlns:a16="http://schemas.microsoft.com/office/drawing/2014/main" xmlns="" id="{B3C4AFA8-F0AC-4FFD-7DFC-D4EA88D7F0A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393" t="4876" r="8791"/>
          <a:stretch/>
        </p:blipFill>
        <p:spPr>
          <a:xfrm>
            <a:off x="620091" y="2616473"/>
            <a:ext cx="3938195" cy="379394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3">
                <a:extLst>
                  <a:ext uri="{FF2B5EF4-FFF2-40B4-BE49-F238E27FC236}">
                    <a16:creationId xmlns:a16="http://schemas.microsoft.com/office/drawing/2014/main" xmlns="" id="{DA384F59-84B2-EEA5-B023-5194B4DA1B87}"/>
                  </a:ext>
                </a:extLst>
              </p:cNvPr>
              <p:cNvSpPr txBox="1"/>
              <p:nvPr/>
            </p:nvSpPr>
            <p:spPr>
              <a:xfrm>
                <a:off x="1074788" y="1970142"/>
                <a:ext cx="332213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Valor esperado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deve se aproximar de 1</a:t>
                </a:r>
              </a:p>
            </p:txBody>
          </p:sp>
        </mc:Choice>
        <mc:Fallback xmlns="">
          <p:sp>
            <p:nvSpPr>
              <p:cNvPr id="5" name="TextBox 3">
                <a:extLst>
                  <a:ext uri="{FF2B5EF4-FFF2-40B4-BE49-F238E27FC236}">
                    <a16:creationId xmlns:a16="http://schemas.microsoft.com/office/drawing/2014/main" id="{DA384F59-84B2-EEA5-B023-5194B4DA1B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788" y="1970142"/>
                <a:ext cx="3322132" cy="646331"/>
              </a:xfrm>
              <a:prstGeom prst="rect">
                <a:avLst/>
              </a:prstGeom>
              <a:blipFill>
                <a:blip r:embed="rId5"/>
                <a:stretch>
                  <a:fillRect t="-4717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xmlns="" id="{BCD451E8-248B-2C62-B493-77B6E4868CEB}"/>
                  </a:ext>
                </a:extLst>
              </p:cNvPr>
              <p:cNvSpPr txBox="1"/>
              <p:nvPr/>
            </p:nvSpPr>
            <p:spPr>
              <a:xfrm>
                <a:off x="2202360" y="6193474"/>
                <a:ext cx="106698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BCD451E8-248B-2C62-B493-77B6E4868C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2360" y="6193474"/>
                <a:ext cx="1066988" cy="369332"/>
              </a:xfrm>
              <a:prstGeom prst="rect">
                <a:avLst/>
              </a:prstGeom>
              <a:blipFill>
                <a:blip r:embed="rId6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xmlns="" id="{3EAD6F9C-76A6-A699-F8D2-101900496784}"/>
                  </a:ext>
                </a:extLst>
              </p:cNvPr>
              <p:cNvSpPr txBox="1"/>
              <p:nvPr/>
            </p:nvSpPr>
            <p:spPr>
              <a:xfrm rot="16200000">
                <a:off x="-212854" y="4245474"/>
                <a:ext cx="1640537" cy="4049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3EAD6F9C-76A6-A699-F8D2-101900496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212854" y="4245474"/>
                <a:ext cx="1640537" cy="404983"/>
              </a:xfrm>
              <a:prstGeom prst="rect">
                <a:avLst/>
              </a:prstGeom>
              <a:blipFill>
                <a:blip r:embed="rId7"/>
                <a:stretch>
                  <a:fillRect r="-895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83113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8">
            <a:extLst>
              <a:ext uri="{FF2B5EF4-FFF2-40B4-BE49-F238E27FC236}">
                <a16:creationId xmlns:a16="http://schemas.microsoft.com/office/drawing/2014/main" xmlns="" id="{CAB49D12-B8D2-8812-1FBB-C0C295BB8C9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05" t="5157" r="8791"/>
          <a:stretch/>
        </p:blipFill>
        <p:spPr>
          <a:xfrm>
            <a:off x="717942" y="2597080"/>
            <a:ext cx="3864091" cy="372076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72C6C58-2120-4F47-1BAC-334526DF8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DAA41FEE-FFE7-A8B3-A6BF-64195006E3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54321" y="1825624"/>
                <a:ext cx="69619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Quando o </a:t>
                </a:r>
                <a:r>
                  <a:rPr lang="pt-BR" dirty="0" smtClean="0"/>
                  <a:t>rótulo é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</a:t>
                </a:r>
                <a:r>
                  <a:rPr lang="pt-BR" dirty="0" smtClean="0"/>
                  <a:t>i.e., exemplo </a:t>
                </a:r>
                <a:r>
                  <a:rPr lang="pt-BR" dirty="0"/>
                  <a:t>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 smtClean="0"/>
                  <a:t>, </a:t>
                </a:r>
                <a:r>
                  <a:rPr lang="pt-BR" dirty="0"/>
                  <a:t>o valor de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pt-BR" dirty="0"/>
                  <a:t> será muito grande se o classificador estimar uma probabilidade próxima de </a:t>
                </a:r>
                <a:r>
                  <a:rPr lang="pt-BR" dirty="0" smtClean="0"/>
                  <a:t>1. </a:t>
                </a:r>
                <a:endParaRPr lang="pt-BR" dirty="0"/>
              </a:p>
              <a:p>
                <a:r>
                  <a:rPr lang="pt-BR" dirty="0"/>
                  <a:t>Porém, o valor de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pt-BR" dirty="0"/>
                  <a:t> se torna próximo de 0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se aproxima de </a:t>
                </a:r>
                <a:r>
                  <a:rPr lang="pt-BR" dirty="0" smtClean="0"/>
                  <a:t>0 para </a:t>
                </a:r>
                <a:r>
                  <a:rPr lang="pt-BR" dirty="0"/>
                  <a:t>um exemplo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DAA41FEE-FFE7-A8B3-A6BF-64195006E3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54321" y="1825624"/>
                <a:ext cx="6961971" cy="5032375"/>
              </a:xfrm>
              <a:blipFill rotWithShape="0">
                <a:blip r:embed="rId4"/>
                <a:stretch>
                  <a:fillRect l="-157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xmlns="" id="{BCD451E8-248B-2C62-B493-77B6E4868CEB}"/>
                  </a:ext>
                </a:extLst>
              </p:cNvPr>
              <p:cNvSpPr txBox="1"/>
              <p:nvPr/>
            </p:nvSpPr>
            <p:spPr>
              <a:xfrm>
                <a:off x="2312888" y="6133179"/>
                <a:ext cx="106698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BCD451E8-248B-2C62-B493-77B6E4868C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2888" y="6133179"/>
                <a:ext cx="1066988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xmlns="" id="{3EAD6F9C-76A6-A699-F8D2-101900496784}"/>
                  </a:ext>
                </a:extLst>
              </p:cNvPr>
              <p:cNvSpPr txBox="1"/>
              <p:nvPr/>
            </p:nvSpPr>
            <p:spPr>
              <a:xfrm rot="16200000">
                <a:off x="-102326" y="4185179"/>
                <a:ext cx="1640537" cy="4049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3EAD6F9C-76A6-A699-F8D2-101900496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102326" y="4185179"/>
                <a:ext cx="1640537" cy="404983"/>
              </a:xfrm>
              <a:prstGeom prst="rect">
                <a:avLst/>
              </a:prstGeom>
              <a:blipFill>
                <a:blip r:embed="rId6"/>
                <a:stretch>
                  <a:fillRect r="-909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12">
                <a:extLst>
                  <a:ext uri="{FF2B5EF4-FFF2-40B4-BE49-F238E27FC236}">
                    <a16:creationId xmlns:a16="http://schemas.microsoft.com/office/drawing/2014/main" xmlns="" id="{90A4272F-386E-3CB4-9D80-D03C1F05B0FC}"/>
                  </a:ext>
                </a:extLst>
              </p:cNvPr>
              <p:cNvSpPr txBox="1"/>
              <p:nvPr/>
            </p:nvSpPr>
            <p:spPr>
              <a:xfrm>
                <a:off x="1080432" y="1926225"/>
                <a:ext cx="350160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Valor esperado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0 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deve se aproximar de 0</a:t>
                </a:r>
              </a:p>
            </p:txBody>
          </p:sp>
        </mc:Choice>
        <mc:Fallback xmlns="">
          <p:sp>
            <p:nvSpPr>
              <p:cNvPr id="8" name="TextBox 12">
                <a:extLst>
                  <a:ext uri="{FF2B5EF4-FFF2-40B4-BE49-F238E27FC236}">
                    <a16:creationId xmlns:a16="http://schemas.microsoft.com/office/drawing/2014/main" id="{90A4272F-386E-3CB4-9D80-D03C1F05B0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0432" y="1926225"/>
                <a:ext cx="3501601" cy="646331"/>
              </a:xfrm>
              <a:prstGeom prst="rect">
                <a:avLst/>
              </a:prstGeom>
              <a:blipFill>
                <a:blip r:embed="rId7"/>
                <a:stretch>
                  <a:fillRect t="-5660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48244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790B006-3B77-B446-0236-D9D3C902F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D3FD4E4A-5ACD-4D5C-3A3F-51A57190DC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45819" cy="5032375"/>
              </a:xfrm>
            </p:spPr>
            <p:txBody>
              <a:bodyPr/>
              <a:lstStyle/>
              <a:p>
                <a:r>
                  <a:rPr lang="pt-BR" dirty="0"/>
                  <a:t>Nós podemos unir a </a:t>
                </a:r>
                <a:r>
                  <a:rPr lang="pt-BR" b="1" i="1" dirty="0"/>
                  <a:t>função de erro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para cada </a:t>
                </a:r>
                <a:r>
                  <a:rPr lang="pt-BR" b="1" i="1" dirty="0" smtClean="0">
                    <a:solidFill>
                      <a:srgbClr val="7030A0"/>
                    </a:solidFill>
                  </a:rPr>
                  <a:t>exemplo</a:t>
                </a:r>
                <a:r>
                  <a:rPr lang="pt-BR" b="1" i="1" dirty="0" smtClean="0"/>
                  <a:t> </a:t>
                </a:r>
                <a:r>
                  <a:rPr lang="pt-BR" dirty="0"/>
                  <a:t>em uma expressão única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usando 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o valor dos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rótulos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>
                          <a:latin typeface="Cambria Math" panose="02040503050406030204" pitchFamily="18" charset="0"/>
                        </a:rPr>
                        <m:t>𝐸𝑟𝑟𝑜</m:t>
                      </m:r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 sz="24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ó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exerce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influ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ê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ncia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no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erro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se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lim>
                      </m:limLow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limLow>
                        <m:limLow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 sz="240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d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</m:e>
                              </m:func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ó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exerce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influ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ê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ncia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no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erro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se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lim>
                      </m:limLow>
                    </m:oMath>
                  </m:oMathPara>
                </a14:m>
                <a:endParaRPr lang="pt-BR" sz="2400" dirty="0"/>
              </a:p>
              <a:p>
                <a:r>
                  <a:rPr lang="pt-BR" dirty="0"/>
                  <a:t>Assim, podemos definir a seguinte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de erro médio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4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func>
                        <m:func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sz="23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b="1" i="1" dirty="0"/>
              </a:p>
              <a:p>
                <a:r>
                  <a:rPr lang="pt-BR" sz="2800" dirty="0"/>
                  <a:t>Lembrem-se que sempre queremos </a:t>
                </a:r>
                <a:r>
                  <a:rPr lang="pt-BR" sz="2800" b="1" i="1" dirty="0">
                    <a:solidFill>
                      <a:schemeClr val="accent4"/>
                    </a:solidFill>
                  </a:rPr>
                  <a:t>minimizar o erro ao longo de </a:t>
                </a:r>
                <a:r>
                  <a:rPr lang="pt-BR" sz="2800" b="1" i="1" dirty="0">
                    <a:solidFill>
                      <a:srgbClr val="7030A0"/>
                    </a:solidFill>
                  </a:rPr>
                  <a:t>todo</a:t>
                </a:r>
                <a:r>
                  <a:rPr lang="pt-BR" sz="2800" b="1" i="1" dirty="0">
                    <a:solidFill>
                      <a:schemeClr val="accent4"/>
                    </a:solidFill>
                  </a:rPr>
                  <a:t> o conjunto de treinamento</a:t>
                </a:r>
                <a:r>
                  <a:rPr lang="pt-BR" sz="2800" dirty="0"/>
                  <a:t>, por isso tomamos a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média</a:t>
                </a:r>
                <a:r>
                  <a:rPr lang="pt-BR" sz="2800" dirty="0"/>
                  <a:t>.</a:t>
                </a:r>
              </a:p>
              <a:p>
                <a:r>
                  <a:rPr lang="pt-BR" sz="2800" dirty="0"/>
                  <a:t>Essa função de erro é conhecida na literatura como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entropia cruzada</a:t>
                </a:r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D3FD4E4A-5ACD-4D5C-3A3F-51A57190DC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45819" cy="5032375"/>
              </a:xfrm>
              <a:blipFill rotWithShape="0">
                <a:blip r:embed="rId3"/>
                <a:stretch>
                  <a:fillRect l="-929" t="-1937" b="-278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375765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D74F966-AF0F-9F47-A9AB-CB6984D1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D5465B95-8DFB-988F-6777-374C021F4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11205951" cy="5032375"/>
          </a:xfrm>
        </p:spPr>
        <p:txBody>
          <a:bodyPr>
            <a:normAutofit/>
          </a:bodyPr>
          <a:lstStyle/>
          <a:p>
            <a:r>
              <a:rPr lang="pt-BR" sz="3000" dirty="0" smtClean="0"/>
              <a:t>A má </a:t>
            </a:r>
            <a:r>
              <a:rPr lang="pt-BR" sz="3000" dirty="0"/>
              <a:t>notícia com relação a essa função é que </a:t>
            </a:r>
            <a:r>
              <a:rPr lang="pt-BR" sz="3000" b="1" i="1" dirty="0">
                <a:solidFill>
                  <a:srgbClr val="00B050"/>
                </a:solidFill>
              </a:rPr>
              <a:t>não existe uma equação de forma fechada</a:t>
            </a:r>
            <a:r>
              <a:rPr lang="pt-BR" sz="3000" b="1" i="1" dirty="0"/>
              <a:t> </a:t>
            </a:r>
            <a:r>
              <a:rPr lang="pt-BR" sz="3000" dirty="0"/>
              <a:t>para encontrar os </a:t>
            </a:r>
            <a:r>
              <a:rPr lang="pt-BR" sz="3000" b="1" i="1" dirty="0"/>
              <a:t>pesos</a:t>
            </a:r>
            <a:r>
              <a:rPr lang="pt-BR" sz="3000" dirty="0"/>
              <a:t> que minimizem essa </a:t>
            </a:r>
            <a:r>
              <a:rPr lang="pt-BR" sz="3000" b="1" i="1" dirty="0"/>
              <a:t>função de erro</a:t>
            </a:r>
            <a:r>
              <a:rPr lang="pt-BR" sz="3000" dirty="0"/>
              <a:t>.</a:t>
            </a:r>
            <a:endParaRPr lang="pt-BR" sz="3000" b="1" i="1" dirty="0"/>
          </a:p>
          <a:p>
            <a:r>
              <a:rPr lang="pt-BR" sz="3000" dirty="0" smtClean="0"/>
              <a:t>A boa </a:t>
            </a:r>
            <a:r>
              <a:rPr lang="pt-BR" sz="3000" dirty="0"/>
              <a:t>notícia é que essa </a:t>
            </a:r>
            <a:r>
              <a:rPr lang="pt-BR" sz="3000" b="1" i="1" dirty="0"/>
              <a:t>função de erro </a:t>
            </a:r>
            <a:r>
              <a:rPr lang="pt-BR" sz="3000" dirty="0"/>
              <a:t>é </a:t>
            </a:r>
            <a:r>
              <a:rPr lang="pt-BR" sz="3000" b="1" i="1" dirty="0">
                <a:solidFill>
                  <a:srgbClr val="00B050"/>
                </a:solidFill>
              </a:rPr>
              <a:t>convexa</a:t>
            </a:r>
            <a:r>
              <a:rPr lang="pt-BR" sz="3000" dirty="0"/>
              <a:t> e </a:t>
            </a:r>
            <a:r>
              <a:rPr lang="pt-BR" sz="3000" b="1" i="1" dirty="0" err="1">
                <a:solidFill>
                  <a:srgbClr val="00B050"/>
                </a:solidFill>
              </a:rPr>
              <a:t>diferenciável</a:t>
            </a:r>
            <a:r>
              <a:rPr lang="pt-BR" sz="3000" dirty="0"/>
              <a:t>.</a:t>
            </a:r>
          </a:p>
          <a:p>
            <a:r>
              <a:rPr lang="pt-BR" sz="3000" dirty="0"/>
              <a:t>Consequentemente, </a:t>
            </a:r>
            <a:r>
              <a:rPr lang="pt-BR" sz="3000" b="1" i="1" dirty="0">
                <a:solidFill>
                  <a:srgbClr val="00B050"/>
                </a:solidFill>
              </a:rPr>
              <a:t>conseguimos</a:t>
            </a:r>
            <a:r>
              <a:rPr lang="pt-BR" sz="3000" dirty="0"/>
              <a:t> calcular o </a:t>
            </a:r>
            <a:r>
              <a:rPr lang="pt-BR" sz="3000" b="1" i="1" dirty="0">
                <a:solidFill>
                  <a:srgbClr val="00B050"/>
                </a:solidFill>
              </a:rPr>
              <a:t>vetor gradiente da função de erro</a:t>
            </a:r>
            <a:r>
              <a:rPr lang="pt-BR" sz="3000" dirty="0"/>
              <a:t> com relação aos pesos e </a:t>
            </a:r>
            <a:r>
              <a:rPr lang="pt-BR" sz="3000" b="1" i="1" dirty="0">
                <a:solidFill>
                  <a:srgbClr val="7030A0"/>
                </a:solidFill>
              </a:rPr>
              <a:t>implementar</a:t>
            </a:r>
            <a:r>
              <a:rPr lang="pt-BR" sz="3000" dirty="0"/>
              <a:t> o algoritmo do </a:t>
            </a:r>
            <a:r>
              <a:rPr lang="pt-BR" sz="3000" b="1" i="1" dirty="0">
                <a:solidFill>
                  <a:srgbClr val="7030A0"/>
                </a:solidFill>
              </a:rPr>
              <a:t>gradiente descendente (GD</a:t>
            </a:r>
            <a:r>
              <a:rPr lang="pt-BR" sz="3000" b="1" i="1" dirty="0" smtClean="0">
                <a:solidFill>
                  <a:srgbClr val="7030A0"/>
                </a:solidFill>
              </a:rPr>
              <a:t>)</a:t>
            </a:r>
            <a:r>
              <a:rPr lang="pt-BR" sz="3000" dirty="0" smtClean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600" dirty="0" smtClean="0"/>
              <a:t>Podemos implementar </a:t>
            </a:r>
            <a:r>
              <a:rPr lang="pt-BR" sz="2600" dirty="0"/>
              <a:t>todas as versões do </a:t>
            </a:r>
            <a:r>
              <a:rPr lang="pt-BR" sz="2600" b="1" i="1" dirty="0">
                <a:solidFill>
                  <a:srgbClr val="7030A0"/>
                </a:solidFill>
              </a:rPr>
              <a:t>GD</a:t>
            </a:r>
            <a:r>
              <a:rPr lang="pt-BR" sz="2600" dirty="0"/>
              <a:t>.</a:t>
            </a:r>
          </a:p>
          <a:p>
            <a:r>
              <a:rPr lang="pt-BR" sz="3000" dirty="0"/>
              <a:t>Por exemplo se usarmos o GDB, é garantido que ele encontre</a:t>
            </a:r>
            <a:r>
              <a:rPr lang="pt-BR" sz="3000" b="1" i="1" dirty="0"/>
              <a:t> </a:t>
            </a:r>
            <a:r>
              <a:rPr lang="pt-BR" sz="3000" dirty="0"/>
              <a:t>o </a:t>
            </a:r>
            <a:r>
              <a:rPr lang="pt-BR" sz="3000" b="1" i="1" dirty="0">
                <a:solidFill>
                  <a:srgbClr val="00B050"/>
                </a:solidFill>
              </a:rPr>
              <a:t>mínimo global </a:t>
            </a:r>
            <a:r>
              <a:rPr lang="pt-BR" sz="3000" dirty="0"/>
              <a:t>dado que a </a:t>
            </a:r>
            <a:r>
              <a:rPr lang="pt-BR" sz="3000" b="1" i="1" dirty="0"/>
              <a:t>taxa de aprendizagem</a:t>
            </a:r>
            <a:r>
              <a:rPr lang="pt-BR" sz="3000" dirty="0"/>
              <a:t> não seja muito grande e se espere tempo suficiente.</a:t>
            </a:r>
          </a:p>
        </p:txBody>
      </p:sp>
    </p:spTree>
    <p:extLst>
      <p:ext uri="{BB962C8B-B14F-4D97-AF65-F5344CB8AC3E}">
        <p14:creationId xmlns:p14="http://schemas.microsoft.com/office/powerpoint/2010/main" val="10797678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2B98CF3-D68B-3C51-73EB-761E6532A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81528BD1-AD6B-C0BE-90BD-1F826246AD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Da mesma forma como fizemos com a </a:t>
                </a:r>
                <a:r>
                  <a:rPr lang="pt-BR" b="1" i="1" dirty="0"/>
                  <a:t>regressão linear</a:t>
                </a:r>
                <a:r>
                  <a:rPr lang="pt-BR" dirty="0"/>
                  <a:t>, usamos o algoritmo do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gradiente descendente</a:t>
                </a:r>
                <a:r>
                  <a:rPr lang="pt-BR" b="1" i="1" dirty="0"/>
                  <a:t> </a:t>
                </a:r>
                <a:r>
                  <a:rPr lang="pt-BR" dirty="0"/>
                  <a:t>para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encontrar os pesos que minimizam a função de erro médio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 smtClean="0">
                    <a:solidFill>
                      <a:schemeClr val="accent5"/>
                    </a:solidFill>
                  </a:rPr>
                  <a:t>equação de atualização </a:t>
                </a:r>
                <a:r>
                  <a:rPr lang="pt-BR" b="1" i="1" dirty="0">
                    <a:solidFill>
                      <a:schemeClr val="accent5"/>
                    </a:solidFill>
                  </a:rPr>
                  <a:t>iterativa</a:t>
                </a:r>
                <a:r>
                  <a:rPr lang="pt-BR" b="1" i="1" dirty="0"/>
                  <a:t> </a:t>
                </a:r>
                <a:r>
                  <a:rPr lang="pt-BR" dirty="0"/>
                  <a:t>dos </a:t>
                </a:r>
                <a:r>
                  <a:rPr lang="pt-BR" b="1" i="1" dirty="0"/>
                  <a:t>pesos</a:t>
                </a:r>
                <a:r>
                  <a:rPr lang="pt-BR" dirty="0"/>
                  <a:t> é dada por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</m:d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 é a matriz de atributos 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são vetores coluna 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</m:t>
                    </m:r>
                  </m:oMath>
                </a14:m>
                <a:r>
                  <a:rPr lang="pt-BR" dirty="0"/>
                  <a:t> contendo todos os valores esperados e preditos pelo regressor logístico, respectivamente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81528BD1-AD6B-C0BE-90BD-1F826246AD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  <a:blipFill rotWithShape="0">
                <a:blip r:embed="rId3"/>
                <a:stretch>
                  <a:fillRect l="-1148" t="-2663" r="-1148" b="-13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8">
            <a:extLst>
              <a:ext uri="{FF2B5EF4-FFF2-40B4-BE49-F238E27FC236}">
                <a16:creationId xmlns:a16="http://schemas.microsoft.com/office/drawing/2014/main" xmlns="" id="{5E51EB45-1595-7630-C24F-EAA34F018369}"/>
              </a:ext>
            </a:extLst>
          </p:cNvPr>
          <p:cNvSpPr txBox="1"/>
          <p:nvPr/>
        </p:nvSpPr>
        <p:spPr>
          <a:xfrm>
            <a:off x="9838168" y="4122695"/>
            <a:ext cx="15156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algn="ctr">
              <a:defRPr sz="1400"/>
            </a:lvl1pPr>
          </a:lstStyle>
          <a:p>
            <a:r>
              <a:rPr lang="pt-BR" dirty="0"/>
              <a:t>Forma matricial</a:t>
            </a:r>
          </a:p>
        </p:txBody>
      </p:sp>
      <p:cxnSp>
        <p:nvCxnSpPr>
          <p:cNvPr id="5" name="Straight Arrow Connector 10">
            <a:extLst>
              <a:ext uri="{FF2B5EF4-FFF2-40B4-BE49-F238E27FC236}">
                <a16:creationId xmlns:a16="http://schemas.microsoft.com/office/drawing/2014/main" xmlns="" id="{AF667640-ACE0-3AFF-BF5D-993EF19CB3F3}"/>
              </a:ext>
            </a:extLst>
          </p:cNvPr>
          <p:cNvCxnSpPr>
            <a:cxnSpLocks/>
          </p:cNvCxnSpPr>
          <p:nvPr/>
        </p:nvCxnSpPr>
        <p:spPr>
          <a:xfrm flipH="1">
            <a:off x="10101431" y="4430472"/>
            <a:ext cx="494553" cy="3997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aixaDeTexto 5">
            <a:extLst>
              <a:ext uri="{FF2B5EF4-FFF2-40B4-BE49-F238E27FC236}">
                <a16:creationId xmlns:mc="http://schemas.openxmlformats.org/markup-compatibility/2006" xmlns:a14="http://schemas.microsoft.com/office/drawing/2010/main" xmlns:a16="http://schemas.microsoft.com/office/drawing/2014/main" xmlns="" id="{00DD6890-7287-3E1E-773F-7EAB37BD2F8A}"/>
              </a:ext>
            </a:extLst>
          </p:cNvPr>
          <p:cNvSpPr txBox="1"/>
          <p:nvPr/>
        </p:nvSpPr>
        <p:spPr>
          <a:xfrm>
            <a:off x="8190410" y="6609806"/>
            <a:ext cx="400158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100" dirty="0" smtClean="0"/>
              <a:t>O anexo I apresenta os passos para se encontrar o vetor gradiente.</a:t>
            </a:r>
            <a:endParaRPr lang="pt-BR" sz="1100" dirty="0"/>
          </a:p>
        </p:txBody>
      </p:sp>
    </p:spTree>
    <p:extLst>
      <p:ext uri="{BB962C8B-B14F-4D97-AF65-F5344CB8AC3E}">
        <p14:creationId xmlns:p14="http://schemas.microsoft.com/office/powerpoint/2010/main" val="17237587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E87F2D7-9FE0-909F-85BF-1E4DC72EE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275841EB-09D7-5ACC-688E-45C493DE3F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pt-BR" sz="2800" dirty="0"/>
              </a:p>
              <a:p>
                <a:r>
                  <a:rPr lang="pt-BR" sz="2800" dirty="0"/>
                  <a:t>Para encontrar 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vetor gradiente</a:t>
                </a:r>
                <a:r>
                  <a:rPr lang="pt-BR" sz="2800" dirty="0"/>
                  <a:t>, a função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sz="2800" dirty="0"/>
                  <a:t> foi considerada como sendo a equação de um </a:t>
                </a:r>
                <a:r>
                  <a:rPr lang="pt-BR" sz="2800" b="1" i="1" dirty="0"/>
                  <a:t>hiperplano</a:t>
                </a:r>
                <a:r>
                  <a:rPr lang="pt-BR" sz="2800" dirty="0"/>
                  <a:t>, mas o resultado pode ser diretamente estendido para polinômios.</a:t>
                </a:r>
              </a:p>
              <a:p>
                <a:r>
                  <a:rPr lang="pt-BR" dirty="0"/>
                  <a:t>Percebam que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vetor gradiente</a:t>
                </a:r>
                <a:r>
                  <a:rPr lang="pt-BR" b="1" i="1" dirty="0"/>
                  <a:t> </a:t>
                </a:r>
                <a:r>
                  <a:rPr lang="pt-BR" dirty="0"/>
                  <a:t>da </a:t>
                </a:r>
                <a:r>
                  <a:rPr lang="pt-BR" b="1" i="1" dirty="0"/>
                  <a:t>função de erro médio</a:t>
                </a:r>
                <a:r>
                  <a:rPr lang="pt-BR" dirty="0"/>
                  <a:t> para a </a:t>
                </a:r>
                <a:r>
                  <a:rPr lang="pt-BR" b="1" i="1" dirty="0"/>
                  <a:t>regressão logística</a:t>
                </a:r>
                <a:r>
                  <a:rPr lang="pt-BR" dirty="0"/>
                  <a:t> é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idêntico</a:t>
                </a:r>
                <a:r>
                  <a:rPr lang="pt-BR" dirty="0"/>
                  <a:t> (exceto pela constante 2) àquele obtido para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regressão linear</a:t>
                </a:r>
                <a:r>
                  <a:rPr lang="pt-BR" b="1" i="1" dirty="0"/>
                  <a:t> </a:t>
                </a:r>
                <a:r>
                  <a:rPr lang="pt-BR" dirty="0"/>
                  <a:t>utilizando a função de </a:t>
                </a:r>
                <a:r>
                  <a:rPr lang="pt-BR" b="1" i="1" dirty="0"/>
                  <a:t>erro quadrático médio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OBS</a:t>
                </a:r>
                <a:r>
                  <a:rPr lang="pt-BR" dirty="0"/>
                  <a:t>.: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vai variar dependendo da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adotada. </a:t>
                </a:r>
              </a:p>
              <a:p>
                <a:r>
                  <a:rPr lang="pt-BR" dirty="0"/>
                  <a:t>Na sequência, veremos alguns exemplos com diferentes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75841EB-09D7-5ACC-688E-45C493DE3F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  <a:blipFill>
                <a:blip r:embed="rId3"/>
                <a:stretch>
                  <a:fillRect l="-977" r="-15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04029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135063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Se tivermos uma função discriminante com formato </a:t>
                </a:r>
                <a:r>
                  <a:rPr lang="pt-BR" dirty="0" smtClean="0"/>
                  <a:t>de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reta</a:t>
                </a:r>
                <a:r>
                  <a:rPr lang="pt-BR" dirty="0"/>
                  <a:t>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</a:t>
                </a:r>
                <a:r>
                  <a:rPr lang="pt-BR" dirty="0" smtClean="0"/>
                  <a:t>função em formato </a:t>
                </a:r>
                <a:r>
                  <a:rPr lang="pt-BR" dirty="0"/>
                  <a:t>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135063" cy="5032376"/>
              </a:xfrm>
              <a:blipFill rotWithShape="0">
                <a:blip r:embed="rId2"/>
                <a:stretch>
                  <a:fillRect l="-109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46162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4007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Se tivermos uma função discriminante com formato de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círculo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 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função em formato 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40071" cy="5032376"/>
              </a:xfrm>
              <a:blipFill rotWithShape="0">
                <a:blip r:embed="rId2"/>
                <a:stretch>
                  <a:fillRect l="-108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46419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12775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Se tivermos </a:t>
                </a:r>
                <a:r>
                  <a:rPr lang="pt-BR" dirty="0"/>
                  <a:t>uma função discriminante com formato de </a:t>
                </a:r>
                <a:r>
                  <a:rPr lang="pt-BR" dirty="0" smtClean="0"/>
                  <a:t>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hipérbole retangular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)∗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 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função em formato 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⨀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⨀</m:t>
                    </m:r>
                  </m:oMath>
                </a14:m>
                <a:r>
                  <a:rPr lang="pt-BR" dirty="0"/>
                  <a:t> é a multiplicação elemento-a-elemento.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12775" cy="5032376"/>
              </a:xfrm>
              <a:blipFill rotWithShape="0">
                <a:blip r:embed="rId2"/>
                <a:stretch>
                  <a:fillRect l="-1087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73194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0747787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Agora, de posse do </a:t>
                </a:r>
                <a:r>
                  <a:rPr lang="pt-BR" b="1" i="1" dirty="0"/>
                  <a:t>vetor gradiente</a:t>
                </a:r>
                <a:r>
                  <a:rPr lang="pt-BR" dirty="0"/>
                  <a:t>, podemos usá-lo com o </a:t>
                </a:r>
                <a:r>
                  <a:rPr lang="pt-BR" b="1" i="1" dirty="0"/>
                  <a:t>gradiente descendente</a:t>
                </a:r>
                <a:r>
                  <a:rPr lang="pt-BR" dirty="0"/>
                  <a:t> (nas versões em batelada, estocástico ou mini-batch) para atualizar os pesos.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0747787" cy="5032376"/>
              </a:xfrm>
              <a:blipFill>
                <a:blip r:embed="rId2"/>
                <a:stretch>
                  <a:fillRect l="-964" t="-1937" r="-13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7694935" y="6550223"/>
            <a:ext cx="449706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b="1" dirty="0">
                <a:hlinkClick r:id="rId3"/>
              </a:rPr>
              <a:t>Exemplo</a:t>
            </a:r>
            <a:r>
              <a:rPr lang="pt-BR" sz="1400" dirty="0">
                <a:hlinkClick r:id="rId3"/>
              </a:rPr>
              <a:t>: logistic_regression_with_gradient_descent.ipynb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2601246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578D1AC-8A00-B4EB-387C-732656C3D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6DF2766A-BFE5-4BA0-5F5C-8F341585E6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Como vimos, 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pode assumir também o formato de um </a:t>
                </a:r>
                <a:r>
                  <a:rPr lang="pt-BR" b="1" i="1" dirty="0"/>
                  <a:t>polinômio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Porém, muitas vezes, nós não sabemos qual a </a:t>
                </a:r>
                <a:r>
                  <a:rPr lang="pt-BR" b="1" i="1" dirty="0"/>
                  <a:t>melhor ordem</a:t>
                </a:r>
                <a:r>
                  <a:rPr lang="pt-BR" dirty="0"/>
                  <a:t> para este polinômio.</a:t>
                </a:r>
              </a:p>
              <a:p>
                <a:r>
                  <a:rPr lang="pt-BR" dirty="0"/>
                  <a:t>Assim, como ocorre no caso da </a:t>
                </a:r>
                <a:r>
                  <a:rPr lang="pt-BR" b="1" i="1" dirty="0"/>
                  <a:t>regressão linear</a:t>
                </a:r>
                <a:r>
                  <a:rPr lang="pt-BR" dirty="0"/>
                  <a:t>, modelos de </a:t>
                </a:r>
                <a:r>
                  <a:rPr lang="pt-BR" b="1" i="1" dirty="0"/>
                  <a:t>regressão logística </a:t>
                </a:r>
                <a:r>
                  <a:rPr lang="pt-BR" dirty="0"/>
                  <a:t>também</a:t>
                </a:r>
                <a:r>
                  <a:rPr lang="pt-BR" b="1" i="1" dirty="0"/>
                  <a:t> </a:t>
                </a:r>
                <a:r>
                  <a:rPr lang="pt-BR" dirty="0"/>
                  <a:t>estão sujeitos à ocorrência de </a:t>
                </a:r>
                <a:r>
                  <a:rPr lang="pt-BR" b="1" i="1" dirty="0"/>
                  <a:t>sobreajuste</a:t>
                </a:r>
                <a:r>
                  <a:rPr lang="pt-BR" dirty="0"/>
                  <a:t> e </a:t>
                </a:r>
                <a:r>
                  <a:rPr lang="pt-BR" b="1" i="1" dirty="0"/>
                  <a:t>subajuste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DF2766A-BFE5-4BA0-5F5C-8F341585E6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  <a:blipFill>
                <a:blip r:embed="rId3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3" name="Group 50">
            <a:extLst>
              <a:ext uri="{FF2B5EF4-FFF2-40B4-BE49-F238E27FC236}">
                <a16:creationId xmlns:a16="http://schemas.microsoft.com/office/drawing/2014/main" xmlns="" id="{DF911177-1762-1C13-7224-7DC9C7576C34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194" name="Straight Connector 51">
              <a:extLst>
                <a:ext uri="{FF2B5EF4-FFF2-40B4-BE49-F238E27FC236}">
                  <a16:creationId xmlns:a16="http://schemas.microsoft.com/office/drawing/2014/main" xmlns="" id="{52603673-7161-FA59-08BC-874F050F666A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52">
              <a:extLst>
                <a:ext uri="{FF2B5EF4-FFF2-40B4-BE49-F238E27FC236}">
                  <a16:creationId xmlns:a16="http://schemas.microsoft.com/office/drawing/2014/main" xmlns="" id="{10AF7232-B549-F17C-4496-B9C56271F0F5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TextBox 53">
                  <a:extLst>
                    <a:ext uri="{FF2B5EF4-FFF2-40B4-BE49-F238E27FC236}">
                      <a16:creationId xmlns:a16="http://schemas.microsoft.com/office/drawing/2014/main" xmlns="" id="{349B9E2F-FC4F-E6C5-658F-4F519BCD92F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54">
                  <a:extLst>
                    <a:ext uri="{FF2B5EF4-FFF2-40B4-BE49-F238E27FC236}">
                      <a16:creationId xmlns:a16="http://schemas.microsoft.com/office/drawing/2014/main" xmlns="" id="{2836A701-4CC6-EB4E-ED1D-EDDCCEF94E6B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Oval 55">
              <a:extLst>
                <a:ext uri="{FF2B5EF4-FFF2-40B4-BE49-F238E27FC236}">
                  <a16:creationId xmlns:a16="http://schemas.microsoft.com/office/drawing/2014/main" xmlns="" id="{FAC640CB-C6D6-F516-E37C-FE83FD39D8ED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9" name="Oval 56">
              <a:extLst>
                <a:ext uri="{FF2B5EF4-FFF2-40B4-BE49-F238E27FC236}">
                  <a16:creationId xmlns:a16="http://schemas.microsoft.com/office/drawing/2014/main" xmlns="" id="{AD846A83-F33F-DC76-C5A3-56F953D68B09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0" name="Oval 57">
              <a:extLst>
                <a:ext uri="{FF2B5EF4-FFF2-40B4-BE49-F238E27FC236}">
                  <a16:creationId xmlns:a16="http://schemas.microsoft.com/office/drawing/2014/main" xmlns="" id="{B6DC2A6A-5222-A2F6-E5EA-6493B8B254C2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1" name="Oval 58">
              <a:extLst>
                <a:ext uri="{FF2B5EF4-FFF2-40B4-BE49-F238E27FC236}">
                  <a16:creationId xmlns:a16="http://schemas.microsoft.com/office/drawing/2014/main" xmlns="" id="{38FE9B36-4D6C-AF81-DCF2-4FA192C531D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2" name="Oval 59">
              <a:extLst>
                <a:ext uri="{FF2B5EF4-FFF2-40B4-BE49-F238E27FC236}">
                  <a16:creationId xmlns:a16="http://schemas.microsoft.com/office/drawing/2014/main" xmlns="" id="{DE523504-F9F2-AAFD-AA4B-806826C9C460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3" name="Oval 60">
              <a:extLst>
                <a:ext uri="{FF2B5EF4-FFF2-40B4-BE49-F238E27FC236}">
                  <a16:creationId xmlns:a16="http://schemas.microsoft.com/office/drawing/2014/main" xmlns="" id="{0AEC6512-045D-5FEB-0B7D-4417D5F557C2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4" name="Oval 61">
              <a:extLst>
                <a:ext uri="{FF2B5EF4-FFF2-40B4-BE49-F238E27FC236}">
                  <a16:creationId xmlns:a16="http://schemas.microsoft.com/office/drawing/2014/main" xmlns="" id="{158B8749-72FC-30FF-DFA5-9B588F851EA2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5" name="Oval 62">
              <a:extLst>
                <a:ext uri="{FF2B5EF4-FFF2-40B4-BE49-F238E27FC236}">
                  <a16:creationId xmlns:a16="http://schemas.microsoft.com/office/drawing/2014/main" xmlns="" id="{4AAA04E2-2F33-6098-1D33-86F794AB553B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6" name="Oval 63">
              <a:extLst>
                <a:ext uri="{FF2B5EF4-FFF2-40B4-BE49-F238E27FC236}">
                  <a16:creationId xmlns:a16="http://schemas.microsoft.com/office/drawing/2014/main" xmlns="" id="{5EBBDF3C-C688-C6C2-67A9-5310E504487B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7" name="Oval 64">
              <a:extLst>
                <a:ext uri="{FF2B5EF4-FFF2-40B4-BE49-F238E27FC236}">
                  <a16:creationId xmlns:a16="http://schemas.microsoft.com/office/drawing/2014/main" xmlns="" id="{30FE73D9-BF42-B6FD-5123-0ED28946A00C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8" name="Oval 65">
              <a:extLst>
                <a:ext uri="{FF2B5EF4-FFF2-40B4-BE49-F238E27FC236}">
                  <a16:creationId xmlns:a16="http://schemas.microsoft.com/office/drawing/2014/main" xmlns="" id="{099D459C-4199-9E54-CF18-58DD0479325D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9" name="Oval 66">
              <a:extLst>
                <a:ext uri="{FF2B5EF4-FFF2-40B4-BE49-F238E27FC236}">
                  <a16:creationId xmlns:a16="http://schemas.microsoft.com/office/drawing/2014/main" xmlns="" id="{2F4A2BF7-C6E7-5B3D-6BA9-49E4B15263D9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0" name="Oval 67">
              <a:extLst>
                <a:ext uri="{FF2B5EF4-FFF2-40B4-BE49-F238E27FC236}">
                  <a16:creationId xmlns:a16="http://schemas.microsoft.com/office/drawing/2014/main" xmlns="" id="{01A15C70-04A3-6B11-EB6E-C92199C75C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1" name="Oval 68">
              <a:extLst>
                <a:ext uri="{FF2B5EF4-FFF2-40B4-BE49-F238E27FC236}">
                  <a16:creationId xmlns:a16="http://schemas.microsoft.com/office/drawing/2014/main" xmlns="" id="{4D084CFD-A191-3E47-9AA5-D33505A73C66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2" name="Oval 69">
              <a:extLst>
                <a:ext uri="{FF2B5EF4-FFF2-40B4-BE49-F238E27FC236}">
                  <a16:creationId xmlns:a16="http://schemas.microsoft.com/office/drawing/2014/main" xmlns="" id="{099E51DE-9CCA-461A-5481-34FD22193D37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3" name="Oval 70">
              <a:extLst>
                <a:ext uri="{FF2B5EF4-FFF2-40B4-BE49-F238E27FC236}">
                  <a16:creationId xmlns:a16="http://schemas.microsoft.com/office/drawing/2014/main" xmlns="" id="{CC493F7E-E38D-A7C5-47CF-32248855D7F4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4" name="Oval 71">
              <a:extLst>
                <a:ext uri="{FF2B5EF4-FFF2-40B4-BE49-F238E27FC236}">
                  <a16:creationId xmlns:a16="http://schemas.microsoft.com/office/drawing/2014/main" xmlns="" id="{8F53A2C7-AB17-1C63-1F67-49A91F5868BB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5" name="Oval 72">
              <a:extLst>
                <a:ext uri="{FF2B5EF4-FFF2-40B4-BE49-F238E27FC236}">
                  <a16:creationId xmlns:a16="http://schemas.microsoft.com/office/drawing/2014/main" xmlns="" id="{C9DF79EB-94C8-5FFD-C810-43791B28B5E1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6" name="Oval 73">
              <a:extLst>
                <a:ext uri="{FF2B5EF4-FFF2-40B4-BE49-F238E27FC236}">
                  <a16:creationId xmlns:a16="http://schemas.microsoft.com/office/drawing/2014/main" xmlns="" id="{2F22FDF4-7403-AB45-E92A-42C84AB1B7F5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7" name="Oval 74">
              <a:extLst>
                <a:ext uri="{FF2B5EF4-FFF2-40B4-BE49-F238E27FC236}">
                  <a16:creationId xmlns:a16="http://schemas.microsoft.com/office/drawing/2014/main" xmlns="" id="{198C1AAB-AF99-3206-D9D7-4D364FE310AC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8" name="Multiply 75">
              <a:extLst>
                <a:ext uri="{FF2B5EF4-FFF2-40B4-BE49-F238E27FC236}">
                  <a16:creationId xmlns:a16="http://schemas.microsoft.com/office/drawing/2014/main" xmlns="" id="{FE713D93-DB25-6226-9F9A-E46E41C77152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9" name="Multiply 76">
              <a:extLst>
                <a:ext uri="{FF2B5EF4-FFF2-40B4-BE49-F238E27FC236}">
                  <a16:creationId xmlns:a16="http://schemas.microsoft.com/office/drawing/2014/main" xmlns="" id="{A1177A6D-DA2C-2D4D-6B6B-4E6992C1AD4F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0" name="Multiply 77">
              <a:extLst>
                <a:ext uri="{FF2B5EF4-FFF2-40B4-BE49-F238E27FC236}">
                  <a16:creationId xmlns:a16="http://schemas.microsoft.com/office/drawing/2014/main" xmlns="" id="{09191902-83CE-66E3-332C-74779F468BDA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1" name="Multiply 78">
              <a:extLst>
                <a:ext uri="{FF2B5EF4-FFF2-40B4-BE49-F238E27FC236}">
                  <a16:creationId xmlns:a16="http://schemas.microsoft.com/office/drawing/2014/main" xmlns="" id="{42D2AAAF-0D27-C1EF-AB19-0F92563574E2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2" name="Multiply 79">
              <a:extLst>
                <a:ext uri="{FF2B5EF4-FFF2-40B4-BE49-F238E27FC236}">
                  <a16:creationId xmlns:a16="http://schemas.microsoft.com/office/drawing/2014/main" xmlns="" id="{04E261D7-2CC7-EDA1-CC5B-56CF18DBAB79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3" name="Multiply 80">
              <a:extLst>
                <a:ext uri="{FF2B5EF4-FFF2-40B4-BE49-F238E27FC236}">
                  <a16:creationId xmlns:a16="http://schemas.microsoft.com/office/drawing/2014/main" xmlns="" id="{D2E11CE3-B5E0-AE7F-0BA6-A2961EB0367F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4" name="Multiply 81">
              <a:extLst>
                <a:ext uri="{FF2B5EF4-FFF2-40B4-BE49-F238E27FC236}">
                  <a16:creationId xmlns:a16="http://schemas.microsoft.com/office/drawing/2014/main" xmlns="" id="{2422831B-A2AD-DD94-621D-AD740642157D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5" name="Oval 82">
              <a:extLst>
                <a:ext uri="{FF2B5EF4-FFF2-40B4-BE49-F238E27FC236}">
                  <a16:creationId xmlns:a16="http://schemas.microsoft.com/office/drawing/2014/main" xmlns="" id="{87880004-15D8-F560-02D3-46EB124BA5F6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6" name="Oval 83">
              <a:extLst>
                <a:ext uri="{FF2B5EF4-FFF2-40B4-BE49-F238E27FC236}">
                  <a16:creationId xmlns:a16="http://schemas.microsoft.com/office/drawing/2014/main" xmlns="" id="{95D5738C-6797-704C-A8BA-429F69AC054D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7" name="Oval 84">
              <a:extLst>
                <a:ext uri="{FF2B5EF4-FFF2-40B4-BE49-F238E27FC236}">
                  <a16:creationId xmlns:a16="http://schemas.microsoft.com/office/drawing/2014/main" xmlns="" id="{7DF919EE-44D8-115A-28B8-5682485FDF18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8" name="Multiply 85">
              <a:extLst>
                <a:ext uri="{FF2B5EF4-FFF2-40B4-BE49-F238E27FC236}">
                  <a16:creationId xmlns:a16="http://schemas.microsoft.com/office/drawing/2014/main" xmlns="" id="{178B6A71-C93D-4BE2-25DA-2DFBB72900A6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9" name="Multiply 86">
              <a:extLst>
                <a:ext uri="{FF2B5EF4-FFF2-40B4-BE49-F238E27FC236}">
                  <a16:creationId xmlns:a16="http://schemas.microsoft.com/office/drawing/2014/main" xmlns="" id="{D60CF889-F533-E2D7-B7CD-1932A8B52712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0" name="Multiply 87">
              <a:extLst>
                <a:ext uri="{FF2B5EF4-FFF2-40B4-BE49-F238E27FC236}">
                  <a16:creationId xmlns:a16="http://schemas.microsoft.com/office/drawing/2014/main" xmlns="" id="{9D4F0D55-0225-8C22-1E21-F6414657B65B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1" name="Multiply 88">
              <a:extLst>
                <a:ext uri="{FF2B5EF4-FFF2-40B4-BE49-F238E27FC236}">
                  <a16:creationId xmlns:a16="http://schemas.microsoft.com/office/drawing/2014/main" xmlns="" id="{C1D39E83-7A81-5CE7-3358-BF117022ACB8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2" name="Multiply 89">
              <a:extLst>
                <a:ext uri="{FF2B5EF4-FFF2-40B4-BE49-F238E27FC236}">
                  <a16:creationId xmlns:a16="http://schemas.microsoft.com/office/drawing/2014/main" xmlns="" id="{5F94C93B-4FC1-3415-EC6B-97FF0B4B8F08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3" name="Multiply 90">
              <a:extLst>
                <a:ext uri="{FF2B5EF4-FFF2-40B4-BE49-F238E27FC236}">
                  <a16:creationId xmlns:a16="http://schemas.microsoft.com/office/drawing/2014/main" xmlns="" id="{29B3297A-8C24-03EA-C2C0-BDF821C68CF8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4" name="Multiply 91">
              <a:extLst>
                <a:ext uri="{FF2B5EF4-FFF2-40B4-BE49-F238E27FC236}">
                  <a16:creationId xmlns:a16="http://schemas.microsoft.com/office/drawing/2014/main" xmlns="" id="{7BF27FDF-A953-7D1C-F399-F7EB3E359494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5" name="Multiply 92">
              <a:extLst>
                <a:ext uri="{FF2B5EF4-FFF2-40B4-BE49-F238E27FC236}">
                  <a16:creationId xmlns:a16="http://schemas.microsoft.com/office/drawing/2014/main" xmlns="" id="{D6687B33-5E13-0B20-0AB6-7C5029F645BF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6" name="Multiply 93">
              <a:extLst>
                <a:ext uri="{FF2B5EF4-FFF2-40B4-BE49-F238E27FC236}">
                  <a16:creationId xmlns:a16="http://schemas.microsoft.com/office/drawing/2014/main" xmlns="" id="{20A4120F-44BF-74CB-FBEF-EF83F9B059BF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7" name="Multiply 94">
              <a:extLst>
                <a:ext uri="{FF2B5EF4-FFF2-40B4-BE49-F238E27FC236}">
                  <a16:creationId xmlns:a16="http://schemas.microsoft.com/office/drawing/2014/main" xmlns="" id="{12E82634-22F6-0C9C-955A-F0DBB9568F72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8" name="Multiply 95">
              <a:extLst>
                <a:ext uri="{FF2B5EF4-FFF2-40B4-BE49-F238E27FC236}">
                  <a16:creationId xmlns:a16="http://schemas.microsoft.com/office/drawing/2014/main" xmlns="" id="{FE956282-4725-2707-3B5A-417CA5C88098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39" name="Straight Connector 96">
              <a:extLst>
                <a:ext uri="{FF2B5EF4-FFF2-40B4-BE49-F238E27FC236}">
                  <a16:creationId xmlns:a16="http://schemas.microsoft.com/office/drawing/2014/main" xmlns="" id="{6793B35E-043B-DD7E-2706-9F41CCCE0F5F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0" name="Group 97">
            <a:extLst>
              <a:ext uri="{FF2B5EF4-FFF2-40B4-BE49-F238E27FC236}">
                <a16:creationId xmlns:a16="http://schemas.microsoft.com/office/drawing/2014/main" xmlns="" id="{9BA09B05-5A67-1E11-F943-345BEBEF6CD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241" name="Straight Connector 98">
              <a:extLst>
                <a:ext uri="{FF2B5EF4-FFF2-40B4-BE49-F238E27FC236}">
                  <a16:creationId xmlns:a16="http://schemas.microsoft.com/office/drawing/2014/main" xmlns="" id="{862E6175-A5B3-6C19-6104-42D82E6D1FF1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99">
              <a:extLst>
                <a:ext uri="{FF2B5EF4-FFF2-40B4-BE49-F238E27FC236}">
                  <a16:creationId xmlns:a16="http://schemas.microsoft.com/office/drawing/2014/main" xmlns="" id="{BABB064E-46AA-4BB8-F35E-797A288E2F37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3" name="TextBox 100">
                  <a:extLst>
                    <a:ext uri="{FF2B5EF4-FFF2-40B4-BE49-F238E27FC236}">
                      <a16:creationId xmlns:a16="http://schemas.microsoft.com/office/drawing/2014/main" xmlns="" id="{15EFE971-5E50-38EE-3246-DE8523B997AF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4" name="TextBox 101">
                  <a:extLst>
                    <a:ext uri="{FF2B5EF4-FFF2-40B4-BE49-F238E27FC236}">
                      <a16:creationId xmlns:a16="http://schemas.microsoft.com/office/drawing/2014/main" xmlns="" id="{D24CCD60-BE5F-04E5-5458-52C2A87FB155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5" name="Oval 102">
              <a:extLst>
                <a:ext uri="{FF2B5EF4-FFF2-40B4-BE49-F238E27FC236}">
                  <a16:creationId xmlns:a16="http://schemas.microsoft.com/office/drawing/2014/main" xmlns="" id="{26EC5A80-50A6-5B82-A9E7-E327DE9B8EFC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6" name="Oval 103">
              <a:extLst>
                <a:ext uri="{FF2B5EF4-FFF2-40B4-BE49-F238E27FC236}">
                  <a16:creationId xmlns:a16="http://schemas.microsoft.com/office/drawing/2014/main" xmlns="" id="{FE66B279-005D-DB31-6439-FC8AE274BA36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7" name="Oval 104">
              <a:extLst>
                <a:ext uri="{FF2B5EF4-FFF2-40B4-BE49-F238E27FC236}">
                  <a16:creationId xmlns:a16="http://schemas.microsoft.com/office/drawing/2014/main" xmlns="" id="{0D373D9D-529A-5BAB-2825-8A6F7B31F9E3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8" name="Oval 105">
              <a:extLst>
                <a:ext uri="{FF2B5EF4-FFF2-40B4-BE49-F238E27FC236}">
                  <a16:creationId xmlns:a16="http://schemas.microsoft.com/office/drawing/2014/main" xmlns="" id="{14895E6F-8413-D2A8-7391-F5DC05D40ABF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9" name="Oval 106">
              <a:extLst>
                <a:ext uri="{FF2B5EF4-FFF2-40B4-BE49-F238E27FC236}">
                  <a16:creationId xmlns:a16="http://schemas.microsoft.com/office/drawing/2014/main" xmlns="" id="{C86188FE-D32F-8C07-50EA-D000AF0D439C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0" name="Oval 107">
              <a:extLst>
                <a:ext uri="{FF2B5EF4-FFF2-40B4-BE49-F238E27FC236}">
                  <a16:creationId xmlns:a16="http://schemas.microsoft.com/office/drawing/2014/main" xmlns="" id="{8809DCB5-FC89-4A47-AB68-706127E1C329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1" name="Oval 108">
              <a:extLst>
                <a:ext uri="{FF2B5EF4-FFF2-40B4-BE49-F238E27FC236}">
                  <a16:creationId xmlns:a16="http://schemas.microsoft.com/office/drawing/2014/main" xmlns="" id="{168AE50C-693B-B056-392B-36487B2FB4B6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2" name="Oval 109">
              <a:extLst>
                <a:ext uri="{FF2B5EF4-FFF2-40B4-BE49-F238E27FC236}">
                  <a16:creationId xmlns:a16="http://schemas.microsoft.com/office/drawing/2014/main" xmlns="" id="{15246016-8527-A9B2-991C-721C14D85548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3" name="Oval 110">
              <a:extLst>
                <a:ext uri="{FF2B5EF4-FFF2-40B4-BE49-F238E27FC236}">
                  <a16:creationId xmlns:a16="http://schemas.microsoft.com/office/drawing/2014/main" xmlns="" id="{6BB57176-DB5F-E5F7-0A9F-61D6FD83051B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4" name="Oval 111">
              <a:extLst>
                <a:ext uri="{FF2B5EF4-FFF2-40B4-BE49-F238E27FC236}">
                  <a16:creationId xmlns:a16="http://schemas.microsoft.com/office/drawing/2014/main" xmlns="" id="{EEA0A374-6078-152F-EA81-CA75502038E2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5" name="Oval 112">
              <a:extLst>
                <a:ext uri="{FF2B5EF4-FFF2-40B4-BE49-F238E27FC236}">
                  <a16:creationId xmlns:a16="http://schemas.microsoft.com/office/drawing/2014/main" xmlns="" id="{03F6E416-594F-9780-70C8-F09A2E030AA2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6" name="Oval 113">
              <a:extLst>
                <a:ext uri="{FF2B5EF4-FFF2-40B4-BE49-F238E27FC236}">
                  <a16:creationId xmlns:a16="http://schemas.microsoft.com/office/drawing/2014/main" xmlns="" id="{A86B5730-B672-A081-CC72-7DCD39510BC9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7" name="Oval 114">
              <a:extLst>
                <a:ext uri="{FF2B5EF4-FFF2-40B4-BE49-F238E27FC236}">
                  <a16:creationId xmlns:a16="http://schemas.microsoft.com/office/drawing/2014/main" xmlns="" id="{A314BBC5-28D1-4A06-2FF6-4BE7CFC2B713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8" name="Oval 115">
              <a:extLst>
                <a:ext uri="{FF2B5EF4-FFF2-40B4-BE49-F238E27FC236}">
                  <a16:creationId xmlns:a16="http://schemas.microsoft.com/office/drawing/2014/main" xmlns="" id="{8DF2D811-2E0D-0C15-199F-651C5C933138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9" name="Oval 116">
              <a:extLst>
                <a:ext uri="{FF2B5EF4-FFF2-40B4-BE49-F238E27FC236}">
                  <a16:creationId xmlns:a16="http://schemas.microsoft.com/office/drawing/2014/main" xmlns="" id="{00A78210-5966-E2D4-3A2C-29FEAD4BDB34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0" name="Oval 117">
              <a:extLst>
                <a:ext uri="{FF2B5EF4-FFF2-40B4-BE49-F238E27FC236}">
                  <a16:creationId xmlns:a16="http://schemas.microsoft.com/office/drawing/2014/main" xmlns="" id="{B3B0EA26-2715-4A63-DBAA-717B4A23F478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1" name="Oval 118">
              <a:extLst>
                <a:ext uri="{FF2B5EF4-FFF2-40B4-BE49-F238E27FC236}">
                  <a16:creationId xmlns:a16="http://schemas.microsoft.com/office/drawing/2014/main" xmlns="" id="{D06A8023-BA02-409E-0281-7C9C8C5635E7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2" name="Oval 119">
              <a:extLst>
                <a:ext uri="{FF2B5EF4-FFF2-40B4-BE49-F238E27FC236}">
                  <a16:creationId xmlns:a16="http://schemas.microsoft.com/office/drawing/2014/main" xmlns="" id="{BBE6A492-BB73-B978-00E1-55167871BC4D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3" name="Oval 120">
              <a:extLst>
                <a:ext uri="{FF2B5EF4-FFF2-40B4-BE49-F238E27FC236}">
                  <a16:creationId xmlns:a16="http://schemas.microsoft.com/office/drawing/2014/main" xmlns="" id="{47BE9AD6-18EE-F245-C222-D464BE0D900C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4" name="Oval 121">
              <a:extLst>
                <a:ext uri="{FF2B5EF4-FFF2-40B4-BE49-F238E27FC236}">
                  <a16:creationId xmlns:a16="http://schemas.microsoft.com/office/drawing/2014/main" xmlns="" id="{FE97CFB8-5FCD-F9AE-4EC3-9B90E82E0BD1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5" name="Multiply 122">
              <a:extLst>
                <a:ext uri="{FF2B5EF4-FFF2-40B4-BE49-F238E27FC236}">
                  <a16:creationId xmlns:a16="http://schemas.microsoft.com/office/drawing/2014/main" xmlns="" id="{58E8FC64-2EBA-62AF-E35B-379A189D537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6" name="Multiply 123">
              <a:extLst>
                <a:ext uri="{FF2B5EF4-FFF2-40B4-BE49-F238E27FC236}">
                  <a16:creationId xmlns:a16="http://schemas.microsoft.com/office/drawing/2014/main" xmlns="" id="{121ED2C2-C394-73A6-4F3D-0D6AE65DAA50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7" name="Multiply 124">
              <a:extLst>
                <a:ext uri="{FF2B5EF4-FFF2-40B4-BE49-F238E27FC236}">
                  <a16:creationId xmlns:a16="http://schemas.microsoft.com/office/drawing/2014/main" xmlns="" id="{6BA39FEA-B8DD-FF08-298A-6AA25A7F16AA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8" name="Multiply 125">
              <a:extLst>
                <a:ext uri="{FF2B5EF4-FFF2-40B4-BE49-F238E27FC236}">
                  <a16:creationId xmlns:a16="http://schemas.microsoft.com/office/drawing/2014/main" xmlns="" id="{07A15D8B-5F3F-1238-2961-80CE07989F8D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9" name="Multiply 126">
              <a:extLst>
                <a:ext uri="{FF2B5EF4-FFF2-40B4-BE49-F238E27FC236}">
                  <a16:creationId xmlns:a16="http://schemas.microsoft.com/office/drawing/2014/main" xmlns="" id="{04CF30F0-EE59-2B18-4293-C1548AB09FEB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0" name="Multiply 127">
              <a:extLst>
                <a:ext uri="{FF2B5EF4-FFF2-40B4-BE49-F238E27FC236}">
                  <a16:creationId xmlns:a16="http://schemas.microsoft.com/office/drawing/2014/main" xmlns="" id="{59F2BF88-464B-D043-6DC8-BE467E5F5365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1" name="Multiply 128">
              <a:extLst>
                <a:ext uri="{FF2B5EF4-FFF2-40B4-BE49-F238E27FC236}">
                  <a16:creationId xmlns:a16="http://schemas.microsoft.com/office/drawing/2014/main" xmlns="" id="{F5E1C1DB-A089-269E-D62B-1F6ED2B5089F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2" name="Oval 129">
              <a:extLst>
                <a:ext uri="{FF2B5EF4-FFF2-40B4-BE49-F238E27FC236}">
                  <a16:creationId xmlns:a16="http://schemas.microsoft.com/office/drawing/2014/main" xmlns="" id="{4412E03C-354D-F145-C5A9-26C4BEC3D209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3" name="Oval 130">
              <a:extLst>
                <a:ext uri="{FF2B5EF4-FFF2-40B4-BE49-F238E27FC236}">
                  <a16:creationId xmlns:a16="http://schemas.microsoft.com/office/drawing/2014/main" xmlns="" id="{41C5C12B-8CDE-EAFC-3FB2-B71470ED21F4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4" name="Oval 131">
              <a:extLst>
                <a:ext uri="{FF2B5EF4-FFF2-40B4-BE49-F238E27FC236}">
                  <a16:creationId xmlns:a16="http://schemas.microsoft.com/office/drawing/2014/main" xmlns="" id="{FC69DF46-1F1F-44E5-9A4B-1B62ACFF8AE6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5" name="Multiply 132">
              <a:extLst>
                <a:ext uri="{FF2B5EF4-FFF2-40B4-BE49-F238E27FC236}">
                  <a16:creationId xmlns:a16="http://schemas.microsoft.com/office/drawing/2014/main" xmlns="" id="{CDE1F1C9-F63F-5CEC-AC3B-5DF3B0680BD0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6" name="Multiply 133">
              <a:extLst>
                <a:ext uri="{FF2B5EF4-FFF2-40B4-BE49-F238E27FC236}">
                  <a16:creationId xmlns:a16="http://schemas.microsoft.com/office/drawing/2014/main" xmlns="" id="{BE48EEC5-EE90-F9D7-602A-1BDE74A757B4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7" name="Multiply 134">
              <a:extLst>
                <a:ext uri="{FF2B5EF4-FFF2-40B4-BE49-F238E27FC236}">
                  <a16:creationId xmlns:a16="http://schemas.microsoft.com/office/drawing/2014/main" xmlns="" id="{E520CF51-47A2-7E8B-78DC-ADEB8C1E764F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8" name="Multiply 135">
              <a:extLst>
                <a:ext uri="{FF2B5EF4-FFF2-40B4-BE49-F238E27FC236}">
                  <a16:creationId xmlns:a16="http://schemas.microsoft.com/office/drawing/2014/main" xmlns="" id="{6E35A0E5-F036-47D5-6724-949F089AEB72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9" name="Multiply 136">
              <a:extLst>
                <a:ext uri="{FF2B5EF4-FFF2-40B4-BE49-F238E27FC236}">
                  <a16:creationId xmlns:a16="http://schemas.microsoft.com/office/drawing/2014/main" xmlns="" id="{40AD9EEF-3614-174C-A1BD-2E03095052D4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0" name="Multiply 137">
              <a:extLst>
                <a:ext uri="{FF2B5EF4-FFF2-40B4-BE49-F238E27FC236}">
                  <a16:creationId xmlns:a16="http://schemas.microsoft.com/office/drawing/2014/main" xmlns="" id="{5224EAE0-29F0-0908-8893-1DA195541196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1" name="Multiply 138">
              <a:extLst>
                <a:ext uri="{FF2B5EF4-FFF2-40B4-BE49-F238E27FC236}">
                  <a16:creationId xmlns:a16="http://schemas.microsoft.com/office/drawing/2014/main" xmlns="" id="{345E7BAB-A204-C545-A324-4AE44816D949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2" name="Multiply 139">
              <a:extLst>
                <a:ext uri="{FF2B5EF4-FFF2-40B4-BE49-F238E27FC236}">
                  <a16:creationId xmlns:a16="http://schemas.microsoft.com/office/drawing/2014/main" xmlns="" id="{A0512407-73B8-304C-6056-341DEED9304C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3" name="Multiply 140">
              <a:extLst>
                <a:ext uri="{FF2B5EF4-FFF2-40B4-BE49-F238E27FC236}">
                  <a16:creationId xmlns:a16="http://schemas.microsoft.com/office/drawing/2014/main" xmlns="" id="{B8F4E571-C121-A73E-CA57-06965F808395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4" name="Multiply 141">
              <a:extLst>
                <a:ext uri="{FF2B5EF4-FFF2-40B4-BE49-F238E27FC236}">
                  <a16:creationId xmlns:a16="http://schemas.microsoft.com/office/drawing/2014/main" xmlns="" id="{6719F853-8301-AD90-215A-5F0CCB17A0D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5" name="Multiply 142">
              <a:extLst>
                <a:ext uri="{FF2B5EF4-FFF2-40B4-BE49-F238E27FC236}">
                  <a16:creationId xmlns:a16="http://schemas.microsoft.com/office/drawing/2014/main" xmlns="" id="{796FC582-F9D7-FE87-2A23-4E229FC743BD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6" name="Freeform 143">
              <a:extLst>
                <a:ext uri="{FF2B5EF4-FFF2-40B4-BE49-F238E27FC236}">
                  <a16:creationId xmlns:a16="http://schemas.microsoft.com/office/drawing/2014/main" xmlns="" id="{096148D6-1E7E-22FB-3129-F46AEE6157EC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90" name="CaixaDeTexto 289">
            <a:extLst>
              <a:ext uri="{FF2B5EF4-FFF2-40B4-BE49-F238E27FC236}">
                <a16:creationId xmlns:a16="http://schemas.microsoft.com/office/drawing/2014/main" xmlns="" id="{1CF5EF7B-31C2-BF66-57C5-B83BDD880795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291" name="CaixaDeTexto 290">
            <a:extLst>
              <a:ext uri="{FF2B5EF4-FFF2-40B4-BE49-F238E27FC236}">
                <a16:creationId xmlns:a16="http://schemas.microsoft.com/office/drawing/2014/main" xmlns="" id="{6B520180-B7A3-73C8-75FE-9FD42CDF419E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292" name="Agrupar 291">
            <a:extLst>
              <a:ext uri="{FF2B5EF4-FFF2-40B4-BE49-F238E27FC236}">
                <a16:creationId xmlns:a16="http://schemas.microsoft.com/office/drawing/2014/main" xmlns="" id="{B0CAB38C-895F-C677-2B43-E8AA71744A23}"/>
              </a:ext>
            </a:extLst>
          </p:cNvPr>
          <p:cNvGrpSpPr/>
          <p:nvPr/>
        </p:nvGrpSpPr>
        <p:grpSpPr>
          <a:xfrm>
            <a:off x="9002294" y="4437355"/>
            <a:ext cx="3251588" cy="2291732"/>
            <a:chOff x="9487183" y="4446320"/>
            <a:chExt cx="3251588" cy="2291732"/>
          </a:xfrm>
        </p:grpSpPr>
        <p:grpSp>
          <p:nvGrpSpPr>
            <p:cNvPr id="293" name="Group 3">
              <a:extLst>
                <a:ext uri="{FF2B5EF4-FFF2-40B4-BE49-F238E27FC236}">
                  <a16:creationId xmlns:a16="http://schemas.microsoft.com/office/drawing/2014/main" xmlns="" id="{3E73FC0E-6496-B42D-E845-04860D135BB2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295" name="Straight Connector 4">
                <a:extLst>
                  <a:ext uri="{FF2B5EF4-FFF2-40B4-BE49-F238E27FC236}">
                    <a16:creationId xmlns:a16="http://schemas.microsoft.com/office/drawing/2014/main" xmlns="" id="{519CA167-3E38-A858-4B91-3A94AA9E243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Straight Connector 5">
                <a:extLst>
                  <a:ext uri="{FF2B5EF4-FFF2-40B4-BE49-F238E27FC236}">
                    <a16:creationId xmlns:a16="http://schemas.microsoft.com/office/drawing/2014/main" xmlns="" id="{F6141AF6-15EC-AECB-C9F3-E7F387C00624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7" name="TextBox 6">
                    <a:extLst>
                      <a:ext uri="{FF2B5EF4-FFF2-40B4-BE49-F238E27FC236}">
                        <a16:creationId xmlns:a16="http://schemas.microsoft.com/office/drawing/2014/main" xmlns="" id="{2817C157-DC6C-FFC2-57CD-7AA392FD016E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8" name="TextBox 7">
                    <a:extLst>
                      <a:ext uri="{FF2B5EF4-FFF2-40B4-BE49-F238E27FC236}">
                        <a16:creationId xmlns:a16="http://schemas.microsoft.com/office/drawing/2014/main" xmlns="" id="{8736387D-86DB-F26C-79D3-15D59A65AF05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9" name="Oval 8">
                <a:extLst>
                  <a:ext uri="{FF2B5EF4-FFF2-40B4-BE49-F238E27FC236}">
                    <a16:creationId xmlns:a16="http://schemas.microsoft.com/office/drawing/2014/main" xmlns="" id="{659179F3-E338-6F96-9124-798041B2AAC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0" name="Oval 9">
                <a:extLst>
                  <a:ext uri="{FF2B5EF4-FFF2-40B4-BE49-F238E27FC236}">
                    <a16:creationId xmlns:a16="http://schemas.microsoft.com/office/drawing/2014/main" xmlns="" id="{BA6B460D-6E19-AA3E-EC2A-8D0A74A5846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1" name="Oval 10">
                <a:extLst>
                  <a:ext uri="{FF2B5EF4-FFF2-40B4-BE49-F238E27FC236}">
                    <a16:creationId xmlns:a16="http://schemas.microsoft.com/office/drawing/2014/main" xmlns="" id="{C19CE4C5-5A5F-08AC-C793-D1ADCFB6056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2" name="Oval 11">
                <a:extLst>
                  <a:ext uri="{FF2B5EF4-FFF2-40B4-BE49-F238E27FC236}">
                    <a16:creationId xmlns:a16="http://schemas.microsoft.com/office/drawing/2014/main" xmlns="" id="{43940FBF-5687-6EC8-893A-641CE999070D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3" name="Oval 12">
                <a:extLst>
                  <a:ext uri="{FF2B5EF4-FFF2-40B4-BE49-F238E27FC236}">
                    <a16:creationId xmlns:a16="http://schemas.microsoft.com/office/drawing/2014/main" xmlns="" id="{47916986-259A-0B5B-6E1D-5D66453CC16D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4" name="Oval 13">
                <a:extLst>
                  <a:ext uri="{FF2B5EF4-FFF2-40B4-BE49-F238E27FC236}">
                    <a16:creationId xmlns:a16="http://schemas.microsoft.com/office/drawing/2014/main" xmlns="" id="{4BFB4C73-1C85-CB72-8E6D-D0A9B5FA6D88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5" name="Oval 14">
                <a:extLst>
                  <a:ext uri="{FF2B5EF4-FFF2-40B4-BE49-F238E27FC236}">
                    <a16:creationId xmlns:a16="http://schemas.microsoft.com/office/drawing/2014/main" xmlns="" id="{B9C433F1-3008-ED26-54BD-F540667C54E5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6" name="Oval 15">
                <a:extLst>
                  <a:ext uri="{FF2B5EF4-FFF2-40B4-BE49-F238E27FC236}">
                    <a16:creationId xmlns:a16="http://schemas.microsoft.com/office/drawing/2014/main" xmlns="" id="{CD098820-96A8-B3A7-09BD-F2E548DDBD23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7" name="Oval 16">
                <a:extLst>
                  <a:ext uri="{FF2B5EF4-FFF2-40B4-BE49-F238E27FC236}">
                    <a16:creationId xmlns:a16="http://schemas.microsoft.com/office/drawing/2014/main" xmlns="" id="{1F1F6454-0E36-BD14-4597-D7B24ABF362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8" name="Oval 17">
                <a:extLst>
                  <a:ext uri="{FF2B5EF4-FFF2-40B4-BE49-F238E27FC236}">
                    <a16:creationId xmlns:a16="http://schemas.microsoft.com/office/drawing/2014/main" xmlns="" id="{646E0387-1164-393B-583D-9123CE0E96D1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9" name="Oval 18">
                <a:extLst>
                  <a:ext uri="{FF2B5EF4-FFF2-40B4-BE49-F238E27FC236}">
                    <a16:creationId xmlns:a16="http://schemas.microsoft.com/office/drawing/2014/main" xmlns="" id="{F90C6CFE-95D6-CDF9-D3ED-3445AFC6432F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0" name="Oval 19">
                <a:extLst>
                  <a:ext uri="{FF2B5EF4-FFF2-40B4-BE49-F238E27FC236}">
                    <a16:creationId xmlns:a16="http://schemas.microsoft.com/office/drawing/2014/main" xmlns="" id="{16283901-9E0F-BB2C-BC88-A23C224B569E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1" name="Oval 20">
                <a:extLst>
                  <a:ext uri="{FF2B5EF4-FFF2-40B4-BE49-F238E27FC236}">
                    <a16:creationId xmlns:a16="http://schemas.microsoft.com/office/drawing/2014/main" xmlns="" id="{DFFACD6D-4A30-4263-5A8C-400AE0895645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2" name="Oval 21">
                <a:extLst>
                  <a:ext uri="{FF2B5EF4-FFF2-40B4-BE49-F238E27FC236}">
                    <a16:creationId xmlns:a16="http://schemas.microsoft.com/office/drawing/2014/main" xmlns="" id="{4C2B18D6-D331-4473-0F92-99B23039E3B7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3" name="Oval 22">
                <a:extLst>
                  <a:ext uri="{FF2B5EF4-FFF2-40B4-BE49-F238E27FC236}">
                    <a16:creationId xmlns:a16="http://schemas.microsoft.com/office/drawing/2014/main" xmlns="" id="{E239F1FA-C518-F052-24C3-CCFEEF37EE2C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4" name="Oval 23">
                <a:extLst>
                  <a:ext uri="{FF2B5EF4-FFF2-40B4-BE49-F238E27FC236}">
                    <a16:creationId xmlns:a16="http://schemas.microsoft.com/office/drawing/2014/main" xmlns="" id="{B5A0693E-598B-3275-8F45-388A01310932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5" name="Oval 24">
                <a:extLst>
                  <a:ext uri="{FF2B5EF4-FFF2-40B4-BE49-F238E27FC236}">
                    <a16:creationId xmlns:a16="http://schemas.microsoft.com/office/drawing/2014/main" xmlns="" id="{DA7637ED-2EEA-BD5A-EA77-C54CA353C640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6" name="Oval 25">
                <a:extLst>
                  <a:ext uri="{FF2B5EF4-FFF2-40B4-BE49-F238E27FC236}">
                    <a16:creationId xmlns:a16="http://schemas.microsoft.com/office/drawing/2014/main" xmlns="" id="{B68E526B-3355-B2B7-5509-E51745507723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7" name="Oval 26">
                <a:extLst>
                  <a:ext uri="{FF2B5EF4-FFF2-40B4-BE49-F238E27FC236}">
                    <a16:creationId xmlns:a16="http://schemas.microsoft.com/office/drawing/2014/main" xmlns="" id="{CD12660D-ADA9-6B6A-7405-5B8433165DD6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8" name="Oval 27">
                <a:extLst>
                  <a:ext uri="{FF2B5EF4-FFF2-40B4-BE49-F238E27FC236}">
                    <a16:creationId xmlns:a16="http://schemas.microsoft.com/office/drawing/2014/main" xmlns="" id="{0B1A1FEA-0027-9E88-9FF2-7BE242F2BF65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9" name="Multiply 28">
                <a:extLst>
                  <a:ext uri="{FF2B5EF4-FFF2-40B4-BE49-F238E27FC236}">
                    <a16:creationId xmlns:a16="http://schemas.microsoft.com/office/drawing/2014/main" xmlns="" id="{C20CAE11-8B1F-4521-A439-4E895A333523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0" name="Multiply 29">
                <a:extLst>
                  <a:ext uri="{FF2B5EF4-FFF2-40B4-BE49-F238E27FC236}">
                    <a16:creationId xmlns:a16="http://schemas.microsoft.com/office/drawing/2014/main" xmlns="" id="{8A95B274-5A57-2055-C0D9-457760224CA0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1" name="Multiply 30">
                <a:extLst>
                  <a:ext uri="{FF2B5EF4-FFF2-40B4-BE49-F238E27FC236}">
                    <a16:creationId xmlns:a16="http://schemas.microsoft.com/office/drawing/2014/main" xmlns="" id="{7E982CAE-81A9-32FF-1E8E-C206169CC96D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2" name="Multiply 31">
                <a:extLst>
                  <a:ext uri="{FF2B5EF4-FFF2-40B4-BE49-F238E27FC236}">
                    <a16:creationId xmlns:a16="http://schemas.microsoft.com/office/drawing/2014/main" xmlns="" id="{FF5CDDFA-0285-1EAD-EB3D-C992D2DAC298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3" name="Multiply 32">
                <a:extLst>
                  <a:ext uri="{FF2B5EF4-FFF2-40B4-BE49-F238E27FC236}">
                    <a16:creationId xmlns:a16="http://schemas.microsoft.com/office/drawing/2014/main" xmlns="" id="{9B7F76AC-6D3A-830C-9083-0199F6734871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4" name="Multiply 33">
                <a:extLst>
                  <a:ext uri="{FF2B5EF4-FFF2-40B4-BE49-F238E27FC236}">
                    <a16:creationId xmlns:a16="http://schemas.microsoft.com/office/drawing/2014/main" xmlns="" id="{D3155068-4D6B-00AA-D5BD-6B29C2581320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5" name="Multiply 34">
                <a:extLst>
                  <a:ext uri="{FF2B5EF4-FFF2-40B4-BE49-F238E27FC236}">
                    <a16:creationId xmlns:a16="http://schemas.microsoft.com/office/drawing/2014/main" xmlns="" id="{BE02C931-C817-1D10-C938-506A5328CF9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6" name="Oval 35">
                <a:extLst>
                  <a:ext uri="{FF2B5EF4-FFF2-40B4-BE49-F238E27FC236}">
                    <a16:creationId xmlns:a16="http://schemas.microsoft.com/office/drawing/2014/main" xmlns="" id="{037DCD77-CB85-6615-818E-53830FFF987D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7" name="Oval 36">
                <a:extLst>
                  <a:ext uri="{FF2B5EF4-FFF2-40B4-BE49-F238E27FC236}">
                    <a16:creationId xmlns:a16="http://schemas.microsoft.com/office/drawing/2014/main" xmlns="" id="{64933034-93B0-2153-6372-573E8410C1E5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8" name="Oval 37">
                <a:extLst>
                  <a:ext uri="{FF2B5EF4-FFF2-40B4-BE49-F238E27FC236}">
                    <a16:creationId xmlns:a16="http://schemas.microsoft.com/office/drawing/2014/main" xmlns="" id="{590D945B-5C02-A907-B24B-5C7B8A35DE17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9" name="Multiply 38">
                <a:extLst>
                  <a:ext uri="{FF2B5EF4-FFF2-40B4-BE49-F238E27FC236}">
                    <a16:creationId xmlns:a16="http://schemas.microsoft.com/office/drawing/2014/main" xmlns="" id="{B2CA3E0D-9491-7BBF-7C58-4FEEFDDA67E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0" name="Multiply 39">
                <a:extLst>
                  <a:ext uri="{FF2B5EF4-FFF2-40B4-BE49-F238E27FC236}">
                    <a16:creationId xmlns:a16="http://schemas.microsoft.com/office/drawing/2014/main" xmlns="" id="{9CB0019D-BCAE-CBF5-E9AA-DB42024B9517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1" name="Multiply 40">
                <a:extLst>
                  <a:ext uri="{FF2B5EF4-FFF2-40B4-BE49-F238E27FC236}">
                    <a16:creationId xmlns:a16="http://schemas.microsoft.com/office/drawing/2014/main" xmlns="" id="{F9E96131-227C-8F93-E881-C680BCF513F6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2" name="Multiply 41">
                <a:extLst>
                  <a:ext uri="{FF2B5EF4-FFF2-40B4-BE49-F238E27FC236}">
                    <a16:creationId xmlns:a16="http://schemas.microsoft.com/office/drawing/2014/main" xmlns="" id="{0CC480B1-4435-B46F-75E0-286BDBDD0B4F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3" name="Multiply 42">
                <a:extLst>
                  <a:ext uri="{FF2B5EF4-FFF2-40B4-BE49-F238E27FC236}">
                    <a16:creationId xmlns:a16="http://schemas.microsoft.com/office/drawing/2014/main" xmlns="" id="{427AA496-B2DD-5199-236F-ACDE3911BA8A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4" name="Multiply 43">
                <a:extLst>
                  <a:ext uri="{FF2B5EF4-FFF2-40B4-BE49-F238E27FC236}">
                    <a16:creationId xmlns:a16="http://schemas.microsoft.com/office/drawing/2014/main" xmlns="" id="{D0494BF0-83C5-D217-E3F0-D37D97CAB42F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5" name="Multiply 44">
                <a:extLst>
                  <a:ext uri="{FF2B5EF4-FFF2-40B4-BE49-F238E27FC236}">
                    <a16:creationId xmlns:a16="http://schemas.microsoft.com/office/drawing/2014/main" xmlns="" id="{1943872F-D82A-A2E4-8597-1C3B77A5591C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6" name="Multiply 45">
                <a:extLst>
                  <a:ext uri="{FF2B5EF4-FFF2-40B4-BE49-F238E27FC236}">
                    <a16:creationId xmlns:a16="http://schemas.microsoft.com/office/drawing/2014/main" xmlns="" id="{0073664D-12A0-88D6-2D28-C31256AAFB7D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7" name="Multiply 46">
                <a:extLst>
                  <a:ext uri="{FF2B5EF4-FFF2-40B4-BE49-F238E27FC236}">
                    <a16:creationId xmlns:a16="http://schemas.microsoft.com/office/drawing/2014/main" xmlns="" id="{E802BF65-432E-A93E-CAF8-F1A093BBE901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8" name="Multiply 47">
                <a:extLst>
                  <a:ext uri="{FF2B5EF4-FFF2-40B4-BE49-F238E27FC236}">
                    <a16:creationId xmlns:a16="http://schemas.microsoft.com/office/drawing/2014/main" xmlns="" id="{D530F31C-8F3B-3B7B-E86C-4278765980F8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9" name="Multiply 48">
                <a:extLst>
                  <a:ext uri="{FF2B5EF4-FFF2-40B4-BE49-F238E27FC236}">
                    <a16:creationId xmlns:a16="http://schemas.microsoft.com/office/drawing/2014/main" xmlns="" id="{A467CA46-0031-79EC-C70B-088E58FD31EE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0" name="Freeform 49">
                <a:extLst>
                  <a:ext uri="{FF2B5EF4-FFF2-40B4-BE49-F238E27FC236}">
                    <a16:creationId xmlns:a16="http://schemas.microsoft.com/office/drawing/2014/main" xmlns="" id="{D11340A6-0358-782C-37B6-4B14FA13FDE6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294" name="Retângulo 293">
              <a:extLst>
                <a:ext uri="{FF2B5EF4-FFF2-40B4-BE49-F238E27FC236}">
                  <a16:creationId xmlns:a16="http://schemas.microsoft.com/office/drawing/2014/main" xmlns="" id="{9777451C-E320-8AA1-21F5-BD6EC5F72A61}"/>
                </a:ext>
              </a:extLst>
            </p:cNvPr>
            <p:cNvSpPr/>
            <p:nvPr/>
          </p:nvSpPr>
          <p:spPr>
            <a:xfrm>
              <a:off x="10483329" y="4446320"/>
              <a:ext cx="2255442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784165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primeira figura, o polinômio (i.e., reta) tem uma </a:t>
            </a:r>
            <a:r>
              <a:rPr lang="pt-BR" b="1" i="1" dirty="0">
                <a:solidFill>
                  <a:srgbClr val="FF0000"/>
                </a:solidFill>
              </a:rPr>
              <a:t>baixa flexibilidade</a:t>
            </a:r>
            <a:r>
              <a:rPr lang="pt-BR" dirty="0"/>
              <a:t>.</a:t>
            </a:r>
          </a:p>
          <a:p>
            <a:r>
              <a:rPr lang="pt-BR" dirty="0" smtClean="0"/>
              <a:t>O modelo também apresenta </a:t>
            </a:r>
            <a:r>
              <a:rPr lang="pt-BR" dirty="0"/>
              <a:t>uma </a:t>
            </a:r>
            <a:r>
              <a:rPr lang="pt-BR" b="1" i="1" dirty="0">
                <a:solidFill>
                  <a:srgbClr val="FF0000"/>
                </a:solidFill>
              </a:rPr>
              <a:t>baixa 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Assim, os erros nos conjuntos de treinamento e teste seriam </a:t>
            </a:r>
            <a:r>
              <a:rPr lang="pt-BR" b="1" i="1" dirty="0">
                <a:solidFill>
                  <a:srgbClr val="FF0000"/>
                </a:solidFill>
              </a:rPr>
              <a:t>ambos altos</a:t>
            </a:r>
            <a:r>
              <a:rPr lang="pt-BR" dirty="0"/>
              <a:t>.</a:t>
            </a:r>
          </a:p>
          <a:p>
            <a:r>
              <a:rPr lang="pt-BR" dirty="0"/>
              <a:t>Ou seja, o classificador erraria a classificação de boa parte dos </a:t>
            </a:r>
            <a:r>
              <a:rPr lang="pt-BR" dirty="0" smtClean="0"/>
              <a:t>exemplos de ambos os conjuntos.</a:t>
            </a:r>
            <a:endParaRPr lang="pt-BR" dirty="0"/>
          </a:p>
          <a:p>
            <a:endParaRPr lang="pt-BR" dirty="0"/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98" name="Agrupar 97">
            <a:extLst>
              <a:ext uri="{FF2B5EF4-FFF2-40B4-BE49-F238E27FC236}">
                <a16:creationId xmlns:a16="http://schemas.microsoft.com/office/drawing/2014/main" xmlns="" id="{A6FE96E8-7FE5-21E4-BCE6-6DF0031DBF05}"/>
              </a:ext>
            </a:extLst>
          </p:cNvPr>
          <p:cNvGrpSpPr/>
          <p:nvPr/>
        </p:nvGrpSpPr>
        <p:grpSpPr>
          <a:xfrm>
            <a:off x="9002294" y="4392272"/>
            <a:ext cx="3213154" cy="2336815"/>
            <a:chOff x="9487183" y="4401237"/>
            <a:chExt cx="3213154" cy="2336815"/>
          </a:xfrm>
        </p:grpSpPr>
        <p:grpSp>
          <p:nvGrpSpPr>
            <p:cNvPr id="99" name="Group 3">
              <a:extLst>
                <a:ext uri="{FF2B5EF4-FFF2-40B4-BE49-F238E27FC236}">
                  <a16:creationId xmlns:a16="http://schemas.microsoft.com/office/drawing/2014/main" xmlns="" id="{97EA07A9-7D75-8D57-32B7-6D0F9A97C00F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01" name="Straight Connector 4">
                <a:extLst>
                  <a:ext uri="{FF2B5EF4-FFF2-40B4-BE49-F238E27FC236}">
                    <a16:creationId xmlns:a16="http://schemas.microsoft.com/office/drawing/2014/main" xmlns="" id="{0FF56AD3-2AFD-3C1B-9C7F-AD580D21417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5">
                <a:extLst>
                  <a:ext uri="{FF2B5EF4-FFF2-40B4-BE49-F238E27FC236}">
                    <a16:creationId xmlns:a16="http://schemas.microsoft.com/office/drawing/2014/main" xmlns="" id="{E41A4A1C-29BD-587F-5ABD-FDD004F7494C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TextBox 6">
                    <a:extLst>
                      <a:ext uri="{FF2B5EF4-FFF2-40B4-BE49-F238E27FC236}">
                        <a16:creationId xmlns:a16="http://schemas.microsoft.com/office/drawing/2014/main" xmlns="" id="{931D78C3-4623-B925-47BF-B91AA98F3A6A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TextBox 7">
                    <a:extLst>
                      <a:ext uri="{FF2B5EF4-FFF2-40B4-BE49-F238E27FC236}">
                        <a16:creationId xmlns:a16="http://schemas.microsoft.com/office/drawing/2014/main" xmlns="" id="{94791710-53C8-DCBE-2A13-8F9EBA3A5110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5" name="Oval 8">
                <a:extLst>
                  <a:ext uri="{FF2B5EF4-FFF2-40B4-BE49-F238E27FC236}">
                    <a16:creationId xmlns:a16="http://schemas.microsoft.com/office/drawing/2014/main" xmlns="" id="{B58B7B66-6147-70B6-C6C8-E98A251D8D38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6" name="Oval 9">
                <a:extLst>
                  <a:ext uri="{FF2B5EF4-FFF2-40B4-BE49-F238E27FC236}">
                    <a16:creationId xmlns:a16="http://schemas.microsoft.com/office/drawing/2014/main" xmlns="" id="{0FB5920C-58F2-09E2-B1B3-E8F6C9AE4FC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7" name="Oval 10">
                <a:extLst>
                  <a:ext uri="{FF2B5EF4-FFF2-40B4-BE49-F238E27FC236}">
                    <a16:creationId xmlns:a16="http://schemas.microsoft.com/office/drawing/2014/main" xmlns="" id="{42189AD4-DA86-B2BE-B50A-46F4C14C1B22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8" name="Oval 11">
                <a:extLst>
                  <a:ext uri="{FF2B5EF4-FFF2-40B4-BE49-F238E27FC236}">
                    <a16:creationId xmlns:a16="http://schemas.microsoft.com/office/drawing/2014/main" xmlns="" id="{E5D84EE4-FDEB-915C-C95B-9E475CCFDB74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9" name="Oval 12">
                <a:extLst>
                  <a:ext uri="{FF2B5EF4-FFF2-40B4-BE49-F238E27FC236}">
                    <a16:creationId xmlns:a16="http://schemas.microsoft.com/office/drawing/2014/main" xmlns="" id="{158F6918-0D90-D666-D9AD-19FA1A2D1732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0" name="Oval 13">
                <a:extLst>
                  <a:ext uri="{FF2B5EF4-FFF2-40B4-BE49-F238E27FC236}">
                    <a16:creationId xmlns:a16="http://schemas.microsoft.com/office/drawing/2014/main" xmlns="" id="{865677FE-CF22-67D8-3C99-1ADD611479BB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1" name="Oval 14">
                <a:extLst>
                  <a:ext uri="{FF2B5EF4-FFF2-40B4-BE49-F238E27FC236}">
                    <a16:creationId xmlns:a16="http://schemas.microsoft.com/office/drawing/2014/main" xmlns="" id="{5063E2AB-2EC8-0A92-28CB-89F582AE6260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2" name="Oval 15">
                <a:extLst>
                  <a:ext uri="{FF2B5EF4-FFF2-40B4-BE49-F238E27FC236}">
                    <a16:creationId xmlns:a16="http://schemas.microsoft.com/office/drawing/2014/main" xmlns="" id="{6EC84DF7-6661-CBEC-3E28-0596109C3AAC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3" name="Oval 16">
                <a:extLst>
                  <a:ext uri="{FF2B5EF4-FFF2-40B4-BE49-F238E27FC236}">
                    <a16:creationId xmlns:a16="http://schemas.microsoft.com/office/drawing/2014/main" xmlns="" id="{8CE3AC63-4268-CFC7-6E75-C11A7DF5655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4" name="Oval 17">
                <a:extLst>
                  <a:ext uri="{FF2B5EF4-FFF2-40B4-BE49-F238E27FC236}">
                    <a16:creationId xmlns:a16="http://schemas.microsoft.com/office/drawing/2014/main" xmlns="" id="{DBEC6B39-4A77-DBE6-2BF7-AD9DFBA3058C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5" name="Oval 18">
                <a:extLst>
                  <a:ext uri="{FF2B5EF4-FFF2-40B4-BE49-F238E27FC236}">
                    <a16:creationId xmlns:a16="http://schemas.microsoft.com/office/drawing/2014/main" xmlns="" id="{DBA0AF13-CCAF-F6A7-F775-94F351B47096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6" name="Oval 19">
                <a:extLst>
                  <a:ext uri="{FF2B5EF4-FFF2-40B4-BE49-F238E27FC236}">
                    <a16:creationId xmlns:a16="http://schemas.microsoft.com/office/drawing/2014/main" xmlns="" id="{2E6CA247-69A8-EF52-B909-A41C48B47CEF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7" name="Oval 20">
                <a:extLst>
                  <a:ext uri="{FF2B5EF4-FFF2-40B4-BE49-F238E27FC236}">
                    <a16:creationId xmlns:a16="http://schemas.microsoft.com/office/drawing/2014/main" xmlns="" id="{5DA1C2F3-72FA-4FAE-C967-F9AEA2F281AB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8" name="Oval 21">
                <a:extLst>
                  <a:ext uri="{FF2B5EF4-FFF2-40B4-BE49-F238E27FC236}">
                    <a16:creationId xmlns:a16="http://schemas.microsoft.com/office/drawing/2014/main" xmlns="" id="{D2DD0E29-D11A-2BD0-7360-23D62322B7DE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9" name="Oval 22">
                <a:extLst>
                  <a:ext uri="{FF2B5EF4-FFF2-40B4-BE49-F238E27FC236}">
                    <a16:creationId xmlns:a16="http://schemas.microsoft.com/office/drawing/2014/main" xmlns="" id="{FBC5F4E4-9812-F6AC-52DB-B0645F3C234E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0" name="Oval 23">
                <a:extLst>
                  <a:ext uri="{FF2B5EF4-FFF2-40B4-BE49-F238E27FC236}">
                    <a16:creationId xmlns:a16="http://schemas.microsoft.com/office/drawing/2014/main" xmlns="" id="{112EE231-EF39-7954-2D2E-E44FC1AA2E8A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1" name="Oval 24">
                <a:extLst>
                  <a:ext uri="{FF2B5EF4-FFF2-40B4-BE49-F238E27FC236}">
                    <a16:creationId xmlns:a16="http://schemas.microsoft.com/office/drawing/2014/main" xmlns="" id="{B597EDEF-81A5-D0D4-5E5C-30D3A0C1B49F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2" name="Oval 25">
                <a:extLst>
                  <a:ext uri="{FF2B5EF4-FFF2-40B4-BE49-F238E27FC236}">
                    <a16:creationId xmlns:a16="http://schemas.microsoft.com/office/drawing/2014/main" xmlns="" id="{275D7CDA-AE65-67FC-F325-64E41DC64EF5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3" name="Oval 26">
                <a:extLst>
                  <a:ext uri="{FF2B5EF4-FFF2-40B4-BE49-F238E27FC236}">
                    <a16:creationId xmlns:a16="http://schemas.microsoft.com/office/drawing/2014/main" xmlns="" id="{6D71B0C9-444A-8565-F574-01A5D142D79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4" name="Oval 27">
                <a:extLst>
                  <a:ext uri="{FF2B5EF4-FFF2-40B4-BE49-F238E27FC236}">
                    <a16:creationId xmlns:a16="http://schemas.microsoft.com/office/drawing/2014/main" xmlns="" id="{31626273-3889-1DF5-64F7-313551ACDE9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5" name="Multiply 28">
                <a:extLst>
                  <a:ext uri="{FF2B5EF4-FFF2-40B4-BE49-F238E27FC236}">
                    <a16:creationId xmlns:a16="http://schemas.microsoft.com/office/drawing/2014/main" xmlns="" id="{DE03C3FF-8C48-59F5-2CC2-10EB5386EB20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6" name="Multiply 29">
                <a:extLst>
                  <a:ext uri="{FF2B5EF4-FFF2-40B4-BE49-F238E27FC236}">
                    <a16:creationId xmlns:a16="http://schemas.microsoft.com/office/drawing/2014/main" xmlns="" id="{85CCF03D-3935-F46E-1EAD-176ED6CBB1A8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7" name="Multiply 30">
                <a:extLst>
                  <a:ext uri="{FF2B5EF4-FFF2-40B4-BE49-F238E27FC236}">
                    <a16:creationId xmlns:a16="http://schemas.microsoft.com/office/drawing/2014/main" xmlns="" id="{720AE1C1-936D-8CA0-6F44-09B409D6E781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8" name="Multiply 31">
                <a:extLst>
                  <a:ext uri="{FF2B5EF4-FFF2-40B4-BE49-F238E27FC236}">
                    <a16:creationId xmlns:a16="http://schemas.microsoft.com/office/drawing/2014/main" xmlns="" id="{70033D10-04F9-613C-00B0-80212568D6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9" name="Multiply 32">
                <a:extLst>
                  <a:ext uri="{FF2B5EF4-FFF2-40B4-BE49-F238E27FC236}">
                    <a16:creationId xmlns:a16="http://schemas.microsoft.com/office/drawing/2014/main" xmlns="" id="{DB2F60AA-7E03-796C-54E7-A1D786D42542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0" name="Multiply 33">
                <a:extLst>
                  <a:ext uri="{FF2B5EF4-FFF2-40B4-BE49-F238E27FC236}">
                    <a16:creationId xmlns:a16="http://schemas.microsoft.com/office/drawing/2014/main" xmlns="" id="{6C0E2F95-7FD9-283A-2561-1BA458F3E561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1" name="Multiply 34">
                <a:extLst>
                  <a:ext uri="{FF2B5EF4-FFF2-40B4-BE49-F238E27FC236}">
                    <a16:creationId xmlns:a16="http://schemas.microsoft.com/office/drawing/2014/main" xmlns="" id="{EC9B6437-26FD-CC78-18C6-41E80492A9C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2" name="Oval 35">
                <a:extLst>
                  <a:ext uri="{FF2B5EF4-FFF2-40B4-BE49-F238E27FC236}">
                    <a16:creationId xmlns:a16="http://schemas.microsoft.com/office/drawing/2014/main" xmlns="" id="{4BEE827C-B00E-D7D7-CB52-FC429A973867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3" name="Oval 36">
                <a:extLst>
                  <a:ext uri="{FF2B5EF4-FFF2-40B4-BE49-F238E27FC236}">
                    <a16:creationId xmlns:a16="http://schemas.microsoft.com/office/drawing/2014/main" xmlns="" id="{32AC3645-9686-A0B2-7569-C326DF568A19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4" name="Oval 37">
                <a:extLst>
                  <a:ext uri="{FF2B5EF4-FFF2-40B4-BE49-F238E27FC236}">
                    <a16:creationId xmlns:a16="http://schemas.microsoft.com/office/drawing/2014/main" xmlns="" id="{4C7E43DF-9314-F57B-842F-45024B3BF233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5" name="Multiply 38">
                <a:extLst>
                  <a:ext uri="{FF2B5EF4-FFF2-40B4-BE49-F238E27FC236}">
                    <a16:creationId xmlns:a16="http://schemas.microsoft.com/office/drawing/2014/main" xmlns="" id="{10C4FB25-D209-F9B3-8896-91D72068479B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6" name="Multiply 39">
                <a:extLst>
                  <a:ext uri="{FF2B5EF4-FFF2-40B4-BE49-F238E27FC236}">
                    <a16:creationId xmlns:a16="http://schemas.microsoft.com/office/drawing/2014/main" xmlns="" id="{416B28E7-3BBB-C38C-1064-2CAD2BD04EE5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7" name="Multiply 40">
                <a:extLst>
                  <a:ext uri="{FF2B5EF4-FFF2-40B4-BE49-F238E27FC236}">
                    <a16:creationId xmlns:a16="http://schemas.microsoft.com/office/drawing/2014/main" xmlns="" id="{88EBB636-F22A-87B1-E68E-A9BF68BD4B42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8" name="Multiply 41">
                <a:extLst>
                  <a:ext uri="{FF2B5EF4-FFF2-40B4-BE49-F238E27FC236}">
                    <a16:creationId xmlns:a16="http://schemas.microsoft.com/office/drawing/2014/main" xmlns="" id="{FB4EDB4D-8326-7D04-5F26-29F508291C32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9" name="Multiply 42">
                <a:extLst>
                  <a:ext uri="{FF2B5EF4-FFF2-40B4-BE49-F238E27FC236}">
                    <a16:creationId xmlns:a16="http://schemas.microsoft.com/office/drawing/2014/main" xmlns="" id="{F8412155-FF77-ED3B-888B-0EB7C988ED89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0" name="Multiply 43">
                <a:extLst>
                  <a:ext uri="{FF2B5EF4-FFF2-40B4-BE49-F238E27FC236}">
                    <a16:creationId xmlns:a16="http://schemas.microsoft.com/office/drawing/2014/main" xmlns="" id="{8B3A850C-AD94-F319-020F-3F9E4BAA9A08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1" name="Multiply 44">
                <a:extLst>
                  <a:ext uri="{FF2B5EF4-FFF2-40B4-BE49-F238E27FC236}">
                    <a16:creationId xmlns:a16="http://schemas.microsoft.com/office/drawing/2014/main" xmlns="" id="{4D88A13B-5E64-F59F-CA8B-906983BBF15E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2" name="Multiply 45">
                <a:extLst>
                  <a:ext uri="{FF2B5EF4-FFF2-40B4-BE49-F238E27FC236}">
                    <a16:creationId xmlns:a16="http://schemas.microsoft.com/office/drawing/2014/main" xmlns="" id="{58DEE3F5-0586-8AFA-E9F3-1AB9FC1B5319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3" name="Multiply 46">
                <a:extLst>
                  <a:ext uri="{FF2B5EF4-FFF2-40B4-BE49-F238E27FC236}">
                    <a16:creationId xmlns:a16="http://schemas.microsoft.com/office/drawing/2014/main" xmlns="" id="{F3ECCEDD-9521-E1EF-8635-26975E3FF1BE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4" name="Multiply 47">
                <a:extLst>
                  <a:ext uri="{FF2B5EF4-FFF2-40B4-BE49-F238E27FC236}">
                    <a16:creationId xmlns:a16="http://schemas.microsoft.com/office/drawing/2014/main" xmlns="" id="{EB8B4713-13AC-9E0A-C462-2BE54B80C733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5" name="Multiply 48">
                <a:extLst>
                  <a:ext uri="{FF2B5EF4-FFF2-40B4-BE49-F238E27FC236}">
                    <a16:creationId xmlns:a16="http://schemas.microsoft.com/office/drawing/2014/main" xmlns="" id="{DB738329-18E7-2CC0-9FDE-FC82161127B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6" name="Freeform 49">
                <a:extLst>
                  <a:ext uri="{FF2B5EF4-FFF2-40B4-BE49-F238E27FC236}">
                    <a16:creationId xmlns:a16="http://schemas.microsoft.com/office/drawing/2014/main" xmlns="" id="{EF02DAB4-9BD5-8F7A-BA87-318D3E91F6C1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00" name="Retângulo 99">
              <a:extLst>
                <a:ext uri="{FF2B5EF4-FFF2-40B4-BE49-F238E27FC236}">
                  <a16:creationId xmlns:a16="http://schemas.microsoft.com/office/drawing/2014/main" xmlns="" id="{D993783E-656B-0AE4-E0FA-4EC492BBA24F}"/>
                </a:ext>
              </a:extLst>
            </p:cNvPr>
            <p:cNvSpPr/>
            <p:nvPr/>
          </p:nvSpPr>
          <p:spPr>
            <a:xfrm>
              <a:off x="10444717" y="4401237"/>
              <a:ext cx="225562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</p:spTree>
    <p:extLst>
      <p:ext uri="{BB962C8B-B14F-4D97-AF65-F5344CB8AC3E}">
        <p14:creationId xmlns:p14="http://schemas.microsoft.com/office/powerpoint/2010/main" val="23834074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segunda figura, a </a:t>
            </a:r>
            <a:r>
              <a:rPr lang="pt-BR" b="1" i="1" dirty="0"/>
              <a:t>flexibilidade excessiva </a:t>
            </a:r>
            <a:r>
              <a:rPr lang="pt-BR" dirty="0"/>
              <a:t>do polinômio (i.e., ordem elevada) dá origem a contorções na </a:t>
            </a:r>
            <a:r>
              <a:rPr lang="pt-BR" b="1" i="1" dirty="0"/>
              <a:t>fronteira de decisão </a:t>
            </a:r>
            <a:r>
              <a:rPr lang="pt-BR" dirty="0"/>
              <a:t>na tentativa de </a:t>
            </a:r>
            <a:r>
              <a:rPr lang="pt-BR" b="1" i="1" dirty="0">
                <a:solidFill>
                  <a:srgbClr val="7030A0"/>
                </a:solidFill>
              </a:rPr>
              <a:t>minimizar o erro</a:t>
            </a:r>
            <a:r>
              <a:rPr lang="pt-BR" dirty="0"/>
              <a:t> de classificação </a:t>
            </a:r>
            <a:r>
              <a:rPr lang="pt-BR" b="1" i="1" dirty="0">
                <a:solidFill>
                  <a:srgbClr val="7030A0"/>
                </a:solidFill>
              </a:rPr>
              <a:t>junto aos dados de treinamento</a:t>
            </a:r>
            <a:r>
              <a:rPr lang="pt-BR" dirty="0"/>
              <a:t>.</a:t>
            </a:r>
          </a:p>
          <a:p>
            <a:r>
              <a:rPr lang="pt-BR" dirty="0"/>
              <a:t>Porém, o classificador cometerá muitos erros para dados inéditos, </a:t>
            </a:r>
            <a:r>
              <a:rPr lang="pt-BR" dirty="0" smtClean="0"/>
              <a:t>i.e., </a:t>
            </a:r>
            <a:r>
              <a:rPr lang="pt-BR" b="1" i="1" dirty="0">
                <a:solidFill>
                  <a:srgbClr val="FF0000"/>
                </a:solidFill>
              </a:rPr>
              <a:t>não irá generalizar bem</a:t>
            </a:r>
            <a:r>
              <a:rPr lang="pt-BR" dirty="0"/>
              <a:t>.</a:t>
            </a:r>
          </a:p>
          <a:p>
            <a:r>
              <a:rPr lang="pt-BR" dirty="0"/>
              <a:t>Nesse caso o classificador apresenta </a:t>
            </a:r>
            <a:r>
              <a:rPr lang="pt-BR" b="1" i="1" dirty="0">
                <a:solidFill>
                  <a:srgbClr val="00B050"/>
                </a:solidFill>
              </a:rPr>
              <a:t>erro de treinamento muito baixo </a:t>
            </a:r>
            <a:r>
              <a:rPr lang="pt-BR" dirty="0"/>
              <a:t>e </a:t>
            </a:r>
            <a:r>
              <a:rPr lang="pt-BR" b="1" i="1" dirty="0">
                <a:solidFill>
                  <a:srgbClr val="FF0000"/>
                </a:solidFill>
              </a:rPr>
              <a:t>erro de</a:t>
            </a:r>
            <a:r>
              <a:rPr lang="pt-BR" dirty="0"/>
              <a:t> </a:t>
            </a:r>
            <a:r>
              <a:rPr lang="pt-BR" b="1" i="1" dirty="0">
                <a:solidFill>
                  <a:srgbClr val="FF0000"/>
                </a:solidFill>
              </a:rPr>
              <a:t>teste muito alto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78247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759121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883783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877775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xmlns="" id="{B709F5F5-D010-140C-54BC-ECD9C9D3BDAC}"/>
              </a:ext>
            </a:extLst>
          </p:cNvPr>
          <p:cNvGrpSpPr/>
          <p:nvPr/>
        </p:nvGrpSpPr>
        <p:grpSpPr>
          <a:xfrm>
            <a:off x="9002294" y="4577699"/>
            <a:ext cx="3151778" cy="2231772"/>
            <a:chOff x="9487183" y="4506280"/>
            <a:chExt cx="3151778" cy="223177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xmlns="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xmlns="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xmlns="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xmlns="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xmlns="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xmlns="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xmlns="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xmlns="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xmlns="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xmlns="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xmlns="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xmlns="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xmlns="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xmlns="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xmlns="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xmlns="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xmlns="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xmlns="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xmlns="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xmlns="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xmlns="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xmlns="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xmlns="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xmlns="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xmlns="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xmlns="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xmlns="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xmlns="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xmlns="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xmlns="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xmlns="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xmlns="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xmlns="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xmlns="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xmlns="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xmlns="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xmlns="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xmlns="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xmlns="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xmlns="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xmlns="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xmlns="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xmlns="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xmlns="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xmlns="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xmlns="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xmlns="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xmlns="" id="{F412AD0E-B6FE-48A9-2E60-A151396B0E54}"/>
                </a:ext>
              </a:extLst>
            </p:cNvPr>
            <p:cNvSpPr/>
            <p:nvPr/>
          </p:nvSpPr>
          <p:spPr>
            <a:xfrm>
              <a:off x="10323051" y="4506280"/>
              <a:ext cx="231591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588821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Já a última figura mostra o que seria uma boa </a:t>
            </a:r>
            <a:r>
              <a:rPr lang="pt-BR" b="1" i="1" dirty="0"/>
              <a:t>hipótese de classificação</a:t>
            </a:r>
            <a:r>
              <a:rPr lang="pt-BR" dirty="0"/>
              <a:t>.</a:t>
            </a:r>
          </a:p>
          <a:p>
            <a:r>
              <a:rPr lang="pt-BR" dirty="0"/>
              <a:t>O polinômio </a:t>
            </a:r>
            <a:r>
              <a:rPr lang="pt-BR" dirty="0" smtClean="0"/>
              <a:t>usado apresenta </a:t>
            </a:r>
            <a:r>
              <a:rPr lang="pt-BR" dirty="0"/>
              <a:t>uma </a:t>
            </a:r>
            <a:r>
              <a:rPr lang="pt-BR" b="1" i="1" dirty="0">
                <a:solidFill>
                  <a:srgbClr val="00B050"/>
                </a:solidFill>
              </a:rPr>
              <a:t>boa relação de compromisso </a:t>
            </a:r>
            <a:r>
              <a:rPr lang="pt-BR" dirty="0"/>
              <a:t>entre a </a:t>
            </a:r>
            <a:r>
              <a:rPr lang="pt-BR" b="1" i="1" dirty="0">
                <a:solidFill>
                  <a:srgbClr val="00B050"/>
                </a:solidFill>
              </a:rPr>
              <a:t>flexibilidade</a:t>
            </a:r>
            <a:r>
              <a:rPr lang="pt-BR" dirty="0"/>
              <a:t> e a </a:t>
            </a:r>
            <a:r>
              <a:rPr lang="pt-BR" b="1" i="1" dirty="0">
                <a:solidFill>
                  <a:srgbClr val="00B050"/>
                </a:solidFill>
              </a:rPr>
              <a:t>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Os erros nos conjuntos de treinamento e de teste seriam </a:t>
            </a:r>
            <a:r>
              <a:rPr lang="pt-BR" b="1" i="1" dirty="0">
                <a:solidFill>
                  <a:srgbClr val="00B050"/>
                </a:solidFill>
              </a:rPr>
              <a:t>baixos e próximos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xmlns="" id="{B709F5F5-D010-140C-54BC-ECD9C9D3BDAC}"/>
              </a:ext>
            </a:extLst>
          </p:cNvPr>
          <p:cNvGrpSpPr/>
          <p:nvPr/>
        </p:nvGrpSpPr>
        <p:grpSpPr>
          <a:xfrm>
            <a:off x="9002294" y="4452345"/>
            <a:ext cx="3181757" cy="2276742"/>
            <a:chOff x="9487183" y="4461310"/>
            <a:chExt cx="3181757" cy="227674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xmlns="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xmlns="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xmlns="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xmlns="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xmlns="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xmlns="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xmlns="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xmlns="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xmlns="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xmlns="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xmlns="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xmlns="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xmlns="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xmlns="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xmlns="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xmlns="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xmlns="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xmlns="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xmlns="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xmlns="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xmlns="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xmlns="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xmlns="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xmlns="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xmlns="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xmlns="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xmlns="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xmlns="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xmlns="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xmlns="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xmlns="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xmlns="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xmlns="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xmlns="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xmlns="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xmlns="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xmlns="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xmlns="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xmlns="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xmlns="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xmlns="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xmlns="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xmlns="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xmlns="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xmlns="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xmlns="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xmlns="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xmlns="" id="{F412AD0E-B6FE-48A9-2E60-A151396B0E54}"/>
                </a:ext>
              </a:extLst>
            </p:cNvPr>
            <p:cNvSpPr/>
            <p:nvPr/>
          </p:nvSpPr>
          <p:spPr>
            <a:xfrm>
              <a:off x="10443465" y="4461310"/>
              <a:ext cx="2225475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93053727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51263" y="2452643"/>
            <a:ext cx="10515600" cy="196260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evitamos o </a:t>
            </a:r>
            <a:r>
              <a:rPr lang="pt-BR" sz="6000" dirty="0" err="1"/>
              <a:t>subajuste</a:t>
            </a:r>
            <a:r>
              <a:rPr lang="pt-BR" sz="6000" dirty="0"/>
              <a:t> e </a:t>
            </a:r>
            <a:r>
              <a:rPr lang="pt-BR" sz="6000" dirty="0" err="1"/>
              <a:t>sobreajuste</a:t>
            </a:r>
            <a:r>
              <a:rPr lang="pt-BR" sz="60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5115023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21965B5D-719E-23AA-7D7E-5C2AA6EB73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68722" y="1825625"/>
                <a:ext cx="6069204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Quando não conhecemos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melhor ordem para o polinômio</a:t>
                </a:r>
                <a:r>
                  <a:rPr lang="pt-BR" dirty="0"/>
                  <a:t> da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podemos usar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técnicas de validação cruzada</a:t>
                </a:r>
                <a:r>
                  <a:rPr lang="pt-BR" dirty="0">
                    <a:solidFill>
                      <a:schemeClr val="accent2"/>
                    </a:solidFill>
                  </a:rPr>
                  <a:t> </a:t>
                </a:r>
                <a:r>
                  <a:rPr lang="pt-BR" dirty="0"/>
                  <a:t>(e.g., </a:t>
                </a:r>
                <a:r>
                  <a:rPr lang="pt-BR" i="1" dirty="0" err="1"/>
                  <a:t>holdout</a:t>
                </a:r>
                <a:r>
                  <a:rPr lang="pt-BR" dirty="0"/>
                  <a:t> ou </a:t>
                </a:r>
                <a:r>
                  <a:rPr lang="pt-BR" i="1" dirty="0"/>
                  <a:t>k-</a:t>
                </a:r>
                <a:r>
                  <a:rPr lang="pt-BR" i="1" dirty="0" err="1"/>
                  <a:t>fold</a:t>
                </a:r>
                <a:r>
                  <a:rPr lang="pt-BR" i="1" dirty="0"/>
                  <a:t>)</a:t>
                </a:r>
                <a:r>
                  <a:rPr lang="pt-BR" dirty="0"/>
                  <a:t> para encontra-lo.</a:t>
                </a:r>
              </a:p>
              <a:p>
                <a:r>
                  <a:rPr lang="pt-BR" dirty="0"/>
                  <a:t>Esses técnicas nos auxiliam a encontrar um polinômio que apresente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relação de compromisso entre flexibilidade e capacidade de generalização</a:t>
                </a:r>
                <a:r>
                  <a:rPr lang="pt-BR" dirty="0"/>
                  <a:t>, evitando assim os dois problemas.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1965B5D-719E-23AA-7D7E-5C2AA6EB73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68722" y="1825625"/>
                <a:ext cx="6069204" cy="5032376"/>
              </a:xfrm>
              <a:blipFill>
                <a:blip r:embed="rId2"/>
                <a:stretch>
                  <a:fillRect l="-1807" t="-1937" r="-32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Cross-Validation: K Fold vs Monte Carlo | by Rebecca Patro | Towards Data  Science">
            <a:extLst>
              <a:ext uri="{FF2B5EF4-FFF2-40B4-BE49-F238E27FC236}">
                <a16:creationId xmlns:a16="http://schemas.microsoft.com/office/drawing/2014/main" xmlns="" id="{59ABA5C6-BECA-6DCB-AB07-53EEA099B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13" y="2723102"/>
            <a:ext cx="5555024" cy="249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F026CA56-BDFD-05E1-4E35-83187109EF30}"/>
              </a:ext>
            </a:extLst>
          </p:cNvPr>
          <p:cNvSpPr txBox="1"/>
          <p:nvPr/>
        </p:nvSpPr>
        <p:spPr>
          <a:xfrm>
            <a:off x="838200" y="2133190"/>
            <a:ext cx="3211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k-</a:t>
            </a:r>
            <a:r>
              <a:rPr lang="pt-BR" sz="2400" b="1" i="1" dirty="0" err="1"/>
              <a:t>fold</a:t>
            </a:r>
            <a:endParaRPr lang="pt-BR" sz="2400" b="1" i="1" dirty="0"/>
          </a:p>
        </p:txBody>
      </p:sp>
    </p:spTree>
    <p:extLst>
      <p:ext uri="{BB962C8B-B14F-4D97-AF65-F5344CB8AC3E}">
        <p14:creationId xmlns:p14="http://schemas.microsoft.com/office/powerpoint/2010/main" val="27296218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5916" y="1825625"/>
            <a:ext cx="6652009" cy="5032376"/>
          </a:xfrm>
        </p:spPr>
        <p:txBody>
          <a:bodyPr>
            <a:normAutofit/>
          </a:bodyPr>
          <a:lstStyle/>
          <a:p>
            <a:r>
              <a:rPr lang="pt-BR" dirty="0"/>
              <a:t>Uma forma de </a:t>
            </a:r>
            <a:r>
              <a:rPr lang="pt-BR" b="1" i="1" dirty="0">
                <a:solidFill>
                  <a:srgbClr val="7030A0"/>
                </a:solidFill>
              </a:rPr>
              <a:t>evitar </a:t>
            </a:r>
            <a:r>
              <a:rPr lang="pt-BR" b="1" i="1" dirty="0">
                <a:solidFill>
                  <a:schemeClr val="accent2"/>
                </a:solidFill>
              </a:rPr>
              <a:t>apenas</a:t>
            </a:r>
            <a:r>
              <a:rPr lang="pt-BR" b="1" i="1" dirty="0">
                <a:solidFill>
                  <a:srgbClr val="7030A0"/>
                </a:solidFill>
              </a:rPr>
              <a:t> problemas de sobreajuste</a:t>
            </a:r>
            <a:r>
              <a:rPr lang="pt-BR" dirty="0"/>
              <a:t> é usar </a:t>
            </a:r>
            <a:r>
              <a:rPr lang="pt-BR" b="1" i="1" dirty="0">
                <a:solidFill>
                  <a:srgbClr val="00B050"/>
                </a:solidFill>
              </a:rPr>
              <a:t>técnicas de regularização </a:t>
            </a:r>
            <a:r>
              <a:rPr lang="pt-BR" dirty="0"/>
              <a:t>(e.g., LASSO, Ridge, </a:t>
            </a:r>
            <a:r>
              <a:rPr lang="pt-BR" i="1" dirty="0"/>
              <a:t>Elastic-Net</a:t>
            </a:r>
            <a:r>
              <a:rPr lang="pt-BR" dirty="0"/>
              <a:t>, </a:t>
            </a:r>
            <a:r>
              <a:rPr lang="pt-BR" i="1" dirty="0"/>
              <a:t>Early-stopping</a:t>
            </a:r>
            <a:r>
              <a:rPr lang="pt-BR" dirty="0"/>
              <a:t>).</a:t>
            </a:r>
          </a:p>
          <a:p>
            <a:r>
              <a:rPr lang="pt-BR" dirty="0"/>
              <a:t>A regularização </a:t>
            </a:r>
            <a:r>
              <a:rPr lang="pt-BR" b="1" i="1" dirty="0">
                <a:solidFill>
                  <a:srgbClr val="00B050"/>
                </a:solidFill>
              </a:rPr>
              <a:t>r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eduz a flexibilidade </a:t>
            </a:r>
            <a:r>
              <a:rPr lang="pt-BR" b="0" i="0" dirty="0">
                <a:effectLst/>
              </a:rPr>
              <a:t>do modelo por meio de </a:t>
            </a:r>
            <a:r>
              <a:rPr lang="pt-BR" b="1" i="1" dirty="0">
                <a:solidFill>
                  <a:srgbClr val="FF0000"/>
                </a:solidFill>
                <a:effectLst/>
              </a:rPr>
              <a:t>penalizações</a:t>
            </a:r>
            <a:r>
              <a:rPr lang="pt-BR" b="0" i="0" dirty="0">
                <a:effectLst/>
              </a:rPr>
              <a:t> aplicadas a seus pesos.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Modelos que se </a:t>
            </a:r>
            <a:r>
              <a:rPr lang="pt-BR" b="1" i="1" dirty="0">
                <a:solidFill>
                  <a:srgbClr val="7030A0"/>
                </a:solidFill>
              </a:rPr>
              <a:t>sobreajustam</a:t>
            </a:r>
            <a:r>
              <a:rPr lang="pt-BR" dirty="0"/>
              <a:t> têm </a:t>
            </a:r>
            <a:r>
              <a:rPr lang="pt-BR" b="1" i="1" dirty="0">
                <a:solidFill>
                  <a:srgbClr val="FF0000"/>
                </a:solidFill>
              </a:rPr>
              <a:t>pesos com valores absolutos muito altos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que as técnicas de regularização fazem é </a:t>
            </a:r>
            <a:r>
              <a:rPr lang="pt-BR" b="1" i="1" dirty="0">
                <a:solidFill>
                  <a:srgbClr val="00B050"/>
                </a:solidFill>
              </a:rPr>
              <a:t>restringir o aumento</a:t>
            </a:r>
            <a:r>
              <a:rPr lang="pt-BR" dirty="0"/>
              <a:t> dos pesos a uma </a:t>
            </a:r>
            <a:r>
              <a:rPr lang="pt-BR" b="1" i="1" dirty="0"/>
              <a:t>região</a:t>
            </a:r>
            <a:r>
              <a:rPr lang="pt-BR" dirty="0"/>
              <a:t> de possíveis valores.</a:t>
            </a:r>
          </a:p>
        </p:txBody>
      </p:sp>
      <p:pic>
        <p:nvPicPr>
          <p:cNvPr id="2052" name="Picture 4" descr="Regularization | Regularization Techniques in Machine Learning">
            <a:extLst>
              <a:ext uri="{FF2B5EF4-FFF2-40B4-BE49-F238E27FC236}">
                <a16:creationId xmlns:a16="http://schemas.microsoft.com/office/drawing/2014/main" xmlns="" id="{DBEAA147-DD30-5BD1-7D88-D1E0DA2EEA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9" t="4263" r="3503" b="13944"/>
          <a:stretch/>
        </p:blipFill>
        <p:spPr bwMode="auto">
          <a:xfrm>
            <a:off x="224413" y="2586185"/>
            <a:ext cx="4943790" cy="272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07C3999F-E11E-BEA4-B848-576DAA84A093}"/>
              </a:ext>
            </a:extLst>
          </p:cNvPr>
          <p:cNvSpPr txBox="1"/>
          <p:nvPr/>
        </p:nvSpPr>
        <p:spPr>
          <a:xfrm>
            <a:off x="224413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LASSO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E21A5017-C486-6341-CE55-AA6B086B7AFD}"/>
              </a:ext>
            </a:extLst>
          </p:cNvPr>
          <p:cNvSpPr txBox="1"/>
          <p:nvPr/>
        </p:nvSpPr>
        <p:spPr>
          <a:xfrm>
            <a:off x="3212124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Ridge</a:t>
            </a:r>
          </a:p>
        </p:txBody>
      </p:sp>
    </p:spTree>
    <p:extLst>
      <p:ext uri="{BB962C8B-B14F-4D97-AF65-F5344CB8AC3E}">
        <p14:creationId xmlns:p14="http://schemas.microsoft.com/office/powerpoint/2010/main" val="31709540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T320 - Quiz - Classificação (Parte III)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#3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71607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951780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0A78A2E-6E03-2C97-4148-5EE803DD5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23898"/>
            <a:ext cx="10515600" cy="181020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Encontrando o vetor gradiente do regressor logístico</a:t>
            </a:r>
          </a:p>
        </p:txBody>
      </p:sp>
    </p:spTree>
    <p:extLst>
      <p:ext uri="{BB962C8B-B14F-4D97-AF65-F5344CB8AC3E}">
        <p14:creationId xmlns:p14="http://schemas.microsoft.com/office/powerpoint/2010/main" val="8675715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Antes de encontrarmos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vamos reescrever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utilizando as seguintes equivalências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 nova expressão para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>
                          <a:latin typeface="Cambria Math" panose="02040503050406030204" pitchFamily="18" charset="0"/>
                        </a:rPr>
                        <m:t>+(1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pt-BR" dirty="0"/>
              </a:p>
              <a:p>
                <a:endParaRPr lang="pt-BR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8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25742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termo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 é cancelado com um dos elementos gerados a partir do produto envolvido no segundo termo, de forma que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sz="2400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4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400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4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sz="2400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 então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func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Desta forma,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se torna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encontramos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cada termo da equação acima.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  <a:blipFill rotWithShape="0">
                <a:blip r:embed="rId2"/>
                <a:stretch>
                  <a:fillRect l="-1002" t="-753" b="-5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256079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3685"/>
            <a:ext cx="10515600" cy="1097915"/>
          </a:xfrm>
        </p:spPr>
        <p:txBody>
          <a:bodyPr>
            <a:normAutofit/>
          </a:bodyPr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Assim,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primeiro termo da equação anterior 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segundo termo da equação anterior é dado por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p>
                                          <m:sSup>
                                            <m:s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e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𝑇</m:t>
                                              </m:r>
                                            </m:sup>
                                          </m:sSup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Usamos a </a:t>
                </a:r>
                <a:r>
                  <a:rPr lang="pt-BR" b="1" i="1" dirty="0"/>
                  <a:t>regra da cadeia </a:t>
                </a:r>
                <a:r>
                  <a:rPr lang="pt-BR" dirty="0"/>
                  <a:t>para encontrar o vetor gradiente do segundo termo.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  <a:blipFill>
                <a:blip r:embed="rId2"/>
                <a:stretch>
                  <a:fillRect l="-981" t="-2594" b="-10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/>
          <p:cNvCxnSpPr/>
          <p:nvPr/>
        </p:nvCxnSpPr>
        <p:spPr>
          <a:xfrm flipH="1" flipV="1">
            <a:off x="3230880" y="4389120"/>
            <a:ext cx="356002" cy="15658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90431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combinando os 2 resultados anteriores, temos que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ctr">
                  <a:defRPr sz="1400"/>
                </a:lvl1pPr>
              </a:lstStyle>
              <a:p>
                <a:r>
                  <a:rPr lang="pt-BR" dirty="0"/>
                  <a:t>Forma matricial: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blipFill rotWithShape="0">
                <a:blip r:embed="rId4"/>
                <a:stretch>
                  <a:fillRect l="-1339" t="-1575" r="-4018" b="-3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/>
          <p:cNvCxnSpPr/>
          <p:nvPr/>
        </p:nvCxnSpPr>
        <p:spPr>
          <a:xfrm flipH="1">
            <a:off x="9814560" y="2407920"/>
            <a:ext cx="860698" cy="5424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73676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00614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6284895" y="1407719"/>
            <a:ext cx="135238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solidFill>
                  <a:srgbClr val="FF0000"/>
                </a:solidFill>
              </a:rPr>
              <a:t>Positivo verdadeiro</a:t>
            </a:r>
          </a:p>
          <a:p>
            <a:pPr algn="ctr"/>
            <a:r>
              <a:rPr lang="pt-BR" sz="1400" dirty="0">
                <a:solidFill>
                  <a:srgbClr val="FF0000"/>
                </a:solidFill>
              </a:rPr>
              <a:t>(true positive)</a:t>
            </a:r>
          </a:p>
        </p:txBody>
      </p:sp>
      <p:sp>
        <p:nvSpPr>
          <p:cNvPr id="3" name="Rectangle 2"/>
          <p:cNvSpPr/>
          <p:nvPr/>
        </p:nvSpPr>
        <p:spPr>
          <a:xfrm>
            <a:off x="7936069" y="1868838"/>
            <a:ext cx="1080000" cy="108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100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6069" y="1868838"/>
            <a:ext cx="1080000" cy="108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36069" y="2948838"/>
            <a:ext cx="1080000" cy="108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27061" y="2948838"/>
            <a:ext cx="1080000" cy="1080000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 rot="5400000">
            <a:off x="6375621" y="2764173"/>
            <a:ext cx="2160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Predicted label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30572" y="4251169"/>
            <a:ext cx="21654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True label</a:t>
            </a:r>
          </a:p>
        </p:txBody>
      </p:sp>
      <p:sp>
        <p:nvSpPr>
          <p:cNvPr id="37" name="TextBox 36"/>
          <p:cNvSpPr txBox="1"/>
          <p:nvPr/>
        </p:nvSpPr>
        <p:spPr>
          <a:xfrm rot="5400000">
            <a:off x="7236683" y="2254951"/>
            <a:ext cx="108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 rot="5400000">
            <a:off x="7243567" y="3334951"/>
            <a:ext cx="108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36069" y="4028838"/>
            <a:ext cx="108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16069" y="4032548"/>
            <a:ext cx="108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0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7426411" y="1710483"/>
            <a:ext cx="741238" cy="35843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182799" y="1927234"/>
            <a:ext cx="13103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solidFill>
                  <a:srgbClr val="FF0000"/>
                </a:solidFill>
              </a:rPr>
              <a:t>Positivo falso</a:t>
            </a:r>
          </a:p>
          <a:p>
            <a:pPr algn="ctr"/>
            <a:r>
              <a:rPr lang="pt-BR" sz="1400" dirty="0">
                <a:solidFill>
                  <a:srgbClr val="FF0000"/>
                </a:solidFill>
              </a:rPr>
              <a:t>(false positive)</a:t>
            </a:r>
          </a:p>
        </p:txBody>
      </p:sp>
      <p:cxnSp>
        <p:nvCxnSpPr>
          <p:cNvPr id="15" name="Straight Arrow Connector 14"/>
          <p:cNvCxnSpPr/>
          <p:nvPr/>
        </p:nvCxnSpPr>
        <p:spPr>
          <a:xfrm flipH="1">
            <a:off x="9757980" y="2146383"/>
            <a:ext cx="548575" cy="12645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73915" y="3673911"/>
            <a:ext cx="13656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solidFill>
                  <a:srgbClr val="FF0000"/>
                </a:solidFill>
              </a:rPr>
              <a:t>Negativo falso</a:t>
            </a:r>
          </a:p>
          <a:p>
            <a:pPr algn="ctr"/>
            <a:r>
              <a:rPr lang="pt-BR" sz="1400" dirty="0">
                <a:solidFill>
                  <a:srgbClr val="FF0000"/>
                </a:solidFill>
              </a:rPr>
              <a:t>(False negative)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 flipV="1">
            <a:off x="7389414" y="3738869"/>
            <a:ext cx="1152054" cy="1733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0128" y="3443390"/>
            <a:ext cx="13265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solidFill>
                  <a:srgbClr val="FF0000"/>
                </a:solidFill>
              </a:rPr>
              <a:t>Negativo verdadeiro</a:t>
            </a:r>
          </a:p>
          <a:p>
            <a:pPr algn="ctr"/>
            <a:r>
              <a:rPr lang="pt-BR" sz="1400" dirty="0">
                <a:solidFill>
                  <a:srgbClr val="FF0000"/>
                </a:solidFill>
              </a:rPr>
              <a:t>(true negative)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 flipH="1" flipV="1">
            <a:off x="9877238" y="3735492"/>
            <a:ext cx="503539" cy="44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Agrupar 1">
            <a:extLst>
              <a:ext uri="{FF2B5EF4-FFF2-40B4-BE49-F238E27FC236}">
                <a16:creationId xmlns:a16="http://schemas.microsoft.com/office/drawing/2014/main" xmlns="" id="{1CDFFFFC-8192-7919-7B13-5DC35374BC48}"/>
              </a:ext>
            </a:extLst>
          </p:cNvPr>
          <p:cNvGrpSpPr/>
          <p:nvPr/>
        </p:nvGrpSpPr>
        <p:grpSpPr>
          <a:xfrm>
            <a:off x="807621" y="1554888"/>
            <a:ext cx="4264646" cy="3867900"/>
            <a:chOff x="473795" y="2024060"/>
            <a:chExt cx="4264646" cy="38679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xmlns="" id="{765EBBE8-684D-00AF-53C1-01EFECAF7F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379" t="6664" r="8832"/>
            <a:stretch/>
          </p:blipFill>
          <p:spPr>
            <a:xfrm>
              <a:off x="617437" y="2024060"/>
              <a:ext cx="4121004" cy="376494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xmlns="" id="{2582792B-3C80-AD73-358C-054A3CBF463F}"/>
                    </a:ext>
                  </a:extLst>
                </p:cNvPr>
                <p:cNvSpPr txBox="1"/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2582792B-3C80-AD73-358C-054A3CBF46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blipFill>
                  <a:blip r:embed="rId4"/>
                  <a:stretch>
                    <a:fillRect t="-2344" r="-8929" b="-78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xmlns="" id="{8587B273-E9F7-096F-D0CE-D09C64803C0E}"/>
                    </a:ext>
                  </a:extLst>
                </p:cNvPr>
                <p:cNvSpPr txBox="1"/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id="{8587B273-E9F7-096F-D0CE-D09C64803C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blipFill>
                  <a:blip r:embed="rId5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6510635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Agrupar 60">
            <a:extLst>
              <a:ext uri="{FF2B5EF4-FFF2-40B4-BE49-F238E27FC236}">
                <a16:creationId xmlns:a16="http://schemas.microsoft.com/office/drawing/2014/main" xmlns="" id="{6CEAC2DF-B2DD-68B2-0671-2F3740FD26B3}"/>
              </a:ext>
            </a:extLst>
          </p:cNvPr>
          <p:cNvGrpSpPr/>
          <p:nvPr/>
        </p:nvGrpSpPr>
        <p:grpSpPr>
          <a:xfrm>
            <a:off x="7035798" y="2673307"/>
            <a:ext cx="2807332" cy="3344798"/>
            <a:chOff x="7035798" y="2673307"/>
            <a:chExt cx="2807332" cy="3344798"/>
          </a:xfrm>
        </p:grpSpPr>
        <p:sp>
          <p:nvSpPr>
            <p:cNvPr id="17" name="CaixaDeTexto 16">
              <a:extLst>
                <a:ext uri="{FF2B5EF4-FFF2-40B4-BE49-F238E27FC236}">
                  <a16:creationId xmlns:a16="http://schemas.microsoft.com/office/drawing/2014/main" xmlns="" id="{EA72D705-0EF8-C613-09E0-6BB9931A368C}"/>
                </a:ext>
              </a:extLst>
            </p:cNvPr>
            <p:cNvSpPr txBox="1"/>
            <p:nvPr/>
          </p:nvSpPr>
          <p:spPr>
            <a:xfrm>
              <a:off x="8095932" y="5494885"/>
              <a:ext cx="7905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</a:p>
          </p:txBody>
        </p:sp>
        <p:sp>
          <p:nvSpPr>
            <p:cNvPr id="36" name="Forma Livre: Forma 35">
              <a:extLst>
                <a:ext uri="{FF2B5EF4-FFF2-40B4-BE49-F238E27FC236}">
                  <a16:creationId xmlns:a16="http://schemas.microsoft.com/office/drawing/2014/main" xmlns="" id="{590FFF82-676D-D681-F915-3BF433BA72B9}"/>
                </a:ext>
              </a:extLst>
            </p:cNvPr>
            <p:cNvSpPr/>
            <p:nvPr/>
          </p:nvSpPr>
          <p:spPr>
            <a:xfrm>
              <a:off x="7902576" y="3045814"/>
              <a:ext cx="1231900" cy="2445896"/>
            </a:xfrm>
            <a:custGeom>
              <a:avLst/>
              <a:gdLst>
                <a:gd name="connsiteX0" fmla="*/ 0 w 1231900"/>
                <a:gd name="connsiteY0" fmla="*/ 12700 h 2479930"/>
                <a:gd name="connsiteX1" fmla="*/ 330200 w 1231900"/>
                <a:gd name="connsiteY1" fmla="*/ 1905000 h 2479930"/>
                <a:gd name="connsiteX2" fmla="*/ 711200 w 1231900"/>
                <a:gd name="connsiteY2" fmla="*/ 2362200 h 2479930"/>
                <a:gd name="connsiteX3" fmla="*/ 1231900 w 1231900"/>
                <a:gd name="connsiteY3" fmla="*/ 0 h 2479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31900" h="2479930">
                  <a:moveTo>
                    <a:pt x="0" y="12700"/>
                  </a:moveTo>
                  <a:cubicBezTo>
                    <a:pt x="105833" y="763058"/>
                    <a:pt x="211667" y="1513417"/>
                    <a:pt x="330200" y="1905000"/>
                  </a:cubicBezTo>
                  <a:cubicBezTo>
                    <a:pt x="448733" y="2296583"/>
                    <a:pt x="560917" y="2679700"/>
                    <a:pt x="711200" y="2362200"/>
                  </a:cubicBezTo>
                  <a:cubicBezTo>
                    <a:pt x="861483" y="2044700"/>
                    <a:pt x="1046691" y="1022350"/>
                    <a:pt x="1231900" y="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CaixaDeTexto 36">
              <a:extLst>
                <a:ext uri="{FF2B5EF4-FFF2-40B4-BE49-F238E27FC236}">
                  <a16:creationId xmlns:a16="http://schemas.microsoft.com/office/drawing/2014/main" xmlns="" id="{0AC9FBB3-9CBE-B1A7-4F17-7FC318B2661B}"/>
                </a:ext>
              </a:extLst>
            </p:cNvPr>
            <p:cNvSpPr txBox="1"/>
            <p:nvPr/>
          </p:nvSpPr>
          <p:spPr>
            <a:xfrm>
              <a:off x="7035798" y="2673307"/>
              <a:ext cx="28073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/>
                <a:t>Função convexa</a:t>
              </a:r>
            </a:p>
          </p:txBody>
        </p:sp>
        <p:sp>
          <p:nvSpPr>
            <p:cNvPr id="38" name="Elipse 37">
              <a:extLst>
                <a:ext uri="{FF2B5EF4-FFF2-40B4-BE49-F238E27FC236}">
                  <a16:creationId xmlns:a16="http://schemas.microsoft.com/office/drawing/2014/main" xmlns="" id="{E99A0D4F-D3DE-4542-9DC1-713CD9CD66A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02576" y="3333750"/>
              <a:ext cx="108000" cy="108000"/>
            </a:xfrm>
            <a:prstGeom prst="ellipse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40" name="Conector de Seta Reta 39">
              <a:extLst>
                <a:ext uri="{FF2B5EF4-FFF2-40B4-BE49-F238E27FC236}">
                  <a16:creationId xmlns:a16="http://schemas.microsoft.com/office/drawing/2014/main" xmlns="" id="{268DC808-05EA-47C5-59A3-5BE582AEE40C}"/>
                </a:ext>
              </a:extLst>
            </p:cNvPr>
            <p:cNvCxnSpPr>
              <a:cxnSpLocks/>
              <a:stCxn id="38" idx="5"/>
            </p:cNvCxnSpPr>
            <p:nvPr/>
          </p:nvCxnSpPr>
          <p:spPr>
            <a:xfrm>
              <a:off x="7994760" y="3425934"/>
              <a:ext cx="966360" cy="55170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de Seta Reta 42">
              <a:extLst>
                <a:ext uri="{FF2B5EF4-FFF2-40B4-BE49-F238E27FC236}">
                  <a16:creationId xmlns:a16="http://schemas.microsoft.com/office/drawing/2014/main" xmlns="" id="{54B06C74-6A21-4148-7BF2-2C1D825414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95932" y="3977640"/>
              <a:ext cx="865188" cy="3451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45">
              <a:extLst>
                <a:ext uri="{FF2B5EF4-FFF2-40B4-BE49-F238E27FC236}">
                  <a16:creationId xmlns:a16="http://schemas.microsoft.com/office/drawing/2014/main" xmlns="" id="{5F4704E7-C159-A4FC-6960-FB9661291A3A}"/>
                </a:ext>
              </a:extLst>
            </p:cNvPr>
            <p:cNvCxnSpPr/>
            <p:nvPr/>
          </p:nvCxnSpPr>
          <p:spPr>
            <a:xfrm>
              <a:off x="8095932" y="4322762"/>
              <a:ext cx="698024" cy="38020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de Seta Reta 47">
              <a:extLst>
                <a:ext uri="{FF2B5EF4-FFF2-40B4-BE49-F238E27FC236}">
                  <a16:creationId xmlns:a16="http://schemas.microsoft.com/office/drawing/2014/main" xmlns="" id="{15175306-3E90-44C5-192A-D58AF95893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01038" y="4702969"/>
              <a:ext cx="492918" cy="40719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ector de Seta Reta 50">
              <a:extLst>
                <a:ext uri="{FF2B5EF4-FFF2-40B4-BE49-F238E27FC236}">
                  <a16:creationId xmlns:a16="http://schemas.microsoft.com/office/drawing/2014/main" xmlns="" id="{74EFD59A-8088-3819-D8BF-E1FB71EC3534}"/>
                </a:ext>
              </a:extLst>
            </p:cNvPr>
            <p:cNvCxnSpPr>
              <a:cxnSpLocks/>
              <a:endCxn id="36" idx="2"/>
            </p:cNvCxnSpPr>
            <p:nvPr/>
          </p:nvCxnSpPr>
          <p:spPr>
            <a:xfrm>
              <a:off x="8301038" y="5110163"/>
              <a:ext cx="312738" cy="2654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ector de Seta Reta 53">
              <a:extLst>
                <a:ext uri="{FF2B5EF4-FFF2-40B4-BE49-F238E27FC236}">
                  <a16:creationId xmlns:a16="http://schemas.microsoft.com/office/drawing/2014/main" xmlns="" id="{368CEE90-AF05-B68A-9AF1-E561244441D9}"/>
                </a:ext>
              </a:extLst>
            </p:cNvPr>
            <p:cNvCxnSpPr>
              <a:stCxn id="36" idx="2"/>
            </p:cNvCxnSpPr>
            <p:nvPr/>
          </p:nvCxnSpPr>
          <p:spPr>
            <a:xfrm flipH="1">
              <a:off x="8500743" y="5375596"/>
              <a:ext cx="113033" cy="10023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Elipse 20">
              <a:extLst>
                <a:ext uri="{FF2B5EF4-FFF2-40B4-BE49-F238E27FC236}">
                  <a16:creationId xmlns:a16="http://schemas.microsoft.com/office/drawing/2014/main" xmlns="" id="{9BD6F2B2-EF59-EDF9-5760-B302D8261D6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46743" y="5421835"/>
              <a:ext cx="108000" cy="108000"/>
            </a:xfrm>
            <a:prstGeom prst="ellipse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56" name="CaixaDeTexto 55">
              <a:extLst>
                <a:ext uri="{FF2B5EF4-FFF2-40B4-BE49-F238E27FC236}">
                  <a16:creationId xmlns:a16="http://schemas.microsoft.com/office/drawing/2014/main" xmlns="" id="{14639DB3-164D-627C-10FA-733E09CE5815}"/>
                </a:ext>
              </a:extLst>
            </p:cNvPr>
            <p:cNvSpPr txBox="1"/>
            <p:nvPr/>
          </p:nvSpPr>
          <p:spPr>
            <a:xfrm>
              <a:off x="7784781" y="3121067"/>
              <a:ext cx="1116965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050" dirty="0"/>
                <a:t>Ponto inicial</a:t>
              </a:r>
            </a:p>
          </p:txBody>
        </p:sp>
        <p:cxnSp>
          <p:nvCxnSpPr>
            <p:cNvPr id="57" name="Conector de Seta Reta 56">
              <a:extLst>
                <a:ext uri="{FF2B5EF4-FFF2-40B4-BE49-F238E27FC236}">
                  <a16:creationId xmlns:a16="http://schemas.microsoft.com/office/drawing/2014/main" xmlns="" id="{94925ACA-115F-DE91-11EB-4AD2666E8A40}"/>
                </a:ext>
              </a:extLst>
            </p:cNvPr>
            <p:cNvCxnSpPr/>
            <p:nvPr/>
          </p:nvCxnSpPr>
          <p:spPr>
            <a:xfrm>
              <a:off x="7384891" y="3355232"/>
              <a:ext cx="0" cy="214947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CaixaDeTexto 57">
              <a:extLst>
                <a:ext uri="{FF2B5EF4-FFF2-40B4-BE49-F238E27FC236}">
                  <a16:creationId xmlns:a16="http://schemas.microsoft.com/office/drawing/2014/main" xmlns="" id="{6802C94E-EB66-25FA-0BC0-E6FFF8B88DAF}"/>
                </a:ext>
              </a:extLst>
            </p:cNvPr>
            <p:cNvSpPr txBox="1"/>
            <p:nvPr/>
          </p:nvSpPr>
          <p:spPr>
            <a:xfrm>
              <a:off x="7356316" y="5031632"/>
              <a:ext cx="5905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Erro</a:t>
              </a:r>
            </a:p>
          </p:txBody>
        </p:sp>
      </p:grpSp>
      <p:grpSp>
        <p:nvGrpSpPr>
          <p:cNvPr id="62" name="Agrupar 61">
            <a:extLst>
              <a:ext uri="{FF2B5EF4-FFF2-40B4-BE49-F238E27FC236}">
                <a16:creationId xmlns:a16="http://schemas.microsoft.com/office/drawing/2014/main" xmlns="" id="{9FD7C786-F446-482E-E3DD-BAAEF25E5EB3}"/>
              </a:ext>
            </a:extLst>
          </p:cNvPr>
          <p:cNvGrpSpPr/>
          <p:nvPr/>
        </p:nvGrpSpPr>
        <p:grpSpPr>
          <a:xfrm>
            <a:off x="2847975" y="2490528"/>
            <a:ext cx="3066413" cy="3445623"/>
            <a:chOff x="2847975" y="2490528"/>
            <a:chExt cx="3066413" cy="3445623"/>
          </a:xfrm>
        </p:grpSpPr>
        <p:sp>
          <p:nvSpPr>
            <p:cNvPr id="11" name="Forma Livre: Forma 10">
              <a:extLst>
                <a:ext uri="{FF2B5EF4-FFF2-40B4-BE49-F238E27FC236}">
                  <a16:creationId xmlns:a16="http://schemas.microsoft.com/office/drawing/2014/main" xmlns="" id="{F50B53DF-4C4E-4C85-8BAE-C98DF42162DA}"/>
                </a:ext>
              </a:extLst>
            </p:cNvPr>
            <p:cNvSpPr/>
            <p:nvPr/>
          </p:nvSpPr>
          <p:spPr>
            <a:xfrm>
              <a:off x="3352800" y="2951604"/>
              <a:ext cx="2238375" cy="2445896"/>
            </a:xfrm>
            <a:custGeom>
              <a:avLst/>
              <a:gdLst>
                <a:gd name="connsiteX0" fmla="*/ 0 w 2238375"/>
                <a:gd name="connsiteY0" fmla="*/ 0 h 2445896"/>
                <a:gd name="connsiteX1" fmla="*/ 180975 w 2238375"/>
                <a:gd name="connsiteY1" fmla="*/ 1390650 h 2445896"/>
                <a:gd name="connsiteX2" fmla="*/ 561975 w 2238375"/>
                <a:gd name="connsiteY2" fmla="*/ 76200 h 2445896"/>
                <a:gd name="connsiteX3" fmla="*/ 990600 w 2238375"/>
                <a:gd name="connsiteY3" fmla="*/ 2428875 h 2445896"/>
                <a:gd name="connsiteX4" fmla="*/ 1381125 w 2238375"/>
                <a:gd name="connsiteY4" fmla="*/ 1085850 h 2445896"/>
                <a:gd name="connsiteX5" fmla="*/ 1600200 w 2238375"/>
                <a:gd name="connsiteY5" fmla="*/ 114300 h 2445896"/>
                <a:gd name="connsiteX6" fmla="*/ 1866900 w 2238375"/>
                <a:gd name="connsiteY6" fmla="*/ 828675 h 2445896"/>
                <a:gd name="connsiteX7" fmla="*/ 2238375 w 2238375"/>
                <a:gd name="connsiteY7" fmla="*/ 247650 h 2445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38375" h="2445896">
                  <a:moveTo>
                    <a:pt x="0" y="0"/>
                  </a:moveTo>
                  <a:cubicBezTo>
                    <a:pt x="43656" y="688975"/>
                    <a:pt x="87313" y="1377950"/>
                    <a:pt x="180975" y="1390650"/>
                  </a:cubicBezTo>
                  <a:cubicBezTo>
                    <a:pt x="274637" y="1403350"/>
                    <a:pt x="427038" y="-96837"/>
                    <a:pt x="561975" y="76200"/>
                  </a:cubicBezTo>
                  <a:cubicBezTo>
                    <a:pt x="696912" y="249237"/>
                    <a:pt x="854075" y="2260600"/>
                    <a:pt x="990600" y="2428875"/>
                  </a:cubicBezTo>
                  <a:cubicBezTo>
                    <a:pt x="1127125" y="2597150"/>
                    <a:pt x="1279525" y="1471612"/>
                    <a:pt x="1381125" y="1085850"/>
                  </a:cubicBezTo>
                  <a:cubicBezTo>
                    <a:pt x="1482725" y="700088"/>
                    <a:pt x="1519238" y="157162"/>
                    <a:pt x="1600200" y="114300"/>
                  </a:cubicBezTo>
                  <a:cubicBezTo>
                    <a:pt x="1681162" y="71438"/>
                    <a:pt x="1760538" y="806450"/>
                    <a:pt x="1866900" y="828675"/>
                  </a:cubicBezTo>
                  <a:cubicBezTo>
                    <a:pt x="1973263" y="850900"/>
                    <a:pt x="2105819" y="549275"/>
                    <a:pt x="2238375" y="24765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12">
              <a:extLst>
                <a:ext uri="{FF2B5EF4-FFF2-40B4-BE49-F238E27FC236}">
                  <a16:creationId xmlns:a16="http://schemas.microsoft.com/office/drawing/2014/main" xmlns="" id="{3110A252-5626-CF16-70EC-599A5D7930AA}"/>
                </a:ext>
              </a:extLst>
            </p:cNvPr>
            <p:cNvCxnSpPr/>
            <p:nvPr/>
          </p:nvCxnSpPr>
          <p:spPr>
            <a:xfrm>
              <a:off x="2876550" y="3248025"/>
              <a:ext cx="0" cy="214947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xmlns="" id="{19B38D1F-C032-C6E3-3F1A-254B72F09363}"/>
                </a:ext>
              </a:extLst>
            </p:cNvPr>
            <p:cNvSpPr txBox="1"/>
            <p:nvPr/>
          </p:nvSpPr>
          <p:spPr>
            <a:xfrm>
              <a:off x="2847975" y="4924425"/>
              <a:ext cx="5905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Erro</a:t>
              </a:r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xmlns="" id="{A48B195D-3235-843C-F6C1-5B05456E9673}"/>
                </a:ext>
              </a:extLst>
            </p:cNvPr>
            <p:cNvSpPr txBox="1"/>
            <p:nvPr/>
          </p:nvSpPr>
          <p:spPr>
            <a:xfrm>
              <a:off x="3143250" y="4322762"/>
              <a:ext cx="7905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local</a:t>
              </a:r>
            </a:p>
          </p:txBody>
        </p:sp>
        <p:sp>
          <p:nvSpPr>
            <p:cNvPr id="16" name="Elipse 15">
              <a:extLst>
                <a:ext uri="{FF2B5EF4-FFF2-40B4-BE49-F238E27FC236}">
                  <a16:creationId xmlns:a16="http://schemas.microsoft.com/office/drawing/2014/main" xmlns="" id="{ECC6E25F-D6BE-42F1-A04F-F11D5EE26B2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75011" y="4268762"/>
              <a:ext cx="108000" cy="108000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xmlns="" id="{9C45849C-28CE-A26B-8688-8B82CEE63DDA}"/>
                </a:ext>
              </a:extLst>
            </p:cNvPr>
            <p:cNvSpPr txBox="1"/>
            <p:nvPr/>
          </p:nvSpPr>
          <p:spPr>
            <a:xfrm>
              <a:off x="4864734" y="3853542"/>
              <a:ext cx="7905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local</a:t>
              </a:r>
            </a:p>
          </p:txBody>
        </p:sp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xmlns="" id="{447D6D01-88F2-02AB-7D57-46450311E923}"/>
                </a:ext>
              </a:extLst>
            </p:cNvPr>
            <p:cNvSpPr txBox="1"/>
            <p:nvPr/>
          </p:nvSpPr>
          <p:spPr>
            <a:xfrm>
              <a:off x="3068321" y="2490528"/>
              <a:ext cx="28073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/>
                <a:t>Função não-convexa</a:t>
              </a:r>
            </a:p>
          </p:txBody>
        </p:sp>
        <p:sp>
          <p:nvSpPr>
            <p:cNvPr id="22" name="Elipse 21">
              <a:extLst>
                <a:ext uri="{FF2B5EF4-FFF2-40B4-BE49-F238E27FC236}">
                  <a16:creationId xmlns:a16="http://schemas.microsoft.com/office/drawing/2014/main" xmlns="" id="{4468B11C-AD95-31BE-84A6-2C5E4052127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57322" y="3067470"/>
              <a:ext cx="108000" cy="108000"/>
            </a:xfrm>
            <a:prstGeom prst="ellipse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24" name="Conector de Seta Reta 23">
              <a:extLst>
                <a:ext uri="{FF2B5EF4-FFF2-40B4-BE49-F238E27FC236}">
                  <a16:creationId xmlns:a16="http://schemas.microsoft.com/office/drawing/2014/main" xmlns="" id="{A4A070D0-9E61-C019-24E6-2177E7BA5DA1}"/>
                </a:ext>
              </a:extLst>
            </p:cNvPr>
            <p:cNvCxnSpPr>
              <a:stCxn id="22" idx="6"/>
            </p:cNvCxnSpPr>
            <p:nvPr/>
          </p:nvCxnSpPr>
          <p:spPr>
            <a:xfrm>
              <a:off x="5065322" y="3121470"/>
              <a:ext cx="465528" cy="2122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de Seta Reta 33">
              <a:extLst>
                <a:ext uri="{FF2B5EF4-FFF2-40B4-BE49-F238E27FC236}">
                  <a16:creationId xmlns:a16="http://schemas.microsoft.com/office/drawing/2014/main" xmlns="" id="{015CC9DE-4883-B304-6D06-0B1612F8A32D}"/>
                </a:ext>
              </a:extLst>
            </p:cNvPr>
            <p:cNvCxnSpPr>
              <a:endCxn id="11" idx="6"/>
            </p:cNvCxnSpPr>
            <p:nvPr/>
          </p:nvCxnSpPr>
          <p:spPr>
            <a:xfrm flipH="1">
              <a:off x="5219700" y="3631746"/>
              <a:ext cx="154781" cy="1485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de Seta Reta 27">
              <a:extLst>
                <a:ext uri="{FF2B5EF4-FFF2-40B4-BE49-F238E27FC236}">
                  <a16:creationId xmlns:a16="http://schemas.microsoft.com/office/drawing/2014/main" xmlns="" id="{C604F759-E9F0-FD37-8241-90A347156F15}"/>
                </a:ext>
              </a:extLst>
            </p:cNvPr>
            <p:cNvCxnSpPr/>
            <p:nvPr/>
          </p:nvCxnSpPr>
          <p:spPr>
            <a:xfrm flipH="1">
              <a:off x="5118100" y="3333750"/>
              <a:ext cx="412750" cy="19685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29">
              <a:extLst>
                <a:ext uri="{FF2B5EF4-FFF2-40B4-BE49-F238E27FC236}">
                  <a16:creationId xmlns:a16="http://schemas.microsoft.com/office/drawing/2014/main" xmlns="" id="{6E17B7D1-6C0D-395B-4209-354CCFD369BF}"/>
                </a:ext>
              </a:extLst>
            </p:cNvPr>
            <p:cNvCxnSpPr>
              <a:cxnSpLocks/>
            </p:cNvCxnSpPr>
            <p:nvPr/>
          </p:nvCxnSpPr>
          <p:spPr>
            <a:xfrm>
              <a:off x="5118100" y="3530600"/>
              <a:ext cx="256381" cy="10114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Elipse 18">
              <a:extLst>
                <a:ext uri="{FF2B5EF4-FFF2-40B4-BE49-F238E27FC236}">
                  <a16:creationId xmlns:a16="http://schemas.microsoft.com/office/drawing/2014/main" xmlns="" id="{D11EC075-B561-04E9-D79A-021ECD68D84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75836" y="3712201"/>
              <a:ext cx="108000" cy="108000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35" name="CaixaDeTexto 34">
              <a:extLst>
                <a:ext uri="{FF2B5EF4-FFF2-40B4-BE49-F238E27FC236}">
                  <a16:creationId xmlns:a16="http://schemas.microsoft.com/office/drawing/2014/main" xmlns="" id="{0DCEEA60-A93D-F00F-E769-1B2D8B95C7F2}"/>
                </a:ext>
              </a:extLst>
            </p:cNvPr>
            <p:cNvSpPr txBox="1"/>
            <p:nvPr/>
          </p:nvSpPr>
          <p:spPr>
            <a:xfrm>
              <a:off x="4797423" y="2867249"/>
              <a:ext cx="1116965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050" dirty="0"/>
                <a:t>Ponto inicial</a:t>
              </a:r>
            </a:p>
          </p:txBody>
        </p:sp>
        <p:sp>
          <p:nvSpPr>
            <p:cNvPr id="59" name="CaixaDeTexto 58">
              <a:extLst>
                <a:ext uri="{FF2B5EF4-FFF2-40B4-BE49-F238E27FC236}">
                  <a16:creationId xmlns:a16="http://schemas.microsoft.com/office/drawing/2014/main" xmlns="" id="{6440C131-E34D-0D14-1FAD-DA7EA59843C4}"/>
                </a:ext>
              </a:extLst>
            </p:cNvPr>
            <p:cNvSpPr txBox="1"/>
            <p:nvPr/>
          </p:nvSpPr>
          <p:spPr>
            <a:xfrm>
              <a:off x="3968352" y="5412931"/>
              <a:ext cx="7905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</a:p>
          </p:txBody>
        </p:sp>
        <p:sp>
          <p:nvSpPr>
            <p:cNvPr id="60" name="Elipse 59">
              <a:extLst>
                <a:ext uri="{FF2B5EF4-FFF2-40B4-BE49-F238E27FC236}">
                  <a16:creationId xmlns:a16="http://schemas.microsoft.com/office/drawing/2014/main" xmlns="" id="{72C876E0-617F-E784-133E-C4A36B7003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19163" y="5339881"/>
              <a:ext cx="108000" cy="108000"/>
            </a:xfrm>
            <a:prstGeom prst="ellipse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270970206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Agrupar 60">
            <a:extLst>
              <a:ext uri="{FF2B5EF4-FFF2-40B4-BE49-F238E27FC236}">
                <a16:creationId xmlns:a16="http://schemas.microsoft.com/office/drawing/2014/main" xmlns="" id="{6CEAC2DF-B2DD-68B2-0671-2F3740FD26B3}"/>
              </a:ext>
            </a:extLst>
          </p:cNvPr>
          <p:cNvGrpSpPr/>
          <p:nvPr/>
        </p:nvGrpSpPr>
        <p:grpSpPr>
          <a:xfrm>
            <a:off x="7035798" y="2673307"/>
            <a:ext cx="2807332" cy="3344798"/>
            <a:chOff x="7035798" y="2673307"/>
            <a:chExt cx="2807332" cy="3344798"/>
          </a:xfrm>
        </p:grpSpPr>
        <p:sp>
          <p:nvSpPr>
            <p:cNvPr id="17" name="CaixaDeTexto 16">
              <a:extLst>
                <a:ext uri="{FF2B5EF4-FFF2-40B4-BE49-F238E27FC236}">
                  <a16:creationId xmlns:a16="http://schemas.microsoft.com/office/drawing/2014/main" xmlns="" id="{EA72D705-0EF8-C613-09E0-6BB9931A368C}"/>
                </a:ext>
              </a:extLst>
            </p:cNvPr>
            <p:cNvSpPr txBox="1"/>
            <p:nvPr/>
          </p:nvSpPr>
          <p:spPr>
            <a:xfrm>
              <a:off x="8095932" y="5494885"/>
              <a:ext cx="7905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</a:p>
          </p:txBody>
        </p:sp>
        <p:sp>
          <p:nvSpPr>
            <p:cNvPr id="36" name="Forma Livre: Forma 35">
              <a:extLst>
                <a:ext uri="{FF2B5EF4-FFF2-40B4-BE49-F238E27FC236}">
                  <a16:creationId xmlns:a16="http://schemas.microsoft.com/office/drawing/2014/main" xmlns="" id="{590FFF82-676D-D681-F915-3BF433BA72B9}"/>
                </a:ext>
              </a:extLst>
            </p:cNvPr>
            <p:cNvSpPr/>
            <p:nvPr/>
          </p:nvSpPr>
          <p:spPr>
            <a:xfrm>
              <a:off x="7902576" y="3045814"/>
              <a:ext cx="1231900" cy="2445896"/>
            </a:xfrm>
            <a:custGeom>
              <a:avLst/>
              <a:gdLst>
                <a:gd name="connsiteX0" fmla="*/ 0 w 1231900"/>
                <a:gd name="connsiteY0" fmla="*/ 12700 h 2479930"/>
                <a:gd name="connsiteX1" fmla="*/ 330200 w 1231900"/>
                <a:gd name="connsiteY1" fmla="*/ 1905000 h 2479930"/>
                <a:gd name="connsiteX2" fmla="*/ 711200 w 1231900"/>
                <a:gd name="connsiteY2" fmla="*/ 2362200 h 2479930"/>
                <a:gd name="connsiteX3" fmla="*/ 1231900 w 1231900"/>
                <a:gd name="connsiteY3" fmla="*/ 0 h 2479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31900" h="2479930">
                  <a:moveTo>
                    <a:pt x="0" y="12700"/>
                  </a:moveTo>
                  <a:cubicBezTo>
                    <a:pt x="105833" y="763058"/>
                    <a:pt x="211667" y="1513417"/>
                    <a:pt x="330200" y="1905000"/>
                  </a:cubicBezTo>
                  <a:cubicBezTo>
                    <a:pt x="448733" y="2296583"/>
                    <a:pt x="560917" y="2679700"/>
                    <a:pt x="711200" y="2362200"/>
                  </a:cubicBezTo>
                  <a:cubicBezTo>
                    <a:pt x="861483" y="2044700"/>
                    <a:pt x="1046691" y="1022350"/>
                    <a:pt x="1231900" y="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CaixaDeTexto 36">
              <a:extLst>
                <a:ext uri="{FF2B5EF4-FFF2-40B4-BE49-F238E27FC236}">
                  <a16:creationId xmlns:a16="http://schemas.microsoft.com/office/drawing/2014/main" xmlns="" id="{0AC9FBB3-9CBE-B1A7-4F17-7FC318B2661B}"/>
                </a:ext>
              </a:extLst>
            </p:cNvPr>
            <p:cNvSpPr txBox="1"/>
            <p:nvPr/>
          </p:nvSpPr>
          <p:spPr>
            <a:xfrm>
              <a:off x="7035798" y="2673307"/>
              <a:ext cx="28073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/>
                <a:t>Função convexa</a:t>
              </a:r>
            </a:p>
          </p:txBody>
        </p:sp>
        <p:sp>
          <p:nvSpPr>
            <p:cNvPr id="38" name="Elipse 37">
              <a:extLst>
                <a:ext uri="{FF2B5EF4-FFF2-40B4-BE49-F238E27FC236}">
                  <a16:creationId xmlns:a16="http://schemas.microsoft.com/office/drawing/2014/main" xmlns="" id="{E99A0D4F-D3DE-4542-9DC1-713CD9CD66A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02576" y="3333750"/>
              <a:ext cx="108000" cy="108000"/>
            </a:xfrm>
            <a:prstGeom prst="ellipse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40" name="Conector de Seta Reta 39">
              <a:extLst>
                <a:ext uri="{FF2B5EF4-FFF2-40B4-BE49-F238E27FC236}">
                  <a16:creationId xmlns:a16="http://schemas.microsoft.com/office/drawing/2014/main" xmlns="" id="{268DC808-05EA-47C5-59A3-5BE582AEE40C}"/>
                </a:ext>
              </a:extLst>
            </p:cNvPr>
            <p:cNvCxnSpPr>
              <a:cxnSpLocks/>
              <a:stCxn id="38" idx="5"/>
            </p:cNvCxnSpPr>
            <p:nvPr/>
          </p:nvCxnSpPr>
          <p:spPr>
            <a:xfrm>
              <a:off x="7994760" y="3425934"/>
              <a:ext cx="966360" cy="55170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de Seta Reta 42">
              <a:extLst>
                <a:ext uri="{FF2B5EF4-FFF2-40B4-BE49-F238E27FC236}">
                  <a16:creationId xmlns:a16="http://schemas.microsoft.com/office/drawing/2014/main" xmlns="" id="{54B06C74-6A21-4148-7BF2-2C1D825414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95932" y="3977640"/>
              <a:ext cx="865188" cy="3451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45">
              <a:extLst>
                <a:ext uri="{FF2B5EF4-FFF2-40B4-BE49-F238E27FC236}">
                  <a16:creationId xmlns:a16="http://schemas.microsoft.com/office/drawing/2014/main" xmlns="" id="{5F4704E7-C159-A4FC-6960-FB9661291A3A}"/>
                </a:ext>
              </a:extLst>
            </p:cNvPr>
            <p:cNvCxnSpPr/>
            <p:nvPr/>
          </p:nvCxnSpPr>
          <p:spPr>
            <a:xfrm>
              <a:off x="8095932" y="4322762"/>
              <a:ext cx="698024" cy="38020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de Seta Reta 47">
              <a:extLst>
                <a:ext uri="{FF2B5EF4-FFF2-40B4-BE49-F238E27FC236}">
                  <a16:creationId xmlns:a16="http://schemas.microsoft.com/office/drawing/2014/main" xmlns="" id="{15175306-3E90-44C5-192A-D58AF95893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01038" y="4702969"/>
              <a:ext cx="492918" cy="40719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ector de Seta Reta 50">
              <a:extLst>
                <a:ext uri="{FF2B5EF4-FFF2-40B4-BE49-F238E27FC236}">
                  <a16:creationId xmlns:a16="http://schemas.microsoft.com/office/drawing/2014/main" xmlns="" id="{74EFD59A-8088-3819-D8BF-E1FB71EC3534}"/>
                </a:ext>
              </a:extLst>
            </p:cNvPr>
            <p:cNvCxnSpPr>
              <a:cxnSpLocks/>
              <a:endCxn id="36" idx="2"/>
            </p:cNvCxnSpPr>
            <p:nvPr/>
          </p:nvCxnSpPr>
          <p:spPr>
            <a:xfrm>
              <a:off x="8301038" y="5110163"/>
              <a:ext cx="312738" cy="2654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ector de Seta Reta 53">
              <a:extLst>
                <a:ext uri="{FF2B5EF4-FFF2-40B4-BE49-F238E27FC236}">
                  <a16:creationId xmlns:a16="http://schemas.microsoft.com/office/drawing/2014/main" xmlns="" id="{368CEE90-AF05-B68A-9AF1-E561244441D9}"/>
                </a:ext>
              </a:extLst>
            </p:cNvPr>
            <p:cNvCxnSpPr>
              <a:stCxn id="36" idx="2"/>
            </p:cNvCxnSpPr>
            <p:nvPr/>
          </p:nvCxnSpPr>
          <p:spPr>
            <a:xfrm flipH="1">
              <a:off x="8500743" y="5375596"/>
              <a:ext cx="113033" cy="10023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Elipse 20">
              <a:extLst>
                <a:ext uri="{FF2B5EF4-FFF2-40B4-BE49-F238E27FC236}">
                  <a16:creationId xmlns:a16="http://schemas.microsoft.com/office/drawing/2014/main" xmlns="" id="{9BD6F2B2-EF59-EDF9-5760-B302D8261D6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46743" y="5421835"/>
              <a:ext cx="108000" cy="108000"/>
            </a:xfrm>
            <a:prstGeom prst="ellipse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56" name="CaixaDeTexto 55">
              <a:extLst>
                <a:ext uri="{FF2B5EF4-FFF2-40B4-BE49-F238E27FC236}">
                  <a16:creationId xmlns:a16="http://schemas.microsoft.com/office/drawing/2014/main" xmlns="" id="{14639DB3-164D-627C-10FA-733E09CE5815}"/>
                </a:ext>
              </a:extLst>
            </p:cNvPr>
            <p:cNvSpPr txBox="1"/>
            <p:nvPr/>
          </p:nvSpPr>
          <p:spPr>
            <a:xfrm>
              <a:off x="7784781" y="3121067"/>
              <a:ext cx="1116965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050" dirty="0"/>
                <a:t>Ponto inicial</a:t>
              </a:r>
            </a:p>
          </p:txBody>
        </p:sp>
        <p:cxnSp>
          <p:nvCxnSpPr>
            <p:cNvPr id="57" name="Conector de Seta Reta 56">
              <a:extLst>
                <a:ext uri="{FF2B5EF4-FFF2-40B4-BE49-F238E27FC236}">
                  <a16:creationId xmlns:a16="http://schemas.microsoft.com/office/drawing/2014/main" xmlns="" id="{94925ACA-115F-DE91-11EB-4AD2666E8A40}"/>
                </a:ext>
              </a:extLst>
            </p:cNvPr>
            <p:cNvCxnSpPr/>
            <p:nvPr/>
          </p:nvCxnSpPr>
          <p:spPr>
            <a:xfrm>
              <a:off x="7384891" y="3355232"/>
              <a:ext cx="0" cy="214947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CaixaDeTexto 57">
              <a:extLst>
                <a:ext uri="{FF2B5EF4-FFF2-40B4-BE49-F238E27FC236}">
                  <a16:creationId xmlns:a16="http://schemas.microsoft.com/office/drawing/2014/main" xmlns="" id="{6802C94E-EB66-25FA-0BC0-E6FFF8B88DAF}"/>
                </a:ext>
              </a:extLst>
            </p:cNvPr>
            <p:cNvSpPr txBox="1"/>
            <p:nvPr/>
          </p:nvSpPr>
          <p:spPr>
            <a:xfrm>
              <a:off x="7356316" y="5031632"/>
              <a:ext cx="5905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Erro</a:t>
              </a:r>
            </a:p>
          </p:txBody>
        </p:sp>
      </p:grpSp>
      <p:sp>
        <p:nvSpPr>
          <p:cNvPr id="11" name="Forma Livre: Forma 10">
            <a:extLst>
              <a:ext uri="{FF2B5EF4-FFF2-40B4-BE49-F238E27FC236}">
                <a16:creationId xmlns:a16="http://schemas.microsoft.com/office/drawing/2014/main" xmlns="" id="{F50B53DF-4C4E-4C85-8BAE-C98DF42162DA}"/>
              </a:ext>
            </a:extLst>
          </p:cNvPr>
          <p:cNvSpPr/>
          <p:nvPr/>
        </p:nvSpPr>
        <p:spPr>
          <a:xfrm>
            <a:off x="3352800" y="2951604"/>
            <a:ext cx="2238375" cy="2445896"/>
          </a:xfrm>
          <a:custGeom>
            <a:avLst/>
            <a:gdLst>
              <a:gd name="connsiteX0" fmla="*/ 0 w 2238375"/>
              <a:gd name="connsiteY0" fmla="*/ 0 h 2445896"/>
              <a:gd name="connsiteX1" fmla="*/ 180975 w 2238375"/>
              <a:gd name="connsiteY1" fmla="*/ 1390650 h 2445896"/>
              <a:gd name="connsiteX2" fmla="*/ 561975 w 2238375"/>
              <a:gd name="connsiteY2" fmla="*/ 76200 h 2445896"/>
              <a:gd name="connsiteX3" fmla="*/ 990600 w 2238375"/>
              <a:gd name="connsiteY3" fmla="*/ 2428875 h 2445896"/>
              <a:gd name="connsiteX4" fmla="*/ 1381125 w 2238375"/>
              <a:gd name="connsiteY4" fmla="*/ 1085850 h 2445896"/>
              <a:gd name="connsiteX5" fmla="*/ 1600200 w 2238375"/>
              <a:gd name="connsiteY5" fmla="*/ 114300 h 2445896"/>
              <a:gd name="connsiteX6" fmla="*/ 1866900 w 2238375"/>
              <a:gd name="connsiteY6" fmla="*/ 828675 h 2445896"/>
              <a:gd name="connsiteX7" fmla="*/ 2238375 w 2238375"/>
              <a:gd name="connsiteY7" fmla="*/ 247650 h 24458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38375" h="2445896">
                <a:moveTo>
                  <a:pt x="0" y="0"/>
                </a:moveTo>
                <a:cubicBezTo>
                  <a:pt x="43656" y="688975"/>
                  <a:pt x="87313" y="1377950"/>
                  <a:pt x="180975" y="1390650"/>
                </a:cubicBezTo>
                <a:cubicBezTo>
                  <a:pt x="274637" y="1403350"/>
                  <a:pt x="427038" y="-96837"/>
                  <a:pt x="561975" y="76200"/>
                </a:cubicBezTo>
                <a:cubicBezTo>
                  <a:pt x="696912" y="249237"/>
                  <a:pt x="854075" y="2260600"/>
                  <a:pt x="990600" y="2428875"/>
                </a:cubicBezTo>
                <a:cubicBezTo>
                  <a:pt x="1127125" y="2597150"/>
                  <a:pt x="1279525" y="1471612"/>
                  <a:pt x="1381125" y="1085850"/>
                </a:cubicBezTo>
                <a:cubicBezTo>
                  <a:pt x="1482725" y="700088"/>
                  <a:pt x="1519238" y="157162"/>
                  <a:pt x="1600200" y="114300"/>
                </a:cubicBezTo>
                <a:cubicBezTo>
                  <a:pt x="1681162" y="71438"/>
                  <a:pt x="1760538" y="806450"/>
                  <a:pt x="1866900" y="828675"/>
                </a:cubicBezTo>
                <a:cubicBezTo>
                  <a:pt x="1973263" y="850900"/>
                  <a:pt x="2105819" y="549275"/>
                  <a:pt x="2238375" y="247650"/>
                </a:cubicBezTo>
              </a:path>
            </a:pathLst>
          </a:cu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xmlns="" id="{3110A252-5626-CF16-70EC-599A5D7930AA}"/>
              </a:ext>
            </a:extLst>
          </p:cNvPr>
          <p:cNvCxnSpPr/>
          <p:nvPr/>
        </p:nvCxnSpPr>
        <p:spPr>
          <a:xfrm>
            <a:off x="2876550" y="3248025"/>
            <a:ext cx="0" cy="214947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ixaDeTexto 13">
            <a:extLst>
              <a:ext uri="{FF2B5EF4-FFF2-40B4-BE49-F238E27FC236}">
                <a16:creationId xmlns:a16="http://schemas.microsoft.com/office/drawing/2014/main" xmlns="" id="{19B38D1F-C032-C6E3-3F1A-254B72F09363}"/>
              </a:ext>
            </a:extLst>
          </p:cNvPr>
          <p:cNvSpPr txBox="1"/>
          <p:nvPr/>
        </p:nvSpPr>
        <p:spPr>
          <a:xfrm>
            <a:off x="2847975" y="4924425"/>
            <a:ext cx="5905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Erro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xmlns="" id="{A48B195D-3235-843C-F6C1-5B05456E9673}"/>
              </a:ext>
            </a:extLst>
          </p:cNvPr>
          <p:cNvSpPr txBox="1"/>
          <p:nvPr/>
        </p:nvSpPr>
        <p:spPr>
          <a:xfrm>
            <a:off x="3143250" y="4322762"/>
            <a:ext cx="7905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Mínimo local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xmlns="" id="{ECC6E25F-D6BE-42F1-A04F-F11D5EE26B26}"/>
              </a:ext>
            </a:extLst>
          </p:cNvPr>
          <p:cNvSpPr>
            <a:spLocks noChangeAspect="1"/>
          </p:cNvSpPr>
          <p:nvPr/>
        </p:nvSpPr>
        <p:spPr>
          <a:xfrm>
            <a:off x="3488074" y="4281825"/>
            <a:ext cx="108000" cy="10800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xmlns="" id="{9C45849C-28CE-A26B-8688-8B82CEE63DDA}"/>
              </a:ext>
            </a:extLst>
          </p:cNvPr>
          <p:cNvSpPr txBox="1"/>
          <p:nvPr/>
        </p:nvSpPr>
        <p:spPr>
          <a:xfrm>
            <a:off x="4864734" y="3853542"/>
            <a:ext cx="7905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Mínimo local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xmlns="" id="{447D6D01-88F2-02AB-7D57-46450311E923}"/>
              </a:ext>
            </a:extLst>
          </p:cNvPr>
          <p:cNvSpPr txBox="1"/>
          <p:nvPr/>
        </p:nvSpPr>
        <p:spPr>
          <a:xfrm>
            <a:off x="3068321" y="2490528"/>
            <a:ext cx="28073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Função não-convexa</a:t>
            </a: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xmlns="" id="{4468B11C-AD95-31BE-84A6-2C5E40521279}"/>
              </a:ext>
            </a:extLst>
          </p:cNvPr>
          <p:cNvSpPr>
            <a:spLocks noChangeAspect="1"/>
          </p:cNvSpPr>
          <p:nvPr/>
        </p:nvSpPr>
        <p:spPr>
          <a:xfrm>
            <a:off x="4957322" y="3067470"/>
            <a:ext cx="108000" cy="10800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xmlns="" id="{D11EC075-B561-04E9-D79A-021ECD68D842}"/>
              </a:ext>
            </a:extLst>
          </p:cNvPr>
          <p:cNvSpPr>
            <a:spLocks noChangeAspect="1"/>
          </p:cNvSpPr>
          <p:nvPr/>
        </p:nvSpPr>
        <p:spPr>
          <a:xfrm>
            <a:off x="5188899" y="3725264"/>
            <a:ext cx="108000" cy="10800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xmlns="" id="{0DCEEA60-A93D-F00F-E769-1B2D8B95C7F2}"/>
              </a:ext>
            </a:extLst>
          </p:cNvPr>
          <p:cNvSpPr txBox="1"/>
          <p:nvPr/>
        </p:nvSpPr>
        <p:spPr>
          <a:xfrm>
            <a:off x="4790754" y="2769180"/>
            <a:ext cx="11169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dirty="0"/>
              <a:t>Ponto inicial</a:t>
            </a: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xmlns="" id="{6440C131-E34D-0D14-1FAD-DA7EA59843C4}"/>
              </a:ext>
            </a:extLst>
          </p:cNvPr>
          <p:cNvSpPr txBox="1"/>
          <p:nvPr/>
        </p:nvSpPr>
        <p:spPr>
          <a:xfrm>
            <a:off x="3968352" y="5412931"/>
            <a:ext cx="7905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Mínimo global</a:t>
            </a:r>
          </a:p>
        </p:txBody>
      </p:sp>
      <p:sp>
        <p:nvSpPr>
          <p:cNvPr id="60" name="Elipse 59">
            <a:extLst>
              <a:ext uri="{FF2B5EF4-FFF2-40B4-BE49-F238E27FC236}">
                <a16:creationId xmlns:a16="http://schemas.microsoft.com/office/drawing/2014/main" xmlns="" id="{72C876E0-617F-E784-133E-C4A36B7003ED}"/>
              </a:ext>
            </a:extLst>
          </p:cNvPr>
          <p:cNvSpPr>
            <a:spLocks noChangeAspect="1"/>
          </p:cNvSpPr>
          <p:nvPr/>
        </p:nvSpPr>
        <p:spPr>
          <a:xfrm>
            <a:off x="4319163" y="5339881"/>
            <a:ext cx="108000" cy="108000"/>
          </a:xfrm>
          <a:prstGeom prst="ellipse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27" name="Conector em curva 26"/>
          <p:cNvCxnSpPr>
            <a:stCxn id="22" idx="6"/>
          </p:cNvCxnSpPr>
          <p:nvPr/>
        </p:nvCxnSpPr>
        <p:spPr>
          <a:xfrm flipH="1">
            <a:off x="5039976" y="3121470"/>
            <a:ext cx="25346" cy="126555"/>
          </a:xfrm>
          <a:prstGeom prst="curvedConnector4">
            <a:avLst>
              <a:gd name="adj1" fmla="val -258124"/>
              <a:gd name="adj2" fmla="val 7133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tângulo 43"/>
          <p:cNvSpPr/>
          <p:nvPr/>
        </p:nvSpPr>
        <p:spPr>
          <a:xfrm>
            <a:off x="5011322" y="3248025"/>
            <a:ext cx="104679" cy="85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63" name="Conector em curva 62"/>
          <p:cNvCxnSpPr/>
          <p:nvPr/>
        </p:nvCxnSpPr>
        <p:spPr>
          <a:xfrm rot="16200000" flipH="1">
            <a:off x="4994499" y="3298713"/>
            <a:ext cx="116999" cy="3307"/>
          </a:xfrm>
          <a:prstGeom prst="curvedConnector5">
            <a:avLst>
              <a:gd name="adj1" fmla="val 1973"/>
              <a:gd name="adj2" fmla="val 2443877"/>
              <a:gd name="adj3" fmla="val 8663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ector em curva 66"/>
          <p:cNvCxnSpPr/>
          <p:nvPr/>
        </p:nvCxnSpPr>
        <p:spPr>
          <a:xfrm rot="16200000" flipH="1">
            <a:off x="5030353" y="3410874"/>
            <a:ext cx="116999" cy="3307"/>
          </a:xfrm>
          <a:prstGeom prst="curvedConnector5">
            <a:avLst>
              <a:gd name="adj1" fmla="val 1973"/>
              <a:gd name="adj2" fmla="val 2443877"/>
              <a:gd name="adj3" fmla="val 8663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ector em curva 68"/>
          <p:cNvCxnSpPr/>
          <p:nvPr/>
        </p:nvCxnSpPr>
        <p:spPr>
          <a:xfrm rot="16200000" flipH="1">
            <a:off x="5048291" y="3516118"/>
            <a:ext cx="116999" cy="3307"/>
          </a:xfrm>
          <a:prstGeom prst="curvedConnector5">
            <a:avLst>
              <a:gd name="adj1" fmla="val 1973"/>
              <a:gd name="adj2" fmla="val 2443877"/>
              <a:gd name="adj3" fmla="val 8663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ector em curva 70"/>
          <p:cNvCxnSpPr/>
          <p:nvPr/>
        </p:nvCxnSpPr>
        <p:spPr>
          <a:xfrm rot="16200000" flipH="1">
            <a:off x="5095568" y="3627074"/>
            <a:ext cx="116999" cy="3307"/>
          </a:xfrm>
          <a:prstGeom prst="curvedConnector5">
            <a:avLst>
              <a:gd name="adj1" fmla="val 1973"/>
              <a:gd name="adj2" fmla="val 2443877"/>
              <a:gd name="adj3" fmla="val 8663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ector em curva 73"/>
          <p:cNvCxnSpPr>
            <a:stCxn id="19" idx="0"/>
            <a:endCxn id="19" idx="0"/>
          </p:cNvCxnSpPr>
          <p:nvPr/>
        </p:nvCxnSpPr>
        <p:spPr>
          <a:xfrm rot="5400000" flipH="1" flipV="1">
            <a:off x="5242899" y="3725264"/>
            <a:ext cx="12700" cy="12700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etângulo 74"/>
          <p:cNvSpPr/>
          <p:nvPr/>
        </p:nvSpPr>
        <p:spPr>
          <a:xfrm>
            <a:off x="5187952" y="3786022"/>
            <a:ext cx="104679" cy="85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3611619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Agrupar 17">
            <a:extLst>
              <a:ext uri="{FF2B5EF4-FFF2-40B4-BE49-F238E27FC236}">
                <a16:creationId xmlns:a16="http://schemas.microsoft.com/office/drawing/2014/main" xmlns="" id="{DE488369-EF19-AF97-4E17-223811263C1D}"/>
              </a:ext>
            </a:extLst>
          </p:cNvPr>
          <p:cNvGrpSpPr/>
          <p:nvPr/>
        </p:nvGrpSpPr>
        <p:grpSpPr>
          <a:xfrm>
            <a:off x="2346234" y="2318922"/>
            <a:ext cx="5693524" cy="2737494"/>
            <a:chOff x="2346234" y="2318922"/>
            <a:chExt cx="5693524" cy="2737494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xmlns="" id="{CB640DC1-DCCB-99CE-3E59-771E8A71C833}"/>
                </a:ext>
              </a:extLst>
            </p:cNvPr>
            <p:cNvSpPr/>
            <p:nvPr/>
          </p:nvSpPr>
          <p:spPr>
            <a:xfrm>
              <a:off x="3270814" y="3267930"/>
              <a:ext cx="2011680" cy="1262743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Modelo de ML</a:t>
              </a:r>
            </a:p>
            <a:p>
              <a:pPr algn="ctr"/>
              <a:r>
                <a:rPr lang="pt-BR" dirty="0">
                  <a:solidFill>
                    <a:schemeClr val="tx1"/>
                  </a:solidFill>
                </a:rPr>
                <a:t>(Classificador)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Seta para a direita 5">
              <a:extLst>
                <a:ext uri="{FF2B5EF4-FFF2-40B4-BE49-F238E27FC236}">
                  <a16:creationId xmlns:a16="http://schemas.microsoft.com/office/drawing/2014/main" xmlns="" id="{398E6E68-724F-5BE1-3FA9-091D5FB4A763}"/>
                </a:ext>
              </a:extLst>
            </p:cNvPr>
            <p:cNvSpPr/>
            <p:nvPr/>
          </p:nvSpPr>
          <p:spPr>
            <a:xfrm>
              <a:off x="2870220" y="3699004"/>
              <a:ext cx="400594" cy="400594"/>
            </a:xfrm>
            <a:prstGeom prst="rightArrow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tângulo 5">
                  <a:extLst>
                    <a:ext uri="{FF2B5EF4-FFF2-40B4-BE49-F238E27FC236}">
                      <a16:creationId xmlns:a16="http://schemas.microsoft.com/office/drawing/2014/main" xmlns="" id="{41C5A256-595F-AFD4-A935-D2A97C56BAD5}"/>
                    </a:ext>
                  </a:extLst>
                </p:cNvPr>
                <p:cNvSpPr/>
                <p:nvPr/>
              </p:nvSpPr>
              <p:spPr>
                <a:xfrm>
                  <a:off x="2346234" y="3637691"/>
                  <a:ext cx="473206" cy="52322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6" name="Retângulo 5">
                  <a:extLst>
                    <a:ext uri="{FF2B5EF4-FFF2-40B4-BE49-F238E27FC236}">
                      <a16:creationId xmlns:a16="http://schemas.microsoft.com/office/drawing/2014/main" id="{41C5A256-595F-AFD4-A935-D2A97C56BAD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6234" y="3637691"/>
                  <a:ext cx="473206" cy="52322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tângulo 6">
                  <a:extLst>
                    <a:ext uri="{FF2B5EF4-FFF2-40B4-BE49-F238E27FC236}">
                      <a16:creationId xmlns:a16="http://schemas.microsoft.com/office/drawing/2014/main" xmlns="" id="{71CF5D8B-46C6-92AE-3002-AC862F80F2AB}"/>
                    </a:ext>
                  </a:extLst>
                </p:cNvPr>
                <p:cNvSpPr/>
                <p:nvPr/>
              </p:nvSpPr>
              <p:spPr>
                <a:xfrm>
                  <a:off x="5251272" y="3791050"/>
                  <a:ext cx="1111651" cy="56182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𝑝𝑟𝑒𝑑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7" name="Retângulo 6">
                  <a:extLst>
                    <a:ext uri="{FF2B5EF4-FFF2-40B4-BE49-F238E27FC236}">
                      <a16:creationId xmlns:a16="http://schemas.microsoft.com/office/drawing/2014/main" id="{71CF5D8B-46C6-92AE-3002-AC862F80F2A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1272" y="3791050"/>
                  <a:ext cx="1111651" cy="5618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tângulo 7">
                  <a:extLst>
                    <a:ext uri="{FF2B5EF4-FFF2-40B4-BE49-F238E27FC236}">
                      <a16:creationId xmlns:a16="http://schemas.microsoft.com/office/drawing/2014/main" xmlns="" id="{016E1322-6FEE-937B-4FF1-EF9D725EA79A}"/>
                    </a:ext>
                  </a:extLst>
                </p:cNvPr>
                <p:cNvSpPr/>
                <p:nvPr/>
              </p:nvSpPr>
              <p:spPr>
                <a:xfrm>
                  <a:off x="5683088" y="2741368"/>
                  <a:ext cx="1678793" cy="55643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𝑒𝑠𝑝𝑒𝑟𝑎𝑑𝑜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8" name="Retângulo 7">
                  <a:extLst>
                    <a:ext uri="{FF2B5EF4-FFF2-40B4-BE49-F238E27FC236}">
                      <a16:creationId xmlns:a16="http://schemas.microsoft.com/office/drawing/2014/main" id="{016E1322-6FEE-937B-4FF1-EF9D725EA79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3088" y="2741368"/>
                  <a:ext cx="1678793" cy="55643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Elipse 8">
              <a:extLst>
                <a:ext uri="{FF2B5EF4-FFF2-40B4-BE49-F238E27FC236}">
                  <a16:creationId xmlns:a16="http://schemas.microsoft.com/office/drawing/2014/main" xmlns="" id="{760BFAE9-F85F-851A-B468-D1E93E418B85}"/>
                </a:ext>
              </a:extLst>
            </p:cNvPr>
            <p:cNvSpPr/>
            <p:nvPr/>
          </p:nvSpPr>
          <p:spPr>
            <a:xfrm>
              <a:off x="6293221" y="3659364"/>
              <a:ext cx="468000" cy="468000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Menos 15">
              <a:extLst>
                <a:ext uri="{FF2B5EF4-FFF2-40B4-BE49-F238E27FC236}">
                  <a16:creationId xmlns:a16="http://schemas.microsoft.com/office/drawing/2014/main" xmlns="" id="{C1C8DA0D-D1D3-9C44-24D6-E78BD02C46F6}"/>
                </a:ext>
              </a:extLst>
            </p:cNvPr>
            <p:cNvSpPr/>
            <p:nvPr/>
          </p:nvSpPr>
          <p:spPr>
            <a:xfrm>
              <a:off x="6362923" y="3755294"/>
              <a:ext cx="328311" cy="276139"/>
            </a:xfrm>
            <a:prstGeom prst="mathMinus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tângulo 10">
                  <a:extLst>
                    <a:ext uri="{FF2B5EF4-FFF2-40B4-BE49-F238E27FC236}">
                      <a16:creationId xmlns:a16="http://schemas.microsoft.com/office/drawing/2014/main" xmlns="" id="{582A56EA-DFC0-4636-952F-009E32718CD3}"/>
                    </a:ext>
                  </a:extLst>
                </p:cNvPr>
                <p:cNvSpPr/>
                <p:nvPr/>
              </p:nvSpPr>
              <p:spPr>
                <a:xfrm>
                  <a:off x="7053719" y="3588482"/>
                  <a:ext cx="986039" cy="52322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𝑒𝑟𝑟𝑜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1" name="Retângulo 10">
                  <a:extLst>
                    <a:ext uri="{FF2B5EF4-FFF2-40B4-BE49-F238E27FC236}">
                      <a16:creationId xmlns:a16="http://schemas.microsoft.com/office/drawing/2014/main" id="{582A56EA-DFC0-4636-952F-009E32718C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53719" y="3588482"/>
                  <a:ext cx="986039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Conector de seta reta 19">
              <a:extLst>
                <a:ext uri="{FF2B5EF4-FFF2-40B4-BE49-F238E27FC236}">
                  <a16:creationId xmlns:a16="http://schemas.microsoft.com/office/drawing/2014/main" xmlns="" id="{93B7DFD1-5FDB-2587-24E3-5F9E0162D492}"/>
                </a:ext>
              </a:extLst>
            </p:cNvPr>
            <p:cNvCxnSpPr>
              <a:stCxn id="4" idx="3"/>
              <a:endCxn id="9" idx="2"/>
            </p:cNvCxnSpPr>
            <p:nvPr/>
          </p:nvCxnSpPr>
          <p:spPr>
            <a:xfrm flipV="1">
              <a:off x="5282494" y="3893364"/>
              <a:ext cx="1010727" cy="59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21">
              <a:extLst>
                <a:ext uri="{FF2B5EF4-FFF2-40B4-BE49-F238E27FC236}">
                  <a16:creationId xmlns:a16="http://schemas.microsoft.com/office/drawing/2014/main" xmlns="" id="{3D11B567-84E7-184B-36AE-259EC8626055}"/>
                </a:ext>
              </a:extLst>
            </p:cNvPr>
            <p:cNvCxnSpPr>
              <a:stCxn id="8" idx="2"/>
              <a:endCxn id="9" idx="0"/>
            </p:cNvCxnSpPr>
            <p:nvPr/>
          </p:nvCxnSpPr>
          <p:spPr>
            <a:xfrm>
              <a:off x="6522485" y="3297802"/>
              <a:ext cx="4736" cy="36156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26">
              <a:extLst>
                <a:ext uri="{FF2B5EF4-FFF2-40B4-BE49-F238E27FC236}">
                  <a16:creationId xmlns:a16="http://schemas.microsoft.com/office/drawing/2014/main" xmlns="" id="{E3839A91-81B0-72AE-34E5-7024208DBA98}"/>
                </a:ext>
              </a:extLst>
            </p:cNvPr>
            <p:cNvCxnSpPr/>
            <p:nvPr/>
          </p:nvCxnSpPr>
          <p:spPr>
            <a:xfrm flipV="1">
              <a:off x="6783119" y="3893364"/>
              <a:ext cx="36000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angulado 33">
              <a:extLst>
                <a:ext uri="{FF2B5EF4-FFF2-40B4-BE49-F238E27FC236}">
                  <a16:creationId xmlns:a16="http://schemas.microsoft.com/office/drawing/2014/main" xmlns="" id="{48A6F896-3C33-7CDE-B70E-F3D62AFEFBB1}"/>
                </a:ext>
              </a:extLst>
            </p:cNvPr>
            <p:cNvCxnSpPr>
              <a:stCxn id="11" idx="2"/>
            </p:cNvCxnSpPr>
            <p:nvPr/>
          </p:nvCxnSpPr>
          <p:spPr>
            <a:xfrm rot="5400000">
              <a:off x="5121830" y="2631507"/>
              <a:ext cx="944715" cy="3905104"/>
            </a:xfrm>
            <a:prstGeom prst="bentConnector2">
              <a:avLst/>
            </a:prstGeom>
            <a:ln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35">
              <a:extLst>
                <a:ext uri="{FF2B5EF4-FFF2-40B4-BE49-F238E27FC236}">
                  <a16:creationId xmlns:a16="http://schemas.microsoft.com/office/drawing/2014/main" xmlns="" id="{70A3AF85-7599-B974-D767-012AFE57CECE}"/>
                </a:ext>
              </a:extLst>
            </p:cNvPr>
            <p:cNvCxnSpPr/>
            <p:nvPr/>
          </p:nvCxnSpPr>
          <p:spPr>
            <a:xfrm flipV="1">
              <a:off x="3630040" y="2659653"/>
              <a:ext cx="1478069" cy="2393451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tângulo 16">
              <a:extLst>
                <a:ext uri="{FF2B5EF4-FFF2-40B4-BE49-F238E27FC236}">
                  <a16:creationId xmlns:a16="http://schemas.microsoft.com/office/drawing/2014/main" xmlns="" id="{F8D87169-5EA8-88FE-EE40-3345C2819C33}"/>
                </a:ext>
              </a:extLst>
            </p:cNvPr>
            <p:cNvSpPr/>
            <p:nvPr/>
          </p:nvSpPr>
          <p:spPr>
            <a:xfrm>
              <a:off x="4369074" y="2318922"/>
              <a:ext cx="1510222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sz="2000"/>
                <a:t>Treinamento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3368807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11554</TotalTime>
  <Words>3664</Words>
  <Application>Microsoft Office PowerPoint</Application>
  <PresentationFormat>Widescreen</PresentationFormat>
  <Paragraphs>472</Paragraphs>
  <Slides>44</Slides>
  <Notes>23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44</vt:i4>
      </vt:variant>
    </vt:vector>
  </HeadingPairs>
  <TitlesOfParts>
    <vt:vector size="52" baseType="lpstr">
      <vt:lpstr>Arial</vt:lpstr>
      <vt:lpstr>Calibri</vt:lpstr>
      <vt:lpstr>Calibri Light</vt:lpstr>
      <vt:lpstr>Calibri-Bold</vt:lpstr>
      <vt:lpstr>Cambria Math</vt:lpstr>
      <vt:lpstr>Söhne</vt:lpstr>
      <vt:lpstr>Wingdings</vt:lpstr>
      <vt:lpstr>Tema do Office</vt:lpstr>
      <vt:lpstr>T320 - Introdução ao Aprendizado de Máquina II: Classificação (Parte III)</vt:lpstr>
      <vt:lpstr>Recapitulando</vt:lpstr>
      <vt:lpstr>Classificação com função de limiar logístico</vt:lpstr>
      <vt:lpstr>Classificação com função de limiar logístico</vt:lpstr>
      <vt:lpstr>Classificação com função de limiar logístico</vt:lpstr>
      <vt:lpstr>Classificação com função de limiar logístico</vt:lpstr>
      <vt:lpstr>Classificação com função de limiar logístico</vt:lpstr>
      <vt:lpstr>Classificação com função de limiar logístico</vt:lpstr>
      <vt:lpstr>Regressão logística</vt:lpstr>
      <vt:lpstr>Regressão logística</vt:lpstr>
      <vt:lpstr>Regressão logística</vt:lpstr>
      <vt:lpstr>Propriedades da regressão logística</vt:lpstr>
      <vt:lpstr>Função de erro</vt:lpstr>
      <vt:lpstr>Função de erro</vt:lpstr>
      <vt:lpstr>Função de erro</vt:lpstr>
      <vt:lpstr>Função de erro</vt:lpstr>
      <vt:lpstr>Função de erro</vt:lpstr>
      <vt:lpstr>Função de erro</vt:lpstr>
      <vt:lpstr>Função de erro</vt:lpstr>
      <vt:lpstr>Processo de treinamento</vt:lpstr>
      <vt:lpstr>Processo de treinamento</vt:lpstr>
      <vt:lpstr>Vetor gradiente</vt:lpstr>
      <vt:lpstr>Vetor gradiente</vt:lpstr>
      <vt:lpstr>Vetor gradiente</vt:lpstr>
      <vt:lpstr>Vetor gradiente</vt:lpstr>
      <vt:lpstr>Subajuste e sobreajuste</vt:lpstr>
      <vt:lpstr>Subajuste e sobreajuste</vt:lpstr>
      <vt:lpstr>Subajuste e sobreajuste</vt:lpstr>
      <vt:lpstr>Subajuste e sobreajuste</vt:lpstr>
      <vt:lpstr>Apresentação do PowerPoint</vt:lpstr>
      <vt:lpstr>Como evitamos o subajuste e sobreajuste?</vt:lpstr>
      <vt:lpstr>Como evitamos o subajuste e sobreajuste?</vt:lpstr>
      <vt:lpstr>Tarefas</vt:lpstr>
      <vt:lpstr>Apresentação do PowerPoint</vt:lpstr>
      <vt:lpstr>Apresentação do PowerPoint</vt:lpstr>
      <vt:lpstr>Encontrando o vetor gradiente</vt:lpstr>
      <vt:lpstr>Encontrando o vetor gradiente</vt:lpstr>
      <vt:lpstr>Encontrando o vetor gradiente</vt:lpstr>
      <vt:lpstr>Encontrando o vetor gradiente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1954</cp:revision>
  <dcterms:created xsi:type="dcterms:W3CDTF">2020-01-20T13:50:05Z</dcterms:created>
  <dcterms:modified xsi:type="dcterms:W3CDTF">2026-08-29T09:33:08Z</dcterms:modified>
</cp:coreProperties>
</file>