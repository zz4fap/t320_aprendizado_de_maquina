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385" r:id="rId3"/>
    <p:sldId id="387" r:id="rId4"/>
    <p:sldId id="386" r:id="rId5"/>
    <p:sldId id="389" r:id="rId6"/>
    <p:sldId id="391" r:id="rId7"/>
    <p:sldId id="428" r:id="rId8"/>
    <p:sldId id="393" r:id="rId9"/>
    <p:sldId id="392" r:id="rId10"/>
    <p:sldId id="394" r:id="rId11"/>
    <p:sldId id="390" r:id="rId12"/>
    <p:sldId id="399" r:id="rId13"/>
    <p:sldId id="398" r:id="rId14"/>
    <p:sldId id="402" r:id="rId15"/>
    <p:sldId id="397" r:id="rId16"/>
    <p:sldId id="401" r:id="rId17"/>
    <p:sldId id="406" r:id="rId18"/>
    <p:sldId id="405" r:id="rId19"/>
    <p:sldId id="408" r:id="rId20"/>
    <p:sldId id="409" r:id="rId21"/>
    <p:sldId id="407" r:id="rId22"/>
    <p:sldId id="370" r:id="rId23"/>
    <p:sldId id="424" r:id="rId24"/>
    <p:sldId id="425" r:id="rId25"/>
    <p:sldId id="372" r:id="rId26"/>
    <p:sldId id="410" r:id="rId27"/>
    <p:sldId id="412" r:id="rId28"/>
    <p:sldId id="414" r:id="rId29"/>
    <p:sldId id="417" r:id="rId30"/>
    <p:sldId id="429" r:id="rId31"/>
    <p:sldId id="413" r:id="rId32"/>
    <p:sldId id="418" r:id="rId33"/>
    <p:sldId id="324" r:id="rId34"/>
    <p:sldId id="306" r:id="rId35"/>
    <p:sldId id="419" r:id="rId36"/>
    <p:sldId id="375" r:id="rId37"/>
    <p:sldId id="376" r:id="rId38"/>
    <p:sldId id="377" r:id="rId39"/>
    <p:sldId id="378" r:id="rId40"/>
    <p:sldId id="420" r:id="rId41"/>
    <p:sldId id="362" r:id="rId42"/>
    <p:sldId id="403" r:id="rId43"/>
    <p:sldId id="430" r:id="rId44"/>
    <p:sldId id="404" r:id="rId45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53" autoAdjust="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.stackexchange.com/questions/477207/derivative-of-cost-function-for-logistic-regression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.stackexchange.com/questions/477207/derivative-of-cost-function-for-logistic-regression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regressão logística, apesar de seu nome, é um modelo linear para classificação, em vez de regressão. A regressão logística também é conhecida na literatura como regressão logit, classificação de entropia máxima (MaxEnt) ou classificador log-linear. Nesse modelo, as probabilidades que descrevem os possíveis resultados de um único estudo são modeladas usando uma função logística.</a:t>
            </a:r>
          </a:p>
          <a:p>
            <a:endParaRPr lang="pt-BR" dirty="0"/>
          </a:p>
          <a:p>
            <a:r>
              <a:rPr lang="pt-BR" dirty="0"/>
              <a:t>A regressão logística é um método para classificação binária. Ela classifica </a:t>
            </a:r>
            <a:r>
              <a:rPr lang="pt-BR" baseline="0" dirty="0"/>
              <a:t>os</a:t>
            </a:r>
            <a:r>
              <a:rPr lang="pt-BR" dirty="0"/>
              <a:t> pontos de um conjunto de dados em duas classes ou categorias distintas.</a:t>
            </a:r>
          </a:p>
          <a:p>
            <a:endParaRPr lang="pt-BR" dirty="0"/>
          </a:p>
          <a:p>
            <a:r>
              <a:rPr lang="pt-BR" dirty="0"/>
              <a:t>Por simplicidade, vamos chamá-las de classe 1 e classe 2. O modelo nos dará a probabilidade de um determinado ponto (ou exemplo) pertencer à classe 2. Se a probabilidade for baixa (inferior a 50%), então o classificaremos na categoria 1. Caso contrário, ele cai na classe 2.</a:t>
            </a:r>
          </a:p>
          <a:p>
            <a:endParaRPr lang="pt-BR" dirty="0"/>
          </a:p>
          <a:p>
            <a:r>
              <a:rPr lang="pt-BR" dirty="0"/>
              <a:t>A regressão logística é ótima para situações em que você precisa classificar entre duas categorias/classes.</a:t>
            </a:r>
          </a:p>
          <a:p>
            <a:endParaRPr lang="pt-BR" dirty="0"/>
          </a:p>
          <a:p>
            <a:r>
              <a:rPr lang="pt-BR" dirty="0"/>
              <a:t>A regressão logística funciona usando uma combinação linear de</a:t>
            </a:r>
            <a:r>
              <a:rPr lang="pt-BR" baseline="0" dirty="0"/>
              <a:t> atributos</a:t>
            </a:r>
            <a:r>
              <a:rPr lang="pt-BR" dirty="0"/>
              <a:t>, para que várias fontes de informação possam governar a saída do modelo. Os parâmetros do modelo são os pesos dos vários atributos e representam sua importância relativa para o resultado.</a:t>
            </a:r>
          </a:p>
          <a:p>
            <a:endParaRPr lang="pt-BR" dirty="0"/>
          </a:p>
          <a:p>
            <a:r>
              <a:rPr lang="pt-BR" dirty="0"/>
              <a:t>Mesmo sendo uma técnica simples, a regressão logística é muito utilizada em aplicações</a:t>
            </a:r>
            <a:r>
              <a:rPr lang="pt-BR" baseline="0" dirty="0"/>
              <a:t> do mundo real em áreas como medicina, propaganda, análise de crédito, saúde pública entre outras.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417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regressão logística, apesar de seu nome, é um modelo linear para classificação, em vez de regressão. A regressão logística também é conhecida na literatura como regressão </a:t>
            </a:r>
            <a:r>
              <a:rPr lang="pt-BR" dirty="0" err="1"/>
              <a:t>logit</a:t>
            </a:r>
            <a:r>
              <a:rPr lang="pt-BR" dirty="0"/>
              <a:t>, classificação de entropia máxima (</a:t>
            </a:r>
            <a:r>
              <a:rPr lang="pt-BR" dirty="0" err="1"/>
              <a:t>MaxEnt</a:t>
            </a:r>
            <a:r>
              <a:rPr lang="pt-BR" dirty="0"/>
              <a:t>) ou classificador log-linear. Nesse modelo, as probabilidades que descrevem os possíveis resultados de um único estudo são modeladas usando uma função logística.</a:t>
            </a:r>
          </a:p>
          <a:p>
            <a:endParaRPr lang="pt-BR" dirty="0"/>
          </a:p>
          <a:p>
            <a:r>
              <a:rPr lang="pt-BR" dirty="0"/>
              <a:t>A regressão logística é um método para classificação binária. Ela classifica </a:t>
            </a:r>
            <a:r>
              <a:rPr lang="pt-BR" baseline="0" dirty="0"/>
              <a:t>os</a:t>
            </a:r>
            <a:r>
              <a:rPr lang="pt-BR" dirty="0"/>
              <a:t> pontos de um conjunto de dados em duas classes ou categorias distintas.</a:t>
            </a:r>
          </a:p>
          <a:p>
            <a:endParaRPr lang="pt-BR" dirty="0"/>
          </a:p>
          <a:p>
            <a:r>
              <a:rPr lang="pt-BR" dirty="0"/>
              <a:t>Por simplicidade, vamos chamá-las de classe 1 e classe 2. O modelo nos dará a probabilidade de um determinado ponto (ou exemplo) pertencer à classe 2. Se a probabilidade for baixa (inferior a 50%), então o classificaremos na categoria 1. Caso contrário, ele cai na classe 2.</a:t>
            </a:r>
          </a:p>
          <a:p>
            <a:endParaRPr lang="pt-BR" dirty="0"/>
          </a:p>
          <a:p>
            <a:r>
              <a:rPr lang="pt-BR" dirty="0"/>
              <a:t>A regressão logística é ótima para situações em que você precisa classificar entre duas categorias/classes.</a:t>
            </a:r>
          </a:p>
          <a:p>
            <a:endParaRPr lang="pt-BR" dirty="0"/>
          </a:p>
          <a:p>
            <a:r>
              <a:rPr lang="pt-BR" dirty="0"/>
              <a:t>A regressão logística funciona usando uma combinação linear de</a:t>
            </a:r>
            <a:r>
              <a:rPr lang="pt-BR" baseline="0" dirty="0"/>
              <a:t> atributos</a:t>
            </a:r>
            <a:r>
              <a:rPr lang="pt-BR" dirty="0"/>
              <a:t>, para que várias fontes de informação possam governar a saída do modelo. Os parâmetros do modelo são os pesos dos vários atributos e representam sua importância relativa para o resultado.</a:t>
            </a:r>
          </a:p>
          <a:p>
            <a:endParaRPr lang="pt-BR" dirty="0"/>
          </a:p>
          <a:p>
            <a:r>
              <a:rPr lang="pt-BR" dirty="0"/>
              <a:t>Mesmo sendo uma técnica simples, a regressão logística é muito utilizada em aplicações</a:t>
            </a:r>
            <a:r>
              <a:rPr lang="pt-BR" baseline="0" dirty="0"/>
              <a:t> do mundo real em áreas como medicina, propaganda, análise de crédito, saúde pública entre outras.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26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regressão logística, apesar de seu nome, é um modelo linear para classificação, em vez de regressão. A regressão logística também é conhecida na literatura como regressão </a:t>
            </a:r>
            <a:r>
              <a:rPr lang="pt-BR" dirty="0" err="1"/>
              <a:t>logit</a:t>
            </a:r>
            <a:r>
              <a:rPr lang="pt-BR" dirty="0"/>
              <a:t>, classificação de entropia máxima (</a:t>
            </a:r>
            <a:r>
              <a:rPr lang="pt-BR" dirty="0" err="1"/>
              <a:t>MaxEnt</a:t>
            </a:r>
            <a:r>
              <a:rPr lang="pt-BR" dirty="0"/>
              <a:t>) ou classificador log-linear. Nesse modelo, as probabilidades que descrevem os possíveis resultados de um único estudo são modeladas usando uma função logística.</a:t>
            </a:r>
          </a:p>
          <a:p>
            <a:endParaRPr lang="pt-BR" dirty="0"/>
          </a:p>
          <a:p>
            <a:r>
              <a:rPr lang="pt-BR" dirty="0"/>
              <a:t>A regressão logística é um método para classificação binária. Ela classifica </a:t>
            </a:r>
            <a:r>
              <a:rPr lang="pt-BR" baseline="0" dirty="0"/>
              <a:t>os</a:t>
            </a:r>
            <a:r>
              <a:rPr lang="pt-BR" dirty="0"/>
              <a:t> pontos de um conjunto de dados em duas classes ou categorias distintas.</a:t>
            </a:r>
          </a:p>
          <a:p>
            <a:endParaRPr lang="pt-BR" dirty="0"/>
          </a:p>
          <a:p>
            <a:r>
              <a:rPr lang="pt-BR" dirty="0"/>
              <a:t>Por simplicidade, vamos chamá-las de classe 1 e classe 2. O modelo nos dará a probabilidade de um determinado ponto (ou exemplo) pertencer à classe 2. Se a probabilidade for baixa (inferior a 50%), então o classificaremos na categoria 1. Caso contrário, ele cai na classe 2.</a:t>
            </a:r>
          </a:p>
          <a:p>
            <a:endParaRPr lang="pt-BR" dirty="0"/>
          </a:p>
          <a:p>
            <a:r>
              <a:rPr lang="pt-BR" dirty="0"/>
              <a:t>A regressão logística é ótima para situações em que você precisa classificar entre duas categorias/classes.</a:t>
            </a:r>
          </a:p>
          <a:p>
            <a:endParaRPr lang="pt-BR" dirty="0"/>
          </a:p>
          <a:p>
            <a:r>
              <a:rPr lang="pt-BR" dirty="0"/>
              <a:t>A regressão logística funciona usando uma combinação linear de</a:t>
            </a:r>
            <a:r>
              <a:rPr lang="pt-BR" baseline="0" dirty="0"/>
              <a:t> atributos</a:t>
            </a:r>
            <a:r>
              <a:rPr lang="pt-BR" dirty="0"/>
              <a:t>, para que várias fontes de informação possam governar a saída do modelo. Os parâmetros do modelo são os pesos dos vários atributos e representam sua importância relativa para o resultado.</a:t>
            </a:r>
          </a:p>
          <a:p>
            <a:endParaRPr lang="pt-BR" dirty="0"/>
          </a:p>
          <a:p>
            <a:r>
              <a:rPr lang="pt-BR" dirty="0"/>
              <a:t>Mesmo sendo uma técnica simples, a regressão logística é muito utilizada em aplicações</a:t>
            </a:r>
            <a:r>
              <a:rPr lang="pt-BR" baseline="0" dirty="0"/>
              <a:t> do mundo real em áreas como medicina, propaganda, análise de crédito, saúde pública entre outras.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598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regressão logística, apesar de seu nome, é um modelo linear para classificação, em vez de regressão. A regressão logística também é conhecida na literatura como regressão </a:t>
            </a:r>
            <a:r>
              <a:rPr lang="pt-BR" dirty="0" err="1"/>
              <a:t>logit</a:t>
            </a:r>
            <a:r>
              <a:rPr lang="pt-BR" dirty="0"/>
              <a:t>, classificação de entropia máxima (</a:t>
            </a:r>
            <a:r>
              <a:rPr lang="pt-BR" dirty="0" err="1"/>
              <a:t>MaxEnt</a:t>
            </a:r>
            <a:r>
              <a:rPr lang="pt-BR" dirty="0"/>
              <a:t>) ou classificador log-linear. Nesse modelo, as probabilidades que descrevem os possíveis resultados de um único estudo são modeladas usando uma função logística.</a:t>
            </a:r>
          </a:p>
          <a:p>
            <a:endParaRPr lang="pt-BR" dirty="0"/>
          </a:p>
          <a:p>
            <a:r>
              <a:rPr lang="pt-BR" dirty="0"/>
              <a:t>A regressão logística é um método para classificação binária. Ela classifica </a:t>
            </a:r>
            <a:r>
              <a:rPr lang="pt-BR" baseline="0" dirty="0"/>
              <a:t>os</a:t>
            </a:r>
            <a:r>
              <a:rPr lang="pt-BR" dirty="0"/>
              <a:t> pontos de um conjunto de dados em duas classes ou categorias distintas.</a:t>
            </a:r>
          </a:p>
          <a:p>
            <a:endParaRPr lang="pt-BR" dirty="0"/>
          </a:p>
          <a:p>
            <a:r>
              <a:rPr lang="pt-BR" dirty="0"/>
              <a:t>Por simplicidade, vamos chamá-las de classe 1 e classe 2. O modelo nos dará a probabilidade de um determinado ponto (ou exemplo) pertencer à classe 2. Se a probabilidade for baixa (inferior a 50%), então o classificaremos na categoria 1. Caso contrário, ele cai na classe 2.</a:t>
            </a:r>
          </a:p>
          <a:p>
            <a:endParaRPr lang="pt-BR" dirty="0"/>
          </a:p>
          <a:p>
            <a:r>
              <a:rPr lang="pt-BR" dirty="0"/>
              <a:t>A regressão logística é ótima para situações em que você precisa classificar entre duas categorias/classes.</a:t>
            </a:r>
          </a:p>
          <a:p>
            <a:endParaRPr lang="pt-BR" dirty="0"/>
          </a:p>
          <a:p>
            <a:r>
              <a:rPr lang="pt-BR" dirty="0"/>
              <a:t>A regressão logística funciona usando uma combinação linear de</a:t>
            </a:r>
            <a:r>
              <a:rPr lang="pt-BR" baseline="0" dirty="0"/>
              <a:t> atributos</a:t>
            </a:r>
            <a:r>
              <a:rPr lang="pt-BR" dirty="0"/>
              <a:t>, para que várias fontes de informação possam governar a saída do modelo. Os parâmetros do modelo são os pesos dos vários atributos e representam sua importância relativa para o resultado.</a:t>
            </a:r>
          </a:p>
          <a:p>
            <a:endParaRPr lang="pt-BR" dirty="0"/>
          </a:p>
          <a:p>
            <a:r>
              <a:rPr lang="pt-BR" dirty="0"/>
              <a:t>Mesmo sendo uma técnica simples, a regressão logística é muito utilizada em aplicações</a:t>
            </a:r>
            <a:r>
              <a:rPr lang="pt-BR" baseline="0" dirty="0"/>
              <a:t> do mundo real em áreas como medicina, propaganda, análise de crédito, saúde pública entre outras.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800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BD62B9A-C89E-FE9F-0BD3-6AF978CB3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="" xmlns:a16="http://schemas.microsoft.com/office/drawing/2014/main" id="{2D0F34CF-F73E-6EDC-122F-F89A9C660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="" xmlns:a16="http://schemas.microsoft.com/office/drawing/2014/main" id="{DB49F92C-F191-44C2-39EB-8E8217C5B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regressão logística, apesar de seu nome, é um modelo linear para classificação, em vez de regressão. A regressão logística também é conhecida na literatura como regressão </a:t>
            </a:r>
            <a:r>
              <a:rPr lang="pt-BR" dirty="0" err="1"/>
              <a:t>logit</a:t>
            </a:r>
            <a:r>
              <a:rPr lang="pt-BR" dirty="0"/>
              <a:t>, classificação de entropia máxima (</a:t>
            </a:r>
            <a:r>
              <a:rPr lang="pt-BR" dirty="0" err="1"/>
              <a:t>MaxEnt</a:t>
            </a:r>
            <a:r>
              <a:rPr lang="pt-BR" dirty="0"/>
              <a:t>) ou classificador log-linear. Nesse modelo, as probabilidades que descrevem os possíveis resultados de um único estudo são modeladas usando uma função logística.</a:t>
            </a:r>
          </a:p>
          <a:p>
            <a:endParaRPr lang="pt-BR" dirty="0"/>
          </a:p>
          <a:p>
            <a:r>
              <a:rPr lang="pt-BR" dirty="0"/>
              <a:t>A regressão logística é um método para classificação binária. Ela classifica </a:t>
            </a:r>
            <a:r>
              <a:rPr lang="pt-BR" baseline="0" dirty="0"/>
              <a:t>os</a:t>
            </a:r>
            <a:r>
              <a:rPr lang="pt-BR" dirty="0"/>
              <a:t> pontos de um conjunto de dados em duas classes ou categorias distintas.</a:t>
            </a:r>
          </a:p>
          <a:p>
            <a:endParaRPr lang="pt-BR" dirty="0"/>
          </a:p>
          <a:p>
            <a:r>
              <a:rPr lang="pt-BR" dirty="0"/>
              <a:t>Por simplicidade, vamos chamá-las de classe 1 e classe 2. O modelo nos dará a probabilidade de um determinado ponto (ou exemplo) pertencer à classe 2. Se a probabilidade for baixa (inferior a 50%), então o classificaremos na categoria 1. Caso contrário, ele cai na classe 2.</a:t>
            </a:r>
          </a:p>
          <a:p>
            <a:endParaRPr lang="pt-BR" dirty="0"/>
          </a:p>
          <a:p>
            <a:r>
              <a:rPr lang="pt-BR" dirty="0"/>
              <a:t>A regressão logística é ótima para situações em que você precisa classificar entre duas categorias/classes.</a:t>
            </a:r>
          </a:p>
          <a:p>
            <a:endParaRPr lang="pt-BR" dirty="0"/>
          </a:p>
          <a:p>
            <a:r>
              <a:rPr lang="pt-BR" dirty="0"/>
              <a:t>A regressão logística funciona usando uma combinação linear de</a:t>
            </a:r>
            <a:r>
              <a:rPr lang="pt-BR" baseline="0" dirty="0"/>
              <a:t> atributos</a:t>
            </a:r>
            <a:r>
              <a:rPr lang="pt-BR" dirty="0"/>
              <a:t>, para que várias fontes de informação possam governar a saída do modelo. Os parâmetros do modelo são os pesos dos vários atributos e representam sua importância relativa para o resultado.</a:t>
            </a:r>
          </a:p>
          <a:p>
            <a:endParaRPr lang="pt-BR" dirty="0"/>
          </a:p>
          <a:p>
            <a:r>
              <a:rPr lang="pt-BR" dirty="0"/>
              <a:t>Mesmo sendo uma técnica simples, a regressão logística é muito utilizada em aplicações</a:t>
            </a:r>
            <a:r>
              <a:rPr lang="pt-BR" baseline="0" dirty="0"/>
              <a:t> do mundo real em áreas como medicina, propaganda, análise de crédito, saúde pública entre outras.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1CDB2C6B-389B-DF7C-9CD4-5DA63FEB1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746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 regressão logística, apesar de seu nome, é um modelo linear para classificação, em vez de regressão. A regressão logística também é conhecida na literatura como regressão </a:t>
            </a:r>
            <a:r>
              <a:rPr lang="pt-BR" dirty="0" err="1"/>
              <a:t>logit</a:t>
            </a:r>
            <a:r>
              <a:rPr lang="pt-BR" dirty="0"/>
              <a:t>, classificação de entropia máxima (</a:t>
            </a:r>
            <a:r>
              <a:rPr lang="pt-BR" dirty="0" err="1"/>
              <a:t>MaxEnt</a:t>
            </a:r>
            <a:r>
              <a:rPr lang="pt-BR" dirty="0"/>
              <a:t>) ou classificador log-linear. Nesse modelo, as probabilidades que descrevem os possíveis resultados de um único estudo são modeladas usando uma função logística.</a:t>
            </a:r>
          </a:p>
          <a:p>
            <a:endParaRPr lang="pt-BR" dirty="0"/>
          </a:p>
          <a:p>
            <a:r>
              <a:rPr lang="pt-BR" dirty="0"/>
              <a:t>A regressão logística é um método para classificação binária. Ela classifica </a:t>
            </a:r>
            <a:r>
              <a:rPr lang="pt-BR" baseline="0" dirty="0"/>
              <a:t>os</a:t>
            </a:r>
            <a:r>
              <a:rPr lang="pt-BR" dirty="0"/>
              <a:t> pontos de um conjunto de dados em duas classes ou categorias distintas.</a:t>
            </a:r>
          </a:p>
          <a:p>
            <a:endParaRPr lang="pt-BR" dirty="0"/>
          </a:p>
          <a:p>
            <a:r>
              <a:rPr lang="pt-BR" dirty="0"/>
              <a:t>Por simplicidade, vamos chamá-las de classe 1 e classe 2. O modelo nos dará a probabilidade de um determinado ponto (ou exemplo) pertencer à classe 2. Se a probabilidade for baixa (inferior a 50%), então o classificaremos na categoria 1. Caso contrário, ele cai na classe 2.</a:t>
            </a:r>
          </a:p>
          <a:p>
            <a:endParaRPr lang="pt-BR" dirty="0"/>
          </a:p>
          <a:p>
            <a:r>
              <a:rPr lang="pt-BR" dirty="0"/>
              <a:t>A regressão logística é ótima para situações em que você precisa classificar entre duas categorias/classes.</a:t>
            </a:r>
          </a:p>
          <a:p>
            <a:endParaRPr lang="pt-BR" dirty="0"/>
          </a:p>
          <a:p>
            <a:r>
              <a:rPr lang="pt-BR" dirty="0"/>
              <a:t>A regressão logística funciona usando uma combinação linear de</a:t>
            </a:r>
            <a:r>
              <a:rPr lang="pt-BR" baseline="0" dirty="0"/>
              <a:t> atributos</a:t>
            </a:r>
            <a:r>
              <a:rPr lang="pt-BR" dirty="0"/>
              <a:t>, para que várias fontes de informação possam governar a saída do modelo. Os parâmetros do modelo são os pesos dos vários atributos e representam sua importância relativa para o resultado.</a:t>
            </a:r>
          </a:p>
          <a:p>
            <a:endParaRPr lang="pt-BR" dirty="0"/>
          </a:p>
          <a:p>
            <a:r>
              <a:rPr lang="pt-BR" dirty="0"/>
              <a:t>Mesmo sendo uma técnica simples, a regressão logística é muito utilizada em aplicações</a:t>
            </a:r>
            <a:r>
              <a:rPr lang="pt-BR" baseline="0" dirty="0"/>
              <a:t> do mundo real em áreas como medicina, propaganda, análise de crédito, saúde pública entre outras.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3306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 regression is emphatically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classification algorithm on its own. It is only a classification algorithm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combination with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decision rule that makes dichotomous the predicted probabilities of the outcome. Logistic regression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regression model because it estimates the probability of class membership as a (transformation of a) multilinear function of the features.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9245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 regression is emphatically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classification algorithm on its own. It is only a classification algorithm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combination with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decision rule that makes dichotomous the predicted probabilities of the outcome. Logistic regression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regression model because it estimates the probability of class membership as a (transformation of a) multilinear function of the features.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629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O objetivo do treinamento é definir o vetor de pesos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 para que o modelo atribua valores altos de probabilidade para exemplos positivos (i.e.,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pt-BR" dirty="0"/>
                  <a:t>) e valores baixos de probabilidade para exemplos negativos (i.e.,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Essa</a:t>
                </a:r>
                <a:r>
                  <a:rPr lang="pt-BR" baseline="0" dirty="0"/>
                  <a:t> função de</a:t>
                </a:r>
                <a:r>
                  <a:rPr lang="pt-BR" dirty="0"/>
                  <a:t> erro</a:t>
                </a:r>
                <a:r>
                  <a:rPr lang="pt-BR" baseline="0" dirty="0"/>
                  <a:t> </a:t>
                </a:r>
                <a:r>
                  <a:rPr lang="pt-BR" dirty="0"/>
                  <a:t>faz sentido porque -log(z) se torna muito grande quando z</a:t>
                </a:r>
                <a:r>
                  <a:rPr lang="pt-BR" baseline="0" dirty="0"/>
                  <a:t> </a:t>
                </a:r>
                <a:r>
                  <a:rPr lang="pt-BR" dirty="0"/>
                  <a:t>se aproxima de 0, então o erro será grande se o modelo estimar uma probabilidade próxima a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 e também será muito grande se o modelo estimar uma probabilidade próxima a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negativo. Por outro lado, -log(z) se</a:t>
                </a:r>
                <a:r>
                  <a:rPr lang="pt-BR" baseline="0" dirty="0"/>
                  <a:t> torna</a:t>
                </a:r>
                <a:r>
                  <a:rPr lang="pt-BR" dirty="0"/>
                  <a:t> próximo de 0 quando z se aproxima de 1, portanto, o erro será próximo de 0 se a probabilidade estimada for próxima de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 ou próxima de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positivo, que é exatamente o que queremos.</a:t>
                </a:r>
              </a:p>
              <a:p>
                <a:endParaRPr lang="pt-BR" dirty="0"/>
              </a:p>
              <a:p>
                <a:r>
                  <a:rPr lang="pt-BR" dirty="0"/>
                  <a:t>Referência:</a:t>
                </a:r>
              </a:p>
              <a:p>
                <a:r>
                  <a:rPr lang="pt-BR" dirty="0"/>
                  <a:t>[1] https://www.baeldung.com/cs/cost-function-logistic-regression-logarithmic-expr#:~:text=The%20error%20function%20is%20the,descent%20requires%20convex%20cost%20functions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O objetivo do treinamento é definir o vetor de pesos </a:t>
                </a:r>
                <a:r>
                  <a:rPr lang="pt-BR" b="1" i="0">
                    <a:latin typeface="Cambria Math" panose="02040503050406030204" pitchFamily="18" charset="0"/>
                  </a:rPr>
                  <a:t>𝒂</a:t>
                </a:r>
                <a:r>
                  <a:rPr lang="pt-BR" dirty="0"/>
                  <a:t> para que o modelo atribua valores altos de probabilidade para exemplos positivos (i.e., </a:t>
                </a:r>
                <a:r>
                  <a:rPr lang="pt-BR" b="0" i="0">
                    <a:latin typeface="Cambria Math" panose="02040503050406030204" pitchFamily="18" charset="0"/>
                  </a:rPr>
                  <a:t>𝑦</a:t>
                </a:r>
                <a:r>
                  <a:rPr lang="pt-B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≥0.5</a:t>
                </a:r>
                <a:r>
                  <a:rPr lang="pt-BR" dirty="0"/>
                  <a:t>) e valores baixos de probabilidade para exemplos negativos (i.e., </a:t>
                </a:r>
                <a:r>
                  <a:rPr lang="pt-BR" i="0">
                    <a:latin typeface="Cambria Math" panose="02040503050406030204" pitchFamily="18" charset="0"/>
                  </a:rPr>
                  <a:t>𝑦</a:t>
                </a:r>
                <a:r>
                  <a:rPr lang="pt-BR" b="0" i="0">
                    <a:latin typeface="Cambria Math" panose="02040503050406030204" pitchFamily="18" charset="0"/>
                  </a:rPr>
                  <a:t>&lt;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0.5</a:t>
                </a:r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Essa</a:t>
                </a:r>
                <a:r>
                  <a:rPr lang="pt-BR" baseline="0" dirty="0"/>
                  <a:t> função de</a:t>
                </a:r>
                <a:r>
                  <a:rPr lang="pt-BR" dirty="0"/>
                  <a:t> erro</a:t>
                </a:r>
                <a:r>
                  <a:rPr lang="pt-BR" baseline="0" dirty="0"/>
                  <a:t> </a:t>
                </a:r>
                <a:r>
                  <a:rPr lang="pt-BR" dirty="0"/>
                  <a:t>faz sentido porque -log(z) se torna muito grande quando z</a:t>
                </a:r>
                <a:r>
                  <a:rPr lang="pt-BR" baseline="0" dirty="0"/>
                  <a:t> </a:t>
                </a:r>
                <a:r>
                  <a:rPr lang="pt-BR" dirty="0"/>
                  <a:t>se aproxima de 0, então o erro será grande se o modelo estimar uma probabilidade próxima a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 e também será muito grande se o modelo estimar uma probabilidade próxima a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negativo. Por outro lado, -log(z) se</a:t>
                </a:r>
                <a:r>
                  <a:rPr lang="pt-BR" baseline="0" dirty="0"/>
                  <a:t> torna</a:t>
                </a:r>
                <a:r>
                  <a:rPr lang="pt-BR" dirty="0"/>
                  <a:t> próximo de 0 quando z se aproxima de 1, portanto, o erro será próximo de 0 se a probabilidade estimada for próxima de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 ou próxima de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positivo, que é exatamente o que queremos.</a:t>
                </a:r>
              </a:p>
              <a:p>
                <a:endParaRPr lang="pt-BR" dirty="0"/>
              </a:p>
              <a:p>
                <a:r>
                  <a:rPr lang="pt-BR" dirty="0"/>
                  <a:t>Referência:</a:t>
                </a:r>
              </a:p>
              <a:p>
                <a:r>
                  <a:rPr lang="pt-BR" dirty="0"/>
                  <a:t>[1] https://www.baeldung.com/cs/cost-function-logistic-regression-logarithmic-expr#:~:text=The%20error%20function%20is%20the,descent%20requires%20convex%20cost%20functions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948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O objetivo do treinamento é definir o vetor de pesos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 para que o modelo atribua valores altos de probabilidade para exemplos positivos (i.e.,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pt-BR" dirty="0"/>
                  <a:t>) e valores baixos de probabilidade para exemplos negativos (i.e.,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Essa</a:t>
                </a:r>
                <a:r>
                  <a:rPr lang="pt-BR" baseline="0" dirty="0"/>
                  <a:t> função de</a:t>
                </a:r>
                <a:r>
                  <a:rPr lang="pt-BR" dirty="0"/>
                  <a:t> erro</a:t>
                </a:r>
                <a:r>
                  <a:rPr lang="pt-BR" baseline="0" dirty="0"/>
                  <a:t> </a:t>
                </a:r>
                <a:r>
                  <a:rPr lang="pt-BR" dirty="0"/>
                  <a:t>faz sentido porque -log(z) se torna muito grande quando z</a:t>
                </a:r>
                <a:r>
                  <a:rPr lang="pt-BR" baseline="0" dirty="0"/>
                  <a:t> </a:t>
                </a:r>
                <a:r>
                  <a:rPr lang="pt-BR" dirty="0"/>
                  <a:t>se aproxima de 0, então o erro será grande se o modelo estimar uma probabilidade próxima a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 e também será muito grande se o modelo estimar uma probabilidade próxima a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negativo. Por outro lado, -log(z) se</a:t>
                </a:r>
                <a:r>
                  <a:rPr lang="pt-BR" baseline="0" dirty="0"/>
                  <a:t> torna</a:t>
                </a:r>
                <a:r>
                  <a:rPr lang="pt-BR" dirty="0"/>
                  <a:t> próximo de 0 quando z se aproxima de 1, portanto, o erro será próximo de 0 se a probabilidade estimada for próxima de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 ou próxima de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positivo, que é exatamente o que queremos.</a:t>
                </a:r>
              </a:p>
              <a:p>
                <a:endParaRPr lang="pt-BR" dirty="0"/>
              </a:p>
              <a:p>
                <a:r>
                  <a:rPr lang="pt-BR" dirty="0"/>
                  <a:t>Referência:</a:t>
                </a:r>
              </a:p>
              <a:p>
                <a:r>
                  <a:rPr lang="pt-BR" dirty="0"/>
                  <a:t>[1] https://www.baeldung.com/cs/cost-function-logistic-regression-logarithmic-expr#:~:text=The%20error%20function%20is%20the,descent%20requires%20convex%20cost%20functions</a:t>
                </a:r>
              </a:p>
              <a:p>
                <a:r>
                  <a:rPr lang="pt-BR" dirty="0"/>
                  <a:t>[2] https://www.google.com/url?sa=i&amp;url=https%3A%2F%2Fwww.cs.ubc.ca%2Flabs%2Flci%2Fmlrg%2Fslides%2Fnon_convex_optimization.pdf&amp;psig=AOvVaw0AaqLwjchgyY7K1ckrTpcs&amp;ust=1693136067560000&amp;source=images&amp;cd=vfe&amp;opi=89978449&amp;ved=0CBIQjhxqFwoTCKDc18Cd-oADFQAAAAAdAAAAABAE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O objetivo do treinamento é definir o vetor de pesos </a:t>
                </a:r>
                <a:r>
                  <a:rPr lang="pt-BR" b="1" i="0">
                    <a:latin typeface="Cambria Math" panose="02040503050406030204" pitchFamily="18" charset="0"/>
                  </a:rPr>
                  <a:t>𝒂</a:t>
                </a:r>
                <a:r>
                  <a:rPr lang="pt-BR" dirty="0"/>
                  <a:t> para que o modelo atribua valores altos de probabilidade para exemplos positivos (i.e., </a:t>
                </a:r>
                <a:r>
                  <a:rPr lang="pt-BR" b="0" i="0">
                    <a:latin typeface="Cambria Math" panose="02040503050406030204" pitchFamily="18" charset="0"/>
                  </a:rPr>
                  <a:t>𝑦</a:t>
                </a:r>
                <a:r>
                  <a:rPr lang="pt-B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≥0.5</a:t>
                </a:r>
                <a:r>
                  <a:rPr lang="pt-BR" dirty="0"/>
                  <a:t>) e valores baixos de probabilidade para exemplos negativos (i.e., </a:t>
                </a:r>
                <a:r>
                  <a:rPr lang="pt-BR" i="0">
                    <a:latin typeface="Cambria Math" panose="02040503050406030204" pitchFamily="18" charset="0"/>
                  </a:rPr>
                  <a:t>𝑦</a:t>
                </a:r>
                <a:r>
                  <a:rPr lang="pt-BR" b="0" i="0">
                    <a:latin typeface="Cambria Math" panose="02040503050406030204" pitchFamily="18" charset="0"/>
                  </a:rPr>
                  <a:t>&lt;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0.5</a:t>
                </a:r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Essa</a:t>
                </a:r>
                <a:r>
                  <a:rPr lang="pt-BR" baseline="0" dirty="0"/>
                  <a:t> função de</a:t>
                </a:r>
                <a:r>
                  <a:rPr lang="pt-BR" dirty="0"/>
                  <a:t> erro</a:t>
                </a:r>
                <a:r>
                  <a:rPr lang="pt-BR" baseline="0" dirty="0"/>
                  <a:t> </a:t>
                </a:r>
                <a:r>
                  <a:rPr lang="pt-BR" dirty="0"/>
                  <a:t>faz sentido porque -log(z) se torna muito grande quando z</a:t>
                </a:r>
                <a:r>
                  <a:rPr lang="pt-BR" baseline="0" dirty="0"/>
                  <a:t> </a:t>
                </a:r>
                <a:r>
                  <a:rPr lang="pt-BR" dirty="0"/>
                  <a:t>se aproxima de 0, então o erro será grande se o modelo estimar uma probabilidade próxima a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 e também será muito grande se o modelo estimar uma probabilidade próxima a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negativo. Por outro lado, -log(z) se</a:t>
                </a:r>
                <a:r>
                  <a:rPr lang="pt-BR" baseline="0" dirty="0"/>
                  <a:t> torna</a:t>
                </a:r>
                <a:r>
                  <a:rPr lang="pt-BR" dirty="0"/>
                  <a:t> próximo de 0 quando z se aproxima de 1, portanto, o erro será próximo de 0 se a probabilidade estimada for próxima de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 ou próxima de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positivo, que é exatamente o que queremos.</a:t>
                </a:r>
              </a:p>
              <a:p>
                <a:endParaRPr lang="pt-BR" dirty="0"/>
              </a:p>
              <a:p>
                <a:r>
                  <a:rPr lang="pt-BR" dirty="0"/>
                  <a:t>Referência:</a:t>
                </a:r>
              </a:p>
              <a:p>
                <a:r>
                  <a:rPr lang="pt-BR" dirty="0"/>
                  <a:t>[1] https://www.baeldung.com/cs/cost-function-logistic-regression-logarithmic-expr#:~:text=The%20error%20function%20is%20the,descent%20requires%20convex%20cost%20functions</a:t>
                </a:r>
              </a:p>
              <a:p>
                <a:r>
                  <a:rPr lang="pt-BR" dirty="0"/>
                  <a:t>[2] https://www.google.com/url?sa=i&amp;url=https%3A%2F%2Fwww.cs.ubc.ca%2Flabs%2Flci%2Fmlrg%2Fslides%2Fnon_convex_optimization.pdf&amp;psig=AOvVaw0AaqLwjchgyY7K1ckrTpcs&amp;ust=1693136067560000&amp;source=images&amp;cd=vfe&amp;opi=89978449&amp;ved=0CBIQjhxqFwoTCKDc18Cd-oADFQAAAAAdAAAAABAE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547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O objetivo do treinamento é definir o vetor de pesos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 para que o modelo atribua valores altos de probabilidade para exemplos positivos (i.e.,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pt-BR" dirty="0"/>
                  <a:t>) e valores baixos de probabilidade para exemplos negativos (i.e.,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Essa</a:t>
                </a:r>
                <a:r>
                  <a:rPr lang="pt-BR" baseline="0" dirty="0"/>
                  <a:t> função de</a:t>
                </a:r>
                <a:r>
                  <a:rPr lang="pt-BR" dirty="0"/>
                  <a:t> erro</a:t>
                </a:r>
                <a:r>
                  <a:rPr lang="pt-BR" baseline="0" dirty="0"/>
                  <a:t> </a:t>
                </a:r>
                <a:r>
                  <a:rPr lang="pt-BR" dirty="0"/>
                  <a:t>faz sentido porque -log(z) se torna muito grande quando z</a:t>
                </a:r>
                <a:r>
                  <a:rPr lang="pt-BR" baseline="0" dirty="0"/>
                  <a:t> </a:t>
                </a:r>
                <a:r>
                  <a:rPr lang="pt-BR" dirty="0"/>
                  <a:t>se aproxima de 0, então o erro será grande se o modelo estimar uma probabilidade próxima a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 e também será muito grande se o modelo estimar uma probabilidade próxima a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negativo. Por outro lado, -log(z) se</a:t>
                </a:r>
                <a:r>
                  <a:rPr lang="pt-BR" baseline="0" dirty="0"/>
                  <a:t> torna</a:t>
                </a:r>
                <a:r>
                  <a:rPr lang="pt-BR" dirty="0"/>
                  <a:t> próximo de 0 quando z se aproxima de 1, portanto, o erro será próximo de 0 se a probabilidade estimada for próxima de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 ou próxima de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positivo, que é exatamente o que queremos.</a:t>
                </a:r>
              </a:p>
              <a:p>
                <a:endParaRPr lang="pt-BR" dirty="0"/>
              </a:p>
              <a:p>
                <a:r>
                  <a:rPr lang="pt-BR" dirty="0"/>
                  <a:t>Referência:</a:t>
                </a:r>
              </a:p>
              <a:p>
                <a:r>
                  <a:rPr lang="pt-BR" dirty="0"/>
                  <a:t>[1] https://www.baeldung.com/cs/cost-function-logistic-regression-logarithmic-expr#:~:text=The%20error%20function%20is%20the,descent%20requires%20convex%20cost%20functions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O objetivo do treinamento é definir o vetor de pesos </a:t>
                </a:r>
                <a:r>
                  <a:rPr lang="pt-BR" b="1" i="0">
                    <a:latin typeface="Cambria Math" panose="02040503050406030204" pitchFamily="18" charset="0"/>
                  </a:rPr>
                  <a:t>𝒂</a:t>
                </a:r>
                <a:r>
                  <a:rPr lang="pt-BR" dirty="0"/>
                  <a:t> para que o modelo atribua valores altos de probabilidade para exemplos positivos (i.e., </a:t>
                </a:r>
                <a:r>
                  <a:rPr lang="pt-BR" b="0" i="0">
                    <a:latin typeface="Cambria Math" panose="02040503050406030204" pitchFamily="18" charset="0"/>
                  </a:rPr>
                  <a:t>𝑦</a:t>
                </a:r>
                <a:r>
                  <a:rPr lang="pt-B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≥0.5</a:t>
                </a:r>
                <a:r>
                  <a:rPr lang="pt-BR" dirty="0"/>
                  <a:t>) e valores baixos de probabilidade para exemplos negativos (i.e., </a:t>
                </a:r>
                <a:r>
                  <a:rPr lang="pt-BR" i="0">
                    <a:latin typeface="Cambria Math" panose="02040503050406030204" pitchFamily="18" charset="0"/>
                  </a:rPr>
                  <a:t>𝑦</a:t>
                </a:r>
                <a:r>
                  <a:rPr lang="pt-BR" b="0" i="0">
                    <a:latin typeface="Cambria Math" panose="02040503050406030204" pitchFamily="18" charset="0"/>
                  </a:rPr>
                  <a:t>&lt;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0.5</a:t>
                </a:r>
                <a:r>
                  <a:rPr lang="pt-BR" dirty="0"/>
                  <a:t>).</a:t>
                </a:r>
              </a:p>
              <a:p>
                <a:endParaRPr lang="pt-BR" dirty="0"/>
              </a:p>
              <a:p>
                <a:r>
                  <a:rPr lang="pt-BR" dirty="0"/>
                  <a:t>Essa</a:t>
                </a:r>
                <a:r>
                  <a:rPr lang="pt-BR" baseline="0" dirty="0"/>
                  <a:t> função de</a:t>
                </a:r>
                <a:r>
                  <a:rPr lang="pt-BR" dirty="0"/>
                  <a:t> erro</a:t>
                </a:r>
                <a:r>
                  <a:rPr lang="pt-BR" baseline="0" dirty="0"/>
                  <a:t> </a:t>
                </a:r>
                <a:r>
                  <a:rPr lang="pt-BR" dirty="0"/>
                  <a:t>faz sentido porque -log(z) se torna muito grande quando z</a:t>
                </a:r>
                <a:r>
                  <a:rPr lang="pt-BR" baseline="0" dirty="0"/>
                  <a:t> </a:t>
                </a:r>
                <a:r>
                  <a:rPr lang="pt-BR" dirty="0"/>
                  <a:t>se aproxima de 0, então o erro será grande se o modelo estimar uma probabilidade próxima a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 e também será muito grande se o modelo estimar uma probabilidade próxima a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negativo. Por outro lado, -log(z) se</a:t>
                </a:r>
                <a:r>
                  <a:rPr lang="pt-BR" baseline="0" dirty="0"/>
                  <a:t> torna</a:t>
                </a:r>
                <a:r>
                  <a:rPr lang="pt-BR" dirty="0"/>
                  <a:t> próximo de 0 quando z se aproxima de 1, portanto, o erro será próximo de 0 se a probabilidade estimada for próxima de 0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negativo ou próxima de 1 para um</a:t>
                </a:r>
                <a:r>
                  <a:rPr lang="pt-BR" baseline="0" dirty="0"/>
                  <a:t> exemplo </a:t>
                </a:r>
                <a:r>
                  <a:rPr lang="pt-BR" dirty="0"/>
                  <a:t>positivo, que é exatamente o que queremos.</a:t>
                </a:r>
              </a:p>
              <a:p>
                <a:endParaRPr lang="pt-BR" dirty="0"/>
              </a:p>
              <a:p>
                <a:r>
                  <a:rPr lang="pt-BR" dirty="0"/>
                  <a:t>Referência:</a:t>
                </a:r>
              </a:p>
              <a:p>
                <a:r>
                  <a:rPr lang="pt-BR" dirty="0"/>
                  <a:t>[1] https://www.baeldung.com/cs/cost-function-logistic-regression-logarithmic-expr#:~:text=The%20error%20function%20is%20the,descent%20requires%20convex%20cost%20functions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805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Na</a:t>
                </a:r>
                <a:r>
                  <a:rPr lang="pt-BR" baseline="0" dirty="0"/>
                  <a:t> figura da esquerda</a:t>
                </a:r>
                <a:r>
                  <a:rPr lang="pt-BR" dirty="0"/>
                  <a:t>, o erro</a:t>
                </a:r>
                <a:r>
                  <a:rPr lang="pt-BR" baseline="0" dirty="0"/>
                  <a:t> </a:t>
                </a:r>
                <a:r>
                  <a:rPr lang="pt-BR" dirty="0"/>
                  <a:t>é nulo somente se a saída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= 1  (ou seja, se a 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é corretamente identificada). À medida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→ 0, o erro tende a infinito.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Na</a:t>
                </a:r>
                <a:r>
                  <a:rPr lang="pt-BR" baseline="0" dirty="0"/>
                  <a:t> figura da direita</a:t>
                </a:r>
                <a:r>
                  <a:rPr lang="pt-BR" dirty="0"/>
                  <a:t>, o erro é nulo quando a saída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= 0 (ou seja, quando a 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é corretamente identificada). Conforme</a:t>
                </a:r>
                <a:r>
                  <a:rPr lang="pt-BR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→1, o erro tende a infinito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Na</a:t>
                </a:r>
                <a:r>
                  <a:rPr lang="pt-BR" baseline="0" dirty="0"/>
                  <a:t> figura da esquerda</a:t>
                </a:r>
                <a:r>
                  <a:rPr lang="pt-BR" dirty="0"/>
                  <a:t>, o erro</a:t>
                </a:r>
                <a:r>
                  <a:rPr lang="pt-BR" baseline="0" dirty="0"/>
                  <a:t> </a:t>
                </a:r>
                <a:r>
                  <a:rPr lang="pt-BR" dirty="0"/>
                  <a:t>é nulo somente se a saída é </a:t>
                </a:r>
                <a:r>
                  <a:rPr lang="pt-BR" i="0">
                    <a:latin typeface="Cambria Math" panose="02040503050406030204" pitchFamily="18" charset="0"/>
                  </a:rPr>
                  <a:t>ℎ_</a:t>
                </a:r>
                <a:r>
                  <a:rPr lang="pt-BR" b="1" i="0">
                    <a:latin typeface="Cambria Math" panose="02040503050406030204" pitchFamily="18" charset="0"/>
                  </a:rPr>
                  <a:t>𝒂 </a:t>
                </a:r>
                <a:r>
                  <a:rPr lang="pt-BR" i="0">
                    <a:latin typeface="Cambria Math" panose="02040503050406030204" pitchFamily="18" charset="0"/>
                  </a:rPr>
                  <a:t>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dirty="0"/>
                  <a:t> = 1  (ou seja, se a classe </a:t>
                </a:r>
                <a:r>
                  <a:rPr lang="pt-BR" i="0">
                    <a:latin typeface="Cambria Math" panose="02040503050406030204" pitchFamily="18" charset="0"/>
                  </a:rPr>
                  <a:t>𝐶_2</a:t>
                </a:r>
                <a:r>
                  <a:rPr lang="pt-BR" dirty="0"/>
                  <a:t> é corretamente identificada). À medida que </a:t>
                </a:r>
                <a:r>
                  <a:rPr lang="pt-BR" i="0">
                    <a:latin typeface="Cambria Math" panose="02040503050406030204" pitchFamily="18" charset="0"/>
                  </a:rPr>
                  <a:t>ℎ_</a:t>
                </a:r>
                <a:r>
                  <a:rPr lang="pt-BR" b="1" i="0">
                    <a:latin typeface="Cambria Math" panose="02040503050406030204" pitchFamily="18" charset="0"/>
                  </a:rPr>
                  <a:t>𝒂 </a:t>
                </a:r>
                <a:r>
                  <a:rPr lang="pt-BR" i="0">
                    <a:latin typeface="Cambria Math" panose="02040503050406030204" pitchFamily="18" charset="0"/>
                  </a:rPr>
                  <a:t>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dirty="0"/>
                  <a:t> → 0, o erro tende a infinito.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Na</a:t>
                </a:r>
                <a:r>
                  <a:rPr lang="pt-BR" baseline="0" dirty="0"/>
                  <a:t> figura da direita</a:t>
                </a:r>
                <a:r>
                  <a:rPr lang="pt-BR" dirty="0"/>
                  <a:t>, o erro é nulo quando a saída é </a:t>
                </a:r>
                <a:r>
                  <a:rPr lang="pt-BR" i="0">
                    <a:latin typeface="Cambria Math" panose="02040503050406030204" pitchFamily="18" charset="0"/>
                  </a:rPr>
                  <a:t>ℎ_</a:t>
                </a:r>
                <a:r>
                  <a:rPr lang="pt-BR" b="1" i="0">
                    <a:latin typeface="Cambria Math" panose="02040503050406030204" pitchFamily="18" charset="0"/>
                  </a:rPr>
                  <a:t>𝒂 </a:t>
                </a:r>
                <a:r>
                  <a:rPr lang="pt-BR" i="0">
                    <a:latin typeface="Cambria Math" panose="02040503050406030204" pitchFamily="18" charset="0"/>
                  </a:rPr>
                  <a:t>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dirty="0"/>
                  <a:t> = 0 (ou seja, quando a classe </a:t>
                </a:r>
                <a:r>
                  <a:rPr lang="pt-BR" i="0">
                    <a:latin typeface="Cambria Math" panose="02040503050406030204" pitchFamily="18" charset="0"/>
                  </a:rPr>
                  <a:t>𝐶_</a:t>
                </a:r>
                <a:r>
                  <a:rPr lang="pt-BR" b="0" i="0">
                    <a:latin typeface="Cambria Math" panose="02040503050406030204" pitchFamily="18" charset="0"/>
                  </a:rPr>
                  <a:t>1</a:t>
                </a:r>
                <a:r>
                  <a:rPr lang="pt-BR" dirty="0"/>
                  <a:t> é corretamente identificada). Conforme</a:t>
                </a:r>
                <a:r>
                  <a:rPr lang="pt-BR" baseline="0" dirty="0"/>
                  <a:t> </a:t>
                </a:r>
                <a:r>
                  <a:rPr lang="pt-BR" i="0">
                    <a:latin typeface="Cambria Math" panose="02040503050406030204" pitchFamily="18" charset="0"/>
                  </a:rPr>
                  <a:t>ℎ_</a:t>
                </a:r>
                <a:r>
                  <a:rPr lang="pt-BR" b="1" i="0">
                    <a:latin typeface="Cambria Math" panose="02040503050406030204" pitchFamily="18" charset="0"/>
                  </a:rPr>
                  <a:t>𝒂 </a:t>
                </a:r>
                <a:r>
                  <a:rPr lang="pt-BR" i="0">
                    <a:latin typeface="Cambria Math" panose="02040503050406030204" pitchFamily="18" charset="0"/>
                  </a:rPr>
                  <a:t>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dirty="0"/>
                  <a:t> →1, o erro tende a infinito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469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Na</a:t>
                </a:r>
                <a:r>
                  <a:rPr lang="pt-BR" baseline="0" dirty="0"/>
                  <a:t> figura da esquerda</a:t>
                </a:r>
                <a:r>
                  <a:rPr lang="pt-BR" dirty="0"/>
                  <a:t>, o erro</a:t>
                </a:r>
                <a:r>
                  <a:rPr lang="pt-BR" baseline="0" dirty="0"/>
                  <a:t> </a:t>
                </a:r>
                <a:r>
                  <a:rPr lang="pt-BR" dirty="0"/>
                  <a:t>é nulo somente se a saída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= 1  (ou seja, se a 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é corretamente identificada). À medida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→ 0, o erro tende a infinito.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Na</a:t>
                </a:r>
                <a:r>
                  <a:rPr lang="pt-BR" baseline="0" dirty="0"/>
                  <a:t> figura da direita</a:t>
                </a:r>
                <a:r>
                  <a:rPr lang="pt-BR" dirty="0"/>
                  <a:t>, o erro é nulo quando a saída 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= 0 (ou seja, quando a 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é corretamente identificada). Conforme</a:t>
                </a:r>
                <a:r>
                  <a:rPr lang="pt-BR" baseline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→1, o erro tende a infinito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Na</a:t>
                </a:r>
                <a:r>
                  <a:rPr lang="pt-BR" baseline="0" dirty="0"/>
                  <a:t> figura da esquerda</a:t>
                </a:r>
                <a:r>
                  <a:rPr lang="pt-BR" dirty="0"/>
                  <a:t>, o erro</a:t>
                </a:r>
                <a:r>
                  <a:rPr lang="pt-BR" baseline="0" dirty="0"/>
                  <a:t> </a:t>
                </a:r>
                <a:r>
                  <a:rPr lang="pt-BR" dirty="0"/>
                  <a:t>é nulo somente se a saída é </a:t>
                </a:r>
                <a:r>
                  <a:rPr lang="pt-BR" i="0">
                    <a:latin typeface="Cambria Math" panose="02040503050406030204" pitchFamily="18" charset="0"/>
                  </a:rPr>
                  <a:t>ℎ_</a:t>
                </a:r>
                <a:r>
                  <a:rPr lang="pt-BR" b="1" i="0">
                    <a:latin typeface="Cambria Math" panose="02040503050406030204" pitchFamily="18" charset="0"/>
                  </a:rPr>
                  <a:t>𝒂 </a:t>
                </a:r>
                <a:r>
                  <a:rPr lang="pt-BR" i="0">
                    <a:latin typeface="Cambria Math" panose="02040503050406030204" pitchFamily="18" charset="0"/>
                  </a:rPr>
                  <a:t>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dirty="0"/>
                  <a:t> = 1  (ou seja, se a classe </a:t>
                </a:r>
                <a:r>
                  <a:rPr lang="pt-BR" i="0">
                    <a:latin typeface="Cambria Math" panose="02040503050406030204" pitchFamily="18" charset="0"/>
                  </a:rPr>
                  <a:t>𝐶_2</a:t>
                </a:r>
                <a:r>
                  <a:rPr lang="pt-BR" dirty="0"/>
                  <a:t> é corretamente identificada). À medida que </a:t>
                </a:r>
                <a:r>
                  <a:rPr lang="pt-BR" i="0">
                    <a:latin typeface="Cambria Math" panose="02040503050406030204" pitchFamily="18" charset="0"/>
                  </a:rPr>
                  <a:t>ℎ_</a:t>
                </a:r>
                <a:r>
                  <a:rPr lang="pt-BR" b="1" i="0">
                    <a:latin typeface="Cambria Math" panose="02040503050406030204" pitchFamily="18" charset="0"/>
                  </a:rPr>
                  <a:t>𝒂 </a:t>
                </a:r>
                <a:r>
                  <a:rPr lang="pt-BR" i="0">
                    <a:latin typeface="Cambria Math" panose="02040503050406030204" pitchFamily="18" charset="0"/>
                  </a:rPr>
                  <a:t>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dirty="0"/>
                  <a:t> → 0, o erro tende a infinito.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Na</a:t>
                </a:r>
                <a:r>
                  <a:rPr lang="pt-BR" baseline="0" dirty="0"/>
                  <a:t> figura da direita</a:t>
                </a:r>
                <a:r>
                  <a:rPr lang="pt-BR" dirty="0"/>
                  <a:t>, o erro é nulo quando a saída é </a:t>
                </a:r>
                <a:r>
                  <a:rPr lang="pt-BR" i="0">
                    <a:latin typeface="Cambria Math" panose="02040503050406030204" pitchFamily="18" charset="0"/>
                  </a:rPr>
                  <a:t>ℎ_</a:t>
                </a:r>
                <a:r>
                  <a:rPr lang="pt-BR" b="1" i="0">
                    <a:latin typeface="Cambria Math" panose="02040503050406030204" pitchFamily="18" charset="0"/>
                  </a:rPr>
                  <a:t>𝒂 </a:t>
                </a:r>
                <a:r>
                  <a:rPr lang="pt-BR" i="0">
                    <a:latin typeface="Cambria Math" panose="02040503050406030204" pitchFamily="18" charset="0"/>
                  </a:rPr>
                  <a:t>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dirty="0"/>
                  <a:t> = 0 (ou seja, quando a classe </a:t>
                </a:r>
                <a:r>
                  <a:rPr lang="pt-BR" i="0">
                    <a:latin typeface="Cambria Math" panose="02040503050406030204" pitchFamily="18" charset="0"/>
                  </a:rPr>
                  <a:t>𝐶_</a:t>
                </a:r>
                <a:r>
                  <a:rPr lang="pt-BR" b="0" i="0">
                    <a:latin typeface="Cambria Math" panose="02040503050406030204" pitchFamily="18" charset="0"/>
                  </a:rPr>
                  <a:t>1</a:t>
                </a:r>
                <a:r>
                  <a:rPr lang="pt-BR" dirty="0"/>
                  <a:t> é corretamente identificada). Conforme</a:t>
                </a:r>
                <a:r>
                  <a:rPr lang="pt-BR" baseline="0" dirty="0"/>
                  <a:t> </a:t>
                </a:r>
                <a:r>
                  <a:rPr lang="pt-BR" i="0">
                    <a:latin typeface="Cambria Math" panose="02040503050406030204" pitchFamily="18" charset="0"/>
                  </a:rPr>
                  <a:t>ℎ_</a:t>
                </a:r>
                <a:r>
                  <a:rPr lang="pt-BR" b="1" i="0">
                    <a:latin typeface="Cambria Math" panose="02040503050406030204" pitchFamily="18" charset="0"/>
                  </a:rPr>
                  <a:t>𝒂 </a:t>
                </a:r>
                <a:r>
                  <a:rPr lang="pt-BR" i="0">
                    <a:latin typeface="Cambria Math" panose="02040503050406030204" pitchFamily="18" charset="0"/>
                  </a:rPr>
                  <a:t>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dirty="0"/>
                  <a:t> →1, o erro tende a infinito</a:t>
                </a:r>
              </a:p>
              <a:p>
                <a:endParaRPr lang="pt-BR" dirty="0"/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7491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A função de erro para todo o conjunto de treinamento é simplesmente o erro médio para todos</a:t>
            </a:r>
            <a:r>
              <a:rPr lang="pt-BR" sz="1200" baseline="0" dirty="0"/>
              <a:t> os exemplos </a:t>
            </a:r>
            <a:r>
              <a:rPr lang="pt-BR" sz="1200" dirty="0"/>
              <a:t>de treinamento.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Ela pode ser escrita em uma única expressão</a:t>
            </a:r>
            <a:r>
              <a:rPr lang="pt-BR" sz="1200" baseline="0" dirty="0"/>
              <a:t> como mostrado acima.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general, there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analytical solution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since these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parameters fall into a set of nonlinear equations.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 is that the logistic sigmoid is non-linear.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logistic regression, there is no longer a closed-form solution, due to the nonlinearity of the logistic sigmoid function. </a:t>
            </a:r>
            <a:endParaRPr lang="pt-BR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/>
              <a:t>Explicação do porque não é possível se encontrar uma forma fechada para o regressor logístico: [2].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/>
              <a:t>Referências: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/>
              <a:t>[1] http://deeplearning.stanford.edu/tutorial/supervised/SoftmaxRegression/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[2] </a:t>
            </a:r>
            <a:r>
              <a:rPr lang="pt-BR" sz="1200" baseline="0" dirty="0"/>
              <a:t>https://stats.stackexchange.com/questions/949/when-is-logistic-regression-solved-in-closed-form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1494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A função de erro para todo o conjunto de treinamento é simplesmente o erro médio para todos</a:t>
            </a:r>
            <a:r>
              <a:rPr lang="pt-BR" sz="1200" baseline="0" dirty="0"/>
              <a:t> os exemplos </a:t>
            </a:r>
            <a:r>
              <a:rPr lang="pt-BR" sz="1200" dirty="0"/>
              <a:t>de treinamento.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Ela pode ser escrita em uma única expressão</a:t>
            </a:r>
            <a:r>
              <a:rPr lang="pt-BR" sz="1200" baseline="0" dirty="0"/>
              <a:t> como mostrado acima.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general, there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analytical solution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since these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parameters fall into a set of nonlinear equations.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 is that the logistic sigmoid is non-linear.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logistic regression, there is no longer a closed-form solution, due to the nonlinearity of the logistic sigmoid function. </a:t>
            </a:r>
            <a:endParaRPr lang="pt-BR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/>
              <a:t>Explicação do porque não é possível se encontrar uma forma fechada para o regressor logístico: [2].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/>
              <a:t>Referências: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/>
              <a:t>[1] http://deeplearning.stanford.edu/tutorial/supervised/SoftmaxRegression/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[2] </a:t>
            </a:r>
            <a:r>
              <a:rPr lang="pt-BR" sz="1200" baseline="0" dirty="0"/>
              <a:t>https://stats.stackexchange.com/questions/949/when-is-logistic-regression-solved-in-closed-form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2523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https://colab.research.google.com/</a:t>
            </a:r>
            <a:r>
              <a:rPr lang="pt-BR" dirty="0" err="1"/>
              <a:t>github</a:t>
            </a:r>
            <a:r>
              <a:rPr lang="pt-BR" dirty="0"/>
              <a:t>/zz4fap/t320_aprendizado_de_maquina/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/notebooks/classificação/</a:t>
            </a:r>
            <a:r>
              <a:rPr lang="pt-BR" dirty="0" err="1"/>
              <a:t>logistic_regression_with_gradient_descent.ipynb</a:t>
            </a:r>
            <a:endParaRPr lang="pt-B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  <a:p>
            <a:endParaRPr lang="pt-BR" b="1" dirty="0"/>
          </a:p>
          <a:p>
            <a:r>
              <a:rPr lang="pt-BR" b="1" dirty="0"/>
              <a:t>Referência</a:t>
            </a:r>
            <a:r>
              <a:rPr lang="pt-BR" dirty="0"/>
              <a:t>:</a:t>
            </a:r>
          </a:p>
          <a:p>
            <a:r>
              <a:rPr lang="pt-BR" dirty="0">
                <a:hlinkClick r:id="rId3"/>
              </a:rPr>
              <a:t>https://math.stackexchange.com/questions/477207/derivative-of-cost-function-for-logistic-regression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116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https://colab.research.google.com/</a:t>
            </a:r>
            <a:r>
              <a:rPr lang="pt-BR" dirty="0" err="1"/>
              <a:t>github</a:t>
            </a:r>
            <a:r>
              <a:rPr lang="pt-BR" dirty="0"/>
              <a:t>/zz4fap/t320_aprendizado_de_maquina/</a:t>
            </a:r>
            <a:r>
              <a:rPr lang="pt-BR" dirty="0" err="1"/>
              <a:t>blob</a:t>
            </a:r>
            <a:r>
              <a:rPr lang="pt-BR" dirty="0"/>
              <a:t>/</a:t>
            </a:r>
            <a:r>
              <a:rPr lang="pt-BR" dirty="0" err="1"/>
              <a:t>main</a:t>
            </a:r>
            <a:r>
              <a:rPr lang="pt-BR" dirty="0"/>
              <a:t>/notebooks/classificação/</a:t>
            </a:r>
            <a:r>
              <a:rPr lang="pt-BR" dirty="0" err="1"/>
              <a:t>logistic_regression_with_gradient_descent.ipynb</a:t>
            </a:r>
            <a:endParaRPr lang="pt-B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  <a:p>
            <a:endParaRPr lang="pt-BR" b="1" dirty="0"/>
          </a:p>
          <a:p>
            <a:r>
              <a:rPr lang="pt-BR" b="1" dirty="0"/>
              <a:t>Referência</a:t>
            </a:r>
            <a:r>
              <a:rPr lang="pt-BR" dirty="0"/>
              <a:t>:</a:t>
            </a:r>
          </a:p>
          <a:p>
            <a:r>
              <a:rPr lang="pt-BR" dirty="0">
                <a:hlinkClick r:id="rId3"/>
              </a:rPr>
              <a:t>https://math.stackexchange.com/questions/477207/derivative-of-cost-function-for-logistic-regression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7382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4761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Na segunda figura, o uso de um polinômio de ordem elevada resulta em uma fronteira de decisão excessivamente flexível, levando a distorções na tentativa de reduzir o erro de classificação nos dados de treinamento.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130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dirty="0"/>
              <a:t>Laboratório #3</a:t>
            </a:r>
            <a:r>
              <a:rPr lang="pt-BR" sz="1200" dirty="0"/>
              <a:t> https://mybinder.org/v2/gh/zz4fap/t320_aprendizado_de_maquina/main?filepath=labs%2FLaboratorio3.ipynb</a:t>
            </a:r>
          </a:p>
          <a:p>
            <a:endParaRPr lang="pt-B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6143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Exemplo</a:t>
            </a:r>
            <a:r>
              <a:rPr lang="pt-BR" dirty="0"/>
              <a:t>: SPAMClassificationLogisticRegressionGD.ipynb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3811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Exemplo</a:t>
            </a:r>
            <a:r>
              <a:rPr lang="pt-BR" dirty="0"/>
              <a:t>: SPAMClassificationLogisticRegressionSciKit.ipynb</a:t>
            </a:r>
          </a:p>
          <a:p>
            <a:endParaRPr lang="pt-BR" dirty="0"/>
          </a:p>
          <a:p>
            <a:r>
              <a:rPr lang="pt-BR" b="1" i="0" dirty="0"/>
              <a:t>OBS</a:t>
            </a:r>
            <a:r>
              <a:rPr lang="pt-BR" dirty="0"/>
              <a:t>.: Assim como os outros modelos lineares, os modelos de Regressão Logística podem ser regularizados usando penalidades de L1 ou L2. O Scitkit-Learn adiciona uma penalidade L2 por padrão.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630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=""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.emf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.emf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3.emf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3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320_aprendizado_de_maquina/blob/main/notebooks/classifica&#231;&#227;o/logistic_regression_with_gradient_descent.ipynb" TargetMode="External"/><Relationship Id="rId2" Type="http://schemas.openxmlformats.org/officeDocument/2006/relationships/image" Target="../media/image58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png"/><Relationship Id="rId3" Type="http://schemas.openxmlformats.org/officeDocument/2006/relationships/image" Target="../media/image580.png"/><Relationship Id="rId7" Type="http://schemas.openxmlformats.org/officeDocument/2006/relationships/image" Target="../media/image7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0.png"/><Relationship Id="rId5" Type="http://schemas.openxmlformats.org/officeDocument/2006/relationships/image" Target="../media/image75.png"/><Relationship Id="rId9" Type="http://schemas.openxmlformats.org/officeDocument/2006/relationships/image" Target="../media/image730.png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png"/><Relationship Id="rId3" Type="http://schemas.openxmlformats.org/officeDocument/2006/relationships/image" Target="../media/image730.png"/><Relationship Id="rId7" Type="http://schemas.openxmlformats.org/officeDocument/2006/relationships/image" Target="../media/image7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0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png"/><Relationship Id="rId3" Type="http://schemas.openxmlformats.org/officeDocument/2006/relationships/image" Target="../media/image730.png"/><Relationship Id="rId7" Type="http://schemas.openxmlformats.org/officeDocument/2006/relationships/image" Target="../media/image77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0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png"/><Relationship Id="rId3" Type="http://schemas.openxmlformats.org/officeDocument/2006/relationships/image" Target="../media/image730.png"/><Relationship Id="rId7" Type="http://schemas.openxmlformats.org/officeDocument/2006/relationships/image" Target="../media/image7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0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320_aprendizado_de_maquina/blob/main/labs/Laboratorio3.ipynb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zz4fap/t319_aprendizado_de_maquina/blob/main/docs/Resolu%C3%A7%C3%A3o%20e%20entrega%20dos%20laborat%C3%B3rios.pdf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0.png"/><Relationship Id="rId4" Type="http://schemas.openxmlformats.org/officeDocument/2006/relationships/image" Target="../media/image46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0.png"/><Relationship Id="rId4" Type="http://schemas.openxmlformats.org/officeDocument/2006/relationships/image" Target="../media/image5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T320 - Introdução ao Aprendizado de Máquina II: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/>
              <a:t>Classificação (Parte III)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2" y="5519955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=""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271853" y="5528345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=""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396429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Recapitulando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30887" cy="5032375"/>
          </a:xfrm>
        </p:spPr>
        <p:txBody>
          <a:bodyPr>
            <a:normAutofit/>
          </a:bodyPr>
          <a:lstStyle/>
          <a:p>
            <a:r>
              <a:rPr lang="pt-BR" dirty="0"/>
              <a:t>Anteriormente, vimos que a função de </a:t>
            </a:r>
            <a:r>
              <a:rPr lang="pt-BR" b="1" i="1" dirty="0"/>
              <a:t>limiar rígido </a:t>
            </a:r>
            <a:r>
              <a:rPr lang="pt-BR" dirty="0"/>
              <a:t>apresenta alguns </a:t>
            </a:r>
            <a:r>
              <a:rPr lang="pt-BR" b="1" i="1" dirty="0">
                <a:solidFill>
                  <a:srgbClr val="00B050"/>
                </a:solidFill>
              </a:rPr>
              <a:t>problemas</a:t>
            </a:r>
            <a:r>
              <a:rPr lang="pt-BR" dirty="0"/>
              <a:t> como não poder ser utilizada para encontrar uma </a:t>
            </a:r>
            <a:r>
              <a:rPr lang="pt-BR" b="1" i="1" dirty="0"/>
              <a:t>solução em forma fechada </a:t>
            </a:r>
            <a:r>
              <a:rPr lang="pt-BR" dirty="0"/>
              <a:t>ou com o </a:t>
            </a:r>
            <a:r>
              <a:rPr lang="pt-BR" b="1" i="1" dirty="0"/>
              <a:t>gradiente descendente</a:t>
            </a:r>
            <a:r>
              <a:rPr lang="pt-BR" dirty="0"/>
              <a:t>, além não nos dar a </a:t>
            </a:r>
            <a:r>
              <a:rPr lang="pt-BR" b="1" i="1" dirty="0"/>
              <a:t>confiança das predições</a:t>
            </a:r>
            <a:r>
              <a:rPr lang="pt-BR" dirty="0"/>
              <a:t>.</a:t>
            </a:r>
          </a:p>
          <a:p>
            <a:r>
              <a:rPr lang="pt-BR" dirty="0"/>
              <a:t>Aprendemos também, uma forma intuitiva e iterativa de encontrar os pesos da </a:t>
            </a:r>
            <a:r>
              <a:rPr lang="pt-BR" b="1" i="1" dirty="0"/>
              <a:t>função discriminante </a:t>
            </a:r>
            <a:r>
              <a:rPr lang="pt-BR" dirty="0"/>
              <a:t>quando usamos o </a:t>
            </a:r>
            <a:r>
              <a:rPr lang="pt-BR" b="1" i="1" dirty="0"/>
              <a:t>limiar rígido</a:t>
            </a:r>
            <a:r>
              <a:rPr lang="pt-BR" dirty="0"/>
              <a:t>.</a:t>
            </a:r>
          </a:p>
          <a:p>
            <a:r>
              <a:rPr lang="pt-BR" dirty="0"/>
              <a:t>Na sequência, usaremos </a:t>
            </a:r>
            <a:r>
              <a:rPr lang="pt-BR" b="1" i="1" dirty="0">
                <a:solidFill>
                  <a:srgbClr val="00B050"/>
                </a:solidFill>
              </a:rPr>
              <a:t>outra função de limiar de decisão</a:t>
            </a:r>
            <a:r>
              <a:rPr lang="pt-BR" dirty="0"/>
              <a:t>, chamada de </a:t>
            </a:r>
            <a:r>
              <a:rPr lang="pt-BR" b="1" i="1" dirty="0">
                <a:solidFill>
                  <a:srgbClr val="00B050"/>
                </a:solidFill>
              </a:rPr>
              <a:t>função logística</a:t>
            </a:r>
            <a:r>
              <a:rPr lang="pt-BR" dirty="0"/>
              <a:t>, com a qual é possível encontrar-se uma solução usando o </a:t>
            </a:r>
            <a:r>
              <a:rPr lang="pt-BR" b="1" i="1" dirty="0">
                <a:solidFill>
                  <a:srgbClr val="00B050"/>
                </a:solidFill>
              </a:rPr>
              <a:t>gradiente descendente </a:t>
            </a:r>
            <a:r>
              <a:rPr lang="pt-BR" dirty="0"/>
              <a:t>e termos o </a:t>
            </a:r>
            <a:r>
              <a:rPr lang="pt-BR" b="1" i="1" dirty="0">
                <a:solidFill>
                  <a:srgbClr val="00B050"/>
                </a:solidFill>
              </a:rPr>
              <a:t>grau de confiança </a:t>
            </a:r>
            <a:r>
              <a:rPr lang="pt-BR" dirty="0"/>
              <a:t>de uma predição.</a:t>
            </a:r>
          </a:p>
        </p:txBody>
      </p:sp>
    </p:spTree>
    <p:extLst>
      <p:ext uri="{BB962C8B-B14F-4D97-AF65-F5344CB8AC3E}">
        <p14:creationId xmlns:p14="http://schemas.microsoft.com/office/powerpoint/2010/main" val="293006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126609"/>
            <a:ext cx="11076297" cy="1415583"/>
          </a:xfrm>
        </p:spPr>
        <p:txBody>
          <a:bodyPr>
            <a:normAutofit/>
          </a:bodyPr>
          <a:lstStyle/>
          <a:p>
            <a:r>
              <a:rPr lang="pt-BR" dirty="0"/>
              <a:t>Classificação com função de limiar logístico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3525" y="1787857"/>
            <a:ext cx="6648450" cy="5070144"/>
          </a:xfrm>
        </p:spPr>
        <p:txBody>
          <a:bodyPr>
            <a:normAutofit/>
          </a:bodyPr>
          <a:lstStyle/>
          <a:p>
            <a:r>
              <a:rPr lang="pt-BR" dirty="0"/>
              <a:t>Em muitas situações, nós precisamos que o modelo indique o </a:t>
            </a:r>
            <a:r>
              <a:rPr lang="pt-BR" b="1" i="1" dirty="0">
                <a:solidFill>
                  <a:srgbClr val="7030A0"/>
                </a:solidFill>
              </a:rPr>
              <a:t>grau de incerteza </a:t>
            </a:r>
            <a:r>
              <a:rPr lang="pt-BR" dirty="0"/>
              <a:t>quanto às predições.</a:t>
            </a:r>
          </a:p>
          <a:p>
            <a:r>
              <a:rPr lang="pt-BR" dirty="0"/>
              <a:t>Todos esses problemas são resolvidos usando-se a função </a:t>
            </a:r>
            <a:r>
              <a:rPr lang="pt-BR" b="1" i="1" dirty="0">
                <a:solidFill>
                  <a:schemeClr val="accent2"/>
                </a:solidFill>
              </a:rPr>
              <a:t>sigmoide</a:t>
            </a:r>
            <a:r>
              <a:rPr lang="pt-BR" dirty="0"/>
              <a:t> (ou </a:t>
            </a:r>
            <a:r>
              <a:rPr lang="pt-BR" b="1" i="1" dirty="0">
                <a:solidFill>
                  <a:schemeClr val="accent2"/>
                </a:solidFill>
              </a:rPr>
              <a:t>logística</a:t>
            </a:r>
            <a:r>
              <a:rPr lang="pt-BR" dirty="0"/>
              <a:t>).</a:t>
            </a:r>
          </a:p>
          <a:p>
            <a:r>
              <a:rPr lang="pt-BR" dirty="0"/>
              <a:t>Ela é </a:t>
            </a:r>
            <a:r>
              <a:rPr lang="pt-BR" b="1" i="1" dirty="0">
                <a:solidFill>
                  <a:srgbClr val="00B050"/>
                </a:solidFill>
              </a:rPr>
              <a:t>contínua</a:t>
            </a:r>
            <a:r>
              <a:rPr lang="pt-BR" dirty="0"/>
              <a:t>, </a:t>
            </a:r>
            <a:r>
              <a:rPr lang="pt-BR" b="1" i="1" dirty="0">
                <a:solidFill>
                  <a:srgbClr val="00B050"/>
                </a:solidFill>
              </a:rPr>
              <a:t>diferenciável</a:t>
            </a:r>
            <a:r>
              <a:rPr lang="pt-BR" dirty="0"/>
              <a:t> e </a:t>
            </a:r>
            <a:r>
              <a:rPr lang="pt-BR" b="1" i="1" dirty="0">
                <a:solidFill>
                  <a:srgbClr val="00B050"/>
                </a:solidFill>
              </a:rPr>
              <a:t>assume valores reais dentro do intervalo de 0 a 1</a:t>
            </a:r>
            <a:r>
              <a:rPr lang="pt-BR" dirty="0"/>
              <a:t>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="" xmlns:a16="http://schemas.microsoft.com/office/drawing/2014/main" id="{97111EDA-EAFA-CA5F-4ED2-A39A480B9E4B}"/>
              </a:ext>
            </a:extLst>
          </p:cNvPr>
          <p:cNvGrpSpPr/>
          <p:nvPr/>
        </p:nvGrpSpPr>
        <p:grpSpPr>
          <a:xfrm>
            <a:off x="941484" y="2236587"/>
            <a:ext cx="3668616" cy="3333897"/>
            <a:chOff x="941484" y="2236587"/>
            <a:chExt cx="3668616" cy="3333897"/>
          </a:xfrm>
        </p:grpSpPr>
        <p:pic>
          <p:nvPicPr>
            <p:cNvPr id="4" name="Picture 3">
              <a:extLst>
                <a:ext uri="{FF2B5EF4-FFF2-40B4-BE49-F238E27FC236}">
                  <a16:creationId xmlns="" xmlns:a16="http://schemas.microsoft.com/office/drawing/2014/main" id="{F15C7042-261D-AB8B-4466-65E05D03FE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79" t="6664" r="8832"/>
            <a:stretch/>
          </p:blipFill>
          <p:spPr>
            <a:xfrm>
              <a:off x="1066798" y="2236587"/>
              <a:ext cx="3543302" cy="323715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aixaDeTexto 4">
                  <a:extLst>
                    <a:ext uri="{FF2B5EF4-FFF2-40B4-BE49-F238E27FC236}">
                      <a16:creationId xmlns="" xmlns:a16="http://schemas.microsoft.com/office/drawing/2014/main" id="{B4EEAF36-9D2D-A150-C6EB-558ABC4725B5}"/>
                    </a:ext>
                  </a:extLst>
                </p:cNvPr>
                <p:cNvSpPr txBox="1"/>
                <p:nvPr/>
              </p:nvSpPr>
              <p:spPr>
                <a:xfrm rot="16200000">
                  <a:off x="704691" y="3521774"/>
                  <a:ext cx="7813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id="{B4EEAF36-9D2D-A150-C6EB-558ABC4725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4691" y="3521774"/>
                  <a:ext cx="781363" cy="307777"/>
                </a:xfrm>
                <a:prstGeom prst="rect">
                  <a:avLst/>
                </a:prstGeom>
                <a:blipFill>
                  <a:blip r:embed="rId4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aixaDeTexto 5">
                  <a:extLst>
                    <a:ext uri="{FF2B5EF4-FFF2-40B4-BE49-F238E27FC236}">
                      <a16:creationId xmlns="" xmlns:a16="http://schemas.microsoft.com/office/drawing/2014/main" id="{602D3346-13D2-7A67-8DDB-6CD34002C899}"/>
                    </a:ext>
                  </a:extLst>
                </p:cNvPr>
                <p:cNvSpPr txBox="1"/>
                <p:nvPr/>
              </p:nvSpPr>
              <p:spPr>
                <a:xfrm>
                  <a:off x="2406549" y="5262707"/>
                  <a:ext cx="126682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6" name="CaixaDeTexto 5">
                  <a:extLst>
                    <a:ext uri="{FF2B5EF4-FFF2-40B4-BE49-F238E27FC236}">
                      <a16:creationId xmlns:a16="http://schemas.microsoft.com/office/drawing/2014/main" id="{602D3346-13D2-7A67-8DDB-6CD34002C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6549" y="5262707"/>
                  <a:ext cx="1266826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8390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6313584-3923-0089-84F4-6B545899B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função de limiar logístico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3E3A3288-915D-7D67-5C64-83C7FACAEB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5900" y="1825624"/>
                <a:ext cx="6743699" cy="503237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pt-BR" dirty="0"/>
                  <a:t>A </a:t>
                </a:r>
                <a:r>
                  <a:rPr lang="pt-BR" b="1" i="1" dirty="0"/>
                  <a:t>função logística </a:t>
                </a:r>
                <a:r>
                  <a:rPr lang="pt-BR" dirty="0"/>
                  <a:t>é definida como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pt-BR" i="1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pt-BR" dirty="0"/>
                  <a:t>. </a:t>
                </a:r>
              </a:p>
              <a:p>
                <a:pPr algn="just"/>
                <a:r>
                  <a:rPr lang="pt-BR" dirty="0"/>
                  <a:t>Utilizando a </a:t>
                </a:r>
                <a:r>
                  <a:rPr lang="pt-BR" b="1" i="1" dirty="0"/>
                  <a:t>função logística </a:t>
                </a:r>
                <a:r>
                  <a:rPr lang="pt-BR" dirty="0"/>
                  <a:t>como </a:t>
                </a:r>
                <a:r>
                  <a:rPr lang="pt-BR" b="1" i="1" dirty="0"/>
                  <a:t>função de limiar de decisão</a:t>
                </a:r>
                <a:r>
                  <a:rPr lang="pt-BR" dirty="0"/>
                  <a:t>, temos a seguinte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hipótese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sup>
                        </m:sSup>
                      </m:den>
                    </m:f>
                    <m:r>
                      <a:rPr lang="pt-B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pt-B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Os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ficam restritos ao intervalo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.</a:t>
                </a:r>
                <a:endParaRPr lang="pt-BR" b="1" dirty="0"/>
              </a:p>
              <a:p>
                <a:r>
                  <a:rPr lang="pt-BR" b="1" dirty="0"/>
                  <a:t>OBS</a:t>
                </a:r>
                <a:r>
                  <a:rPr lang="pt-BR" dirty="0"/>
                  <a:t>.: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pode assumir o formato de um </a:t>
                </a:r>
                <a:r>
                  <a:rPr lang="pt-BR" b="1" i="1" dirty="0"/>
                  <a:t>hiperplano</a:t>
                </a:r>
                <a:r>
                  <a:rPr lang="pt-BR" dirty="0"/>
                  <a:t> ou de um </a:t>
                </a:r>
                <a:r>
                  <a:rPr lang="pt-BR" b="1" i="1" dirty="0"/>
                  <a:t>polinômio</a:t>
                </a:r>
                <a:r>
                  <a:rPr lang="pt-BR" dirty="0"/>
                  <a:t>.</a:t>
                </a:r>
              </a:p>
              <a:p>
                <a:pPr marL="0" indent="0" algn="ctr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E3A3288-915D-7D67-5C64-83C7FACAEB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5900" y="1825624"/>
                <a:ext cx="6743699" cy="5032375"/>
              </a:xfrm>
              <a:blipFill>
                <a:blip r:embed="rId3"/>
                <a:stretch>
                  <a:fillRect l="-1627" t="-1937" r="-1808" b="-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="" xmlns:a16="http://schemas.microsoft.com/office/drawing/2014/main" id="{34AEE6EF-5ED3-AE55-0A96-F31E1F8942A9}"/>
              </a:ext>
            </a:extLst>
          </p:cNvPr>
          <p:cNvGrpSpPr/>
          <p:nvPr/>
        </p:nvGrpSpPr>
        <p:grpSpPr>
          <a:xfrm>
            <a:off x="838200" y="2427506"/>
            <a:ext cx="3668616" cy="3333897"/>
            <a:chOff x="941484" y="2236587"/>
            <a:chExt cx="3668616" cy="3333897"/>
          </a:xfrm>
        </p:grpSpPr>
        <p:pic>
          <p:nvPicPr>
            <p:cNvPr id="5" name="Picture 3">
              <a:extLst>
                <a:ext uri="{FF2B5EF4-FFF2-40B4-BE49-F238E27FC236}">
                  <a16:creationId xmlns="" xmlns:a16="http://schemas.microsoft.com/office/drawing/2014/main" id="{39A0050F-ACE5-1773-16B4-B1D2978551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79" t="6664" r="8832"/>
            <a:stretch/>
          </p:blipFill>
          <p:spPr>
            <a:xfrm>
              <a:off x="1066798" y="2236587"/>
              <a:ext cx="3543302" cy="323715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aixaDeTexto 5">
                  <a:extLst>
                    <a:ext uri="{FF2B5EF4-FFF2-40B4-BE49-F238E27FC236}">
                      <a16:creationId xmlns="" xmlns:a16="http://schemas.microsoft.com/office/drawing/2014/main" id="{E80BCF16-47E2-3C13-A194-91D08FD0769F}"/>
                    </a:ext>
                  </a:extLst>
                </p:cNvPr>
                <p:cNvSpPr txBox="1"/>
                <p:nvPr/>
              </p:nvSpPr>
              <p:spPr>
                <a:xfrm rot="16200000">
                  <a:off x="704691" y="3521774"/>
                  <a:ext cx="781363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6" name="CaixaDeTexto 5">
                  <a:extLst>
                    <a:ext uri="{FF2B5EF4-FFF2-40B4-BE49-F238E27FC236}">
                      <a16:creationId xmlns:a16="http://schemas.microsoft.com/office/drawing/2014/main" id="{E80BCF16-47E2-3C13-A194-91D08FD076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704691" y="3521774"/>
                  <a:ext cx="781363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ixaDeTexto 6">
                  <a:extLst>
                    <a:ext uri="{FF2B5EF4-FFF2-40B4-BE49-F238E27FC236}">
                      <a16:creationId xmlns="" xmlns:a16="http://schemas.microsoft.com/office/drawing/2014/main" id="{05432B56-34AE-D827-7DB3-E117552BAA43}"/>
                    </a:ext>
                  </a:extLst>
                </p:cNvPr>
                <p:cNvSpPr txBox="1"/>
                <p:nvPr/>
              </p:nvSpPr>
              <p:spPr>
                <a:xfrm>
                  <a:off x="2406549" y="5262707"/>
                  <a:ext cx="126682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7" name="CaixaDeTexto 6">
                  <a:extLst>
                    <a:ext uri="{FF2B5EF4-FFF2-40B4-BE49-F238E27FC236}">
                      <a16:creationId xmlns:a16="http://schemas.microsoft.com/office/drawing/2014/main" id="{05432B56-34AE-D827-7DB3-E117552BAA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6549" y="5262707"/>
                  <a:ext cx="1266826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88605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8E86830-AC41-CC54-6387-27E033B1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função de limiar logístico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9DA37222-5D71-CE7B-6179-9F43B1771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10201" y="1825624"/>
                <a:ext cx="6638924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saída da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função hipótese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pode ser interpretada como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probabilidade</a:t>
                </a:r>
                <a:r>
                  <a:rPr lang="pt-BR" dirty="0">
                    <a:solidFill>
                      <a:srgbClr val="00B050"/>
                    </a:solidFill>
                  </a:rPr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condicional da classe positiva</a:t>
                </a:r>
                <a:r>
                  <a:rPr lang="pt-BR" dirty="0"/>
                  <a:t>,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, dado os vetores de atributos,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, e o de pesos,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.</a:t>
                </a:r>
                <a:endParaRPr lang="pt-BR" dirty="0">
                  <a:solidFill>
                    <a:srgbClr val="00B050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. </a:t>
                </a:r>
              </a:p>
              <a:p>
                <a:r>
                  <a:rPr lang="pt-BR" dirty="0"/>
                  <a:t>Consequentemente, o complemento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i.e.,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pt-BR" dirty="0"/>
                  <a:t> </a:t>
                </a:r>
              </a:p>
              <a:p>
                <a:pPr marL="0" indent="0">
                  <a:buNone/>
                </a:pPr>
                <a:r>
                  <a:rPr lang="pt-BR" dirty="0"/>
                  <a:t>dá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probabilidade condicional da classe negativa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dado os vetores de atributos,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, e o de pesos,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pt-BR" dirty="0"/>
                  <a:t>.</a:t>
                </a:r>
                <a:endParaRPr lang="pt-BR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DA37222-5D71-CE7B-6179-9F43B1771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10201" y="1825624"/>
                <a:ext cx="6638924" cy="5032375"/>
              </a:xfrm>
              <a:blipFill>
                <a:blip r:embed="rId3"/>
                <a:stretch>
                  <a:fillRect l="-1928" t="-1937" r="-2296" b="-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Agrupar 11">
            <a:extLst>
              <a:ext uri="{FF2B5EF4-FFF2-40B4-BE49-F238E27FC236}">
                <a16:creationId xmlns="" xmlns:a16="http://schemas.microsoft.com/office/drawing/2014/main" id="{4CCF39D0-FE48-6508-8112-034BBE54537C}"/>
              </a:ext>
            </a:extLst>
          </p:cNvPr>
          <p:cNvGrpSpPr/>
          <p:nvPr/>
        </p:nvGrpSpPr>
        <p:grpSpPr>
          <a:xfrm>
            <a:off x="401934" y="2056169"/>
            <a:ext cx="4264646" cy="3867900"/>
            <a:chOff x="473795" y="2024060"/>
            <a:chExt cx="4264646" cy="3867900"/>
          </a:xfrm>
        </p:grpSpPr>
        <p:pic>
          <p:nvPicPr>
            <p:cNvPr id="13" name="Picture 3">
              <a:extLst>
                <a:ext uri="{FF2B5EF4-FFF2-40B4-BE49-F238E27FC236}">
                  <a16:creationId xmlns="" xmlns:a16="http://schemas.microsoft.com/office/drawing/2014/main" id="{470E9AF9-01E7-AC21-572E-01D625BAA0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79" t="6664" r="8832"/>
            <a:stretch/>
          </p:blipFill>
          <p:spPr>
            <a:xfrm>
              <a:off x="617437" y="2024060"/>
              <a:ext cx="4121004" cy="376494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ixaDeTexto 13">
                  <a:extLst>
                    <a:ext uri="{FF2B5EF4-FFF2-40B4-BE49-F238E27FC236}">
                      <a16:creationId xmlns="" xmlns:a16="http://schemas.microsoft.com/office/drawing/2014/main" id="{58120DB0-6D11-8F44-3B1B-2640960683BF}"/>
                    </a:ext>
                  </a:extLst>
                </p:cNvPr>
                <p:cNvSpPr txBox="1"/>
                <p:nvPr/>
              </p:nvSpPr>
              <p:spPr>
                <a:xfrm rot="16200000">
                  <a:off x="252390" y="3554735"/>
                  <a:ext cx="781363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58120DB0-6D11-8F44-3B1B-2640960683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52390" y="3554735"/>
                  <a:ext cx="781363" cy="338554"/>
                </a:xfrm>
                <a:prstGeom prst="rect">
                  <a:avLst/>
                </a:prstGeom>
                <a:blipFill>
                  <a:blip r:embed="rId5"/>
                  <a:stretch>
                    <a:fillRect t="-3125" r="-892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="" xmlns:a16="http://schemas.microsoft.com/office/drawing/2014/main" id="{FA3D70E1-BF88-3581-1B09-149D5EF556B5}"/>
                    </a:ext>
                  </a:extLst>
                </p:cNvPr>
                <p:cNvSpPr txBox="1"/>
                <p:nvPr/>
              </p:nvSpPr>
              <p:spPr>
                <a:xfrm>
                  <a:off x="2270348" y="5553406"/>
                  <a:ext cx="1266826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FA3D70E1-BF88-3581-1B09-149D5EF556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0348" y="5553406"/>
                  <a:ext cx="1266826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19148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8E86830-AC41-CC54-6387-27E033B1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função de limiar logístico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9DA37222-5D71-CE7B-6179-9F43B1771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94030" y="1825624"/>
                <a:ext cx="7055095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Dado que função logística tem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transição suave</a:t>
                </a:r>
                <a:r>
                  <a:rPr lang="pt-BR" dirty="0"/>
                  <a:t>, a nova </a:t>
                </a:r>
                <a:r>
                  <a:rPr lang="pt-BR" b="1" i="1" dirty="0"/>
                  <a:t>função hipótese</a:t>
                </a:r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apresenta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transição suave entre as classes</a:t>
                </a:r>
                <a:r>
                  <a:rPr lang="pt-BR" dirty="0"/>
                  <a:t>. </a:t>
                </a:r>
              </a:p>
              <a:p>
                <a:r>
                  <a:rPr lang="pt-BR" dirty="0"/>
                  <a:t>Esse comportamento é diferente do obtido com o </a:t>
                </a:r>
                <a:r>
                  <a:rPr lang="pt-BR" b="1" i="1" dirty="0"/>
                  <a:t>limiar rígido</a:t>
                </a:r>
                <a:r>
                  <a:rPr lang="pt-BR" dirty="0"/>
                  <a:t>, onde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mudança entre classes é abrupta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DA37222-5D71-CE7B-6179-9F43B1771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94030" y="1825624"/>
                <a:ext cx="7055095" cy="5032375"/>
              </a:xfrm>
              <a:blipFill>
                <a:blip r:embed="rId3"/>
                <a:stretch>
                  <a:fillRect l="-1554" t="-1937" r="-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7">
            <a:extLst>
              <a:ext uri="{FF2B5EF4-FFF2-40B4-BE49-F238E27FC236}">
                <a16:creationId xmlns="" xmlns:a16="http://schemas.microsoft.com/office/drawing/2014/main" id="{3C71D529-D91C-F460-D3EA-516BF1A172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" t="1951" r="1156" b="2945"/>
          <a:stretch/>
        </p:blipFill>
        <p:spPr>
          <a:xfrm>
            <a:off x="1075336" y="4570735"/>
            <a:ext cx="2690141" cy="1806007"/>
          </a:xfrm>
          <a:prstGeom prst="rect">
            <a:avLst/>
          </a:prstGeom>
        </p:spPr>
      </p:pic>
      <p:sp>
        <p:nvSpPr>
          <p:cNvPr id="5" name="CaixaDeTexto 8">
            <a:extLst>
              <a:ext uri="{FF2B5EF4-FFF2-40B4-BE49-F238E27FC236}">
                <a16:creationId xmlns="" xmlns:a16="http://schemas.microsoft.com/office/drawing/2014/main" id="{9E7181FE-6BBA-7C58-5CAB-6820E82D8CC9}"/>
              </a:ext>
            </a:extLst>
          </p:cNvPr>
          <p:cNvSpPr txBox="1"/>
          <p:nvPr/>
        </p:nvSpPr>
        <p:spPr>
          <a:xfrm>
            <a:off x="1371120" y="6354375"/>
            <a:ext cx="2394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Fronteira de decisão suave.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="" xmlns:a16="http://schemas.microsoft.com/office/drawing/2014/main" id="{910B2765-B62E-E07B-8342-FE8B18514B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79" t="6664" r="8832"/>
          <a:stretch/>
        </p:blipFill>
        <p:spPr>
          <a:xfrm>
            <a:off x="1075337" y="1825623"/>
            <a:ext cx="2690141" cy="24577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15">
                <a:extLst>
                  <a:ext uri="{FF2B5EF4-FFF2-40B4-BE49-F238E27FC236}">
                    <a16:creationId xmlns="" xmlns:a16="http://schemas.microsoft.com/office/drawing/2014/main" id="{CBAC1B4D-E4BF-1F2F-5817-9898A32C0706}"/>
                  </a:ext>
                </a:extLst>
              </p:cNvPr>
              <p:cNvSpPr txBox="1"/>
              <p:nvPr/>
            </p:nvSpPr>
            <p:spPr>
              <a:xfrm rot="16200000">
                <a:off x="422082" y="2783381"/>
                <a:ext cx="132556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12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7" name="CaixaDeTexto 15">
                <a:extLst>
                  <a:ext uri="{FF2B5EF4-FFF2-40B4-BE49-F238E27FC236}">
                    <a16:creationId xmlns:a16="http://schemas.microsoft.com/office/drawing/2014/main" id="{CBAC1B4D-E4BF-1F2F-5817-9898A32C0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22082" y="2783381"/>
                <a:ext cx="1325562" cy="276999"/>
              </a:xfrm>
              <a:prstGeom prst="rect">
                <a:avLst/>
              </a:prstGeom>
              <a:blipFill>
                <a:blip r:embed="rId6"/>
                <a:stretch>
                  <a:fillRect r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16">
                <a:extLst>
                  <a:ext uri="{FF2B5EF4-FFF2-40B4-BE49-F238E27FC236}">
                    <a16:creationId xmlns="" xmlns:a16="http://schemas.microsoft.com/office/drawing/2014/main" id="{2ACE9A2B-4BBB-3C76-B933-0A3D511F3E82}"/>
                  </a:ext>
                </a:extLst>
              </p:cNvPr>
              <p:cNvSpPr txBox="1"/>
              <p:nvPr/>
            </p:nvSpPr>
            <p:spPr>
              <a:xfrm>
                <a:off x="1934885" y="4130772"/>
                <a:ext cx="126682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10" name="CaixaDeTexto 16">
                <a:extLst>
                  <a:ext uri="{FF2B5EF4-FFF2-40B4-BE49-F238E27FC236}">
                    <a16:creationId xmlns:a16="http://schemas.microsoft.com/office/drawing/2014/main" id="{2ACE9A2B-4BBB-3C76-B933-0A3D511F3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885" y="4130772"/>
                <a:ext cx="1266826" cy="276999"/>
              </a:xfrm>
              <a:prstGeom prst="rect">
                <a:avLst/>
              </a:prstGeom>
              <a:blipFill>
                <a:blip r:embed="rId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700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0A2257C-117A-2627-3A8F-77F321FE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7633290-C48A-3FB2-A186-B4531500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função de limiar logístico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037660D3-507D-B2CE-313C-479A1D92DD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05350" y="1825624"/>
                <a:ext cx="7343776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 smtClean="0"/>
                  <a:t>Lembrem-se que a </a:t>
                </a:r>
                <a:r>
                  <a:rPr lang="pt-BR" b="1" i="1" dirty="0"/>
                  <a:t>fronteira de decisão</a:t>
                </a:r>
                <a:r>
                  <a:rPr lang="pt-BR" dirty="0"/>
                  <a:t> é definida pela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discriminante </a:t>
                </a:r>
                <a:r>
                  <a:rPr lang="pt-BR" dirty="0"/>
                  <a:t>e passa pelos pontos onde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 smtClean="0"/>
                  <a:t>.</a:t>
                </a:r>
                <a:endParaRPr lang="pt-BR" dirty="0"/>
              </a:p>
              <a:p>
                <a:r>
                  <a:rPr lang="pt-BR" dirty="0"/>
                  <a:t>Assim, quanto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mais próximo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estiver da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 fronteira de decisão</a:t>
                </a:r>
                <a:r>
                  <a:rPr lang="pt-BR" dirty="0"/>
                  <a:t>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mais próximo</a:t>
                </a:r>
                <a:r>
                  <a:rPr lang="pt-BR" dirty="0"/>
                  <a:t> o valor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estará de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 0.5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 smtClean="0"/>
                  <a:t>Se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estiver </a:t>
                </a:r>
                <a:r>
                  <a:rPr lang="pt-BR" dirty="0" smtClean="0"/>
                  <a:t>posicionad</a:t>
                </a:r>
                <a:r>
                  <a:rPr lang="pt-BR" dirty="0"/>
                  <a:t>o exatamente em cima da fronteira de decisão,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pt-BR" dirty="0" smtClean="0"/>
                  <a:t>.</a:t>
                </a:r>
              </a:p>
              <a:p>
                <a:r>
                  <a:rPr lang="pt-BR" dirty="0" smtClean="0"/>
                  <a:t>Valores próximos a 0.5 indicam </a:t>
                </a:r>
                <a:r>
                  <a:rPr lang="pt-BR" b="1" i="1" dirty="0" smtClean="0">
                    <a:solidFill>
                      <a:srgbClr val="00B050"/>
                    </a:solidFill>
                  </a:rPr>
                  <a:t>indecisão</a:t>
                </a:r>
                <a:r>
                  <a:rPr lang="pt-BR" dirty="0" smtClean="0"/>
                  <a:t> </a:t>
                </a:r>
                <a:r>
                  <a:rPr lang="pt-BR" dirty="0"/>
                  <a:t>sobre a classe do exemplo</a:t>
                </a:r>
                <a:r>
                  <a:rPr lang="pt-BR" dirty="0" smtClean="0"/>
                  <a:t>.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660D3-507D-B2CE-313C-479A1D92DD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05350" y="1825624"/>
                <a:ext cx="7343776" cy="5032375"/>
              </a:xfrm>
              <a:blipFill rotWithShape="0">
                <a:blip r:embed="rId3"/>
                <a:stretch>
                  <a:fillRect l="-1494" t="-1937" r="-13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="" xmlns:a16="http://schemas.microsoft.com/office/drawing/2014/main" id="{50595A1C-EEBC-E61E-4B0C-E16528871A0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" t="1951" r="1156" b="2945"/>
          <a:stretch/>
        </p:blipFill>
        <p:spPr>
          <a:xfrm>
            <a:off x="1075336" y="4570735"/>
            <a:ext cx="2690141" cy="180600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="" xmlns:a16="http://schemas.microsoft.com/office/drawing/2014/main" id="{D0354606-A277-86BE-1381-5660F15713B6}"/>
              </a:ext>
            </a:extLst>
          </p:cNvPr>
          <p:cNvSpPr txBox="1"/>
          <p:nvPr/>
        </p:nvSpPr>
        <p:spPr>
          <a:xfrm>
            <a:off x="1371120" y="6354375"/>
            <a:ext cx="2394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Fronteira de decisão suave.</a:t>
            </a:r>
          </a:p>
        </p:txBody>
      </p:sp>
      <p:pic>
        <p:nvPicPr>
          <p:cNvPr id="15" name="Picture 3">
            <a:extLst>
              <a:ext uri="{FF2B5EF4-FFF2-40B4-BE49-F238E27FC236}">
                <a16:creationId xmlns="" xmlns:a16="http://schemas.microsoft.com/office/drawing/2014/main" id="{3E4EB82C-9FBC-368C-128F-0FDEAA6F7CA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79" t="6664" r="8832"/>
          <a:stretch/>
        </p:blipFill>
        <p:spPr>
          <a:xfrm>
            <a:off x="1075337" y="1825623"/>
            <a:ext cx="2690141" cy="24577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="" xmlns:a16="http://schemas.microsoft.com/office/drawing/2014/main" id="{688BE98C-8CE9-C9F5-FDF1-AB08325F46C4}"/>
                  </a:ext>
                </a:extLst>
              </p:cNvPr>
              <p:cNvSpPr txBox="1"/>
              <p:nvPr/>
            </p:nvSpPr>
            <p:spPr>
              <a:xfrm rot="16200000">
                <a:off x="422082" y="2783381"/>
                <a:ext cx="132556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12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688BE98C-8CE9-C9F5-FDF1-AB08325F4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22082" y="2783381"/>
                <a:ext cx="1325562" cy="276999"/>
              </a:xfrm>
              <a:prstGeom prst="rect">
                <a:avLst/>
              </a:prstGeom>
              <a:blipFill>
                <a:blip r:embed="rId6"/>
                <a:stretch>
                  <a:fillRect r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="" xmlns:a16="http://schemas.microsoft.com/office/drawing/2014/main" id="{038A1FEB-D898-A638-2A3C-5EC037144F41}"/>
                  </a:ext>
                </a:extLst>
              </p:cNvPr>
              <p:cNvSpPr txBox="1"/>
              <p:nvPr/>
            </p:nvSpPr>
            <p:spPr>
              <a:xfrm>
                <a:off x="1934885" y="4130772"/>
                <a:ext cx="126682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F4CC1366-3D43-8EFC-2434-1C28102F9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885" y="4130772"/>
                <a:ext cx="1266826" cy="276999"/>
              </a:xfrm>
              <a:prstGeom prst="rect">
                <a:avLst/>
              </a:prstGeom>
              <a:blipFill>
                <a:blip r:embed="rId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7849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8E86830-AC41-CC54-6387-27E033B1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com função de limiar logístico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9DA37222-5D71-CE7B-6179-9F43B1771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5041" y="1825624"/>
                <a:ext cx="7024084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Quanto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mais longe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estiver da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fronteira de decisão</a:t>
                </a:r>
                <a:r>
                  <a:rPr lang="pt-BR" dirty="0"/>
                  <a:t>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maior</a:t>
                </a:r>
                <a:r>
                  <a:rPr lang="pt-BR" dirty="0"/>
                  <a:t> será 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valor absoluto de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Assim, q</a:t>
                </a:r>
                <a:r>
                  <a:rPr lang="pt-BR" sz="2800" dirty="0"/>
                  <a:t>uanto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mais longe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estiver</a:t>
                </a:r>
                <a:r>
                  <a:rPr lang="pt-BR" sz="2800" dirty="0"/>
                  <a:t>,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mais próximo</a:t>
                </a: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estará do valor 0 ou de 1 </a:t>
                </a:r>
                <a:r>
                  <a:rPr lang="pt-BR" sz="2800" dirty="0"/>
                  <a:t>e, portanto, mais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certeza teremos sobre uma predição</a:t>
                </a:r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DA37222-5D71-CE7B-6179-9F43B1771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5041" y="1825624"/>
                <a:ext cx="7024084" cy="5032375"/>
              </a:xfrm>
              <a:blipFill>
                <a:blip r:embed="rId3"/>
                <a:stretch>
                  <a:fillRect l="-1561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="" xmlns:a16="http://schemas.microsoft.com/office/drawing/2014/main" id="{6E97C804-C471-D3F8-C791-2499476ACE1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" t="1951" r="1156" b="2945"/>
          <a:stretch/>
        </p:blipFill>
        <p:spPr>
          <a:xfrm>
            <a:off x="1075336" y="4570735"/>
            <a:ext cx="2690141" cy="180600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="" xmlns:a16="http://schemas.microsoft.com/office/drawing/2014/main" id="{5F364548-9667-99CD-74B4-6A8853A2B975}"/>
              </a:ext>
            </a:extLst>
          </p:cNvPr>
          <p:cNvSpPr txBox="1"/>
          <p:nvPr/>
        </p:nvSpPr>
        <p:spPr>
          <a:xfrm>
            <a:off x="1371120" y="6354375"/>
            <a:ext cx="2394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Fronteira de decisão suave.</a:t>
            </a:r>
          </a:p>
        </p:txBody>
      </p:sp>
      <p:pic>
        <p:nvPicPr>
          <p:cNvPr id="15" name="Picture 3">
            <a:extLst>
              <a:ext uri="{FF2B5EF4-FFF2-40B4-BE49-F238E27FC236}">
                <a16:creationId xmlns="" xmlns:a16="http://schemas.microsoft.com/office/drawing/2014/main" id="{7A8C5BCF-8E26-E6E0-4626-E652F4BFCCD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79" t="6664" r="8832"/>
          <a:stretch/>
        </p:blipFill>
        <p:spPr>
          <a:xfrm>
            <a:off x="1075337" y="1825623"/>
            <a:ext cx="2690141" cy="24577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="" xmlns:a16="http://schemas.microsoft.com/office/drawing/2014/main" id="{AA049472-CC50-0BFE-DB7F-6C2E18475E67}"/>
                  </a:ext>
                </a:extLst>
              </p:cNvPr>
              <p:cNvSpPr txBox="1"/>
              <p:nvPr/>
            </p:nvSpPr>
            <p:spPr>
              <a:xfrm rot="16200000">
                <a:off x="582524" y="2773663"/>
                <a:ext cx="100467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AA049472-CC50-0BFE-DB7F-6C2E18475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2524" y="2773663"/>
                <a:ext cx="1004677" cy="276999"/>
              </a:xfrm>
              <a:prstGeom prst="rect">
                <a:avLst/>
              </a:prstGeom>
              <a:blipFill>
                <a:blip r:embed="rId6"/>
                <a:stretch>
                  <a:fillRect r="-65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="" xmlns:a16="http://schemas.microsoft.com/office/drawing/2014/main" id="{F4CC1366-3D43-8EFC-2434-1C28102F9307}"/>
                  </a:ext>
                </a:extLst>
              </p:cNvPr>
              <p:cNvSpPr txBox="1"/>
              <p:nvPr/>
            </p:nvSpPr>
            <p:spPr>
              <a:xfrm>
                <a:off x="1934885" y="4130772"/>
                <a:ext cx="126682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F4CC1366-3D43-8EFC-2434-1C28102F9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885" y="4130772"/>
                <a:ext cx="1266826" cy="276999"/>
              </a:xfrm>
              <a:prstGeom prst="rect">
                <a:avLst/>
              </a:prstGeom>
              <a:blipFill>
                <a:blip r:embed="rId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de Seta Reta 4">
            <a:extLst>
              <a:ext uri="{FF2B5EF4-FFF2-40B4-BE49-F238E27FC236}">
                <a16:creationId xmlns="" xmlns:a16="http://schemas.microsoft.com/office/drawing/2014/main" id="{CC64F05A-7E02-1F81-885B-0F985D8A5436}"/>
              </a:ext>
            </a:extLst>
          </p:cNvPr>
          <p:cNvCxnSpPr>
            <a:cxnSpLocks/>
          </p:cNvCxnSpPr>
          <p:nvPr/>
        </p:nvCxnSpPr>
        <p:spPr>
          <a:xfrm flipV="1">
            <a:off x="3686175" y="1895475"/>
            <a:ext cx="0" cy="274320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="" xmlns:a16="http://schemas.microsoft.com/office/drawing/2014/main" id="{C51C32C2-02A4-97DF-3A0E-763C4C918454}"/>
              </a:ext>
            </a:extLst>
          </p:cNvPr>
          <p:cNvCxnSpPr>
            <a:cxnSpLocks/>
          </p:cNvCxnSpPr>
          <p:nvPr/>
        </p:nvCxnSpPr>
        <p:spPr>
          <a:xfrm flipV="1">
            <a:off x="1437795" y="4039976"/>
            <a:ext cx="0" cy="201600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="" xmlns:a16="http://schemas.microsoft.com/office/drawing/2014/main" id="{3384F1D0-D12F-3050-B768-FC406B60C537}"/>
              </a:ext>
            </a:extLst>
          </p:cNvPr>
          <p:cNvCxnSpPr>
            <a:cxnSpLocks/>
          </p:cNvCxnSpPr>
          <p:nvPr/>
        </p:nvCxnSpPr>
        <p:spPr>
          <a:xfrm flipV="1">
            <a:off x="2562227" y="2944612"/>
            <a:ext cx="0" cy="244800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964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B348C73-D100-F26C-476F-E2F9B182F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CAF9C095-0678-B568-4C0C-EE57209756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0140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Esse modelo que estima a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probabilidade</a:t>
                </a:r>
                <a:r>
                  <a:rPr lang="pt-BR" dirty="0">
                    <a:solidFill>
                      <a:schemeClr val="accent2"/>
                    </a:solidFill>
                  </a:rPr>
                  <a:t> </a:t>
                </a:r>
                <a:r>
                  <a:rPr lang="pt-BR" dirty="0"/>
                  <a:t>de um dado exemplo de entrada pertencer à classe positiva,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não é um classificador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no sentido estrito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Ele é na verdade um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regressor</a:t>
                </a:r>
                <a:r>
                  <a:rPr lang="pt-BR" dirty="0"/>
                  <a:t> e é chamado de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regressor</a:t>
                </a:r>
                <a:r>
                  <a:rPr lang="pt-BR" dirty="0"/>
                  <a:t> </a:t>
                </a:r>
                <a:r>
                  <a:rPr lang="pt-BR" b="1" i="1" dirty="0"/>
                  <a:t>logístico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É um </a:t>
                </a:r>
                <a:r>
                  <a:rPr lang="pt-BR" dirty="0" err="1" smtClean="0"/>
                  <a:t>regressor</a:t>
                </a:r>
                <a:r>
                  <a:rPr lang="pt-BR" dirty="0" smtClean="0"/>
                  <a:t>, </a:t>
                </a:r>
                <a:r>
                  <a:rPr lang="pt-BR" dirty="0"/>
                  <a:t>pois sua saída pode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assumir infinitos valores </a:t>
                </a:r>
                <a:r>
                  <a:rPr lang="pt-BR" dirty="0"/>
                  <a:t>no intervalo entre 0 e 1.</a:t>
                </a:r>
              </a:p>
              <a:p>
                <a:r>
                  <a:rPr lang="pt-BR" dirty="0" smtClean="0"/>
                  <a:t>O </a:t>
                </a:r>
                <a:r>
                  <a:rPr lang="pt-BR" b="1" i="1" dirty="0"/>
                  <a:t>regressor logístico </a:t>
                </a:r>
                <a:r>
                  <a:rPr lang="pt-BR" dirty="0"/>
                  <a:t>é normalmente usado para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classificação binária </a:t>
                </a:r>
                <a:r>
                  <a:rPr lang="pt-BR" dirty="0"/>
                  <a:t>(i.e., classificação entre duas classes,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), </a:t>
                </a:r>
                <a:r>
                  <a:rPr lang="pt-BR" dirty="0" smtClean="0"/>
                  <a:t>mas, </a:t>
                </a:r>
                <a:r>
                  <a:rPr lang="pt-BR" dirty="0"/>
                  <a:t>para isso, precisamos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quantizar </a:t>
                </a:r>
                <a:r>
                  <a:rPr lang="pt-BR" b="1" i="1" dirty="0" smtClean="0">
                    <a:solidFill>
                      <a:srgbClr val="00B050"/>
                    </a:solidFill>
                  </a:rPr>
                  <a:t>a sua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saída</a:t>
                </a:r>
                <a:r>
                  <a:rPr lang="pt-BR" dirty="0" smtClean="0"/>
                  <a:t>.</a:t>
                </a:r>
              </a:p>
              <a:p>
                <a:r>
                  <a:rPr lang="pt-BR" dirty="0" smtClean="0"/>
                  <a:t>Toda </a:t>
                </a:r>
                <a:r>
                  <a:rPr lang="pt-BR" dirty="0"/>
                  <a:t>a teoria por trás da </a:t>
                </a:r>
                <a:r>
                  <a:rPr lang="pt-BR" b="1" i="1" dirty="0"/>
                  <a:t>regressão logística</a:t>
                </a:r>
                <a:r>
                  <a:rPr lang="pt-BR" dirty="0"/>
                  <a:t> </a:t>
                </a:r>
                <a:r>
                  <a:rPr lang="pt-BR" dirty="0" smtClean="0"/>
                  <a:t>nos ajudará a entender o funcionamento das</a:t>
                </a:r>
                <a:r>
                  <a:rPr lang="pt-BR" b="1" i="1" dirty="0" smtClean="0">
                    <a:solidFill>
                      <a:srgbClr val="00B050"/>
                    </a:solidFill>
                  </a:rPr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redes neurais</a:t>
                </a:r>
                <a:r>
                  <a:rPr lang="pt-BR" dirty="0" smtClean="0"/>
                  <a:t>.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AF9C095-0678-B568-4C0C-EE57209756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01401" cy="5032375"/>
              </a:xfrm>
              <a:blipFill rotWithShape="0">
                <a:blip r:embed="rId3"/>
                <a:stretch>
                  <a:fillRect l="-925" t="-1937" r="-15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256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E072F66-404A-E27E-D039-06DFA218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6442BD45-72D4-E6C4-1F35-F41807AA4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19338" cy="5032375"/>
              </a:xfrm>
            </p:spPr>
            <p:txBody>
              <a:bodyPr/>
              <a:lstStyle/>
              <a:p>
                <a:r>
                  <a:rPr lang="pt-BR" dirty="0" smtClean="0"/>
                  <a:t>Se quantiza a saída da </a:t>
                </a:r>
                <a:r>
                  <a:rPr lang="pt-BR" b="1" i="1" dirty="0"/>
                  <a:t>função hipótese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nos valores 0 ou 1 estabelecendo-se um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limiar de </a:t>
                </a:r>
                <a:r>
                  <a:rPr lang="pt-BR" b="1" i="1" dirty="0" smtClean="0">
                    <a:solidFill>
                      <a:srgbClr val="7030A0"/>
                    </a:solidFill>
                  </a:rPr>
                  <a:t>decisão</a:t>
                </a:r>
                <a:r>
                  <a:rPr lang="pt-BR" i="1" dirty="0" smtClean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dirty="0" smtClean="0"/>
                  <a:t>.</a:t>
                </a:r>
                <a:endParaRPr lang="pt-BR" dirty="0"/>
              </a:p>
              <a:p>
                <a:r>
                  <a:rPr lang="pt-BR" dirty="0"/>
                  <a:t>Em geral, 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limiar de decisão</a:t>
                </a:r>
                <a:r>
                  <a:rPr lang="pt-BR" dirty="0"/>
                  <a:t> é feito igual 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pt-BR" dirty="0" smtClean="0"/>
                  <a:t> </a:t>
                </a:r>
                <a:r>
                  <a:rPr lang="pt-BR" dirty="0"/>
                  <a:t>(i.e., 50% de probabilidade).</a:t>
                </a:r>
              </a:p>
              <a:p>
                <a:r>
                  <a:rPr lang="pt-BR" dirty="0" smtClean="0"/>
                  <a:t>A </a:t>
                </a:r>
                <a:r>
                  <a:rPr lang="pt-BR" dirty="0"/>
                  <a:t>saída </a:t>
                </a:r>
                <a:r>
                  <a:rPr lang="pt-BR" b="1" i="1" dirty="0"/>
                  <a:t>quantizada</a:t>
                </a:r>
                <a:r>
                  <a:rPr lang="pt-BR" dirty="0"/>
                  <a:t> do </a:t>
                </a:r>
                <a:r>
                  <a:rPr lang="pt-BR" b="1" i="1" dirty="0"/>
                  <a:t>regressor logístico </a:t>
                </a:r>
                <a:r>
                  <a:rPr lang="pt-BR" dirty="0"/>
                  <a:t>é dada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𝐶𝑙𝑎𝑠𝑠𝑒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̂"/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>
                                        <a:latin typeface="Cambria Math" panose="02040503050406030204" pitchFamily="18" charset="0"/>
                                      </a:rPr>
                                      <m:t>classe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 b="0" i="0" smtClean="0">
                                        <a:latin typeface="Cambria Math" panose="02040503050406030204" pitchFamily="18" charset="0"/>
                                      </a:rPr>
                                      <m:t>Negativa</m:t>
                                    </m:r>
                                  </m:e>
                                </m:d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pt-BR">
                                    <a:latin typeface="Cambria Math" panose="02040503050406030204" pitchFamily="18" charset="0"/>
                                  </a:rPr>
                                  <m:t>se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&lt;0.5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 (</m:t>
                                </m:r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>
                                        <a:latin typeface="Cambria Math" panose="02040503050406030204" pitchFamily="18" charset="0"/>
                                      </a:rPr>
                                      <m:t>classe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pt-BR">
                                    <a:latin typeface="Cambria Math" panose="02040503050406030204" pitchFamily="18" charset="0"/>
                                  </a:rPr>
                                  <m:t>Positiva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), 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𝑠𝑒</m:t>
                                </m:r>
                                <m:sSub>
                                  <m:sSub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≥0.5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442BD45-72D4-E6C4-1F35-F41807AA4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19338" cy="5032375"/>
              </a:xfrm>
              <a:blipFill rotWithShape="0">
                <a:blip r:embed="rId3"/>
                <a:stretch>
                  <a:fillRect l="-987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4267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72AC13C-45BB-B28E-F816-A97767018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Regressão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077809CD-1BD7-E7EB-6571-1A28F2AF7B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846" y="1825624"/>
                <a:ext cx="6784886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Notem que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pt-BR" dirty="0"/>
                  <a:t> quando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)&lt;0</m:t>
                    </m:r>
                  </m:oMath>
                </a14:m>
                <a:r>
                  <a:rPr lang="pt-BR" dirty="0"/>
                  <a:t> 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pt-BR" dirty="0"/>
                  <a:t> 0.5 quando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b="0" dirty="0"/>
              </a:p>
              <a:p>
                <a:r>
                  <a:rPr lang="pt-BR" dirty="0"/>
                  <a:t>Portanto, o </a:t>
                </a:r>
                <a:r>
                  <a:rPr lang="pt-BR" b="1" i="1" dirty="0"/>
                  <a:t>regressor logístico com limiar de quantização igual a 0.5 </a:t>
                </a:r>
                <a:r>
                  <a:rPr lang="pt-BR" dirty="0"/>
                  <a:t>prediz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classe positiva,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(i.e.,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), se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 e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classe negativa,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 (i.e.,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), se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77809CD-1BD7-E7EB-6571-1A28F2AF7B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846" y="1825624"/>
                <a:ext cx="6784886" cy="5032375"/>
              </a:xfrm>
              <a:blipFill>
                <a:blip r:embed="rId2"/>
                <a:stretch>
                  <a:fillRect l="-1617" t="-1937" r="-1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Agrupar 3">
            <a:extLst>
              <a:ext uri="{FF2B5EF4-FFF2-40B4-BE49-F238E27FC236}">
                <a16:creationId xmlns="" xmlns:a16="http://schemas.microsoft.com/office/drawing/2014/main" id="{DEB44443-FFD9-DE17-AE4D-5329DCB80EFD}"/>
              </a:ext>
            </a:extLst>
          </p:cNvPr>
          <p:cNvGrpSpPr/>
          <p:nvPr/>
        </p:nvGrpSpPr>
        <p:grpSpPr>
          <a:xfrm>
            <a:off x="496556" y="2204516"/>
            <a:ext cx="4264646" cy="3867900"/>
            <a:chOff x="473795" y="2024060"/>
            <a:chExt cx="4264646" cy="3867900"/>
          </a:xfrm>
        </p:grpSpPr>
        <p:pic>
          <p:nvPicPr>
            <p:cNvPr id="13" name="Picture 3">
              <a:extLst>
                <a:ext uri="{FF2B5EF4-FFF2-40B4-BE49-F238E27FC236}">
                  <a16:creationId xmlns="" xmlns:a16="http://schemas.microsoft.com/office/drawing/2014/main" id="{6CFDE865-B8F2-4862-00D0-2F299E8F06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79" t="6664" r="8832"/>
            <a:stretch/>
          </p:blipFill>
          <p:spPr>
            <a:xfrm>
              <a:off x="617437" y="2024060"/>
              <a:ext cx="4121004" cy="376494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ixaDeTexto 13">
                  <a:extLst>
                    <a:ext uri="{FF2B5EF4-FFF2-40B4-BE49-F238E27FC236}">
                      <a16:creationId xmlns="" xmlns:a16="http://schemas.microsoft.com/office/drawing/2014/main" id="{CF28521A-7BAB-5D5B-7A24-F7AE92AD9921}"/>
                    </a:ext>
                  </a:extLst>
                </p:cNvPr>
                <p:cNvSpPr txBox="1"/>
                <p:nvPr/>
              </p:nvSpPr>
              <p:spPr>
                <a:xfrm rot="16200000">
                  <a:off x="252390" y="3554735"/>
                  <a:ext cx="781363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CF28521A-7BAB-5D5B-7A24-F7AE92AD9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52390" y="3554735"/>
                  <a:ext cx="781363" cy="338554"/>
                </a:xfrm>
                <a:prstGeom prst="rect">
                  <a:avLst/>
                </a:prstGeom>
                <a:blipFill>
                  <a:blip r:embed="rId4"/>
                  <a:stretch>
                    <a:fillRect t="-2344" r="-10909" b="-78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ight Brace 5">
              <a:extLst>
                <a:ext uri="{FF2B5EF4-FFF2-40B4-BE49-F238E27FC236}">
                  <a16:creationId xmlns="" xmlns:a16="http://schemas.microsoft.com/office/drawing/2014/main" id="{36FFBC54-E8AA-B8DC-C018-7AF210B1204B}"/>
                </a:ext>
              </a:extLst>
            </p:cNvPr>
            <p:cNvSpPr/>
            <p:nvPr/>
          </p:nvSpPr>
          <p:spPr>
            <a:xfrm rot="5400000">
              <a:off x="3721046" y="2913581"/>
              <a:ext cx="166155" cy="1800725"/>
            </a:xfrm>
            <a:prstGeom prst="rightBrace">
              <a:avLst>
                <a:gd name="adj1" fmla="val 8333"/>
                <a:gd name="adj2" fmla="val 5074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6">
                  <a:extLst>
                    <a:ext uri="{FF2B5EF4-FFF2-40B4-BE49-F238E27FC236}">
                      <a16:creationId xmlns="" xmlns:a16="http://schemas.microsoft.com/office/drawing/2014/main" id="{84CA50B8-20A8-7860-76B6-EBE98B2C591B}"/>
                    </a:ext>
                  </a:extLst>
                </p:cNvPr>
                <p:cNvSpPr txBox="1"/>
                <p:nvPr/>
              </p:nvSpPr>
              <p:spPr>
                <a:xfrm>
                  <a:off x="2880726" y="3891839"/>
                  <a:ext cx="180491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6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6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sz="16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1600" b="0" i="1" dirty="0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m:rPr>
                            <m:sty m:val="p"/>
                          </m:rPr>
                          <a:rPr lang="pt-BR" sz="1600" b="0" i="0" dirty="0" smtClean="0">
                            <a:latin typeface="Cambria Math" panose="02040503050406030204" pitchFamily="18" charset="0"/>
                          </a:rPr>
                          <m:t>se</m:t>
                        </m:r>
                        <m:r>
                          <a:rPr lang="pt-BR" sz="1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8" name="TextBox 6">
                  <a:extLst>
                    <a:ext uri="{FF2B5EF4-FFF2-40B4-BE49-F238E27FC236}">
                      <a16:creationId xmlns:a16="http://schemas.microsoft.com/office/drawing/2014/main" id="{84CA50B8-20A8-7860-76B6-EBE98B2C5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726" y="3891839"/>
                  <a:ext cx="1804918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ight Brace 9">
              <a:extLst>
                <a:ext uri="{FF2B5EF4-FFF2-40B4-BE49-F238E27FC236}">
                  <a16:creationId xmlns="" xmlns:a16="http://schemas.microsoft.com/office/drawing/2014/main" id="{7CD5DAF8-692D-4FFB-3889-4F4811A96859}"/>
                </a:ext>
              </a:extLst>
            </p:cNvPr>
            <p:cNvSpPr/>
            <p:nvPr/>
          </p:nvSpPr>
          <p:spPr>
            <a:xfrm rot="16200000">
              <a:off x="1920322" y="2652479"/>
              <a:ext cx="166155" cy="1800725"/>
            </a:xfrm>
            <a:prstGeom prst="rightBrace">
              <a:avLst>
                <a:gd name="adj1" fmla="val 8333"/>
                <a:gd name="adj2" fmla="val 5074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10">
                  <a:extLst>
                    <a:ext uri="{FF2B5EF4-FFF2-40B4-BE49-F238E27FC236}">
                      <a16:creationId xmlns="" xmlns:a16="http://schemas.microsoft.com/office/drawing/2014/main" id="{7B8A9F24-4A03-367E-79F6-C51C042914F2}"/>
                    </a:ext>
                  </a:extLst>
                </p:cNvPr>
                <p:cNvSpPr txBox="1"/>
                <p:nvPr/>
              </p:nvSpPr>
              <p:spPr>
                <a:xfrm>
                  <a:off x="1103037" y="3107812"/>
                  <a:ext cx="180491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16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16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sz="16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1600" b="0" i="1" dirty="0" smtClean="0"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m:rPr>
                            <m:sty m:val="p"/>
                          </m:rPr>
                          <a:rPr lang="pt-BR" sz="1600" b="0" i="0" dirty="0" smtClean="0">
                            <a:latin typeface="Cambria Math" panose="02040503050406030204" pitchFamily="18" charset="0"/>
                          </a:rPr>
                          <m:t>se</m:t>
                        </m:r>
                        <m:r>
                          <a:rPr lang="pt-BR" sz="1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10" name="TextBox 10">
                  <a:extLst>
                    <a:ext uri="{FF2B5EF4-FFF2-40B4-BE49-F238E27FC236}">
                      <a16:creationId xmlns:a16="http://schemas.microsoft.com/office/drawing/2014/main" id="{7B8A9F24-4A03-367E-79F6-C51C04291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037" y="3107812"/>
                  <a:ext cx="1804918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>
                  <a:extLst>
                    <a:ext uri="{FF2B5EF4-FFF2-40B4-BE49-F238E27FC236}">
                      <a16:creationId xmlns="" xmlns:a16="http://schemas.microsoft.com/office/drawing/2014/main" id="{E4DC8A7C-AC93-892F-B7D9-AF42FDBFE8D8}"/>
                    </a:ext>
                  </a:extLst>
                </p:cNvPr>
                <p:cNvSpPr txBox="1"/>
                <p:nvPr/>
              </p:nvSpPr>
              <p:spPr>
                <a:xfrm>
                  <a:off x="2270348" y="5553406"/>
                  <a:ext cx="1266826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E4DC8A7C-AC93-892F-B7D9-AF42FDBFE8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0348" y="5553406"/>
                  <a:ext cx="1266826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83650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="" xmlns:a16="http://schemas.microsoft.com/office/drawing/2014/main" id="{B8A641DB-726F-6426-9FE6-9A9B9C3C80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903" y="4242547"/>
            <a:ext cx="2378723" cy="215629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A5233AA-51F7-6ACD-208D-18BEC80F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da regressão logística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3885C979-AADA-BE1B-E924-EADEBB483E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9778" y="1825624"/>
                <a:ext cx="6432222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transição entre classes </a:t>
                </a:r>
                <a:r>
                  <a:rPr lang="pt-BR" dirty="0"/>
                  <a:t>com o regressor logístico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é suave</a:t>
                </a:r>
                <a:r>
                  <a:rPr lang="pt-BR" dirty="0"/>
                  <a:t>, mas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após a quantização</a:t>
                </a:r>
                <a:r>
                  <a:rPr lang="pt-BR" dirty="0"/>
                  <a:t> de sua saída, ela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se torna abrupta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fronteira de decisão </a:t>
                </a:r>
                <a:r>
                  <a:rPr lang="pt-BR" dirty="0" smtClean="0"/>
                  <a:t>é </a:t>
                </a:r>
                <a:r>
                  <a:rPr lang="pt-BR" dirty="0"/>
                  <a:t>determinada quando há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indecisão</a:t>
                </a:r>
                <a:r>
                  <a:rPr lang="pt-BR" dirty="0"/>
                  <a:t> entre as classes.</a:t>
                </a:r>
              </a:p>
              <a:p>
                <a:r>
                  <a:rPr lang="pt-BR" dirty="0"/>
                  <a:t>Ou seja, </a:t>
                </a:r>
                <a:r>
                  <a:rPr lang="pt-BR" dirty="0" smtClean="0"/>
                  <a:t>quando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0.5.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885C979-AADA-BE1B-E924-EADEBB483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9778" y="1825624"/>
                <a:ext cx="6432222" cy="5032375"/>
              </a:xfrm>
              <a:blipFill rotWithShape="0">
                <a:blip r:embed="rId3"/>
                <a:stretch>
                  <a:fillRect l="-1706" t="-1937" r="-31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="" xmlns:a16="http://schemas.microsoft.com/office/drawing/2014/main" id="{301DF147-5AD8-4827-1B3C-934BCB6CAB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" t="1951" r="1156" b="2945"/>
          <a:stretch/>
        </p:blipFill>
        <p:spPr>
          <a:xfrm>
            <a:off x="100241" y="2301118"/>
            <a:ext cx="2252879" cy="151245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DC81A026-AE51-E462-440C-065E87F63FC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" t="11662" r="9254"/>
          <a:stretch/>
        </p:blipFill>
        <p:spPr>
          <a:xfrm>
            <a:off x="3172460" y="2301118"/>
            <a:ext cx="2257744" cy="1512454"/>
          </a:xfrm>
          <a:prstGeom prst="rect">
            <a:avLst/>
          </a:prstGeom>
        </p:spPr>
      </p:pic>
      <p:cxnSp>
        <p:nvCxnSpPr>
          <p:cNvPr id="7" name="Conector de seta reta 8">
            <a:extLst>
              <a:ext uri="{FF2B5EF4-FFF2-40B4-BE49-F238E27FC236}">
                <a16:creationId xmlns="" xmlns:a16="http://schemas.microsoft.com/office/drawing/2014/main" id="{A5564AF5-415F-E5A8-B289-2CB45DE72C76}"/>
              </a:ext>
            </a:extLst>
          </p:cNvPr>
          <p:cNvCxnSpPr>
            <a:cxnSpLocks/>
            <a:stCxn id="9" idx="0"/>
            <a:endCxn id="8" idx="2"/>
          </p:cNvCxnSpPr>
          <p:nvPr/>
        </p:nvCxnSpPr>
        <p:spPr>
          <a:xfrm flipV="1">
            <a:off x="4390356" y="2995996"/>
            <a:ext cx="561" cy="2129544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F14A03E5-8AEE-CC43-1C61-4E5D3EB0F774}"/>
              </a:ext>
            </a:extLst>
          </p:cNvPr>
          <p:cNvSpPr/>
          <p:nvPr/>
        </p:nvSpPr>
        <p:spPr>
          <a:xfrm rot="2198129">
            <a:off x="3331970" y="2904814"/>
            <a:ext cx="2178268" cy="10117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="" xmlns:a16="http://schemas.microsoft.com/office/drawing/2014/main" id="{A160CDC7-3DB9-F339-904B-ECCF2FF687F4}"/>
              </a:ext>
            </a:extLst>
          </p:cNvPr>
          <p:cNvSpPr/>
          <p:nvPr/>
        </p:nvSpPr>
        <p:spPr>
          <a:xfrm>
            <a:off x="4336356" y="5125540"/>
            <a:ext cx="108000" cy="108000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="" xmlns:a16="http://schemas.microsoft.com/office/drawing/2014/main" id="{ED590EC9-E826-C9B7-DB48-DB5893E946E0}"/>
              </a:ext>
            </a:extLst>
          </p:cNvPr>
          <p:cNvSpPr txBox="1"/>
          <p:nvPr/>
        </p:nvSpPr>
        <p:spPr>
          <a:xfrm>
            <a:off x="2329684" y="2618144"/>
            <a:ext cx="9742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/>
              <a:t>Quantização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="" xmlns:a16="http://schemas.microsoft.com/office/drawing/2014/main" id="{CA218BEA-C92F-A9D2-5B95-1181A660E6D5}"/>
              </a:ext>
            </a:extLst>
          </p:cNvPr>
          <p:cNvSpPr txBox="1"/>
          <p:nvPr/>
        </p:nvSpPr>
        <p:spPr>
          <a:xfrm>
            <a:off x="3438126" y="1993341"/>
            <a:ext cx="1985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Transição abrupta</a:t>
            </a:r>
          </a:p>
        </p:txBody>
      </p:sp>
      <p:sp>
        <p:nvSpPr>
          <p:cNvPr id="12" name="Seta: para a Direita 11">
            <a:extLst>
              <a:ext uri="{FF2B5EF4-FFF2-40B4-BE49-F238E27FC236}">
                <a16:creationId xmlns="" xmlns:a16="http://schemas.microsoft.com/office/drawing/2014/main" id="{96DC723A-0689-21BA-776F-298D6AEB8996}"/>
              </a:ext>
            </a:extLst>
          </p:cNvPr>
          <p:cNvSpPr/>
          <p:nvPr/>
        </p:nvSpPr>
        <p:spPr>
          <a:xfrm>
            <a:off x="2501514" y="2850735"/>
            <a:ext cx="576483" cy="3779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="" xmlns:a16="http://schemas.microsoft.com/office/drawing/2014/main" id="{8FDC2F49-7E99-272A-7D45-CF96AD496CCE}"/>
              </a:ext>
            </a:extLst>
          </p:cNvPr>
          <p:cNvSpPr txBox="1"/>
          <p:nvPr/>
        </p:nvSpPr>
        <p:spPr>
          <a:xfrm>
            <a:off x="343944" y="2006844"/>
            <a:ext cx="1985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Transição suave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="" xmlns:a16="http://schemas.microsoft.com/office/drawing/2014/main" id="{9C42078E-5BB7-D014-6267-4D199DCDA337}"/>
              </a:ext>
            </a:extLst>
          </p:cNvPr>
          <p:cNvSpPr txBox="1"/>
          <p:nvPr/>
        </p:nvSpPr>
        <p:spPr>
          <a:xfrm>
            <a:off x="5014663" y="3682128"/>
            <a:ext cx="799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Fronteira de decisão</a:t>
            </a:r>
          </a:p>
        </p:txBody>
      </p:sp>
      <p:cxnSp>
        <p:nvCxnSpPr>
          <p:cNvPr id="26" name="Conector: Curvo 25">
            <a:extLst>
              <a:ext uri="{FF2B5EF4-FFF2-40B4-BE49-F238E27FC236}">
                <a16:creationId xmlns="" xmlns:a16="http://schemas.microsoft.com/office/drawing/2014/main" id="{A6DB7626-F455-A040-5E09-CAACB2A4E564}"/>
              </a:ext>
            </a:extLst>
          </p:cNvPr>
          <p:cNvCxnSpPr>
            <a:cxnSpLocks/>
            <a:endCxn id="24" idx="1"/>
          </p:cNvCxnSpPr>
          <p:nvPr/>
        </p:nvCxnSpPr>
        <p:spPr>
          <a:xfrm rot="16200000" flipH="1">
            <a:off x="4601307" y="3484215"/>
            <a:ext cx="637641" cy="189071"/>
          </a:xfrm>
          <a:prstGeom prst="curvedConnector2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108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811B56D-A8C3-D4ED-E68C-5C692F58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ABDE3F7-7E8F-5003-373A-62B0BD376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343" y="1825624"/>
            <a:ext cx="6600460" cy="5032375"/>
          </a:xfrm>
        </p:spPr>
        <p:txBody>
          <a:bodyPr/>
          <a:lstStyle/>
          <a:p>
            <a:r>
              <a:rPr lang="pt-BR" dirty="0" smtClean="0"/>
              <a:t>Para </a:t>
            </a:r>
            <a:r>
              <a:rPr lang="pt-BR" b="1" i="1" dirty="0" smtClean="0">
                <a:solidFill>
                  <a:srgbClr val="00B050"/>
                </a:solidFill>
              </a:rPr>
              <a:t>treinarmos </a:t>
            </a:r>
            <a:r>
              <a:rPr lang="pt-BR" dirty="0"/>
              <a:t>um</a:t>
            </a:r>
            <a:r>
              <a:rPr lang="pt-BR" b="1" i="1" dirty="0"/>
              <a:t> </a:t>
            </a:r>
            <a:r>
              <a:rPr lang="pt-BR" b="1" i="1" dirty="0">
                <a:solidFill>
                  <a:srgbClr val="00B050"/>
                </a:solidFill>
              </a:rPr>
              <a:t>regressor logístico</a:t>
            </a:r>
            <a:r>
              <a:rPr lang="pt-BR" b="1" i="1" dirty="0"/>
              <a:t> </a:t>
            </a:r>
            <a:r>
              <a:rPr lang="pt-BR" dirty="0"/>
              <a:t>e encontrarmos os </a:t>
            </a:r>
            <a:r>
              <a:rPr lang="pt-BR" b="1" i="1" dirty="0"/>
              <a:t>pesos</a:t>
            </a:r>
            <a:r>
              <a:rPr lang="pt-BR" dirty="0"/>
              <a:t> da </a:t>
            </a:r>
            <a:r>
              <a:rPr lang="pt-BR" b="1" i="1" dirty="0"/>
              <a:t>função discriminante</a:t>
            </a:r>
            <a:r>
              <a:rPr lang="pt-BR" dirty="0"/>
              <a:t>, nós </a:t>
            </a:r>
            <a:r>
              <a:rPr lang="pt-BR" b="1" i="1" dirty="0">
                <a:solidFill>
                  <a:srgbClr val="00B050"/>
                </a:solidFill>
              </a:rPr>
              <a:t>precisamos</a:t>
            </a:r>
            <a:r>
              <a:rPr lang="pt-BR" dirty="0"/>
              <a:t>, assim como fizemos com a </a:t>
            </a:r>
            <a:r>
              <a:rPr lang="pt-BR" b="1" i="1" dirty="0"/>
              <a:t>regressão linear</a:t>
            </a:r>
            <a:r>
              <a:rPr lang="pt-BR" dirty="0"/>
              <a:t>, </a:t>
            </a:r>
            <a:r>
              <a:rPr lang="pt-BR" b="1" i="1" dirty="0">
                <a:solidFill>
                  <a:srgbClr val="00B050"/>
                </a:solidFill>
              </a:rPr>
              <a:t>definir uma função de </a:t>
            </a:r>
            <a:r>
              <a:rPr lang="pt-BR" b="1" i="1" dirty="0" smtClean="0">
                <a:solidFill>
                  <a:srgbClr val="00B050"/>
                </a:solidFill>
              </a:rPr>
              <a:t>erro a ser </a:t>
            </a:r>
            <a:r>
              <a:rPr lang="pt-BR" b="1" i="1" dirty="0" smtClean="0">
                <a:solidFill>
                  <a:schemeClr val="accent5"/>
                </a:solidFill>
              </a:rPr>
              <a:t>minimizada</a:t>
            </a:r>
            <a:r>
              <a:rPr lang="pt-BR" dirty="0" smtClean="0"/>
              <a:t>.</a:t>
            </a:r>
            <a:endParaRPr lang="pt-BR" dirty="0"/>
          </a:p>
          <a:p>
            <a:r>
              <a:rPr lang="pt-BR" dirty="0"/>
              <a:t>Porém, adotar a função do </a:t>
            </a:r>
            <a:r>
              <a:rPr lang="pt-BR" b="1" i="1" dirty="0">
                <a:solidFill>
                  <a:schemeClr val="accent2"/>
                </a:solidFill>
              </a:rPr>
              <a:t>erro quadrático médio</a:t>
            </a:r>
            <a:r>
              <a:rPr lang="pt-BR" b="1" i="1" dirty="0"/>
              <a:t> </a:t>
            </a:r>
            <a:r>
              <a:rPr lang="pt-BR" dirty="0"/>
              <a:t>como </a:t>
            </a:r>
            <a:r>
              <a:rPr lang="pt-BR" b="1" i="1" dirty="0"/>
              <a:t>função de erro </a:t>
            </a:r>
            <a:r>
              <a:rPr lang="pt-BR" b="1" i="1" dirty="0">
                <a:solidFill>
                  <a:srgbClr val="7030A0"/>
                </a:solidFill>
              </a:rPr>
              <a:t>não é uma boa escolha </a:t>
            </a:r>
            <a:r>
              <a:rPr lang="pt-BR" dirty="0"/>
              <a:t>para a </a:t>
            </a:r>
            <a:r>
              <a:rPr lang="pt-BR" b="1" i="1" dirty="0"/>
              <a:t>atualização dos pesos </a:t>
            </a:r>
            <a:r>
              <a:rPr lang="pt-BR" dirty="0"/>
              <a:t>no caso da</a:t>
            </a:r>
            <a:r>
              <a:rPr lang="pt-BR" b="1" i="1" dirty="0"/>
              <a:t> regressão logística</a:t>
            </a:r>
            <a:r>
              <a:rPr lang="pt-BR" dirty="0"/>
              <a:t> e </a:t>
            </a:r>
            <a:r>
              <a:rPr lang="pt-BR" b="1" i="1" dirty="0"/>
              <a:t>classificadores em geral </a:t>
            </a:r>
            <a:r>
              <a:rPr lang="pt-BR" dirty="0"/>
              <a:t>como veremos a seguir.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="" xmlns:a16="http://schemas.microsoft.com/office/drawing/2014/main" id="{545F6B8B-1D68-3257-4D30-A8B30FF629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97" y="2667000"/>
            <a:ext cx="5112948" cy="249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04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806EC75-4D21-4D67-B663-BBB1A0602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FBFE5126-77BD-A65E-0D48-3492430214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46600" y="1825624"/>
                <a:ext cx="7503561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 smtClean="0"/>
                  <a:t>Se considerarmos a </a:t>
                </a:r>
                <a:r>
                  <a:rPr lang="pt-BR" b="1" i="1" dirty="0"/>
                  <a:t>função de erro</a:t>
                </a:r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pt-BR" dirty="0"/>
                  <a:t>, como sendo o </a:t>
                </a:r>
                <a:r>
                  <a:rPr lang="pt-BR" b="1" i="1" dirty="0"/>
                  <a:t>erro quadrático médio</a:t>
                </a:r>
                <a:r>
                  <a:rPr lang="pt-BR" dirty="0"/>
                  <a:t>, temos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limLow>
                                    <m:limLow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groupChr>
                                        <m:groupChrPr>
                                          <m:chr m:val="⏟"/>
                                          <m:ctrlPr>
                                            <a:rPr lang="pt-B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groupChr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b="1" i="1">
                                                  <a:latin typeface="Cambria Math" panose="02040503050406030204" pitchFamily="18" charset="0"/>
                                                </a:rPr>
                                                <m:t>𝒂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d>
                                        </m:e>
                                      </m:groupChr>
                                    </m:e>
                                    <m:lim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d>
                                        <m:d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d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lim>
                                  </m:limLow>
                                </m:e>
                              </m:d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Porém, como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dirty="0"/>
                  <a:t> é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não-linear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não será</a:t>
                </a:r>
                <a:r>
                  <a:rPr lang="pt-BR" dirty="0"/>
                  <a:t>, consequentemente,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uma função convexa</a:t>
                </a:r>
                <a:r>
                  <a:rPr lang="pt-BR" dirty="0"/>
                  <a:t>, de forma que a </a:t>
                </a:r>
                <a:r>
                  <a:rPr lang="pt-BR" b="1" i="1" dirty="0"/>
                  <a:t>superfície de erro</a:t>
                </a:r>
                <a:r>
                  <a:rPr lang="pt-BR" dirty="0"/>
                  <a:t> poderá </a:t>
                </a:r>
                <a:r>
                  <a:rPr lang="pt-BR" dirty="0" smtClean="0"/>
                  <a:t>apresentar várias irregularidades, incluindo </a:t>
                </a:r>
                <a:r>
                  <a:rPr lang="pt-BR" b="1" i="1" dirty="0" smtClean="0">
                    <a:solidFill>
                      <a:srgbClr val="FF0000"/>
                    </a:solidFill>
                  </a:rPr>
                  <a:t>diversos mínimos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locais</a:t>
                </a:r>
                <a:r>
                  <a:rPr lang="pt-BR" b="1" dirty="0">
                    <a:solidFill>
                      <a:srgbClr val="00B050"/>
                    </a:solidFill>
                  </a:rPr>
                  <a:t> </a:t>
                </a:r>
                <a:r>
                  <a:rPr lang="pt-BR" dirty="0"/>
                  <a:t>que vão dificultar o aprendizado do </a:t>
                </a:r>
                <a:r>
                  <a:rPr lang="pt-BR" dirty="0" smtClean="0"/>
                  <a:t>modelo.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 smtClean="0"/>
                  <a:t>Por exemplo, o </a:t>
                </a:r>
                <a:r>
                  <a:rPr lang="pt-BR" dirty="0"/>
                  <a:t>algoritmo do GD pode ficar preso em um mínimo </a:t>
                </a:r>
                <a:r>
                  <a:rPr lang="pt-BR" dirty="0" smtClean="0"/>
                  <a:t>local.</a:t>
                </a:r>
                <a:endParaRPr lang="pt-BR" i="1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BFE5126-77BD-A65E-0D48-349243021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46600" y="1825624"/>
                <a:ext cx="7503561" cy="5032375"/>
              </a:xfrm>
              <a:blipFill rotWithShape="0">
                <a:blip r:embed="rId3"/>
                <a:stretch>
                  <a:fillRect l="-1462" t="-2663" r="-19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="" xmlns:a16="http://schemas.microsoft.com/office/drawing/2014/main" id="{115D6186-8BB1-898C-24EC-20F1164C3E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18" y="2005175"/>
            <a:ext cx="3686982" cy="416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3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20E2DF9-2743-23C2-DE46-E7AD9A871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C34F70FE-EECC-0DF5-F655-DE58234088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5885" y="1825624"/>
                <a:ext cx="7531799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1" dirty="0"/>
                  <a:t>Ideia</a:t>
                </a:r>
                <a:r>
                  <a:rPr lang="pt-BR" dirty="0"/>
                  <a:t>: encontrar uma </a:t>
                </a:r>
                <a:r>
                  <a:rPr lang="pt-BR" b="1" i="1" dirty="0"/>
                  <a:t>função de erro </a:t>
                </a:r>
                <a:r>
                  <a:rPr lang="pt-BR" dirty="0"/>
                  <a:t>que tenha </a:t>
                </a:r>
                <a:r>
                  <a:rPr lang="pt-BR" b="1" i="1" dirty="0"/>
                  <a:t>superfície de erro </a:t>
                </a:r>
                <a:r>
                  <a:rPr lang="pt-BR" dirty="0"/>
                  <a:t>resultante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convexa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Uma proposta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intuitiva</a:t>
                </a:r>
                <a:r>
                  <a:rPr lang="pt-BR" dirty="0"/>
                  <a:t> para a </a:t>
                </a:r>
                <a:r>
                  <a:rPr lang="pt-BR" b="1" i="1" dirty="0"/>
                  <a:t>função de</a:t>
                </a:r>
                <a:r>
                  <a:rPr lang="pt-BR" dirty="0"/>
                  <a:t> </a:t>
                </a:r>
                <a:r>
                  <a:rPr lang="pt-BR" b="1" i="1" dirty="0"/>
                  <a:t>erro</a:t>
                </a:r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para cada exemplo de entrada </a:t>
                </a:r>
                <a:r>
                  <a:rPr lang="pt-BR" dirty="0"/>
                  <a:t>é dada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𝐸𝑟𝑟𝑜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pt-BR">
                                        <a:latin typeface="Cambria Math" panose="02040503050406030204" pitchFamily="18" charset="0"/>
                                      </a:rPr>
                                      <m:t>l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>
                                        <a:latin typeface="Cambria Math" panose="02040503050406030204" pitchFamily="18" charset="0"/>
                                      </a:rPr>
                                      <m:t>og</m:t>
                                    </m:r>
                                  </m:fName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pt-BR">
                                    <a:latin typeface="Cambria Math" panose="02040503050406030204" pitchFamily="18" charset="0"/>
                                  </a:rPr>
                                  <m:t>se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pt-BR">
                                        <a:latin typeface="Cambria Math" panose="02040503050406030204" pitchFamily="18" charset="0"/>
                                      </a:rPr>
                                      <m:t>l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pt-BR">
                                        <a:latin typeface="Cambria Math" panose="02040503050406030204" pitchFamily="18" charset="0"/>
                                      </a:rPr>
                                      <m:t>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b>
                                          <m:sSub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pt-BR" b="1" i="1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b="1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pt-BR" i="1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</m:func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pt-BR">
                                    <a:latin typeface="Cambria Math" panose="02040503050406030204" pitchFamily="18" charset="0"/>
                                  </a:rPr>
                                  <m:t>se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pt-BR" dirty="0"/>
                  <a:t> é 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 smtClean="0"/>
                  <a:t>ésimo</a:t>
                </a:r>
                <a:r>
                  <a:rPr lang="pt-BR" dirty="0" smtClean="0"/>
                  <a:t> rótulo.</a:t>
                </a:r>
                <a:endParaRPr lang="pt-BR" dirty="0"/>
              </a:p>
              <a:p>
                <a:r>
                  <a:rPr lang="pt-BR" dirty="0"/>
                  <a:t>Veremos a seguir uma </a:t>
                </a:r>
                <a:r>
                  <a:rPr lang="pt-BR" dirty="0" smtClean="0"/>
                  <a:t>motivação para </a:t>
                </a:r>
                <a:r>
                  <a:rPr lang="pt-BR" dirty="0"/>
                  <a:t>esta escolha.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34F70FE-EECC-0DF5-F655-DE58234088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5885" y="1825624"/>
                <a:ext cx="7531799" cy="5032375"/>
              </a:xfrm>
              <a:blipFill rotWithShape="0">
                <a:blip r:embed="rId3"/>
                <a:stretch>
                  <a:fillRect l="-1700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="" xmlns:a16="http://schemas.microsoft.com/office/drawing/2014/main" id="{AB29F58F-4448-78CD-6BD9-06E43E18AD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56" y="1990946"/>
            <a:ext cx="3425371" cy="41828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="" xmlns:a16="http://schemas.microsoft.com/office/drawing/2014/main" id="{00DD6890-7287-3E1E-773F-7EAB37BD2F8A}"/>
                  </a:ext>
                </a:extLst>
              </p:cNvPr>
              <p:cNvSpPr txBox="1"/>
              <p:nvPr/>
            </p:nvSpPr>
            <p:spPr>
              <a:xfrm>
                <a:off x="8925171" y="6581000"/>
                <a:ext cx="34253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200" b="1" dirty="0"/>
                  <a:t>Obs</a:t>
                </a:r>
                <a:r>
                  <a:rPr lang="pt-BR" sz="1200" dirty="0"/>
                  <a:t>.: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 m:alnAt="7"/>
                      </m:rPr>
                      <a:rPr lang="pt-BR" sz="1200" smtClean="0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pt-BR" sz="1200">
                        <a:latin typeface="Cambria Math" panose="02040503050406030204" pitchFamily="18" charset="0"/>
                      </a:rPr>
                      <m:t>og</m:t>
                    </m:r>
                    <m:r>
                      <a:rPr lang="pt-BR" sz="1200" b="0" i="0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sz="1200" dirty="0"/>
                  <a:t> é o logaritmo natural ou neperiano.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0DD6890-7287-3E1E-773F-7EAB37BD2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171" y="6581000"/>
                <a:ext cx="3425371" cy="276999"/>
              </a:xfrm>
              <a:prstGeom prst="rect">
                <a:avLst/>
              </a:prstGeom>
              <a:blipFill>
                <a:blip r:embed="rId5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5807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72C6C58-2120-4F47-1BAC-334526DF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DAA41FEE-FFE7-A8B3-A6BF-64195006E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62145" y="1825624"/>
                <a:ext cx="7054147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Quando o </a:t>
                </a:r>
                <a:r>
                  <a:rPr lang="pt-BR" dirty="0" smtClean="0"/>
                  <a:t>rótulo é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, o valor de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pt-BR" dirty="0"/>
                  <a:t> se torna muito grande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pt-BR" dirty="0"/>
                  <a:t> se aproxima de 0.</a:t>
                </a:r>
              </a:p>
              <a:p>
                <a:r>
                  <a:rPr lang="pt-BR" dirty="0"/>
                  <a:t>Ou seja, 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erro será grande</a:t>
                </a:r>
                <a:r>
                  <a:rPr lang="pt-BR" dirty="0"/>
                  <a:t> se o regressor estimar uma probabilidade próxima a 0 para um exemplo da classe positiva,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Por outro lado,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pt-BR" dirty="0"/>
                  <a:t> se torna próximo de 0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pt-BR" dirty="0"/>
                  <a:t> se aproxima de 1.</a:t>
                </a:r>
              </a:p>
              <a:p>
                <a:r>
                  <a:rPr lang="pt-BR" dirty="0"/>
                  <a:t>Portanto, 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erro será próximo de 0 </a:t>
                </a:r>
                <a:r>
                  <a:rPr lang="pt-BR" dirty="0"/>
                  <a:t>se a probabilidade estimada for próxima de 1 para um exemplo da classe positiva,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AA41FEE-FFE7-A8B3-A6BF-64195006E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62145" y="1825624"/>
                <a:ext cx="7054147" cy="5032375"/>
              </a:xfrm>
              <a:blipFill rotWithShape="0">
                <a:blip r:embed="rId3"/>
                <a:stretch>
                  <a:fillRect l="-1556" t="-2663" r="-20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7">
            <a:extLst>
              <a:ext uri="{FF2B5EF4-FFF2-40B4-BE49-F238E27FC236}">
                <a16:creationId xmlns="" xmlns:a16="http://schemas.microsoft.com/office/drawing/2014/main" id="{B3C4AFA8-F0AC-4FFD-7DFC-D4EA88D7F0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93" t="4876" r="8791"/>
          <a:stretch/>
        </p:blipFill>
        <p:spPr>
          <a:xfrm>
            <a:off x="620091" y="2616473"/>
            <a:ext cx="3938195" cy="37939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3">
                <a:extLst>
                  <a:ext uri="{FF2B5EF4-FFF2-40B4-BE49-F238E27FC236}">
                    <a16:creationId xmlns="" xmlns:a16="http://schemas.microsoft.com/office/drawing/2014/main" id="{DA384F59-84B2-EEA5-B023-5194B4DA1B87}"/>
                  </a:ext>
                </a:extLst>
              </p:cNvPr>
              <p:cNvSpPr txBox="1"/>
              <p:nvPr/>
            </p:nvSpPr>
            <p:spPr>
              <a:xfrm>
                <a:off x="1074788" y="1970142"/>
                <a:ext cx="33221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/>
                  <a:t>Valor esperado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pt-BR" dirty="0"/>
                  <a:t> deve se aproximar de 1</a:t>
                </a:r>
              </a:p>
            </p:txBody>
          </p:sp>
        </mc:Choice>
        <mc:Fallback xmlns="">
          <p:sp>
            <p:nvSpPr>
              <p:cNvPr id="5" name="TextBox 3">
                <a:extLst>
                  <a:ext uri="{FF2B5EF4-FFF2-40B4-BE49-F238E27FC236}">
                    <a16:creationId xmlns:a16="http://schemas.microsoft.com/office/drawing/2014/main" id="{DA384F59-84B2-EEA5-B023-5194B4DA1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788" y="1970142"/>
                <a:ext cx="3322132" cy="646331"/>
              </a:xfrm>
              <a:prstGeom prst="rect">
                <a:avLst/>
              </a:prstGeom>
              <a:blipFill>
                <a:blip r:embed="rId5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="" xmlns:a16="http://schemas.microsoft.com/office/drawing/2014/main" id="{BCD451E8-248B-2C62-B493-77B6E4868CEB}"/>
                  </a:ext>
                </a:extLst>
              </p:cNvPr>
              <p:cNvSpPr txBox="1"/>
              <p:nvPr/>
            </p:nvSpPr>
            <p:spPr>
              <a:xfrm>
                <a:off x="2202360" y="6193474"/>
                <a:ext cx="106698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CD451E8-248B-2C62-B493-77B6E4868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360" y="6193474"/>
                <a:ext cx="1066988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="" xmlns:a16="http://schemas.microsoft.com/office/drawing/2014/main" id="{3EAD6F9C-76A6-A699-F8D2-101900496784}"/>
                  </a:ext>
                </a:extLst>
              </p:cNvPr>
              <p:cNvSpPr txBox="1"/>
              <p:nvPr/>
            </p:nvSpPr>
            <p:spPr>
              <a:xfrm rot="16200000">
                <a:off x="-212854" y="4245474"/>
                <a:ext cx="1640537" cy="4049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EAD6F9C-76A6-A699-F8D2-101900496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12854" y="4245474"/>
                <a:ext cx="1640537" cy="404983"/>
              </a:xfrm>
              <a:prstGeom prst="rect">
                <a:avLst/>
              </a:prstGeom>
              <a:blipFill>
                <a:blip r:embed="rId7"/>
                <a:stretch>
                  <a:fillRect r="-89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311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FF2B5EF4-FFF2-40B4-BE49-F238E27FC236}">
                <a16:creationId xmlns="" xmlns:a16="http://schemas.microsoft.com/office/drawing/2014/main" id="{CAB49D12-B8D2-8812-1FBB-C0C295BB8C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05" t="5157" r="8791"/>
          <a:stretch/>
        </p:blipFill>
        <p:spPr>
          <a:xfrm>
            <a:off x="717942" y="2597080"/>
            <a:ext cx="3864091" cy="372076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72C6C58-2120-4F47-1BAC-334526DF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DAA41FEE-FFE7-A8B3-A6BF-64195006E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54321" y="1825624"/>
                <a:ext cx="696197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Quando o </a:t>
                </a:r>
                <a:r>
                  <a:rPr lang="pt-BR" dirty="0" smtClean="0"/>
                  <a:t>rótulo é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, </a:t>
                </a:r>
                <a:r>
                  <a:rPr lang="pt-BR" dirty="0" smtClean="0"/>
                  <a:t>i.e., exemplo </a:t>
                </a:r>
                <a:r>
                  <a:rPr lang="pt-BR" dirty="0"/>
                  <a:t>da classe negativa,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 smtClean="0"/>
                  <a:t>, </a:t>
                </a:r>
                <a:r>
                  <a:rPr lang="pt-BR" dirty="0"/>
                  <a:t>o valor de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pt-BR" dirty="0"/>
                  <a:t> será muito grande se o classificador estimar uma probabilidade próxima de </a:t>
                </a:r>
                <a:r>
                  <a:rPr lang="pt-BR" dirty="0" smtClean="0"/>
                  <a:t>1. </a:t>
                </a:r>
                <a:endParaRPr lang="pt-BR" dirty="0"/>
              </a:p>
              <a:p>
                <a:r>
                  <a:rPr lang="pt-BR" dirty="0"/>
                  <a:t>Porém, o valor de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pt-BR" dirty="0"/>
                  <a:t> se torna próximo de 0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pt-BR" dirty="0"/>
                  <a:t> se aproxima de </a:t>
                </a:r>
                <a:r>
                  <a:rPr lang="pt-BR" dirty="0" smtClean="0"/>
                  <a:t>0 para </a:t>
                </a:r>
                <a:r>
                  <a:rPr lang="pt-BR" dirty="0"/>
                  <a:t>um exemplo da classe negativa,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AA41FEE-FFE7-A8B3-A6BF-64195006E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54321" y="1825624"/>
                <a:ext cx="6961971" cy="5032375"/>
              </a:xfrm>
              <a:blipFill rotWithShape="0">
                <a:blip r:embed="rId4"/>
                <a:stretch>
                  <a:fillRect l="-1576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="" xmlns:a16="http://schemas.microsoft.com/office/drawing/2014/main" id="{BCD451E8-248B-2C62-B493-77B6E4868CEB}"/>
                  </a:ext>
                </a:extLst>
              </p:cNvPr>
              <p:cNvSpPr txBox="1"/>
              <p:nvPr/>
            </p:nvSpPr>
            <p:spPr>
              <a:xfrm>
                <a:off x="2312888" y="6133179"/>
                <a:ext cx="106698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CD451E8-248B-2C62-B493-77B6E4868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888" y="6133179"/>
                <a:ext cx="1066988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="" xmlns:a16="http://schemas.microsoft.com/office/drawing/2014/main" id="{3EAD6F9C-76A6-A699-F8D2-101900496784}"/>
                  </a:ext>
                </a:extLst>
              </p:cNvPr>
              <p:cNvSpPr txBox="1"/>
              <p:nvPr/>
            </p:nvSpPr>
            <p:spPr>
              <a:xfrm rot="16200000">
                <a:off x="-102326" y="4185179"/>
                <a:ext cx="1640537" cy="4049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EAD6F9C-76A6-A699-F8D2-101900496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02326" y="4185179"/>
                <a:ext cx="1640537" cy="404983"/>
              </a:xfrm>
              <a:prstGeom prst="rect">
                <a:avLst/>
              </a:prstGeom>
              <a:blipFill>
                <a:blip r:embed="rId6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2">
                <a:extLst>
                  <a:ext uri="{FF2B5EF4-FFF2-40B4-BE49-F238E27FC236}">
                    <a16:creationId xmlns="" xmlns:a16="http://schemas.microsoft.com/office/drawing/2014/main" id="{90A4272F-386E-3CB4-9D80-D03C1F05B0FC}"/>
                  </a:ext>
                </a:extLst>
              </p:cNvPr>
              <p:cNvSpPr txBox="1"/>
              <p:nvPr/>
            </p:nvSpPr>
            <p:spPr>
              <a:xfrm>
                <a:off x="1080432" y="1926225"/>
                <a:ext cx="35016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/>
                  <a:t>Valor esperado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0 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pt-BR" dirty="0"/>
                  <a:t> deve se aproximar de 0</a:t>
                </a:r>
              </a:p>
            </p:txBody>
          </p:sp>
        </mc:Choice>
        <mc:Fallback xmlns="">
          <p:sp>
            <p:nvSpPr>
              <p:cNvPr id="8" name="TextBox 12">
                <a:extLst>
                  <a:ext uri="{FF2B5EF4-FFF2-40B4-BE49-F238E27FC236}">
                    <a16:creationId xmlns:a16="http://schemas.microsoft.com/office/drawing/2014/main" id="{90A4272F-386E-3CB4-9D80-D03C1F05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432" y="1926225"/>
                <a:ext cx="3501601" cy="646331"/>
              </a:xfrm>
              <a:prstGeom prst="rect">
                <a:avLst/>
              </a:prstGeom>
              <a:blipFill>
                <a:blip r:embed="rId7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4824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790B006-3B77-B446-0236-D9D3C902F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D3FD4E4A-5ACD-4D5C-3A3F-51A57190DC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45819" cy="5032375"/>
              </a:xfrm>
            </p:spPr>
            <p:txBody>
              <a:bodyPr/>
              <a:lstStyle/>
              <a:p>
                <a:r>
                  <a:rPr lang="pt-BR" dirty="0"/>
                  <a:t>Nós podemos unir a </a:t>
                </a:r>
                <a:r>
                  <a:rPr lang="pt-BR" b="1" i="1" dirty="0"/>
                  <a:t>função de erro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para cada </a:t>
                </a:r>
                <a:r>
                  <a:rPr lang="pt-BR" b="1" i="1" dirty="0" smtClean="0">
                    <a:solidFill>
                      <a:srgbClr val="7030A0"/>
                    </a:solidFill>
                  </a:rPr>
                  <a:t>exemplo</a:t>
                </a:r>
                <a:r>
                  <a:rPr lang="pt-BR" b="1" i="1" dirty="0" smtClean="0"/>
                  <a:t> </a:t>
                </a:r>
                <a:r>
                  <a:rPr lang="pt-BR" dirty="0"/>
                  <a:t>em uma expressão única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usando </a:t>
                </a:r>
                <a:r>
                  <a:rPr lang="pt-BR" b="1" i="1" dirty="0" smtClean="0">
                    <a:solidFill>
                      <a:srgbClr val="00B050"/>
                    </a:solidFill>
                  </a:rPr>
                  <a:t>o valor dos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rótulos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>
                          <a:latin typeface="Cambria Math" panose="02040503050406030204" pitchFamily="18" charset="0"/>
                        </a:rPr>
                        <m:t>𝐸𝑟𝑟𝑜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pt-BR" sz="2400" b="1" i="1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ó 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exerce</m:t>
                          </m:r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influ</m:t>
                          </m:r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ncia</m:t>
                          </m:r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no</m:t>
                          </m:r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erro</m:t>
                          </m:r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se</m:t>
                          </m:r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lim>
                      </m:limLow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pt-BR" sz="2400" b="1" i="1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func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ó 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exerce</m:t>
                          </m:r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influ</m:t>
                          </m:r>
                          <m:r>
                            <a:rPr lang="pt-BR" sz="240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pt-BR" sz="2400">
                              <a:latin typeface="Cambria Math" panose="02040503050406030204" pitchFamily="18" charset="0"/>
                            </a:rPr>
                            <m:t>ncia</m:t>
                          </m:r>
                          <m:r>
                            <a:rPr lang="pt-BR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>
                              <a:latin typeface="Cambria Math" panose="02040503050406030204" pitchFamily="18" charset="0"/>
                            </a:rPr>
                            <m:t>no</m:t>
                          </m:r>
                          <m:r>
                            <a:rPr lang="pt-BR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>
                              <a:latin typeface="Cambria Math" panose="02040503050406030204" pitchFamily="18" charset="0"/>
                            </a:rPr>
                            <m:t>erro</m:t>
                          </m:r>
                          <m:r>
                            <a:rPr lang="pt-BR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400">
                              <a:latin typeface="Cambria Math" panose="02040503050406030204" pitchFamily="18" charset="0"/>
                            </a:rPr>
                            <m:t>se</m:t>
                          </m:r>
                          <m:r>
                            <a:rPr lang="pt-BR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lim>
                      </m:limLow>
                    </m:oMath>
                  </m:oMathPara>
                </a14:m>
                <a:endParaRPr lang="pt-BR" sz="2400" dirty="0"/>
              </a:p>
              <a:p>
                <a:r>
                  <a:rPr lang="pt-BR" dirty="0"/>
                  <a:t>Assim, podemos definir a seguinte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de erro médio</a:t>
                </a:r>
                <a:endParaRPr lang="pt-BR" dirty="0">
                  <a:solidFill>
                    <a:srgbClr val="00B05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func>
                            <m:func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func>
                        <m:func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pt-BR" sz="23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600" b="1" i="1" dirty="0"/>
              </a:p>
              <a:p>
                <a:r>
                  <a:rPr lang="pt-BR" sz="2800" dirty="0"/>
                  <a:t>Lembrem-se que sempre queremos </a:t>
                </a:r>
                <a:r>
                  <a:rPr lang="pt-BR" sz="2800" b="1" i="1" dirty="0">
                    <a:solidFill>
                      <a:schemeClr val="accent4"/>
                    </a:solidFill>
                  </a:rPr>
                  <a:t>minimizar o erro ao longo de </a:t>
                </a:r>
                <a:r>
                  <a:rPr lang="pt-BR" sz="2800" b="1" i="1" dirty="0">
                    <a:solidFill>
                      <a:srgbClr val="7030A0"/>
                    </a:solidFill>
                  </a:rPr>
                  <a:t>todo</a:t>
                </a:r>
                <a:r>
                  <a:rPr lang="pt-BR" sz="2800" b="1" i="1" dirty="0">
                    <a:solidFill>
                      <a:schemeClr val="accent4"/>
                    </a:solidFill>
                  </a:rPr>
                  <a:t> o conjunto de treinamento</a:t>
                </a:r>
                <a:r>
                  <a:rPr lang="pt-BR" sz="2800" dirty="0"/>
                  <a:t>, por isso tomamos a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média</a:t>
                </a:r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Essa função de erro é conhecida na literatura como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entropia cruzada</a:t>
                </a:r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3FD4E4A-5ACD-4D5C-3A3F-51A57190DC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45819" cy="5032375"/>
              </a:xfrm>
              <a:blipFill rotWithShape="0">
                <a:blip r:embed="rId3"/>
                <a:stretch>
                  <a:fillRect l="-929" t="-1937" b="-27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576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D74F966-AF0F-9F47-A9AB-CB6984D1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D5465B95-8DFB-988F-6777-374C021F4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4"/>
            <a:ext cx="11205951" cy="5032375"/>
          </a:xfrm>
        </p:spPr>
        <p:txBody>
          <a:bodyPr>
            <a:normAutofit/>
          </a:bodyPr>
          <a:lstStyle/>
          <a:p>
            <a:r>
              <a:rPr lang="pt-BR" sz="3000" dirty="0" smtClean="0"/>
              <a:t>A má </a:t>
            </a:r>
            <a:r>
              <a:rPr lang="pt-BR" sz="3000" dirty="0"/>
              <a:t>notícia com relação a essa função é que </a:t>
            </a:r>
            <a:r>
              <a:rPr lang="pt-BR" sz="3000" b="1" i="1" dirty="0">
                <a:solidFill>
                  <a:srgbClr val="00B050"/>
                </a:solidFill>
              </a:rPr>
              <a:t>não existe uma equação de forma fechada</a:t>
            </a:r>
            <a:r>
              <a:rPr lang="pt-BR" sz="3000" b="1" i="1" dirty="0"/>
              <a:t> </a:t>
            </a:r>
            <a:r>
              <a:rPr lang="pt-BR" sz="3000" dirty="0"/>
              <a:t>para encontrar os </a:t>
            </a:r>
            <a:r>
              <a:rPr lang="pt-BR" sz="3000" b="1" i="1" dirty="0"/>
              <a:t>pesos</a:t>
            </a:r>
            <a:r>
              <a:rPr lang="pt-BR" sz="3000" dirty="0"/>
              <a:t> que minimizem essa </a:t>
            </a:r>
            <a:r>
              <a:rPr lang="pt-BR" sz="3000" b="1" i="1" dirty="0"/>
              <a:t>função de erro</a:t>
            </a:r>
            <a:r>
              <a:rPr lang="pt-BR" sz="3000" dirty="0"/>
              <a:t>.</a:t>
            </a:r>
            <a:endParaRPr lang="pt-BR" sz="3000" b="1" i="1" dirty="0"/>
          </a:p>
          <a:p>
            <a:r>
              <a:rPr lang="pt-BR" sz="3000" dirty="0" smtClean="0"/>
              <a:t>A boa </a:t>
            </a:r>
            <a:r>
              <a:rPr lang="pt-BR" sz="3000" dirty="0"/>
              <a:t>notícia é que essa </a:t>
            </a:r>
            <a:r>
              <a:rPr lang="pt-BR" sz="3000" b="1" i="1" dirty="0"/>
              <a:t>função de erro </a:t>
            </a:r>
            <a:r>
              <a:rPr lang="pt-BR" sz="3000" dirty="0"/>
              <a:t>é </a:t>
            </a:r>
            <a:r>
              <a:rPr lang="pt-BR" sz="3000" b="1" i="1" dirty="0">
                <a:solidFill>
                  <a:srgbClr val="00B050"/>
                </a:solidFill>
              </a:rPr>
              <a:t>convexa</a:t>
            </a:r>
            <a:r>
              <a:rPr lang="pt-BR" sz="3000" dirty="0"/>
              <a:t> e </a:t>
            </a:r>
            <a:r>
              <a:rPr lang="pt-BR" sz="3000" b="1" i="1" dirty="0" err="1">
                <a:solidFill>
                  <a:srgbClr val="00B050"/>
                </a:solidFill>
              </a:rPr>
              <a:t>diferenciável</a:t>
            </a:r>
            <a:r>
              <a:rPr lang="pt-BR" sz="3000" dirty="0"/>
              <a:t>.</a:t>
            </a:r>
          </a:p>
          <a:p>
            <a:r>
              <a:rPr lang="pt-BR" sz="3000" dirty="0"/>
              <a:t>Consequentemente, </a:t>
            </a:r>
            <a:r>
              <a:rPr lang="pt-BR" sz="3000" b="1" i="1" dirty="0">
                <a:solidFill>
                  <a:srgbClr val="00B050"/>
                </a:solidFill>
              </a:rPr>
              <a:t>conseguimos</a:t>
            </a:r>
            <a:r>
              <a:rPr lang="pt-BR" sz="3000" dirty="0"/>
              <a:t> calcular o </a:t>
            </a:r>
            <a:r>
              <a:rPr lang="pt-BR" sz="3000" b="1" i="1" dirty="0">
                <a:solidFill>
                  <a:srgbClr val="00B050"/>
                </a:solidFill>
              </a:rPr>
              <a:t>vetor gradiente da função de erro</a:t>
            </a:r>
            <a:r>
              <a:rPr lang="pt-BR" sz="3000" dirty="0"/>
              <a:t> com relação aos pesos e </a:t>
            </a:r>
            <a:r>
              <a:rPr lang="pt-BR" sz="3000" b="1" i="1" dirty="0">
                <a:solidFill>
                  <a:srgbClr val="7030A0"/>
                </a:solidFill>
              </a:rPr>
              <a:t>implementar</a:t>
            </a:r>
            <a:r>
              <a:rPr lang="pt-BR" sz="3000" dirty="0"/>
              <a:t> o algoritmo do </a:t>
            </a:r>
            <a:r>
              <a:rPr lang="pt-BR" sz="3000" b="1" i="1" dirty="0">
                <a:solidFill>
                  <a:srgbClr val="7030A0"/>
                </a:solidFill>
              </a:rPr>
              <a:t>gradiente descendente (GD</a:t>
            </a:r>
            <a:r>
              <a:rPr lang="pt-BR" sz="3000" b="1" i="1" dirty="0" smtClean="0">
                <a:solidFill>
                  <a:srgbClr val="7030A0"/>
                </a:solidFill>
              </a:rPr>
              <a:t>)</a:t>
            </a:r>
            <a:r>
              <a:rPr lang="pt-BR" sz="3000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600" dirty="0" smtClean="0"/>
              <a:t>Podemos implementar </a:t>
            </a:r>
            <a:r>
              <a:rPr lang="pt-BR" sz="2600" dirty="0"/>
              <a:t>todas as versões do </a:t>
            </a:r>
            <a:r>
              <a:rPr lang="pt-BR" sz="2600" b="1" i="1" dirty="0">
                <a:solidFill>
                  <a:srgbClr val="7030A0"/>
                </a:solidFill>
              </a:rPr>
              <a:t>GD</a:t>
            </a:r>
            <a:r>
              <a:rPr lang="pt-BR" sz="2600" dirty="0"/>
              <a:t>.</a:t>
            </a:r>
          </a:p>
          <a:p>
            <a:r>
              <a:rPr lang="pt-BR" sz="3000" dirty="0"/>
              <a:t>Por exemplo se usarmos o GDB, é garantido que ele encontre</a:t>
            </a:r>
            <a:r>
              <a:rPr lang="pt-BR" sz="3000" b="1" i="1" dirty="0"/>
              <a:t> </a:t>
            </a:r>
            <a:r>
              <a:rPr lang="pt-BR" sz="3000" dirty="0"/>
              <a:t>o </a:t>
            </a:r>
            <a:r>
              <a:rPr lang="pt-BR" sz="3000" b="1" i="1" dirty="0">
                <a:solidFill>
                  <a:srgbClr val="00B050"/>
                </a:solidFill>
              </a:rPr>
              <a:t>mínimo global </a:t>
            </a:r>
            <a:r>
              <a:rPr lang="pt-BR" sz="3000" dirty="0"/>
              <a:t>dado que a </a:t>
            </a:r>
            <a:r>
              <a:rPr lang="pt-BR" sz="3000" b="1" i="1" dirty="0"/>
              <a:t>taxa de aprendizagem</a:t>
            </a:r>
            <a:r>
              <a:rPr lang="pt-BR" sz="3000" dirty="0"/>
              <a:t> não seja muito grande e se espere tempo suficiente.</a:t>
            </a:r>
          </a:p>
        </p:txBody>
      </p:sp>
    </p:spTree>
    <p:extLst>
      <p:ext uri="{BB962C8B-B14F-4D97-AF65-F5344CB8AC3E}">
        <p14:creationId xmlns:p14="http://schemas.microsoft.com/office/powerpoint/2010/main" val="1079767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2B98CF3-D68B-3C51-73EB-761E6532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treinamento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81528BD1-AD6B-C0BE-90BD-1F826246A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56576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Da mesma forma como fizemos com a </a:t>
                </a:r>
                <a:r>
                  <a:rPr lang="pt-BR" b="1" i="1" dirty="0"/>
                  <a:t>regressão linear</a:t>
                </a:r>
                <a:r>
                  <a:rPr lang="pt-BR" dirty="0"/>
                  <a:t>, usamos o algoritmo do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gradiente descendente</a:t>
                </a:r>
                <a:r>
                  <a:rPr lang="pt-BR" b="1" i="1" dirty="0"/>
                  <a:t> </a:t>
                </a:r>
                <a:r>
                  <a:rPr lang="pt-BR" dirty="0"/>
                  <a:t>para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encontrar os pesos que minimizam a função de erro médio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 </a:t>
                </a:r>
                <a:r>
                  <a:rPr lang="pt-BR" b="1" i="1" dirty="0" smtClean="0">
                    <a:solidFill>
                      <a:schemeClr val="accent5"/>
                    </a:solidFill>
                  </a:rPr>
                  <a:t>equação de atualização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iterativa</a:t>
                </a:r>
                <a:r>
                  <a:rPr lang="pt-BR" b="1" i="1" dirty="0"/>
                  <a:t> </a:t>
                </a:r>
                <a:r>
                  <a:rPr lang="pt-BR" dirty="0"/>
                  <a:t>dos </a:t>
                </a:r>
                <a:r>
                  <a:rPr lang="pt-BR" b="1" i="1" dirty="0"/>
                  <a:t>pesos</a:t>
                </a:r>
                <a:r>
                  <a:rPr lang="pt-BR" dirty="0"/>
                  <a:t> é dada por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da</a:t>
                </a:r>
                <a:r>
                  <a:rPr lang="pt-BR" b="1" i="1" dirty="0"/>
                  <a:t> função de erro médio </a:t>
                </a:r>
                <a:r>
                  <a:rPr lang="pt-BR" dirty="0"/>
                  <a:t>é dado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pt-BR" dirty="0"/>
                  <a:t> é a matriz de atributos com dimensão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pt-BR" dirty="0"/>
                  <a:t> são vetores coluna com dimensão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pt-BR" dirty="0"/>
                  <a:t> contendo todos os valores esperados e preditos pelo regressor logístico, respectivamente</a:t>
                </a:r>
                <a:r>
                  <a:rPr lang="pt-BR" dirty="0" smtClean="0"/>
                  <a:t>.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1528BD1-AD6B-C0BE-90BD-1F826246A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56576" cy="5032375"/>
              </a:xfrm>
              <a:blipFill rotWithShape="0">
                <a:blip r:embed="rId3"/>
                <a:stretch>
                  <a:fillRect l="-1148" t="-2663" r="-1148" b="-13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="" xmlns:a16="http://schemas.microsoft.com/office/drawing/2014/main" id="{5E51EB45-1595-7630-C24F-EAA34F018369}"/>
              </a:ext>
            </a:extLst>
          </p:cNvPr>
          <p:cNvSpPr txBox="1"/>
          <p:nvPr/>
        </p:nvSpPr>
        <p:spPr>
          <a:xfrm>
            <a:off x="9838168" y="4122695"/>
            <a:ext cx="1515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400"/>
            </a:lvl1pPr>
          </a:lstStyle>
          <a:p>
            <a:r>
              <a:rPr lang="pt-BR" dirty="0"/>
              <a:t>Forma matricial</a:t>
            </a:r>
          </a:p>
        </p:txBody>
      </p:sp>
      <p:cxnSp>
        <p:nvCxnSpPr>
          <p:cNvPr id="5" name="Straight Arrow Connector 10">
            <a:extLst>
              <a:ext uri="{FF2B5EF4-FFF2-40B4-BE49-F238E27FC236}">
                <a16:creationId xmlns="" xmlns:a16="http://schemas.microsoft.com/office/drawing/2014/main" id="{AF667640-ACE0-3AFF-BF5D-993EF19CB3F3}"/>
              </a:ext>
            </a:extLst>
          </p:cNvPr>
          <p:cNvCxnSpPr>
            <a:cxnSpLocks/>
          </p:cNvCxnSpPr>
          <p:nvPr/>
        </p:nvCxnSpPr>
        <p:spPr>
          <a:xfrm flipH="1">
            <a:off x="10101431" y="4430472"/>
            <a:ext cx="494553" cy="3997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00DD6890-7287-3E1E-773F-7EAB37BD2F8A}"/>
              </a:ext>
            </a:extLst>
          </p:cNvPr>
          <p:cNvSpPr txBox="1"/>
          <p:nvPr/>
        </p:nvSpPr>
        <p:spPr>
          <a:xfrm>
            <a:off x="8190410" y="6609806"/>
            <a:ext cx="40015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 smtClean="0"/>
              <a:t>O anexo I apresenta os passos para se encontrar o vetor gradiente.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1723758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E87F2D7-9FE0-909F-85BF-1E4DC72E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treinamento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275841EB-09D7-5ACC-688E-45C493DE3F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3188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>Para encontrar o </a:t>
                </a:r>
                <a:r>
                  <a:rPr lang="pt-BR" sz="2800" b="1" i="1" dirty="0">
                    <a:solidFill>
                      <a:srgbClr val="00B050"/>
                    </a:solidFill>
                  </a:rPr>
                  <a:t>vetor gradiente</a:t>
                </a:r>
                <a:r>
                  <a:rPr lang="pt-BR" sz="2800" dirty="0"/>
                  <a:t>, a função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sz="2800" dirty="0"/>
                  <a:t> foi considerada como sendo a equação de um </a:t>
                </a:r>
                <a:r>
                  <a:rPr lang="pt-BR" sz="2800" b="1" i="1" dirty="0"/>
                  <a:t>hiperplano</a:t>
                </a:r>
                <a:r>
                  <a:rPr lang="pt-BR" sz="2800" dirty="0"/>
                  <a:t>, mas o resultado pode ser diretamente estendido para polinômios.</a:t>
                </a:r>
              </a:p>
              <a:p>
                <a:r>
                  <a:rPr lang="pt-BR" dirty="0"/>
                  <a:t>Percebam que 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vetor gradiente</a:t>
                </a:r>
                <a:r>
                  <a:rPr lang="pt-BR" b="1" i="1" dirty="0"/>
                  <a:t> </a:t>
                </a:r>
                <a:r>
                  <a:rPr lang="pt-BR" dirty="0"/>
                  <a:t>da </a:t>
                </a:r>
                <a:r>
                  <a:rPr lang="pt-BR" b="1" i="1" dirty="0"/>
                  <a:t>função de erro médio</a:t>
                </a:r>
                <a:r>
                  <a:rPr lang="pt-BR" dirty="0"/>
                  <a:t> para a </a:t>
                </a:r>
                <a:r>
                  <a:rPr lang="pt-BR" b="1" i="1" dirty="0"/>
                  <a:t>regressão logística</a:t>
                </a:r>
                <a:r>
                  <a:rPr lang="pt-BR" dirty="0"/>
                  <a:t> é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idêntico</a:t>
                </a:r>
                <a:r>
                  <a:rPr lang="pt-BR" dirty="0"/>
                  <a:t> (exceto pela constante 2) àquele obtido para 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regressão linear</a:t>
                </a:r>
                <a:r>
                  <a:rPr lang="pt-BR" b="1" i="1" dirty="0"/>
                  <a:t> </a:t>
                </a:r>
                <a:r>
                  <a:rPr lang="pt-BR" dirty="0"/>
                  <a:t>utilizando a função de </a:t>
                </a:r>
                <a:r>
                  <a:rPr lang="pt-BR" b="1" i="1" dirty="0"/>
                  <a:t>erro quadrático médio</a:t>
                </a:r>
                <a:r>
                  <a:rPr lang="pt-BR" dirty="0"/>
                  <a:t>.</a:t>
                </a:r>
              </a:p>
              <a:p>
                <a:r>
                  <a:rPr lang="pt-BR" b="1" dirty="0"/>
                  <a:t>OBS</a:t>
                </a:r>
                <a:r>
                  <a:rPr lang="pt-BR" dirty="0"/>
                  <a:t>.: 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da</a:t>
                </a:r>
                <a:r>
                  <a:rPr lang="pt-BR" b="1" i="1" dirty="0"/>
                  <a:t> função de erro médio </a:t>
                </a:r>
                <a:r>
                  <a:rPr lang="pt-BR" dirty="0"/>
                  <a:t>vai variar dependendo da </a:t>
                </a:r>
                <a:r>
                  <a:rPr lang="pt-BR" b="1" i="1" dirty="0"/>
                  <a:t>função discriminante</a:t>
                </a:r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adotada. </a:t>
                </a:r>
              </a:p>
              <a:p>
                <a:r>
                  <a:rPr lang="pt-BR" dirty="0"/>
                  <a:t>Na sequência, veremos alguns exemplos com diferentes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75841EB-09D7-5ACC-688E-45C493DE3F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31880" cy="5032375"/>
              </a:xfrm>
              <a:blipFill>
                <a:blip r:embed="rId3"/>
                <a:stretch>
                  <a:fillRect l="-977" r="-1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402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gradiente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4"/>
                <a:ext cx="11135063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Se tivermos uma função discriminante com formato </a:t>
                </a:r>
                <a:r>
                  <a:rPr lang="pt-BR" dirty="0" smtClean="0"/>
                  <a:t>de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reta</a:t>
                </a:r>
                <a:r>
                  <a:rPr lang="pt-BR" dirty="0"/>
                  <a:t>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Como representamos essa </a:t>
                </a:r>
                <a:r>
                  <a:rPr lang="pt-BR" dirty="0" smtClean="0"/>
                  <a:t>função em formato </a:t>
                </a:r>
                <a:r>
                  <a:rPr lang="pt-BR" dirty="0"/>
                  <a:t>matricial?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pt-BR"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+1×1</m:t>
                        </m:r>
                      </m:sup>
                    </m:sSup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Assim, basta usarmos a matriz de atributos,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pt-BR" dirty="0"/>
                  <a:t>, acima para encontrar o vetor gradiente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4"/>
                <a:ext cx="11135063" cy="5032376"/>
              </a:xfrm>
              <a:blipFill rotWithShape="0">
                <a:blip r:embed="rId2"/>
                <a:stretch>
                  <a:fillRect l="-1095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4616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gradiente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4"/>
                <a:ext cx="11240071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 smtClean="0"/>
                  <a:t>Se tivermos uma função discriminante com formato de um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círculo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), ∀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Como representamos essa função em formato matricial?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pt-BR" b="1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pt-BR" b="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b="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+1×1</m:t>
                        </m:r>
                      </m:sup>
                    </m:sSup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Assim, basta usarmos a matriz de atributos,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pt-BR" dirty="0"/>
                  <a:t>, acima para encontrar o vetor gradiente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4"/>
                <a:ext cx="11240071" cy="5032376"/>
              </a:xfrm>
              <a:blipFill rotWithShape="0">
                <a:blip r:embed="rId2"/>
                <a:stretch>
                  <a:fillRect l="-1085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4641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gradiente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4"/>
                <a:ext cx="11212775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 smtClean="0"/>
                  <a:t>Se tivermos </a:t>
                </a:r>
                <a:r>
                  <a:rPr lang="pt-BR" dirty="0"/>
                  <a:t>uma função discriminante com formato de </a:t>
                </a:r>
                <a:r>
                  <a:rPr lang="pt-BR" dirty="0" smtClean="0"/>
                  <a:t>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hipérbole retangular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), ∀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Como representamos essa função em formato matricial?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×1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⨀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pt-BR"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pt-BR" b="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pt-BR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+1×1</m:t>
                        </m:r>
                      </m:sup>
                    </m:sSup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</m:oMath>
                </a14:m>
                <a:r>
                  <a:rPr lang="pt-BR" dirty="0"/>
                  <a:t> é a multiplicação elemento-a-elemento.</a:t>
                </a:r>
              </a:p>
              <a:p>
                <a:r>
                  <a:rPr lang="pt-BR" dirty="0"/>
                  <a:t>Assim, basta usarmos a matriz de atributos,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pt-BR" dirty="0"/>
                  <a:t>, acima para encontrar o vetor gradiente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4"/>
                <a:ext cx="11212775" cy="5032376"/>
              </a:xfrm>
              <a:blipFill rotWithShape="0">
                <a:blip r:embed="rId2"/>
                <a:stretch>
                  <a:fillRect l="-1087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31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47787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Agora, de posse do </a:t>
                </a:r>
                <a:r>
                  <a:rPr lang="pt-BR" b="1" i="1" dirty="0"/>
                  <a:t>vetor gradiente</a:t>
                </a:r>
                <a:r>
                  <a:rPr lang="pt-BR" dirty="0"/>
                  <a:t>, podemos usá-lo com o </a:t>
                </a:r>
                <a:r>
                  <a:rPr lang="pt-BR" b="1" i="1" dirty="0"/>
                  <a:t>gradiente descendente</a:t>
                </a:r>
                <a:r>
                  <a:rPr lang="pt-BR" dirty="0"/>
                  <a:t> (nas versões em batelada, estocástico ou mini-batch) para atualizar os pesos.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47787" cy="5032376"/>
              </a:xfrm>
              <a:blipFill>
                <a:blip r:embed="rId2"/>
                <a:stretch>
                  <a:fillRect l="-964" t="-1937" r="-13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7694935" y="6550223"/>
            <a:ext cx="44970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dirty="0">
                <a:hlinkClick r:id="rId3"/>
              </a:rPr>
              <a:t>Exemplo</a:t>
            </a:r>
            <a:r>
              <a:rPr lang="pt-BR" sz="1400" dirty="0">
                <a:hlinkClick r:id="rId3"/>
              </a:rPr>
              <a:t>: logistic_regression_with_gradient_descent.ipynb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26012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578D1AC-8A00-B4EB-387C-732656C3D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6DF2766A-BFE5-4BA0-5F5C-8F341585E6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4"/>
                <a:ext cx="11139434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Como vimos, a </a:t>
                </a:r>
                <a:r>
                  <a:rPr lang="pt-BR" b="1" i="1" dirty="0"/>
                  <a:t>função discriminante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pode assumir também o formato de um </a:t>
                </a:r>
                <a:r>
                  <a:rPr lang="pt-BR" b="1" i="1" dirty="0"/>
                  <a:t>polinômio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Porém, muitas vezes, nós não sabemos qual a </a:t>
                </a:r>
                <a:r>
                  <a:rPr lang="pt-BR" b="1" i="1" dirty="0"/>
                  <a:t>melhor ordem</a:t>
                </a:r>
                <a:r>
                  <a:rPr lang="pt-BR" dirty="0"/>
                  <a:t> para este polinômio.</a:t>
                </a:r>
              </a:p>
              <a:p>
                <a:r>
                  <a:rPr lang="pt-BR" dirty="0"/>
                  <a:t>Assim, como ocorre no caso da </a:t>
                </a:r>
                <a:r>
                  <a:rPr lang="pt-BR" b="1" i="1" dirty="0"/>
                  <a:t>regressão linear</a:t>
                </a:r>
                <a:r>
                  <a:rPr lang="pt-BR" dirty="0"/>
                  <a:t>, modelos de </a:t>
                </a:r>
                <a:r>
                  <a:rPr lang="pt-BR" b="1" i="1" dirty="0"/>
                  <a:t>regressão logística </a:t>
                </a:r>
                <a:r>
                  <a:rPr lang="pt-BR" dirty="0"/>
                  <a:t>também</a:t>
                </a:r>
                <a:r>
                  <a:rPr lang="pt-BR" b="1" i="1" dirty="0"/>
                  <a:t> </a:t>
                </a:r>
                <a:r>
                  <a:rPr lang="pt-BR" dirty="0"/>
                  <a:t>estão sujeitos à ocorrência de </a:t>
                </a:r>
                <a:r>
                  <a:rPr lang="pt-BR" b="1" i="1" dirty="0"/>
                  <a:t>sobreajuste</a:t>
                </a:r>
                <a:r>
                  <a:rPr lang="pt-BR" dirty="0"/>
                  <a:t> e </a:t>
                </a:r>
                <a:r>
                  <a:rPr lang="pt-BR" b="1" i="1" dirty="0"/>
                  <a:t>subajuste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DF2766A-BFE5-4BA0-5F5C-8F341585E6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4"/>
                <a:ext cx="11139434" cy="5032375"/>
              </a:xfrm>
              <a:blipFill>
                <a:blip r:embed="rId3"/>
                <a:stretch>
                  <a:fillRect l="-985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3" name="Group 50">
            <a:extLst>
              <a:ext uri="{FF2B5EF4-FFF2-40B4-BE49-F238E27FC236}">
                <a16:creationId xmlns="" xmlns:a16="http://schemas.microsoft.com/office/drawing/2014/main" id="{DF911177-1762-1C13-7224-7DC9C7576C34}"/>
              </a:ext>
            </a:extLst>
          </p:cNvPr>
          <p:cNvGrpSpPr/>
          <p:nvPr/>
        </p:nvGrpSpPr>
        <p:grpSpPr>
          <a:xfrm>
            <a:off x="1028041" y="4681990"/>
            <a:ext cx="2614571" cy="2044068"/>
            <a:chOff x="9561094" y="1203158"/>
            <a:chExt cx="2796786" cy="2093874"/>
          </a:xfrm>
        </p:grpSpPr>
        <p:cxnSp>
          <p:nvCxnSpPr>
            <p:cNvPr id="194" name="Straight Connector 51">
              <a:extLst>
                <a:ext uri="{FF2B5EF4-FFF2-40B4-BE49-F238E27FC236}">
                  <a16:creationId xmlns="" xmlns:a16="http://schemas.microsoft.com/office/drawing/2014/main" id="{52603673-7161-FA59-08BC-874F050F666A}"/>
                </a:ext>
              </a:extLst>
            </p:cNvPr>
            <p:cNvCxnSpPr/>
            <p:nvPr/>
          </p:nvCxnSpPr>
          <p:spPr>
            <a:xfrm>
              <a:off x="9724202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52">
              <a:extLst>
                <a:ext uri="{FF2B5EF4-FFF2-40B4-BE49-F238E27FC236}">
                  <a16:creationId xmlns="" xmlns:a16="http://schemas.microsoft.com/office/drawing/2014/main" id="{10AF7232-B549-F17C-4496-B9C56271F0F5}"/>
                </a:ext>
              </a:extLst>
            </p:cNvPr>
            <p:cNvCxnSpPr/>
            <p:nvPr/>
          </p:nvCxnSpPr>
          <p:spPr>
            <a:xfrm rot="16200000">
              <a:off x="10797774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TextBox 53">
                  <a:extLst>
                    <a:ext uri="{FF2B5EF4-FFF2-40B4-BE49-F238E27FC236}">
                      <a16:creationId xmlns="" xmlns:a16="http://schemas.microsoft.com/office/drawing/2014/main" id="{349B9E2F-FC4F-E6C5-658F-4F519BCD92F3}"/>
                    </a:ext>
                  </a:extLst>
                </p:cNvPr>
                <p:cNvSpPr txBox="1"/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3953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54">
                  <a:extLst>
                    <a:ext uri="{FF2B5EF4-FFF2-40B4-BE49-F238E27FC236}">
                      <a16:creationId xmlns="" xmlns:a16="http://schemas.microsoft.com/office/drawing/2014/main" id="{2836A701-4CC6-EB4E-ED1D-EDDCCEF94E6B}"/>
                    </a:ext>
                  </a:extLst>
                </p:cNvPr>
                <p:cNvSpPr txBox="1"/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Oval 55">
              <a:extLst>
                <a:ext uri="{FF2B5EF4-FFF2-40B4-BE49-F238E27FC236}">
                  <a16:creationId xmlns="" xmlns:a16="http://schemas.microsoft.com/office/drawing/2014/main" id="{FAC640CB-C6D6-F516-E37C-FE83FD39D8ED}"/>
                </a:ext>
              </a:extLst>
            </p:cNvPr>
            <p:cNvSpPr/>
            <p:nvPr/>
          </p:nvSpPr>
          <p:spPr>
            <a:xfrm>
              <a:off x="10441769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9" name="Oval 56">
              <a:extLst>
                <a:ext uri="{FF2B5EF4-FFF2-40B4-BE49-F238E27FC236}">
                  <a16:creationId xmlns="" xmlns:a16="http://schemas.microsoft.com/office/drawing/2014/main" id="{AD846A83-F33F-DC76-C5A3-56F953D68B09}"/>
                </a:ext>
              </a:extLst>
            </p:cNvPr>
            <p:cNvSpPr/>
            <p:nvPr/>
          </p:nvSpPr>
          <p:spPr>
            <a:xfrm>
              <a:off x="10450116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0" name="Oval 57">
              <a:extLst>
                <a:ext uri="{FF2B5EF4-FFF2-40B4-BE49-F238E27FC236}">
                  <a16:creationId xmlns="" xmlns:a16="http://schemas.microsoft.com/office/drawing/2014/main" id="{B6DC2A6A-5222-A2F6-E5EA-6493B8B254C2}"/>
                </a:ext>
              </a:extLst>
            </p:cNvPr>
            <p:cNvSpPr/>
            <p:nvPr/>
          </p:nvSpPr>
          <p:spPr>
            <a:xfrm>
              <a:off x="10183755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1" name="Oval 58">
              <a:extLst>
                <a:ext uri="{FF2B5EF4-FFF2-40B4-BE49-F238E27FC236}">
                  <a16:creationId xmlns="" xmlns:a16="http://schemas.microsoft.com/office/drawing/2014/main" id="{38FE9B36-4D6C-AF81-DCF2-4FA192C531DB}"/>
                </a:ext>
              </a:extLst>
            </p:cNvPr>
            <p:cNvSpPr/>
            <p:nvPr/>
          </p:nvSpPr>
          <p:spPr>
            <a:xfrm>
              <a:off x="10302622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2" name="Oval 59">
              <a:extLst>
                <a:ext uri="{FF2B5EF4-FFF2-40B4-BE49-F238E27FC236}">
                  <a16:creationId xmlns="" xmlns:a16="http://schemas.microsoft.com/office/drawing/2014/main" id="{DE523504-F9F2-AAFD-AA4B-806826C9C460}"/>
                </a:ext>
              </a:extLst>
            </p:cNvPr>
            <p:cNvSpPr/>
            <p:nvPr/>
          </p:nvSpPr>
          <p:spPr>
            <a:xfrm>
              <a:off x="10704566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3" name="Oval 60">
              <a:extLst>
                <a:ext uri="{FF2B5EF4-FFF2-40B4-BE49-F238E27FC236}">
                  <a16:creationId xmlns="" xmlns:a16="http://schemas.microsoft.com/office/drawing/2014/main" id="{0AEC6512-045D-5FEB-0B7D-4417D5F557C2}"/>
                </a:ext>
              </a:extLst>
            </p:cNvPr>
            <p:cNvSpPr/>
            <p:nvPr/>
          </p:nvSpPr>
          <p:spPr>
            <a:xfrm>
              <a:off x="10727947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4" name="Oval 61">
              <a:extLst>
                <a:ext uri="{FF2B5EF4-FFF2-40B4-BE49-F238E27FC236}">
                  <a16:creationId xmlns="" xmlns:a16="http://schemas.microsoft.com/office/drawing/2014/main" id="{158B8749-72FC-30FF-DFA5-9B588F851EA2}"/>
                </a:ext>
              </a:extLst>
            </p:cNvPr>
            <p:cNvSpPr/>
            <p:nvPr/>
          </p:nvSpPr>
          <p:spPr>
            <a:xfrm>
              <a:off x="10954789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5" name="Oval 62">
              <a:extLst>
                <a:ext uri="{FF2B5EF4-FFF2-40B4-BE49-F238E27FC236}">
                  <a16:creationId xmlns="" xmlns:a16="http://schemas.microsoft.com/office/drawing/2014/main" id="{4AAA04E2-2F33-6098-1D33-86F794AB553B}"/>
                </a:ext>
              </a:extLst>
            </p:cNvPr>
            <p:cNvSpPr/>
            <p:nvPr/>
          </p:nvSpPr>
          <p:spPr>
            <a:xfrm>
              <a:off x="10717895" y="22319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6" name="Oval 63">
              <a:extLst>
                <a:ext uri="{FF2B5EF4-FFF2-40B4-BE49-F238E27FC236}">
                  <a16:creationId xmlns="" xmlns:a16="http://schemas.microsoft.com/office/drawing/2014/main" id="{5EBBDF3C-C688-C6C2-67A9-5310E504487B}"/>
                </a:ext>
              </a:extLst>
            </p:cNvPr>
            <p:cNvSpPr/>
            <p:nvPr/>
          </p:nvSpPr>
          <p:spPr>
            <a:xfrm>
              <a:off x="10233441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7" name="Oval 64">
              <a:extLst>
                <a:ext uri="{FF2B5EF4-FFF2-40B4-BE49-F238E27FC236}">
                  <a16:creationId xmlns="" xmlns:a16="http://schemas.microsoft.com/office/drawing/2014/main" id="{30FE73D9-BF42-B6FD-5123-0ED28946A00C}"/>
                </a:ext>
              </a:extLst>
            </p:cNvPr>
            <p:cNvSpPr/>
            <p:nvPr/>
          </p:nvSpPr>
          <p:spPr>
            <a:xfrm>
              <a:off x="10797774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8" name="Oval 65">
              <a:extLst>
                <a:ext uri="{FF2B5EF4-FFF2-40B4-BE49-F238E27FC236}">
                  <a16:creationId xmlns="" xmlns:a16="http://schemas.microsoft.com/office/drawing/2014/main" id="{099D459C-4199-9E54-CF18-58DD0479325D}"/>
                </a:ext>
              </a:extLst>
            </p:cNvPr>
            <p:cNvSpPr/>
            <p:nvPr/>
          </p:nvSpPr>
          <p:spPr>
            <a:xfrm>
              <a:off x="10558137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9" name="Oval 66">
              <a:extLst>
                <a:ext uri="{FF2B5EF4-FFF2-40B4-BE49-F238E27FC236}">
                  <a16:creationId xmlns="" xmlns:a16="http://schemas.microsoft.com/office/drawing/2014/main" id="{2F4A2BF7-C6E7-5B3D-6BA9-49E4B15263D9}"/>
                </a:ext>
              </a:extLst>
            </p:cNvPr>
            <p:cNvSpPr/>
            <p:nvPr/>
          </p:nvSpPr>
          <p:spPr>
            <a:xfrm>
              <a:off x="10948131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0" name="Oval 67">
              <a:extLst>
                <a:ext uri="{FF2B5EF4-FFF2-40B4-BE49-F238E27FC236}">
                  <a16:creationId xmlns="" xmlns:a16="http://schemas.microsoft.com/office/drawing/2014/main" id="{01A15C70-04A3-6B11-EB6E-C92199C75CFF}"/>
                </a:ext>
              </a:extLst>
            </p:cNvPr>
            <p:cNvSpPr/>
            <p:nvPr/>
          </p:nvSpPr>
          <p:spPr>
            <a:xfrm>
              <a:off x="11196805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1" name="Oval 68">
              <a:extLst>
                <a:ext uri="{FF2B5EF4-FFF2-40B4-BE49-F238E27FC236}">
                  <a16:creationId xmlns="" xmlns:a16="http://schemas.microsoft.com/office/drawing/2014/main" id="{4D084CFD-A191-3E47-9AA5-D33505A73C66}"/>
                </a:ext>
              </a:extLst>
            </p:cNvPr>
            <p:cNvSpPr/>
            <p:nvPr/>
          </p:nvSpPr>
          <p:spPr>
            <a:xfrm>
              <a:off x="11396321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2" name="Oval 69">
              <a:extLst>
                <a:ext uri="{FF2B5EF4-FFF2-40B4-BE49-F238E27FC236}">
                  <a16:creationId xmlns="" xmlns:a16="http://schemas.microsoft.com/office/drawing/2014/main" id="{099E51DE-9CCA-461A-5481-34FD22193D37}"/>
                </a:ext>
              </a:extLst>
            </p:cNvPr>
            <p:cNvSpPr/>
            <p:nvPr/>
          </p:nvSpPr>
          <p:spPr>
            <a:xfrm>
              <a:off x="10562838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3" name="Oval 70">
              <a:extLst>
                <a:ext uri="{FF2B5EF4-FFF2-40B4-BE49-F238E27FC236}">
                  <a16:creationId xmlns="" xmlns:a16="http://schemas.microsoft.com/office/drawing/2014/main" id="{CC493F7E-E38D-A7C5-47CF-32248855D7F4}"/>
                </a:ext>
              </a:extLst>
            </p:cNvPr>
            <p:cNvSpPr/>
            <p:nvPr/>
          </p:nvSpPr>
          <p:spPr>
            <a:xfrm>
              <a:off x="11505344" y="237306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4" name="Oval 71">
              <a:extLst>
                <a:ext uri="{FF2B5EF4-FFF2-40B4-BE49-F238E27FC236}">
                  <a16:creationId xmlns="" xmlns:a16="http://schemas.microsoft.com/office/drawing/2014/main" id="{8F53A2C7-AB17-1C63-1F67-49A91F5868BB}"/>
                </a:ext>
              </a:extLst>
            </p:cNvPr>
            <p:cNvSpPr/>
            <p:nvPr/>
          </p:nvSpPr>
          <p:spPr>
            <a:xfrm>
              <a:off x="11165137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5" name="Oval 72">
              <a:extLst>
                <a:ext uri="{FF2B5EF4-FFF2-40B4-BE49-F238E27FC236}">
                  <a16:creationId xmlns="" xmlns:a16="http://schemas.microsoft.com/office/drawing/2014/main" id="{C9DF79EB-94C8-5FFD-C810-43791B28B5E1}"/>
                </a:ext>
              </a:extLst>
            </p:cNvPr>
            <p:cNvSpPr/>
            <p:nvPr/>
          </p:nvSpPr>
          <p:spPr>
            <a:xfrm>
              <a:off x="10989996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6" name="Oval 73">
              <a:extLst>
                <a:ext uri="{FF2B5EF4-FFF2-40B4-BE49-F238E27FC236}">
                  <a16:creationId xmlns="" xmlns:a16="http://schemas.microsoft.com/office/drawing/2014/main" id="{2F22FDF4-7403-AB45-E92A-42C84AB1B7F5}"/>
                </a:ext>
              </a:extLst>
            </p:cNvPr>
            <p:cNvSpPr/>
            <p:nvPr/>
          </p:nvSpPr>
          <p:spPr>
            <a:xfrm>
              <a:off x="10967394" y="252768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7" name="Oval 74">
              <a:extLst>
                <a:ext uri="{FF2B5EF4-FFF2-40B4-BE49-F238E27FC236}">
                  <a16:creationId xmlns="" xmlns:a16="http://schemas.microsoft.com/office/drawing/2014/main" id="{198C1AAB-AF99-3206-D9D7-4D364FE310AC}"/>
                </a:ext>
              </a:extLst>
            </p:cNvPr>
            <p:cNvSpPr/>
            <p:nvPr/>
          </p:nvSpPr>
          <p:spPr>
            <a:xfrm>
              <a:off x="11196805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8" name="Multiply 75">
              <a:extLst>
                <a:ext uri="{FF2B5EF4-FFF2-40B4-BE49-F238E27FC236}">
                  <a16:creationId xmlns="" xmlns:a16="http://schemas.microsoft.com/office/drawing/2014/main" id="{FE713D93-DB25-6226-9F9A-E46E41C77152}"/>
                </a:ext>
              </a:extLst>
            </p:cNvPr>
            <p:cNvSpPr/>
            <p:nvPr/>
          </p:nvSpPr>
          <p:spPr>
            <a:xfrm>
              <a:off x="10888371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9" name="Multiply 76">
              <a:extLst>
                <a:ext uri="{FF2B5EF4-FFF2-40B4-BE49-F238E27FC236}">
                  <a16:creationId xmlns="" xmlns:a16="http://schemas.microsoft.com/office/drawing/2014/main" id="{A1177A6D-DA2C-2D4D-6B6B-4E6992C1AD4F}"/>
                </a:ext>
              </a:extLst>
            </p:cNvPr>
            <p:cNvSpPr/>
            <p:nvPr/>
          </p:nvSpPr>
          <p:spPr>
            <a:xfrm>
              <a:off x="10099826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0" name="Multiply 77">
              <a:extLst>
                <a:ext uri="{FF2B5EF4-FFF2-40B4-BE49-F238E27FC236}">
                  <a16:creationId xmlns="" xmlns:a16="http://schemas.microsoft.com/office/drawing/2014/main" id="{09191902-83CE-66E3-332C-74779F468BDA}"/>
                </a:ext>
              </a:extLst>
            </p:cNvPr>
            <p:cNvSpPr/>
            <p:nvPr/>
          </p:nvSpPr>
          <p:spPr>
            <a:xfrm>
              <a:off x="9971860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1" name="Multiply 78">
              <a:extLst>
                <a:ext uri="{FF2B5EF4-FFF2-40B4-BE49-F238E27FC236}">
                  <a16:creationId xmlns="" xmlns:a16="http://schemas.microsoft.com/office/drawing/2014/main" id="{42D2AAAF-0D27-C1EF-AB19-0F92563574E2}"/>
                </a:ext>
              </a:extLst>
            </p:cNvPr>
            <p:cNvSpPr/>
            <p:nvPr/>
          </p:nvSpPr>
          <p:spPr>
            <a:xfrm>
              <a:off x="9776215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2" name="Multiply 79">
              <a:extLst>
                <a:ext uri="{FF2B5EF4-FFF2-40B4-BE49-F238E27FC236}">
                  <a16:creationId xmlns="" xmlns:a16="http://schemas.microsoft.com/office/drawing/2014/main" id="{04E261D7-2CC7-EDA1-CC5B-56CF18DBAB79}"/>
                </a:ext>
              </a:extLst>
            </p:cNvPr>
            <p:cNvSpPr/>
            <p:nvPr/>
          </p:nvSpPr>
          <p:spPr>
            <a:xfrm>
              <a:off x="9753015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3" name="Multiply 80">
              <a:extLst>
                <a:ext uri="{FF2B5EF4-FFF2-40B4-BE49-F238E27FC236}">
                  <a16:creationId xmlns="" xmlns:a16="http://schemas.microsoft.com/office/drawing/2014/main" id="{D2E11CE3-B5E0-AE7F-0BA6-A2961EB0367F}"/>
                </a:ext>
              </a:extLst>
            </p:cNvPr>
            <p:cNvSpPr/>
            <p:nvPr/>
          </p:nvSpPr>
          <p:spPr>
            <a:xfrm>
              <a:off x="11407201" y="21565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4" name="Multiply 81">
              <a:extLst>
                <a:ext uri="{FF2B5EF4-FFF2-40B4-BE49-F238E27FC236}">
                  <a16:creationId xmlns="" xmlns:a16="http://schemas.microsoft.com/office/drawing/2014/main" id="{2422831B-A2AD-DD94-621D-AD740642157D}"/>
                </a:ext>
              </a:extLst>
            </p:cNvPr>
            <p:cNvSpPr/>
            <p:nvPr/>
          </p:nvSpPr>
          <p:spPr>
            <a:xfrm>
              <a:off x="9842247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5" name="Oval 82">
              <a:extLst>
                <a:ext uri="{FF2B5EF4-FFF2-40B4-BE49-F238E27FC236}">
                  <a16:creationId xmlns="" xmlns:a16="http://schemas.microsoft.com/office/drawing/2014/main" id="{87880004-15D8-F560-02D3-46EB124BA5F6}"/>
                </a:ext>
              </a:extLst>
            </p:cNvPr>
            <p:cNvSpPr/>
            <p:nvPr/>
          </p:nvSpPr>
          <p:spPr>
            <a:xfrm>
              <a:off x="11172165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6" name="Oval 83">
              <a:extLst>
                <a:ext uri="{FF2B5EF4-FFF2-40B4-BE49-F238E27FC236}">
                  <a16:creationId xmlns="" xmlns:a16="http://schemas.microsoft.com/office/drawing/2014/main" id="{95D5738C-6797-704C-A8BA-429F69AC054D}"/>
                </a:ext>
              </a:extLst>
            </p:cNvPr>
            <p:cNvSpPr/>
            <p:nvPr/>
          </p:nvSpPr>
          <p:spPr>
            <a:xfrm>
              <a:off x="11298715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7" name="Oval 84">
              <a:extLst>
                <a:ext uri="{FF2B5EF4-FFF2-40B4-BE49-F238E27FC236}">
                  <a16:creationId xmlns="" xmlns:a16="http://schemas.microsoft.com/office/drawing/2014/main" id="{7DF919EE-44D8-115A-28B8-5682485FDF18}"/>
                </a:ext>
              </a:extLst>
            </p:cNvPr>
            <p:cNvSpPr/>
            <p:nvPr/>
          </p:nvSpPr>
          <p:spPr>
            <a:xfrm>
              <a:off x="11380278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8" name="Multiply 85">
              <a:extLst>
                <a:ext uri="{FF2B5EF4-FFF2-40B4-BE49-F238E27FC236}">
                  <a16:creationId xmlns="" xmlns:a16="http://schemas.microsoft.com/office/drawing/2014/main" id="{178B6A71-C93D-4BE2-25DA-2DFBB72900A6}"/>
                </a:ext>
              </a:extLst>
            </p:cNvPr>
            <p:cNvSpPr/>
            <p:nvPr/>
          </p:nvSpPr>
          <p:spPr>
            <a:xfrm>
              <a:off x="9966628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9" name="Multiply 86">
              <a:extLst>
                <a:ext uri="{FF2B5EF4-FFF2-40B4-BE49-F238E27FC236}">
                  <a16:creationId xmlns="" xmlns:a16="http://schemas.microsoft.com/office/drawing/2014/main" id="{D60CF889-F533-E2D7-B7CD-1932A8B52712}"/>
                </a:ext>
              </a:extLst>
            </p:cNvPr>
            <p:cNvSpPr/>
            <p:nvPr/>
          </p:nvSpPr>
          <p:spPr>
            <a:xfrm>
              <a:off x="10212299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0" name="Multiply 87">
              <a:extLst>
                <a:ext uri="{FF2B5EF4-FFF2-40B4-BE49-F238E27FC236}">
                  <a16:creationId xmlns="" xmlns:a16="http://schemas.microsoft.com/office/drawing/2014/main" id="{9D4F0D55-0225-8C22-1E21-F6414657B65B}"/>
                </a:ext>
              </a:extLst>
            </p:cNvPr>
            <p:cNvSpPr/>
            <p:nvPr/>
          </p:nvSpPr>
          <p:spPr>
            <a:xfrm>
              <a:off x="10637603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1" name="Multiply 88">
              <a:extLst>
                <a:ext uri="{FF2B5EF4-FFF2-40B4-BE49-F238E27FC236}">
                  <a16:creationId xmlns="" xmlns:a16="http://schemas.microsoft.com/office/drawing/2014/main" id="{C1D39E83-7A81-5CE7-3358-BF117022ACB8}"/>
                </a:ext>
              </a:extLst>
            </p:cNvPr>
            <p:cNvSpPr/>
            <p:nvPr/>
          </p:nvSpPr>
          <p:spPr>
            <a:xfrm>
              <a:off x="10395616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2" name="Multiply 89">
              <a:extLst>
                <a:ext uri="{FF2B5EF4-FFF2-40B4-BE49-F238E27FC236}">
                  <a16:creationId xmlns="" xmlns:a16="http://schemas.microsoft.com/office/drawing/2014/main" id="{5F94C93B-4FC1-3415-EC6B-97FF0B4B8F08}"/>
                </a:ext>
              </a:extLst>
            </p:cNvPr>
            <p:cNvSpPr/>
            <p:nvPr/>
          </p:nvSpPr>
          <p:spPr>
            <a:xfrm>
              <a:off x="9887310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3" name="Multiply 90">
              <a:extLst>
                <a:ext uri="{FF2B5EF4-FFF2-40B4-BE49-F238E27FC236}">
                  <a16:creationId xmlns="" xmlns:a16="http://schemas.microsoft.com/office/drawing/2014/main" id="{29B3297A-8C24-03EA-C2C0-BDF821C68CF8}"/>
                </a:ext>
              </a:extLst>
            </p:cNvPr>
            <p:cNvSpPr/>
            <p:nvPr/>
          </p:nvSpPr>
          <p:spPr>
            <a:xfrm>
              <a:off x="11025217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4" name="Multiply 91">
              <a:extLst>
                <a:ext uri="{FF2B5EF4-FFF2-40B4-BE49-F238E27FC236}">
                  <a16:creationId xmlns="" xmlns:a16="http://schemas.microsoft.com/office/drawing/2014/main" id="{7BF27FDF-A953-7D1C-F399-F7EB3E359494}"/>
                </a:ext>
              </a:extLst>
            </p:cNvPr>
            <p:cNvSpPr/>
            <p:nvPr/>
          </p:nvSpPr>
          <p:spPr>
            <a:xfrm>
              <a:off x="11364804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5" name="Multiply 92">
              <a:extLst>
                <a:ext uri="{FF2B5EF4-FFF2-40B4-BE49-F238E27FC236}">
                  <a16:creationId xmlns="" xmlns:a16="http://schemas.microsoft.com/office/drawing/2014/main" id="{D6687B33-5E13-0B20-0AB6-7C5029F645BF}"/>
                </a:ext>
              </a:extLst>
            </p:cNvPr>
            <p:cNvSpPr/>
            <p:nvPr/>
          </p:nvSpPr>
          <p:spPr>
            <a:xfrm>
              <a:off x="10022783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6" name="Multiply 93">
              <a:extLst>
                <a:ext uri="{FF2B5EF4-FFF2-40B4-BE49-F238E27FC236}">
                  <a16:creationId xmlns="" xmlns:a16="http://schemas.microsoft.com/office/drawing/2014/main" id="{20A4120F-44BF-74CB-FBEF-EF83F9B059BF}"/>
                </a:ext>
              </a:extLst>
            </p:cNvPr>
            <p:cNvSpPr/>
            <p:nvPr/>
          </p:nvSpPr>
          <p:spPr>
            <a:xfrm>
              <a:off x="10384819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7" name="Multiply 94">
              <a:extLst>
                <a:ext uri="{FF2B5EF4-FFF2-40B4-BE49-F238E27FC236}">
                  <a16:creationId xmlns="" xmlns:a16="http://schemas.microsoft.com/office/drawing/2014/main" id="{12E82634-22F6-0C9C-955A-F0DBB9568F72}"/>
                </a:ext>
              </a:extLst>
            </p:cNvPr>
            <p:cNvSpPr/>
            <p:nvPr/>
          </p:nvSpPr>
          <p:spPr>
            <a:xfrm>
              <a:off x="9729684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8" name="Multiply 95">
              <a:extLst>
                <a:ext uri="{FF2B5EF4-FFF2-40B4-BE49-F238E27FC236}">
                  <a16:creationId xmlns="" xmlns:a16="http://schemas.microsoft.com/office/drawing/2014/main" id="{FE956282-4725-2707-3B5A-417CA5C88098}"/>
                </a:ext>
              </a:extLst>
            </p:cNvPr>
            <p:cNvSpPr/>
            <p:nvPr/>
          </p:nvSpPr>
          <p:spPr>
            <a:xfrm>
              <a:off x="10759899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39" name="Straight Connector 96">
              <a:extLst>
                <a:ext uri="{FF2B5EF4-FFF2-40B4-BE49-F238E27FC236}">
                  <a16:creationId xmlns="" xmlns:a16="http://schemas.microsoft.com/office/drawing/2014/main" id="{6793B35E-043B-DD7E-2706-9F41CCCE0F5F}"/>
                </a:ext>
              </a:extLst>
            </p:cNvPr>
            <p:cNvCxnSpPr/>
            <p:nvPr/>
          </p:nvCxnSpPr>
          <p:spPr>
            <a:xfrm>
              <a:off x="9710234" y="1706871"/>
              <a:ext cx="1903794" cy="145230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0" name="Group 97">
            <a:extLst>
              <a:ext uri="{FF2B5EF4-FFF2-40B4-BE49-F238E27FC236}">
                <a16:creationId xmlns="" xmlns:a16="http://schemas.microsoft.com/office/drawing/2014/main" id="{9BA09B05-5A67-1E11-F943-345BEBEF6CD7}"/>
              </a:ext>
            </a:extLst>
          </p:cNvPr>
          <p:cNvGrpSpPr/>
          <p:nvPr/>
        </p:nvGrpSpPr>
        <p:grpSpPr>
          <a:xfrm>
            <a:off x="4968566" y="4648593"/>
            <a:ext cx="2614572" cy="2075388"/>
            <a:chOff x="15842602" y="1171075"/>
            <a:chExt cx="2796787" cy="2125957"/>
          </a:xfrm>
        </p:grpSpPr>
        <p:cxnSp>
          <p:nvCxnSpPr>
            <p:cNvPr id="241" name="Straight Connector 98">
              <a:extLst>
                <a:ext uri="{FF2B5EF4-FFF2-40B4-BE49-F238E27FC236}">
                  <a16:creationId xmlns="" xmlns:a16="http://schemas.microsoft.com/office/drawing/2014/main" id="{862E6175-A5B3-6C19-6104-42D82E6D1FF1}"/>
                </a:ext>
              </a:extLst>
            </p:cNvPr>
            <p:cNvCxnSpPr/>
            <p:nvPr/>
          </p:nvCxnSpPr>
          <p:spPr>
            <a:xfrm>
              <a:off x="16005710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99">
              <a:extLst>
                <a:ext uri="{FF2B5EF4-FFF2-40B4-BE49-F238E27FC236}">
                  <a16:creationId xmlns="" xmlns:a16="http://schemas.microsoft.com/office/drawing/2014/main" id="{BABB064E-46AA-4BB8-F35E-797A288E2F37}"/>
                </a:ext>
              </a:extLst>
            </p:cNvPr>
            <p:cNvCxnSpPr/>
            <p:nvPr/>
          </p:nvCxnSpPr>
          <p:spPr>
            <a:xfrm rot="16200000">
              <a:off x="17079282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3" name="TextBox 100">
                  <a:extLst>
                    <a:ext uri="{FF2B5EF4-FFF2-40B4-BE49-F238E27FC236}">
                      <a16:creationId xmlns="" xmlns:a16="http://schemas.microsoft.com/office/drawing/2014/main" id="{15EFE971-5E50-38EE-3246-DE8523B997AF}"/>
                    </a:ext>
                  </a:extLst>
                </p:cNvPr>
                <p:cNvSpPr txBox="1"/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TextBox 101">
                  <a:extLst>
                    <a:ext uri="{FF2B5EF4-FFF2-40B4-BE49-F238E27FC236}">
                      <a16:creationId xmlns="" xmlns:a16="http://schemas.microsoft.com/office/drawing/2014/main" id="{D24CCD60-BE5F-04E5-5458-52C2A87FB155}"/>
                    </a:ext>
                  </a:extLst>
                </p:cNvPr>
                <p:cNvSpPr txBox="1"/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" name="Oval 102">
              <a:extLst>
                <a:ext uri="{FF2B5EF4-FFF2-40B4-BE49-F238E27FC236}">
                  <a16:creationId xmlns="" xmlns:a16="http://schemas.microsoft.com/office/drawing/2014/main" id="{26EC5A80-50A6-5B82-A9E7-E327DE9B8EFC}"/>
                </a:ext>
              </a:extLst>
            </p:cNvPr>
            <p:cNvSpPr/>
            <p:nvPr/>
          </p:nvSpPr>
          <p:spPr>
            <a:xfrm>
              <a:off x="16723277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6" name="Oval 103">
              <a:extLst>
                <a:ext uri="{FF2B5EF4-FFF2-40B4-BE49-F238E27FC236}">
                  <a16:creationId xmlns="" xmlns:a16="http://schemas.microsoft.com/office/drawing/2014/main" id="{FE66B279-005D-DB31-6439-FC8AE274BA36}"/>
                </a:ext>
              </a:extLst>
            </p:cNvPr>
            <p:cNvSpPr/>
            <p:nvPr/>
          </p:nvSpPr>
          <p:spPr>
            <a:xfrm>
              <a:off x="16731625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7" name="Oval 104">
              <a:extLst>
                <a:ext uri="{FF2B5EF4-FFF2-40B4-BE49-F238E27FC236}">
                  <a16:creationId xmlns="" xmlns:a16="http://schemas.microsoft.com/office/drawing/2014/main" id="{0D373D9D-529A-5BAB-2825-8A6F7B31F9E3}"/>
                </a:ext>
              </a:extLst>
            </p:cNvPr>
            <p:cNvSpPr/>
            <p:nvPr/>
          </p:nvSpPr>
          <p:spPr>
            <a:xfrm>
              <a:off x="16465263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8" name="Oval 105">
              <a:extLst>
                <a:ext uri="{FF2B5EF4-FFF2-40B4-BE49-F238E27FC236}">
                  <a16:creationId xmlns="" xmlns:a16="http://schemas.microsoft.com/office/drawing/2014/main" id="{14895E6F-8413-D2A8-7391-F5DC05D40ABF}"/>
                </a:ext>
              </a:extLst>
            </p:cNvPr>
            <p:cNvSpPr/>
            <p:nvPr/>
          </p:nvSpPr>
          <p:spPr>
            <a:xfrm>
              <a:off x="16584131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9" name="Oval 106">
              <a:extLst>
                <a:ext uri="{FF2B5EF4-FFF2-40B4-BE49-F238E27FC236}">
                  <a16:creationId xmlns="" xmlns:a16="http://schemas.microsoft.com/office/drawing/2014/main" id="{C86188FE-D32F-8C07-50EA-D000AF0D439C}"/>
                </a:ext>
              </a:extLst>
            </p:cNvPr>
            <p:cNvSpPr/>
            <p:nvPr/>
          </p:nvSpPr>
          <p:spPr>
            <a:xfrm>
              <a:off x="16986074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0" name="Oval 107">
              <a:extLst>
                <a:ext uri="{FF2B5EF4-FFF2-40B4-BE49-F238E27FC236}">
                  <a16:creationId xmlns="" xmlns:a16="http://schemas.microsoft.com/office/drawing/2014/main" id="{8809DCB5-FC89-4A47-AB68-706127E1C329}"/>
                </a:ext>
              </a:extLst>
            </p:cNvPr>
            <p:cNvSpPr/>
            <p:nvPr/>
          </p:nvSpPr>
          <p:spPr>
            <a:xfrm>
              <a:off x="17009456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1" name="Oval 108">
              <a:extLst>
                <a:ext uri="{FF2B5EF4-FFF2-40B4-BE49-F238E27FC236}">
                  <a16:creationId xmlns="" xmlns:a16="http://schemas.microsoft.com/office/drawing/2014/main" id="{168AE50C-693B-B056-392B-36487B2FB4B6}"/>
                </a:ext>
              </a:extLst>
            </p:cNvPr>
            <p:cNvSpPr/>
            <p:nvPr/>
          </p:nvSpPr>
          <p:spPr>
            <a:xfrm>
              <a:off x="17236297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2" name="Oval 109">
              <a:extLst>
                <a:ext uri="{FF2B5EF4-FFF2-40B4-BE49-F238E27FC236}">
                  <a16:creationId xmlns="" xmlns:a16="http://schemas.microsoft.com/office/drawing/2014/main" id="{15246016-8527-A9B2-991C-721C14D85548}"/>
                </a:ext>
              </a:extLst>
            </p:cNvPr>
            <p:cNvSpPr/>
            <p:nvPr/>
          </p:nvSpPr>
          <p:spPr>
            <a:xfrm>
              <a:off x="16976321" y="2218662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3" name="Oval 110">
              <a:extLst>
                <a:ext uri="{FF2B5EF4-FFF2-40B4-BE49-F238E27FC236}">
                  <a16:creationId xmlns="" xmlns:a16="http://schemas.microsoft.com/office/drawing/2014/main" id="{6BB57176-DB5F-E5F7-0A9F-61D6FD83051B}"/>
                </a:ext>
              </a:extLst>
            </p:cNvPr>
            <p:cNvSpPr/>
            <p:nvPr/>
          </p:nvSpPr>
          <p:spPr>
            <a:xfrm>
              <a:off x="16514950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4" name="Oval 111">
              <a:extLst>
                <a:ext uri="{FF2B5EF4-FFF2-40B4-BE49-F238E27FC236}">
                  <a16:creationId xmlns="" xmlns:a16="http://schemas.microsoft.com/office/drawing/2014/main" id="{EEA0A374-6078-152F-EA81-CA75502038E2}"/>
                </a:ext>
              </a:extLst>
            </p:cNvPr>
            <p:cNvSpPr/>
            <p:nvPr/>
          </p:nvSpPr>
          <p:spPr>
            <a:xfrm>
              <a:off x="17079282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5" name="Oval 112">
              <a:extLst>
                <a:ext uri="{FF2B5EF4-FFF2-40B4-BE49-F238E27FC236}">
                  <a16:creationId xmlns="" xmlns:a16="http://schemas.microsoft.com/office/drawing/2014/main" id="{03F6E416-594F-9780-70C8-F09A2E030AA2}"/>
                </a:ext>
              </a:extLst>
            </p:cNvPr>
            <p:cNvSpPr/>
            <p:nvPr/>
          </p:nvSpPr>
          <p:spPr>
            <a:xfrm>
              <a:off x="16839645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6" name="Oval 113">
              <a:extLst>
                <a:ext uri="{FF2B5EF4-FFF2-40B4-BE49-F238E27FC236}">
                  <a16:creationId xmlns="" xmlns:a16="http://schemas.microsoft.com/office/drawing/2014/main" id="{A86B5730-B672-A081-CC72-7DCD39510BC9}"/>
                </a:ext>
              </a:extLst>
            </p:cNvPr>
            <p:cNvSpPr/>
            <p:nvPr/>
          </p:nvSpPr>
          <p:spPr>
            <a:xfrm>
              <a:off x="17229640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7" name="Oval 114">
              <a:extLst>
                <a:ext uri="{FF2B5EF4-FFF2-40B4-BE49-F238E27FC236}">
                  <a16:creationId xmlns="" xmlns:a16="http://schemas.microsoft.com/office/drawing/2014/main" id="{A314BBC5-28D1-4A06-2FF6-4BE7CFC2B713}"/>
                </a:ext>
              </a:extLst>
            </p:cNvPr>
            <p:cNvSpPr/>
            <p:nvPr/>
          </p:nvSpPr>
          <p:spPr>
            <a:xfrm>
              <a:off x="17478314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8" name="Oval 115">
              <a:extLst>
                <a:ext uri="{FF2B5EF4-FFF2-40B4-BE49-F238E27FC236}">
                  <a16:creationId xmlns="" xmlns:a16="http://schemas.microsoft.com/office/drawing/2014/main" id="{8DF2D811-2E0D-0C15-199F-651C5C933138}"/>
                </a:ext>
              </a:extLst>
            </p:cNvPr>
            <p:cNvSpPr/>
            <p:nvPr/>
          </p:nvSpPr>
          <p:spPr>
            <a:xfrm>
              <a:off x="17677830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9" name="Oval 116">
              <a:extLst>
                <a:ext uri="{FF2B5EF4-FFF2-40B4-BE49-F238E27FC236}">
                  <a16:creationId xmlns="" xmlns:a16="http://schemas.microsoft.com/office/drawing/2014/main" id="{00A78210-5966-E2D4-3A2C-29FEAD4BDB34}"/>
                </a:ext>
              </a:extLst>
            </p:cNvPr>
            <p:cNvSpPr/>
            <p:nvPr/>
          </p:nvSpPr>
          <p:spPr>
            <a:xfrm>
              <a:off x="16844346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0" name="Oval 117">
              <a:extLst>
                <a:ext uri="{FF2B5EF4-FFF2-40B4-BE49-F238E27FC236}">
                  <a16:creationId xmlns="" xmlns:a16="http://schemas.microsoft.com/office/drawing/2014/main" id="{B3B0EA26-2715-4A63-DBAA-717B4A23F478}"/>
                </a:ext>
              </a:extLst>
            </p:cNvPr>
            <p:cNvSpPr/>
            <p:nvPr/>
          </p:nvSpPr>
          <p:spPr>
            <a:xfrm>
              <a:off x="17792855" y="2385644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1" name="Oval 118">
              <a:extLst>
                <a:ext uri="{FF2B5EF4-FFF2-40B4-BE49-F238E27FC236}">
                  <a16:creationId xmlns="" xmlns:a16="http://schemas.microsoft.com/office/drawing/2014/main" id="{D06A8023-BA02-409E-0281-7C9C8C5635E7}"/>
                </a:ext>
              </a:extLst>
            </p:cNvPr>
            <p:cNvSpPr/>
            <p:nvPr/>
          </p:nvSpPr>
          <p:spPr>
            <a:xfrm>
              <a:off x="17446645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2" name="Oval 119">
              <a:extLst>
                <a:ext uri="{FF2B5EF4-FFF2-40B4-BE49-F238E27FC236}">
                  <a16:creationId xmlns="" xmlns:a16="http://schemas.microsoft.com/office/drawing/2014/main" id="{BBE6A492-BB73-B978-00E1-55167871BC4D}"/>
                </a:ext>
              </a:extLst>
            </p:cNvPr>
            <p:cNvSpPr/>
            <p:nvPr/>
          </p:nvSpPr>
          <p:spPr>
            <a:xfrm>
              <a:off x="17271504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3" name="Oval 120">
              <a:extLst>
                <a:ext uri="{FF2B5EF4-FFF2-40B4-BE49-F238E27FC236}">
                  <a16:creationId xmlns="" xmlns:a16="http://schemas.microsoft.com/office/drawing/2014/main" id="{47BE9AD6-18EE-F245-C222-D464BE0D900C}"/>
                </a:ext>
              </a:extLst>
            </p:cNvPr>
            <p:cNvSpPr/>
            <p:nvPr/>
          </p:nvSpPr>
          <p:spPr>
            <a:xfrm>
              <a:off x="17261076" y="25495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4" name="Oval 121">
              <a:extLst>
                <a:ext uri="{FF2B5EF4-FFF2-40B4-BE49-F238E27FC236}">
                  <a16:creationId xmlns="" xmlns:a16="http://schemas.microsoft.com/office/drawing/2014/main" id="{FE97CFB8-5FCD-F9AE-4EC3-9B90E82E0BD1}"/>
                </a:ext>
              </a:extLst>
            </p:cNvPr>
            <p:cNvSpPr/>
            <p:nvPr/>
          </p:nvSpPr>
          <p:spPr>
            <a:xfrm>
              <a:off x="17478314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5" name="Multiply 122">
              <a:extLst>
                <a:ext uri="{FF2B5EF4-FFF2-40B4-BE49-F238E27FC236}">
                  <a16:creationId xmlns="" xmlns:a16="http://schemas.microsoft.com/office/drawing/2014/main" id="{58E8FC64-2EBA-62AF-E35B-379A189D537C}"/>
                </a:ext>
              </a:extLst>
            </p:cNvPr>
            <p:cNvSpPr/>
            <p:nvPr/>
          </p:nvSpPr>
          <p:spPr>
            <a:xfrm>
              <a:off x="17169879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6" name="Multiply 123">
              <a:extLst>
                <a:ext uri="{FF2B5EF4-FFF2-40B4-BE49-F238E27FC236}">
                  <a16:creationId xmlns="" xmlns:a16="http://schemas.microsoft.com/office/drawing/2014/main" id="{121ED2C2-C394-73A6-4F3D-0D6AE65DAA50}"/>
                </a:ext>
              </a:extLst>
            </p:cNvPr>
            <p:cNvSpPr/>
            <p:nvPr/>
          </p:nvSpPr>
          <p:spPr>
            <a:xfrm>
              <a:off x="16381334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7" name="Multiply 124">
              <a:extLst>
                <a:ext uri="{FF2B5EF4-FFF2-40B4-BE49-F238E27FC236}">
                  <a16:creationId xmlns="" xmlns:a16="http://schemas.microsoft.com/office/drawing/2014/main" id="{6BA39FEA-B8DD-FF08-298A-6AA25A7F16AA}"/>
                </a:ext>
              </a:extLst>
            </p:cNvPr>
            <p:cNvSpPr/>
            <p:nvPr/>
          </p:nvSpPr>
          <p:spPr>
            <a:xfrm>
              <a:off x="16253368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8" name="Multiply 125">
              <a:extLst>
                <a:ext uri="{FF2B5EF4-FFF2-40B4-BE49-F238E27FC236}">
                  <a16:creationId xmlns="" xmlns:a16="http://schemas.microsoft.com/office/drawing/2014/main" id="{07A15D8B-5F3F-1238-2961-80CE07989F8D}"/>
                </a:ext>
              </a:extLst>
            </p:cNvPr>
            <p:cNvSpPr/>
            <p:nvPr/>
          </p:nvSpPr>
          <p:spPr>
            <a:xfrm>
              <a:off x="16057723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9" name="Multiply 126">
              <a:extLst>
                <a:ext uri="{FF2B5EF4-FFF2-40B4-BE49-F238E27FC236}">
                  <a16:creationId xmlns="" xmlns:a16="http://schemas.microsoft.com/office/drawing/2014/main" id="{04CF30F0-EE59-2B18-4293-C1548AB09FEB}"/>
                </a:ext>
              </a:extLst>
            </p:cNvPr>
            <p:cNvSpPr/>
            <p:nvPr/>
          </p:nvSpPr>
          <p:spPr>
            <a:xfrm>
              <a:off x="16034523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0" name="Multiply 127">
              <a:extLst>
                <a:ext uri="{FF2B5EF4-FFF2-40B4-BE49-F238E27FC236}">
                  <a16:creationId xmlns="" xmlns:a16="http://schemas.microsoft.com/office/drawing/2014/main" id="{59F2BF88-464B-D043-6DC8-BE467E5F5365}"/>
                </a:ext>
              </a:extLst>
            </p:cNvPr>
            <p:cNvSpPr/>
            <p:nvPr/>
          </p:nvSpPr>
          <p:spPr>
            <a:xfrm>
              <a:off x="17744928" y="2170446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1" name="Multiply 128">
              <a:extLst>
                <a:ext uri="{FF2B5EF4-FFF2-40B4-BE49-F238E27FC236}">
                  <a16:creationId xmlns="" xmlns:a16="http://schemas.microsoft.com/office/drawing/2014/main" id="{F5E1C1DB-A089-269E-D62B-1F6ED2B5089F}"/>
                </a:ext>
              </a:extLst>
            </p:cNvPr>
            <p:cNvSpPr/>
            <p:nvPr/>
          </p:nvSpPr>
          <p:spPr>
            <a:xfrm>
              <a:off x="16123756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2" name="Oval 129">
              <a:extLst>
                <a:ext uri="{FF2B5EF4-FFF2-40B4-BE49-F238E27FC236}">
                  <a16:creationId xmlns="" xmlns:a16="http://schemas.microsoft.com/office/drawing/2014/main" id="{4412E03C-354D-F145-C5A9-26C4BEC3D209}"/>
                </a:ext>
              </a:extLst>
            </p:cNvPr>
            <p:cNvSpPr/>
            <p:nvPr/>
          </p:nvSpPr>
          <p:spPr>
            <a:xfrm>
              <a:off x="17453674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3" name="Oval 130">
              <a:extLst>
                <a:ext uri="{FF2B5EF4-FFF2-40B4-BE49-F238E27FC236}">
                  <a16:creationId xmlns="" xmlns:a16="http://schemas.microsoft.com/office/drawing/2014/main" id="{41C5C12B-8CDE-EAFC-3FB2-B71470ED21F4}"/>
                </a:ext>
              </a:extLst>
            </p:cNvPr>
            <p:cNvSpPr/>
            <p:nvPr/>
          </p:nvSpPr>
          <p:spPr>
            <a:xfrm>
              <a:off x="17614361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4" name="Oval 131">
              <a:extLst>
                <a:ext uri="{FF2B5EF4-FFF2-40B4-BE49-F238E27FC236}">
                  <a16:creationId xmlns="" xmlns:a16="http://schemas.microsoft.com/office/drawing/2014/main" id="{FC69DF46-1F1F-44E5-9A4B-1B62ACFF8AE6}"/>
                </a:ext>
              </a:extLst>
            </p:cNvPr>
            <p:cNvSpPr/>
            <p:nvPr/>
          </p:nvSpPr>
          <p:spPr>
            <a:xfrm>
              <a:off x="17661786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5" name="Multiply 132">
              <a:extLst>
                <a:ext uri="{FF2B5EF4-FFF2-40B4-BE49-F238E27FC236}">
                  <a16:creationId xmlns="" xmlns:a16="http://schemas.microsoft.com/office/drawing/2014/main" id="{CDE1F1C9-F63F-5CEC-AC3B-5DF3B0680BD0}"/>
                </a:ext>
              </a:extLst>
            </p:cNvPr>
            <p:cNvSpPr/>
            <p:nvPr/>
          </p:nvSpPr>
          <p:spPr>
            <a:xfrm>
              <a:off x="16248136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6" name="Multiply 133">
              <a:extLst>
                <a:ext uri="{FF2B5EF4-FFF2-40B4-BE49-F238E27FC236}">
                  <a16:creationId xmlns="" xmlns:a16="http://schemas.microsoft.com/office/drawing/2014/main" id="{BE48EEC5-EE90-F9D7-602A-1BDE74A757B4}"/>
                </a:ext>
              </a:extLst>
            </p:cNvPr>
            <p:cNvSpPr/>
            <p:nvPr/>
          </p:nvSpPr>
          <p:spPr>
            <a:xfrm>
              <a:off x="16493808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7" name="Multiply 134">
              <a:extLst>
                <a:ext uri="{FF2B5EF4-FFF2-40B4-BE49-F238E27FC236}">
                  <a16:creationId xmlns="" xmlns:a16="http://schemas.microsoft.com/office/drawing/2014/main" id="{E520CF51-47A2-7E8B-78DC-ADEB8C1E764F}"/>
                </a:ext>
              </a:extLst>
            </p:cNvPr>
            <p:cNvSpPr/>
            <p:nvPr/>
          </p:nvSpPr>
          <p:spPr>
            <a:xfrm>
              <a:off x="16919111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8" name="Multiply 135">
              <a:extLst>
                <a:ext uri="{FF2B5EF4-FFF2-40B4-BE49-F238E27FC236}">
                  <a16:creationId xmlns="" xmlns:a16="http://schemas.microsoft.com/office/drawing/2014/main" id="{6E35A0E5-F036-47D5-6724-949F089AEB72}"/>
                </a:ext>
              </a:extLst>
            </p:cNvPr>
            <p:cNvSpPr/>
            <p:nvPr/>
          </p:nvSpPr>
          <p:spPr>
            <a:xfrm>
              <a:off x="16677124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9" name="Multiply 136">
              <a:extLst>
                <a:ext uri="{FF2B5EF4-FFF2-40B4-BE49-F238E27FC236}">
                  <a16:creationId xmlns="" xmlns:a16="http://schemas.microsoft.com/office/drawing/2014/main" id="{40AD9EEF-3614-174C-A1BD-2E03095052D4}"/>
                </a:ext>
              </a:extLst>
            </p:cNvPr>
            <p:cNvSpPr/>
            <p:nvPr/>
          </p:nvSpPr>
          <p:spPr>
            <a:xfrm>
              <a:off x="16168819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0" name="Multiply 137">
              <a:extLst>
                <a:ext uri="{FF2B5EF4-FFF2-40B4-BE49-F238E27FC236}">
                  <a16:creationId xmlns="" xmlns:a16="http://schemas.microsoft.com/office/drawing/2014/main" id="{5224EAE0-29F0-0908-8893-1DA195541196}"/>
                </a:ext>
              </a:extLst>
            </p:cNvPr>
            <p:cNvSpPr/>
            <p:nvPr/>
          </p:nvSpPr>
          <p:spPr>
            <a:xfrm>
              <a:off x="17306726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1" name="Multiply 138">
              <a:extLst>
                <a:ext uri="{FF2B5EF4-FFF2-40B4-BE49-F238E27FC236}">
                  <a16:creationId xmlns="" xmlns:a16="http://schemas.microsoft.com/office/drawing/2014/main" id="{345E7BAB-A204-C545-A324-4AE44816D949}"/>
                </a:ext>
              </a:extLst>
            </p:cNvPr>
            <p:cNvSpPr/>
            <p:nvPr/>
          </p:nvSpPr>
          <p:spPr>
            <a:xfrm>
              <a:off x="17646313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2" name="Multiply 139">
              <a:extLst>
                <a:ext uri="{FF2B5EF4-FFF2-40B4-BE49-F238E27FC236}">
                  <a16:creationId xmlns="" xmlns:a16="http://schemas.microsoft.com/office/drawing/2014/main" id="{A0512407-73B8-304C-6056-341DEED9304C}"/>
                </a:ext>
              </a:extLst>
            </p:cNvPr>
            <p:cNvSpPr/>
            <p:nvPr/>
          </p:nvSpPr>
          <p:spPr>
            <a:xfrm>
              <a:off x="16304291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3" name="Multiply 140">
              <a:extLst>
                <a:ext uri="{FF2B5EF4-FFF2-40B4-BE49-F238E27FC236}">
                  <a16:creationId xmlns="" xmlns:a16="http://schemas.microsoft.com/office/drawing/2014/main" id="{B8F4E571-C121-A73E-CA57-06965F808395}"/>
                </a:ext>
              </a:extLst>
            </p:cNvPr>
            <p:cNvSpPr/>
            <p:nvPr/>
          </p:nvSpPr>
          <p:spPr>
            <a:xfrm>
              <a:off x="16666327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4" name="Multiply 141">
              <a:extLst>
                <a:ext uri="{FF2B5EF4-FFF2-40B4-BE49-F238E27FC236}">
                  <a16:creationId xmlns="" xmlns:a16="http://schemas.microsoft.com/office/drawing/2014/main" id="{6719F853-8301-AD90-215A-5F0CCB17A0D9}"/>
                </a:ext>
              </a:extLst>
            </p:cNvPr>
            <p:cNvSpPr/>
            <p:nvPr/>
          </p:nvSpPr>
          <p:spPr>
            <a:xfrm>
              <a:off x="16011193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5" name="Multiply 142">
              <a:extLst>
                <a:ext uri="{FF2B5EF4-FFF2-40B4-BE49-F238E27FC236}">
                  <a16:creationId xmlns="" xmlns:a16="http://schemas.microsoft.com/office/drawing/2014/main" id="{796FC582-F9D7-FE87-2A23-4E229FC743BD}"/>
                </a:ext>
              </a:extLst>
            </p:cNvPr>
            <p:cNvSpPr/>
            <p:nvPr/>
          </p:nvSpPr>
          <p:spPr>
            <a:xfrm>
              <a:off x="17041407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6" name="Freeform 143">
              <a:extLst>
                <a:ext uri="{FF2B5EF4-FFF2-40B4-BE49-F238E27FC236}">
                  <a16:creationId xmlns="" xmlns:a16="http://schemas.microsoft.com/office/drawing/2014/main" id="{096148D6-1E7E-22FB-3129-F46AEE6157EC}"/>
                </a:ext>
              </a:extLst>
            </p:cNvPr>
            <p:cNvSpPr/>
            <p:nvPr/>
          </p:nvSpPr>
          <p:spPr>
            <a:xfrm>
              <a:off x="16413706" y="1401750"/>
              <a:ext cx="1998621" cy="1334650"/>
            </a:xfrm>
            <a:custGeom>
              <a:avLst/>
              <a:gdLst>
                <a:gd name="connsiteX0" fmla="*/ 626252 w 2251852"/>
                <a:gd name="connsiteY0" fmla="*/ 0 h 1911350"/>
                <a:gd name="connsiteX1" fmla="*/ 594502 w 2251852"/>
                <a:gd name="connsiteY1" fmla="*/ 31750 h 1911350"/>
                <a:gd name="connsiteX2" fmla="*/ 543702 w 2251852"/>
                <a:gd name="connsiteY2" fmla="*/ 69850 h 1911350"/>
                <a:gd name="connsiteX3" fmla="*/ 518302 w 2251852"/>
                <a:gd name="connsiteY3" fmla="*/ 88900 h 1911350"/>
                <a:gd name="connsiteX4" fmla="*/ 499252 w 2251852"/>
                <a:gd name="connsiteY4" fmla="*/ 107950 h 1911350"/>
                <a:gd name="connsiteX5" fmla="*/ 473852 w 2251852"/>
                <a:gd name="connsiteY5" fmla="*/ 127000 h 1911350"/>
                <a:gd name="connsiteX6" fmla="*/ 461152 w 2251852"/>
                <a:gd name="connsiteY6" fmla="*/ 146050 h 1911350"/>
                <a:gd name="connsiteX7" fmla="*/ 442102 w 2251852"/>
                <a:gd name="connsiteY7" fmla="*/ 165100 h 1911350"/>
                <a:gd name="connsiteX8" fmla="*/ 416702 w 2251852"/>
                <a:gd name="connsiteY8" fmla="*/ 196850 h 1911350"/>
                <a:gd name="connsiteX9" fmla="*/ 391302 w 2251852"/>
                <a:gd name="connsiteY9" fmla="*/ 234950 h 1911350"/>
                <a:gd name="connsiteX10" fmla="*/ 372252 w 2251852"/>
                <a:gd name="connsiteY10" fmla="*/ 254000 h 1911350"/>
                <a:gd name="connsiteX11" fmla="*/ 327802 w 2251852"/>
                <a:gd name="connsiteY11" fmla="*/ 311150 h 1911350"/>
                <a:gd name="connsiteX12" fmla="*/ 302402 w 2251852"/>
                <a:gd name="connsiteY12" fmla="*/ 349250 h 1911350"/>
                <a:gd name="connsiteX13" fmla="*/ 289702 w 2251852"/>
                <a:gd name="connsiteY13" fmla="*/ 374650 h 1911350"/>
                <a:gd name="connsiteX14" fmla="*/ 257952 w 2251852"/>
                <a:gd name="connsiteY14" fmla="*/ 412750 h 1911350"/>
                <a:gd name="connsiteX15" fmla="*/ 238902 w 2251852"/>
                <a:gd name="connsiteY15" fmla="*/ 450850 h 1911350"/>
                <a:gd name="connsiteX16" fmla="*/ 232552 w 2251852"/>
                <a:gd name="connsiteY16" fmla="*/ 469900 h 1911350"/>
                <a:gd name="connsiteX17" fmla="*/ 213502 w 2251852"/>
                <a:gd name="connsiteY17" fmla="*/ 482600 h 1911350"/>
                <a:gd name="connsiteX18" fmla="*/ 188102 w 2251852"/>
                <a:gd name="connsiteY18" fmla="*/ 514350 h 1911350"/>
                <a:gd name="connsiteX19" fmla="*/ 162702 w 2251852"/>
                <a:gd name="connsiteY19" fmla="*/ 552450 h 1911350"/>
                <a:gd name="connsiteX20" fmla="*/ 124602 w 2251852"/>
                <a:gd name="connsiteY20" fmla="*/ 584200 h 1911350"/>
                <a:gd name="connsiteX21" fmla="*/ 99202 w 2251852"/>
                <a:gd name="connsiteY21" fmla="*/ 622300 h 1911350"/>
                <a:gd name="connsiteX22" fmla="*/ 80152 w 2251852"/>
                <a:gd name="connsiteY22" fmla="*/ 660400 h 1911350"/>
                <a:gd name="connsiteX23" fmla="*/ 61102 w 2251852"/>
                <a:gd name="connsiteY23" fmla="*/ 673100 h 1911350"/>
                <a:gd name="connsiteX24" fmla="*/ 54752 w 2251852"/>
                <a:gd name="connsiteY24" fmla="*/ 692150 h 1911350"/>
                <a:gd name="connsiteX25" fmla="*/ 42052 w 2251852"/>
                <a:gd name="connsiteY25" fmla="*/ 711200 h 1911350"/>
                <a:gd name="connsiteX26" fmla="*/ 35702 w 2251852"/>
                <a:gd name="connsiteY26" fmla="*/ 755650 h 1911350"/>
                <a:gd name="connsiteX27" fmla="*/ 29352 w 2251852"/>
                <a:gd name="connsiteY27" fmla="*/ 774700 h 1911350"/>
                <a:gd name="connsiteX28" fmla="*/ 23002 w 2251852"/>
                <a:gd name="connsiteY28" fmla="*/ 800100 h 1911350"/>
                <a:gd name="connsiteX29" fmla="*/ 54752 w 2251852"/>
                <a:gd name="connsiteY29" fmla="*/ 1270000 h 1911350"/>
                <a:gd name="connsiteX30" fmla="*/ 54752 w 2251852"/>
                <a:gd name="connsiteY30" fmla="*/ 1270000 h 1911350"/>
                <a:gd name="connsiteX31" fmla="*/ 61102 w 2251852"/>
                <a:gd name="connsiteY31" fmla="*/ 1289050 h 1911350"/>
                <a:gd name="connsiteX32" fmla="*/ 99202 w 2251852"/>
                <a:gd name="connsiteY32" fmla="*/ 1320800 h 1911350"/>
                <a:gd name="connsiteX33" fmla="*/ 111902 w 2251852"/>
                <a:gd name="connsiteY33" fmla="*/ 1339850 h 1911350"/>
                <a:gd name="connsiteX34" fmla="*/ 143652 w 2251852"/>
                <a:gd name="connsiteY34" fmla="*/ 1371600 h 1911350"/>
                <a:gd name="connsiteX35" fmla="*/ 156352 w 2251852"/>
                <a:gd name="connsiteY35" fmla="*/ 1409700 h 1911350"/>
                <a:gd name="connsiteX36" fmla="*/ 169052 w 2251852"/>
                <a:gd name="connsiteY36" fmla="*/ 1428750 h 1911350"/>
                <a:gd name="connsiteX37" fmla="*/ 175402 w 2251852"/>
                <a:gd name="connsiteY37" fmla="*/ 1447800 h 1911350"/>
                <a:gd name="connsiteX38" fmla="*/ 194452 w 2251852"/>
                <a:gd name="connsiteY38" fmla="*/ 1466850 h 1911350"/>
                <a:gd name="connsiteX39" fmla="*/ 232552 w 2251852"/>
                <a:gd name="connsiteY39" fmla="*/ 1504950 h 1911350"/>
                <a:gd name="connsiteX40" fmla="*/ 238902 w 2251852"/>
                <a:gd name="connsiteY40" fmla="*/ 1524000 h 1911350"/>
                <a:gd name="connsiteX41" fmla="*/ 270652 w 2251852"/>
                <a:gd name="connsiteY41" fmla="*/ 1555750 h 1911350"/>
                <a:gd name="connsiteX42" fmla="*/ 277002 w 2251852"/>
                <a:gd name="connsiteY42" fmla="*/ 1574800 h 1911350"/>
                <a:gd name="connsiteX43" fmla="*/ 296052 w 2251852"/>
                <a:gd name="connsiteY43" fmla="*/ 1593850 h 1911350"/>
                <a:gd name="connsiteX44" fmla="*/ 308752 w 2251852"/>
                <a:gd name="connsiteY44" fmla="*/ 1619250 h 1911350"/>
                <a:gd name="connsiteX45" fmla="*/ 346852 w 2251852"/>
                <a:gd name="connsiteY45" fmla="*/ 1638300 h 1911350"/>
                <a:gd name="connsiteX46" fmla="*/ 397652 w 2251852"/>
                <a:gd name="connsiteY46" fmla="*/ 1682750 h 1911350"/>
                <a:gd name="connsiteX47" fmla="*/ 416702 w 2251852"/>
                <a:gd name="connsiteY47" fmla="*/ 1701800 h 1911350"/>
                <a:gd name="connsiteX48" fmla="*/ 454802 w 2251852"/>
                <a:gd name="connsiteY48" fmla="*/ 1714500 h 1911350"/>
                <a:gd name="connsiteX49" fmla="*/ 505602 w 2251852"/>
                <a:gd name="connsiteY49" fmla="*/ 1752600 h 1911350"/>
                <a:gd name="connsiteX50" fmla="*/ 524652 w 2251852"/>
                <a:gd name="connsiteY50" fmla="*/ 1765300 h 1911350"/>
                <a:gd name="connsiteX51" fmla="*/ 543702 w 2251852"/>
                <a:gd name="connsiteY51" fmla="*/ 1771650 h 1911350"/>
                <a:gd name="connsiteX52" fmla="*/ 562752 w 2251852"/>
                <a:gd name="connsiteY52" fmla="*/ 1784350 h 1911350"/>
                <a:gd name="connsiteX53" fmla="*/ 600852 w 2251852"/>
                <a:gd name="connsiteY53" fmla="*/ 1797050 h 1911350"/>
                <a:gd name="connsiteX54" fmla="*/ 677052 w 2251852"/>
                <a:gd name="connsiteY54" fmla="*/ 1790700 h 1911350"/>
                <a:gd name="connsiteX55" fmla="*/ 696102 w 2251852"/>
                <a:gd name="connsiteY55" fmla="*/ 1778000 h 1911350"/>
                <a:gd name="connsiteX56" fmla="*/ 734202 w 2251852"/>
                <a:gd name="connsiteY56" fmla="*/ 1701800 h 1911350"/>
                <a:gd name="connsiteX57" fmla="*/ 753252 w 2251852"/>
                <a:gd name="connsiteY57" fmla="*/ 1663700 h 1911350"/>
                <a:gd name="connsiteX58" fmla="*/ 772302 w 2251852"/>
                <a:gd name="connsiteY58" fmla="*/ 1619250 h 1911350"/>
                <a:gd name="connsiteX59" fmla="*/ 778652 w 2251852"/>
                <a:gd name="connsiteY59" fmla="*/ 1587500 h 1911350"/>
                <a:gd name="connsiteX60" fmla="*/ 785002 w 2251852"/>
                <a:gd name="connsiteY60" fmla="*/ 1562100 h 1911350"/>
                <a:gd name="connsiteX61" fmla="*/ 791352 w 2251852"/>
                <a:gd name="connsiteY61" fmla="*/ 1530350 h 1911350"/>
                <a:gd name="connsiteX62" fmla="*/ 804052 w 2251852"/>
                <a:gd name="connsiteY62" fmla="*/ 1492250 h 1911350"/>
                <a:gd name="connsiteX63" fmla="*/ 810402 w 2251852"/>
                <a:gd name="connsiteY63" fmla="*/ 1473200 h 1911350"/>
                <a:gd name="connsiteX64" fmla="*/ 829452 w 2251852"/>
                <a:gd name="connsiteY64" fmla="*/ 1428750 h 1911350"/>
                <a:gd name="connsiteX65" fmla="*/ 848502 w 2251852"/>
                <a:gd name="connsiteY65" fmla="*/ 1409700 h 1911350"/>
                <a:gd name="connsiteX66" fmla="*/ 854852 w 2251852"/>
                <a:gd name="connsiteY66" fmla="*/ 1384300 h 1911350"/>
                <a:gd name="connsiteX67" fmla="*/ 886602 w 2251852"/>
                <a:gd name="connsiteY67" fmla="*/ 1339850 h 1911350"/>
                <a:gd name="connsiteX68" fmla="*/ 905652 w 2251852"/>
                <a:gd name="connsiteY68" fmla="*/ 1333500 h 1911350"/>
                <a:gd name="connsiteX69" fmla="*/ 956452 w 2251852"/>
                <a:gd name="connsiteY69" fmla="*/ 1301750 h 1911350"/>
                <a:gd name="connsiteX70" fmla="*/ 975502 w 2251852"/>
                <a:gd name="connsiteY70" fmla="*/ 1295400 h 1911350"/>
                <a:gd name="connsiteX71" fmla="*/ 994552 w 2251852"/>
                <a:gd name="connsiteY71" fmla="*/ 1289050 h 1911350"/>
                <a:gd name="connsiteX72" fmla="*/ 1140602 w 2251852"/>
                <a:gd name="connsiteY72" fmla="*/ 1314450 h 1911350"/>
                <a:gd name="connsiteX73" fmla="*/ 1153302 w 2251852"/>
                <a:gd name="connsiteY73" fmla="*/ 1365250 h 1911350"/>
                <a:gd name="connsiteX74" fmla="*/ 1146952 w 2251852"/>
                <a:gd name="connsiteY74" fmla="*/ 1492250 h 1911350"/>
                <a:gd name="connsiteX75" fmla="*/ 1134252 w 2251852"/>
                <a:gd name="connsiteY75" fmla="*/ 1530350 h 1911350"/>
                <a:gd name="connsiteX76" fmla="*/ 1096152 w 2251852"/>
                <a:gd name="connsiteY76" fmla="*/ 1562100 h 1911350"/>
                <a:gd name="connsiteX77" fmla="*/ 1039002 w 2251852"/>
                <a:gd name="connsiteY77" fmla="*/ 1587500 h 1911350"/>
                <a:gd name="connsiteX78" fmla="*/ 1019952 w 2251852"/>
                <a:gd name="connsiteY78" fmla="*/ 1593850 h 1911350"/>
                <a:gd name="connsiteX79" fmla="*/ 994552 w 2251852"/>
                <a:gd name="connsiteY79" fmla="*/ 1606550 h 1911350"/>
                <a:gd name="connsiteX80" fmla="*/ 975502 w 2251852"/>
                <a:gd name="connsiteY80" fmla="*/ 1612900 h 1911350"/>
                <a:gd name="connsiteX81" fmla="*/ 937402 w 2251852"/>
                <a:gd name="connsiteY81" fmla="*/ 1638300 h 1911350"/>
                <a:gd name="connsiteX82" fmla="*/ 899302 w 2251852"/>
                <a:gd name="connsiteY82" fmla="*/ 1701800 h 1911350"/>
                <a:gd name="connsiteX83" fmla="*/ 873902 w 2251852"/>
                <a:gd name="connsiteY83" fmla="*/ 1765300 h 1911350"/>
                <a:gd name="connsiteX84" fmla="*/ 880252 w 2251852"/>
                <a:gd name="connsiteY84" fmla="*/ 1822450 h 1911350"/>
                <a:gd name="connsiteX85" fmla="*/ 886602 w 2251852"/>
                <a:gd name="connsiteY85" fmla="*/ 1841500 h 1911350"/>
                <a:gd name="connsiteX86" fmla="*/ 912002 w 2251852"/>
                <a:gd name="connsiteY86" fmla="*/ 1879600 h 1911350"/>
                <a:gd name="connsiteX87" fmla="*/ 931052 w 2251852"/>
                <a:gd name="connsiteY87" fmla="*/ 1892300 h 1911350"/>
                <a:gd name="connsiteX88" fmla="*/ 950102 w 2251852"/>
                <a:gd name="connsiteY88" fmla="*/ 1898650 h 1911350"/>
                <a:gd name="connsiteX89" fmla="*/ 975502 w 2251852"/>
                <a:gd name="connsiteY89" fmla="*/ 1911350 h 1911350"/>
                <a:gd name="connsiteX90" fmla="*/ 1248552 w 2251852"/>
                <a:gd name="connsiteY90" fmla="*/ 1905000 h 1911350"/>
                <a:gd name="connsiteX91" fmla="*/ 1305702 w 2251852"/>
                <a:gd name="connsiteY91" fmla="*/ 1898650 h 1911350"/>
                <a:gd name="connsiteX92" fmla="*/ 1350152 w 2251852"/>
                <a:gd name="connsiteY92" fmla="*/ 1885950 h 1911350"/>
                <a:gd name="connsiteX93" fmla="*/ 1375552 w 2251852"/>
                <a:gd name="connsiteY93" fmla="*/ 1879600 h 1911350"/>
                <a:gd name="connsiteX94" fmla="*/ 1420002 w 2251852"/>
                <a:gd name="connsiteY94" fmla="*/ 1873250 h 1911350"/>
                <a:gd name="connsiteX95" fmla="*/ 1470802 w 2251852"/>
                <a:gd name="connsiteY95" fmla="*/ 1860550 h 1911350"/>
                <a:gd name="connsiteX96" fmla="*/ 1489852 w 2251852"/>
                <a:gd name="connsiteY96" fmla="*/ 1854200 h 1911350"/>
                <a:gd name="connsiteX97" fmla="*/ 1527952 w 2251852"/>
                <a:gd name="connsiteY97" fmla="*/ 1847850 h 1911350"/>
                <a:gd name="connsiteX98" fmla="*/ 1591452 w 2251852"/>
                <a:gd name="connsiteY98" fmla="*/ 1828800 h 1911350"/>
                <a:gd name="connsiteX99" fmla="*/ 1629552 w 2251852"/>
                <a:gd name="connsiteY99" fmla="*/ 1816100 h 1911350"/>
                <a:gd name="connsiteX100" fmla="*/ 1642252 w 2251852"/>
                <a:gd name="connsiteY100" fmla="*/ 1797050 h 1911350"/>
                <a:gd name="connsiteX101" fmla="*/ 1661302 w 2251852"/>
                <a:gd name="connsiteY101" fmla="*/ 1790700 h 1911350"/>
                <a:gd name="connsiteX102" fmla="*/ 1680352 w 2251852"/>
                <a:gd name="connsiteY102" fmla="*/ 1778000 h 1911350"/>
                <a:gd name="connsiteX103" fmla="*/ 1705752 w 2251852"/>
                <a:gd name="connsiteY103" fmla="*/ 1746250 h 1911350"/>
                <a:gd name="connsiteX104" fmla="*/ 1724802 w 2251852"/>
                <a:gd name="connsiteY104" fmla="*/ 1708150 h 1911350"/>
                <a:gd name="connsiteX105" fmla="*/ 1743852 w 2251852"/>
                <a:gd name="connsiteY105" fmla="*/ 1695450 h 1911350"/>
                <a:gd name="connsiteX106" fmla="*/ 1762902 w 2251852"/>
                <a:gd name="connsiteY106" fmla="*/ 1676400 h 1911350"/>
                <a:gd name="connsiteX107" fmla="*/ 1781952 w 2251852"/>
                <a:gd name="connsiteY107" fmla="*/ 1638300 h 1911350"/>
                <a:gd name="connsiteX108" fmla="*/ 1788302 w 2251852"/>
                <a:gd name="connsiteY108" fmla="*/ 1619250 h 1911350"/>
                <a:gd name="connsiteX109" fmla="*/ 1794652 w 2251852"/>
                <a:gd name="connsiteY109" fmla="*/ 1593850 h 1911350"/>
                <a:gd name="connsiteX110" fmla="*/ 1826402 w 2251852"/>
                <a:gd name="connsiteY110" fmla="*/ 1536700 h 1911350"/>
                <a:gd name="connsiteX111" fmla="*/ 1820052 w 2251852"/>
                <a:gd name="connsiteY111" fmla="*/ 1416050 h 1911350"/>
                <a:gd name="connsiteX112" fmla="*/ 1801002 w 2251852"/>
                <a:gd name="connsiteY112" fmla="*/ 1403350 h 1911350"/>
                <a:gd name="connsiteX113" fmla="*/ 1762902 w 2251852"/>
                <a:gd name="connsiteY113" fmla="*/ 1390650 h 1911350"/>
                <a:gd name="connsiteX114" fmla="*/ 1743852 w 2251852"/>
                <a:gd name="connsiteY114" fmla="*/ 1384300 h 1911350"/>
                <a:gd name="connsiteX115" fmla="*/ 1527952 w 2251852"/>
                <a:gd name="connsiteY115" fmla="*/ 1384300 h 1911350"/>
                <a:gd name="connsiteX116" fmla="*/ 1508902 w 2251852"/>
                <a:gd name="connsiteY116" fmla="*/ 1371600 h 1911350"/>
                <a:gd name="connsiteX117" fmla="*/ 1477152 w 2251852"/>
                <a:gd name="connsiteY117" fmla="*/ 1289050 h 1911350"/>
                <a:gd name="connsiteX118" fmla="*/ 1483502 w 2251852"/>
                <a:gd name="connsiteY118" fmla="*/ 1162050 h 1911350"/>
                <a:gd name="connsiteX119" fmla="*/ 1540652 w 2251852"/>
                <a:gd name="connsiteY119" fmla="*/ 1130300 h 1911350"/>
                <a:gd name="connsiteX120" fmla="*/ 1559702 w 2251852"/>
                <a:gd name="connsiteY120" fmla="*/ 1117600 h 1911350"/>
                <a:gd name="connsiteX121" fmla="*/ 1578752 w 2251852"/>
                <a:gd name="connsiteY121" fmla="*/ 1111250 h 1911350"/>
                <a:gd name="connsiteX122" fmla="*/ 1597802 w 2251852"/>
                <a:gd name="connsiteY122" fmla="*/ 1098550 h 1911350"/>
                <a:gd name="connsiteX123" fmla="*/ 1699402 w 2251852"/>
                <a:gd name="connsiteY123" fmla="*/ 1085850 h 1911350"/>
                <a:gd name="connsiteX124" fmla="*/ 1756552 w 2251852"/>
                <a:gd name="connsiteY124" fmla="*/ 1079500 h 1911350"/>
                <a:gd name="connsiteX125" fmla="*/ 1794652 w 2251852"/>
                <a:gd name="connsiteY125" fmla="*/ 1066800 h 1911350"/>
                <a:gd name="connsiteX126" fmla="*/ 1813702 w 2251852"/>
                <a:gd name="connsiteY126" fmla="*/ 1060450 h 1911350"/>
                <a:gd name="connsiteX127" fmla="*/ 1832752 w 2251852"/>
                <a:gd name="connsiteY127" fmla="*/ 1047750 h 1911350"/>
                <a:gd name="connsiteX128" fmla="*/ 1851802 w 2251852"/>
                <a:gd name="connsiteY128" fmla="*/ 1041400 h 1911350"/>
                <a:gd name="connsiteX129" fmla="*/ 1889902 w 2251852"/>
                <a:gd name="connsiteY129" fmla="*/ 1009650 h 1911350"/>
                <a:gd name="connsiteX130" fmla="*/ 1908952 w 2251852"/>
                <a:gd name="connsiteY130" fmla="*/ 1003300 h 1911350"/>
                <a:gd name="connsiteX131" fmla="*/ 1928002 w 2251852"/>
                <a:gd name="connsiteY131" fmla="*/ 984250 h 1911350"/>
                <a:gd name="connsiteX132" fmla="*/ 1947052 w 2251852"/>
                <a:gd name="connsiteY132" fmla="*/ 977900 h 1911350"/>
                <a:gd name="connsiteX133" fmla="*/ 2004202 w 2251852"/>
                <a:gd name="connsiteY133" fmla="*/ 933450 h 1911350"/>
                <a:gd name="connsiteX134" fmla="*/ 2042302 w 2251852"/>
                <a:gd name="connsiteY134" fmla="*/ 901700 h 1911350"/>
                <a:gd name="connsiteX135" fmla="*/ 2086752 w 2251852"/>
                <a:gd name="connsiteY135" fmla="*/ 889000 h 1911350"/>
                <a:gd name="connsiteX136" fmla="*/ 2105802 w 2251852"/>
                <a:gd name="connsiteY136" fmla="*/ 876300 h 1911350"/>
                <a:gd name="connsiteX137" fmla="*/ 2131202 w 2251852"/>
                <a:gd name="connsiteY137" fmla="*/ 863600 h 1911350"/>
                <a:gd name="connsiteX138" fmla="*/ 2156602 w 2251852"/>
                <a:gd name="connsiteY138" fmla="*/ 844550 h 1911350"/>
                <a:gd name="connsiteX139" fmla="*/ 2175652 w 2251852"/>
                <a:gd name="connsiteY139" fmla="*/ 838200 h 1911350"/>
                <a:gd name="connsiteX140" fmla="*/ 2213752 w 2251852"/>
                <a:gd name="connsiteY140" fmla="*/ 812800 h 1911350"/>
                <a:gd name="connsiteX141" fmla="*/ 2232802 w 2251852"/>
                <a:gd name="connsiteY141" fmla="*/ 800100 h 1911350"/>
                <a:gd name="connsiteX142" fmla="*/ 2251852 w 2251852"/>
                <a:gd name="connsiteY142" fmla="*/ 793750 h 191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2251852" h="1911350">
                  <a:moveTo>
                    <a:pt x="626252" y="0"/>
                  </a:moveTo>
                  <a:cubicBezTo>
                    <a:pt x="615669" y="10583"/>
                    <a:pt x="605928" y="22082"/>
                    <a:pt x="594502" y="31750"/>
                  </a:cubicBezTo>
                  <a:cubicBezTo>
                    <a:pt x="578344" y="45422"/>
                    <a:pt x="560635" y="57150"/>
                    <a:pt x="543702" y="69850"/>
                  </a:cubicBezTo>
                  <a:cubicBezTo>
                    <a:pt x="535235" y="76200"/>
                    <a:pt x="525786" y="81416"/>
                    <a:pt x="518302" y="88900"/>
                  </a:cubicBezTo>
                  <a:cubicBezTo>
                    <a:pt x="511952" y="95250"/>
                    <a:pt x="506070" y="102106"/>
                    <a:pt x="499252" y="107950"/>
                  </a:cubicBezTo>
                  <a:cubicBezTo>
                    <a:pt x="491217" y="114838"/>
                    <a:pt x="481336" y="119516"/>
                    <a:pt x="473852" y="127000"/>
                  </a:cubicBezTo>
                  <a:cubicBezTo>
                    <a:pt x="468456" y="132396"/>
                    <a:pt x="466038" y="140187"/>
                    <a:pt x="461152" y="146050"/>
                  </a:cubicBezTo>
                  <a:cubicBezTo>
                    <a:pt x="455403" y="152949"/>
                    <a:pt x="448452" y="158750"/>
                    <a:pt x="442102" y="165100"/>
                  </a:cubicBezTo>
                  <a:cubicBezTo>
                    <a:pt x="426210" y="228668"/>
                    <a:pt x="450105" y="163447"/>
                    <a:pt x="416702" y="196850"/>
                  </a:cubicBezTo>
                  <a:cubicBezTo>
                    <a:pt x="405909" y="207643"/>
                    <a:pt x="402095" y="224157"/>
                    <a:pt x="391302" y="234950"/>
                  </a:cubicBezTo>
                  <a:cubicBezTo>
                    <a:pt x="384952" y="241300"/>
                    <a:pt x="377765" y="246911"/>
                    <a:pt x="372252" y="254000"/>
                  </a:cubicBezTo>
                  <a:cubicBezTo>
                    <a:pt x="319085" y="322358"/>
                    <a:pt x="371051" y="267901"/>
                    <a:pt x="327802" y="311150"/>
                  </a:cubicBezTo>
                  <a:cubicBezTo>
                    <a:pt x="314180" y="352015"/>
                    <a:pt x="332131" y="307630"/>
                    <a:pt x="302402" y="349250"/>
                  </a:cubicBezTo>
                  <a:cubicBezTo>
                    <a:pt x="296900" y="356953"/>
                    <a:pt x="294398" y="366431"/>
                    <a:pt x="289702" y="374650"/>
                  </a:cubicBezTo>
                  <a:cubicBezTo>
                    <a:pt x="277914" y="395278"/>
                    <a:pt x="275463" y="395239"/>
                    <a:pt x="257952" y="412750"/>
                  </a:cubicBezTo>
                  <a:cubicBezTo>
                    <a:pt x="241991" y="460633"/>
                    <a:pt x="263521" y="401611"/>
                    <a:pt x="238902" y="450850"/>
                  </a:cubicBezTo>
                  <a:cubicBezTo>
                    <a:pt x="235909" y="456837"/>
                    <a:pt x="236733" y="464673"/>
                    <a:pt x="232552" y="469900"/>
                  </a:cubicBezTo>
                  <a:cubicBezTo>
                    <a:pt x="227784" y="475859"/>
                    <a:pt x="219852" y="478367"/>
                    <a:pt x="213502" y="482600"/>
                  </a:cubicBezTo>
                  <a:cubicBezTo>
                    <a:pt x="199202" y="525500"/>
                    <a:pt x="219034" y="478999"/>
                    <a:pt x="188102" y="514350"/>
                  </a:cubicBezTo>
                  <a:cubicBezTo>
                    <a:pt x="178051" y="525837"/>
                    <a:pt x="173495" y="541657"/>
                    <a:pt x="162702" y="552450"/>
                  </a:cubicBezTo>
                  <a:cubicBezTo>
                    <a:pt x="138256" y="576896"/>
                    <a:pt x="151124" y="566519"/>
                    <a:pt x="124602" y="584200"/>
                  </a:cubicBezTo>
                  <a:cubicBezTo>
                    <a:pt x="116135" y="596900"/>
                    <a:pt x="104029" y="607820"/>
                    <a:pt x="99202" y="622300"/>
                  </a:cubicBezTo>
                  <a:cubicBezTo>
                    <a:pt x="94037" y="637794"/>
                    <a:pt x="92462" y="648090"/>
                    <a:pt x="80152" y="660400"/>
                  </a:cubicBezTo>
                  <a:cubicBezTo>
                    <a:pt x="74756" y="665796"/>
                    <a:pt x="67452" y="668867"/>
                    <a:pt x="61102" y="673100"/>
                  </a:cubicBezTo>
                  <a:cubicBezTo>
                    <a:pt x="58985" y="679450"/>
                    <a:pt x="57745" y="686163"/>
                    <a:pt x="54752" y="692150"/>
                  </a:cubicBezTo>
                  <a:cubicBezTo>
                    <a:pt x="51339" y="698976"/>
                    <a:pt x="44245" y="703890"/>
                    <a:pt x="42052" y="711200"/>
                  </a:cubicBezTo>
                  <a:cubicBezTo>
                    <a:pt x="37751" y="725536"/>
                    <a:pt x="38637" y="740974"/>
                    <a:pt x="35702" y="755650"/>
                  </a:cubicBezTo>
                  <a:cubicBezTo>
                    <a:pt x="34389" y="762214"/>
                    <a:pt x="31191" y="768264"/>
                    <a:pt x="29352" y="774700"/>
                  </a:cubicBezTo>
                  <a:cubicBezTo>
                    <a:pt x="26954" y="783091"/>
                    <a:pt x="25119" y="791633"/>
                    <a:pt x="23002" y="800100"/>
                  </a:cubicBezTo>
                  <a:cubicBezTo>
                    <a:pt x="29576" y="1247162"/>
                    <a:pt x="-50496" y="1112127"/>
                    <a:pt x="54752" y="1270000"/>
                  </a:cubicBezTo>
                  <a:lnTo>
                    <a:pt x="54752" y="1270000"/>
                  </a:lnTo>
                  <a:cubicBezTo>
                    <a:pt x="56869" y="1276350"/>
                    <a:pt x="57389" y="1283481"/>
                    <a:pt x="61102" y="1289050"/>
                  </a:cubicBezTo>
                  <a:cubicBezTo>
                    <a:pt x="70881" y="1303718"/>
                    <a:pt x="85145" y="1311429"/>
                    <a:pt x="99202" y="1320800"/>
                  </a:cubicBezTo>
                  <a:cubicBezTo>
                    <a:pt x="103435" y="1327150"/>
                    <a:pt x="106506" y="1334454"/>
                    <a:pt x="111902" y="1339850"/>
                  </a:cubicBezTo>
                  <a:cubicBezTo>
                    <a:pt x="133915" y="1361863"/>
                    <a:pt x="130105" y="1341120"/>
                    <a:pt x="143652" y="1371600"/>
                  </a:cubicBezTo>
                  <a:cubicBezTo>
                    <a:pt x="149089" y="1383833"/>
                    <a:pt x="148926" y="1398561"/>
                    <a:pt x="156352" y="1409700"/>
                  </a:cubicBezTo>
                  <a:cubicBezTo>
                    <a:pt x="160585" y="1416050"/>
                    <a:pt x="165639" y="1421924"/>
                    <a:pt x="169052" y="1428750"/>
                  </a:cubicBezTo>
                  <a:cubicBezTo>
                    <a:pt x="172045" y="1434737"/>
                    <a:pt x="171689" y="1442231"/>
                    <a:pt x="175402" y="1447800"/>
                  </a:cubicBezTo>
                  <a:cubicBezTo>
                    <a:pt x="180383" y="1455272"/>
                    <a:pt x="188608" y="1460032"/>
                    <a:pt x="194452" y="1466850"/>
                  </a:cubicBezTo>
                  <a:cubicBezTo>
                    <a:pt x="225957" y="1503606"/>
                    <a:pt x="199016" y="1482593"/>
                    <a:pt x="232552" y="1504950"/>
                  </a:cubicBezTo>
                  <a:cubicBezTo>
                    <a:pt x="234669" y="1511300"/>
                    <a:pt x="234721" y="1518773"/>
                    <a:pt x="238902" y="1524000"/>
                  </a:cubicBezTo>
                  <a:cubicBezTo>
                    <a:pt x="272769" y="1566333"/>
                    <a:pt x="245252" y="1504950"/>
                    <a:pt x="270652" y="1555750"/>
                  </a:cubicBezTo>
                  <a:cubicBezTo>
                    <a:pt x="273645" y="1561737"/>
                    <a:pt x="273289" y="1569231"/>
                    <a:pt x="277002" y="1574800"/>
                  </a:cubicBezTo>
                  <a:cubicBezTo>
                    <a:pt x="281983" y="1582272"/>
                    <a:pt x="290832" y="1586542"/>
                    <a:pt x="296052" y="1593850"/>
                  </a:cubicBezTo>
                  <a:cubicBezTo>
                    <a:pt x="301554" y="1601553"/>
                    <a:pt x="302692" y="1611978"/>
                    <a:pt x="308752" y="1619250"/>
                  </a:cubicBezTo>
                  <a:cubicBezTo>
                    <a:pt x="318221" y="1630613"/>
                    <a:pt x="333850" y="1633966"/>
                    <a:pt x="346852" y="1638300"/>
                  </a:cubicBezTo>
                  <a:cubicBezTo>
                    <a:pt x="382835" y="1692275"/>
                    <a:pt x="323569" y="1608667"/>
                    <a:pt x="397652" y="1682750"/>
                  </a:cubicBezTo>
                  <a:cubicBezTo>
                    <a:pt x="404002" y="1689100"/>
                    <a:pt x="408852" y="1697439"/>
                    <a:pt x="416702" y="1701800"/>
                  </a:cubicBezTo>
                  <a:cubicBezTo>
                    <a:pt x="428404" y="1708301"/>
                    <a:pt x="454802" y="1714500"/>
                    <a:pt x="454802" y="1714500"/>
                  </a:cubicBezTo>
                  <a:cubicBezTo>
                    <a:pt x="471735" y="1727200"/>
                    <a:pt x="487990" y="1740859"/>
                    <a:pt x="505602" y="1752600"/>
                  </a:cubicBezTo>
                  <a:cubicBezTo>
                    <a:pt x="511952" y="1756833"/>
                    <a:pt x="517826" y="1761887"/>
                    <a:pt x="524652" y="1765300"/>
                  </a:cubicBezTo>
                  <a:cubicBezTo>
                    <a:pt x="530639" y="1768293"/>
                    <a:pt x="537715" y="1768657"/>
                    <a:pt x="543702" y="1771650"/>
                  </a:cubicBezTo>
                  <a:cubicBezTo>
                    <a:pt x="550528" y="1775063"/>
                    <a:pt x="555778" y="1781250"/>
                    <a:pt x="562752" y="1784350"/>
                  </a:cubicBezTo>
                  <a:cubicBezTo>
                    <a:pt x="574985" y="1789787"/>
                    <a:pt x="600852" y="1797050"/>
                    <a:pt x="600852" y="1797050"/>
                  </a:cubicBezTo>
                  <a:cubicBezTo>
                    <a:pt x="626252" y="1794933"/>
                    <a:pt x="652059" y="1795699"/>
                    <a:pt x="677052" y="1790700"/>
                  </a:cubicBezTo>
                  <a:cubicBezTo>
                    <a:pt x="684536" y="1789203"/>
                    <a:pt x="691076" y="1783743"/>
                    <a:pt x="696102" y="1778000"/>
                  </a:cubicBezTo>
                  <a:cubicBezTo>
                    <a:pt x="780033" y="1682079"/>
                    <a:pt x="671853" y="1795323"/>
                    <a:pt x="734202" y="1701800"/>
                  </a:cubicBezTo>
                  <a:cubicBezTo>
                    <a:pt x="758608" y="1665191"/>
                    <a:pt x="737478" y="1700506"/>
                    <a:pt x="753252" y="1663700"/>
                  </a:cubicBezTo>
                  <a:cubicBezTo>
                    <a:pt x="764156" y="1638257"/>
                    <a:pt x="766345" y="1643077"/>
                    <a:pt x="772302" y="1619250"/>
                  </a:cubicBezTo>
                  <a:cubicBezTo>
                    <a:pt x="774920" y="1608779"/>
                    <a:pt x="776311" y="1598036"/>
                    <a:pt x="778652" y="1587500"/>
                  </a:cubicBezTo>
                  <a:cubicBezTo>
                    <a:pt x="780545" y="1578981"/>
                    <a:pt x="783109" y="1570619"/>
                    <a:pt x="785002" y="1562100"/>
                  </a:cubicBezTo>
                  <a:cubicBezTo>
                    <a:pt x="787343" y="1551564"/>
                    <a:pt x="788512" y="1540763"/>
                    <a:pt x="791352" y="1530350"/>
                  </a:cubicBezTo>
                  <a:cubicBezTo>
                    <a:pt x="794874" y="1517435"/>
                    <a:pt x="799819" y="1504950"/>
                    <a:pt x="804052" y="1492250"/>
                  </a:cubicBezTo>
                  <a:lnTo>
                    <a:pt x="810402" y="1473200"/>
                  </a:lnTo>
                  <a:cubicBezTo>
                    <a:pt x="815584" y="1457654"/>
                    <a:pt x="819644" y="1442482"/>
                    <a:pt x="829452" y="1428750"/>
                  </a:cubicBezTo>
                  <a:cubicBezTo>
                    <a:pt x="834672" y="1421442"/>
                    <a:pt x="842152" y="1416050"/>
                    <a:pt x="848502" y="1409700"/>
                  </a:cubicBezTo>
                  <a:cubicBezTo>
                    <a:pt x="850619" y="1401233"/>
                    <a:pt x="851788" y="1392472"/>
                    <a:pt x="854852" y="1384300"/>
                  </a:cubicBezTo>
                  <a:cubicBezTo>
                    <a:pt x="861473" y="1366643"/>
                    <a:pt x="870435" y="1350628"/>
                    <a:pt x="886602" y="1339850"/>
                  </a:cubicBezTo>
                  <a:cubicBezTo>
                    <a:pt x="892171" y="1336137"/>
                    <a:pt x="899302" y="1335617"/>
                    <a:pt x="905652" y="1333500"/>
                  </a:cubicBezTo>
                  <a:cubicBezTo>
                    <a:pt x="925778" y="1303311"/>
                    <a:pt x="911112" y="1316863"/>
                    <a:pt x="956452" y="1301750"/>
                  </a:cubicBezTo>
                  <a:lnTo>
                    <a:pt x="975502" y="1295400"/>
                  </a:lnTo>
                  <a:lnTo>
                    <a:pt x="994552" y="1289050"/>
                  </a:lnTo>
                  <a:cubicBezTo>
                    <a:pt x="1113898" y="1294475"/>
                    <a:pt x="1123394" y="1251354"/>
                    <a:pt x="1140602" y="1314450"/>
                  </a:cubicBezTo>
                  <a:cubicBezTo>
                    <a:pt x="1145195" y="1331289"/>
                    <a:pt x="1149069" y="1348317"/>
                    <a:pt x="1153302" y="1365250"/>
                  </a:cubicBezTo>
                  <a:cubicBezTo>
                    <a:pt x="1151185" y="1407583"/>
                    <a:pt x="1151810" y="1450143"/>
                    <a:pt x="1146952" y="1492250"/>
                  </a:cubicBezTo>
                  <a:cubicBezTo>
                    <a:pt x="1145418" y="1505549"/>
                    <a:pt x="1145391" y="1522924"/>
                    <a:pt x="1134252" y="1530350"/>
                  </a:cubicBezTo>
                  <a:cubicBezTo>
                    <a:pt x="1086954" y="1561882"/>
                    <a:pt x="1145045" y="1521356"/>
                    <a:pt x="1096152" y="1562100"/>
                  </a:cubicBezTo>
                  <a:cubicBezTo>
                    <a:pt x="1076026" y="1578871"/>
                    <a:pt x="1066691" y="1578270"/>
                    <a:pt x="1039002" y="1587500"/>
                  </a:cubicBezTo>
                  <a:cubicBezTo>
                    <a:pt x="1032652" y="1589617"/>
                    <a:pt x="1025939" y="1590857"/>
                    <a:pt x="1019952" y="1593850"/>
                  </a:cubicBezTo>
                  <a:cubicBezTo>
                    <a:pt x="1011485" y="1598083"/>
                    <a:pt x="1003253" y="1602821"/>
                    <a:pt x="994552" y="1606550"/>
                  </a:cubicBezTo>
                  <a:cubicBezTo>
                    <a:pt x="988400" y="1609187"/>
                    <a:pt x="981353" y="1609649"/>
                    <a:pt x="975502" y="1612900"/>
                  </a:cubicBezTo>
                  <a:cubicBezTo>
                    <a:pt x="962159" y="1620313"/>
                    <a:pt x="937402" y="1638300"/>
                    <a:pt x="937402" y="1638300"/>
                  </a:cubicBezTo>
                  <a:cubicBezTo>
                    <a:pt x="922494" y="1660663"/>
                    <a:pt x="909065" y="1677392"/>
                    <a:pt x="899302" y="1701800"/>
                  </a:cubicBezTo>
                  <a:cubicBezTo>
                    <a:pt x="867915" y="1780267"/>
                    <a:pt x="903686" y="1705732"/>
                    <a:pt x="873902" y="1765300"/>
                  </a:cubicBezTo>
                  <a:cubicBezTo>
                    <a:pt x="876019" y="1784350"/>
                    <a:pt x="877101" y="1803544"/>
                    <a:pt x="880252" y="1822450"/>
                  </a:cubicBezTo>
                  <a:cubicBezTo>
                    <a:pt x="881352" y="1829052"/>
                    <a:pt x="883351" y="1835649"/>
                    <a:pt x="886602" y="1841500"/>
                  </a:cubicBezTo>
                  <a:cubicBezTo>
                    <a:pt x="894015" y="1854843"/>
                    <a:pt x="899302" y="1871133"/>
                    <a:pt x="912002" y="1879600"/>
                  </a:cubicBezTo>
                  <a:cubicBezTo>
                    <a:pt x="918352" y="1883833"/>
                    <a:pt x="924226" y="1888887"/>
                    <a:pt x="931052" y="1892300"/>
                  </a:cubicBezTo>
                  <a:cubicBezTo>
                    <a:pt x="937039" y="1895293"/>
                    <a:pt x="943950" y="1896013"/>
                    <a:pt x="950102" y="1898650"/>
                  </a:cubicBezTo>
                  <a:cubicBezTo>
                    <a:pt x="958803" y="1902379"/>
                    <a:pt x="967035" y="1907117"/>
                    <a:pt x="975502" y="1911350"/>
                  </a:cubicBezTo>
                  <a:lnTo>
                    <a:pt x="1248552" y="1905000"/>
                  </a:lnTo>
                  <a:cubicBezTo>
                    <a:pt x="1267705" y="1904263"/>
                    <a:pt x="1286758" y="1901565"/>
                    <a:pt x="1305702" y="1898650"/>
                  </a:cubicBezTo>
                  <a:cubicBezTo>
                    <a:pt x="1327207" y="1895341"/>
                    <a:pt x="1330790" y="1891482"/>
                    <a:pt x="1350152" y="1885950"/>
                  </a:cubicBezTo>
                  <a:cubicBezTo>
                    <a:pt x="1358543" y="1883552"/>
                    <a:pt x="1366966" y="1881161"/>
                    <a:pt x="1375552" y="1879600"/>
                  </a:cubicBezTo>
                  <a:cubicBezTo>
                    <a:pt x="1390278" y="1876923"/>
                    <a:pt x="1405185" y="1875367"/>
                    <a:pt x="1420002" y="1873250"/>
                  </a:cubicBezTo>
                  <a:cubicBezTo>
                    <a:pt x="1463548" y="1858735"/>
                    <a:pt x="1409500" y="1875875"/>
                    <a:pt x="1470802" y="1860550"/>
                  </a:cubicBezTo>
                  <a:cubicBezTo>
                    <a:pt x="1477296" y="1858927"/>
                    <a:pt x="1483318" y="1855652"/>
                    <a:pt x="1489852" y="1854200"/>
                  </a:cubicBezTo>
                  <a:cubicBezTo>
                    <a:pt x="1502421" y="1851407"/>
                    <a:pt x="1515252" y="1849967"/>
                    <a:pt x="1527952" y="1847850"/>
                  </a:cubicBezTo>
                  <a:cubicBezTo>
                    <a:pt x="1576493" y="1823579"/>
                    <a:pt x="1528202" y="1844612"/>
                    <a:pt x="1591452" y="1828800"/>
                  </a:cubicBezTo>
                  <a:cubicBezTo>
                    <a:pt x="1604439" y="1825553"/>
                    <a:pt x="1629552" y="1816100"/>
                    <a:pt x="1629552" y="1816100"/>
                  </a:cubicBezTo>
                  <a:cubicBezTo>
                    <a:pt x="1633785" y="1809750"/>
                    <a:pt x="1636293" y="1801818"/>
                    <a:pt x="1642252" y="1797050"/>
                  </a:cubicBezTo>
                  <a:cubicBezTo>
                    <a:pt x="1647479" y="1792869"/>
                    <a:pt x="1655315" y="1793693"/>
                    <a:pt x="1661302" y="1790700"/>
                  </a:cubicBezTo>
                  <a:cubicBezTo>
                    <a:pt x="1668128" y="1787287"/>
                    <a:pt x="1674002" y="1782233"/>
                    <a:pt x="1680352" y="1778000"/>
                  </a:cubicBezTo>
                  <a:cubicBezTo>
                    <a:pt x="1692714" y="1740914"/>
                    <a:pt x="1677029" y="1774973"/>
                    <a:pt x="1705752" y="1746250"/>
                  </a:cubicBezTo>
                  <a:cubicBezTo>
                    <a:pt x="1759282" y="1692720"/>
                    <a:pt x="1683485" y="1759796"/>
                    <a:pt x="1724802" y="1708150"/>
                  </a:cubicBezTo>
                  <a:cubicBezTo>
                    <a:pt x="1729570" y="1702191"/>
                    <a:pt x="1737989" y="1700336"/>
                    <a:pt x="1743852" y="1695450"/>
                  </a:cubicBezTo>
                  <a:cubicBezTo>
                    <a:pt x="1750751" y="1689701"/>
                    <a:pt x="1756552" y="1682750"/>
                    <a:pt x="1762902" y="1676400"/>
                  </a:cubicBezTo>
                  <a:cubicBezTo>
                    <a:pt x="1778863" y="1628517"/>
                    <a:pt x="1757333" y="1687539"/>
                    <a:pt x="1781952" y="1638300"/>
                  </a:cubicBezTo>
                  <a:cubicBezTo>
                    <a:pt x="1784945" y="1632313"/>
                    <a:pt x="1786463" y="1625686"/>
                    <a:pt x="1788302" y="1619250"/>
                  </a:cubicBezTo>
                  <a:cubicBezTo>
                    <a:pt x="1790700" y="1610859"/>
                    <a:pt x="1790749" y="1601656"/>
                    <a:pt x="1794652" y="1593850"/>
                  </a:cubicBezTo>
                  <a:cubicBezTo>
                    <a:pt x="1838321" y="1506511"/>
                    <a:pt x="1808842" y="1589380"/>
                    <a:pt x="1826402" y="1536700"/>
                  </a:cubicBezTo>
                  <a:cubicBezTo>
                    <a:pt x="1824285" y="1496483"/>
                    <a:pt x="1827587" y="1455611"/>
                    <a:pt x="1820052" y="1416050"/>
                  </a:cubicBezTo>
                  <a:cubicBezTo>
                    <a:pt x="1818624" y="1408553"/>
                    <a:pt x="1807976" y="1406450"/>
                    <a:pt x="1801002" y="1403350"/>
                  </a:cubicBezTo>
                  <a:cubicBezTo>
                    <a:pt x="1788769" y="1397913"/>
                    <a:pt x="1775602" y="1394883"/>
                    <a:pt x="1762902" y="1390650"/>
                  </a:cubicBezTo>
                  <a:lnTo>
                    <a:pt x="1743852" y="1384300"/>
                  </a:lnTo>
                  <a:cubicBezTo>
                    <a:pt x="1658089" y="1390018"/>
                    <a:pt x="1617516" y="1396513"/>
                    <a:pt x="1527952" y="1384300"/>
                  </a:cubicBezTo>
                  <a:cubicBezTo>
                    <a:pt x="1520390" y="1383269"/>
                    <a:pt x="1515252" y="1375833"/>
                    <a:pt x="1508902" y="1371600"/>
                  </a:cubicBezTo>
                  <a:cubicBezTo>
                    <a:pt x="1475200" y="1321047"/>
                    <a:pt x="1485661" y="1348610"/>
                    <a:pt x="1477152" y="1289050"/>
                  </a:cubicBezTo>
                  <a:cubicBezTo>
                    <a:pt x="1479269" y="1246717"/>
                    <a:pt x="1471634" y="1202741"/>
                    <a:pt x="1483502" y="1162050"/>
                  </a:cubicBezTo>
                  <a:cubicBezTo>
                    <a:pt x="1490339" y="1138610"/>
                    <a:pt x="1523274" y="1138989"/>
                    <a:pt x="1540652" y="1130300"/>
                  </a:cubicBezTo>
                  <a:cubicBezTo>
                    <a:pt x="1547478" y="1126887"/>
                    <a:pt x="1552876" y="1121013"/>
                    <a:pt x="1559702" y="1117600"/>
                  </a:cubicBezTo>
                  <a:cubicBezTo>
                    <a:pt x="1565689" y="1114607"/>
                    <a:pt x="1572765" y="1114243"/>
                    <a:pt x="1578752" y="1111250"/>
                  </a:cubicBezTo>
                  <a:cubicBezTo>
                    <a:pt x="1585578" y="1107837"/>
                    <a:pt x="1590334" y="1100122"/>
                    <a:pt x="1597802" y="1098550"/>
                  </a:cubicBezTo>
                  <a:cubicBezTo>
                    <a:pt x="1631200" y="1091519"/>
                    <a:pt x="1665515" y="1089916"/>
                    <a:pt x="1699402" y="1085850"/>
                  </a:cubicBezTo>
                  <a:lnTo>
                    <a:pt x="1756552" y="1079500"/>
                  </a:lnTo>
                  <a:lnTo>
                    <a:pt x="1794652" y="1066800"/>
                  </a:lnTo>
                  <a:cubicBezTo>
                    <a:pt x="1801002" y="1064683"/>
                    <a:pt x="1808133" y="1064163"/>
                    <a:pt x="1813702" y="1060450"/>
                  </a:cubicBezTo>
                  <a:cubicBezTo>
                    <a:pt x="1820052" y="1056217"/>
                    <a:pt x="1825926" y="1051163"/>
                    <a:pt x="1832752" y="1047750"/>
                  </a:cubicBezTo>
                  <a:cubicBezTo>
                    <a:pt x="1838739" y="1044757"/>
                    <a:pt x="1845815" y="1044393"/>
                    <a:pt x="1851802" y="1041400"/>
                  </a:cubicBezTo>
                  <a:cubicBezTo>
                    <a:pt x="1893353" y="1020625"/>
                    <a:pt x="1847771" y="1037737"/>
                    <a:pt x="1889902" y="1009650"/>
                  </a:cubicBezTo>
                  <a:cubicBezTo>
                    <a:pt x="1895471" y="1005937"/>
                    <a:pt x="1902602" y="1005417"/>
                    <a:pt x="1908952" y="1003300"/>
                  </a:cubicBezTo>
                  <a:cubicBezTo>
                    <a:pt x="1915302" y="996950"/>
                    <a:pt x="1920530" y="989231"/>
                    <a:pt x="1928002" y="984250"/>
                  </a:cubicBezTo>
                  <a:cubicBezTo>
                    <a:pt x="1933571" y="980537"/>
                    <a:pt x="1941768" y="982009"/>
                    <a:pt x="1947052" y="977900"/>
                  </a:cubicBezTo>
                  <a:cubicBezTo>
                    <a:pt x="2011302" y="927928"/>
                    <a:pt x="1960132" y="948140"/>
                    <a:pt x="2004202" y="933450"/>
                  </a:cubicBezTo>
                  <a:cubicBezTo>
                    <a:pt x="2015645" y="922007"/>
                    <a:pt x="2026831" y="908331"/>
                    <a:pt x="2042302" y="901700"/>
                  </a:cubicBezTo>
                  <a:cubicBezTo>
                    <a:pt x="2070786" y="889493"/>
                    <a:pt x="2062038" y="901357"/>
                    <a:pt x="2086752" y="889000"/>
                  </a:cubicBezTo>
                  <a:cubicBezTo>
                    <a:pt x="2093578" y="885587"/>
                    <a:pt x="2099176" y="880086"/>
                    <a:pt x="2105802" y="876300"/>
                  </a:cubicBezTo>
                  <a:cubicBezTo>
                    <a:pt x="2114021" y="871604"/>
                    <a:pt x="2123175" y="868617"/>
                    <a:pt x="2131202" y="863600"/>
                  </a:cubicBezTo>
                  <a:cubicBezTo>
                    <a:pt x="2140177" y="857991"/>
                    <a:pt x="2147413" y="849801"/>
                    <a:pt x="2156602" y="844550"/>
                  </a:cubicBezTo>
                  <a:cubicBezTo>
                    <a:pt x="2162414" y="841229"/>
                    <a:pt x="2169801" y="841451"/>
                    <a:pt x="2175652" y="838200"/>
                  </a:cubicBezTo>
                  <a:cubicBezTo>
                    <a:pt x="2188995" y="830787"/>
                    <a:pt x="2201052" y="821267"/>
                    <a:pt x="2213752" y="812800"/>
                  </a:cubicBezTo>
                  <a:cubicBezTo>
                    <a:pt x="2220102" y="808567"/>
                    <a:pt x="2225562" y="802513"/>
                    <a:pt x="2232802" y="800100"/>
                  </a:cubicBezTo>
                  <a:lnTo>
                    <a:pt x="2251852" y="79375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90" name="CaixaDeTexto 289">
            <a:extLst>
              <a:ext uri="{FF2B5EF4-FFF2-40B4-BE49-F238E27FC236}">
                <a16:creationId xmlns="" xmlns:a16="http://schemas.microsoft.com/office/drawing/2014/main" id="{1CF5EF7B-31C2-BF66-57C5-B83BDD880795}"/>
              </a:ext>
            </a:extLst>
          </p:cNvPr>
          <p:cNvSpPr txBox="1"/>
          <p:nvPr/>
        </p:nvSpPr>
        <p:spPr>
          <a:xfrm>
            <a:off x="2298188" y="4743111"/>
            <a:ext cx="891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Subajuste</a:t>
            </a:r>
          </a:p>
        </p:txBody>
      </p:sp>
      <p:sp>
        <p:nvSpPr>
          <p:cNvPr id="291" name="CaixaDeTexto 290">
            <a:extLst>
              <a:ext uri="{FF2B5EF4-FFF2-40B4-BE49-F238E27FC236}">
                <a16:creationId xmlns="" xmlns:a16="http://schemas.microsoft.com/office/drawing/2014/main" id="{6B520180-B7A3-73C8-75FE-9FD42CDF419E}"/>
              </a:ext>
            </a:extLst>
          </p:cNvPr>
          <p:cNvSpPr txBox="1"/>
          <p:nvPr/>
        </p:nvSpPr>
        <p:spPr>
          <a:xfrm>
            <a:off x="6225723" y="4747151"/>
            <a:ext cx="10436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Sobreajuste</a:t>
            </a:r>
          </a:p>
        </p:txBody>
      </p:sp>
      <p:grpSp>
        <p:nvGrpSpPr>
          <p:cNvPr id="292" name="Agrupar 291">
            <a:extLst>
              <a:ext uri="{FF2B5EF4-FFF2-40B4-BE49-F238E27FC236}">
                <a16:creationId xmlns="" xmlns:a16="http://schemas.microsoft.com/office/drawing/2014/main" id="{B0CAB38C-895F-C677-2B43-E8AA71744A23}"/>
              </a:ext>
            </a:extLst>
          </p:cNvPr>
          <p:cNvGrpSpPr/>
          <p:nvPr/>
        </p:nvGrpSpPr>
        <p:grpSpPr>
          <a:xfrm>
            <a:off x="9002294" y="4437355"/>
            <a:ext cx="3251588" cy="2291732"/>
            <a:chOff x="9487183" y="4446320"/>
            <a:chExt cx="3251588" cy="2291732"/>
          </a:xfrm>
        </p:grpSpPr>
        <p:grpSp>
          <p:nvGrpSpPr>
            <p:cNvPr id="293" name="Group 3">
              <a:extLst>
                <a:ext uri="{FF2B5EF4-FFF2-40B4-BE49-F238E27FC236}">
                  <a16:creationId xmlns="" xmlns:a16="http://schemas.microsoft.com/office/drawing/2014/main" id="{3E73FC0E-6496-B42D-E845-04860D135BB2}"/>
                </a:ext>
              </a:extLst>
            </p:cNvPr>
            <p:cNvGrpSpPr/>
            <p:nvPr/>
          </p:nvGrpSpPr>
          <p:grpSpPr>
            <a:xfrm>
              <a:off x="9487183" y="4678324"/>
              <a:ext cx="2614572" cy="2059728"/>
              <a:chOff x="12672659" y="1187117"/>
              <a:chExt cx="2796787" cy="2109915"/>
            </a:xfrm>
          </p:grpSpPr>
          <p:cxnSp>
            <p:nvCxnSpPr>
              <p:cNvPr id="295" name="Straight Connector 4">
                <a:extLst>
                  <a:ext uri="{FF2B5EF4-FFF2-40B4-BE49-F238E27FC236}">
                    <a16:creationId xmlns="" xmlns:a16="http://schemas.microsoft.com/office/drawing/2014/main" id="{519CA167-3E38-A858-4B91-3A94AA9E243F}"/>
                  </a:ext>
                </a:extLst>
              </p:cNvPr>
              <p:cNvCxnSpPr/>
              <p:nvPr/>
            </p:nvCxnSpPr>
            <p:spPr>
              <a:xfrm>
                <a:off x="12835767" y="1351116"/>
                <a:ext cx="0" cy="194591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5">
                <a:extLst>
                  <a:ext uri="{FF2B5EF4-FFF2-40B4-BE49-F238E27FC236}">
                    <a16:creationId xmlns="" xmlns:a16="http://schemas.microsoft.com/office/drawing/2014/main" id="{F6141AF6-15EC-AECB-C9F3-E7F387C00624}"/>
                  </a:ext>
                </a:extLst>
              </p:cNvPr>
              <p:cNvCxnSpPr/>
              <p:nvPr/>
            </p:nvCxnSpPr>
            <p:spPr>
              <a:xfrm rot="16200000">
                <a:off x="13909339" y="1922497"/>
                <a:ext cx="0" cy="247336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7" name="TextBox 6">
                    <a:extLst>
                      <a:ext uri="{FF2B5EF4-FFF2-40B4-BE49-F238E27FC236}">
                        <a16:creationId xmlns="" xmlns:a16="http://schemas.microsoft.com/office/drawing/2014/main" id="{2817C157-DC6C-FFC2-57CD-7AA392FD016E}"/>
                      </a:ext>
                    </a:extLst>
                  </p:cNvPr>
                  <p:cNvSpPr txBox="1"/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 b="-3953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8" name="TextBox 7">
                    <a:extLst>
                      <a:ext uri="{FF2B5EF4-FFF2-40B4-BE49-F238E27FC236}">
                        <a16:creationId xmlns="" xmlns:a16="http://schemas.microsoft.com/office/drawing/2014/main" id="{8736387D-86DB-F26C-79D3-15D59A65AF05}"/>
                      </a:ext>
                    </a:extLst>
                  </p:cNvPr>
                  <p:cNvSpPr txBox="1"/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4285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9" name="Oval 8">
                <a:extLst>
                  <a:ext uri="{FF2B5EF4-FFF2-40B4-BE49-F238E27FC236}">
                    <a16:creationId xmlns="" xmlns:a16="http://schemas.microsoft.com/office/drawing/2014/main" id="{659179F3-E338-6F96-9124-798041B2AACF}"/>
                  </a:ext>
                </a:extLst>
              </p:cNvPr>
              <p:cNvSpPr/>
              <p:nvPr/>
            </p:nvSpPr>
            <p:spPr>
              <a:xfrm>
                <a:off x="13553334" y="191564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0" name="Oval 9">
                <a:extLst>
                  <a:ext uri="{FF2B5EF4-FFF2-40B4-BE49-F238E27FC236}">
                    <a16:creationId xmlns="" xmlns:a16="http://schemas.microsoft.com/office/drawing/2014/main" id="{BA6B460D-6E19-AA3E-EC2A-8D0A74A58462}"/>
                  </a:ext>
                </a:extLst>
              </p:cNvPr>
              <p:cNvSpPr/>
              <p:nvPr/>
            </p:nvSpPr>
            <p:spPr>
              <a:xfrm>
                <a:off x="13561681" y="212621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1" name="Oval 10">
                <a:extLst>
                  <a:ext uri="{FF2B5EF4-FFF2-40B4-BE49-F238E27FC236}">
                    <a16:creationId xmlns="" xmlns:a16="http://schemas.microsoft.com/office/drawing/2014/main" id="{C19CE4C5-5A5F-08AC-C793-D1ADCFB60566}"/>
                  </a:ext>
                </a:extLst>
              </p:cNvPr>
              <p:cNvSpPr/>
              <p:nvPr/>
            </p:nvSpPr>
            <p:spPr>
              <a:xfrm>
                <a:off x="13295320" y="20544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2" name="Oval 11">
                <a:extLst>
                  <a:ext uri="{FF2B5EF4-FFF2-40B4-BE49-F238E27FC236}">
                    <a16:creationId xmlns="" xmlns:a16="http://schemas.microsoft.com/office/drawing/2014/main" id="{43940FBF-5687-6EC8-893A-641CE999070D}"/>
                  </a:ext>
                </a:extLst>
              </p:cNvPr>
              <p:cNvSpPr/>
              <p:nvPr/>
            </p:nvSpPr>
            <p:spPr>
              <a:xfrm>
                <a:off x="13414187" y="22911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3" name="Oval 12">
                <a:extLst>
                  <a:ext uri="{FF2B5EF4-FFF2-40B4-BE49-F238E27FC236}">
                    <a16:creationId xmlns="" xmlns:a16="http://schemas.microsoft.com/office/drawing/2014/main" id="{47916986-259A-0B5B-6E1D-5D66453CC16D}"/>
                  </a:ext>
                </a:extLst>
              </p:cNvPr>
              <p:cNvSpPr/>
              <p:nvPr/>
            </p:nvSpPr>
            <p:spPr>
              <a:xfrm>
                <a:off x="13816131" y="2031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4" name="Oval 13">
                <a:extLst>
                  <a:ext uri="{FF2B5EF4-FFF2-40B4-BE49-F238E27FC236}">
                    <a16:creationId xmlns="" xmlns:a16="http://schemas.microsoft.com/office/drawing/2014/main" id="{4BFB4C73-1C85-CB72-8E6D-D0A9B5FA6D88}"/>
                  </a:ext>
                </a:extLst>
              </p:cNvPr>
              <p:cNvSpPr/>
              <p:nvPr/>
            </p:nvSpPr>
            <p:spPr>
              <a:xfrm>
                <a:off x="13839512" y="183166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5" name="Oval 14">
                <a:extLst>
                  <a:ext uri="{FF2B5EF4-FFF2-40B4-BE49-F238E27FC236}">
                    <a16:creationId xmlns="" xmlns:a16="http://schemas.microsoft.com/office/drawing/2014/main" id="{B9C433F1-3008-ED26-54BD-F540667C54E5}"/>
                  </a:ext>
                </a:extLst>
              </p:cNvPr>
              <p:cNvSpPr/>
              <p:nvPr/>
            </p:nvSpPr>
            <p:spPr>
              <a:xfrm>
                <a:off x="14066354" y="195588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6" name="Oval 15">
                <a:extLst>
                  <a:ext uri="{FF2B5EF4-FFF2-40B4-BE49-F238E27FC236}">
                    <a16:creationId xmlns="" xmlns:a16="http://schemas.microsoft.com/office/drawing/2014/main" id="{CD098820-96A8-B3A7-09BD-F2E548DDBD23}"/>
                  </a:ext>
                </a:extLst>
              </p:cNvPr>
              <p:cNvSpPr/>
              <p:nvPr/>
            </p:nvSpPr>
            <p:spPr>
              <a:xfrm>
                <a:off x="13829460" y="22319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7" name="Oval 16">
                <a:extLst>
                  <a:ext uri="{FF2B5EF4-FFF2-40B4-BE49-F238E27FC236}">
                    <a16:creationId xmlns="" xmlns:a16="http://schemas.microsoft.com/office/drawing/2014/main" id="{1F1F6454-0E36-BD14-4597-D7B24ABF362F}"/>
                  </a:ext>
                </a:extLst>
              </p:cNvPr>
              <p:cNvSpPr/>
              <p:nvPr/>
            </p:nvSpPr>
            <p:spPr>
              <a:xfrm>
                <a:off x="13345007" y="184010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8" name="Oval 17">
                <a:extLst>
                  <a:ext uri="{FF2B5EF4-FFF2-40B4-BE49-F238E27FC236}">
                    <a16:creationId xmlns="" xmlns:a16="http://schemas.microsoft.com/office/drawing/2014/main" id="{646E0387-1164-393B-583D-9123CE0E96D1}"/>
                  </a:ext>
                </a:extLst>
              </p:cNvPr>
              <p:cNvSpPr/>
              <p:nvPr/>
            </p:nvSpPr>
            <p:spPr>
              <a:xfrm>
                <a:off x="13909339" y="1637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09" name="Oval 18">
                <a:extLst>
                  <a:ext uri="{FF2B5EF4-FFF2-40B4-BE49-F238E27FC236}">
                    <a16:creationId xmlns="" xmlns:a16="http://schemas.microsoft.com/office/drawing/2014/main" id="{F90C6CFE-95D6-CDF9-D3ED-3445AFC6432F}"/>
                  </a:ext>
                </a:extLst>
              </p:cNvPr>
              <p:cNvSpPr/>
              <p:nvPr/>
            </p:nvSpPr>
            <p:spPr>
              <a:xfrm>
                <a:off x="13669702" y="243145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0" name="Oval 19">
                <a:extLst>
                  <a:ext uri="{FF2B5EF4-FFF2-40B4-BE49-F238E27FC236}">
                    <a16:creationId xmlns="" xmlns:a16="http://schemas.microsoft.com/office/drawing/2014/main" id="{16283901-9E0F-BB2C-BC88-A23C224B569E}"/>
                  </a:ext>
                </a:extLst>
              </p:cNvPr>
              <p:cNvSpPr/>
              <p:nvPr/>
            </p:nvSpPr>
            <p:spPr>
              <a:xfrm>
                <a:off x="14059696" y="214175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1" name="Oval 20">
                <a:extLst>
                  <a:ext uri="{FF2B5EF4-FFF2-40B4-BE49-F238E27FC236}">
                    <a16:creationId xmlns="" xmlns:a16="http://schemas.microsoft.com/office/drawing/2014/main" id="{DFFACD6D-4A30-4263-5A8C-400AE0895645}"/>
                  </a:ext>
                </a:extLst>
              </p:cNvPr>
              <p:cNvSpPr/>
              <p:nvPr/>
            </p:nvSpPr>
            <p:spPr>
              <a:xfrm>
                <a:off x="14308370" y="21905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2" name="Oval 21">
                <a:extLst>
                  <a:ext uri="{FF2B5EF4-FFF2-40B4-BE49-F238E27FC236}">
                    <a16:creationId xmlns="" xmlns:a16="http://schemas.microsoft.com/office/drawing/2014/main" id="{4C2B18D6-D331-4473-0F92-99B23039E3B7}"/>
                  </a:ext>
                </a:extLst>
              </p:cNvPr>
              <p:cNvSpPr/>
              <p:nvPr/>
            </p:nvSpPr>
            <p:spPr>
              <a:xfrm>
                <a:off x="14507886" y="180359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3" name="Oval 22">
                <a:extLst>
                  <a:ext uri="{FF2B5EF4-FFF2-40B4-BE49-F238E27FC236}">
                    <a16:creationId xmlns="" xmlns:a16="http://schemas.microsoft.com/office/drawing/2014/main" id="{E239F1FA-C518-F052-24C3-CCFEEF37EE2C}"/>
                  </a:ext>
                </a:extLst>
              </p:cNvPr>
              <p:cNvSpPr/>
              <p:nvPr/>
            </p:nvSpPr>
            <p:spPr>
              <a:xfrm>
                <a:off x="13674403" y="16889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4" name="Oval 23">
                <a:extLst>
                  <a:ext uri="{FF2B5EF4-FFF2-40B4-BE49-F238E27FC236}">
                    <a16:creationId xmlns="" xmlns:a16="http://schemas.microsoft.com/office/drawing/2014/main" id="{B5A0693E-598B-3275-8F45-388A01310932}"/>
                  </a:ext>
                </a:extLst>
              </p:cNvPr>
              <p:cNvSpPr/>
              <p:nvPr/>
            </p:nvSpPr>
            <p:spPr>
              <a:xfrm>
                <a:off x="14616909" y="237306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5" name="Oval 24">
                <a:extLst>
                  <a:ext uri="{FF2B5EF4-FFF2-40B4-BE49-F238E27FC236}">
                    <a16:creationId xmlns="" xmlns:a16="http://schemas.microsoft.com/office/drawing/2014/main" id="{DA7637ED-2EEA-BD5A-EA77-C54CA353C640}"/>
                  </a:ext>
                </a:extLst>
              </p:cNvPr>
              <p:cNvSpPr/>
              <p:nvPr/>
            </p:nvSpPr>
            <p:spPr>
              <a:xfrm>
                <a:off x="14276702" y="239274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6" name="Oval 25">
                <a:extLst>
                  <a:ext uri="{FF2B5EF4-FFF2-40B4-BE49-F238E27FC236}">
                    <a16:creationId xmlns="" xmlns:a16="http://schemas.microsoft.com/office/drawing/2014/main" id="{B68E526B-3355-B2B7-5509-E51745507723}"/>
                  </a:ext>
                </a:extLst>
              </p:cNvPr>
              <p:cNvSpPr/>
              <p:nvPr/>
            </p:nvSpPr>
            <p:spPr>
              <a:xfrm>
                <a:off x="14101561" y="1737997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7" name="Oval 26">
                <a:extLst>
                  <a:ext uri="{FF2B5EF4-FFF2-40B4-BE49-F238E27FC236}">
                    <a16:creationId xmlns="" xmlns:a16="http://schemas.microsoft.com/office/drawing/2014/main" id="{CD12660D-ADA9-6B6A-7405-5B8433165DD6}"/>
                  </a:ext>
                </a:extLst>
              </p:cNvPr>
              <p:cNvSpPr/>
              <p:nvPr/>
            </p:nvSpPr>
            <p:spPr>
              <a:xfrm>
                <a:off x="14078959" y="252768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8" name="Oval 27">
                <a:extLst>
                  <a:ext uri="{FF2B5EF4-FFF2-40B4-BE49-F238E27FC236}">
                    <a16:creationId xmlns="" xmlns:a16="http://schemas.microsoft.com/office/drawing/2014/main" id="{0B1A1FEA-0027-9E88-9FF2-7BE242F2BF65}"/>
                  </a:ext>
                </a:extLst>
              </p:cNvPr>
              <p:cNvSpPr/>
              <p:nvPr/>
            </p:nvSpPr>
            <p:spPr>
              <a:xfrm>
                <a:off x="14308370" y="19206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9" name="Multiply 28">
                <a:extLst>
                  <a:ext uri="{FF2B5EF4-FFF2-40B4-BE49-F238E27FC236}">
                    <a16:creationId xmlns="" xmlns:a16="http://schemas.microsoft.com/office/drawing/2014/main" id="{C20CAE11-8B1F-4521-A439-4E895A333523}"/>
                  </a:ext>
                </a:extLst>
              </p:cNvPr>
              <p:cNvSpPr/>
              <p:nvPr/>
            </p:nvSpPr>
            <p:spPr>
              <a:xfrm>
                <a:off x="13999936" y="23047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0" name="Multiply 29">
                <a:extLst>
                  <a:ext uri="{FF2B5EF4-FFF2-40B4-BE49-F238E27FC236}">
                    <a16:creationId xmlns="" xmlns:a16="http://schemas.microsoft.com/office/drawing/2014/main" id="{8A95B274-5A57-2055-C0D9-457760224CA0}"/>
                  </a:ext>
                </a:extLst>
              </p:cNvPr>
              <p:cNvSpPr/>
              <p:nvPr/>
            </p:nvSpPr>
            <p:spPr>
              <a:xfrm>
                <a:off x="13211391" y="143837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1" name="Multiply 30">
                <a:extLst>
                  <a:ext uri="{FF2B5EF4-FFF2-40B4-BE49-F238E27FC236}">
                    <a16:creationId xmlns="" xmlns:a16="http://schemas.microsoft.com/office/drawing/2014/main" id="{7E982CAE-81A9-32FF-1E8E-C206169CC96D}"/>
                  </a:ext>
                </a:extLst>
              </p:cNvPr>
              <p:cNvSpPr/>
              <p:nvPr/>
            </p:nvSpPr>
            <p:spPr>
              <a:xfrm>
                <a:off x="13083425" y="1686810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2" name="Multiply 31">
                <a:extLst>
                  <a:ext uri="{FF2B5EF4-FFF2-40B4-BE49-F238E27FC236}">
                    <a16:creationId xmlns="" xmlns:a16="http://schemas.microsoft.com/office/drawing/2014/main" id="{FF5CDDFA-0285-1EAD-EB3D-C992D2DAC298}"/>
                  </a:ext>
                </a:extLst>
              </p:cNvPr>
              <p:cNvSpPr/>
              <p:nvPr/>
            </p:nvSpPr>
            <p:spPr>
              <a:xfrm>
                <a:off x="12887780" y="15429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3" name="Multiply 32">
                <a:extLst>
                  <a:ext uri="{FF2B5EF4-FFF2-40B4-BE49-F238E27FC236}">
                    <a16:creationId xmlns="" xmlns:a16="http://schemas.microsoft.com/office/drawing/2014/main" id="{9B7F76AC-6D3A-830C-9083-0199F6734871}"/>
                  </a:ext>
                </a:extLst>
              </p:cNvPr>
              <p:cNvSpPr/>
              <p:nvPr/>
            </p:nvSpPr>
            <p:spPr>
              <a:xfrm>
                <a:off x="12864580" y="1870611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4" name="Multiply 33">
                <a:extLst>
                  <a:ext uri="{FF2B5EF4-FFF2-40B4-BE49-F238E27FC236}">
                    <a16:creationId xmlns="" xmlns:a16="http://schemas.microsoft.com/office/drawing/2014/main" id="{D3155068-4D6B-00AA-D5BD-6B29C2581320}"/>
                  </a:ext>
                </a:extLst>
              </p:cNvPr>
              <p:cNvSpPr/>
              <p:nvPr/>
            </p:nvSpPr>
            <p:spPr>
              <a:xfrm>
                <a:off x="14518766" y="21565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5" name="Multiply 34">
                <a:extLst>
                  <a:ext uri="{FF2B5EF4-FFF2-40B4-BE49-F238E27FC236}">
                    <a16:creationId xmlns="" xmlns:a16="http://schemas.microsoft.com/office/drawing/2014/main" id="{BE02C931-C817-1D10-C938-506A5328CF98}"/>
                  </a:ext>
                </a:extLst>
              </p:cNvPr>
              <p:cNvSpPr/>
              <p:nvPr/>
            </p:nvSpPr>
            <p:spPr>
              <a:xfrm>
                <a:off x="12953812" y="20885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6" name="Oval 35">
                <a:extLst>
                  <a:ext uri="{FF2B5EF4-FFF2-40B4-BE49-F238E27FC236}">
                    <a16:creationId xmlns="" xmlns:a16="http://schemas.microsoft.com/office/drawing/2014/main" id="{037DCD77-CB85-6615-818E-53830FFF987D}"/>
                  </a:ext>
                </a:extLst>
              </p:cNvPr>
              <p:cNvSpPr/>
              <p:nvPr/>
            </p:nvSpPr>
            <p:spPr>
              <a:xfrm>
                <a:off x="14283730" y="170687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7" name="Oval 36">
                <a:extLst>
                  <a:ext uri="{FF2B5EF4-FFF2-40B4-BE49-F238E27FC236}">
                    <a16:creationId xmlns="" xmlns:a16="http://schemas.microsoft.com/office/drawing/2014/main" id="{64933034-93B0-2153-6372-573E8410C1E5}"/>
                  </a:ext>
                </a:extLst>
              </p:cNvPr>
              <p:cNvSpPr/>
              <p:nvPr/>
            </p:nvSpPr>
            <p:spPr>
              <a:xfrm>
                <a:off x="14410280" y="25358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8" name="Oval 37">
                <a:extLst>
                  <a:ext uri="{FF2B5EF4-FFF2-40B4-BE49-F238E27FC236}">
                    <a16:creationId xmlns="" xmlns:a16="http://schemas.microsoft.com/office/drawing/2014/main" id="{590D945B-5C02-A907-B24B-5C7B8A35DE17}"/>
                  </a:ext>
                </a:extLst>
              </p:cNvPr>
              <p:cNvSpPr/>
              <p:nvPr/>
            </p:nvSpPr>
            <p:spPr>
              <a:xfrm>
                <a:off x="14491843" y="20176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9" name="Multiply 38">
                <a:extLst>
                  <a:ext uri="{FF2B5EF4-FFF2-40B4-BE49-F238E27FC236}">
                    <a16:creationId xmlns="" xmlns:a16="http://schemas.microsoft.com/office/drawing/2014/main" id="{B2CA3E0D-9491-7BBF-7C58-4FEEFDDA67ED}"/>
                  </a:ext>
                </a:extLst>
              </p:cNvPr>
              <p:cNvSpPr/>
              <p:nvPr/>
            </p:nvSpPr>
            <p:spPr>
              <a:xfrm>
                <a:off x="13078193" y="23086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0" name="Multiply 39">
                <a:extLst>
                  <a:ext uri="{FF2B5EF4-FFF2-40B4-BE49-F238E27FC236}">
                    <a16:creationId xmlns="" xmlns:a16="http://schemas.microsoft.com/office/drawing/2014/main" id="{9CB0019D-BCAE-CBF5-E9AA-DB42024B9517}"/>
                  </a:ext>
                </a:extLst>
              </p:cNvPr>
              <p:cNvSpPr/>
              <p:nvPr/>
            </p:nvSpPr>
            <p:spPr>
              <a:xfrm>
                <a:off x="13323864" y="251961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1" name="Multiply 40">
                <a:extLst>
                  <a:ext uri="{FF2B5EF4-FFF2-40B4-BE49-F238E27FC236}">
                    <a16:creationId xmlns="" xmlns:a16="http://schemas.microsoft.com/office/drawing/2014/main" id="{F9E96131-227C-8F93-E881-C680BCF513F6}"/>
                  </a:ext>
                </a:extLst>
              </p:cNvPr>
              <p:cNvSpPr/>
              <p:nvPr/>
            </p:nvSpPr>
            <p:spPr>
              <a:xfrm>
                <a:off x="13749168" y="2693328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2" name="Multiply 41">
                <a:extLst>
                  <a:ext uri="{FF2B5EF4-FFF2-40B4-BE49-F238E27FC236}">
                    <a16:creationId xmlns="" xmlns:a16="http://schemas.microsoft.com/office/drawing/2014/main" id="{0CC480B1-4435-B46F-75E0-286BDBDD0B4F}"/>
                  </a:ext>
                </a:extLst>
              </p:cNvPr>
              <p:cNvSpPr/>
              <p:nvPr/>
            </p:nvSpPr>
            <p:spPr>
              <a:xfrm>
                <a:off x="13507181" y="2672807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3" name="Multiply 42">
                <a:extLst>
                  <a:ext uri="{FF2B5EF4-FFF2-40B4-BE49-F238E27FC236}">
                    <a16:creationId xmlns="" xmlns:a16="http://schemas.microsoft.com/office/drawing/2014/main" id="{427AA496-B2DD-5199-236F-ACDE3911BA8A}"/>
                  </a:ext>
                </a:extLst>
              </p:cNvPr>
              <p:cNvSpPr/>
              <p:nvPr/>
            </p:nvSpPr>
            <p:spPr>
              <a:xfrm>
                <a:off x="12998875" y="24902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4" name="Multiply 43">
                <a:extLst>
                  <a:ext uri="{FF2B5EF4-FFF2-40B4-BE49-F238E27FC236}">
                    <a16:creationId xmlns="" xmlns:a16="http://schemas.microsoft.com/office/drawing/2014/main" id="{D0494BF0-83C5-D217-E3F0-D37D97CAB42F}"/>
                  </a:ext>
                </a:extLst>
              </p:cNvPr>
              <p:cNvSpPr/>
              <p:nvPr/>
            </p:nvSpPr>
            <p:spPr>
              <a:xfrm>
                <a:off x="14136782" y="274991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5" name="Multiply 44">
                <a:extLst>
                  <a:ext uri="{FF2B5EF4-FFF2-40B4-BE49-F238E27FC236}">
                    <a16:creationId xmlns="" xmlns:a16="http://schemas.microsoft.com/office/drawing/2014/main" id="{1943872F-D82A-A2E4-8597-1C3B77A5591C}"/>
                  </a:ext>
                </a:extLst>
              </p:cNvPr>
              <p:cNvSpPr/>
              <p:nvPr/>
            </p:nvSpPr>
            <p:spPr>
              <a:xfrm>
                <a:off x="14476369" y="272132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6" name="Multiply 45">
                <a:extLst>
                  <a:ext uri="{FF2B5EF4-FFF2-40B4-BE49-F238E27FC236}">
                    <a16:creationId xmlns="" xmlns:a16="http://schemas.microsoft.com/office/drawing/2014/main" id="{0073664D-12A0-88D6-2D28-C31256AAFB7D}"/>
                  </a:ext>
                </a:extLst>
              </p:cNvPr>
              <p:cNvSpPr/>
              <p:nvPr/>
            </p:nvSpPr>
            <p:spPr>
              <a:xfrm>
                <a:off x="13134348" y="275636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7" name="Multiply 46">
                <a:extLst>
                  <a:ext uri="{FF2B5EF4-FFF2-40B4-BE49-F238E27FC236}">
                    <a16:creationId xmlns="" xmlns:a16="http://schemas.microsoft.com/office/drawing/2014/main" id="{E802BF65-432E-A93E-CAF8-F1A093BBE901}"/>
                  </a:ext>
                </a:extLst>
              </p:cNvPr>
              <p:cNvSpPr/>
              <p:nvPr/>
            </p:nvSpPr>
            <p:spPr>
              <a:xfrm>
                <a:off x="13496384" y="2892653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8" name="Multiply 47">
                <a:extLst>
                  <a:ext uri="{FF2B5EF4-FFF2-40B4-BE49-F238E27FC236}">
                    <a16:creationId xmlns="" xmlns:a16="http://schemas.microsoft.com/office/drawing/2014/main" id="{D530F31C-8F3B-3B7B-E86C-4278765980F8}"/>
                  </a:ext>
                </a:extLst>
              </p:cNvPr>
              <p:cNvSpPr/>
              <p:nvPr/>
            </p:nvSpPr>
            <p:spPr>
              <a:xfrm>
                <a:off x="12841249" y="22921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9" name="Multiply 48">
                <a:extLst>
                  <a:ext uri="{FF2B5EF4-FFF2-40B4-BE49-F238E27FC236}">
                    <a16:creationId xmlns="" xmlns:a16="http://schemas.microsoft.com/office/drawing/2014/main" id="{A467CA46-0031-79EC-C70B-088E58FD31EE}"/>
                  </a:ext>
                </a:extLst>
              </p:cNvPr>
              <p:cNvSpPr/>
              <p:nvPr/>
            </p:nvSpPr>
            <p:spPr>
              <a:xfrm>
                <a:off x="13871464" y="2873205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0" name="Freeform 49">
                <a:extLst>
                  <a:ext uri="{FF2B5EF4-FFF2-40B4-BE49-F238E27FC236}">
                    <a16:creationId xmlns="" xmlns:a16="http://schemas.microsoft.com/office/drawing/2014/main" id="{D11340A6-0358-782C-37B6-4B14FA13FDE6}"/>
                  </a:ext>
                </a:extLst>
              </p:cNvPr>
              <p:cNvSpPr/>
              <p:nvPr/>
            </p:nvSpPr>
            <p:spPr>
              <a:xfrm>
                <a:off x="13195406" y="1351116"/>
                <a:ext cx="1903847" cy="1403682"/>
              </a:xfrm>
              <a:custGeom>
                <a:avLst/>
                <a:gdLst>
                  <a:gd name="connsiteX0" fmla="*/ 532941 w 2034195"/>
                  <a:gd name="connsiteY0" fmla="*/ 0 h 1853444"/>
                  <a:gd name="connsiteX1" fmla="*/ 14326 w 2034195"/>
                  <a:gd name="connsiteY1" fmla="*/ 1105469 h 1853444"/>
                  <a:gd name="connsiteX2" fmla="*/ 1037908 w 2034195"/>
                  <a:gd name="connsiteY2" fmla="*/ 1842448 h 1853444"/>
                  <a:gd name="connsiteX3" fmla="*/ 2034195 w 2034195"/>
                  <a:gd name="connsiteY3" fmla="*/ 1501254 h 185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4195" h="1853444">
                    <a:moveTo>
                      <a:pt x="532941" y="0"/>
                    </a:moveTo>
                    <a:cubicBezTo>
                      <a:pt x="231553" y="399197"/>
                      <a:pt x="-69835" y="798394"/>
                      <a:pt x="14326" y="1105469"/>
                    </a:cubicBezTo>
                    <a:cubicBezTo>
                      <a:pt x="98487" y="1412544"/>
                      <a:pt x="701263" y="1776484"/>
                      <a:pt x="1037908" y="1842448"/>
                    </a:cubicBezTo>
                    <a:cubicBezTo>
                      <a:pt x="1374553" y="1908412"/>
                      <a:pt x="1679353" y="1662752"/>
                      <a:pt x="2034195" y="1501254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294" name="Retângulo 293">
              <a:extLst>
                <a:ext uri="{FF2B5EF4-FFF2-40B4-BE49-F238E27FC236}">
                  <a16:creationId xmlns="" xmlns:a16="http://schemas.microsoft.com/office/drawing/2014/main" id="{9777451C-E320-8AA1-21F5-BD6EC5F72A61}"/>
                </a:ext>
              </a:extLst>
            </p:cNvPr>
            <p:cNvSpPr/>
            <p:nvPr/>
          </p:nvSpPr>
          <p:spPr>
            <a:xfrm>
              <a:off x="10483329" y="4446320"/>
              <a:ext cx="225544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Relação de compromisso entre flexibilidade </a:t>
              </a:r>
              <a:r>
                <a:rPr lang="pt-B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e </a:t>
              </a:r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capacidade de generalização.</a:t>
              </a:r>
              <a:endParaRPr lang="pt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8416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1EBEF97-8057-BF3C-2F34-ADA7F277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DE9484A-5217-F82B-E48D-B22A7C6F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39919" cy="3178454"/>
          </a:xfrm>
        </p:spPr>
        <p:txBody>
          <a:bodyPr>
            <a:normAutofit/>
          </a:bodyPr>
          <a:lstStyle/>
          <a:p>
            <a:r>
              <a:rPr lang="pt-BR" dirty="0"/>
              <a:t>Na primeira figura, o polinômio (i.e., reta) tem uma </a:t>
            </a:r>
            <a:r>
              <a:rPr lang="pt-BR" b="1" i="1" dirty="0">
                <a:solidFill>
                  <a:srgbClr val="FF0000"/>
                </a:solidFill>
              </a:rPr>
              <a:t>baixa flexibilidade</a:t>
            </a:r>
            <a:r>
              <a:rPr lang="pt-BR" dirty="0"/>
              <a:t>.</a:t>
            </a:r>
          </a:p>
          <a:p>
            <a:r>
              <a:rPr lang="pt-BR" dirty="0" smtClean="0"/>
              <a:t>O modelo também apresenta </a:t>
            </a:r>
            <a:r>
              <a:rPr lang="pt-BR" dirty="0"/>
              <a:t>uma </a:t>
            </a:r>
            <a:r>
              <a:rPr lang="pt-BR" b="1" i="1" dirty="0">
                <a:solidFill>
                  <a:srgbClr val="FF0000"/>
                </a:solidFill>
              </a:rPr>
              <a:t>baixa capacidade de generalização</a:t>
            </a:r>
            <a:r>
              <a:rPr lang="pt-BR" dirty="0"/>
              <a:t>.</a:t>
            </a:r>
          </a:p>
          <a:p>
            <a:r>
              <a:rPr lang="pt-BR" dirty="0"/>
              <a:t>Assim, os erros nos conjuntos de treinamento e teste seriam </a:t>
            </a:r>
            <a:r>
              <a:rPr lang="pt-BR" b="1" i="1" dirty="0">
                <a:solidFill>
                  <a:srgbClr val="FF0000"/>
                </a:solidFill>
              </a:rPr>
              <a:t>ambos altos</a:t>
            </a:r>
            <a:r>
              <a:rPr lang="pt-BR" dirty="0"/>
              <a:t>.</a:t>
            </a:r>
          </a:p>
          <a:p>
            <a:r>
              <a:rPr lang="pt-BR" dirty="0"/>
              <a:t>Ou seja, o classificador erraria a classificação de boa parte dos </a:t>
            </a:r>
            <a:r>
              <a:rPr lang="pt-BR" dirty="0" smtClean="0"/>
              <a:t>exemplos de ambos os conjuntos.</a:t>
            </a:r>
            <a:endParaRPr lang="pt-BR" dirty="0"/>
          </a:p>
          <a:p>
            <a:endParaRPr lang="pt-BR" dirty="0"/>
          </a:p>
        </p:txBody>
      </p:sp>
      <p:grpSp>
        <p:nvGrpSpPr>
          <p:cNvPr id="4" name="Group 50">
            <a:extLst>
              <a:ext uri="{FF2B5EF4-FFF2-40B4-BE49-F238E27FC236}">
                <a16:creationId xmlns="" xmlns:a16="http://schemas.microsoft.com/office/drawing/2014/main" id="{AAC33CC3-B566-0A22-6D7F-4A7086BDBE56}"/>
              </a:ext>
            </a:extLst>
          </p:cNvPr>
          <p:cNvGrpSpPr/>
          <p:nvPr/>
        </p:nvGrpSpPr>
        <p:grpSpPr>
          <a:xfrm>
            <a:off x="1028041" y="4681990"/>
            <a:ext cx="2614571" cy="2044068"/>
            <a:chOff x="9561094" y="1203158"/>
            <a:chExt cx="2796786" cy="2093874"/>
          </a:xfrm>
        </p:grpSpPr>
        <p:cxnSp>
          <p:nvCxnSpPr>
            <p:cNvPr id="5" name="Straight Connector 51">
              <a:extLst>
                <a:ext uri="{FF2B5EF4-FFF2-40B4-BE49-F238E27FC236}">
                  <a16:creationId xmlns="" xmlns:a16="http://schemas.microsoft.com/office/drawing/2014/main" id="{5D158E3F-ED3F-A0BB-C06B-2CF4EAA4B11D}"/>
                </a:ext>
              </a:extLst>
            </p:cNvPr>
            <p:cNvCxnSpPr/>
            <p:nvPr/>
          </p:nvCxnSpPr>
          <p:spPr>
            <a:xfrm>
              <a:off x="9724202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2">
              <a:extLst>
                <a:ext uri="{FF2B5EF4-FFF2-40B4-BE49-F238E27FC236}">
                  <a16:creationId xmlns="" xmlns:a16="http://schemas.microsoft.com/office/drawing/2014/main" id="{E14DE293-E665-2737-62F6-D30BF75374C3}"/>
                </a:ext>
              </a:extLst>
            </p:cNvPr>
            <p:cNvCxnSpPr/>
            <p:nvPr/>
          </p:nvCxnSpPr>
          <p:spPr>
            <a:xfrm rot="16200000">
              <a:off x="10797774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53">
                  <a:extLst>
                    <a:ext uri="{FF2B5EF4-FFF2-40B4-BE49-F238E27FC236}">
                      <a16:creationId xmlns="" xmlns:a16="http://schemas.microsoft.com/office/drawing/2014/main" id="{0F060A46-3CFC-45DB-BB36-1A17B92266A3}"/>
                    </a:ext>
                  </a:extLst>
                </p:cNvPr>
                <p:cNvSpPr txBox="1"/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3953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54">
                  <a:extLst>
                    <a:ext uri="{FF2B5EF4-FFF2-40B4-BE49-F238E27FC236}">
                      <a16:creationId xmlns="" xmlns:a16="http://schemas.microsoft.com/office/drawing/2014/main" id="{375B5669-21CF-6AC7-003F-C8620D6D016C}"/>
                    </a:ext>
                  </a:extLst>
                </p:cNvPr>
                <p:cNvSpPr txBox="1"/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55">
              <a:extLst>
                <a:ext uri="{FF2B5EF4-FFF2-40B4-BE49-F238E27FC236}">
                  <a16:creationId xmlns="" xmlns:a16="http://schemas.microsoft.com/office/drawing/2014/main" id="{A584C797-F691-3447-D9AC-BA27AFA91641}"/>
                </a:ext>
              </a:extLst>
            </p:cNvPr>
            <p:cNvSpPr/>
            <p:nvPr/>
          </p:nvSpPr>
          <p:spPr>
            <a:xfrm>
              <a:off x="10441769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56">
              <a:extLst>
                <a:ext uri="{FF2B5EF4-FFF2-40B4-BE49-F238E27FC236}">
                  <a16:creationId xmlns="" xmlns:a16="http://schemas.microsoft.com/office/drawing/2014/main" id="{7BF53845-9122-66A2-F6EE-F82FE2EA8B35}"/>
                </a:ext>
              </a:extLst>
            </p:cNvPr>
            <p:cNvSpPr/>
            <p:nvPr/>
          </p:nvSpPr>
          <p:spPr>
            <a:xfrm>
              <a:off x="10450116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57">
              <a:extLst>
                <a:ext uri="{FF2B5EF4-FFF2-40B4-BE49-F238E27FC236}">
                  <a16:creationId xmlns="" xmlns:a16="http://schemas.microsoft.com/office/drawing/2014/main" id="{B986BC97-E4CB-FF24-8B6B-B5E0B58328B4}"/>
                </a:ext>
              </a:extLst>
            </p:cNvPr>
            <p:cNvSpPr/>
            <p:nvPr/>
          </p:nvSpPr>
          <p:spPr>
            <a:xfrm>
              <a:off x="10183755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Oval 58">
              <a:extLst>
                <a:ext uri="{FF2B5EF4-FFF2-40B4-BE49-F238E27FC236}">
                  <a16:creationId xmlns="" xmlns:a16="http://schemas.microsoft.com/office/drawing/2014/main" id="{F93121AB-3E96-4C7B-C0A0-F7366006410B}"/>
                </a:ext>
              </a:extLst>
            </p:cNvPr>
            <p:cNvSpPr/>
            <p:nvPr/>
          </p:nvSpPr>
          <p:spPr>
            <a:xfrm>
              <a:off x="10302622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Oval 59">
              <a:extLst>
                <a:ext uri="{FF2B5EF4-FFF2-40B4-BE49-F238E27FC236}">
                  <a16:creationId xmlns="" xmlns:a16="http://schemas.microsoft.com/office/drawing/2014/main" id="{4A46DC69-8112-7890-D65B-BA227AEC26FF}"/>
                </a:ext>
              </a:extLst>
            </p:cNvPr>
            <p:cNvSpPr/>
            <p:nvPr/>
          </p:nvSpPr>
          <p:spPr>
            <a:xfrm>
              <a:off x="10704566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60">
              <a:extLst>
                <a:ext uri="{FF2B5EF4-FFF2-40B4-BE49-F238E27FC236}">
                  <a16:creationId xmlns="" xmlns:a16="http://schemas.microsoft.com/office/drawing/2014/main" id="{36B8C64A-B43F-AEF3-8FD9-AF525A799E9C}"/>
                </a:ext>
              </a:extLst>
            </p:cNvPr>
            <p:cNvSpPr/>
            <p:nvPr/>
          </p:nvSpPr>
          <p:spPr>
            <a:xfrm>
              <a:off x="10727947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Oval 61">
              <a:extLst>
                <a:ext uri="{FF2B5EF4-FFF2-40B4-BE49-F238E27FC236}">
                  <a16:creationId xmlns="" xmlns:a16="http://schemas.microsoft.com/office/drawing/2014/main" id="{B74988DE-918E-946B-C74E-7EE0F18DA73C}"/>
                </a:ext>
              </a:extLst>
            </p:cNvPr>
            <p:cNvSpPr/>
            <p:nvPr/>
          </p:nvSpPr>
          <p:spPr>
            <a:xfrm>
              <a:off x="10954789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Oval 62">
              <a:extLst>
                <a:ext uri="{FF2B5EF4-FFF2-40B4-BE49-F238E27FC236}">
                  <a16:creationId xmlns="" xmlns:a16="http://schemas.microsoft.com/office/drawing/2014/main" id="{3BBCBCAF-1C6D-67E9-5A37-C65BFCB949F5}"/>
                </a:ext>
              </a:extLst>
            </p:cNvPr>
            <p:cNvSpPr/>
            <p:nvPr/>
          </p:nvSpPr>
          <p:spPr>
            <a:xfrm>
              <a:off x="10717895" y="22319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Oval 63">
              <a:extLst>
                <a:ext uri="{FF2B5EF4-FFF2-40B4-BE49-F238E27FC236}">
                  <a16:creationId xmlns="" xmlns:a16="http://schemas.microsoft.com/office/drawing/2014/main" id="{389E0290-6C37-86BF-D7F6-3C3D70AFDC7D}"/>
                </a:ext>
              </a:extLst>
            </p:cNvPr>
            <p:cNvSpPr/>
            <p:nvPr/>
          </p:nvSpPr>
          <p:spPr>
            <a:xfrm>
              <a:off x="10233441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Oval 64">
              <a:extLst>
                <a:ext uri="{FF2B5EF4-FFF2-40B4-BE49-F238E27FC236}">
                  <a16:creationId xmlns="" xmlns:a16="http://schemas.microsoft.com/office/drawing/2014/main" id="{D535C198-4195-86A4-9BF5-A9F6C34A8330}"/>
                </a:ext>
              </a:extLst>
            </p:cNvPr>
            <p:cNvSpPr/>
            <p:nvPr/>
          </p:nvSpPr>
          <p:spPr>
            <a:xfrm>
              <a:off x="10797774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Oval 65">
              <a:extLst>
                <a:ext uri="{FF2B5EF4-FFF2-40B4-BE49-F238E27FC236}">
                  <a16:creationId xmlns="" xmlns:a16="http://schemas.microsoft.com/office/drawing/2014/main" id="{537C7751-3C73-12CA-E37A-9EDC1ECADCF6}"/>
                </a:ext>
              </a:extLst>
            </p:cNvPr>
            <p:cNvSpPr/>
            <p:nvPr/>
          </p:nvSpPr>
          <p:spPr>
            <a:xfrm>
              <a:off x="10558137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Oval 66">
              <a:extLst>
                <a:ext uri="{FF2B5EF4-FFF2-40B4-BE49-F238E27FC236}">
                  <a16:creationId xmlns="" xmlns:a16="http://schemas.microsoft.com/office/drawing/2014/main" id="{DB34B1B3-6E55-71B6-E580-4C356935E253}"/>
                </a:ext>
              </a:extLst>
            </p:cNvPr>
            <p:cNvSpPr/>
            <p:nvPr/>
          </p:nvSpPr>
          <p:spPr>
            <a:xfrm>
              <a:off x="10948131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Oval 67">
              <a:extLst>
                <a:ext uri="{FF2B5EF4-FFF2-40B4-BE49-F238E27FC236}">
                  <a16:creationId xmlns="" xmlns:a16="http://schemas.microsoft.com/office/drawing/2014/main" id="{3DFE5CE7-19B7-8FAA-31BD-24E698D127FF}"/>
                </a:ext>
              </a:extLst>
            </p:cNvPr>
            <p:cNvSpPr/>
            <p:nvPr/>
          </p:nvSpPr>
          <p:spPr>
            <a:xfrm>
              <a:off x="11196805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Oval 68">
              <a:extLst>
                <a:ext uri="{FF2B5EF4-FFF2-40B4-BE49-F238E27FC236}">
                  <a16:creationId xmlns="" xmlns:a16="http://schemas.microsoft.com/office/drawing/2014/main" id="{1A643A25-5F1E-275A-CB13-6A6CBC92A001}"/>
                </a:ext>
              </a:extLst>
            </p:cNvPr>
            <p:cNvSpPr/>
            <p:nvPr/>
          </p:nvSpPr>
          <p:spPr>
            <a:xfrm>
              <a:off x="11396321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Oval 69">
              <a:extLst>
                <a:ext uri="{FF2B5EF4-FFF2-40B4-BE49-F238E27FC236}">
                  <a16:creationId xmlns="" xmlns:a16="http://schemas.microsoft.com/office/drawing/2014/main" id="{C0416F76-8277-57B0-E040-C19C523F65FE}"/>
                </a:ext>
              </a:extLst>
            </p:cNvPr>
            <p:cNvSpPr/>
            <p:nvPr/>
          </p:nvSpPr>
          <p:spPr>
            <a:xfrm>
              <a:off x="10562838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Oval 70">
              <a:extLst>
                <a:ext uri="{FF2B5EF4-FFF2-40B4-BE49-F238E27FC236}">
                  <a16:creationId xmlns="" xmlns:a16="http://schemas.microsoft.com/office/drawing/2014/main" id="{7C84899F-2320-A837-FEAC-8F52DD9FAB36}"/>
                </a:ext>
              </a:extLst>
            </p:cNvPr>
            <p:cNvSpPr/>
            <p:nvPr/>
          </p:nvSpPr>
          <p:spPr>
            <a:xfrm>
              <a:off x="11505344" y="237306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Oval 71">
              <a:extLst>
                <a:ext uri="{FF2B5EF4-FFF2-40B4-BE49-F238E27FC236}">
                  <a16:creationId xmlns="" xmlns:a16="http://schemas.microsoft.com/office/drawing/2014/main" id="{F32CECB7-0441-EB09-8AC9-3C163719DBF8}"/>
                </a:ext>
              </a:extLst>
            </p:cNvPr>
            <p:cNvSpPr/>
            <p:nvPr/>
          </p:nvSpPr>
          <p:spPr>
            <a:xfrm>
              <a:off x="11165137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Oval 72">
              <a:extLst>
                <a:ext uri="{FF2B5EF4-FFF2-40B4-BE49-F238E27FC236}">
                  <a16:creationId xmlns="" xmlns:a16="http://schemas.microsoft.com/office/drawing/2014/main" id="{7EF0AB90-663B-4A37-FDD8-BB80E88319AF}"/>
                </a:ext>
              </a:extLst>
            </p:cNvPr>
            <p:cNvSpPr/>
            <p:nvPr/>
          </p:nvSpPr>
          <p:spPr>
            <a:xfrm>
              <a:off x="10989996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Oval 73">
              <a:extLst>
                <a:ext uri="{FF2B5EF4-FFF2-40B4-BE49-F238E27FC236}">
                  <a16:creationId xmlns="" xmlns:a16="http://schemas.microsoft.com/office/drawing/2014/main" id="{9D85D20C-303D-4221-EE0D-41D6B72BFEF8}"/>
                </a:ext>
              </a:extLst>
            </p:cNvPr>
            <p:cNvSpPr/>
            <p:nvPr/>
          </p:nvSpPr>
          <p:spPr>
            <a:xfrm>
              <a:off x="10967394" y="252768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Oval 74">
              <a:extLst>
                <a:ext uri="{FF2B5EF4-FFF2-40B4-BE49-F238E27FC236}">
                  <a16:creationId xmlns="" xmlns:a16="http://schemas.microsoft.com/office/drawing/2014/main" id="{2CCFC6DF-F3A6-AEE6-C2C1-5CD54E1BC872}"/>
                </a:ext>
              </a:extLst>
            </p:cNvPr>
            <p:cNvSpPr/>
            <p:nvPr/>
          </p:nvSpPr>
          <p:spPr>
            <a:xfrm>
              <a:off x="11196805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Multiply 75">
              <a:extLst>
                <a:ext uri="{FF2B5EF4-FFF2-40B4-BE49-F238E27FC236}">
                  <a16:creationId xmlns="" xmlns:a16="http://schemas.microsoft.com/office/drawing/2014/main" id="{013EE84D-BE30-53F5-7D24-58A127BDFB67}"/>
                </a:ext>
              </a:extLst>
            </p:cNvPr>
            <p:cNvSpPr/>
            <p:nvPr/>
          </p:nvSpPr>
          <p:spPr>
            <a:xfrm>
              <a:off x="10888371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Multiply 76">
              <a:extLst>
                <a:ext uri="{FF2B5EF4-FFF2-40B4-BE49-F238E27FC236}">
                  <a16:creationId xmlns="" xmlns:a16="http://schemas.microsoft.com/office/drawing/2014/main" id="{16253B35-6000-3165-CC97-2C5695DC707E}"/>
                </a:ext>
              </a:extLst>
            </p:cNvPr>
            <p:cNvSpPr/>
            <p:nvPr/>
          </p:nvSpPr>
          <p:spPr>
            <a:xfrm>
              <a:off x="10099826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Multiply 77">
              <a:extLst>
                <a:ext uri="{FF2B5EF4-FFF2-40B4-BE49-F238E27FC236}">
                  <a16:creationId xmlns="" xmlns:a16="http://schemas.microsoft.com/office/drawing/2014/main" id="{AB3C5468-2303-A8E9-77E5-B694CED428CD}"/>
                </a:ext>
              </a:extLst>
            </p:cNvPr>
            <p:cNvSpPr/>
            <p:nvPr/>
          </p:nvSpPr>
          <p:spPr>
            <a:xfrm>
              <a:off x="9971860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Multiply 78">
              <a:extLst>
                <a:ext uri="{FF2B5EF4-FFF2-40B4-BE49-F238E27FC236}">
                  <a16:creationId xmlns="" xmlns:a16="http://schemas.microsoft.com/office/drawing/2014/main" id="{55EF7B01-BE33-EAC8-7681-BE6B59C74A73}"/>
                </a:ext>
              </a:extLst>
            </p:cNvPr>
            <p:cNvSpPr/>
            <p:nvPr/>
          </p:nvSpPr>
          <p:spPr>
            <a:xfrm>
              <a:off x="9776215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Multiply 79">
              <a:extLst>
                <a:ext uri="{FF2B5EF4-FFF2-40B4-BE49-F238E27FC236}">
                  <a16:creationId xmlns="" xmlns:a16="http://schemas.microsoft.com/office/drawing/2014/main" id="{1110B2D1-9106-F4A3-7E9A-34E2F248B960}"/>
                </a:ext>
              </a:extLst>
            </p:cNvPr>
            <p:cNvSpPr/>
            <p:nvPr/>
          </p:nvSpPr>
          <p:spPr>
            <a:xfrm>
              <a:off x="9753015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Multiply 80">
              <a:extLst>
                <a:ext uri="{FF2B5EF4-FFF2-40B4-BE49-F238E27FC236}">
                  <a16:creationId xmlns="" xmlns:a16="http://schemas.microsoft.com/office/drawing/2014/main" id="{DD301770-2322-F6BE-DE66-9DE851362B9C}"/>
                </a:ext>
              </a:extLst>
            </p:cNvPr>
            <p:cNvSpPr/>
            <p:nvPr/>
          </p:nvSpPr>
          <p:spPr>
            <a:xfrm>
              <a:off x="11407201" y="21565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Multiply 81">
              <a:extLst>
                <a:ext uri="{FF2B5EF4-FFF2-40B4-BE49-F238E27FC236}">
                  <a16:creationId xmlns="" xmlns:a16="http://schemas.microsoft.com/office/drawing/2014/main" id="{7374FE26-AFB2-A4DF-C9D1-5CA2F10641E9}"/>
                </a:ext>
              </a:extLst>
            </p:cNvPr>
            <p:cNvSpPr/>
            <p:nvPr/>
          </p:nvSpPr>
          <p:spPr>
            <a:xfrm>
              <a:off x="9842247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Oval 82">
              <a:extLst>
                <a:ext uri="{FF2B5EF4-FFF2-40B4-BE49-F238E27FC236}">
                  <a16:creationId xmlns="" xmlns:a16="http://schemas.microsoft.com/office/drawing/2014/main" id="{17B4E597-92BA-2AFD-C069-2FF24DAFF969}"/>
                </a:ext>
              </a:extLst>
            </p:cNvPr>
            <p:cNvSpPr/>
            <p:nvPr/>
          </p:nvSpPr>
          <p:spPr>
            <a:xfrm>
              <a:off x="11172165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Oval 83">
              <a:extLst>
                <a:ext uri="{FF2B5EF4-FFF2-40B4-BE49-F238E27FC236}">
                  <a16:creationId xmlns="" xmlns:a16="http://schemas.microsoft.com/office/drawing/2014/main" id="{5872DCA0-4C1E-3643-F3A9-D4C092D4F92F}"/>
                </a:ext>
              </a:extLst>
            </p:cNvPr>
            <p:cNvSpPr/>
            <p:nvPr/>
          </p:nvSpPr>
          <p:spPr>
            <a:xfrm>
              <a:off x="11298715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Oval 84">
              <a:extLst>
                <a:ext uri="{FF2B5EF4-FFF2-40B4-BE49-F238E27FC236}">
                  <a16:creationId xmlns="" xmlns:a16="http://schemas.microsoft.com/office/drawing/2014/main" id="{D9C9E530-CF36-2AE3-043A-EC182A9BE775}"/>
                </a:ext>
              </a:extLst>
            </p:cNvPr>
            <p:cNvSpPr/>
            <p:nvPr/>
          </p:nvSpPr>
          <p:spPr>
            <a:xfrm>
              <a:off x="11380278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Multiply 85">
              <a:extLst>
                <a:ext uri="{FF2B5EF4-FFF2-40B4-BE49-F238E27FC236}">
                  <a16:creationId xmlns="" xmlns:a16="http://schemas.microsoft.com/office/drawing/2014/main" id="{B54ED1FC-F5DE-D600-FCDF-1ADCF29D45E7}"/>
                </a:ext>
              </a:extLst>
            </p:cNvPr>
            <p:cNvSpPr/>
            <p:nvPr/>
          </p:nvSpPr>
          <p:spPr>
            <a:xfrm>
              <a:off x="9966628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Multiply 86">
              <a:extLst>
                <a:ext uri="{FF2B5EF4-FFF2-40B4-BE49-F238E27FC236}">
                  <a16:creationId xmlns="" xmlns:a16="http://schemas.microsoft.com/office/drawing/2014/main" id="{AEEDFEB7-CF7C-4951-7072-A4E2FE403B4A}"/>
                </a:ext>
              </a:extLst>
            </p:cNvPr>
            <p:cNvSpPr/>
            <p:nvPr/>
          </p:nvSpPr>
          <p:spPr>
            <a:xfrm>
              <a:off x="10212299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Multiply 87">
              <a:extLst>
                <a:ext uri="{FF2B5EF4-FFF2-40B4-BE49-F238E27FC236}">
                  <a16:creationId xmlns="" xmlns:a16="http://schemas.microsoft.com/office/drawing/2014/main" id="{38017610-9326-8829-14D6-1B23F2706CDD}"/>
                </a:ext>
              </a:extLst>
            </p:cNvPr>
            <p:cNvSpPr/>
            <p:nvPr/>
          </p:nvSpPr>
          <p:spPr>
            <a:xfrm>
              <a:off x="10637603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Multiply 88">
              <a:extLst>
                <a:ext uri="{FF2B5EF4-FFF2-40B4-BE49-F238E27FC236}">
                  <a16:creationId xmlns="" xmlns:a16="http://schemas.microsoft.com/office/drawing/2014/main" id="{FFAB20C3-59C4-8273-14C1-C4FCDD73DC04}"/>
                </a:ext>
              </a:extLst>
            </p:cNvPr>
            <p:cNvSpPr/>
            <p:nvPr/>
          </p:nvSpPr>
          <p:spPr>
            <a:xfrm>
              <a:off x="10395616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Multiply 89">
              <a:extLst>
                <a:ext uri="{FF2B5EF4-FFF2-40B4-BE49-F238E27FC236}">
                  <a16:creationId xmlns="" xmlns:a16="http://schemas.microsoft.com/office/drawing/2014/main" id="{47C9C92D-7665-03C1-F146-51BC3AA25634}"/>
                </a:ext>
              </a:extLst>
            </p:cNvPr>
            <p:cNvSpPr/>
            <p:nvPr/>
          </p:nvSpPr>
          <p:spPr>
            <a:xfrm>
              <a:off x="9887310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Multiply 90">
              <a:extLst>
                <a:ext uri="{FF2B5EF4-FFF2-40B4-BE49-F238E27FC236}">
                  <a16:creationId xmlns="" xmlns:a16="http://schemas.microsoft.com/office/drawing/2014/main" id="{18559765-9AC9-B7DA-08A1-120BB059E5D0}"/>
                </a:ext>
              </a:extLst>
            </p:cNvPr>
            <p:cNvSpPr/>
            <p:nvPr/>
          </p:nvSpPr>
          <p:spPr>
            <a:xfrm>
              <a:off x="11025217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Multiply 91">
              <a:extLst>
                <a:ext uri="{FF2B5EF4-FFF2-40B4-BE49-F238E27FC236}">
                  <a16:creationId xmlns="" xmlns:a16="http://schemas.microsoft.com/office/drawing/2014/main" id="{E6EB7F2E-1EC5-56CD-AEA8-0D8712EAE5F7}"/>
                </a:ext>
              </a:extLst>
            </p:cNvPr>
            <p:cNvSpPr/>
            <p:nvPr/>
          </p:nvSpPr>
          <p:spPr>
            <a:xfrm>
              <a:off x="11364804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Multiply 92">
              <a:extLst>
                <a:ext uri="{FF2B5EF4-FFF2-40B4-BE49-F238E27FC236}">
                  <a16:creationId xmlns="" xmlns:a16="http://schemas.microsoft.com/office/drawing/2014/main" id="{D53D50BB-56E7-1913-AF5B-45D781C0862A}"/>
                </a:ext>
              </a:extLst>
            </p:cNvPr>
            <p:cNvSpPr/>
            <p:nvPr/>
          </p:nvSpPr>
          <p:spPr>
            <a:xfrm>
              <a:off x="10022783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Multiply 93">
              <a:extLst>
                <a:ext uri="{FF2B5EF4-FFF2-40B4-BE49-F238E27FC236}">
                  <a16:creationId xmlns="" xmlns:a16="http://schemas.microsoft.com/office/drawing/2014/main" id="{D9D948A2-7FCE-B2BE-30C2-804E37360574}"/>
                </a:ext>
              </a:extLst>
            </p:cNvPr>
            <p:cNvSpPr/>
            <p:nvPr/>
          </p:nvSpPr>
          <p:spPr>
            <a:xfrm>
              <a:off x="10384819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Multiply 94">
              <a:extLst>
                <a:ext uri="{FF2B5EF4-FFF2-40B4-BE49-F238E27FC236}">
                  <a16:creationId xmlns="" xmlns:a16="http://schemas.microsoft.com/office/drawing/2014/main" id="{34EE58C7-425A-3119-6C53-3459D32F01E5}"/>
                </a:ext>
              </a:extLst>
            </p:cNvPr>
            <p:cNvSpPr/>
            <p:nvPr/>
          </p:nvSpPr>
          <p:spPr>
            <a:xfrm>
              <a:off x="9729684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Multiply 95">
              <a:extLst>
                <a:ext uri="{FF2B5EF4-FFF2-40B4-BE49-F238E27FC236}">
                  <a16:creationId xmlns="" xmlns:a16="http://schemas.microsoft.com/office/drawing/2014/main" id="{023E38CA-510B-2171-3DCE-8AE48A567302}"/>
                </a:ext>
              </a:extLst>
            </p:cNvPr>
            <p:cNvSpPr/>
            <p:nvPr/>
          </p:nvSpPr>
          <p:spPr>
            <a:xfrm>
              <a:off x="10759899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0" name="Straight Connector 96">
              <a:extLst>
                <a:ext uri="{FF2B5EF4-FFF2-40B4-BE49-F238E27FC236}">
                  <a16:creationId xmlns="" xmlns:a16="http://schemas.microsoft.com/office/drawing/2014/main" id="{71D7C514-BBC0-3FD5-B491-697DD5A4DC45}"/>
                </a:ext>
              </a:extLst>
            </p:cNvPr>
            <p:cNvCxnSpPr/>
            <p:nvPr/>
          </p:nvCxnSpPr>
          <p:spPr>
            <a:xfrm>
              <a:off x="9710234" y="1706871"/>
              <a:ext cx="1903794" cy="145230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97">
            <a:extLst>
              <a:ext uri="{FF2B5EF4-FFF2-40B4-BE49-F238E27FC236}">
                <a16:creationId xmlns="" xmlns:a16="http://schemas.microsoft.com/office/drawing/2014/main" id="{4428BBD2-C403-E0F2-42F0-FB45BB9BA997}"/>
              </a:ext>
            </a:extLst>
          </p:cNvPr>
          <p:cNvGrpSpPr/>
          <p:nvPr/>
        </p:nvGrpSpPr>
        <p:grpSpPr>
          <a:xfrm>
            <a:off x="4968566" y="4648593"/>
            <a:ext cx="2614572" cy="2075388"/>
            <a:chOff x="15842602" y="1171075"/>
            <a:chExt cx="2796787" cy="2125957"/>
          </a:xfrm>
        </p:grpSpPr>
        <p:cxnSp>
          <p:nvCxnSpPr>
            <p:cNvPr id="52" name="Straight Connector 98">
              <a:extLst>
                <a:ext uri="{FF2B5EF4-FFF2-40B4-BE49-F238E27FC236}">
                  <a16:creationId xmlns="" xmlns:a16="http://schemas.microsoft.com/office/drawing/2014/main" id="{076CFCE5-FE63-5677-E86E-73EC5285FD40}"/>
                </a:ext>
              </a:extLst>
            </p:cNvPr>
            <p:cNvCxnSpPr/>
            <p:nvPr/>
          </p:nvCxnSpPr>
          <p:spPr>
            <a:xfrm>
              <a:off x="16005710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9">
              <a:extLst>
                <a:ext uri="{FF2B5EF4-FFF2-40B4-BE49-F238E27FC236}">
                  <a16:creationId xmlns="" xmlns:a16="http://schemas.microsoft.com/office/drawing/2014/main" id="{2BCC2FA1-41AE-B5C3-FD4B-D4CDE7932F9D}"/>
                </a:ext>
              </a:extLst>
            </p:cNvPr>
            <p:cNvCxnSpPr/>
            <p:nvPr/>
          </p:nvCxnSpPr>
          <p:spPr>
            <a:xfrm rot="16200000">
              <a:off x="17079282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100">
                  <a:extLst>
                    <a:ext uri="{FF2B5EF4-FFF2-40B4-BE49-F238E27FC236}">
                      <a16:creationId xmlns="" xmlns:a16="http://schemas.microsoft.com/office/drawing/2014/main" id="{8CC8656C-56D6-CE67-FBE4-C5915D7D9407}"/>
                    </a:ext>
                  </a:extLst>
                </p:cNvPr>
                <p:cNvSpPr txBox="1"/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101">
                  <a:extLst>
                    <a:ext uri="{FF2B5EF4-FFF2-40B4-BE49-F238E27FC236}">
                      <a16:creationId xmlns="" xmlns:a16="http://schemas.microsoft.com/office/drawing/2014/main" id="{D9819669-1BF1-C232-6D45-A09CB263B947}"/>
                    </a:ext>
                  </a:extLst>
                </p:cNvPr>
                <p:cNvSpPr txBox="1"/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Oval 102">
              <a:extLst>
                <a:ext uri="{FF2B5EF4-FFF2-40B4-BE49-F238E27FC236}">
                  <a16:creationId xmlns="" xmlns:a16="http://schemas.microsoft.com/office/drawing/2014/main" id="{65A7F45A-7658-DFC2-FBF6-1B5CB0AFB028}"/>
                </a:ext>
              </a:extLst>
            </p:cNvPr>
            <p:cNvSpPr/>
            <p:nvPr/>
          </p:nvSpPr>
          <p:spPr>
            <a:xfrm>
              <a:off x="16723277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Oval 103">
              <a:extLst>
                <a:ext uri="{FF2B5EF4-FFF2-40B4-BE49-F238E27FC236}">
                  <a16:creationId xmlns="" xmlns:a16="http://schemas.microsoft.com/office/drawing/2014/main" id="{DCEC7F87-D760-9313-00D0-5B665C02F50A}"/>
                </a:ext>
              </a:extLst>
            </p:cNvPr>
            <p:cNvSpPr/>
            <p:nvPr/>
          </p:nvSpPr>
          <p:spPr>
            <a:xfrm>
              <a:off x="16731625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Oval 104">
              <a:extLst>
                <a:ext uri="{FF2B5EF4-FFF2-40B4-BE49-F238E27FC236}">
                  <a16:creationId xmlns="" xmlns:a16="http://schemas.microsoft.com/office/drawing/2014/main" id="{F75AFDF8-69D0-7351-D0D2-AEA12369AC2E}"/>
                </a:ext>
              </a:extLst>
            </p:cNvPr>
            <p:cNvSpPr/>
            <p:nvPr/>
          </p:nvSpPr>
          <p:spPr>
            <a:xfrm>
              <a:off x="16465263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Oval 105">
              <a:extLst>
                <a:ext uri="{FF2B5EF4-FFF2-40B4-BE49-F238E27FC236}">
                  <a16:creationId xmlns="" xmlns:a16="http://schemas.microsoft.com/office/drawing/2014/main" id="{ADEF85EF-FD15-3FE3-CDE0-2DCBE374B61E}"/>
                </a:ext>
              </a:extLst>
            </p:cNvPr>
            <p:cNvSpPr/>
            <p:nvPr/>
          </p:nvSpPr>
          <p:spPr>
            <a:xfrm>
              <a:off x="16584131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106">
              <a:extLst>
                <a:ext uri="{FF2B5EF4-FFF2-40B4-BE49-F238E27FC236}">
                  <a16:creationId xmlns="" xmlns:a16="http://schemas.microsoft.com/office/drawing/2014/main" id="{DC65D5A1-E7CE-5E1A-173B-0C5B0D5914C3}"/>
                </a:ext>
              </a:extLst>
            </p:cNvPr>
            <p:cNvSpPr/>
            <p:nvPr/>
          </p:nvSpPr>
          <p:spPr>
            <a:xfrm>
              <a:off x="16986074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Oval 107">
              <a:extLst>
                <a:ext uri="{FF2B5EF4-FFF2-40B4-BE49-F238E27FC236}">
                  <a16:creationId xmlns="" xmlns:a16="http://schemas.microsoft.com/office/drawing/2014/main" id="{A1B536C6-CD1F-55EC-2675-03770F9D35DC}"/>
                </a:ext>
              </a:extLst>
            </p:cNvPr>
            <p:cNvSpPr/>
            <p:nvPr/>
          </p:nvSpPr>
          <p:spPr>
            <a:xfrm>
              <a:off x="17009456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Oval 108">
              <a:extLst>
                <a:ext uri="{FF2B5EF4-FFF2-40B4-BE49-F238E27FC236}">
                  <a16:creationId xmlns="" xmlns:a16="http://schemas.microsoft.com/office/drawing/2014/main" id="{EA2ABC7F-B984-A935-BB00-6F08C9EFD138}"/>
                </a:ext>
              </a:extLst>
            </p:cNvPr>
            <p:cNvSpPr/>
            <p:nvPr/>
          </p:nvSpPr>
          <p:spPr>
            <a:xfrm>
              <a:off x="17236297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Oval 109">
              <a:extLst>
                <a:ext uri="{FF2B5EF4-FFF2-40B4-BE49-F238E27FC236}">
                  <a16:creationId xmlns="" xmlns:a16="http://schemas.microsoft.com/office/drawing/2014/main" id="{7712E67F-A332-285F-F28A-FAFB7A170895}"/>
                </a:ext>
              </a:extLst>
            </p:cNvPr>
            <p:cNvSpPr/>
            <p:nvPr/>
          </p:nvSpPr>
          <p:spPr>
            <a:xfrm>
              <a:off x="16976321" y="2218662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Oval 110">
              <a:extLst>
                <a:ext uri="{FF2B5EF4-FFF2-40B4-BE49-F238E27FC236}">
                  <a16:creationId xmlns="" xmlns:a16="http://schemas.microsoft.com/office/drawing/2014/main" id="{2AFCCE17-69B6-008F-55DF-7A5FA320728A}"/>
                </a:ext>
              </a:extLst>
            </p:cNvPr>
            <p:cNvSpPr/>
            <p:nvPr/>
          </p:nvSpPr>
          <p:spPr>
            <a:xfrm>
              <a:off x="16514950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Oval 111">
              <a:extLst>
                <a:ext uri="{FF2B5EF4-FFF2-40B4-BE49-F238E27FC236}">
                  <a16:creationId xmlns="" xmlns:a16="http://schemas.microsoft.com/office/drawing/2014/main" id="{0C0C7EAB-D7E7-560F-3A01-EE748922BC26}"/>
                </a:ext>
              </a:extLst>
            </p:cNvPr>
            <p:cNvSpPr/>
            <p:nvPr/>
          </p:nvSpPr>
          <p:spPr>
            <a:xfrm>
              <a:off x="17079282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Oval 112">
              <a:extLst>
                <a:ext uri="{FF2B5EF4-FFF2-40B4-BE49-F238E27FC236}">
                  <a16:creationId xmlns="" xmlns:a16="http://schemas.microsoft.com/office/drawing/2014/main" id="{2A0C1295-F74A-E7E9-25E1-52207755007F}"/>
                </a:ext>
              </a:extLst>
            </p:cNvPr>
            <p:cNvSpPr/>
            <p:nvPr/>
          </p:nvSpPr>
          <p:spPr>
            <a:xfrm>
              <a:off x="16839645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Oval 113">
              <a:extLst>
                <a:ext uri="{FF2B5EF4-FFF2-40B4-BE49-F238E27FC236}">
                  <a16:creationId xmlns="" xmlns:a16="http://schemas.microsoft.com/office/drawing/2014/main" id="{6B5DAE17-226C-F3EC-7D47-E6C6B7813201}"/>
                </a:ext>
              </a:extLst>
            </p:cNvPr>
            <p:cNvSpPr/>
            <p:nvPr/>
          </p:nvSpPr>
          <p:spPr>
            <a:xfrm>
              <a:off x="17229640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Oval 114">
              <a:extLst>
                <a:ext uri="{FF2B5EF4-FFF2-40B4-BE49-F238E27FC236}">
                  <a16:creationId xmlns="" xmlns:a16="http://schemas.microsoft.com/office/drawing/2014/main" id="{2A0C0819-E05D-C295-2019-17E52DF38EAF}"/>
                </a:ext>
              </a:extLst>
            </p:cNvPr>
            <p:cNvSpPr/>
            <p:nvPr/>
          </p:nvSpPr>
          <p:spPr>
            <a:xfrm>
              <a:off x="17478314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Oval 115">
              <a:extLst>
                <a:ext uri="{FF2B5EF4-FFF2-40B4-BE49-F238E27FC236}">
                  <a16:creationId xmlns="" xmlns:a16="http://schemas.microsoft.com/office/drawing/2014/main" id="{A07EBBE7-FAF1-2DCF-3EB9-7F352A08F74B}"/>
                </a:ext>
              </a:extLst>
            </p:cNvPr>
            <p:cNvSpPr/>
            <p:nvPr/>
          </p:nvSpPr>
          <p:spPr>
            <a:xfrm>
              <a:off x="17677830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Oval 116">
              <a:extLst>
                <a:ext uri="{FF2B5EF4-FFF2-40B4-BE49-F238E27FC236}">
                  <a16:creationId xmlns="" xmlns:a16="http://schemas.microsoft.com/office/drawing/2014/main" id="{959D43FE-6F7F-939D-F368-C48F5513A276}"/>
                </a:ext>
              </a:extLst>
            </p:cNvPr>
            <p:cNvSpPr/>
            <p:nvPr/>
          </p:nvSpPr>
          <p:spPr>
            <a:xfrm>
              <a:off x="16844346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Oval 117">
              <a:extLst>
                <a:ext uri="{FF2B5EF4-FFF2-40B4-BE49-F238E27FC236}">
                  <a16:creationId xmlns="" xmlns:a16="http://schemas.microsoft.com/office/drawing/2014/main" id="{BEC16CD4-C8DD-E2D4-5B52-6F4260B5F886}"/>
                </a:ext>
              </a:extLst>
            </p:cNvPr>
            <p:cNvSpPr/>
            <p:nvPr/>
          </p:nvSpPr>
          <p:spPr>
            <a:xfrm>
              <a:off x="17792855" y="2385644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Oval 118">
              <a:extLst>
                <a:ext uri="{FF2B5EF4-FFF2-40B4-BE49-F238E27FC236}">
                  <a16:creationId xmlns="" xmlns:a16="http://schemas.microsoft.com/office/drawing/2014/main" id="{A8B3838F-A335-6F61-7750-EFC4F4B9E0F2}"/>
                </a:ext>
              </a:extLst>
            </p:cNvPr>
            <p:cNvSpPr/>
            <p:nvPr/>
          </p:nvSpPr>
          <p:spPr>
            <a:xfrm>
              <a:off x="17446645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Oval 119">
              <a:extLst>
                <a:ext uri="{FF2B5EF4-FFF2-40B4-BE49-F238E27FC236}">
                  <a16:creationId xmlns="" xmlns:a16="http://schemas.microsoft.com/office/drawing/2014/main" id="{8B56B4DB-1022-C26F-6761-105079E1C502}"/>
                </a:ext>
              </a:extLst>
            </p:cNvPr>
            <p:cNvSpPr/>
            <p:nvPr/>
          </p:nvSpPr>
          <p:spPr>
            <a:xfrm>
              <a:off x="17271504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Oval 120">
              <a:extLst>
                <a:ext uri="{FF2B5EF4-FFF2-40B4-BE49-F238E27FC236}">
                  <a16:creationId xmlns="" xmlns:a16="http://schemas.microsoft.com/office/drawing/2014/main" id="{206912F4-DD08-FD0A-9FC3-8B7EF1142AD1}"/>
                </a:ext>
              </a:extLst>
            </p:cNvPr>
            <p:cNvSpPr/>
            <p:nvPr/>
          </p:nvSpPr>
          <p:spPr>
            <a:xfrm>
              <a:off x="17261076" y="25495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Oval 121">
              <a:extLst>
                <a:ext uri="{FF2B5EF4-FFF2-40B4-BE49-F238E27FC236}">
                  <a16:creationId xmlns="" xmlns:a16="http://schemas.microsoft.com/office/drawing/2014/main" id="{9A38CB3C-0491-8038-F8B5-B9C614B0F1A2}"/>
                </a:ext>
              </a:extLst>
            </p:cNvPr>
            <p:cNvSpPr/>
            <p:nvPr/>
          </p:nvSpPr>
          <p:spPr>
            <a:xfrm>
              <a:off x="17478314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Multiply 122">
              <a:extLst>
                <a:ext uri="{FF2B5EF4-FFF2-40B4-BE49-F238E27FC236}">
                  <a16:creationId xmlns="" xmlns:a16="http://schemas.microsoft.com/office/drawing/2014/main" id="{3D8F8A2B-04E1-3188-7E56-CB4A578B3CCC}"/>
                </a:ext>
              </a:extLst>
            </p:cNvPr>
            <p:cNvSpPr/>
            <p:nvPr/>
          </p:nvSpPr>
          <p:spPr>
            <a:xfrm>
              <a:off x="17169879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Multiply 123">
              <a:extLst>
                <a:ext uri="{FF2B5EF4-FFF2-40B4-BE49-F238E27FC236}">
                  <a16:creationId xmlns="" xmlns:a16="http://schemas.microsoft.com/office/drawing/2014/main" id="{9AAE01B9-439C-C66E-DA1A-AF81C4BAD274}"/>
                </a:ext>
              </a:extLst>
            </p:cNvPr>
            <p:cNvSpPr/>
            <p:nvPr/>
          </p:nvSpPr>
          <p:spPr>
            <a:xfrm>
              <a:off x="16381334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8" name="Multiply 124">
              <a:extLst>
                <a:ext uri="{FF2B5EF4-FFF2-40B4-BE49-F238E27FC236}">
                  <a16:creationId xmlns="" xmlns:a16="http://schemas.microsoft.com/office/drawing/2014/main" id="{5DEEF50E-80F2-7E51-F6E7-BF976D4BA971}"/>
                </a:ext>
              </a:extLst>
            </p:cNvPr>
            <p:cNvSpPr/>
            <p:nvPr/>
          </p:nvSpPr>
          <p:spPr>
            <a:xfrm>
              <a:off x="16253368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Multiply 125">
              <a:extLst>
                <a:ext uri="{FF2B5EF4-FFF2-40B4-BE49-F238E27FC236}">
                  <a16:creationId xmlns="" xmlns:a16="http://schemas.microsoft.com/office/drawing/2014/main" id="{C87EF8E7-A68A-7CBB-D357-D21A106B8D6B}"/>
                </a:ext>
              </a:extLst>
            </p:cNvPr>
            <p:cNvSpPr/>
            <p:nvPr/>
          </p:nvSpPr>
          <p:spPr>
            <a:xfrm>
              <a:off x="16057723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Multiply 126">
              <a:extLst>
                <a:ext uri="{FF2B5EF4-FFF2-40B4-BE49-F238E27FC236}">
                  <a16:creationId xmlns="" xmlns:a16="http://schemas.microsoft.com/office/drawing/2014/main" id="{45F55C5A-4F9D-F940-9AC8-F5E9AE1F934C}"/>
                </a:ext>
              </a:extLst>
            </p:cNvPr>
            <p:cNvSpPr/>
            <p:nvPr/>
          </p:nvSpPr>
          <p:spPr>
            <a:xfrm>
              <a:off x="16034523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Multiply 127">
              <a:extLst>
                <a:ext uri="{FF2B5EF4-FFF2-40B4-BE49-F238E27FC236}">
                  <a16:creationId xmlns="" xmlns:a16="http://schemas.microsoft.com/office/drawing/2014/main" id="{A28E2E3D-ED19-5C47-A62E-E5045C2E65A2}"/>
                </a:ext>
              </a:extLst>
            </p:cNvPr>
            <p:cNvSpPr/>
            <p:nvPr/>
          </p:nvSpPr>
          <p:spPr>
            <a:xfrm>
              <a:off x="17744928" y="2170446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Multiply 128">
              <a:extLst>
                <a:ext uri="{FF2B5EF4-FFF2-40B4-BE49-F238E27FC236}">
                  <a16:creationId xmlns="" xmlns:a16="http://schemas.microsoft.com/office/drawing/2014/main" id="{84B9A896-00DC-8D1A-CA3F-883FBA492FD5}"/>
                </a:ext>
              </a:extLst>
            </p:cNvPr>
            <p:cNvSpPr/>
            <p:nvPr/>
          </p:nvSpPr>
          <p:spPr>
            <a:xfrm>
              <a:off x="16123756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3" name="Oval 129">
              <a:extLst>
                <a:ext uri="{FF2B5EF4-FFF2-40B4-BE49-F238E27FC236}">
                  <a16:creationId xmlns="" xmlns:a16="http://schemas.microsoft.com/office/drawing/2014/main" id="{AAD9F985-049D-999C-9D7E-326741A611B3}"/>
                </a:ext>
              </a:extLst>
            </p:cNvPr>
            <p:cNvSpPr/>
            <p:nvPr/>
          </p:nvSpPr>
          <p:spPr>
            <a:xfrm>
              <a:off x="17453674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4" name="Oval 130">
              <a:extLst>
                <a:ext uri="{FF2B5EF4-FFF2-40B4-BE49-F238E27FC236}">
                  <a16:creationId xmlns="" xmlns:a16="http://schemas.microsoft.com/office/drawing/2014/main" id="{4FA26275-88AA-F9CE-3DFC-D451A353847B}"/>
                </a:ext>
              </a:extLst>
            </p:cNvPr>
            <p:cNvSpPr/>
            <p:nvPr/>
          </p:nvSpPr>
          <p:spPr>
            <a:xfrm>
              <a:off x="17614361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Oval 131">
              <a:extLst>
                <a:ext uri="{FF2B5EF4-FFF2-40B4-BE49-F238E27FC236}">
                  <a16:creationId xmlns="" xmlns:a16="http://schemas.microsoft.com/office/drawing/2014/main" id="{67C7676F-9154-2FA2-EAB6-1B1DDA090F7D}"/>
                </a:ext>
              </a:extLst>
            </p:cNvPr>
            <p:cNvSpPr/>
            <p:nvPr/>
          </p:nvSpPr>
          <p:spPr>
            <a:xfrm>
              <a:off x="17661786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Multiply 132">
              <a:extLst>
                <a:ext uri="{FF2B5EF4-FFF2-40B4-BE49-F238E27FC236}">
                  <a16:creationId xmlns="" xmlns:a16="http://schemas.microsoft.com/office/drawing/2014/main" id="{F8419B3D-AB8A-FF0F-FD8C-205ED3BA41A8}"/>
                </a:ext>
              </a:extLst>
            </p:cNvPr>
            <p:cNvSpPr/>
            <p:nvPr/>
          </p:nvSpPr>
          <p:spPr>
            <a:xfrm>
              <a:off x="16248136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7" name="Multiply 133">
              <a:extLst>
                <a:ext uri="{FF2B5EF4-FFF2-40B4-BE49-F238E27FC236}">
                  <a16:creationId xmlns="" xmlns:a16="http://schemas.microsoft.com/office/drawing/2014/main" id="{7D9FD03A-4B75-8C8C-8F60-FBA4730268F8}"/>
                </a:ext>
              </a:extLst>
            </p:cNvPr>
            <p:cNvSpPr/>
            <p:nvPr/>
          </p:nvSpPr>
          <p:spPr>
            <a:xfrm>
              <a:off x="16493808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Multiply 134">
              <a:extLst>
                <a:ext uri="{FF2B5EF4-FFF2-40B4-BE49-F238E27FC236}">
                  <a16:creationId xmlns="" xmlns:a16="http://schemas.microsoft.com/office/drawing/2014/main" id="{2B4E5C27-029F-411C-7635-90BCF180B4CA}"/>
                </a:ext>
              </a:extLst>
            </p:cNvPr>
            <p:cNvSpPr/>
            <p:nvPr/>
          </p:nvSpPr>
          <p:spPr>
            <a:xfrm>
              <a:off x="16919111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Multiply 135">
              <a:extLst>
                <a:ext uri="{FF2B5EF4-FFF2-40B4-BE49-F238E27FC236}">
                  <a16:creationId xmlns="" xmlns:a16="http://schemas.microsoft.com/office/drawing/2014/main" id="{B515A2F7-D24F-B794-D2EB-91E0CDDB4585}"/>
                </a:ext>
              </a:extLst>
            </p:cNvPr>
            <p:cNvSpPr/>
            <p:nvPr/>
          </p:nvSpPr>
          <p:spPr>
            <a:xfrm>
              <a:off x="16677124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Multiply 136">
              <a:extLst>
                <a:ext uri="{FF2B5EF4-FFF2-40B4-BE49-F238E27FC236}">
                  <a16:creationId xmlns="" xmlns:a16="http://schemas.microsoft.com/office/drawing/2014/main" id="{E55D39F9-DD8F-C02A-A2AB-54405C3A336F}"/>
                </a:ext>
              </a:extLst>
            </p:cNvPr>
            <p:cNvSpPr/>
            <p:nvPr/>
          </p:nvSpPr>
          <p:spPr>
            <a:xfrm>
              <a:off x="16168819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1" name="Multiply 137">
              <a:extLst>
                <a:ext uri="{FF2B5EF4-FFF2-40B4-BE49-F238E27FC236}">
                  <a16:creationId xmlns="" xmlns:a16="http://schemas.microsoft.com/office/drawing/2014/main" id="{A98EEECE-9D61-BEB4-5E1D-997E56E0032C}"/>
                </a:ext>
              </a:extLst>
            </p:cNvPr>
            <p:cNvSpPr/>
            <p:nvPr/>
          </p:nvSpPr>
          <p:spPr>
            <a:xfrm>
              <a:off x="17306726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Multiply 138">
              <a:extLst>
                <a:ext uri="{FF2B5EF4-FFF2-40B4-BE49-F238E27FC236}">
                  <a16:creationId xmlns="" xmlns:a16="http://schemas.microsoft.com/office/drawing/2014/main" id="{D3BB0966-D8BF-DB3B-FEA7-2D042605FA71}"/>
                </a:ext>
              </a:extLst>
            </p:cNvPr>
            <p:cNvSpPr/>
            <p:nvPr/>
          </p:nvSpPr>
          <p:spPr>
            <a:xfrm>
              <a:off x="17646313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3" name="Multiply 139">
              <a:extLst>
                <a:ext uri="{FF2B5EF4-FFF2-40B4-BE49-F238E27FC236}">
                  <a16:creationId xmlns="" xmlns:a16="http://schemas.microsoft.com/office/drawing/2014/main" id="{8A3CDDA7-02C7-DE73-33CF-2102CBFB9A88}"/>
                </a:ext>
              </a:extLst>
            </p:cNvPr>
            <p:cNvSpPr/>
            <p:nvPr/>
          </p:nvSpPr>
          <p:spPr>
            <a:xfrm>
              <a:off x="16304291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4" name="Multiply 140">
              <a:extLst>
                <a:ext uri="{FF2B5EF4-FFF2-40B4-BE49-F238E27FC236}">
                  <a16:creationId xmlns="" xmlns:a16="http://schemas.microsoft.com/office/drawing/2014/main" id="{0A9F92D7-71C3-A3EC-264A-43A9AF76600B}"/>
                </a:ext>
              </a:extLst>
            </p:cNvPr>
            <p:cNvSpPr/>
            <p:nvPr/>
          </p:nvSpPr>
          <p:spPr>
            <a:xfrm>
              <a:off x="16666327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5" name="Multiply 141">
              <a:extLst>
                <a:ext uri="{FF2B5EF4-FFF2-40B4-BE49-F238E27FC236}">
                  <a16:creationId xmlns="" xmlns:a16="http://schemas.microsoft.com/office/drawing/2014/main" id="{53B45C06-7FE8-82B1-8830-E10E5B3AA1A9}"/>
                </a:ext>
              </a:extLst>
            </p:cNvPr>
            <p:cNvSpPr/>
            <p:nvPr/>
          </p:nvSpPr>
          <p:spPr>
            <a:xfrm>
              <a:off x="16011193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6" name="Multiply 142">
              <a:extLst>
                <a:ext uri="{FF2B5EF4-FFF2-40B4-BE49-F238E27FC236}">
                  <a16:creationId xmlns="" xmlns:a16="http://schemas.microsoft.com/office/drawing/2014/main" id="{B5A3DE41-A5D4-6BD0-18BD-565185D9396A}"/>
                </a:ext>
              </a:extLst>
            </p:cNvPr>
            <p:cNvSpPr/>
            <p:nvPr/>
          </p:nvSpPr>
          <p:spPr>
            <a:xfrm>
              <a:off x="17041407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7" name="Freeform 143">
              <a:extLst>
                <a:ext uri="{FF2B5EF4-FFF2-40B4-BE49-F238E27FC236}">
                  <a16:creationId xmlns="" xmlns:a16="http://schemas.microsoft.com/office/drawing/2014/main" id="{B32312AA-D54B-E475-1FF5-5290CFA85F61}"/>
                </a:ext>
              </a:extLst>
            </p:cNvPr>
            <p:cNvSpPr/>
            <p:nvPr/>
          </p:nvSpPr>
          <p:spPr>
            <a:xfrm>
              <a:off x="16413706" y="1401750"/>
              <a:ext cx="1998621" cy="1334650"/>
            </a:xfrm>
            <a:custGeom>
              <a:avLst/>
              <a:gdLst>
                <a:gd name="connsiteX0" fmla="*/ 626252 w 2251852"/>
                <a:gd name="connsiteY0" fmla="*/ 0 h 1911350"/>
                <a:gd name="connsiteX1" fmla="*/ 594502 w 2251852"/>
                <a:gd name="connsiteY1" fmla="*/ 31750 h 1911350"/>
                <a:gd name="connsiteX2" fmla="*/ 543702 w 2251852"/>
                <a:gd name="connsiteY2" fmla="*/ 69850 h 1911350"/>
                <a:gd name="connsiteX3" fmla="*/ 518302 w 2251852"/>
                <a:gd name="connsiteY3" fmla="*/ 88900 h 1911350"/>
                <a:gd name="connsiteX4" fmla="*/ 499252 w 2251852"/>
                <a:gd name="connsiteY4" fmla="*/ 107950 h 1911350"/>
                <a:gd name="connsiteX5" fmla="*/ 473852 w 2251852"/>
                <a:gd name="connsiteY5" fmla="*/ 127000 h 1911350"/>
                <a:gd name="connsiteX6" fmla="*/ 461152 w 2251852"/>
                <a:gd name="connsiteY6" fmla="*/ 146050 h 1911350"/>
                <a:gd name="connsiteX7" fmla="*/ 442102 w 2251852"/>
                <a:gd name="connsiteY7" fmla="*/ 165100 h 1911350"/>
                <a:gd name="connsiteX8" fmla="*/ 416702 w 2251852"/>
                <a:gd name="connsiteY8" fmla="*/ 196850 h 1911350"/>
                <a:gd name="connsiteX9" fmla="*/ 391302 w 2251852"/>
                <a:gd name="connsiteY9" fmla="*/ 234950 h 1911350"/>
                <a:gd name="connsiteX10" fmla="*/ 372252 w 2251852"/>
                <a:gd name="connsiteY10" fmla="*/ 254000 h 1911350"/>
                <a:gd name="connsiteX11" fmla="*/ 327802 w 2251852"/>
                <a:gd name="connsiteY11" fmla="*/ 311150 h 1911350"/>
                <a:gd name="connsiteX12" fmla="*/ 302402 w 2251852"/>
                <a:gd name="connsiteY12" fmla="*/ 349250 h 1911350"/>
                <a:gd name="connsiteX13" fmla="*/ 289702 w 2251852"/>
                <a:gd name="connsiteY13" fmla="*/ 374650 h 1911350"/>
                <a:gd name="connsiteX14" fmla="*/ 257952 w 2251852"/>
                <a:gd name="connsiteY14" fmla="*/ 412750 h 1911350"/>
                <a:gd name="connsiteX15" fmla="*/ 238902 w 2251852"/>
                <a:gd name="connsiteY15" fmla="*/ 450850 h 1911350"/>
                <a:gd name="connsiteX16" fmla="*/ 232552 w 2251852"/>
                <a:gd name="connsiteY16" fmla="*/ 469900 h 1911350"/>
                <a:gd name="connsiteX17" fmla="*/ 213502 w 2251852"/>
                <a:gd name="connsiteY17" fmla="*/ 482600 h 1911350"/>
                <a:gd name="connsiteX18" fmla="*/ 188102 w 2251852"/>
                <a:gd name="connsiteY18" fmla="*/ 514350 h 1911350"/>
                <a:gd name="connsiteX19" fmla="*/ 162702 w 2251852"/>
                <a:gd name="connsiteY19" fmla="*/ 552450 h 1911350"/>
                <a:gd name="connsiteX20" fmla="*/ 124602 w 2251852"/>
                <a:gd name="connsiteY20" fmla="*/ 584200 h 1911350"/>
                <a:gd name="connsiteX21" fmla="*/ 99202 w 2251852"/>
                <a:gd name="connsiteY21" fmla="*/ 622300 h 1911350"/>
                <a:gd name="connsiteX22" fmla="*/ 80152 w 2251852"/>
                <a:gd name="connsiteY22" fmla="*/ 660400 h 1911350"/>
                <a:gd name="connsiteX23" fmla="*/ 61102 w 2251852"/>
                <a:gd name="connsiteY23" fmla="*/ 673100 h 1911350"/>
                <a:gd name="connsiteX24" fmla="*/ 54752 w 2251852"/>
                <a:gd name="connsiteY24" fmla="*/ 692150 h 1911350"/>
                <a:gd name="connsiteX25" fmla="*/ 42052 w 2251852"/>
                <a:gd name="connsiteY25" fmla="*/ 711200 h 1911350"/>
                <a:gd name="connsiteX26" fmla="*/ 35702 w 2251852"/>
                <a:gd name="connsiteY26" fmla="*/ 755650 h 1911350"/>
                <a:gd name="connsiteX27" fmla="*/ 29352 w 2251852"/>
                <a:gd name="connsiteY27" fmla="*/ 774700 h 1911350"/>
                <a:gd name="connsiteX28" fmla="*/ 23002 w 2251852"/>
                <a:gd name="connsiteY28" fmla="*/ 800100 h 1911350"/>
                <a:gd name="connsiteX29" fmla="*/ 54752 w 2251852"/>
                <a:gd name="connsiteY29" fmla="*/ 1270000 h 1911350"/>
                <a:gd name="connsiteX30" fmla="*/ 54752 w 2251852"/>
                <a:gd name="connsiteY30" fmla="*/ 1270000 h 1911350"/>
                <a:gd name="connsiteX31" fmla="*/ 61102 w 2251852"/>
                <a:gd name="connsiteY31" fmla="*/ 1289050 h 1911350"/>
                <a:gd name="connsiteX32" fmla="*/ 99202 w 2251852"/>
                <a:gd name="connsiteY32" fmla="*/ 1320800 h 1911350"/>
                <a:gd name="connsiteX33" fmla="*/ 111902 w 2251852"/>
                <a:gd name="connsiteY33" fmla="*/ 1339850 h 1911350"/>
                <a:gd name="connsiteX34" fmla="*/ 143652 w 2251852"/>
                <a:gd name="connsiteY34" fmla="*/ 1371600 h 1911350"/>
                <a:gd name="connsiteX35" fmla="*/ 156352 w 2251852"/>
                <a:gd name="connsiteY35" fmla="*/ 1409700 h 1911350"/>
                <a:gd name="connsiteX36" fmla="*/ 169052 w 2251852"/>
                <a:gd name="connsiteY36" fmla="*/ 1428750 h 1911350"/>
                <a:gd name="connsiteX37" fmla="*/ 175402 w 2251852"/>
                <a:gd name="connsiteY37" fmla="*/ 1447800 h 1911350"/>
                <a:gd name="connsiteX38" fmla="*/ 194452 w 2251852"/>
                <a:gd name="connsiteY38" fmla="*/ 1466850 h 1911350"/>
                <a:gd name="connsiteX39" fmla="*/ 232552 w 2251852"/>
                <a:gd name="connsiteY39" fmla="*/ 1504950 h 1911350"/>
                <a:gd name="connsiteX40" fmla="*/ 238902 w 2251852"/>
                <a:gd name="connsiteY40" fmla="*/ 1524000 h 1911350"/>
                <a:gd name="connsiteX41" fmla="*/ 270652 w 2251852"/>
                <a:gd name="connsiteY41" fmla="*/ 1555750 h 1911350"/>
                <a:gd name="connsiteX42" fmla="*/ 277002 w 2251852"/>
                <a:gd name="connsiteY42" fmla="*/ 1574800 h 1911350"/>
                <a:gd name="connsiteX43" fmla="*/ 296052 w 2251852"/>
                <a:gd name="connsiteY43" fmla="*/ 1593850 h 1911350"/>
                <a:gd name="connsiteX44" fmla="*/ 308752 w 2251852"/>
                <a:gd name="connsiteY44" fmla="*/ 1619250 h 1911350"/>
                <a:gd name="connsiteX45" fmla="*/ 346852 w 2251852"/>
                <a:gd name="connsiteY45" fmla="*/ 1638300 h 1911350"/>
                <a:gd name="connsiteX46" fmla="*/ 397652 w 2251852"/>
                <a:gd name="connsiteY46" fmla="*/ 1682750 h 1911350"/>
                <a:gd name="connsiteX47" fmla="*/ 416702 w 2251852"/>
                <a:gd name="connsiteY47" fmla="*/ 1701800 h 1911350"/>
                <a:gd name="connsiteX48" fmla="*/ 454802 w 2251852"/>
                <a:gd name="connsiteY48" fmla="*/ 1714500 h 1911350"/>
                <a:gd name="connsiteX49" fmla="*/ 505602 w 2251852"/>
                <a:gd name="connsiteY49" fmla="*/ 1752600 h 1911350"/>
                <a:gd name="connsiteX50" fmla="*/ 524652 w 2251852"/>
                <a:gd name="connsiteY50" fmla="*/ 1765300 h 1911350"/>
                <a:gd name="connsiteX51" fmla="*/ 543702 w 2251852"/>
                <a:gd name="connsiteY51" fmla="*/ 1771650 h 1911350"/>
                <a:gd name="connsiteX52" fmla="*/ 562752 w 2251852"/>
                <a:gd name="connsiteY52" fmla="*/ 1784350 h 1911350"/>
                <a:gd name="connsiteX53" fmla="*/ 600852 w 2251852"/>
                <a:gd name="connsiteY53" fmla="*/ 1797050 h 1911350"/>
                <a:gd name="connsiteX54" fmla="*/ 677052 w 2251852"/>
                <a:gd name="connsiteY54" fmla="*/ 1790700 h 1911350"/>
                <a:gd name="connsiteX55" fmla="*/ 696102 w 2251852"/>
                <a:gd name="connsiteY55" fmla="*/ 1778000 h 1911350"/>
                <a:gd name="connsiteX56" fmla="*/ 734202 w 2251852"/>
                <a:gd name="connsiteY56" fmla="*/ 1701800 h 1911350"/>
                <a:gd name="connsiteX57" fmla="*/ 753252 w 2251852"/>
                <a:gd name="connsiteY57" fmla="*/ 1663700 h 1911350"/>
                <a:gd name="connsiteX58" fmla="*/ 772302 w 2251852"/>
                <a:gd name="connsiteY58" fmla="*/ 1619250 h 1911350"/>
                <a:gd name="connsiteX59" fmla="*/ 778652 w 2251852"/>
                <a:gd name="connsiteY59" fmla="*/ 1587500 h 1911350"/>
                <a:gd name="connsiteX60" fmla="*/ 785002 w 2251852"/>
                <a:gd name="connsiteY60" fmla="*/ 1562100 h 1911350"/>
                <a:gd name="connsiteX61" fmla="*/ 791352 w 2251852"/>
                <a:gd name="connsiteY61" fmla="*/ 1530350 h 1911350"/>
                <a:gd name="connsiteX62" fmla="*/ 804052 w 2251852"/>
                <a:gd name="connsiteY62" fmla="*/ 1492250 h 1911350"/>
                <a:gd name="connsiteX63" fmla="*/ 810402 w 2251852"/>
                <a:gd name="connsiteY63" fmla="*/ 1473200 h 1911350"/>
                <a:gd name="connsiteX64" fmla="*/ 829452 w 2251852"/>
                <a:gd name="connsiteY64" fmla="*/ 1428750 h 1911350"/>
                <a:gd name="connsiteX65" fmla="*/ 848502 w 2251852"/>
                <a:gd name="connsiteY65" fmla="*/ 1409700 h 1911350"/>
                <a:gd name="connsiteX66" fmla="*/ 854852 w 2251852"/>
                <a:gd name="connsiteY66" fmla="*/ 1384300 h 1911350"/>
                <a:gd name="connsiteX67" fmla="*/ 886602 w 2251852"/>
                <a:gd name="connsiteY67" fmla="*/ 1339850 h 1911350"/>
                <a:gd name="connsiteX68" fmla="*/ 905652 w 2251852"/>
                <a:gd name="connsiteY68" fmla="*/ 1333500 h 1911350"/>
                <a:gd name="connsiteX69" fmla="*/ 956452 w 2251852"/>
                <a:gd name="connsiteY69" fmla="*/ 1301750 h 1911350"/>
                <a:gd name="connsiteX70" fmla="*/ 975502 w 2251852"/>
                <a:gd name="connsiteY70" fmla="*/ 1295400 h 1911350"/>
                <a:gd name="connsiteX71" fmla="*/ 994552 w 2251852"/>
                <a:gd name="connsiteY71" fmla="*/ 1289050 h 1911350"/>
                <a:gd name="connsiteX72" fmla="*/ 1140602 w 2251852"/>
                <a:gd name="connsiteY72" fmla="*/ 1314450 h 1911350"/>
                <a:gd name="connsiteX73" fmla="*/ 1153302 w 2251852"/>
                <a:gd name="connsiteY73" fmla="*/ 1365250 h 1911350"/>
                <a:gd name="connsiteX74" fmla="*/ 1146952 w 2251852"/>
                <a:gd name="connsiteY74" fmla="*/ 1492250 h 1911350"/>
                <a:gd name="connsiteX75" fmla="*/ 1134252 w 2251852"/>
                <a:gd name="connsiteY75" fmla="*/ 1530350 h 1911350"/>
                <a:gd name="connsiteX76" fmla="*/ 1096152 w 2251852"/>
                <a:gd name="connsiteY76" fmla="*/ 1562100 h 1911350"/>
                <a:gd name="connsiteX77" fmla="*/ 1039002 w 2251852"/>
                <a:gd name="connsiteY77" fmla="*/ 1587500 h 1911350"/>
                <a:gd name="connsiteX78" fmla="*/ 1019952 w 2251852"/>
                <a:gd name="connsiteY78" fmla="*/ 1593850 h 1911350"/>
                <a:gd name="connsiteX79" fmla="*/ 994552 w 2251852"/>
                <a:gd name="connsiteY79" fmla="*/ 1606550 h 1911350"/>
                <a:gd name="connsiteX80" fmla="*/ 975502 w 2251852"/>
                <a:gd name="connsiteY80" fmla="*/ 1612900 h 1911350"/>
                <a:gd name="connsiteX81" fmla="*/ 937402 w 2251852"/>
                <a:gd name="connsiteY81" fmla="*/ 1638300 h 1911350"/>
                <a:gd name="connsiteX82" fmla="*/ 899302 w 2251852"/>
                <a:gd name="connsiteY82" fmla="*/ 1701800 h 1911350"/>
                <a:gd name="connsiteX83" fmla="*/ 873902 w 2251852"/>
                <a:gd name="connsiteY83" fmla="*/ 1765300 h 1911350"/>
                <a:gd name="connsiteX84" fmla="*/ 880252 w 2251852"/>
                <a:gd name="connsiteY84" fmla="*/ 1822450 h 1911350"/>
                <a:gd name="connsiteX85" fmla="*/ 886602 w 2251852"/>
                <a:gd name="connsiteY85" fmla="*/ 1841500 h 1911350"/>
                <a:gd name="connsiteX86" fmla="*/ 912002 w 2251852"/>
                <a:gd name="connsiteY86" fmla="*/ 1879600 h 1911350"/>
                <a:gd name="connsiteX87" fmla="*/ 931052 w 2251852"/>
                <a:gd name="connsiteY87" fmla="*/ 1892300 h 1911350"/>
                <a:gd name="connsiteX88" fmla="*/ 950102 w 2251852"/>
                <a:gd name="connsiteY88" fmla="*/ 1898650 h 1911350"/>
                <a:gd name="connsiteX89" fmla="*/ 975502 w 2251852"/>
                <a:gd name="connsiteY89" fmla="*/ 1911350 h 1911350"/>
                <a:gd name="connsiteX90" fmla="*/ 1248552 w 2251852"/>
                <a:gd name="connsiteY90" fmla="*/ 1905000 h 1911350"/>
                <a:gd name="connsiteX91" fmla="*/ 1305702 w 2251852"/>
                <a:gd name="connsiteY91" fmla="*/ 1898650 h 1911350"/>
                <a:gd name="connsiteX92" fmla="*/ 1350152 w 2251852"/>
                <a:gd name="connsiteY92" fmla="*/ 1885950 h 1911350"/>
                <a:gd name="connsiteX93" fmla="*/ 1375552 w 2251852"/>
                <a:gd name="connsiteY93" fmla="*/ 1879600 h 1911350"/>
                <a:gd name="connsiteX94" fmla="*/ 1420002 w 2251852"/>
                <a:gd name="connsiteY94" fmla="*/ 1873250 h 1911350"/>
                <a:gd name="connsiteX95" fmla="*/ 1470802 w 2251852"/>
                <a:gd name="connsiteY95" fmla="*/ 1860550 h 1911350"/>
                <a:gd name="connsiteX96" fmla="*/ 1489852 w 2251852"/>
                <a:gd name="connsiteY96" fmla="*/ 1854200 h 1911350"/>
                <a:gd name="connsiteX97" fmla="*/ 1527952 w 2251852"/>
                <a:gd name="connsiteY97" fmla="*/ 1847850 h 1911350"/>
                <a:gd name="connsiteX98" fmla="*/ 1591452 w 2251852"/>
                <a:gd name="connsiteY98" fmla="*/ 1828800 h 1911350"/>
                <a:gd name="connsiteX99" fmla="*/ 1629552 w 2251852"/>
                <a:gd name="connsiteY99" fmla="*/ 1816100 h 1911350"/>
                <a:gd name="connsiteX100" fmla="*/ 1642252 w 2251852"/>
                <a:gd name="connsiteY100" fmla="*/ 1797050 h 1911350"/>
                <a:gd name="connsiteX101" fmla="*/ 1661302 w 2251852"/>
                <a:gd name="connsiteY101" fmla="*/ 1790700 h 1911350"/>
                <a:gd name="connsiteX102" fmla="*/ 1680352 w 2251852"/>
                <a:gd name="connsiteY102" fmla="*/ 1778000 h 1911350"/>
                <a:gd name="connsiteX103" fmla="*/ 1705752 w 2251852"/>
                <a:gd name="connsiteY103" fmla="*/ 1746250 h 1911350"/>
                <a:gd name="connsiteX104" fmla="*/ 1724802 w 2251852"/>
                <a:gd name="connsiteY104" fmla="*/ 1708150 h 1911350"/>
                <a:gd name="connsiteX105" fmla="*/ 1743852 w 2251852"/>
                <a:gd name="connsiteY105" fmla="*/ 1695450 h 1911350"/>
                <a:gd name="connsiteX106" fmla="*/ 1762902 w 2251852"/>
                <a:gd name="connsiteY106" fmla="*/ 1676400 h 1911350"/>
                <a:gd name="connsiteX107" fmla="*/ 1781952 w 2251852"/>
                <a:gd name="connsiteY107" fmla="*/ 1638300 h 1911350"/>
                <a:gd name="connsiteX108" fmla="*/ 1788302 w 2251852"/>
                <a:gd name="connsiteY108" fmla="*/ 1619250 h 1911350"/>
                <a:gd name="connsiteX109" fmla="*/ 1794652 w 2251852"/>
                <a:gd name="connsiteY109" fmla="*/ 1593850 h 1911350"/>
                <a:gd name="connsiteX110" fmla="*/ 1826402 w 2251852"/>
                <a:gd name="connsiteY110" fmla="*/ 1536700 h 1911350"/>
                <a:gd name="connsiteX111" fmla="*/ 1820052 w 2251852"/>
                <a:gd name="connsiteY111" fmla="*/ 1416050 h 1911350"/>
                <a:gd name="connsiteX112" fmla="*/ 1801002 w 2251852"/>
                <a:gd name="connsiteY112" fmla="*/ 1403350 h 1911350"/>
                <a:gd name="connsiteX113" fmla="*/ 1762902 w 2251852"/>
                <a:gd name="connsiteY113" fmla="*/ 1390650 h 1911350"/>
                <a:gd name="connsiteX114" fmla="*/ 1743852 w 2251852"/>
                <a:gd name="connsiteY114" fmla="*/ 1384300 h 1911350"/>
                <a:gd name="connsiteX115" fmla="*/ 1527952 w 2251852"/>
                <a:gd name="connsiteY115" fmla="*/ 1384300 h 1911350"/>
                <a:gd name="connsiteX116" fmla="*/ 1508902 w 2251852"/>
                <a:gd name="connsiteY116" fmla="*/ 1371600 h 1911350"/>
                <a:gd name="connsiteX117" fmla="*/ 1477152 w 2251852"/>
                <a:gd name="connsiteY117" fmla="*/ 1289050 h 1911350"/>
                <a:gd name="connsiteX118" fmla="*/ 1483502 w 2251852"/>
                <a:gd name="connsiteY118" fmla="*/ 1162050 h 1911350"/>
                <a:gd name="connsiteX119" fmla="*/ 1540652 w 2251852"/>
                <a:gd name="connsiteY119" fmla="*/ 1130300 h 1911350"/>
                <a:gd name="connsiteX120" fmla="*/ 1559702 w 2251852"/>
                <a:gd name="connsiteY120" fmla="*/ 1117600 h 1911350"/>
                <a:gd name="connsiteX121" fmla="*/ 1578752 w 2251852"/>
                <a:gd name="connsiteY121" fmla="*/ 1111250 h 1911350"/>
                <a:gd name="connsiteX122" fmla="*/ 1597802 w 2251852"/>
                <a:gd name="connsiteY122" fmla="*/ 1098550 h 1911350"/>
                <a:gd name="connsiteX123" fmla="*/ 1699402 w 2251852"/>
                <a:gd name="connsiteY123" fmla="*/ 1085850 h 1911350"/>
                <a:gd name="connsiteX124" fmla="*/ 1756552 w 2251852"/>
                <a:gd name="connsiteY124" fmla="*/ 1079500 h 1911350"/>
                <a:gd name="connsiteX125" fmla="*/ 1794652 w 2251852"/>
                <a:gd name="connsiteY125" fmla="*/ 1066800 h 1911350"/>
                <a:gd name="connsiteX126" fmla="*/ 1813702 w 2251852"/>
                <a:gd name="connsiteY126" fmla="*/ 1060450 h 1911350"/>
                <a:gd name="connsiteX127" fmla="*/ 1832752 w 2251852"/>
                <a:gd name="connsiteY127" fmla="*/ 1047750 h 1911350"/>
                <a:gd name="connsiteX128" fmla="*/ 1851802 w 2251852"/>
                <a:gd name="connsiteY128" fmla="*/ 1041400 h 1911350"/>
                <a:gd name="connsiteX129" fmla="*/ 1889902 w 2251852"/>
                <a:gd name="connsiteY129" fmla="*/ 1009650 h 1911350"/>
                <a:gd name="connsiteX130" fmla="*/ 1908952 w 2251852"/>
                <a:gd name="connsiteY130" fmla="*/ 1003300 h 1911350"/>
                <a:gd name="connsiteX131" fmla="*/ 1928002 w 2251852"/>
                <a:gd name="connsiteY131" fmla="*/ 984250 h 1911350"/>
                <a:gd name="connsiteX132" fmla="*/ 1947052 w 2251852"/>
                <a:gd name="connsiteY132" fmla="*/ 977900 h 1911350"/>
                <a:gd name="connsiteX133" fmla="*/ 2004202 w 2251852"/>
                <a:gd name="connsiteY133" fmla="*/ 933450 h 1911350"/>
                <a:gd name="connsiteX134" fmla="*/ 2042302 w 2251852"/>
                <a:gd name="connsiteY134" fmla="*/ 901700 h 1911350"/>
                <a:gd name="connsiteX135" fmla="*/ 2086752 w 2251852"/>
                <a:gd name="connsiteY135" fmla="*/ 889000 h 1911350"/>
                <a:gd name="connsiteX136" fmla="*/ 2105802 w 2251852"/>
                <a:gd name="connsiteY136" fmla="*/ 876300 h 1911350"/>
                <a:gd name="connsiteX137" fmla="*/ 2131202 w 2251852"/>
                <a:gd name="connsiteY137" fmla="*/ 863600 h 1911350"/>
                <a:gd name="connsiteX138" fmla="*/ 2156602 w 2251852"/>
                <a:gd name="connsiteY138" fmla="*/ 844550 h 1911350"/>
                <a:gd name="connsiteX139" fmla="*/ 2175652 w 2251852"/>
                <a:gd name="connsiteY139" fmla="*/ 838200 h 1911350"/>
                <a:gd name="connsiteX140" fmla="*/ 2213752 w 2251852"/>
                <a:gd name="connsiteY140" fmla="*/ 812800 h 1911350"/>
                <a:gd name="connsiteX141" fmla="*/ 2232802 w 2251852"/>
                <a:gd name="connsiteY141" fmla="*/ 800100 h 1911350"/>
                <a:gd name="connsiteX142" fmla="*/ 2251852 w 2251852"/>
                <a:gd name="connsiteY142" fmla="*/ 793750 h 191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2251852" h="1911350">
                  <a:moveTo>
                    <a:pt x="626252" y="0"/>
                  </a:moveTo>
                  <a:cubicBezTo>
                    <a:pt x="615669" y="10583"/>
                    <a:pt x="605928" y="22082"/>
                    <a:pt x="594502" y="31750"/>
                  </a:cubicBezTo>
                  <a:cubicBezTo>
                    <a:pt x="578344" y="45422"/>
                    <a:pt x="560635" y="57150"/>
                    <a:pt x="543702" y="69850"/>
                  </a:cubicBezTo>
                  <a:cubicBezTo>
                    <a:pt x="535235" y="76200"/>
                    <a:pt x="525786" y="81416"/>
                    <a:pt x="518302" y="88900"/>
                  </a:cubicBezTo>
                  <a:cubicBezTo>
                    <a:pt x="511952" y="95250"/>
                    <a:pt x="506070" y="102106"/>
                    <a:pt x="499252" y="107950"/>
                  </a:cubicBezTo>
                  <a:cubicBezTo>
                    <a:pt x="491217" y="114838"/>
                    <a:pt x="481336" y="119516"/>
                    <a:pt x="473852" y="127000"/>
                  </a:cubicBezTo>
                  <a:cubicBezTo>
                    <a:pt x="468456" y="132396"/>
                    <a:pt x="466038" y="140187"/>
                    <a:pt x="461152" y="146050"/>
                  </a:cubicBezTo>
                  <a:cubicBezTo>
                    <a:pt x="455403" y="152949"/>
                    <a:pt x="448452" y="158750"/>
                    <a:pt x="442102" y="165100"/>
                  </a:cubicBezTo>
                  <a:cubicBezTo>
                    <a:pt x="426210" y="228668"/>
                    <a:pt x="450105" y="163447"/>
                    <a:pt x="416702" y="196850"/>
                  </a:cubicBezTo>
                  <a:cubicBezTo>
                    <a:pt x="405909" y="207643"/>
                    <a:pt x="402095" y="224157"/>
                    <a:pt x="391302" y="234950"/>
                  </a:cubicBezTo>
                  <a:cubicBezTo>
                    <a:pt x="384952" y="241300"/>
                    <a:pt x="377765" y="246911"/>
                    <a:pt x="372252" y="254000"/>
                  </a:cubicBezTo>
                  <a:cubicBezTo>
                    <a:pt x="319085" y="322358"/>
                    <a:pt x="371051" y="267901"/>
                    <a:pt x="327802" y="311150"/>
                  </a:cubicBezTo>
                  <a:cubicBezTo>
                    <a:pt x="314180" y="352015"/>
                    <a:pt x="332131" y="307630"/>
                    <a:pt x="302402" y="349250"/>
                  </a:cubicBezTo>
                  <a:cubicBezTo>
                    <a:pt x="296900" y="356953"/>
                    <a:pt x="294398" y="366431"/>
                    <a:pt x="289702" y="374650"/>
                  </a:cubicBezTo>
                  <a:cubicBezTo>
                    <a:pt x="277914" y="395278"/>
                    <a:pt x="275463" y="395239"/>
                    <a:pt x="257952" y="412750"/>
                  </a:cubicBezTo>
                  <a:cubicBezTo>
                    <a:pt x="241991" y="460633"/>
                    <a:pt x="263521" y="401611"/>
                    <a:pt x="238902" y="450850"/>
                  </a:cubicBezTo>
                  <a:cubicBezTo>
                    <a:pt x="235909" y="456837"/>
                    <a:pt x="236733" y="464673"/>
                    <a:pt x="232552" y="469900"/>
                  </a:cubicBezTo>
                  <a:cubicBezTo>
                    <a:pt x="227784" y="475859"/>
                    <a:pt x="219852" y="478367"/>
                    <a:pt x="213502" y="482600"/>
                  </a:cubicBezTo>
                  <a:cubicBezTo>
                    <a:pt x="199202" y="525500"/>
                    <a:pt x="219034" y="478999"/>
                    <a:pt x="188102" y="514350"/>
                  </a:cubicBezTo>
                  <a:cubicBezTo>
                    <a:pt x="178051" y="525837"/>
                    <a:pt x="173495" y="541657"/>
                    <a:pt x="162702" y="552450"/>
                  </a:cubicBezTo>
                  <a:cubicBezTo>
                    <a:pt x="138256" y="576896"/>
                    <a:pt x="151124" y="566519"/>
                    <a:pt x="124602" y="584200"/>
                  </a:cubicBezTo>
                  <a:cubicBezTo>
                    <a:pt x="116135" y="596900"/>
                    <a:pt x="104029" y="607820"/>
                    <a:pt x="99202" y="622300"/>
                  </a:cubicBezTo>
                  <a:cubicBezTo>
                    <a:pt x="94037" y="637794"/>
                    <a:pt x="92462" y="648090"/>
                    <a:pt x="80152" y="660400"/>
                  </a:cubicBezTo>
                  <a:cubicBezTo>
                    <a:pt x="74756" y="665796"/>
                    <a:pt x="67452" y="668867"/>
                    <a:pt x="61102" y="673100"/>
                  </a:cubicBezTo>
                  <a:cubicBezTo>
                    <a:pt x="58985" y="679450"/>
                    <a:pt x="57745" y="686163"/>
                    <a:pt x="54752" y="692150"/>
                  </a:cubicBezTo>
                  <a:cubicBezTo>
                    <a:pt x="51339" y="698976"/>
                    <a:pt x="44245" y="703890"/>
                    <a:pt x="42052" y="711200"/>
                  </a:cubicBezTo>
                  <a:cubicBezTo>
                    <a:pt x="37751" y="725536"/>
                    <a:pt x="38637" y="740974"/>
                    <a:pt x="35702" y="755650"/>
                  </a:cubicBezTo>
                  <a:cubicBezTo>
                    <a:pt x="34389" y="762214"/>
                    <a:pt x="31191" y="768264"/>
                    <a:pt x="29352" y="774700"/>
                  </a:cubicBezTo>
                  <a:cubicBezTo>
                    <a:pt x="26954" y="783091"/>
                    <a:pt x="25119" y="791633"/>
                    <a:pt x="23002" y="800100"/>
                  </a:cubicBezTo>
                  <a:cubicBezTo>
                    <a:pt x="29576" y="1247162"/>
                    <a:pt x="-50496" y="1112127"/>
                    <a:pt x="54752" y="1270000"/>
                  </a:cubicBezTo>
                  <a:lnTo>
                    <a:pt x="54752" y="1270000"/>
                  </a:lnTo>
                  <a:cubicBezTo>
                    <a:pt x="56869" y="1276350"/>
                    <a:pt x="57389" y="1283481"/>
                    <a:pt x="61102" y="1289050"/>
                  </a:cubicBezTo>
                  <a:cubicBezTo>
                    <a:pt x="70881" y="1303718"/>
                    <a:pt x="85145" y="1311429"/>
                    <a:pt x="99202" y="1320800"/>
                  </a:cubicBezTo>
                  <a:cubicBezTo>
                    <a:pt x="103435" y="1327150"/>
                    <a:pt x="106506" y="1334454"/>
                    <a:pt x="111902" y="1339850"/>
                  </a:cubicBezTo>
                  <a:cubicBezTo>
                    <a:pt x="133915" y="1361863"/>
                    <a:pt x="130105" y="1341120"/>
                    <a:pt x="143652" y="1371600"/>
                  </a:cubicBezTo>
                  <a:cubicBezTo>
                    <a:pt x="149089" y="1383833"/>
                    <a:pt x="148926" y="1398561"/>
                    <a:pt x="156352" y="1409700"/>
                  </a:cubicBezTo>
                  <a:cubicBezTo>
                    <a:pt x="160585" y="1416050"/>
                    <a:pt x="165639" y="1421924"/>
                    <a:pt x="169052" y="1428750"/>
                  </a:cubicBezTo>
                  <a:cubicBezTo>
                    <a:pt x="172045" y="1434737"/>
                    <a:pt x="171689" y="1442231"/>
                    <a:pt x="175402" y="1447800"/>
                  </a:cubicBezTo>
                  <a:cubicBezTo>
                    <a:pt x="180383" y="1455272"/>
                    <a:pt x="188608" y="1460032"/>
                    <a:pt x="194452" y="1466850"/>
                  </a:cubicBezTo>
                  <a:cubicBezTo>
                    <a:pt x="225957" y="1503606"/>
                    <a:pt x="199016" y="1482593"/>
                    <a:pt x="232552" y="1504950"/>
                  </a:cubicBezTo>
                  <a:cubicBezTo>
                    <a:pt x="234669" y="1511300"/>
                    <a:pt x="234721" y="1518773"/>
                    <a:pt x="238902" y="1524000"/>
                  </a:cubicBezTo>
                  <a:cubicBezTo>
                    <a:pt x="272769" y="1566333"/>
                    <a:pt x="245252" y="1504950"/>
                    <a:pt x="270652" y="1555750"/>
                  </a:cubicBezTo>
                  <a:cubicBezTo>
                    <a:pt x="273645" y="1561737"/>
                    <a:pt x="273289" y="1569231"/>
                    <a:pt x="277002" y="1574800"/>
                  </a:cubicBezTo>
                  <a:cubicBezTo>
                    <a:pt x="281983" y="1582272"/>
                    <a:pt x="290832" y="1586542"/>
                    <a:pt x="296052" y="1593850"/>
                  </a:cubicBezTo>
                  <a:cubicBezTo>
                    <a:pt x="301554" y="1601553"/>
                    <a:pt x="302692" y="1611978"/>
                    <a:pt x="308752" y="1619250"/>
                  </a:cubicBezTo>
                  <a:cubicBezTo>
                    <a:pt x="318221" y="1630613"/>
                    <a:pt x="333850" y="1633966"/>
                    <a:pt x="346852" y="1638300"/>
                  </a:cubicBezTo>
                  <a:cubicBezTo>
                    <a:pt x="382835" y="1692275"/>
                    <a:pt x="323569" y="1608667"/>
                    <a:pt x="397652" y="1682750"/>
                  </a:cubicBezTo>
                  <a:cubicBezTo>
                    <a:pt x="404002" y="1689100"/>
                    <a:pt x="408852" y="1697439"/>
                    <a:pt x="416702" y="1701800"/>
                  </a:cubicBezTo>
                  <a:cubicBezTo>
                    <a:pt x="428404" y="1708301"/>
                    <a:pt x="454802" y="1714500"/>
                    <a:pt x="454802" y="1714500"/>
                  </a:cubicBezTo>
                  <a:cubicBezTo>
                    <a:pt x="471735" y="1727200"/>
                    <a:pt x="487990" y="1740859"/>
                    <a:pt x="505602" y="1752600"/>
                  </a:cubicBezTo>
                  <a:cubicBezTo>
                    <a:pt x="511952" y="1756833"/>
                    <a:pt x="517826" y="1761887"/>
                    <a:pt x="524652" y="1765300"/>
                  </a:cubicBezTo>
                  <a:cubicBezTo>
                    <a:pt x="530639" y="1768293"/>
                    <a:pt x="537715" y="1768657"/>
                    <a:pt x="543702" y="1771650"/>
                  </a:cubicBezTo>
                  <a:cubicBezTo>
                    <a:pt x="550528" y="1775063"/>
                    <a:pt x="555778" y="1781250"/>
                    <a:pt x="562752" y="1784350"/>
                  </a:cubicBezTo>
                  <a:cubicBezTo>
                    <a:pt x="574985" y="1789787"/>
                    <a:pt x="600852" y="1797050"/>
                    <a:pt x="600852" y="1797050"/>
                  </a:cubicBezTo>
                  <a:cubicBezTo>
                    <a:pt x="626252" y="1794933"/>
                    <a:pt x="652059" y="1795699"/>
                    <a:pt x="677052" y="1790700"/>
                  </a:cubicBezTo>
                  <a:cubicBezTo>
                    <a:pt x="684536" y="1789203"/>
                    <a:pt x="691076" y="1783743"/>
                    <a:pt x="696102" y="1778000"/>
                  </a:cubicBezTo>
                  <a:cubicBezTo>
                    <a:pt x="780033" y="1682079"/>
                    <a:pt x="671853" y="1795323"/>
                    <a:pt x="734202" y="1701800"/>
                  </a:cubicBezTo>
                  <a:cubicBezTo>
                    <a:pt x="758608" y="1665191"/>
                    <a:pt x="737478" y="1700506"/>
                    <a:pt x="753252" y="1663700"/>
                  </a:cubicBezTo>
                  <a:cubicBezTo>
                    <a:pt x="764156" y="1638257"/>
                    <a:pt x="766345" y="1643077"/>
                    <a:pt x="772302" y="1619250"/>
                  </a:cubicBezTo>
                  <a:cubicBezTo>
                    <a:pt x="774920" y="1608779"/>
                    <a:pt x="776311" y="1598036"/>
                    <a:pt x="778652" y="1587500"/>
                  </a:cubicBezTo>
                  <a:cubicBezTo>
                    <a:pt x="780545" y="1578981"/>
                    <a:pt x="783109" y="1570619"/>
                    <a:pt x="785002" y="1562100"/>
                  </a:cubicBezTo>
                  <a:cubicBezTo>
                    <a:pt x="787343" y="1551564"/>
                    <a:pt x="788512" y="1540763"/>
                    <a:pt x="791352" y="1530350"/>
                  </a:cubicBezTo>
                  <a:cubicBezTo>
                    <a:pt x="794874" y="1517435"/>
                    <a:pt x="799819" y="1504950"/>
                    <a:pt x="804052" y="1492250"/>
                  </a:cubicBezTo>
                  <a:lnTo>
                    <a:pt x="810402" y="1473200"/>
                  </a:lnTo>
                  <a:cubicBezTo>
                    <a:pt x="815584" y="1457654"/>
                    <a:pt x="819644" y="1442482"/>
                    <a:pt x="829452" y="1428750"/>
                  </a:cubicBezTo>
                  <a:cubicBezTo>
                    <a:pt x="834672" y="1421442"/>
                    <a:pt x="842152" y="1416050"/>
                    <a:pt x="848502" y="1409700"/>
                  </a:cubicBezTo>
                  <a:cubicBezTo>
                    <a:pt x="850619" y="1401233"/>
                    <a:pt x="851788" y="1392472"/>
                    <a:pt x="854852" y="1384300"/>
                  </a:cubicBezTo>
                  <a:cubicBezTo>
                    <a:pt x="861473" y="1366643"/>
                    <a:pt x="870435" y="1350628"/>
                    <a:pt x="886602" y="1339850"/>
                  </a:cubicBezTo>
                  <a:cubicBezTo>
                    <a:pt x="892171" y="1336137"/>
                    <a:pt x="899302" y="1335617"/>
                    <a:pt x="905652" y="1333500"/>
                  </a:cubicBezTo>
                  <a:cubicBezTo>
                    <a:pt x="925778" y="1303311"/>
                    <a:pt x="911112" y="1316863"/>
                    <a:pt x="956452" y="1301750"/>
                  </a:cubicBezTo>
                  <a:lnTo>
                    <a:pt x="975502" y="1295400"/>
                  </a:lnTo>
                  <a:lnTo>
                    <a:pt x="994552" y="1289050"/>
                  </a:lnTo>
                  <a:cubicBezTo>
                    <a:pt x="1113898" y="1294475"/>
                    <a:pt x="1123394" y="1251354"/>
                    <a:pt x="1140602" y="1314450"/>
                  </a:cubicBezTo>
                  <a:cubicBezTo>
                    <a:pt x="1145195" y="1331289"/>
                    <a:pt x="1149069" y="1348317"/>
                    <a:pt x="1153302" y="1365250"/>
                  </a:cubicBezTo>
                  <a:cubicBezTo>
                    <a:pt x="1151185" y="1407583"/>
                    <a:pt x="1151810" y="1450143"/>
                    <a:pt x="1146952" y="1492250"/>
                  </a:cubicBezTo>
                  <a:cubicBezTo>
                    <a:pt x="1145418" y="1505549"/>
                    <a:pt x="1145391" y="1522924"/>
                    <a:pt x="1134252" y="1530350"/>
                  </a:cubicBezTo>
                  <a:cubicBezTo>
                    <a:pt x="1086954" y="1561882"/>
                    <a:pt x="1145045" y="1521356"/>
                    <a:pt x="1096152" y="1562100"/>
                  </a:cubicBezTo>
                  <a:cubicBezTo>
                    <a:pt x="1076026" y="1578871"/>
                    <a:pt x="1066691" y="1578270"/>
                    <a:pt x="1039002" y="1587500"/>
                  </a:cubicBezTo>
                  <a:cubicBezTo>
                    <a:pt x="1032652" y="1589617"/>
                    <a:pt x="1025939" y="1590857"/>
                    <a:pt x="1019952" y="1593850"/>
                  </a:cubicBezTo>
                  <a:cubicBezTo>
                    <a:pt x="1011485" y="1598083"/>
                    <a:pt x="1003253" y="1602821"/>
                    <a:pt x="994552" y="1606550"/>
                  </a:cubicBezTo>
                  <a:cubicBezTo>
                    <a:pt x="988400" y="1609187"/>
                    <a:pt x="981353" y="1609649"/>
                    <a:pt x="975502" y="1612900"/>
                  </a:cubicBezTo>
                  <a:cubicBezTo>
                    <a:pt x="962159" y="1620313"/>
                    <a:pt x="937402" y="1638300"/>
                    <a:pt x="937402" y="1638300"/>
                  </a:cubicBezTo>
                  <a:cubicBezTo>
                    <a:pt x="922494" y="1660663"/>
                    <a:pt x="909065" y="1677392"/>
                    <a:pt x="899302" y="1701800"/>
                  </a:cubicBezTo>
                  <a:cubicBezTo>
                    <a:pt x="867915" y="1780267"/>
                    <a:pt x="903686" y="1705732"/>
                    <a:pt x="873902" y="1765300"/>
                  </a:cubicBezTo>
                  <a:cubicBezTo>
                    <a:pt x="876019" y="1784350"/>
                    <a:pt x="877101" y="1803544"/>
                    <a:pt x="880252" y="1822450"/>
                  </a:cubicBezTo>
                  <a:cubicBezTo>
                    <a:pt x="881352" y="1829052"/>
                    <a:pt x="883351" y="1835649"/>
                    <a:pt x="886602" y="1841500"/>
                  </a:cubicBezTo>
                  <a:cubicBezTo>
                    <a:pt x="894015" y="1854843"/>
                    <a:pt x="899302" y="1871133"/>
                    <a:pt x="912002" y="1879600"/>
                  </a:cubicBezTo>
                  <a:cubicBezTo>
                    <a:pt x="918352" y="1883833"/>
                    <a:pt x="924226" y="1888887"/>
                    <a:pt x="931052" y="1892300"/>
                  </a:cubicBezTo>
                  <a:cubicBezTo>
                    <a:pt x="937039" y="1895293"/>
                    <a:pt x="943950" y="1896013"/>
                    <a:pt x="950102" y="1898650"/>
                  </a:cubicBezTo>
                  <a:cubicBezTo>
                    <a:pt x="958803" y="1902379"/>
                    <a:pt x="967035" y="1907117"/>
                    <a:pt x="975502" y="1911350"/>
                  </a:cubicBezTo>
                  <a:lnTo>
                    <a:pt x="1248552" y="1905000"/>
                  </a:lnTo>
                  <a:cubicBezTo>
                    <a:pt x="1267705" y="1904263"/>
                    <a:pt x="1286758" y="1901565"/>
                    <a:pt x="1305702" y="1898650"/>
                  </a:cubicBezTo>
                  <a:cubicBezTo>
                    <a:pt x="1327207" y="1895341"/>
                    <a:pt x="1330790" y="1891482"/>
                    <a:pt x="1350152" y="1885950"/>
                  </a:cubicBezTo>
                  <a:cubicBezTo>
                    <a:pt x="1358543" y="1883552"/>
                    <a:pt x="1366966" y="1881161"/>
                    <a:pt x="1375552" y="1879600"/>
                  </a:cubicBezTo>
                  <a:cubicBezTo>
                    <a:pt x="1390278" y="1876923"/>
                    <a:pt x="1405185" y="1875367"/>
                    <a:pt x="1420002" y="1873250"/>
                  </a:cubicBezTo>
                  <a:cubicBezTo>
                    <a:pt x="1463548" y="1858735"/>
                    <a:pt x="1409500" y="1875875"/>
                    <a:pt x="1470802" y="1860550"/>
                  </a:cubicBezTo>
                  <a:cubicBezTo>
                    <a:pt x="1477296" y="1858927"/>
                    <a:pt x="1483318" y="1855652"/>
                    <a:pt x="1489852" y="1854200"/>
                  </a:cubicBezTo>
                  <a:cubicBezTo>
                    <a:pt x="1502421" y="1851407"/>
                    <a:pt x="1515252" y="1849967"/>
                    <a:pt x="1527952" y="1847850"/>
                  </a:cubicBezTo>
                  <a:cubicBezTo>
                    <a:pt x="1576493" y="1823579"/>
                    <a:pt x="1528202" y="1844612"/>
                    <a:pt x="1591452" y="1828800"/>
                  </a:cubicBezTo>
                  <a:cubicBezTo>
                    <a:pt x="1604439" y="1825553"/>
                    <a:pt x="1629552" y="1816100"/>
                    <a:pt x="1629552" y="1816100"/>
                  </a:cubicBezTo>
                  <a:cubicBezTo>
                    <a:pt x="1633785" y="1809750"/>
                    <a:pt x="1636293" y="1801818"/>
                    <a:pt x="1642252" y="1797050"/>
                  </a:cubicBezTo>
                  <a:cubicBezTo>
                    <a:pt x="1647479" y="1792869"/>
                    <a:pt x="1655315" y="1793693"/>
                    <a:pt x="1661302" y="1790700"/>
                  </a:cubicBezTo>
                  <a:cubicBezTo>
                    <a:pt x="1668128" y="1787287"/>
                    <a:pt x="1674002" y="1782233"/>
                    <a:pt x="1680352" y="1778000"/>
                  </a:cubicBezTo>
                  <a:cubicBezTo>
                    <a:pt x="1692714" y="1740914"/>
                    <a:pt x="1677029" y="1774973"/>
                    <a:pt x="1705752" y="1746250"/>
                  </a:cubicBezTo>
                  <a:cubicBezTo>
                    <a:pt x="1759282" y="1692720"/>
                    <a:pt x="1683485" y="1759796"/>
                    <a:pt x="1724802" y="1708150"/>
                  </a:cubicBezTo>
                  <a:cubicBezTo>
                    <a:pt x="1729570" y="1702191"/>
                    <a:pt x="1737989" y="1700336"/>
                    <a:pt x="1743852" y="1695450"/>
                  </a:cubicBezTo>
                  <a:cubicBezTo>
                    <a:pt x="1750751" y="1689701"/>
                    <a:pt x="1756552" y="1682750"/>
                    <a:pt x="1762902" y="1676400"/>
                  </a:cubicBezTo>
                  <a:cubicBezTo>
                    <a:pt x="1778863" y="1628517"/>
                    <a:pt x="1757333" y="1687539"/>
                    <a:pt x="1781952" y="1638300"/>
                  </a:cubicBezTo>
                  <a:cubicBezTo>
                    <a:pt x="1784945" y="1632313"/>
                    <a:pt x="1786463" y="1625686"/>
                    <a:pt x="1788302" y="1619250"/>
                  </a:cubicBezTo>
                  <a:cubicBezTo>
                    <a:pt x="1790700" y="1610859"/>
                    <a:pt x="1790749" y="1601656"/>
                    <a:pt x="1794652" y="1593850"/>
                  </a:cubicBezTo>
                  <a:cubicBezTo>
                    <a:pt x="1838321" y="1506511"/>
                    <a:pt x="1808842" y="1589380"/>
                    <a:pt x="1826402" y="1536700"/>
                  </a:cubicBezTo>
                  <a:cubicBezTo>
                    <a:pt x="1824285" y="1496483"/>
                    <a:pt x="1827587" y="1455611"/>
                    <a:pt x="1820052" y="1416050"/>
                  </a:cubicBezTo>
                  <a:cubicBezTo>
                    <a:pt x="1818624" y="1408553"/>
                    <a:pt x="1807976" y="1406450"/>
                    <a:pt x="1801002" y="1403350"/>
                  </a:cubicBezTo>
                  <a:cubicBezTo>
                    <a:pt x="1788769" y="1397913"/>
                    <a:pt x="1775602" y="1394883"/>
                    <a:pt x="1762902" y="1390650"/>
                  </a:cubicBezTo>
                  <a:lnTo>
                    <a:pt x="1743852" y="1384300"/>
                  </a:lnTo>
                  <a:cubicBezTo>
                    <a:pt x="1658089" y="1390018"/>
                    <a:pt x="1617516" y="1396513"/>
                    <a:pt x="1527952" y="1384300"/>
                  </a:cubicBezTo>
                  <a:cubicBezTo>
                    <a:pt x="1520390" y="1383269"/>
                    <a:pt x="1515252" y="1375833"/>
                    <a:pt x="1508902" y="1371600"/>
                  </a:cubicBezTo>
                  <a:cubicBezTo>
                    <a:pt x="1475200" y="1321047"/>
                    <a:pt x="1485661" y="1348610"/>
                    <a:pt x="1477152" y="1289050"/>
                  </a:cubicBezTo>
                  <a:cubicBezTo>
                    <a:pt x="1479269" y="1246717"/>
                    <a:pt x="1471634" y="1202741"/>
                    <a:pt x="1483502" y="1162050"/>
                  </a:cubicBezTo>
                  <a:cubicBezTo>
                    <a:pt x="1490339" y="1138610"/>
                    <a:pt x="1523274" y="1138989"/>
                    <a:pt x="1540652" y="1130300"/>
                  </a:cubicBezTo>
                  <a:cubicBezTo>
                    <a:pt x="1547478" y="1126887"/>
                    <a:pt x="1552876" y="1121013"/>
                    <a:pt x="1559702" y="1117600"/>
                  </a:cubicBezTo>
                  <a:cubicBezTo>
                    <a:pt x="1565689" y="1114607"/>
                    <a:pt x="1572765" y="1114243"/>
                    <a:pt x="1578752" y="1111250"/>
                  </a:cubicBezTo>
                  <a:cubicBezTo>
                    <a:pt x="1585578" y="1107837"/>
                    <a:pt x="1590334" y="1100122"/>
                    <a:pt x="1597802" y="1098550"/>
                  </a:cubicBezTo>
                  <a:cubicBezTo>
                    <a:pt x="1631200" y="1091519"/>
                    <a:pt x="1665515" y="1089916"/>
                    <a:pt x="1699402" y="1085850"/>
                  </a:cubicBezTo>
                  <a:lnTo>
                    <a:pt x="1756552" y="1079500"/>
                  </a:lnTo>
                  <a:lnTo>
                    <a:pt x="1794652" y="1066800"/>
                  </a:lnTo>
                  <a:cubicBezTo>
                    <a:pt x="1801002" y="1064683"/>
                    <a:pt x="1808133" y="1064163"/>
                    <a:pt x="1813702" y="1060450"/>
                  </a:cubicBezTo>
                  <a:cubicBezTo>
                    <a:pt x="1820052" y="1056217"/>
                    <a:pt x="1825926" y="1051163"/>
                    <a:pt x="1832752" y="1047750"/>
                  </a:cubicBezTo>
                  <a:cubicBezTo>
                    <a:pt x="1838739" y="1044757"/>
                    <a:pt x="1845815" y="1044393"/>
                    <a:pt x="1851802" y="1041400"/>
                  </a:cubicBezTo>
                  <a:cubicBezTo>
                    <a:pt x="1893353" y="1020625"/>
                    <a:pt x="1847771" y="1037737"/>
                    <a:pt x="1889902" y="1009650"/>
                  </a:cubicBezTo>
                  <a:cubicBezTo>
                    <a:pt x="1895471" y="1005937"/>
                    <a:pt x="1902602" y="1005417"/>
                    <a:pt x="1908952" y="1003300"/>
                  </a:cubicBezTo>
                  <a:cubicBezTo>
                    <a:pt x="1915302" y="996950"/>
                    <a:pt x="1920530" y="989231"/>
                    <a:pt x="1928002" y="984250"/>
                  </a:cubicBezTo>
                  <a:cubicBezTo>
                    <a:pt x="1933571" y="980537"/>
                    <a:pt x="1941768" y="982009"/>
                    <a:pt x="1947052" y="977900"/>
                  </a:cubicBezTo>
                  <a:cubicBezTo>
                    <a:pt x="2011302" y="927928"/>
                    <a:pt x="1960132" y="948140"/>
                    <a:pt x="2004202" y="933450"/>
                  </a:cubicBezTo>
                  <a:cubicBezTo>
                    <a:pt x="2015645" y="922007"/>
                    <a:pt x="2026831" y="908331"/>
                    <a:pt x="2042302" y="901700"/>
                  </a:cubicBezTo>
                  <a:cubicBezTo>
                    <a:pt x="2070786" y="889493"/>
                    <a:pt x="2062038" y="901357"/>
                    <a:pt x="2086752" y="889000"/>
                  </a:cubicBezTo>
                  <a:cubicBezTo>
                    <a:pt x="2093578" y="885587"/>
                    <a:pt x="2099176" y="880086"/>
                    <a:pt x="2105802" y="876300"/>
                  </a:cubicBezTo>
                  <a:cubicBezTo>
                    <a:pt x="2114021" y="871604"/>
                    <a:pt x="2123175" y="868617"/>
                    <a:pt x="2131202" y="863600"/>
                  </a:cubicBezTo>
                  <a:cubicBezTo>
                    <a:pt x="2140177" y="857991"/>
                    <a:pt x="2147413" y="849801"/>
                    <a:pt x="2156602" y="844550"/>
                  </a:cubicBezTo>
                  <a:cubicBezTo>
                    <a:pt x="2162414" y="841229"/>
                    <a:pt x="2169801" y="841451"/>
                    <a:pt x="2175652" y="838200"/>
                  </a:cubicBezTo>
                  <a:cubicBezTo>
                    <a:pt x="2188995" y="830787"/>
                    <a:pt x="2201052" y="821267"/>
                    <a:pt x="2213752" y="812800"/>
                  </a:cubicBezTo>
                  <a:cubicBezTo>
                    <a:pt x="2220102" y="808567"/>
                    <a:pt x="2225562" y="802513"/>
                    <a:pt x="2232802" y="800100"/>
                  </a:cubicBezTo>
                  <a:lnTo>
                    <a:pt x="2251852" y="79375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="" xmlns:a16="http://schemas.microsoft.com/office/drawing/2014/main" id="{A6FE96E8-7FE5-21E4-BCE6-6DF0031DBF05}"/>
              </a:ext>
            </a:extLst>
          </p:cNvPr>
          <p:cNvGrpSpPr/>
          <p:nvPr/>
        </p:nvGrpSpPr>
        <p:grpSpPr>
          <a:xfrm>
            <a:off x="9002294" y="4392272"/>
            <a:ext cx="3213154" cy="2336815"/>
            <a:chOff x="9487183" y="4401237"/>
            <a:chExt cx="3213154" cy="2336815"/>
          </a:xfrm>
        </p:grpSpPr>
        <p:grpSp>
          <p:nvGrpSpPr>
            <p:cNvPr id="99" name="Group 3">
              <a:extLst>
                <a:ext uri="{FF2B5EF4-FFF2-40B4-BE49-F238E27FC236}">
                  <a16:creationId xmlns="" xmlns:a16="http://schemas.microsoft.com/office/drawing/2014/main" id="{97EA07A9-7D75-8D57-32B7-6D0F9A97C00F}"/>
                </a:ext>
              </a:extLst>
            </p:cNvPr>
            <p:cNvGrpSpPr/>
            <p:nvPr/>
          </p:nvGrpSpPr>
          <p:grpSpPr>
            <a:xfrm>
              <a:off x="9487183" y="4678324"/>
              <a:ext cx="2614572" cy="2059728"/>
              <a:chOff x="12672659" y="1187117"/>
              <a:chExt cx="2796787" cy="2109915"/>
            </a:xfrm>
          </p:grpSpPr>
          <p:cxnSp>
            <p:nvCxnSpPr>
              <p:cNvPr id="101" name="Straight Connector 4">
                <a:extLst>
                  <a:ext uri="{FF2B5EF4-FFF2-40B4-BE49-F238E27FC236}">
                    <a16:creationId xmlns="" xmlns:a16="http://schemas.microsoft.com/office/drawing/2014/main" id="{0FF56AD3-2AFD-3C1B-9C7F-AD580D21417F}"/>
                  </a:ext>
                </a:extLst>
              </p:cNvPr>
              <p:cNvCxnSpPr/>
              <p:nvPr/>
            </p:nvCxnSpPr>
            <p:spPr>
              <a:xfrm>
                <a:off x="12835767" y="1351116"/>
                <a:ext cx="0" cy="194591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5">
                <a:extLst>
                  <a:ext uri="{FF2B5EF4-FFF2-40B4-BE49-F238E27FC236}">
                    <a16:creationId xmlns="" xmlns:a16="http://schemas.microsoft.com/office/drawing/2014/main" id="{E41A4A1C-29BD-587F-5ABD-FDD004F7494C}"/>
                  </a:ext>
                </a:extLst>
              </p:cNvPr>
              <p:cNvCxnSpPr/>
              <p:nvPr/>
            </p:nvCxnSpPr>
            <p:spPr>
              <a:xfrm rot="16200000">
                <a:off x="13909339" y="1922497"/>
                <a:ext cx="0" cy="247336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TextBox 6">
                    <a:extLst>
                      <a:ext uri="{FF2B5EF4-FFF2-40B4-BE49-F238E27FC236}">
                        <a16:creationId xmlns="" xmlns:a16="http://schemas.microsoft.com/office/drawing/2014/main" id="{931D78C3-4623-B925-47BF-B91AA98F3A6A}"/>
                      </a:ext>
                    </a:extLst>
                  </p:cNvPr>
                  <p:cNvSpPr txBox="1"/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3953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TextBox 7">
                    <a:extLst>
                      <a:ext uri="{FF2B5EF4-FFF2-40B4-BE49-F238E27FC236}">
                        <a16:creationId xmlns="" xmlns:a16="http://schemas.microsoft.com/office/drawing/2014/main" id="{94791710-53C8-DCBE-2A13-8F9EBA3A5110}"/>
                      </a:ext>
                    </a:extLst>
                  </p:cNvPr>
                  <p:cNvSpPr txBox="1"/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4285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5" name="Oval 8">
                <a:extLst>
                  <a:ext uri="{FF2B5EF4-FFF2-40B4-BE49-F238E27FC236}">
                    <a16:creationId xmlns="" xmlns:a16="http://schemas.microsoft.com/office/drawing/2014/main" id="{B58B7B66-6147-70B6-C6C8-E98A251D8D38}"/>
                  </a:ext>
                </a:extLst>
              </p:cNvPr>
              <p:cNvSpPr/>
              <p:nvPr/>
            </p:nvSpPr>
            <p:spPr>
              <a:xfrm>
                <a:off x="13553334" y="191564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6" name="Oval 9">
                <a:extLst>
                  <a:ext uri="{FF2B5EF4-FFF2-40B4-BE49-F238E27FC236}">
                    <a16:creationId xmlns="" xmlns:a16="http://schemas.microsoft.com/office/drawing/2014/main" id="{0FB5920C-58F2-09E2-B1B3-E8F6C9AE4FC2}"/>
                  </a:ext>
                </a:extLst>
              </p:cNvPr>
              <p:cNvSpPr/>
              <p:nvPr/>
            </p:nvSpPr>
            <p:spPr>
              <a:xfrm>
                <a:off x="13561681" y="212621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7" name="Oval 10">
                <a:extLst>
                  <a:ext uri="{FF2B5EF4-FFF2-40B4-BE49-F238E27FC236}">
                    <a16:creationId xmlns="" xmlns:a16="http://schemas.microsoft.com/office/drawing/2014/main" id="{42189AD4-DA86-B2BE-B50A-46F4C14C1B22}"/>
                  </a:ext>
                </a:extLst>
              </p:cNvPr>
              <p:cNvSpPr/>
              <p:nvPr/>
            </p:nvSpPr>
            <p:spPr>
              <a:xfrm>
                <a:off x="13295320" y="20544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8" name="Oval 11">
                <a:extLst>
                  <a:ext uri="{FF2B5EF4-FFF2-40B4-BE49-F238E27FC236}">
                    <a16:creationId xmlns="" xmlns:a16="http://schemas.microsoft.com/office/drawing/2014/main" id="{E5D84EE4-FDEB-915C-C95B-9E475CCFDB74}"/>
                  </a:ext>
                </a:extLst>
              </p:cNvPr>
              <p:cNvSpPr/>
              <p:nvPr/>
            </p:nvSpPr>
            <p:spPr>
              <a:xfrm>
                <a:off x="13414187" y="22911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9" name="Oval 12">
                <a:extLst>
                  <a:ext uri="{FF2B5EF4-FFF2-40B4-BE49-F238E27FC236}">
                    <a16:creationId xmlns="" xmlns:a16="http://schemas.microsoft.com/office/drawing/2014/main" id="{158F6918-0D90-D666-D9AD-19FA1A2D1732}"/>
                  </a:ext>
                </a:extLst>
              </p:cNvPr>
              <p:cNvSpPr/>
              <p:nvPr/>
            </p:nvSpPr>
            <p:spPr>
              <a:xfrm>
                <a:off x="13816131" y="2031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0" name="Oval 13">
                <a:extLst>
                  <a:ext uri="{FF2B5EF4-FFF2-40B4-BE49-F238E27FC236}">
                    <a16:creationId xmlns="" xmlns:a16="http://schemas.microsoft.com/office/drawing/2014/main" id="{865677FE-CF22-67D8-3C99-1ADD611479BB}"/>
                  </a:ext>
                </a:extLst>
              </p:cNvPr>
              <p:cNvSpPr/>
              <p:nvPr/>
            </p:nvSpPr>
            <p:spPr>
              <a:xfrm>
                <a:off x="13839512" y="183166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1" name="Oval 14">
                <a:extLst>
                  <a:ext uri="{FF2B5EF4-FFF2-40B4-BE49-F238E27FC236}">
                    <a16:creationId xmlns="" xmlns:a16="http://schemas.microsoft.com/office/drawing/2014/main" id="{5063E2AB-2EC8-0A92-28CB-89F582AE6260}"/>
                  </a:ext>
                </a:extLst>
              </p:cNvPr>
              <p:cNvSpPr/>
              <p:nvPr/>
            </p:nvSpPr>
            <p:spPr>
              <a:xfrm>
                <a:off x="14066354" y="195588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2" name="Oval 15">
                <a:extLst>
                  <a:ext uri="{FF2B5EF4-FFF2-40B4-BE49-F238E27FC236}">
                    <a16:creationId xmlns="" xmlns:a16="http://schemas.microsoft.com/office/drawing/2014/main" id="{6EC84DF7-6661-CBEC-3E28-0596109C3AAC}"/>
                  </a:ext>
                </a:extLst>
              </p:cNvPr>
              <p:cNvSpPr/>
              <p:nvPr/>
            </p:nvSpPr>
            <p:spPr>
              <a:xfrm>
                <a:off x="13829460" y="22319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3" name="Oval 16">
                <a:extLst>
                  <a:ext uri="{FF2B5EF4-FFF2-40B4-BE49-F238E27FC236}">
                    <a16:creationId xmlns="" xmlns:a16="http://schemas.microsoft.com/office/drawing/2014/main" id="{8CE3AC63-4268-CFC7-6E75-C11A7DF5655F}"/>
                  </a:ext>
                </a:extLst>
              </p:cNvPr>
              <p:cNvSpPr/>
              <p:nvPr/>
            </p:nvSpPr>
            <p:spPr>
              <a:xfrm>
                <a:off x="13345007" y="184010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4" name="Oval 17">
                <a:extLst>
                  <a:ext uri="{FF2B5EF4-FFF2-40B4-BE49-F238E27FC236}">
                    <a16:creationId xmlns="" xmlns:a16="http://schemas.microsoft.com/office/drawing/2014/main" id="{DBEC6B39-4A77-DBE6-2BF7-AD9DFBA3058C}"/>
                  </a:ext>
                </a:extLst>
              </p:cNvPr>
              <p:cNvSpPr/>
              <p:nvPr/>
            </p:nvSpPr>
            <p:spPr>
              <a:xfrm>
                <a:off x="13909339" y="1637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5" name="Oval 18">
                <a:extLst>
                  <a:ext uri="{FF2B5EF4-FFF2-40B4-BE49-F238E27FC236}">
                    <a16:creationId xmlns="" xmlns:a16="http://schemas.microsoft.com/office/drawing/2014/main" id="{DBA0AF13-CCAF-F6A7-F775-94F351B47096}"/>
                  </a:ext>
                </a:extLst>
              </p:cNvPr>
              <p:cNvSpPr/>
              <p:nvPr/>
            </p:nvSpPr>
            <p:spPr>
              <a:xfrm>
                <a:off x="13669702" y="243145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6" name="Oval 19">
                <a:extLst>
                  <a:ext uri="{FF2B5EF4-FFF2-40B4-BE49-F238E27FC236}">
                    <a16:creationId xmlns="" xmlns:a16="http://schemas.microsoft.com/office/drawing/2014/main" id="{2E6CA247-69A8-EF52-B909-A41C48B47CEF}"/>
                  </a:ext>
                </a:extLst>
              </p:cNvPr>
              <p:cNvSpPr/>
              <p:nvPr/>
            </p:nvSpPr>
            <p:spPr>
              <a:xfrm>
                <a:off x="14059696" y="214175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7" name="Oval 20">
                <a:extLst>
                  <a:ext uri="{FF2B5EF4-FFF2-40B4-BE49-F238E27FC236}">
                    <a16:creationId xmlns="" xmlns:a16="http://schemas.microsoft.com/office/drawing/2014/main" id="{5DA1C2F3-72FA-4FAE-C967-F9AEA2F281AB}"/>
                  </a:ext>
                </a:extLst>
              </p:cNvPr>
              <p:cNvSpPr/>
              <p:nvPr/>
            </p:nvSpPr>
            <p:spPr>
              <a:xfrm>
                <a:off x="14308370" y="21905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8" name="Oval 21">
                <a:extLst>
                  <a:ext uri="{FF2B5EF4-FFF2-40B4-BE49-F238E27FC236}">
                    <a16:creationId xmlns="" xmlns:a16="http://schemas.microsoft.com/office/drawing/2014/main" id="{D2DD0E29-D11A-2BD0-7360-23D62322B7DE}"/>
                  </a:ext>
                </a:extLst>
              </p:cNvPr>
              <p:cNvSpPr/>
              <p:nvPr/>
            </p:nvSpPr>
            <p:spPr>
              <a:xfrm>
                <a:off x="14507886" y="180359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19" name="Oval 22">
                <a:extLst>
                  <a:ext uri="{FF2B5EF4-FFF2-40B4-BE49-F238E27FC236}">
                    <a16:creationId xmlns="" xmlns:a16="http://schemas.microsoft.com/office/drawing/2014/main" id="{FBC5F4E4-9812-F6AC-52DB-B0645F3C234E}"/>
                  </a:ext>
                </a:extLst>
              </p:cNvPr>
              <p:cNvSpPr/>
              <p:nvPr/>
            </p:nvSpPr>
            <p:spPr>
              <a:xfrm>
                <a:off x="13674403" y="16889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0" name="Oval 23">
                <a:extLst>
                  <a:ext uri="{FF2B5EF4-FFF2-40B4-BE49-F238E27FC236}">
                    <a16:creationId xmlns="" xmlns:a16="http://schemas.microsoft.com/office/drawing/2014/main" id="{112EE231-EF39-7954-2D2E-E44FC1AA2E8A}"/>
                  </a:ext>
                </a:extLst>
              </p:cNvPr>
              <p:cNvSpPr/>
              <p:nvPr/>
            </p:nvSpPr>
            <p:spPr>
              <a:xfrm>
                <a:off x="14616909" y="237306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1" name="Oval 24">
                <a:extLst>
                  <a:ext uri="{FF2B5EF4-FFF2-40B4-BE49-F238E27FC236}">
                    <a16:creationId xmlns="" xmlns:a16="http://schemas.microsoft.com/office/drawing/2014/main" id="{B597EDEF-81A5-D0D4-5E5C-30D3A0C1B49F}"/>
                  </a:ext>
                </a:extLst>
              </p:cNvPr>
              <p:cNvSpPr/>
              <p:nvPr/>
            </p:nvSpPr>
            <p:spPr>
              <a:xfrm>
                <a:off x="14276702" y="239274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2" name="Oval 25">
                <a:extLst>
                  <a:ext uri="{FF2B5EF4-FFF2-40B4-BE49-F238E27FC236}">
                    <a16:creationId xmlns="" xmlns:a16="http://schemas.microsoft.com/office/drawing/2014/main" id="{275D7CDA-AE65-67FC-F325-64E41DC64EF5}"/>
                  </a:ext>
                </a:extLst>
              </p:cNvPr>
              <p:cNvSpPr/>
              <p:nvPr/>
            </p:nvSpPr>
            <p:spPr>
              <a:xfrm>
                <a:off x="14101561" y="1737997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3" name="Oval 26">
                <a:extLst>
                  <a:ext uri="{FF2B5EF4-FFF2-40B4-BE49-F238E27FC236}">
                    <a16:creationId xmlns="" xmlns:a16="http://schemas.microsoft.com/office/drawing/2014/main" id="{6D71B0C9-444A-8565-F574-01A5D142D79E}"/>
                  </a:ext>
                </a:extLst>
              </p:cNvPr>
              <p:cNvSpPr/>
              <p:nvPr/>
            </p:nvSpPr>
            <p:spPr>
              <a:xfrm>
                <a:off x="14078959" y="252768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4" name="Oval 27">
                <a:extLst>
                  <a:ext uri="{FF2B5EF4-FFF2-40B4-BE49-F238E27FC236}">
                    <a16:creationId xmlns="" xmlns:a16="http://schemas.microsoft.com/office/drawing/2014/main" id="{31626273-3889-1DF5-64F7-313551ACDE93}"/>
                  </a:ext>
                </a:extLst>
              </p:cNvPr>
              <p:cNvSpPr/>
              <p:nvPr/>
            </p:nvSpPr>
            <p:spPr>
              <a:xfrm>
                <a:off x="14308370" y="19206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5" name="Multiply 28">
                <a:extLst>
                  <a:ext uri="{FF2B5EF4-FFF2-40B4-BE49-F238E27FC236}">
                    <a16:creationId xmlns="" xmlns:a16="http://schemas.microsoft.com/office/drawing/2014/main" id="{DE03C3FF-8C48-59F5-2CC2-10EB5386EB20}"/>
                  </a:ext>
                </a:extLst>
              </p:cNvPr>
              <p:cNvSpPr/>
              <p:nvPr/>
            </p:nvSpPr>
            <p:spPr>
              <a:xfrm>
                <a:off x="13999936" y="23047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6" name="Multiply 29">
                <a:extLst>
                  <a:ext uri="{FF2B5EF4-FFF2-40B4-BE49-F238E27FC236}">
                    <a16:creationId xmlns="" xmlns:a16="http://schemas.microsoft.com/office/drawing/2014/main" id="{85CCF03D-3935-F46E-1EAD-176ED6CBB1A8}"/>
                  </a:ext>
                </a:extLst>
              </p:cNvPr>
              <p:cNvSpPr/>
              <p:nvPr/>
            </p:nvSpPr>
            <p:spPr>
              <a:xfrm>
                <a:off x="13211391" y="143837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7" name="Multiply 30">
                <a:extLst>
                  <a:ext uri="{FF2B5EF4-FFF2-40B4-BE49-F238E27FC236}">
                    <a16:creationId xmlns="" xmlns:a16="http://schemas.microsoft.com/office/drawing/2014/main" id="{720AE1C1-936D-8CA0-6F44-09B409D6E781}"/>
                  </a:ext>
                </a:extLst>
              </p:cNvPr>
              <p:cNvSpPr/>
              <p:nvPr/>
            </p:nvSpPr>
            <p:spPr>
              <a:xfrm>
                <a:off x="13083425" y="1686810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8" name="Multiply 31">
                <a:extLst>
                  <a:ext uri="{FF2B5EF4-FFF2-40B4-BE49-F238E27FC236}">
                    <a16:creationId xmlns="" xmlns:a16="http://schemas.microsoft.com/office/drawing/2014/main" id="{70033D10-04F9-613C-00B0-80212568D6EA}"/>
                  </a:ext>
                </a:extLst>
              </p:cNvPr>
              <p:cNvSpPr/>
              <p:nvPr/>
            </p:nvSpPr>
            <p:spPr>
              <a:xfrm>
                <a:off x="12887780" y="15429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9" name="Multiply 32">
                <a:extLst>
                  <a:ext uri="{FF2B5EF4-FFF2-40B4-BE49-F238E27FC236}">
                    <a16:creationId xmlns="" xmlns:a16="http://schemas.microsoft.com/office/drawing/2014/main" id="{DB2F60AA-7E03-796C-54E7-A1D786D42542}"/>
                  </a:ext>
                </a:extLst>
              </p:cNvPr>
              <p:cNvSpPr/>
              <p:nvPr/>
            </p:nvSpPr>
            <p:spPr>
              <a:xfrm>
                <a:off x="12864580" y="1870611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0" name="Multiply 33">
                <a:extLst>
                  <a:ext uri="{FF2B5EF4-FFF2-40B4-BE49-F238E27FC236}">
                    <a16:creationId xmlns="" xmlns:a16="http://schemas.microsoft.com/office/drawing/2014/main" id="{6C0E2F95-7FD9-283A-2561-1BA458F3E561}"/>
                  </a:ext>
                </a:extLst>
              </p:cNvPr>
              <p:cNvSpPr/>
              <p:nvPr/>
            </p:nvSpPr>
            <p:spPr>
              <a:xfrm>
                <a:off x="14518766" y="21565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1" name="Multiply 34">
                <a:extLst>
                  <a:ext uri="{FF2B5EF4-FFF2-40B4-BE49-F238E27FC236}">
                    <a16:creationId xmlns="" xmlns:a16="http://schemas.microsoft.com/office/drawing/2014/main" id="{EC9B6437-26FD-CC78-18C6-41E80492A9C8}"/>
                  </a:ext>
                </a:extLst>
              </p:cNvPr>
              <p:cNvSpPr/>
              <p:nvPr/>
            </p:nvSpPr>
            <p:spPr>
              <a:xfrm>
                <a:off x="12953812" y="20885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2" name="Oval 35">
                <a:extLst>
                  <a:ext uri="{FF2B5EF4-FFF2-40B4-BE49-F238E27FC236}">
                    <a16:creationId xmlns="" xmlns:a16="http://schemas.microsoft.com/office/drawing/2014/main" id="{4BEE827C-B00E-D7D7-CB52-FC429A973867}"/>
                  </a:ext>
                </a:extLst>
              </p:cNvPr>
              <p:cNvSpPr/>
              <p:nvPr/>
            </p:nvSpPr>
            <p:spPr>
              <a:xfrm>
                <a:off x="14283730" y="170687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3" name="Oval 36">
                <a:extLst>
                  <a:ext uri="{FF2B5EF4-FFF2-40B4-BE49-F238E27FC236}">
                    <a16:creationId xmlns="" xmlns:a16="http://schemas.microsoft.com/office/drawing/2014/main" id="{32AC3645-9686-A0B2-7569-C326DF568A19}"/>
                  </a:ext>
                </a:extLst>
              </p:cNvPr>
              <p:cNvSpPr/>
              <p:nvPr/>
            </p:nvSpPr>
            <p:spPr>
              <a:xfrm>
                <a:off x="14410280" y="25358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4" name="Oval 37">
                <a:extLst>
                  <a:ext uri="{FF2B5EF4-FFF2-40B4-BE49-F238E27FC236}">
                    <a16:creationId xmlns="" xmlns:a16="http://schemas.microsoft.com/office/drawing/2014/main" id="{4C7E43DF-9314-F57B-842F-45024B3BF233}"/>
                  </a:ext>
                </a:extLst>
              </p:cNvPr>
              <p:cNvSpPr/>
              <p:nvPr/>
            </p:nvSpPr>
            <p:spPr>
              <a:xfrm>
                <a:off x="14491843" y="20176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5" name="Multiply 38">
                <a:extLst>
                  <a:ext uri="{FF2B5EF4-FFF2-40B4-BE49-F238E27FC236}">
                    <a16:creationId xmlns="" xmlns:a16="http://schemas.microsoft.com/office/drawing/2014/main" id="{10C4FB25-D209-F9B3-8896-91D72068479B}"/>
                  </a:ext>
                </a:extLst>
              </p:cNvPr>
              <p:cNvSpPr/>
              <p:nvPr/>
            </p:nvSpPr>
            <p:spPr>
              <a:xfrm>
                <a:off x="13078193" y="23086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6" name="Multiply 39">
                <a:extLst>
                  <a:ext uri="{FF2B5EF4-FFF2-40B4-BE49-F238E27FC236}">
                    <a16:creationId xmlns="" xmlns:a16="http://schemas.microsoft.com/office/drawing/2014/main" id="{416B28E7-3BBB-C38C-1064-2CAD2BD04EE5}"/>
                  </a:ext>
                </a:extLst>
              </p:cNvPr>
              <p:cNvSpPr/>
              <p:nvPr/>
            </p:nvSpPr>
            <p:spPr>
              <a:xfrm>
                <a:off x="13323864" y="251961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7" name="Multiply 40">
                <a:extLst>
                  <a:ext uri="{FF2B5EF4-FFF2-40B4-BE49-F238E27FC236}">
                    <a16:creationId xmlns="" xmlns:a16="http://schemas.microsoft.com/office/drawing/2014/main" id="{88EBB636-F22A-87B1-E68E-A9BF68BD4B42}"/>
                  </a:ext>
                </a:extLst>
              </p:cNvPr>
              <p:cNvSpPr/>
              <p:nvPr/>
            </p:nvSpPr>
            <p:spPr>
              <a:xfrm>
                <a:off x="13749168" y="2693328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8" name="Multiply 41">
                <a:extLst>
                  <a:ext uri="{FF2B5EF4-FFF2-40B4-BE49-F238E27FC236}">
                    <a16:creationId xmlns="" xmlns:a16="http://schemas.microsoft.com/office/drawing/2014/main" id="{FB4EDB4D-8326-7D04-5F26-29F508291C32}"/>
                  </a:ext>
                </a:extLst>
              </p:cNvPr>
              <p:cNvSpPr/>
              <p:nvPr/>
            </p:nvSpPr>
            <p:spPr>
              <a:xfrm>
                <a:off x="13507181" y="2672807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9" name="Multiply 42">
                <a:extLst>
                  <a:ext uri="{FF2B5EF4-FFF2-40B4-BE49-F238E27FC236}">
                    <a16:creationId xmlns="" xmlns:a16="http://schemas.microsoft.com/office/drawing/2014/main" id="{F8412155-FF77-ED3B-888B-0EB7C988ED89}"/>
                  </a:ext>
                </a:extLst>
              </p:cNvPr>
              <p:cNvSpPr/>
              <p:nvPr/>
            </p:nvSpPr>
            <p:spPr>
              <a:xfrm>
                <a:off x="12998875" y="24902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0" name="Multiply 43">
                <a:extLst>
                  <a:ext uri="{FF2B5EF4-FFF2-40B4-BE49-F238E27FC236}">
                    <a16:creationId xmlns="" xmlns:a16="http://schemas.microsoft.com/office/drawing/2014/main" id="{8B3A850C-AD94-F319-020F-3F9E4BAA9A08}"/>
                  </a:ext>
                </a:extLst>
              </p:cNvPr>
              <p:cNvSpPr/>
              <p:nvPr/>
            </p:nvSpPr>
            <p:spPr>
              <a:xfrm>
                <a:off x="14136782" y="274991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1" name="Multiply 44">
                <a:extLst>
                  <a:ext uri="{FF2B5EF4-FFF2-40B4-BE49-F238E27FC236}">
                    <a16:creationId xmlns="" xmlns:a16="http://schemas.microsoft.com/office/drawing/2014/main" id="{4D88A13B-5E64-F59F-CA8B-906983BBF15E}"/>
                  </a:ext>
                </a:extLst>
              </p:cNvPr>
              <p:cNvSpPr/>
              <p:nvPr/>
            </p:nvSpPr>
            <p:spPr>
              <a:xfrm>
                <a:off x="14476369" y="272132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2" name="Multiply 45">
                <a:extLst>
                  <a:ext uri="{FF2B5EF4-FFF2-40B4-BE49-F238E27FC236}">
                    <a16:creationId xmlns="" xmlns:a16="http://schemas.microsoft.com/office/drawing/2014/main" id="{58DEE3F5-0586-8AFA-E9F3-1AB9FC1B5319}"/>
                  </a:ext>
                </a:extLst>
              </p:cNvPr>
              <p:cNvSpPr/>
              <p:nvPr/>
            </p:nvSpPr>
            <p:spPr>
              <a:xfrm>
                <a:off x="13134348" y="275636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3" name="Multiply 46">
                <a:extLst>
                  <a:ext uri="{FF2B5EF4-FFF2-40B4-BE49-F238E27FC236}">
                    <a16:creationId xmlns="" xmlns:a16="http://schemas.microsoft.com/office/drawing/2014/main" id="{F3ECCEDD-9521-E1EF-8635-26975E3FF1BE}"/>
                  </a:ext>
                </a:extLst>
              </p:cNvPr>
              <p:cNvSpPr/>
              <p:nvPr/>
            </p:nvSpPr>
            <p:spPr>
              <a:xfrm>
                <a:off x="13496384" y="2892653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4" name="Multiply 47">
                <a:extLst>
                  <a:ext uri="{FF2B5EF4-FFF2-40B4-BE49-F238E27FC236}">
                    <a16:creationId xmlns="" xmlns:a16="http://schemas.microsoft.com/office/drawing/2014/main" id="{EB8B4713-13AC-9E0A-C462-2BE54B80C733}"/>
                  </a:ext>
                </a:extLst>
              </p:cNvPr>
              <p:cNvSpPr/>
              <p:nvPr/>
            </p:nvSpPr>
            <p:spPr>
              <a:xfrm>
                <a:off x="12841249" y="22921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5" name="Multiply 48">
                <a:extLst>
                  <a:ext uri="{FF2B5EF4-FFF2-40B4-BE49-F238E27FC236}">
                    <a16:creationId xmlns="" xmlns:a16="http://schemas.microsoft.com/office/drawing/2014/main" id="{DB738329-18E7-2CC0-9FDE-FC82161127B1}"/>
                  </a:ext>
                </a:extLst>
              </p:cNvPr>
              <p:cNvSpPr/>
              <p:nvPr/>
            </p:nvSpPr>
            <p:spPr>
              <a:xfrm>
                <a:off x="13871464" y="2873205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6" name="Freeform 49">
                <a:extLst>
                  <a:ext uri="{FF2B5EF4-FFF2-40B4-BE49-F238E27FC236}">
                    <a16:creationId xmlns="" xmlns:a16="http://schemas.microsoft.com/office/drawing/2014/main" id="{EF02DAB4-9BD5-8F7A-BA87-318D3E91F6C1}"/>
                  </a:ext>
                </a:extLst>
              </p:cNvPr>
              <p:cNvSpPr/>
              <p:nvPr/>
            </p:nvSpPr>
            <p:spPr>
              <a:xfrm>
                <a:off x="13195406" y="1351116"/>
                <a:ext cx="1903847" cy="1403682"/>
              </a:xfrm>
              <a:custGeom>
                <a:avLst/>
                <a:gdLst>
                  <a:gd name="connsiteX0" fmla="*/ 532941 w 2034195"/>
                  <a:gd name="connsiteY0" fmla="*/ 0 h 1853444"/>
                  <a:gd name="connsiteX1" fmla="*/ 14326 w 2034195"/>
                  <a:gd name="connsiteY1" fmla="*/ 1105469 h 1853444"/>
                  <a:gd name="connsiteX2" fmla="*/ 1037908 w 2034195"/>
                  <a:gd name="connsiteY2" fmla="*/ 1842448 h 1853444"/>
                  <a:gd name="connsiteX3" fmla="*/ 2034195 w 2034195"/>
                  <a:gd name="connsiteY3" fmla="*/ 1501254 h 185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4195" h="1853444">
                    <a:moveTo>
                      <a:pt x="532941" y="0"/>
                    </a:moveTo>
                    <a:cubicBezTo>
                      <a:pt x="231553" y="399197"/>
                      <a:pt x="-69835" y="798394"/>
                      <a:pt x="14326" y="1105469"/>
                    </a:cubicBezTo>
                    <a:cubicBezTo>
                      <a:pt x="98487" y="1412544"/>
                      <a:pt x="701263" y="1776484"/>
                      <a:pt x="1037908" y="1842448"/>
                    </a:cubicBezTo>
                    <a:cubicBezTo>
                      <a:pt x="1374553" y="1908412"/>
                      <a:pt x="1679353" y="1662752"/>
                      <a:pt x="2034195" y="1501254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100" name="Retângulo 99">
              <a:extLst>
                <a:ext uri="{FF2B5EF4-FFF2-40B4-BE49-F238E27FC236}">
                  <a16:creationId xmlns="" xmlns:a16="http://schemas.microsoft.com/office/drawing/2014/main" id="{D993783E-656B-0AE4-E0FA-4EC492BBA24F}"/>
                </a:ext>
              </a:extLst>
            </p:cNvPr>
            <p:cNvSpPr/>
            <p:nvPr/>
          </p:nvSpPr>
          <p:spPr>
            <a:xfrm>
              <a:off x="10444717" y="4401237"/>
              <a:ext cx="225562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Relação de compromisso entre flexibilidade </a:t>
              </a:r>
              <a:r>
                <a:rPr lang="pt-B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e </a:t>
              </a:r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capacidade de generalização.</a:t>
              </a:r>
              <a:endParaRPr lang="pt-BR" sz="1200" dirty="0"/>
            </a:p>
          </p:txBody>
        </p:sp>
      </p:grpSp>
      <p:sp>
        <p:nvSpPr>
          <p:cNvPr id="147" name="CaixaDeTexto 146">
            <a:extLst>
              <a:ext uri="{FF2B5EF4-FFF2-40B4-BE49-F238E27FC236}">
                <a16:creationId xmlns="" xmlns:a16="http://schemas.microsoft.com/office/drawing/2014/main" id="{47F5026B-9D46-15C8-D2BC-7C7D85A08717}"/>
              </a:ext>
            </a:extLst>
          </p:cNvPr>
          <p:cNvSpPr txBox="1"/>
          <p:nvPr/>
        </p:nvSpPr>
        <p:spPr>
          <a:xfrm>
            <a:off x="2298188" y="4743111"/>
            <a:ext cx="891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Subajuste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="" xmlns:a16="http://schemas.microsoft.com/office/drawing/2014/main" id="{1D2900C2-AB82-B811-AA58-4352203E2D3A}"/>
              </a:ext>
            </a:extLst>
          </p:cNvPr>
          <p:cNvSpPr txBox="1"/>
          <p:nvPr/>
        </p:nvSpPr>
        <p:spPr>
          <a:xfrm>
            <a:off x="6225723" y="4747151"/>
            <a:ext cx="10436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Sobreajuste</a:t>
            </a:r>
          </a:p>
        </p:txBody>
      </p:sp>
    </p:spTree>
    <p:extLst>
      <p:ext uri="{BB962C8B-B14F-4D97-AF65-F5344CB8AC3E}">
        <p14:creationId xmlns:p14="http://schemas.microsoft.com/office/powerpoint/2010/main" val="238340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1EBEF97-8057-BF3C-2F34-ADA7F277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DE9484A-5217-F82B-E48D-B22A7C6F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39919" cy="3178454"/>
          </a:xfrm>
        </p:spPr>
        <p:txBody>
          <a:bodyPr>
            <a:normAutofit/>
          </a:bodyPr>
          <a:lstStyle/>
          <a:p>
            <a:r>
              <a:rPr lang="pt-BR" dirty="0"/>
              <a:t>Na segunda figura, a </a:t>
            </a:r>
            <a:r>
              <a:rPr lang="pt-BR" b="1" i="1" dirty="0"/>
              <a:t>flexibilidade excessiva </a:t>
            </a:r>
            <a:r>
              <a:rPr lang="pt-BR" dirty="0"/>
              <a:t>do polinômio (i.e., ordem elevada) dá origem a contorções na </a:t>
            </a:r>
            <a:r>
              <a:rPr lang="pt-BR" b="1" i="1" dirty="0"/>
              <a:t>fronteira de decisão </a:t>
            </a:r>
            <a:r>
              <a:rPr lang="pt-BR" dirty="0"/>
              <a:t>na tentativa de </a:t>
            </a:r>
            <a:r>
              <a:rPr lang="pt-BR" b="1" i="1" dirty="0">
                <a:solidFill>
                  <a:srgbClr val="7030A0"/>
                </a:solidFill>
              </a:rPr>
              <a:t>minimizar o erro</a:t>
            </a:r>
            <a:r>
              <a:rPr lang="pt-BR" dirty="0"/>
              <a:t> de classificação </a:t>
            </a:r>
            <a:r>
              <a:rPr lang="pt-BR" b="1" i="1" dirty="0">
                <a:solidFill>
                  <a:srgbClr val="7030A0"/>
                </a:solidFill>
              </a:rPr>
              <a:t>junto aos dados de treinamento</a:t>
            </a:r>
            <a:r>
              <a:rPr lang="pt-BR" dirty="0"/>
              <a:t>.</a:t>
            </a:r>
          </a:p>
          <a:p>
            <a:r>
              <a:rPr lang="pt-BR" dirty="0"/>
              <a:t>Porém, o classificador cometerá muitos erros para dados inéditos, </a:t>
            </a:r>
            <a:r>
              <a:rPr lang="pt-BR" dirty="0" smtClean="0"/>
              <a:t>i.e., </a:t>
            </a:r>
            <a:r>
              <a:rPr lang="pt-BR" b="1" i="1" dirty="0">
                <a:solidFill>
                  <a:srgbClr val="FF0000"/>
                </a:solidFill>
              </a:rPr>
              <a:t>não irá generalizar bem</a:t>
            </a:r>
            <a:r>
              <a:rPr lang="pt-BR" dirty="0"/>
              <a:t>.</a:t>
            </a:r>
          </a:p>
          <a:p>
            <a:r>
              <a:rPr lang="pt-BR" dirty="0"/>
              <a:t>Nesse caso o classificador apresenta </a:t>
            </a:r>
            <a:r>
              <a:rPr lang="pt-BR" b="1" i="1" dirty="0">
                <a:solidFill>
                  <a:srgbClr val="00B050"/>
                </a:solidFill>
              </a:rPr>
              <a:t>erro de treinamento muito baixo </a:t>
            </a:r>
            <a:r>
              <a:rPr lang="pt-BR" dirty="0"/>
              <a:t>e </a:t>
            </a:r>
            <a:r>
              <a:rPr lang="pt-BR" b="1" i="1" dirty="0">
                <a:solidFill>
                  <a:srgbClr val="FF0000"/>
                </a:solidFill>
              </a:rPr>
              <a:t>erro de</a:t>
            </a:r>
            <a:r>
              <a:rPr lang="pt-BR" dirty="0"/>
              <a:t> </a:t>
            </a:r>
            <a:r>
              <a:rPr lang="pt-BR" b="1" i="1" dirty="0">
                <a:solidFill>
                  <a:srgbClr val="FF0000"/>
                </a:solidFill>
              </a:rPr>
              <a:t>teste muito alto</a:t>
            </a:r>
            <a:r>
              <a:rPr lang="pt-BR" dirty="0"/>
              <a:t>.</a:t>
            </a:r>
          </a:p>
        </p:txBody>
      </p:sp>
      <p:grpSp>
        <p:nvGrpSpPr>
          <p:cNvPr id="4" name="Group 50">
            <a:extLst>
              <a:ext uri="{FF2B5EF4-FFF2-40B4-BE49-F238E27FC236}">
                <a16:creationId xmlns="" xmlns:a16="http://schemas.microsoft.com/office/drawing/2014/main" id="{AAC33CC3-B566-0A22-6D7F-4A7086BDBE56}"/>
              </a:ext>
            </a:extLst>
          </p:cNvPr>
          <p:cNvGrpSpPr/>
          <p:nvPr/>
        </p:nvGrpSpPr>
        <p:grpSpPr>
          <a:xfrm>
            <a:off x="1028041" y="4782470"/>
            <a:ext cx="2614571" cy="2044068"/>
            <a:chOff x="9561094" y="1203158"/>
            <a:chExt cx="2796786" cy="2093874"/>
          </a:xfrm>
        </p:grpSpPr>
        <p:cxnSp>
          <p:nvCxnSpPr>
            <p:cNvPr id="5" name="Straight Connector 51">
              <a:extLst>
                <a:ext uri="{FF2B5EF4-FFF2-40B4-BE49-F238E27FC236}">
                  <a16:creationId xmlns="" xmlns:a16="http://schemas.microsoft.com/office/drawing/2014/main" id="{5D158E3F-ED3F-A0BB-C06B-2CF4EAA4B11D}"/>
                </a:ext>
              </a:extLst>
            </p:cNvPr>
            <p:cNvCxnSpPr/>
            <p:nvPr/>
          </p:nvCxnSpPr>
          <p:spPr>
            <a:xfrm>
              <a:off x="9724202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2">
              <a:extLst>
                <a:ext uri="{FF2B5EF4-FFF2-40B4-BE49-F238E27FC236}">
                  <a16:creationId xmlns="" xmlns:a16="http://schemas.microsoft.com/office/drawing/2014/main" id="{E14DE293-E665-2737-62F6-D30BF75374C3}"/>
                </a:ext>
              </a:extLst>
            </p:cNvPr>
            <p:cNvCxnSpPr/>
            <p:nvPr/>
          </p:nvCxnSpPr>
          <p:spPr>
            <a:xfrm rot="16200000">
              <a:off x="10797774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53">
                  <a:extLst>
                    <a:ext uri="{FF2B5EF4-FFF2-40B4-BE49-F238E27FC236}">
                      <a16:creationId xmlns="" xmlns:a16="http://schemas.microsoft.com/office/drawing/2014/main" id="{0F060A46-3CFC-45DB-BB36-1A17B92266A3}"/>
                    </a:ext>
                  </a:extLst>
                </p:cNvPr>
                <p:cNvSpPr txBox="1"/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3953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54">
                  <a:extLst>
                    <a:ext uri="{FF2B5EF4-FFF2-40B4-BE49-F238E27FC236}">
                      <a16:creationId xmlns="" xmlns:a16="http://schemas.microsoft.com/office/drawing/2014/main" id="{375B5669-21CF-6AC7-003F-C8620D6D016C}"/>
                    </a:ext>
                  </a:extLst>
                </p:cNvPr>
                <p:cNvSpPr txBox="1"/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55">
              <a:extLst>
                <a:ext uri="{FF2B5EF4-FFF2-40B4-BE49-F238E27FC236}">
                  <a16:creationId xmlns="" xmlns:a16="http://schemas.microsoft.com/office/drawing/2014/main" id="{A584C797-F691-3447-D9AC-BA27AFA91641}"/>
                </a:ext>
              </a:extLst>
            </p:cNvPr>
            <p:cNvSpPr/>
            <p:nvPr/>
          </p:nvSpPr>
          <p:spPr>
            <a:xfrm>
              <a:off x="10441769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56">
              <a:extLst>
                <a:ext uri="{FF2B5EF4-FFF2-40B4-BE49-F238E27FC236}">
                  <a16:creationId xmlns="" xmlns:a16="http://schemas.microsoft.com/office/drawing/2014/main" id="{7BF53845-9122-66A2-F6EE-F82FE2EA8B35}"/>
                </a:ext>
              </a:extLst>
            </p:cNvPr>
            <p:cNvSpPr/>
            <p:nvPr/>
          </p:nvSpPr>
          <p:spPr>
            <a:xfrm>
              <a:off x="10450116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57">
              <a:extLst>
                <a:ext uri="{FF2B5EF4-FFF2-40B4-BE49-F238E27FC236}">
                  <a16:creationId xmlns="" xmlns:a16="http://schemas.microsoft.com/office/drawing/2014/main" id="{B986BC97-E4CB-FF24-8B6B-B5E0B58328B4}"/>
                </a:ext>
              </a:extLst>
            </p:cNvPr>
            <p:cNvSpPr/>
            <p:nvPr/>
          </p:nvSpPr>
          <p:spPr>
            <a:xfrm>
              <a:off x="10183755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Oval 58">
              <a:extLst>
                <a:ext uri="{FF2B5EF4-FFF2-40B4-BE49-F238E27FC236}">
                  <a16:creationId xmlns="" xmlns:a16="http://schemas.microsoft.com/office/drawing/2014/main" id="{F93121AB-3E96-4C7B-C0A0-F7366006410B}"/>
                </a:ext>
              </a:extLst>
            </p:cNvPr>
            <p:cNvSpPr/>
            <p:nvPr/>
          </p:nvSpPr>
          <p:spPr>
            <a:xfrm>
              <a:off x="10302622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Oval 59">
              <a:extLst>
                <a:ext uri="{FF2B5EF4-FFF2-40B4-BE49-F238E27FC236}">
                  <a16:creationId xmlns="" xmlns:a16="http://schemas.microsoft.com/office/drawing/2014/main" id="{4A46DC69-8112-7890-D65B-BA227AEC26FF}"/>
                </a:ext>
              </a:extLst>
            </p:cNvPr>
            <p:cNvSpPr/>
            <p:nvPr/>
          </p:nvSpPr>
          <p:spPr>
            <a:xfrm>
              <a:off x="10704566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60">
              <a:extLst>
                <a:ext uri="{FF2B5EF4-FFF2-40B4-BE49-F238E27FC236}">
                  <a16:creationId xmlns="" xmlns:a16="http://schemas.microsoft.com/office/drawing/2014/main" id="{36B8C64A-B43F-AEF3-8FD9-AF525A799E9C}"/>
                </a:ext>
              </a:extLst>
            </p:cNvPr>
            <p:cNvSpPr/>
            <p:nvPr/>
          </p:nvSpPr>
          <p:spPr>
            <a:xfrm>
              <a:off x="10727947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Oval 61">
              <a:extLst>
                <a:ext uri="{FF2B5EF4-FFF2-40B4-BE49-F238E27FC236}">
                  <a16:creationId xmlns="" xmlns:a16="http://schemas.microsoft.com/office/drawing/2014/main" id="{B74988DE-918E-946B-C74E-7EE0F18DA73C}"/>
                </a:ext>
              </a:extLst>
            </p:cNvPr>
            <p:cNvSpPr/>
            <p:nvPr/>
          </p:nvSpPr>
          <p:spPr>
            <a:xfrm>
              <a:off x="10954789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Oval 62">
              <a:extLst>
                <a:ext uri="{FF2B5EF4-FFF2-40B4-BE49-F238E27FC236}">
                  <a16:creationId xmlns="" xmlns:a16="http://schemas.microsoft.com/office/drawing/2014/main" id="{3BBCBCAF-1C6D-67E9-5A37-C65BFCB949F5}"/>
                </a:ext>
              </a:extLst>
            </p:cNvPr>
            <p:cNvSpPr/>
            <p:nvPr/>
          </p:nvSpPr>
          <p:spPr>
            <a:xfrm>
              <a:off x="10717895" y="22319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Oval 63">
              <a:extLst>
                <a:ext uri="{FF2B5EF4-FFF2-40B4-BE49-F238E27FC236}">
                  <a16:creationId xmlns="" xmlns:a16="http://schemas.microsoft.com/office/drawing/2014/main" id="{389E0290-6C37-86BF-D7F6-3C3D70AFDC7D}"/>
                </a:ext>
              </a:extLst>
            </p:cNvPr>
            <p:cNvSpPr/>
            <p:nvPr/>
          </p:nvSpPr>
          <p:spPr>
            <a:xfrm>
              <a:off x="10233441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Oval 64">
              <a:extLst>
                <a:ext uri="{FF2B5EF4-FFF2-40B4-BE49-F238E27FC236}">
                  <a16:creationId xmlns="" xmlns:a16="http://schemas.microsoft.com/office/drawing/2014/main" id="{D535C198-4195-86A4-9BF5-A9F6C34A8330}"/>
                </a:ext>
              </a:extLst>
            </p:cNvPr>
            <p:cNvSpPr/>
            <p:nvPr/>
          </p:nvSpPr>
          <p:spPr>
            <a:xfrm>
              <a:off x="10797774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Oval 65">
              <a:extLst>
                <a:ext uri="{FF2B5EF4-FFF2-40B4-BE49-F238E27FC236}">
                  <a16:creationId xmlns="" xmlns:a16="http://schemas.microsoft.com/office/drawing/2014/main" id="{537C7751-3C73-12CA-E37A-9EDC1ECADCF6}"/>
                </a:ext>
              </a:extLst>
            </p:cNvPr>
            <p:cNvSpPr/>
            <p:nvPr/>
          </p:nvSpPr>
          <p:spPr>
            <a:xfrm>
              <a:off x="10558137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Oval 66">
              <a:extLst>
                <a:ext uri="{FF2B5EF4-FFF2-40B4-BE49-F238E27FC236}">
                  <a16:creationId xmlns="" xmlns:a16="http://schemas.microsoft.com/office/drawing/2014/main" id="{DB34B1B3-6E55-71B6-E580-4C356935E253}"/>
                </a:ext>
              </a:extLst>
            </p:cNvPr>
            <p:cNvSpPr/>
            <p:nvPr/>
          </p:nvSpPr>
          <p:spPr>
            <a:xfrm>
              <a:off x="10948131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Oval 67">
              <a:extLst>
                <a:ext uri="{FF2B5EF4-FFF2-40B4-BE49-F238E27FC236}">
                  <a16:creationId xmlns="" xmlns:a16="http://schemas.microsoft.com/office/drawing/2014/main" id="{3DFE5CE7-19B7-8FAA-31BD-24E698D127FF}"/>
                </a:ext>
              </a:extLst>
            </p:cNvPr>
            <p:cNvSpPr/>
            <p:nvPr/>
          </p:nvSpPr>
          <p:spPr>
            <a:xfrm>
              <a:off x="11196805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Oval 68">
              <a:extLst>
                <a:ext uri="{FF2B5EF4-FFF2-40B4-BE49-F238E27FC236}">
                  <a16:creationId xmlns="" xmlns:a16="http://schemas.microsoft.com/office/drawing/2014/main" id="{1A643A25-5F1E-275A-CB13-6A6CBC92A001}"/>
                </a:ext>
              </a:extLst>
            </p:cNvPr>
            <p:cNvSpPr/>
            <p:nvPr/>
          </p:nvSpPr>
          <p:spPr>
            <a:xfrm>
              <a:off x="11396321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Oval 69">
              <a:extLst>
                <a:ext uri="{FF2B5EF4-FFF2-40B4-BE49-F238E27FC236}">
                  <a16:creationId xmlns="" xmlns:a16="http://schemas.microsoft.com/office/drawing/2014/main" id="{C0416F76-8277-57B0-E040-C19C523F65FE}"/>
                </a:ext>
              </a:extLst>
            </p:cNvPr>
            <p:cNvSpPr/>
            <p:nvPr/>
          </p:nvSpPr>
          <p:spPr>
            <a:xfrm>
              <a:off x="10562838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Oval 70">
              <a:extLst>
                <a:ext uri="{FF2B5EF4-FFF2-40B4-BE49-F238E27FC236}">
                  <a16:creationId xmlns="" xmlns:a16="http://schemas.microsoft.com/office/drawing/2014/main" id="{7C84899F-2320-A837-FEAC-8F52DD9FAB36}"/>
                </a:ext>
              </a:extLst>
            </p:cNvPr>
            <p:cNvSpPr/>
            <p:nvPr/>
          </p:nvSpPr>
          <p:spPr>
            <a:xfrm>
              <a:off x="11505344" y="237306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Oval 71">
              <a:extLst>
                <a:ext uri="{FF2B5EF4-FFF2-40B4-BE49-F238E27FC236}">
                  <a16:creationId xmlns="" xmlns:a16="http://schemas.microsoft.com/office/drawing/2014/main" id="{F32CECB7-0441-EB09-8AC9-3C163719DBF8}"/>
                </a:ext>
              </a:extLst>
            </p:cNvPr>
            <p:cNvSpPr/>
            <p:nvPr/>
          </p:nvSpPr>
          <p:spPr>
            <a:xfrm>
              <a:off x="11165137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Oval 72">
              <a:extLst>
                <a:ext uri="{FF2B5EF4-FFF2-40B4-BE49-F238E27FC236}">
                  <a16:creationId xmlns="" xmlns:a16="http://schemas.microsoft.com/office/drawing/2014/main" id="{7EF0AB90-663B-4A37-FDD8-BB80E88319AF}"/>
                </a:ext>
              </a:extLst>
            </p:cNvPr>
            <p:cNvSpPr/>
            <p:nvPr/>
          </p:nvSpPr>
          <p:spPr>
            <a:xfrm>
              <a:off x="10989996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Oval 73">
              <a:extLst>
                <a:ext uri="{FF2B5EF4-FFF2-40B4-BE49-F238E27FC236}">
                  <a16:creationId xmlns="" xmlns:a16="http://schemas.microsoft.com/office/drawing/2014/main" id="{9D85D20C-303D-4221-EE0D-41D6B72BFEF8}"/>
                </a:ext>
              </a:extLst>
            </p:cNvPr>
            <p:cNvSpPr/>
            <p:nvPr/>
          </p:nvSpPr>
          <p:spPr>
            <a:xfrm>
              <a:off x="10967394" y="252768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Oval 74">
              <a:extLst>
                <a:ext uri="{FF2B5EF4-FFF2-40B4-BE49-F238E27FC236}">
                  <a16:creationId xmlns="" xmlns:a16="http://schemas.microsoft.com/office/drawing/2014/main" id="{2CCFC6DF-F3A6-AEE6-C2C1-5CD54E1BC872}"/>
                </a:ext>
              </a:extLst>
            </p:cNvPr>
            <p:cNvSpPr/>
            <p:nvPr/>
          </p:nvSpPr>
          <p:spPr>
            <a:xfrm>
              <a:off x="11196805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Multiply 75">
              <a:extLst>
                <a:ext uri="{FF2B5EF4-FFF2-40B4-BE49-F238E27FC236}">
                  <a16:creationId xmlns="" xmlns:a16="http://schemas.microsoft.com/office/drawing/2014/main" id="{013EE84D-BE30-53F5-7D24-58A127BDFB67}"/>
                </a:ext>
              </a:extLst>
            </p:cNvPr>
            <p:cNvSpPr/>
            <p:nvPr/>
          </p:nvSpPr>
          <p:spPr>
            <a:xfrm>
              <a:off x="10888371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Multiply 76">
              <a:extLst>
                <a:ext uri="{FF2B5EF4-FFF2-40B4-BE49-F238E27FC236}">
                  <a16:creationId xmlns="" xmlns:a16="http://schemas.microsoft.com/office/drawing/2014/main" id="{16253B35-6000-3165-CC97-2C5695DC707E}"/>
                </a:ext>
              </a:extLst>
            </p:cNvPr>
            <p:cNvSpPr/>
            <p:nvPr/>
          </p:nvSpPr>
          <p:spPr>
            <a:xfrm>
              <a:off x="10099826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Multiply 77">
              <a:extLst>
                <a:ext uri="{FF2B5EF4-FFF2-40B4-BE49-F238E27FC236}">
                  <a16:creationId xmlns="" xmlns:a16="http://schemas.microsoft.com/office/drawing/2014/main" id="{AB3C5468-2303-A8E9-77E5-B694CED428CD}"/>
                </a:ext>
              </a:extLst>
            </p:cNvPr>
            <p:cNvSpPr/>
            <p:nvPr/>
          </p:nvSpPr>
          <p:spPr>
            <a:xfrm>
              <a:off x="9971860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Multiply 78">
              <a:extLst>
                <a:ext uri="{FF2B5EF4-FFF2-40B4-BE49-F238E27FC236}">
                  <a16:creationId xmlns="" xmlns:a16="http://schemas.microsoft.com/office/drawing/2014/main" id="{55EF7B01-BE33-EAC8-7681-BE6B59C74A73}"/>
                </a:ext>
              </a:extLst>
            </p:cNvPr>
            <p:cNvSpPr/>
            <p:nvPr/>
          </p:nvSpPr>
          <p:spPr>
            <a:xfrm>
              <a:off x="9776215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Multiply 79">
              <a:extLst>
                <a:ext uri="{FF2B5EF4-FFF2-40B4-BE49-F238E27FC236}">
                  <a16:creationId xmlns="" xmlns:a16="http://schemas.microsoft.com/office/drawing/2014/main" id="{1110B2D1-9106-F4A3-7E9A-34E2F248B960}"/>
                </a:ext>
              </a:extLst>
            </p:cNvPr>
            <p:cNvSpPr/>
            <p:nvPr/>
          </p:nvSpPr>
          <p:spPr>
            <a:xfrm>
              <a:off x="9753015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Multiply 80">
              <a:extLst>
                <a:ext uri="{FF2B5EF4-FFF2-40B4-BE49-F238E27FC236}">
                  <a16:creationId xmlns="" xmlns:a16="http://schemas.microsoft.com/office/drawing/2014/main" id="{DD301770-2322-F6BE-DE66-9DE851362B9C}"/>
                </a:ext>
              </a:extLst>
            </p:cNvPr>
            <p:cNvSpPr/>
            <p:nvPr/>
          </p:nvSpPr>
          <p:spPr>
            <a:xfrm>
              <a:off x="11407201" y="21565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Multiply 81">
              <a:extLst>
                <a:ext uri="{FF2B5EF4-FFF2-40B4-BE49-F238E27FC236}">
                  <a16:creationId xmlns="" xmlns:a16="http://schemas.microsoft.com/office/drawing/2014/main" id="{7374FE26-AFB2-A4DF-C9D1-5CA2F10641E9}"/>
                </a:ext>
              </a:extLst>
            </p:cNvPr>
            <p:cNvSpPr/>
            <p:nvPr/>
          </p:nvSpPr>
          <p:spPr>
            <a:xfrm>
              <a:off x="9842247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Oval 82">
              <a:extLst>
                <a:ext uri="{FF2B5EF4-FFF2-40B4-BE49-F238E27FC236}">
                  <a16:creationId xmlns="" xmlns:a16="http://schemas.microsoft.com/office/drawing/2014/main" id="{17B4E597-92BA-2AFD-C069-2FF24DAFF969}"/>
                </a:ext>
              </a:extLst>
            </p:cNvPr>
            <p:cNvSpPr/>
            <p:nvPr/>
          </p:nvSpPr>
          <p:spPr>
            <a:xfrm>
              <a:off x="11172165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Oval 83">
              <a:extLst>
                <a:ext uri="{FF2B5EF4-FFF2-40B4-BE49-F238E27FC236}">
                  <a16:creationId xmlns="" xmlns:a16="http://schemas.microsoft.com/office/drawing/2014/main" id="{5872DCA0-4C1E-3643-F3A9-D4C092D4F92F}"/>
                </a:ext>
              </a:extLst>
            </p:cNvPr>
            <p:cNvSpPr/>
            <p:nvPr/>
          </p:nvSpPr>
          <p:spPr>
            <a:xfrm>
              <a:off x="11298715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Oval 84">
              <a:extLst>
                <a:ext uri="{FF2B5EF4-FFF2-40B4-BE49-F238E27FC236}">
                  <a16:creationId xmlns="" xmlns:a16="http://schemas.microsoft.com/office/drawing/2014/main" id="{D9C9E530-CF36-2AE3-043A-EC182A9BE775}"/>
                </a:ext>
              </a:extLst>
            </p:cNvPr>
            <p:cNvSpPr/>
            <p:nvPr/>
          </p:nvSpPr>
          <p:spPr>
            <a:xfrm>
              <a:off x="11380278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Multiply 85">
              <a:extLst>
                <a:ext uri="{FF2B5EF4-FFF2-40B4-BE49-F238E27FC236}">
                  <a16:creationId xmlns="" xmlns:a16="http://schemas.microsoft.com/office/drawing/2014/main" id="{B54ED1FC-F5DE-D600-FCDF-1ADCF29D45E7}"/>
                </a:ext>
              </a:extLst>
            </p:cNvPr>
            <p:cNvSpPr/>
            <p:nvPr/>
          </p:nvSpPr>
          <p:spPr>
            <a:xfrm>
              <a:off x="9966628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Multiply 86">
              <a:extLst>
                <a:ext uri="{FF2B5EF4-FFF2-40B4-BE49-F238E27FC236}">
                  <a16:creationId xmlns="" xmlns:a16="http://schemas.microsoft.com/office/drawing/2014/main" id="{AEEDFEB7-CF7C-4951-7072-A4E2FE403B4A}"/>
                </a:ext>
              </a:extLst>
            </p:cNvPr>
            <p:cNvSpPr/>
            <p:nvPr/>
          </p:nvSpPr>
          <p:spPr>
            <a:xfrm>
              <a:off x="10212299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Multiply 87">
              <a:extLst>
                <a:ext uri="{FF2B5EF4-FFF2-40B4-BE49-F238E27FC236}">
                  <a16:creationId xmlns="" xmlns:a16="http://schemas.microsoft.com/office/drawing/2014/main" id="{38017610-9326-8829-14D6-1B23F2706CDD}"/>
                </a:ext>
              </a:extLst>
            </p:cNvPr>
            <p:cNvSpPr/>
            <p:nvPr/>
          </p:nvSpPr>
          <p:spPr>
            <a:xfrm>
              <a:off x="10637603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Multiply 88">
              <a:extLst>
                <a:ext uri="{FF2B5EF4-FFF2-40B4-BE49-F238E27FC236}">
                  <a16:creationId xmlns="" xmlns:a16="http://schemas.microsoft.com/office/drawing/2014/main" id="{FFAB20C3-59C4-8273-14C1-C4FCDD73DC04}"/>
                </a:ext>
              </a:extLst>
            </p:cNvPr>
            <p:cNvSpPr/>
            <p:nvPr/>
          </p:nvSpPr>
          <p:spPr>
            <a:xfrm>
              <a:off x="10395616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Multiply 89">
              <a:extLst>
                <a:ext uri="{FF2B5EF4-FFF2-40B4-BE49-F238E27FC236}">
                  <a16:creationId xmlns="" xmlns:a16="http://schemas.microsoft.com/office/drawing/2014/main" id="{47C9C92D-7665-03C1-F146-51BC3AA25634}"/>
                </a:ext>
              </a:extLst>
            </p:cNvPr>
            <p:cNvSpPr/>
            <p:nvPr/>
          </p:nvSpPr>
          <p:spPr>
            <a:xfrm>
              <a:off x="9887310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Multiply 90">
              <a:extLst>
                <a:ext uri="{FF2B5EF4-FFF2-40B4-BE49-F238E27FC236}">
                  <a16:creationId xmlns="" xmlns:a16="http://schemas.microsoft.com/office/drawing/2014/main" id="{18559765-9AC9-B7DA-08A1-120BB059E5D0}"/>
                </a:ext>
              </a:extLst>
            </p:cNvPr>
            <p:cNvSpPr/>
            <p:nvPr/>
          </p:nvSpPr>
          <p:spPr>
            <a:xfrm>
              <a:off x="11025217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Multiply 91">
              <a:extLst>
                <a:ext uri="{FF2B5EF4-FFF2-40B4-BE49-F238E27FC236}">
                  <a16:creationId xmlns="" xmlns:a16="http://schemas.microsoft.com/office/drawing/2014/main" id="{E6EB7F2E-1EC5-56CD-AEA8-0D8712EAE5F7}"/>
                </a:ext>
              </a:extLst>
            </p:cNvPr>
            <p:cNvSpPr/>
            <p:nvPr/>
          </p:nvSpPr>
          <p:spPr>
            <a:xfrm>
              <a:off x="11364804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Multiply 92">
              <a:extLst>
                <a:ext uri="{FF2B5EF4-FFF2-40B4-BE49-F238E27FC236}">
                  <a16:creationId xmlns="" xmlns:a16="http://schemas.microsoft.com/office/drawing/2014/main" id="{D53D50BB-56E7-1913-AF5B-45D781C0862A}"/>
                </a:ext>
              </a:extLst>
            </p:cNvPr>
            <p:cNvSpPr/>
            <p:nvPr/>
          </p:nvSpPr>
          <p:spPr>
            <a:xfrm>
              <a:off x="10022783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Multiply 93">
              <a:extLst>
                <a:ext uri="{FF2B5EF4-FFF2-40B4-BE49-F238E27FC236}">
                  <a16:creationId xmlns="" xmlns:a16="http://schemas.microsoft.com/office/drawing/2014/main" id="{D9D948A2-7FCE-B2BE-30C2-804E37360574}"/>
                </a:ext>
              </a:extLst>
            </p:cNvPr>
            <p:cNvSpPr/>
            <p:nvPr/>
          </p:nvSpPr>
          <p:spPr>
            <a:xfrm>
              <a:off x="10384819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Multiply 94">
              <a:extLst>
                <a:ext uri="{FF2B5EF4-FFF2-40B4-BE49-F238E27FC236}">
                  <a16:creationId xmlns="" xmlns:a16="http://schemas.microsoft.com/office/drawing/2014/main" id="{34EE58C7-425A-3119-6C53-3459D32F01E5}"/>
                </a:ext>
              </a:extLst>
            </p:cNvPr>
            <p:cNvSpPr/>
            <p:nvPr/>
          </p:nvSpPr>
          <p:spPr>
            <a:xfrm>
              <a:off x="9729684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Multiply 95">
              <a:extLst>
                <a:ext uri="{FF2B5EF4-FFF2-40B4-BE49-F238E27FC236}">
                  <a16:creationId xmlns="" xmlns:a16="http://schemas.microsoft.com/office/drawing/2014/main" id="{023E38CA-510B-2171-3DCE-8AE48A567302}"/>
                </a:ext>
              </a:extLst>
            </p:cNvPr>
            <p:cNvSpPr/>
            <p:nvPr/>
          </p:nvSpPr>
          <p:spPr>
            <a:xfrm>
              <a:off x="10759899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0" name="Straight Connector 96">
              <a:extLst>
                <a:ext uri="{FF2B5EF4-FFF2-40B4-BE49-F238E27FC236}">
                  <a16:creationId xmlns="" xmlns:a16="http://schemas.microsoft.com/office/drawing/2014/main" id="{71D7C514-BBC0-3FD5-B491-697DD5A4DC45}"/>
                </a:ext>
              </a:extLst>
            </p:cNvPr>
            <p:cNvCxnSpPr/>
            <p:nvPr/>
          </p:nvCxnSpPr>
          <p:spPr>
            <a:xfrm>
              <a:off x="9710234" y="1706871"/>
              <a:ext cx="1903794" cy="145230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97">
            <a:extLst>
              <a:ext uri="{FF2B5EF4-FFF2-40B4-BE49-F238E27FC236}">
                <a16:creationId xmlns="" xmlns:a16="http://schemas.microsoft.com/office/drawing/2014/main" id="{4428BBD2-C403-E0F2-42F0-FB45BB9BA997}"/>
              </a:ext>
            </a:extLst>
          </p:cNvPr>
          <p:cNvGrpSpPr/>
          <p:nvPr/>
        </p:nvGrpSpPr>
        <p:grpSpPr>
          <a:xfrm>
            <a:off x="4968566" y="4759121"/>
            <a:ext cx="2614572" cy="2075388"/>
            <a:chOff x="15842602" y="1171075"/>
            <a:chExt cx="2796787" cy="2125957"/>
          </a:xfrm>
        </p:grpSpPr>
        <p:cxnSp>
          <p:nvCxnSpPr>
            <p:cNvPr id="52" name="Straight Connector 98">
              <a:extLst>
                <a:ext uri="{FF2B5EF4-FFF2-40B4-BE49-F238E27FC236}">
                  <a16:creationId xmlns="" xmlns:a16="http://schemas.microsoft.com/office/drawing/2014/main" id="{076CFCE5-FE63-5677-E86E-73EC5285FD40}"/>
                </a:ext>
              </a:extLst>
            </p:cNvPr>
            <p:cNvCxnSpPr/>
            <p:nvPr/>
          </p:nvCxnSpPr>
          <p:spPr>
            <a:xfrm>
              <a:off x="16005710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9">
              <a:extLst>
                <a:ext uri="{FF2B5EF4-FFF2-40B4-BE49-F238E27FC236}">
                  <a16:creationId xmlns="" xmlns:a16="http://schemas.microsoft.com/office/drawing/2014/main" id="{2BCC2FA1-41AE-B5C3-FD4B-D4CDE7932F9D}"/>
                </a:ext>
              </a:extLst>
            </p:cNvPr>
            <p:cNvCxnSpPr/>
            <p:nvPr/>
          </p:nvCxnSpPr>
          <p:spPr>
            <a:xfrm rot="16200000">
              <a:off x="17079282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100">
                  <a:extLst>
                    <a:ext uri="{FF2B5EF4-FFF2-40B4-BE49-F238E27FC236}">
                      <a16:creationId xmlns="" xmlns:a16="http://schemas.microsoft.com/office/drawing/2014/main" id="{8CC8656C-56D6-CE67-FBE4-C5915D7D9407}"/>
                    </a:ext>
                  </a:extLst>
                </p:cNvPr>
                <p:cNvSpPr txBox="1"/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101">
                  <a:extLst>
                    <a:ext uri="{FF2B5EF4-FFF2-40B4-BE49-F238E27FC236}">
                      <a16:creationId xmlns="" xmlns:a16="http://schemas.microsoft.com/office/drawing/2014/main" id="{D9819669-1BF1-C232-6D45-A09CB263B947}"/>
                    </a:ext>
                  </a:extLst>
                </p:cNvPr>
                <p:cNvSpPr txBox="1"/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Oval 102">
              <a:extLst>
                <a:ext uri="{FF2B5EF4-FFF2-40B4-BE49-F238E27FC236}">
                  <a16:creationId xmlns="" xmlns:a16="http://schemas.microsoft.com/office/drawing/2014/main" id="{65A7F45A-7658-DFC2-FBF6-1B5CB0AFB028}"/>
                </a:ext>
              </a:extLst>
            </p:cNvPr>
            <p:cNvSpPr/>
            <p:nvPr/>
          </p:nvSpPr>
          <p:spPr>
            <a:xfrm>
              <a:off x="16723277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Oval 103">
              <a:extLst>
                <a:ext uri="{FF2B5EF4-FFF2-40B4-BE49-F238E27FC236}">
                  <a16:creationId xmlns="" xmlns:a16="http://schemas.microsoft.com/office/drawing/2014/main" id="{DCEC7F87-D760-9313-00D0-5B665C02F50A}"/>
                </a:ext>
              </a:extLst>
            </p:cNvPr>
            <p:cNvSpPr/>
            <p:nvPr/>
          </p:nvSpPr>
          <p:spPr>
            <a:xfrm>
              <a:off x="16731625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Oval 104">
              <a:extLst>
                <a:ext uri="{FF2B5EF4-FFF2-40B4-BE49-F238E27FC236}">
                  <a16:creationId xmlns="" xmlns:a16="http://schemas.microsoft.com/office/drawing/2014/main" id="{F75AFDF8-69D0-7351-D0D2-AEA12369AC2E}"/>
                </a:ext>
              </a:extLst>
            </p:cNvPr>
            <p:cNvSpPr/>
            <p:nvPr/>
          </p:nvSpPr>
          <p:spPr>
            <a:xfrm>
              <a:off x="16465263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Oval 105">
              <a:extLst>
                <a:ext uri="{FF2B5EF4-FFF2-40B4-BE49-F238E27FC236}">
                  <a16:creationId xmlns="" xmlns:a16="http://schemas.microsoft.com/office/drawing/2014/main" id="{ADEF85EF-FD15-3FE3-CDE0-2DCBE374B61E}"/>
                </a:ext>
              </a:extLst>
            </p:cNvPr>
            <p:cNvSpPr/>
            <p:nvPr/>
          </p:nvSpPr>
          <p:spPr>
            <a:xfrm>
              <a:off x="16584131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106">
              <a:extLst>
                <a:ext uri="{FF2B5EF4-FFF2-40B4-BE49-F238E27FC236}">
                  <a16:creationId xmlns="" xmlns:a16="http://schemas.microsoft.com/office/drawing/2014/main" id="{DC65D5A1-E7CE-5E1A-173B-0C5B0D5914C3}"/>
                </a:ext>
              </a:extLst>
            </p:cNvPr>
            <p:cNvSpPr/>
            <p:nvPr/>
          </p:nvSpPr>
          <p:spPr>
            <a:xfrm>
              <a:off x="16986074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Oval 107">
              <a:extLst>
                <a:ext uri="{FF2B5EF4-FFF2-40B4-BE49-F238E27FC236}">
                  <a16:creationId xmlns="" xmlns:a16="http://schemas.microsoft.com/office/drawing/2014/main" id="{A1B536C6-CD1F-55EC-2675-03770F9D35DC}"/>
                </a:ext>
              </a:extLst>
            </p:cNvPr>
            <p:cNvSpPr/>
            <p:nvPr/>
          </p:nvSpPr>
          <p:spPr>
            <a:xfrm>
              <a:off x="17009456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Oval 108">
              <a:extLst>
                <a:ext uri="{FF2B5EF4-FFF2-40B4-BE49-F238E27FC236}">
                  <a16:creationId xmlns="" xmlns:a16="http://schemas.microsoft.com/office/drawing/2014/main" id="{EA2ABC7F-B984-A935-BB00-6F08C9EFD138}"/>
                </a:ext>
              </a:extLst>
            </p:cNvPr>
            <p:cNvSpPr/>
            <p:nvPr/>
          </p:nvSpPr>
          <p:spPr>
            <a:xfrm>
              <a:off x="17236297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Oval 109">
              <a:extLst>
                <a:ext uri="{FF2B5EF4-FFF2-40B4-BE49-F238E27FC236}">
                  <a16:creationId xmlns="" xmlns:a16="http://schemas.microsoft.com/office/drawing/2014/main" id="{7712E67F-A332-285F-F28A-FAFB7A170895}"/>
                </a:ext>
              </a:extLst>
            </p:cNvPr>
            <p:cNvSpPr/>
            <p:nvPr/>
          </p:nvSpPr>
          <p:spPr>
            <a:xfrm>
              <a:off x="16976321" y="2218662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Oval 110">
              <a:extLst>
                <a:ext uri="{FF2B5EF4-FFF2-40B4-BE49-F238E27FC236}">
                  <a16:creationId xmlns="" xmlns:a16="http://schemas.microsoft.com/office/drawing/2014/main" id="{2AFCCE17-69B6-008F-55DF-7A5FA320728A}"/>
                </a:ext>
              </a:extLst>
            </p:cNvPr>
            <p:cNvSpPr/>
            <p:nvPr/>
          </p:nvSpPr>
          <p:spPr>
            <a:xfrm>
              <a:off x="16514950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Oval 111">
              <a:extLst>
                <a:ext uri="{FF2B5EF4-FFF2-40B4-BE49-F238E27FC236}">
                  <a16:creationId xmlns="" xmlns:a16="http://schemas.microsoft.com/office/drawing/2014/main" id="{0C0C7EAB-D7E7-560F-3A01-EE748922BC26}"/>
                </a:ext>
              </a:extLst>
            </p:cNvPr>
            <p:cNvSpPr/>
            <p:nvPr/>
          </p:nvSpPr>
          <p:spPr>
            <a:xfrm>
              <a:off x="17079282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Oval 112">
              <a:extLst>
                <a:ext uri="{FF2B5EF4-FFF2-40B4-BE49-F238E27FC236}">
                  <a16:creationId xmlns="" xmlns:a16="http://schemas.microsoft.com/office/drawing/2014/main" id="{2A0C1295-F74A-E7E9-25E1-52207755007F}"/>
                </a:ext>
              </a:extLst>
            </p:cNvPr>
            <p:cNvSpPr/>
            <p:nvPr/>
          </p:nvSpPr>
          <p:spPr>
            <a:xfrm>
              <a:off x="16839645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Oval 113">
              <a:extLst>
                <a:ext uri="{FF2B5EF4-FFF2-40B4-BE49-F238E27FC236}">
                  <a16:creationId xmlns="" xmlns:a16="http://schemas.microsoft.com/office/drawing/2014/main" id="{6B5DAE17-226C-F3EC-7D47-E6C6B7813201}"/>
                </a:ext>
              </a:extLst>
            </p:cNvPr>
            <p:cNvSpPr/>
            <p:nvPr/>
          </p:nvSpPr>
          <p:spPr>
            <a:xfrm>
              <a:off x="17229640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Oval 114">
              <a:extLst>
                <a:ext uri="{FF2B5EF4-FFF2-40B4-BE49-F238E27FC236}">
                  <a16:creationId xmlns="" xmlns:a16="http://schemas.microsoft.com/office/drawing/2014/main" id="{2A0C0819-E05D-C295-2019-17E52DF38EAF}"/>
                </a:ext>
              </a:extLst>
            </p:cNvPr>
            <p:cNvSpPr/>
            <p:nvPr/>
          </p:nvSpPr>
          <p:spPr>
            <a:xfrm>
              <a:off x="17478314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Oval 115">
              <a:extLst>
                <a:ext uri="{FF2B5EF4-FFF2-40B4-BE49-F238E27FC236}">
                  <a16:creationId xmlns="" xmlns:a16="http://schemas.microsoft.com/office/drawing/2014/main" id="{A07EBBE7-FAF1-2DCF-3EB9-7F352A08F74B}"/>
                </a:ext>
              </a:extLst>
            </p:cNvPr>
            <p:cNvSpPr/>
            <p:nvPr/>
          </p:nvSpPr>
          <p:spPr>
            <a:xfrm>
              <a:off x="17677830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Oval 116">
              <a:extLst>
                <a:ext uri="{FF2B5EF4-FFF2-40B4-BE49-F238E27FC236}">
                  <a16:creationId xmlns="" xmlns:a16="http://schemas.microsoft.com/office/drawing/2014/main" id="{959D43FE-6F7F-939D-F368-C48F5513A276}"/>
                </a:ext>
              </a:extLst>
            </p:cNvPr>
            <p:cNvSpPr/>
            <p:nvPr/>
          </p:nvSpPr>
          <p:spPr>
            <a:xfrm>
              <a:off x="16844346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Oval 117">
              <a:extLst>
                <a:ext uri="{FF2B5EF4-FFF2-40B4-BE49-F238E27FC236}">
                  <a16:creationId xmlns="" xmlns:a16="http://schemas.microsoft.com/office/drawing/2014/main" id="{BEC16CD4-C8DD-E2D4-5B52-6F4260B5F886}"/>
                </a:ext>
              </a:extLst>
            </p:cNvPr>
            <p:cNvSpPr/>
            <p:nvPr/>
          </p:nvSpPr>
          <p:spPr>
            <a:xfrm>
              <a:off x="17792855" y="2385644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Oval 118">
              <a:extLst>
                <a:ext uri="{FF2B5EF4-FFF2-40B4-BE49-F238E27FC236}">
                  <a16:creationId xmlns="" xmlns:a16="http://schemas.microsoft.com/office/drawing/2014/main" id="{A8B3838F-A335-6F61-7750-EFC4F4B9E0F2}"/>
                </a:ext>
              </a:extLst>
            </p:cNvPr>
            <p:cNvSpPr/>
            <p:nvPr/>
          </p:nvSpPr>
          <p:spPr>
            <a:xfrm>
              <a:off x="17446645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Oval 119">
              <a:extLst>
                <a:ext uri="{FF2B5EF4-FFF2-40B4-BE49-F238E27FC236}">
                  <a16:creationId xmlns="" xmlns:a16="http://schemas.microsoft.com/office/drawing/2014/main" id="{8B56B4DB-1022-C26F-6761-105079E1C502}"/>
                </a:ext>
              </a:extLst>
            </p:cNvPr>
            <p:cNvSpPr/>
            <p:nvPr/>
          </p:nvSpPr>
          <p:spPr>
            <a:xfrm>
              <a:off x="17271504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Oval 120">
              <a:extLst>
                <a:ext uri="{FF2B5EF4-FFF2-40B4-BE49-F238E27FC236}">
                  <a16:creationId xmlns="" xmlns:a16="http://schemas.microsoft.com/office/drawing/2014/main" id="{206912F4-DD08-FD0A-9FC3-8B7EF1142AD1}"/>
                </a:ext>
              </a:extLst>
            </p:cNvPr>
            <p:cNvSpPr/>
            <p:nvPr/>
          </p:nvSpPr>
          <p:spPr>
            <a:xfrm>
              <a:off x="17261076" y="25495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Oval 121">
              <a:extLst>
                <a:ext uri="{FF2B5EF4-FFF2-40B4-BE49-F238E27FC236}">
                  <a16:creationId xmlns="" xmlns:a16="http://schemas.microsoft.com/office/drawing/2014/main" id="{9A38CB3C-0491-8038-F8B5-B9C614B0F1A2}"/>
                </a:ext>
              </a:extLst>
            </p:cNvPr>
            <p:cNvSpPr/>
            <p:nvPr/>
          </p:nvSpPr>
          <p:spPr>
            <a:xfrm>
              <a:off x="17478314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Multiply 122">
              <a:extLst>
                <a:ext uri="{FF2B5EF4-FFF2-40B4-BE49-F238E27FC236}">
                  <a16:creationId xmlns="" xmlns:a16="http://schemas.microsoft.com/office/drawing/2014/main" id="{3D8F8A2B-04E1-3188-7E56-CB4A578B3CCC}"/>
                </a:ext>
              </a:extLst>
            </p:cNvPr>
            <p:cNvSpPr/>
            <p:nvPr/>
          </p:nvSpPr>
          <p:spPr>
            <a:xfrm>
              <a:off x="17169879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Multiply 123">
              <a:extLst>
                <a:ext uri="{FF2B5EF4-FFF2-40B4-BE49-F238E27FC236}">
                  <a16:creationId xmlns="" xmlns:a16="http://schemas.microsoft.com/office/drawing/2014/main" id="{9AAE01B9-439C-C66E-DA1A-AF81C4BAD274}"/>
                </a:ext>
              </a:extLst>
            </p:cNvPr>
            <p:cNvSpPr/>
            <p:nvPr/>
          </p:nvSpPr>
          <p:spPr>
            <a:xfrm>
              <a:off x="16381334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8" name="Multiply 124">
              <a:extLst>
                <a:ext uri="{FF2B5EF4-FFF2-40B4-BE49-F238E27FC236}">
                  <a16:creationId xmlns="" xmlns:a16="http://schemas.microsoft.com/office/drawing/2014/main" id="{5DEEF50E-80F2-7E51-F6E7-BF976D4BA971}"/>
                </a:ext>
              </a:extLst>
            </p:cNvPr>
            <p:cNvSpPr/>
            <p:nvPr/>
          </p:nvSpPr>
          <p:spPr>
            <a:xfrm>
              <a:off x="16253368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Multiply 125">
              <a:extLst>
                <a:ext uri="{FF2B5EF4-FFF2-40B4-BE49-F238E27FC236}">
                  <a16:creationId xmlns="" xmlns:a16="http://schemas.microsoft.com/office/drawing/2014/main" id="{C87EF8E7-A68A-7CBB-D357-D21A106B8D6B}"/>
                </a:ext>
              </a:extLst>
            </p:cNvPr>
            <p:cNvSpPr/>
            <p:nvPr/>
          </p:nvSpPr>
          <p:spPr>
            <a:xfrm>
              <a:off x="16057723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Multiply 126">
              <a:extLst>
                <a:ext uri="{FF2B5EF4-FFF2-40B4-BE49-F238E27FC236}">
                  <a16:creationId xmlns="" xmlns:a16="http://schemas.microsoft.com/office/drawing/2014/main" id="{45F55C5A-4F9D-F940-9AC8-F5E9AE1F934C}"/>
                </a:ext>
              </a:extLst>
            </p:cNvPr>
            <p:cNvSpPr/>
            <p:nvPr/>
          </p:nvSpPr>
          <p:spPr>
            <a:xfrm>
              <a:off x="16034523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Multiply 127">
              <a:extLst>
                <a:ext uri="{FF2B5EF4-FFF2-40B4-BE49-F238E27FC236}">
                  <a16:creationId xmlns="" xmlns:a16="http://schemas.microsoft.com/office/drawing/2014/main" id="{A28E2E3D-ED19-5C47-A62E-E5045C2E65A2}"/>
                </a:ext>
              </a:extLst>
            </p:cNvPr>
            <p:cNvSpPr/>
            <p:nvPr/>
          </p:nvSpPr>
          <p:spPr>
            <a:xfrm>
              <a:off x="17744928" y="2170446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Multiply 128">
              <a:extLst>
                <a:ext uri="{FF2B5EF4-FFF2-40B4-BE49-F238E27FC236}">
                  <a16:creationId xmlns="" xmlns:a16="http://schemas.microsoft.com/office/drawing/2014/main" id="{84B9A896-00DC-8D1A-CA3F-883FBA492FD5}"/>
                </a:ext>
              </a:extLst>
            </p:cNvPr>
            <p:cNvSpPr/>
            <p:nvPr/>
          </p:nvSpPr>
          <p:spPr>
            <a:xfrm>
              <a:off x="16123756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3" name="Oval 129">
              <a:extLst>
                <a:ext uri="{FF2B5EF4-FFF2-40B4-BE49-F238E27FC236}">
                  <a16:creationId xmlns="" xmlns:a16="http://schemas.microsoft.com/office/drawing/2014/main" id="{AAD9F985-049D-999C-9D7E-326741A611B3}"/>
                </a:ext>
              </a:extLst>
            </p:cNvPr>
            <p:cNvSpPr/>
            <p:nvPr/>
          </p:nvSpPr>
          <p:spPr>
            <a:xfrm>
              <a:off x="17453674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4" name="Oval 130">
              <a:extLst>
                <a:ext uri="{FF2B5EF4-FFF2-40B4-BE49-F238E27FC236}">
                  <a16:creationId xmlns="" xmlns:a16="http://schemas.microsoft.com/office/drawing/2014/main" id="{4FA26275-88AA-F9CE-3DFC-D451A353847B}"/>
                </a:ext>
              </a:extLst>
            </p:cNvPr>
            <p:cNvSpPr/>
            <p:nvPr/>
          </p:nvSpPr>
          <p:spPr>
            <a:xfrm>
              <a:off x="17614361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Oval 131">
              <a:extLst>
                <a:ext uri="{FF2B5EF4-FFF2-40B4-BE49-F238E27FC236}">
                  <a16:creationId xmlns="" xmlns:a16="http://schemas.microsoft.com/office/drawing/2014/main" id="{67C7676F-9154-2FA2-EAB6-1B1DDA090F7D}"/>
                </a:ext>
              </a:extLst>
            </p:cNvPr>
            <p:cNvSpPr/>
            <p:nvPr/>
          </p:nvSpPr>
          <p:spPr>
            <a:xfrm>
              <a:off x="17661786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Multiply 132">
              <a:extLst>
                <a:ext uri="{FF2B5EF4-FFF2-40B4-BE49-F238E27FC236}">
                  <a16:creationId xmlns="" xmlns:a16="http://schemas.microsoft.com/office/drawing/2014/main" id="{F8419B3D-AB8A-FF0F-FD8C-205ED3BA41A8}"/>
                </a:ext>
              </a:extLst>
            </p:cNvPr>
            <p:cNvSpPr/>
            <p:nvPr/>
          </p:nvSpPr>
          <p:spPr>
            <a:xfrm>
              <a:off x="16248136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7" name="Multiply 133">
              <a:extLst>
                <a:ext uri="{FF2B5EF4-FFF2-40B4-BE49-F238E27FC236}">
                  <a16:creationId xmlns="" xmlns:a16="http://schemas.microsoft.com/office/drawing/2014/main" id="{7D9FD03A-4B75-8C8C-8F60-FBA4730268F8}"/>
                </a:ext>
              </a:extLst>
            </p:cNvPr>
            <p:cNvSpPr/>
            <p:nvPr/>
          </p:nvSpPr>
          <p:spPr>
            <a:xfrm>
              <a:off x="16493808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Multiply 134">
              <a:extLst>
                <a:ext uri="{FF2B5EF4-FFF2-40B4-BE49-F238E27FC236}">
                  <a16:creationId xmlns="" xmlns:a16="http://schemas.microsoft.com/office/drawing/2014/main" id="{2B4E5C27-029F-411C-7635-90BCF180B4CA}"/>
                </a:ext>
              </a:extLst>
            </p:cNvPr>
            <p:cNvSpPr/>
            <p:nvPr/>
          </p:nvSpPr>
          <p:spPr>
            <a:xfrm>
              <a:off x="16919111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Multiply 135">
              <a:extLst>
                <a:ext uri="{FF2B5EF4-FFF2-40B4-BE49-F238E27FC236}">
                  <a16:creationId xmlns="" xmlns:a16="http://schemas.microsoft.com/office/drawing/2014/main" id="{B515A2F7-D24F-B794-D2EB-91E0CDDB4585}"/>
                </a:ext>
              </a:extLst>
            </p:cNvPr>
            <p:cNvSpPr/>
            <p:nvPr/>
          </p:nvSpPr>
          <p:spPr>
            <a:xfrm>
              <a:off x="16677124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Multiply 136">
              <a:extLst>
                <a:ext uri="{FF2B5EF4-FFF2-40B4-BE49-F238E27FC236}">
                  <a16:creationId xmlns="" xmlns:a16="http://schemas.microsoft.com/office/drawing/2014/main" id="{E55D39F9-DD8F-C02A-A2AB-54405C3A336F}"/>
                </a:ext>
              </a:extLst>
            </p:cNvPr>
            <p:cNvSpPr/>
            <p:nvPr/>
          </p:nvSpPr>
          <p:spPr>
            <a:xfrm>
              <a:off x="16168819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1" name="Multiply 137">
              <a:extLst>
                <a:ext uri="{FF2B5EF4-FFF2-40B4-BE49-F238E27FC236}">
                  <a16:creationId xmlns="" xmlns:a16="http://schemas.microsoft.com/office/drawing/2014/main" id="{A98EEECE-9D61-BEB4-5E1D-997E56E0032C}"/>
                </a:ext>
              </a:extLst>
            </p:cNvPr>
            <p:cNvSpPr/>
            <p:nvPr/>
          </p:nvSpPr>
          <p:spPr>
            <a:xfrm>
              <a:off x="17306726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Multiply 138">
              <a:extLst>
                <a:ext uri="{FF2B5EF4-FFF2-40B4-BE49-F238E27FC236}">
                  <a16:creationId xmlns="" xmlns:a16="http://schemas.microsoft.com/office/drawing/2014/main" id="{D3BB0966-D8BF-DB3B-FEA7-2D042605FA71}"/>
                </a:ext>
              </a:extLst>
            </p:cNvPr>
            <p:cNvSpPr/>
            <p:nvPr/>
          </p:nvSpPr>
          <p:spPr>
            <a:xfrm>
              <a:off x="17646313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3" name="Multiply 139">
              <a:extLst>
                <a:ext uri="{FF2B5EF4-FFF2-40B4-BE49-F238E27FC236}">
                  <a16:creationId xmlns="" xmlns:a16="http://schemas.microsoft.com/office/drawing/2014/main" id="{8A3CDDA7-02C7-DE73-33CF-2102CBFB9A88}"/>
                </a:ext>
              </a:extLst>
            </p:cNvPr>
            <p:cNvSpPr/>
            <p:nvPr/>
          </p:nvSpPr>
          <p:spPr>
            <a:xfrm>
              <a:off x="16304291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4" name="Multiply 140">
              <a:extLst>
                <a:ext uri="{FF2B5EF4-FFF2-40B4-BE49-F238E27FC236}">
                  <a16:creationId xmlns="" xmlns:a16="http://schemas.microsoft.com/office/drawing/2014/main" id="{0A9F92D7-71C3-A3EC-264A-43A9AF76600B}"/>
                </a:ext>
              </a:extLst>
            </p:cNvPr>
            <p:cNvSpPr/>
            <p:nvPr/>
          </p:nvSpPr>
          <p:spPr>
            <a:xfrm>
              <a:off x="16666327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5" name="Multiply 141">
              <a:extLst>
                <a:ext uri="{FF2B5EF4-FFF2-40B4-BE49-F238E27FC236}">
                  <a16:creationId xmlns="" xmlns:a16="http://schemas.microsoft.com/office/drawing/2014/main" id="{53B45C06-7FE8-82B1-8830-E10E5B3AA1A9}"/>
                </a:ext>
              </a:extLst>
            </p:cNvPr>
            <p:cNvSpPr/>
            <p:nvPr/>
          </p:nvSpPr>
          <p:spPr>
            <a:xfrm>
              <a:off x="16011193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6" name="Multiply 142">
              <a:extLst>
                <a:ext uri="{FF2B5EF4-FFF2-40B4-BE49-F238E27FC236}">
                  <a16:creationId xmlns="" xmlns:a16="http://schemas.microsoft.com/office/drawing/2014/main" id="{B5A3DE41-A5D4-6BD0-18BD-565185D9396A}"/>
                </a:ext>
              </a:extLst>
            </p:cNvPr>
            <p:cNvSpPr/>
            <p:nvPr/>
          </p:nvSpPr>
          <p:spPr>
            <a:xfrm>
              <a:off x="17041407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7" name="Freeform 143">
              <a:extLst>
                <a:ext uri="{FF2B5EF4-FFF2-40B4-BE49-F238E27FC236}">
                  <a16:creationId xmlns="" xmlns:a16="http://schemas.microsoft.com/office/drawing/2014/main" id="{B32312AA-D54B-E475-1FF5-5290CFA85F61}"/>
                </a:ext>
              </a:extLst>
            </p:cNvPr>
            <p:cNvSpPr/>
            <p:nvPr/>
          </p:nvSpPr>
          <p:spPr>
            <a:xfrm>
              <a:off x="16413706" y="1401750"/>
              <a:ext cx="1998621" cy="1334650"/>
            </a:xfrm>
            <a:custGeom>
              <a:avLst/>
              <a:gdLst>
                <a:gd name="connsiteX0" fmla="*/ 626252 w 2251852"/>
                <a:gd name="connsiteY0" fmla="*/ 0 h 1911350"/>
                <a:gd name="connsiteX1" fmla="*/ 594502 w 2251852"/>
                <a:gd name="connsiteY1" fmla="*/ 31750 h 1911350"/>
                <a:gd name="connsiteX2" fmla="*/ 543702 w 2251852"/>
                <a:gd name="connsiteY2" fmla="*/ 69850 h 1911350"/>
                <a:gd name="connsiteX3" fmla="*/ 518302 w 2251852"/>
                <a:gd name="connsiteY3" fmla="*/ 88900 h 1911350"/>
                <a:gd name="connsiteX4" fmla="*/ 499252 w 2251852"/>
                <a:gd name="connsiteY4" fmla="*/ 107950 h 1911350"/>
                <a:gd name="connsiteX5" fmla="*/ 473852 w 2251852"/>
                <a:gd name="connsiteY5" fmla="*/ 127000 h 1911350"/>
                <a:gd name="connsiteX6" fmla="*/ 461152 w 2251852"/>
                <a:gd name="connsiteY6" fmla="*/ 146050 h 1911350"/>
                <a:gd name="connsiteX7" fmla="*/ 442102 w 2251852"/>
                <a:gd name="connsiteY7" fmla="*/ 165100 h 1911350"/>
                <a:gd name="connsiteX8" fmla="*/ 416702 w 2251852"/>
                <a:gd name="connsiteY8" fmla="*/ 196850 h 1911350"/>
                <a:gd name="connsiteX9" fmla="*/ 391302 w 2251852"/>
                <a:gd name="connsiteY9" fmla="*/ 234950 h 1911350"/>
                <a:gd name="connsiteX10" fmla="*/ 372252 w 2251852"/>
                <a:gd name="connsiteY10" fmla="*/ 254000 h 1911350"/>
                <a:gd name="connsiteX11" fmla="*/ 327802 w 2251852"/>
                <a:gd name="connsiteY11" fmla="*/ 311150 h 1911350"/>
                <a:gd name="connsiteX12" fmla="*/ 302402 w 2251852"/>
                <a:gd name="connsiteY12" fmla="*/ 349250 h 1911350"/>
                <a:gd name="connsiteX13" fmla="*/ 289702 w 2251852"/>
                <a:gd name="connsiteY13" fmla="*/ 374650 h 1911350"/>
                <a:gd name="connsiteX14" fmla="*/ 257952 w 2251852"/>
                <a:gd name="connsiteY14" fmla="*/ 412750 h 1911350"/>
                <a:gd name="connsiteX15" fmla="*/ 238902 w 2251852"/>
                <a:gd name="connsiteY15" fmla="*/ 450850 h 1911350"/>
                <a:gd name="connsiteX16" fmla="*/ 232552 w 2251852"/>
                <a:gd name="connsiteY16" fmla="*/ 469900 h 1911350"/>
                <a:gd name="connsiteX17" fmla="*/ 213502 w 2251852"/>
                <a:gd name="connsiteY17" fmla="*/ 482600 h 1911350"/>
                <a:gd name="connsiteX18" fmla="*/ 188102 w 2251852"/>
                <a:gd name="connsiteY18" fmla="*/ 514350 h 1911350"/>
                <a:gd name="connsiteX19" fmla="*/ 162702 w 2251852"/>
                <a:gd name="connsiteY19" fmla="*/ 552450 h 1911350"/>
                <a:gd name="connsiteX20" fmla="*/ 124602 w 2251852"/>
                <a:gd name="connsiteY20" fmla="*/ 584200 h 1911350"/>
                <a:gd name="connsiteX21" fmla="*/ 99202 w 2251852"/>
                <a:gd name="connsiteY21" fmla="*/ 622300 h 1911350"/>
                <a:gd name="connsiteX22" fmla="*/ 80152 w 2251852"/>
                <a:gd name="connsiteY22" fmla="*/ 660400 h 1911350"/>
                <a:gd name="connsiteX23" fmla="*/ 61102 w 2251852"/>
                <a:gd name="connsiteY23" fmla="*/ 673100 h 1911350"/>
                <a:gd name="connsiteX24" fmla="*/ 54752 w 2251852"/>
                <a:gd name="connsiteY24" fmla="*/ 692150 h 1911350"/>
                <a:gd name="connsiteX25" fmla="*/ 42052 w 2251852"/>
                <a:gd name="connsiteY25" fmla="*/ 711200 h 1911350"/>
                <a:gd name="connsiteX26" fmla="*/ 35702 w 2251852"/>
                <a:gd name="connsiteY26" fmla="*/ 755650 h 1911350"/>
                <a:gd name="connsiteX27" fmla="*/ 29352 w 2251852"/>
                <a:gd name="connsiteY27" fmla="*/ 774700 h 1911350"/>
                <a:gd name="connsiteX28" fmla="*/ 23002 w 2251852"/>
                <a:gd name="connsiteY28" fmla="*/ 800100 h 1911350"/>
                <a:gd name="connsiteX29" fmla="*/ 54752 w 2251852"/>
                <a:gd name="connsiteY29" fmla="*/ 1270000 h 1911350"/>
                <a:gd name="connsiteX30" fmla="*/ 54752 w 2251852"/>
                <a:gd name="connsiteY30" fmla="*/ 1270000 h 1911350"/>
                <a:gd name="connsiteX31" fmla="*/ 61102 w 2251852"/>
                <a:gd name="connsiteY31" fmla="*/ 1289050 h 1911350"/>
                <a:gd name="connsiteX32" fmla="*/ 99202 w 2251852"/>
                <a:gd name="connsiteY32" fmla="*/ 1320800 h 1911350"/>
                <a:gd name="connsiteX33" fmla="*/ 111902 w 2251852"/>
                <a:gd name="connsiteY33" fmla="*/ 1339850 h 1911350"/>
                <a:gd name="connsiteX34" fmla="*/ 143652 w 2251852"/>
                <a:gd name="connsiteY34" fmla="*/ 1371600 h 1911350"/>
                <a:gd name="connsiteX35" fmla="*/ 156352 w 2251852"/>
                <a:gd name="connsiteY35" fmla="*/ 1409700 h 1911350"/>
                <a:gd name="connsiteX36" fmla="*/ 169052 w 2251852"/>
                <a:gd name="connsiteY36" fmla="*/ 1428750 h 1911350"/>
                <a:gd name="connsiteX37" fmla="*/ 175402 w 2251852"/>
                <a:gd name="connsiteY37" fmla="*/ 1447800 h 1911350"/>
                <a:gd name="connsiteX38" fmla="*/ 194452 w 2251852"/>
                <a:gd name="connsiteY38" fmla="*/ 1466850 h 1911350"/>
                <a:gd name="connsiteX39" fmla="*/ 232552 w 2251852"/>
                <a:gd name="connsiteY39" fmla="*/ 1504950 h 1911350"/>
                <a:gd name="connsiteX40" fmla="*/ 238902 w 2251852"/>
                <a:gd name="connsiteY40" fmla="*/ 1524000 h 1911350"/>
                <a:gd name="connsiteX41" fmla="*/ 270652 w 2251852"/>
                <a:gd name="connsiteY41" fmla="*/ 1555750 h 1911350"/>
                <a:gd name="connsiteX42" fmla="*/ 277002 w 2251852"/>
                <a:gd name="connsiteY42" fmla="*/ 1574800 h 1911350"/>
                <a:gd name="connsiteX43" fmla="*/ 296052 w 2251852"/>
                <a:gd name="connsiteY43" fmla="*/ 1593850 h 1911350"/>
                <a:gd name="connsiteX44" fmla="*/ 308752 w 2251852"/>
                <a:gd name="connsiteY44" fmla="*/ 1619250 h 1911350"/>
                <a:gd name="connsiteX45" fmla="*/ 346852 w 2251852"/>
                <a:gd name="connsiteY45" fmla="*/ 1638300 h 1911350"/>
                <a:gd name="connsiteX46" fmla="*/ 397652 w 2251852"/>
                <a:gd name="connsiteY46" fmla="*/ 1682750 h 1911350"/>
                <a:gd name="connsiteX47" fmla="*/ 416702 w 2251852"/>
                <a:gd name="connsiteY47" fmla="*/ 1701800 h 1911350"/>
                <a:gd name="connsiteX48" fmla="*/ 454802 w 2251852"/>
                <a:gd name="connsiteY48" fmla="*/ 1714500 h 1911350"/>
                <a:gd name="connsiteX49" fmla="*/ 505602 w 2251852"/>
                <a:gd name="connsiteY49" fmla="*/ 1752600 h 1911350"/>
                <a:gd name="connsiteX50" fmla="*/ 524652 w 2251852"/>
                <a:gd name="connsiteY50" fmla="*/ 1765300 h 1911350"/>
                <a:gd name="connsiteX51" fmla="*/ 543702 w 2251852"/>
                <a:gd name="connsiteY51" fmla="*/ 1771650 h 1911350"/>
                <a:gd name="connsiteX52" fmla="*/ 562752 w 2251852"/>
                <a:gd name="connsiteY52" fmla="*/ 1784350 h 1911350"/>
                <a:gd name="connsiteX53" fmla="*/ 600852 w 2251852"/>
                <a:gd name="connsiteY53" fmla="*/ 1797050 h 1911350"/>
                <a:gd name="connsiteX54" fmla="*/ 677052 w 2251852"/>
                <a:gd name="connsiteY54" fmla="*/ 1790700 h 1911350"/>
                <a:gd name="connsiteX55" fmla="*/ 696102 w 2251852"/>
                <a:gd name="connsiteY55" fmla="*/ 1778000 h 1911350"/>
                <a:gd name="connsiteX56" fmla="*/ 734202 w 2251852"/>
                <a:gd name="connsiteY56" fmla="*/ 1701800 h 1911350"/>
                <a:gd name="connsiteX57" fmla="*/ 753252 w 2251852"/>
                <a:gd name="connsiteY57" fmla="*/ 1663700 h 1911350"/>
                <a:gd name="connsiteX58" fmla="*/ 772302 w 2251852"/>
                <a:gd name="connsiteY58" fmla="*/ 1619250 h 1911350"/>
                <a:gd name="connsiteX59" fmla="*/ 778652 w 2251852"/>
                <a:gd name="connsiteY59" fmla="*/ 1587500 h 1911350"/>
                <a:gd name="connsiteX60" fmla="*/ 785002 w 2251852"/>
                <a:gd name="connsiteY60" fmla="*/ 1562100 h 1911350"/>
                <a:gd name="connsiteX61" fmla="*/ 791352 w 2251852"/>
                <a:gd name="connsiteY61" fmla="*/ 1530350 h 1911350"/>
                <a:gd name="connsiteX62" fmla="*/ 804052 w 2251852"/>
                <a:gd name="connsiteY62" fmla="*/ 1492250 h 1911350"/>
                <a:gd name="connsiteX63" fmla="*/ 810402 w 2251852"/>
                <a:gd name="connsiteY63" fmla="*/ 1473200 h 1911350"/>
                <a:gd name="connsiteX64" fmla="*/ 829452 w 2251852"/>
                <a:gd name="connsiteY64" fmla="*/ 1428750 h 1911350"/>
                <a:gd name="connsiteX65" fmla="*/ 848502 w 2251852"/>
                <a:gd name="connsiteY65" fmla="*/ 1409700 h 1911350"/>
                <a:gd name="connsiteX66" fmla="*/ 854852 w 2251852"/>
                <a:gd name="connsiteY66" fmla="*/ 1384300 h 1911350"/>
                <a:gd name="connsiteX67" fmla="*/ 886602 w 2251852"/>
                <a:gd name="connsiteY67" fmla="*/ 1339850 h 1911350"/>
                <a:gd name="connsiteX68" fmla="*/ 905652 w 2251852"/>
                <a:gd name="connsiteY68" fmla="*/ 1333500 h 1911350"/>
                <a:gd name="connsiteX69" fmla="*/ 956452 w 2251852"/>
                <a:gd name="connsiteY69" fmla="*/ 1301750 h 1911350"/>
                <a:gd name="connsiteX70" fmla="*/ 975502 w 2251852"/>
                <a:gd name="connsiteY70" fmla="*/ 1295400 h 1911350"/>
                <a:gd name="connsiteX71" fmla="*/ 994552 w 2251852"/>
                <a:gd name="connsiteY71" fmla="*/ 1289050 h 1911350"/>
                <a:gd name="connsiteX72" fmla="*/ 1140602 w 2251852"/>
                <a:gd name="connsiteY72" fmla="*/ 1314450 h 1911350"/>
                <a:gd name="connsiteX73" fmla="*/ 1153302 w 2251852"/>
                <a:gd name="connsiteY73" fmla="*/ 1365250 h 1911350"/>
                <a:gd name="connsiteX74" fmla="*/ 1146952 w 2251852"/>
                <a:gd name="connsiteY74" fmla="*/ 1492250 h 1911350"/>
                <a:gd name="connsiteX75" fmla="*/ 1134252 w 2251852"/>
                <a:gd name="connsiteY75" fmla="*/ 1530350 h 1911350"/>
                <a:gd name="connsiteX76" fmla="*/ 1096152 w 2251852"/>
                <a:gd name="connsiteY76" fmla="*/ 1562100 h 1911350"/>
                <a:gd name="connsiteX77" fmla="*/ 1039002 w 2251852"/>
                <a:gd name="connsiteY77" fmla="*/ 1587500 h 1911350"/>
                <a:gd name="connsiteX78" fmla="*/ 1019952 w 2251852"/>
                <a:gd name="connsiteY78" fmla="*/ 1593850 h 1911350"/>
                <a:gd name="connsiteX79" fmla="*/ 994552 w 2251852"/>
                <a:gd name="connsiteY79" fmla="*/ 1606550 h 1911350"/>
                <a:gd name="connsiteX80" fmla="*/ 975502 w 2251852"/>
                <a:gd name="connsiteY80" fmla="*/ 1612900 h 1911350"/>
                <a:gd name="connsiteX81" fmla="*/ 937402 w 2251852"/>
                <a:gd name="connsiteY81" fmla="*/ 1638300 h 1911350"/>
                <a:gd name="connsiteX82" fmla="*/ 899302 w 2251852"/>
                <a:gd name="connsiteY82" fmla="*/ 1701800 h 1911350"/>
                <a:gd name="connsiteX83" fmla="*/ 873902 w 2251852"/>
                <a:gd name="connsiteY83" fmla="*/ 1765300 h 1911350"/>
                <a:gd name="connsiteX84" fmla="*/ 880252 w 2251852"/>
                <a:gd name="connsiteY84" fmla="*/ 1822450 h 1911350"/>
                <a:gd name="connsiteX85" fmla="*/ 886602 w 2251852"/>
                <a:gd name="connsiteY85" fmla="*/ 1841500 h 1911350"/>
                <a:gd name="connsiteX86" fmla="*/ 912002 w 2251852"/>
                <a:gd name="connsiteY86" fmla="*/ 1879600 h 1911350"/>
                <a:gd name="connsiteX87" fmla="*/ 931052 w 2251852"/>
                <a:gd name="connsiteY87" fmla="*/ 1892300 h 1911350"/>
                <a:gd name="connsiteX88" fmla="*/ 950102 w 2251852"/>
                <a:gd name="connsiteY88" fmla="*/ 1898650 h 1911350"/>
                <a:gd name="connsiteX89" fmla="*/ 975502 w 2251852"/>
                <a:gd name="connsiteY89" fmla="*/ 1911350 h 1911350"/>
                <a:gd name="connsiteX90" fmla="*/ 1248552 w 2251852"/>
                <a:gd name="connsiteY90" fmla="*/ 1905000 h 1911350"/>
                <a:gd name="connsiteX91" fmla="*/ 1305702 w 2251852"/>
                <a:gd name="connsiteY91" fmla="*/ 1898650 h 1911350"/>
                <a:gd name="connsiteX92" fmla="*/ 1350152 w 2251852"/>
                <a:gd name="connsiteY92" fmla="*/ 1885950 h 1911350"/>
                <a:gd name="connsiteX93" fmla="*/ 1375552 w 2251852"/>
                <a:gd name="connsiteY93" fmla="*/ 1879600 h 1911350"/>
                <a:gd name="connsiteX94" fmla="*/ 1420002 w 2251852"/>
                <a:gd name="connsiteY94" fmla="*/ 1873250 h 1911350"/>
                <a:gd name="connsiteX95" fmla="*/ 1470802 w 2251852"/>
                <a:gd name="connsiteY95" fmla="*/ 1860550 h 1911350"/>
                <a:gd name="connsiteX96" fmla="*/ 1489852 w 2251852"/>
                <a:gd name="connsiteY96" fmla="*/ 1854200 h 1911350"/>
                <a:gd name="connsiteX97" fmla="*/ 1527952 w 2251852"/>
                <a:gd name="connsiteY97" fmla="*/ 1847850 h 1911350"/>
                <a:gd name="connsiteX98" fmla="*/ 1591452 w 2251852"/>
                <a:gd name="connsiteY98" fmla="*/ 1828800 h 1911350"/>
                <a:gd name="connsiteX99" fmla="*/ 1629552 w 2251852"/>
                <a:gd name="connsiteY99" fmla="*/ 1816100 h 1911350"/>
                <a:gd name="connsiteX100" fmla="*/ 1642252 w 2251852"/>
                <a:gd name="connsiteY100" fmla="*/ 1797050 h 1911350"/>
                <a:gd name="connsiteX101" fmla="*/ 1661302 w 2251852"/>
                <a:gd name="connsiteY101" fmla="*/ 1790700 h 1911350"/>
                <a:gd name="connsiteX102" fmla="*/ 1680352 w 2251852"/>
                <a:gd name="connsiteY102" fmla="*/ 1778000 h 1911350"/>
                <a:gd name="connsiteX103" fmla="*/ 1705752 w 2251852"/>
                <a:gd name="connsiteY103" fmla="*/ 1746250 h 1911350"/>
                <a:gd name="connsiteX104" fmla="*/ 1724802 w 2251852"/>
                <a:gd name="connsiteY104" fmla="*/ 1708150 h 1911350"/>
                <a:gd name="connsiteX105" fmla="*/ 1743852 w 2251852"/>
                <a:gd name="connsiteY105" fmla="*/ 1695450 h 1911350"/>
                <a:gd name="connsiteX106" fmla="*/ 1762902 w 2251852"/>
                <a:gd name="connsiteY106" fmla="*/ 1676400 h 1911350"/>
                <a:gd name="connsiteX107" fmla="*/ 1781952 w 2251852"/>
                <a:gd name="connsiteY107" fmla="*/ 1638300 h 1911350"/>
                <a:gd name="connsiteX108" fmla="*/ 1788302 w 2251852"/>
                <a:gd name="connsiteY108" fmla="*/ 1619250 h 1911350"/>
                <a:gd name="connsiteX109" fmla="*/ 1794652 w 2251852"/>
                <a:gd name="connsiteY109" fmla="*/ 1593850 h 1911350"/>
                <a:gd name="connsiteX110" fmla="*/ 1826402 w 2251852"/>
                <a:gd name="connsiteY110" fmla="*/ 1536700 h 1911350"/>
                <a:gd name="connsiteX111" fmla="*/ 1820052 w 2251852"/>
                <a:gd name="connsiteY111" fmla="*/ 1416050 h 1911350"/>
                <a:gd name="connsiteX112" fmla="*/ 1801002 w 2251852"/>
                <a:gd name="connsiteY112" fmla="*/ 1403350 h 1911350"/>
                <a:gd name="connsiteX113" fmla="*/ 1762902 w 2251852"/>
                <a:gd name="connsiteY113" fmla="*/ 1390650 h 1911350"/>
                <a:gd name="connsiteX114" fmla="*/ 1743852 w 2251852"/>
                <a:gd name="connsiteY114" fmla="*/ 1384300 h 1911350"/>
                <a:gd name="connsiteX115" fmla="*/ 1527952 w 2251852"/>
                <a:gd name="connsiteY115" fmla="*/ 1384300 h 1911350"/>
                <a:gd name="connsiteX116" fmla="*/ 1508902 w 2251852"/>
                <a:gd name="connsiteY116" fmla="*/ 1371600 h 1911350"/>
                <a:gd name="connsiteX117" fmla="*/ 1477152 w 2251852"/>
                <a:gd name="connsiteY117" fmla="*/ 1289050 h 1911350"/>
                <a:gd name="connsiteX118" fmla="*/ 1483502 w 2251852"/>
                <a:gd name="connsiteY118" fmla="*/ 1162050 h 1911350"/>
                <a:gd name="connsiteX119" fmla="*/ 1540652 w 2251852"/>
                <a:gd name="connsiteY119" fmla="*/ 1130300 h 1911350"/>
                <a:gd name="connsiteX120" fmla="*/ 1559702 w 2251852"/>
                <a:gd name="connsiteY120" fmla="*/ 1117600 h 1911350"/>
                <a:gd name="connsiteX121" fmla="*/ 1578752 w 2251852"/>
                <a:gd name="connsiteY121" fmla="*/ 1111250 h 1911350"/>
                <a:gd name="connsiteX122" fmla="*/ 1597802 w 2251852"/>
                <a:gd name="connsiteY122" fmla="*/ 1098550 h 1911350"/>
                <a:gd name="connsiteX123" fmla="*/ 1699402 w 2251852"/>
                <a:gd name="connsiteY123" fmla="*/ 1085850 h 1911350"/>
                <a:gd name="connsiteX124" fmla="*/ 1756552 w 2251852"/>
                <a:gd name="connsiteY124" fmla="*/ 1079500 h 1911350"/>
                <a:gd name="connsiteX125" fmla="*/ 1794652 w 2251852"/>
                <a:gd name="connsiteY125" fmla="*/ 1066800 h 1911350"/>
                <a:gd name="connsiteX126" fmla="*/ 1813702 w 2251852"/>
                <a:gd name="connsiteY126" fmla="*/ 1060450 h 1911350"/>
                <a:gd name="connsiteX127" fmla="*/ 1832752 w 2251852"/>
                <a:gd name="connsiteY127" fmla="*/ 1047750 h 1911350"/>
                <a:gd name="connsiteX128" fmla="*/ 1851802 w 2251852"/>
                <a:gd name="connsiteY128" fmla="*/ 1041400 h 1911350"/>
                <a:gd name="connsiteX129" fmla="*/ 1889902 w 2251852"/>
                <a:gd name="connsiteY129" fmla="*/ 1009650 h 1911350"/>
                <a:gd name="connsiteX130" fmla="*/ 1908952 w 2251852"/>
                <a:gd name="connsiteY130" fmla="*/ 1003300 h 1911350"/>
                <a:gd name="connsiteX131" fmla="*/ 1928002 w 2251852"/>
                <a:gd name="connsiteY131" fmla="*/ 984250 h 1911350"/>
                <a:gd name="connsiteX132" fmla="*/ 1947052 w 2251852"/>
                <a:gd name="connsiteY132" fmla="*/ 977900 h 1911350"/>
                <a:gd name="connsiteX133" fmla="*/ 2004202 w 2251852"/>
                <a:gd name="connsiteY133" fmla="*/ 933450 h 1911350"/>
                <a:gd name="connsiteX134" fmla="*/ 2042302 w 2251852"/>
                <a:gd name="connsiteY134" fmla="*/ 901700 h 1911350"/>
                <a:gd name="connsiteX135" fmla="*/ 2086752 w 2251852"/>
                <a:gd name="connsiteY135" fmla="*/ 889000 h 1911350"/>
                <a:gd name="connsiteX136" fmla="*/ 2105802 w 2251852"/>
                <a:gd name="connsiteY136" fmla="*/ 876300 h 1911350"/>
                <a:gd name="connsiteX137" fmla="*/ 2131202 w 2251852"/>
                <a:gd name="connsiteY137" fmla="*/ 863600 h 1911350"/>
                <a:gd name="connsiteX138" fmla="*/ 2156602 w 2251852"/>
                <a:gd name="connsiteY138" fmla="*/ 844550 h 1911350"/>
                <a:gd name="connsiteX139" fmla="*/ 2175652 w 2251852"/>
                <a:gd name="connsiteY139" fmla="*/ 838200 h 1911350"/>
                <a:gd name="connsiteX140" fmla="*/ 2213752 w 2251852"/>
                <a:gd name="connsiteY140" fmla="*/ 812800 h 1911350"/>
                <a:gd name="connsiteX141" fmla="*/ 2232802 w 2251852"/>
                <a:gd name="connsiteY141" fmla="*/ 800100 h 1911350"/>
                <a:gd name="connsiteX142" fmla="*/ 2251852 w 2251852"/>
                <a:gd name="connsiteY142" fmla="*/ 793750 h 191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2251852" h="1911350">
                  <a:moveTo>
                    <a:pt x="626252" y="0"/>
                  </a:moveTo>
                  <a:cubicBezTo>
                    <a:pt x="615669" y="10583"/>
                    <a:pt x="605928" y="22082"/>
                    <a:pt x="594502" y="31750"/>
                  </a:cubicBezTo>
                  <a:cubicBezTo>
                    <a:pt x="578344" y="45422"/>
                    <a:pt x="560635" y="57150"/>
                    <a:pt x="543702" y="69850"/>
                  </a:cubicBezTo>
                  <a:cubicBezTo>
                    <a:pt x="535235" y="76200"/>
                    <a:pt x="525786" y="81416"/>
                    <a:pt x="518302" y="88900"/>
                  </a:cubicBezTo>
                  <a:cubicBezTo>
                    <a:pt x="511952" y="95250"/>
                    <a:pt x="506070" y="102106"/>
                    <a:pt x="499252" y="107950"/>
                  </a:cubicBezTo>
                  <a:cubicBezTo>
                    <a:pt x="491217" y="114838"/>
                    <a:pt x="481336" y="119516"/>
                    <a:pt x="473852" y="127000"/>
                  </a:cubicBezTo>
                  <a:cubicBezTo>
                    <a:pt x="468456" y="132396"/>
                    <a:pt x="466038" y="140187"/>
                    <a:pt x="461152" y="146050"/>
                  </a:cubicBezTo>
                  <a:cubicBezTo>
                    <a:pt x="455403" y="152949"/>
                    <a:pt x="448452" y="158750"/>
                    <a:pt x="442102" y="165100"/>
                  </a:cubicBezTo>
                  <a:cubicBezTo>
                    <a:pt x="426210" y="228668"/>
                    <a:pt x="450105" y="163447"/>
                    <a:pt x="416702" y="196850"/>
                  </a:cubicBezTo>
                  <a:cubicBezTo>
                    <a:pt x="405909" y="207643"/>
                    <a:pt x="402095" y="224157"/>
                    <a:pt x="391302" y="234950"/>
                  </a:cubicBezTo>
                  <a:cubicBezTo>
                    <a:pt x="384952" y="241300"/>
                    <a:pt x="377765" y="246911"/>
                    <a:pt x="372252" y="254000"/>
                  </a:cubicBezTo>
                  <a:cubicBezTo>
                    <a:pt x="319085" y="322358"/>
                    <a:pt x="371051" y="267901"/>
                    <a:pt x="327802" y="311150"/>
                  </a:cubicBezTo>
                  <a:cubicBezTo>
                    <a:pt x="314180" y="352015"/>
                    <a:pt x="332131" y="307630"/>
                    <a:pt x="302402" y="349250"/>
                  </a:cubicBezTo>
                  <a:cubicBezTo>
                    <a:pt x="296900" y="356953"/>
                    <a:pt x="294398" y="366431"/>
                    <a:pt x="289702" y="374650"/>
                  </a:cubicBezTo>
                  <a:cubicBezTo>
                    <a:pt x="277914" y="395278"/>
                    <a:pt x="275463" y="395239"/>
                    <a:pt x="257952" y="412750"/>
                  </a:cubicBezTo>
                  <a:cubicBezTo>
                    <a:pt x="241991" y="460633"/>
                    <a:pt x="263521" y="401611"/>
                    <a:pt x="238902" y="450850"/>
                  </a:cubicBezTo>
                  <a:cubicBezTo>
                    <a:pt x="235909" y="456837"/>
                    <a:pt x="236733" y="464673"/>
                    <a:pt x="232552" y="469900"/>
                  </a:cubicBezTo>
                  <a:cubicBezTo>
                    <a:pt x="227784" y="475859"/>
                    <a:pt x="219852" y="478367"/>
                    <a:pt x="213502" y="482600"/>
                  </a:cubicBezTo>
                  <a:cubicBezTo>
                    <a:pt x="199202" y="525500"/>
                    <a:pt x="219034" y="478999"/>
                    <a:pt x="188102" y="514350"/>
                  </a:cubicBezTo>
                  <a:cubicBezTo>
                    <a:pt x="178051" y="525837"/>
                    <a:pt x="173495" y="541657"/>
                    <a:pt x="162702" y="552450"/>
                  </a:cubicBezTo>
                  <a:cubicBezTo>
                    <a:pt x="138256" y="576896"/>
                    <a:pt x="151124" y="566519"/>
                    <a:pt x="124602" y="584200"/>
                  </a:cubicBezTo>
                  <a:cubicBezTo>
                    <a:pt x="116135" y="596900"/>
                    <a:pt x="104029" y="607820"/>
                    <a:pt x="99202" y="622300"/>
                  </a:cubicBezTo>
                  <a:cubicBezTo>
                    <a:pt x="94037" y="637794"/>
                    <a:pt x="92462" y="648090"/>
                    <a:pt x="80152" y="660400"/>
                  </a:cubicBezTo>
                  <a:cubicBezTo>
                    <a:pt x="74756" y="665796"/>
                    <a:pt x="67452" y="668867"/>
                    <a:pt x="61102" y="673100"/>
                  </a:cubicBezTo>
                  <a:cubicBezTo>
                    <a:pt x="58985" y="679450"/>
                    <a:pt x="57745" y="686163"/>
                    <a:pt x="54752" y="692150"/>
                  </a:cubicBezTo>
                  <a:cubicBezTo>
                    <a:pt x="51339" y="698976"/>
                    <a:pt x="44245" y="703890"/>
                    <a:pt x="42052" y="711200"/>
                  </a:cubicBezTo>
                  <a:cubicBezTo>
                    <a:pt x="37751" y="725536"/>
                    <a:pt x="38637" y="740974"/>
                    <a:pt x="35702" y="755650"/>
                  </a:cubicBezTo>
                  <a:cubicBezTo>
                    <a:pt x="34389" y="762214"/>
                    <a:pt x="31191" y="768264"/>
                    <a:pt x="29352" y="774700"/>
                  </a:cubicBezTo>
                  <a:cubicBezTo>
                    <a:pt x="26954" y="783091"/>
                    <a:pt x="25119" y="791633"/>
                    <a:pt x="23002" y="800100"/>
                  </a:cubicBezTo>
                  <a:cubicBezTo>
                    <a:pt x="29576" y="1247162"/>
                    <a:pt x="-50496" y="1112127"/>
                    <a:pt x="54752" y="1270000"/>
                  </a:cubicBezTo>
                  <a:lnTo>
                    <a:pt x="54752" y="1270000"/>
                  </a:lnTo>
                  <a:cubicBezTo>
                    <a:pt x="56869" y="1276350"/>
                    <a:pt x="57389" y="1283481"/>
                    <a:pt x="61102" y="1289050"/>
                  </a:cubicBezTo>
                  <a:cubicBezTo>
                    <a:pt x="70881" y="1303718"/>
                    <a:pt x="85145" y="1311429"/>
                    <a:pt x="99202" y="1320800"/>
                  </a:cubicBezTo>
                  <a:cubicBezTo>
                    <a:pt x="103435" y="1327150"/>
                    <a:pt x="106506" y="1334454"/>
                    <a:pt x="111902" y="1339850"/>
                  </a:cubicBezTo>
                  <a:cubicBezTo>
                    <a:pt x="133915" y="1361863"/>
                    <a:pt x="130105" y="1341120"/>
                    <a:pt x="143652" y="1371600"/>
                  </a:cubicBezTo>
                  <a:cubicBezTo>
                    <a:pt x="149089" y="1383833"/>
                    <a:pt x="148926" y="1398561"/>
                    <a:pt x="156352" y="1409700"/>
                  </a:cubicBezTo>
                  <a:cubicBezTo>
                    <a:pt x="160585" y="1416050"/>
                    <a:pt x="165639" y="1421924"/>
                    <a:pt x="169052" y="1428750"/>
                  </a:cubicBezTo>
                  <a:cubicBezTo>
                    <a:pt x="172045" y="1434737"/>
                    <a:pt x="171689" y="1442231"/>
                    <a:pt x="175402" y="1447800"/>
                  </a:cubicBezTo>
                  <a:cubicBezTo>
                    <a:pt x="180383" y="1455272"/>
                    <a:pt x="188608" y="1460032"/>
                    <a:pt x="194452" y="1466850"/>
                  </a:cubicBezTo>
                  <a:cubicBezTo>
                    <a:pt x="225957" y="1503606"/>
                    <a:pt x="199016" y="1482593"/>
                    <a:pt x="232552" y="1504950"/>
                  </a:cubicBezTo>
                  <a:cubicBezTo>
                    <a:pt x="234669" y="1511300"/>
                    <a:pt x="234721" y="1518773"/>
                    <a:pt x="238902" y="1524000"/>
                  </a:cubicBezTo>
                  <a:cubicBezTo>
                    <a:pt x="272769" y="1566333"/>
                    <a:pt x="245252" y="1504950"/>
                    <a:pt x="270652" y="1555750"/>
                  </a:cubicBezTo>
                  <a:cubicBezTo>
                    <a:pt x="273645" y="1561737"/>
                    <a:pt x="273289" y="1569231"/>
                    <a:pt x="277002" y="1574800"/>
                  </a:cubicBezTo>
                  <a:cubicBezTo>
                    <a:pt x="281983" y="1582272"/>
                    <a:pt x="290832" y="1586542"/>
                    <a:pt x="296052" y="1593850"/>
                  </a:cubicBezTo>
                  <a:cubicBezTo>
                    <a:pt x="301554" y="1601553"/>
                    <a:pt x="302692" y="1611978"/>
                    <a:pt x="308752" y="1619250"/>
                  </a:cubicBezTo>
                  <a:cubicBezTo>
                    <a:pt x="318221" y="1630613"/>
                    <a:pt x="333850" y="1633966"/>
                    <a:pt x="346852" y="1638300"/>
                  </a:cubicBezTo>
                  <a:cubicBezTo>
                    <a:pt x="382835" y="1692275"/>
                    <a:pt x="323569" y="1608667"/>
                    <a:pt x="397652" y="1682750"/>
                  </a:cubicBezTo>
                  <a:cubicBezTo>
                    <a:pt x="404002" y="1689100"/>
                    <a:pt x="408852" y="1697439"/>
                    <a:pt x="416702" y="1701800"/>
                  </a:cubicBezTo>
                  <a:cubicBezTo>
                    <a:pt x="428404" y="1708301"/>
                    <a:pt x="454802" y="1714500"/>
                    <a:pt x="454802" y="1714500"/>
                  </a:cubicBezTo>
                  <a:cubicBezTo>
                    <a:pt x="471735" y="1727200"/>
                    <a:pt x="487990" y="1740859"/>
                    <a:pt x="505602" y="1752600"/>
                  </a:cubicBezTo>
                  <a:cubicBezTo>
                    <a:pt x="511952" y="1756833"/>
                    <a:pt x="517826" y="1761887"/>
                    <a:pt x="524652" y="1765300"/>
                  </a:cubicBezTo>
                  <a:cubicBezTo>
                    <a:pt x="530639" y="1768293"/>
                    <a:pt x="537715" y="1768657"/>
                    <a:pt x="543702" y="1771650"/>
                  </a:cubicBezTo>
                  <a:cubicBezTo>
                    <a:pt x="550528" y="1775063"/>
                    <a:pt x="555778" y="1781250"/>
                    <a:pt x="562752" y="1784350"/>
                  </a:cubicBezTo>
                  <a:cubicBezTo>
                    <a:pt x="574985" y="1789787"/>
                    <a:pt x="600852" y="1797050"/>
                    <a:pt x="600852" y="1797050"/>
                  </a:cubicBezTo>
                  <a:cubicBezTo>
                    <a:pt x="626252" y="1794933"/>
                    <a:pt x="652059" y="1795699"/>
                    <a:pt x="677052" y="1790700"/>
                  </a:cubicBezTo>
                  <a:cubicBezTo>
                    <a:pt x="684536" y="1789203"/>
                    <a:pt x="691076" y="1783743"/>
                    <a:pt x="696102" y="1778000"/>
                  </a:cubicBezTo>
                  <a:cubicBezTo>
                    <a:pt x="780033" y="1682079"/>
                    <a:pt x="671853" y="1795323"/>
                    <a:pt x="734202" y="1701800"/>
                  </a:cubicBezTo>
                  <a:cubicBezTo>
                    <a:pt x="758608" y="1665191"/>
                    <a:pt x="737478" y="1700506"/>
                    <a:pt x="753252" y="1663700"/>
                  </a:cubicBezTo>
                  <a:cubicBezTo>
                    <a:pt x="764156" y="1638257"/>
                    <a:pt x="766345" y="1643077"/>
                    <a:pt x="772302" y="1619250"/>
                  </a:cubicBezTo>
                  <a:cubicBezTo>
                    <a:pt x="774920" y="1608779"/>
                    <a:pt x="776311" y="1598036"/>
                    <a:pt x="778652" y="1587500"/>
                  </a:cubicBezTo>
                  <a:cubicBezTo>
                    <a:pt x="780545" y="1578981"/>
                    <a:pt x="783109" y="1570619"/>
                    <a:pt x="785002" y="1562100"/>
                  </a:cubicBezTo>
                  <a:cubicBezTo>
                    <a:pt x="787343" y="1551564"/>
                    <a:pt x="788512" y="1540763"/>
                    <a:pt x="791352" y="1530350"/>
                  </a:cubicBezTo>
                  <a:cubicBezTo>
                    <a:pt x="794874" y="1517435"/>
                    <a:pt x="799819" y="1504950"/>
                    <a:pt x="804052" y="1492250"/>
                  </a:cubicBezTo>
                  <a:lnTo>
                    <a:pt x="810402" y="1473200"/>
                  </a:lnTo>
                  <a:cubicBezTo>
                    <a:pt x="815584" y="1457654"/>
                    <a:pt x="819644" y="1442482"/>
                    <a:pt x="829452" y="1428750"/>
                  </a:cubicBezTo>
                  <a:cubicBezTo>
                    <a:pt x="834672" y="1421442"/>
                    <a:pt x="842152" y="1416050"/>
                    <a:pt x="848502" y="1409700"/>
                  </a:cubicBezTo>
                  <a:cubicBezTo>
                    <a:pt x="850619" y="1401233"/>
                    <a:pt x="851788" y="1392472"/>
                    <a:pt x="854852" y="1384300"/>
                  </a:cubicBezTo>
                  <a:cubicBezTo>
                    <a:pt x="861473" y="1366643"/>
                    <a:pt x="870435" y="1350628"/>
                    <a:pt x="886602" y="1339850"/>
                  </a:cubicBezTo>
                  <a:cubicBezTo>
                    <a:pt x="892171" y="1336137"/>
                    <a:pt x="899302" y="1335617"/>
                    <a:pt x="905652" y="1333500"/>
                  </a:cubicBezTo>
                  <a:cubicBezTo>
                    <a:pt x="925778" y="1303311"/>
                    <a:pt x="911112" y="1316863"/>
                    <a:pt x="956452" y="1301750"/>
                  </a:cubicBezTo>
                  <a:lnTo>
                    <a:pt x="975502" y="1295400"/>
                  </a:lnTo>
                  <a:lnTo>
                    <a:pt x="994552" y="1289050"/>
                  </a:lnTo>
                  <a:cubicBezTo>
                    <a:pt x="1113898" y="1294475"/>
                    <a:pt x="1123394" y="1251354"/>
                    <a:pt x="1140602" y="1314450"/>
                  </a:cubicBezTo>
                  <a:cubicBezTo>
                    <a:pt x="1145195" y="1331289"/>
                    <a:pt x="1149069" y="1348317"/>
                    <a:pt x="1153302" y="1365250"/>
                  </a:cubicBezTo>
                  <a:cubicBezTo>
                    <a:pt x="1151185" y="1407583"/>
                    <a:pt x="1151810" y="1450143"/>
                    <a:pt x="1146952" y="1492250"/>
                  </a:cubicBezTo>
                  <a:cubicBezTo>
                    <a:pt x="1145418" y="1505549"/>
                    <a:pt x="1145391" y="1522924"/>
                    <a:pt x="1134252" y="1530350"/>
                  </a:cubicBezTo>
                  <a:cubicBezTo>
                    <a:pt x="1086954" y="1561882"/>
                    <a:pt x="1145045" y="1521356"/>
                    <a:pt x="1096152" y="1562100"/>
                  </a:cubicBezTo>
                  <a:cubicBezTo>
                    <a:pt x="1076026" y="1578871"/>
                    <a:pt x="1066691" y="1578270"/>
                    <a:pt x="1039002" y="1587500"/>
                  </a:cubicBezTo>
                  <a:cubicBezTo>
                    <a:pt x="1032652" y="1589617"/>
                    <a:pt x="1025939" y="1590857"/>
                    <a:pt x="1019952" y="1593850"/>
                  </a:cubicBezTo>
                  <a:cubicBezTo>
                    <a:pt x="1011485" y="1598083"/>
                    <a:pt x="1003253" y="1602821"/>
                    <a:pt x="994552" y="1606550"/>
                  </a:cubicBezTo>
                  <a:cubicBezTo>
                    <a:pt x="988400" y="1609187"/>
                    <a:pt x="981353" y="1609649"/>
                    <a:pt x="975502" y="1612900"/>
                  </a:cubicBezTo>
                  <a:cubicBezTo>
                    <a:pt x="962159" y="1620313"/>
                    <a:pt x="937402" y="1638300"/>
                    <a:pt x="937402" y="1638300"/>
                  </a:cubicBezTo>
                  <a:cubicBezTo>
                    <a:pt x="922494" y="1660663"/>
                    <a:pt x="909065" y="1677392"/>
                    <a:pt x="899302" y="1701800"/>
                  </a:cubicBezTo>
                  <a:cubicBezTo>
                    <a:pt x="867915" y="1780267"/>
                    <a:pt x="903686" y="1705732"/>
                    <a:pt x="873902" y="1765300"/>
                  </a:cubicBezTo>
                  <a:cubicBezTo>
                    <a:pt x="876019" y="1784350"/>
                    <a:pt x="877101" y="1803544"/>
                    <a:pt x="880252" y="1822450"/>
                  </a:cubicBezTo>
                  <a:cubicBezTo>
                    <a:pt x="881352" y="1829052"/>
                    <a:pt x="883351" y="1835649"/>
                    <a:pt x="886602" y="1841500"/>
                  </a:cubicBezTo>
                  <a:cubicBezTo>
                    <a:pt x="894015" y="1854843"/>
                    <a:pt x="899302" y="1871133"/>
                    <a:pt x="912002" y="1879600"/>
                  </a:cubicBezTo>
                  <a:cubicBezTo>
                    <a:pt x="918352" y="1883833"/>
                    <a:pt x="924226" y="1888887"/>
                    <a:pt x="931052" y="1892300"/>
                  </a:cubicBezTo>
                  <a:cubicBezTo>
                    <a:pt x="937039" y="1895293"/>
                    <a:pt x="943950" y="1896013"/>
                    <a:pt x="950102" y="1898650"/>
                  </a:cubicBezTo>
                  <a:cubicBezTo>
                    <a:pt x="958803" y="1902379"/>
                    <a:pt x="967035" y="1907117"/>
                    <a:pt x="975502" y="1911350"/>
                  </a:cubicBezTo>
                  <a:lnTo>
                    <a:pt x="1248552" y="1905000"/>
                  </a:lnTo>
                  <a:cubicBezTo>
                    <a:pt x="1267705" y="1904263"/>
                    <a:pt x="1286758" y="1901565"/>
                    <a:pt x="1305702" y="1898650"/>
                  </a:cubicBezTo>
                  <a:cubicBezTo>
                    <a:pt x="1327207" y="1895341"/>
                    <a:pt x="1330790" y="1891482"/>
                    <a:pt x="1350152" y="1885950"/>
                  </a:cubicBezTo>
                  <a:cubicBezTo>
                    <a:pt x="1358543" y="1883552"/>
                    <a:pt x="1366966" y="1881161"/>
                    <a:pt x="1375552" y="1879600"/>
                  </a:cubicBezTo>
                  <a:cubicBezTo>
                    <a:pt x="1390278" y="1876923"/>
                    <a:pt x="1405185" y="1875367"/>
                    <a:pt x="1420002" y="1873250"/>
                  </a:cubicBezTo>
                  <a:cubicBezTo>
                    <a:pt x="1463548" y="1858735"/>
                    <a:pt x="1409500" y="1875875"/>
                    <a:pt x="1470802" y="1860550"/>
                  </a:cubicBezTo>
                  <a:cubicBezTo>
                    <a:pt x="1477296" y="1858927"/>
                    <a:pt x="1483318" y="1855652"/>
                    <a:pt x="1489852" y="1854200"/>
                  </a:cubicBezTo>
                  <a:cubicBezTo>
                    <a:pt x="1502421" y="1851407"/>
                    <a:pt x="1515252" y="1849967"/>
                    <a:pt x="1527952" y="1847850"/>
                  </a:cubicBezTo>
                  <a:cubicBezTo>
                    <a:pt x="1576493" y="1823579"/>
                    <a:pt x="1528202" y="1844612"/>
                    <a:pt x="1591452" y="1828800"/>
                  </a:cubicBezTo>
                  <a:cubicBezTo>
                    <a:pt x="1604439" y="1825553"/>
                    <a:pt x="1629552" y="1816100"/>
                    <a:pt x="1629552" y="1816100"/>
                  </a:cubicBezTo>
                  <a:cubicBezTo>
                    <a:pt x="1633785" y="1809750"/>
                    <a:pt x="1636293" y="1801818"/>
                    <a:pt x="1642252" y="1797050"/>
                  </a:cubicBezTo>
                  <a:cubicBezTo>
                    <a:pt x="1647479" y="1792869"/>
                    <a:pt x="1655315" y="1793693"/>
                    <a:pt x="1661302" y="1790700"/>
                  </a:cubicBezTo>
                  <a:cubicBezTo>
                    <a:pt x="1668128" y="1787287"/>
                    <a:pt x="1674002" y="1782233"/>
                    <a:pt x="1680352" y="1778000"/>
                  </a:cubicBezTo>
                  <a:cubicBezTo>
                    <a:pt x="1692714" y="1740914"/>
                    <a:pt x="1677029" y="1774973"/>
                    <a:pt x="1705752" y="1746250"/>
                  </a:cubicBezTo>
                  <a:cubicBezTo>
                    <a:pt x="1759282" y="1692720"/>
                    <a:pt x="1683485" y="1759796"/>
                    <a:pt x="1724802" y="1708150"/>
                  </a:cubicBezTo>
                  <a:cubicBezTo>
                    <a:pt x="1729570" y="1702191"/>
                    <a:pt x="1737989" y="1700336"/>
                    <a:pt x="1743852" y="1695450"/>
                  </a:cubicBezTo>
                  <a:cubicBezTo>
                    <a:pt x="1750751" y="1689701"/>
                    <a:pt x="1756552" y="1682750"/>
                    <a:pt x="1762902" y="1676400"/>
                  </a:cubicBezTo>
                  <a:cubicBezTo>
                    <a:pt x="1778863" y="1628517"/>
                    <a:pt x="1757333" y="1687539"/>
                    <a:pt x="1781952" y="1638300"/>
                  </a:cubicBezTo>
                  <a:cubicBezTo>
                    <a:pt x="1784945" y="1632313"/>
                    <a:pt x="1786463" y="1625686"/>
                    <a:pt x="1788302" y="1619250"/>
                  </a:cubicBezTo>
                  <a:cubicBezTo>
                    <a:pt x="1790700" y="1610859"/>
                    <a:pt x="1790749" y="1601656"/>
                    <a:pt x="1794652" y="1593850"/>
                  </a:cubicBezTo>
                  <a:cubicBezTo>
                    <a:pt x="1838321" y="1506511"/>
                    <a:pt x="1808842" y="1589380"/>
                    <a:pt x="1826402" y="1536700"/>
                  </a:cubicBezTo>
                  <a:cubicBezTo>
                    <a:pt x="1824285" y="1496483"/>
                    <a:pt x="1827587" y="1455611"/>
                    <a:pt x="1820052" y="1416050"/>
                  </a:cubicBezTo>
                  <a:cubicBezTo>
                    <a:pt x="1818624" y="1408553"/>
                    <a:pt x="1807976" y="1406450"/>
                    <a:pt x="1801002" y="1403350"/>
                  </a:cubicBezTo>
                  <a:cubicBezTo>
                    <a:pt x="1788769" y="1397913"/>
                    <a:pt x="1775602" y="1394883"/>
                    <a:pt x="1762902" y="1390650"/>
                  </a:cubicBezTo>
                  <a:lnTo>
                    <a:pt x="1743852" y="1384300"/>
                  </a:lnTo>
                  <a:cubicBezTo>
                    <a:pt x="1658089" y="1390018"/>
                    <a:pt x="1617516" y="1396513"/>
                    <a:pt x="1527952" y="1384300"/>
                  </a:cubicBezTo>
                  <a:cubicBezTo>
                    <a:pt x="1520390" y="1383269"/>
                    <a:pt x="1515252" y="1375833"/>
                    <a:pt x="1508902" y="1371600"/>
                  </a:cubicBezTo>
                  <a:cubicBezTo>
                    <a:pt x="1475200" y="1321047"/>
                    <a:pt x="1485661" y="1348610"/>
                    <a:pt x="1477152" y="1289050"/>
                  </a:cubicBezTo>
                  <a:cubicBezTo>
                    <a:pt x="1479269" y="1246717"/>
                    <a:pt x="1471634" y="1202741"/>
                    <a:pt x="1483502" y="1162050"/>
                  </a:cubicBezTo>
                  <a:cubicBezTo>
                    <a:pt x="1490339" y="1138610"/>
                    <a:pt x="1523274" y="1138989"/>
                    <a:pt x="1540652" y="1130300"/>
                  </a:cubicBezTo>
                  <a:cubicBezTo>
                    <a:pt x="1547478" y="1126887"/>
                    <a:pt x="1552876" y="1121013"/>
                    <a:pt x="1559702" y="1117600"/>
                  </a:cubicBezTo>
                  <a:cubicBezTo>
                    <a:pt x="1565689" y="1114607"/>
                    <a:pt x="1572765" y="1114243"/>
                    <a:pt x="1578752" y="1111250"/>
                  </a:cubicBezTo>
                  <a:cubicBezTo>
                    <a:pt x="1585578" y="1107837"/>
                    <a:pt x="1590334" y="1100122"/>
                    <a:pt x="1597802" y="1098550"/>
                  </a:cubicBezTo>
                  <a:cubicBezTo>
                    <a:pt x="1631200" y="1091519"/>
                    <a:pt x="1665515" y="1089916"/>
                    <a:pt x="1699402" y="1085850"/>
                  </a:cubicBezTo>
                  <a:lnTo>
                    <a:pt x="1756552" y="1079500"/>
                  </a:lnTo>
                  <a:lnTo>
                    <a:pt x="1794652" y="1066800"/>
                  </a:lnTo>
                  <a:cubicBezTo>
                    <a:pt x="1801002" y="1064683"/>
                    <a:pt x="1808133" y="1064163"/>
                    <a:pt x="1813702" y="1060450"/>
                  </a:cubicBezTo>
                  <a:cubicBezTo>
                    <a:pt x="1820052" y="1056217"/>
                    <a:pt x="1825926" y="1051163"/>
                    <a:pt x="1832752" y="1047750"/>
                  </a:cubicBezTo>
                  <a:cubicBezTo>
                    <a:pt x="1838739" y="1044757"/>
                    <a:pt x="1845815" y="1044393"/>
                    <a:pt x="1851802" y="1041400"/>
                  </a:cubicBezTo>
                  <a:cubicBezTo>
                    <a:pt x="1893353" y="1020625"/>
                    <a:pt x="1847771" y="1037737"/>
                    <a:pt x="1889902" y="1009650"/>
                  </a:cubicBezTo>
                  <a:cubicBezTo>
                    <a:pt x="1895471" y="1005937"/>
                    <a:pt x="1902602" y="1005417"/>
                    <a:pt x="1908952" y="1003300"/>
                  </a:cubicBezTo>
                  <a:cubicBezTo>
                    <a:pt x="1915302" y="996950"/>
                    <a:pt x="1920530" y="989231"/>
                    <a:pt x="1928002" y="984250"/>
                  </a:cubicBezTo>
                  <a:cubicBezTo>
                    <a:pt x="1933571" y="980537"/>
                    <a:pt x="1941768" y="982009"/>
                    <a:pt x="1947052" y="977900"/>
                  </a:cubicBezTo>
                  <a:cubicBezTo>
                    <a:pt x="2011302" y="927928"/>
                    <a:pt x="1960132" y="948140"/>
                    <a:pt x="2004202" y="933450"/>
                  </a:cubicBezTo>
                  <a:cubicBezTo>
                    <a:pt x="2015645" y="922007"/>
                    <a:pt x="2026831" y="908331"/>
                    <a:pt x="2042302" y="901700"/>
                  </a:cubicBezTo>
                  <a:cubicBezTo>
                    <a:pt x="2070786" y="889493"/>
                    <a:pt x="2062038" y="901357"/>
                    <a:pt x="2086752" y="889000"/>
                  </a:cubicBezTo>
                  <a:cubicBezTo>
                    <a:pt x="2093578" y="885587"/>
                    <a:pt x="2099176" y="880086"/>
                    <a:pt x="2105802" y="876300"/>
                  </a:cubicBezTo>
                  <a:cubicBezTo>
                    <a:pt x="2114021" y="871604"/>
                    <a:pt x="2123175" y="868617"/>
                    <a:pt x="2131202" y="863600"/>
                  </a:cubicBezTo>
                  <a:cubicBezTo>
                    <a:pt x="2140177" y="857991"/>
                    <a:pt x="2147413" y="849801"/>
                    <a:pt x="2156602" y="844550"/>
                  </a:cubicBezTo>
                  <a:cubicBezTo>
                    <a:pt x="2162414" y="841229"/>
                    <a:pt x="2169801" y="841451"/>
                    <a:pt x="2175652" y="838200"/>
                  </a:cubicBezTo>
                  <a:cubicBezTo>
                    <a:pt x="2188995" y="830787"/>
                    <a:pt x="2201052" y="821267"/>
                    <a:pt x="2213752" y="812800"/>
                  </a:cubicBezTo>
                  <a:cubicBezTo>
                    <a:pt x="2220102" y="808567"/>
                    <a:pt x="2225562" y="802513"/>
                    <a:pt x="2232802" y="800100"/>
                  </a:cubicBezTo>
                  <a:lnTo>
                    <a:pt x="2251852" y="79375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7" name="CaixaDeTexto 146">
            <a:extLst>
              <a:ext uri="{FF2B5EF4-FFF2-40B4-BE49-F238E27FC236}">
                <a16:creationId xmlns="" xmlns:a16="http://schemas.microsoft.com/office/drawing/2014/main" id="{47F5026B-9D46-15C8-D2BC-7C7D85A08717}"/>
              </a:ext>
            </a:extLst>
          </p:cNvPr>
          <p:cNvSpPr txBox="1"/>
          <p:nvPr/>
        </p:nvSpPr>
        <p:spPr>
          <a:xfrm>
            <a:off x="2298188" y="4883783"/>
            <a:ext cx="891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Subajuste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="" xmlns:a16="http://schemas.microsoft.com/office/drawing/2014/main" id="{1D2900C2-AB82-B811-AA58-4352203E2D3A}"/>
              </a:ext>
            </a:extLst>
          </p:cNvPr>
          <p:cNvSpPr txBox="1"/>
          <p:nvPr/>
        </p:nvSpPr>
        <p:spPr>
          <a:xfrm>
            <a:off x="6225723" y="4877775"/>
            <a:ext cx="10436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Sobreajuste</a:t>
            </a:r>
          </a:p>
        </p:txBody>
      </p:sp>
      <p:grpSp>
        <p:nvGrpSpPr>
          <p:cNvPr id="149" name="Agrupar 148">
            <a:extLst>
              <a:ext uri="{FF2B5EF4-FFF2-40B4-BE49-F238E27FC236}">
                <a16:creationId xmlns="" xmlns:a16="http://schemas.microsoft.com/office/drawing/2014/main" id="{B709F5F5-D010-140C-54BC-ECD9C9D3BDAC}"/>
              </a:ext>
            </a:extLst>
          </p:cNvPr>
          <p:cNvGrpSpPr/>
          <p:nvPr/>
        </p:nvGrpSpPr>
        <p:grpSpPr>
          <a:xfrm>
            <a:off x="9002294" y="4577699"/>
            <a:ext cx="3151778" cy="2231772"/>
            <a:chOff x="9487183" y="4506280"/>
            <a:chExt cx="3151778" cy="2231772"/>
          </a:xfrm>
        </p:grpSpPr>
        <p:grpSp>
          <p:nvGrpSpPr>
            <p:cNvPr id="150" name="Group 3">
              <a:extLst>
                <a:ext uri="{FF2B5EF4-FFF2-40B4-BE49-F238E27FC236}">
                  <a16:creationId xmlns="" xmlns:a16="http://schemas.microsoft.com/office/drawing/2014/main" id="{AB792365-752F-4BAA-9C4C-B184E03C398D}"/>
                </a:ext>
              </a:extLst>
            </p:cNvPr>
            <p:cNvGrpSpPr/>
            <p:nvPr/>
          </p:nvGrpSpPr>
          <p:grpSpPr>
            <a:xfrm>
              <a:off x="9487183" y="4678324"/>
              <a:ext cx="2614572" cy="2059728"/>
              <a:chOff x="12672659" y="1187117"/>
              <a:chExt cx="2796787" cy="2109915"/>
            </a:xfrm>
          </p:grpSpPr>
          <p:cxnSp>
            <p:nvCxnSpPr>
              <p:cNvPr id="152" name="Straight Connector 4">
                <a:extLst>
                  <a:ext uri="{FF2B5EF4-FFF2-40B4-BE49-F238E27FC236}">
                    <a16:creationId xmlns="" xmlns:a16="http://schemas.microsoft.com/office/drawing/2014/main" id="{8AEF7EF4-C8E2-9025-0F73-D343985CED93}"/>
                  </a:ext>
                </a:extLst>
              </p:cNvPr>
              <p:cNvCxnSpPr/>
              <p:nvPr/>
            </p:nvCxnSpPr>
            <p:spPr>
              <a:xfrm>
                <a:off x="12835767" y="1351116"/>
                <a:ext cx="0" cy="194591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5">
                <a:extLst>
                  <a:ext uri="{FF2B5EF4-FFF2-40B4-BE49-F238E27FC236}">
                    <a16:creationId xmlns="" xmlns:a16="http://schemas.microsoft.com/office/drawing/2014/main" id="{D0DB9A6C-C2C3-D1E0-888E-5529087456ED}"/>
                  </a:ext>
                </a:extLst>
              </p:cNvPr>
              <p:cNvCxnSpPr/>
              <p:nvPr/>
            </p:nvCxnSpPr>
            <p:spPr>
              <a:xfrm rot="16200000">
                <a:off x="13909339" y="1922497"/>
                <a:ext cx="0" cy="247336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" name="TextBox 6">
                    <a:extLst>
                      <a:ext uri="{FF2B5EF4-FFF2-40B4-BE49-F238E27FC236}">
                        <a16:creationId xmlns="" xmlns:a16="http://schemas.microsoft.com/office/drawing/2014/main" id="{9226C786-A614-1FFF-E435-EF9EE0E3BDB5}"/>
                      </a:ext>
                    </a:extLst>
                  </p:cNvPr>
                  <p:cNvSpPr txBox="1"/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3953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TextBox 7">
                    <a:extLst>
                      <a:ext uri="{FF2B5EF4-FFF2-40B4-BE49-F238E27FC236}">
                        <a16:creationId xmlns="" xmlns:a16="http://schemas.microsoft.com/office/drawing/2014/main" id="{A7AE877B-7096-7D6A-52D9-0821CEEA5501}"/>
                      </a:ext>
                    </a:extLst>
                  </p:cNvPr>
                  <p:cNvSpPr txBox="1"/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4285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6" name="Oval 8">
                <a:extLst>
                  <a:ext uri="{FF2B5EF4-FFF2-40B4-BE49-F238E27FC236}">
                    <a16:creationId xmlns="" xmlns:a16="http://schemas.microsoft.com/office/drawing/2014/main" id="{33E38761-B1F8-28E0-C42E-B9D122E3DDEF}"/>
                  </a:ext>
                </a:extLst>
              </p:cNvPr>
              <p:cNvSpPr/>
              <p:nvPr/>
            </p:nvSpPr>
            <p:spPr>
              <a:xfrm>
                <a:off x="13553334" y="191564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7" name="Oval 9">
                <a:extLst>
                  <a:ext uri="{FF2B5EF4-FFF2-40B4-BE49-F238E27FC236}">
                    <a16:creationId xmlns="" xmlns:a16="http://schemas.microsoft.com/office/drawing/2014/main" id="{E60899A5-5DA9-D7A1-35C6-C0FE827771E8}"/>
                  </a:ext>
                </a:extLst>
              </p:cNvPr>
              <p:cNvSpPr/>
              <p:nvPr/>
            </p:nvSpPr>
            <p:spPr>
              <a:xfrm>
                <a:off x="13561681" y="212621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8" name="Oval 10">
                <a:extLst>
                  <a:ext uri="{FF2B5EF4-FFF2-40B4-BE49-F238E27FC236}">
                    <a16:creationId xmlns="" xmlns:a16="http://schemas.microsoft.com/office/drawing/2014/main" id="{4D02DCA5-B9D9-ADA8-0657-7E822EFBD9E6}"/>
                  </a:ext>
                </a:extLst>
              </p:cNvPr>
              <p:cNvSpPr/>
              <p:nvPr/>
            </p:nvSpPr>
            <p:spPr>
              <a:xfrm>
                <a:off x="13295320" y="20544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9" name="Oval 11">
                <a:extLst>
                  <a:ext uri="{FF2B5EF4-FFF2-40B4-BE49-F238E27FC236}">
                    <a16:creationId xmlns="" xmlns:a16="http://schemas.microsoft.com/office/drawing/2014/main" id="{BA4C184D-6569-B044-163D-A6248645074A}"/>
                  </a:ext>
                </a:extLst>
              </p:cNvPr>
              <p:cNvSpPr/>
              <p:nvPr/>
            </p:nvSpPr>
            <p:spPr>
              <a:xfrm>
                <a:off x="13414187" y="22911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0" name="Oval 12">
                <a:extLst>
                  <a:ext uri="{FF2B5EF4-FFF2-40B4-BE49-F238E27FC236}">
                    <a16:creationId xmlns="" xmlns:a16="http://schemas.microsoft.com/office/drawing/2014/main" id="{CE3E37AE-2361-A2C9-9B2E-539168A7485A}"/>
                  </a:ext>
                </a:extLst>
              </p:cNvPr>
              <p:cNvSpPr/>
              <p:nvPr/>
            </p:nvSpPr>
            <p:spPr>
              <a:xfrm>
                <a:off x="13816131" y="2031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1" name="Oval 13">
                <a:extLst>
                  <a:ext uri="{FF2B5EF4-FFF2-40B4-BE49-F238E27FC236}">
                    <a16:creationId xmlns="" xmlns:a16="http://schemas.microsoft.com/office/drawing/2014/main" id="{A1A824E5-D887-DE7B-96A8-350B2E5EC90E}"/>
                  </a:ext>
                </a:extLst>
              </p:cNvPr>
              <p:cNvSpPr/>
              <p:nvPr/>
            </p:nvSpPr>
            <p:spPr>
              <a:xfrm>
                <a:off x="13839512" y="183166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Oval 14">
                <a:extLst>
                  <a:ext uri="{FF2B5EF4-FFF2-40B4-BE49-F238E27FC236}">
                    <a16:creationId xmlns="" xmlns:a16="http://schemas.microsoft.com/office/drawing/2014/main" id="{79AF25B6-5BAB-77F1-3BA4-38D16A85E1BB}"/>
                  </a:ext>
                </a:extLst>
              </p:cNvPr>
              <p:cNvSpPr/>
              <p:nvPr/>
            </p:nvSpPr>
            <p:spPr>
              <a:xfrm>
                <a:off x="14066354" y="195588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3" name="Oval 15">
                <a:extLst>
                  <a:ext uri="{FF2B5EF4-FFF2-40B4-BE49-F238E27FC236}">
                    <a16:creationId xmlns="" xmlns:a16="http://schemas.microsoft.com/office/drawing/2014/main" id="{E35BE1B7-BEDC-43DD-5F47-C47BEBF516EE}"/>
                  </a:ext>
                </a:extLst>
              </p:cNvPr>
              <p:cNvSpPr/>
              <p:nvPr/>
            </p:nvSpPr>
            <p:spPr>
              <a:xfrm>
                <a:off x="13829460" y="22319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4" name="Oval 16">
                <a:extLst>
                  <a:ext uri="{FF2B5EF4-FFF2-40B4-BE49-F238E27FC236}">
                    <a16:creationId xmlns="" xmlns:a16="http://schemas.microsoft.com/office/drawing/2014/main" id="{477E1B4C-E42D-4763-10F9-3E0F9496FE6B}"/>
                  </a:ext>
                </a:extLst>
              </p:cNvPr>
              <p:cNvSpPr/>
              <p:nvPr/>
            </p:nvSpPr>
            <p:spPr>
              <a:xfrm>
                <a:off x="13345007" y="184010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5" name="Oval 17">
                <a:extLst>
                  <a:ext uri="{FF2B5EF4-FFF2-40B4-BE49-F238E27FC236}">
                    <a16:creationId xmlns="" xmlns:a16="http://schemas.microsoft.com/office/drawing/2014/main" id="{81C69D5A-11B3-C872-0341-EF4ED5FE1ED0}"/>
                  </a:ext>
                </a:extLst>
              </p:cNvPr>
              <p:cNvSpPr/>
              <p:nvPr/>
            </p:nvSpPr>
            <p:spPr>
              <a:xfrm>
                <a:off x="13909339" y="1637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6" name="Oval 18">
                <a:extLst>
                  <a:ext uri="{FF2B5EF4-FFF2-40B4-BE49-F238E27FC236}">
                    <a16:creationId xmlns="" xmlns:a16="http://schemas.microsoft.com/office/drawing/2014/main" id="{24B9C5FC-2A2E-A993-B176-99CC6CEE56A9}"/>
                  </a:ext>
                </a:extLst>
              </p:cNvPr>
              <p:cNvSpPr/>
              <p:nvPr/>
            </p:nvSpPr>
            <p:spPr>
              <a:xfrm>
                <a:off x="13669702" y="243145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7" name="Oval 19">
                <a:extLst>
                  <a:ext uri="{FF2B5EF4-FFF2-40B4-BE49-F238E27FC236}">
                    <a16:creationId xmlns="" xmlns:a16="http://schemas.microsoft.com/office/drawing/2014/main" id="{E8B38059-E292-EA8F-2239-F0B95C55540A}"/>
                  </a:ext>
                </a:extLst>
              </p:cNvPr>
              <p:cNvSpPr/>
              <p:nvPr/>
            </p:nvSpPr>
            <p:spPr>
              <a:xfrm>
                <a:off x="14059696" y="214175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8" name="Oval 20">
                <a:extLst>
                  <a:ext uri="{FF2B5EF4-FFF2-40B4-BE49-F238E27FC236}">
                    <a16:creationId xmlns="" xmlns:a16="http://schemas.microsoft.com/office/drawing/2014/main" id="{C3121AB0-BF07-7F05-E180-11010A5FB0E3}"/>
                  </a:ext>
                </a:extLst>
              </p:cNvPr>
              <p:cNvSpPr/>
              <p:nvPr/>
            </p:nvSpPr>
            <p:spPr>
              <a:xfrm>
                <a:off x="14308370" y="21905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9" name="Oval 21">
                <a:extLst>
                  <a:ext uri="{FF2B5EF4-FFF2-40B4-BE49-F238E27FC236}">
                    <a16:creationId xmlns="" xmlns:a16="http://schemas.microsoft.com/office/drawing/2014/main" id="{092A8682-0FEF-BD8D-9E42-F775EC0F7A63}"/>
                  </a:ext>
                </a:extLst>
              </p:cNvPr>
              <p:cNvSpPr/>
              <p:nvPr/>
            </p:nvSpPr>
            <p:spPr>
              <a:xfrm>
                <a:off x="14507886" y="180359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0" name="Oval 22">
                <a:extLst>
                  <a:ext uri="{FF2B5EF4-FFF2-40B4-BE49-F238E27FC236}">
                    <a16:creationId xmlns="" xmlns:a16="http://schemas.microsoft.com/office/drawing/2014/main" id="{B28CEF66-621F-8E66-A286-4FDC907ACA55}"/>
                  </a:ext>
                </a:extLst>
              </p:cNvPr>
              <p:cNvSpPr/>
              <p:nvPr/>
            </p:nvSpPr>
            <p:spPr>
              <a:xfrm>
                <a:off x="13674403" y="16889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1" name="Oval 23">
                <a:extLst>
                  <a:ext uri="{FF2B5EF4-FFF2-40B4-BE49-F238E27FC236}">
                    <a16:creationId xmlns="" xmlns:a16="http://schemas.microsoft.com/office/drawing/2014/main" id="{A100062C-D2DA-A3B9-45AB-2D7D32B3896F}"/>
                  </a:ext>
                </a:extLst>
              </p:cNvPr>
              <p:cNvSpPr/>
              <p:nvPr/>
            </p:nvSpPr>
            <p:spPr>
              <a:xfrm>
                <a:off x="14616909" y="237306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2" name="Oval 24">
                <a:extLst>
                  <a:ext uri="{FF2B5EF4-FFF2-40B4-BE49-F238E27FC236}">
                    <a16:creationId xmlns="" xmlns:a16="http://schemas.microsoft.com/office/drawing/2014/main" id="{E2FB1A37-7AFD-300E-35A7-44A5D09A3977}"/>
                  </a:ext>
                </a:extLst>
              </p:cNvPr>
              <p:cNvSpPr/>
              <p:nvPr/>
            </p:nvSpPr>
            <p:spPr>
              <a:xfrm>
                <a:off x="14276702" y="239274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3" name="Oval 25">
                <a:extLst>
                  <a:ext uri="{FF2B5EF4-FFF2-40B4-BE49-F238E27FC236}">
                    <a16:creationId xmlns="" xmlns:a16="http://schemas.microsoft.com/office/drawing/2014/main" id="{B154C988-DF0C-AB44-22FB-79B0AC600080}"/>
                  </a:ext>
                </a:extLst>
              </p:cNvPr>
              <p:cNvSpPr/>
              <p:nvPr/>
            </p:nvSpPr>
            <p:spPr>
              <a:xfrm>
                <a:off x="14101561" y="1737997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4" name="Oval 26">
                <a:extLst>
                  <a:ext uri="{FF2B5EF4-FFF2-40B4-BE49-F238E27FC236}">
                    <a16:creationId xmlns="" xmlns:a16="http://schemas.microsoft.com/office/drawing/2014/main" id="{9909C57C-258A-326C-08BF-2E2A82D6E9FE}"/>
                  </a:ext>
                </a:extLst>
              </p:cNvPr>
              <p:cNvSpPr/>
              <p:nvPr/>
            </p:nvSpPr>
            <p:spPr>
              <a:xfrm>
                <a:off x="14078959" y="252768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5" name="Oval 27">
                <a:extLst>
                  <a:ext uri="{FF2B5EF4-FFF2-40B4-BE49-F238E27FC236}">
                    <a16:creationId xmlns="" xmlns:a16="http://schemas.microsoft.com/office/drawing/2014/main" id="{1D4BF54C-F15F-A28D-D7D4-A00791203673}"/>
                  </a:ext>
                </a:extLst>
              </p:cNvPr>
              <p:cNvSpPr/>
              <p:nvPr/>
            </p:nvSpPr>
            <p:spPr>
              <a:xfrm>
                <a:off x="14308370" y="19206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6" name="Multiply 28">
                <a:extLst>
                  <a:ext uri="{FF2B5EF4-FFF2-40B4-BE49-F238E27FC236}">
                    <a16:creationId xmlns="" xmlns:a16="http://schemas.microsoft.com/office/drawing/2014/main" id="{3F6656AB-9290-5B48-AE96-C07D85094FA7}"/>
                  </a:ext>
                </a:extLst>
              </p:cNvPr>
              <p:cNvSpPr/>
              <p:nvPr/>
            </p:nvSpPr>
            <p:spPr>
              <a:xfrm>
                <a:off x="13999936" y="23047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7" name="Multiply 29">
                <a:extLst>
                  <a:ext uri="{FF2B5EF4-FFF2-40B4-BE49-F238E27FC236}">
                    <a16:creationId xmlns="" xmlns:a16="http://schemas.microsoft.com/office/drawing/2014/main" id="{FD60D1F2-561E-933B-C090-5712EE246864}"/>
                  </a:ext>
                </a:extLst>
              </p:cNvPr>
              <p:cNvSpPr/>
              <p:nvPr/>
            </p:nvSpPr>
            <p:spPr>
              <a:xfrm>
                <a:off x="13211391" y="143837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8" name="Multiply 30">
                <a:extLst>
                  <a:ext uri="{FF2B5EF4-FFF2-40B4-BE49-F238E27FC236}">
                    <a16:creationId xmlns="" xmlns:a16="http://schemas.microsoft.com/office/drawing/2014/main" id="{A7FFB01D-4D6B-3562-0A6F-0539E574A6B7}"/>
                  </a:ext>
                </a:extLst>
              </p:cNvPr>
              <p:cNvSpPr/>
              <p:nvPr/>
            </p:nvSpPr>
            <p:spPr>
              <a:xfrm>
                <a:off x="13083425" y="1686810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9" name="Multiply 31">
                <a:extLst>
                  <a:ext uri="{FF2B5EF4-FFF2-40B4-BE49-F238E27FC236}">
                    <a16:creationId xmlns="" xmlns:a16="http://schemas.microsoft.com/office/drawing/2014/main" id="{B463B717-F694-E44E-A842-9B7E0713F9EA}"/>
                  </a:ext>
                </a:extLst>
              </p:cNvPr>
              <p:cNvSpPr/>
              <p:nvPr/>
            </p:nvSpPr>
            <p:spPr>
              <a:xfrm>
                <a:off x="12887780" y="15429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0" name="Multiply 32">
                <a:extLst>
                  <a:ext uri="{FF2B5EF4-FFF2-40B4-BE49-F238E27FC236}">
                    <a16:creationId xmlns="" xmlns:a16="http://schemas.microsoft.com/office/drawing/2014/main" id="{87718451-5827-F63D-27F8-A6720EB38ABB}"/>
                  </a:ext>
                </a:extLst>
              </p:cNvPr>
              <p:cNvSpPr/>
              <p:nvPr/>
            </p:nvSpPr>
            <p:spPr>
              <a:xfrm>
                <a:off x="12864580" y="1870611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1" name="Multiply 33">
                <a:extLst>
                  <a:ext uri="{FF2B5EF4-FFF2-40B4-BE49-F238E27FC236}">
                    <a16:creationId xmlns="" xmlns:a16="http://schemas.microsoft.com/office/drawing/2014/main" id="{682562FC-827C-1765-A5CB-D2910EA9AA48}"/>
                  </a:ext>
                </a:extLst>
              </p:cNvPr>
              <p:cNvSpPr/>
              <p:nvPr/>
            </p:nvSpPr>
            <p:spPr>
              <a:xfrm>
                <a:off x="14518766" y="21565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2" name="Multiply 34">
                <a:extLst>
                  <a:ext uri="{FF2B5EF4-FFF2-40B4-BE49-F238E27FC236}">
                    <a16:creationId xmlns="" xmlns:a16="http://schemas.microsoft.com/office/drawing/2014/main" id="{0B3FC1BB-6DF3-E297-1012-3C706C263B09}"/>
                  </a:ext>
                </a:extLst>
              </p:cNvPr>
              <p:cNvSpPr/>
              <p:nvPr/>
            </p:nvSpPr>
            <p:spPr>
              <a:xfrm>
                <a:off x="12953812" y="20885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3" name="Oval 35">
                <a:extLst>
                  <a:ext uri="{FF2B5EF4-FFF2-40B4-BE49-F238E27FC236}">
                    <a16:creationId xmlns="" xmlns:a16="http://schemas.microsoft.com/office/drawing/2014/main" id="{54C8198E-A0CF-7980-66D9-E4561D57ECC0}"/>
                  </a:ext>
                </a:extLst>
              </p:cNvPr>
              <p:cNvSpPr/>
              <p:nvPr/>
            </p:nvSpPr>
            <p:spPr>
              <a:xfrm>
                <a:off x="14283730" y="170687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4" name="Oval 36">
                <a:extLst>
                  <a:ext uri="{FF2B5EF4-FFF2-40B4-BE49-F238E27FC236}">
                    <a16:creationId xmlns="" xmlns:a16="http://schemas.microsoft.com/office/drawing/2014/main" id="{7CC9821A-184B-A2E3-A34E-FB92FCCAD3FE}"/>
                  </a:ext>
                </a:extLst>
              </p:cNvPr>
              <p:cNvSpPr/>
              <p:nvPr/>
            </p:nvSpPr>
            <p:spPr>
              <a:xfrm>
                <a:off x="14410280" y="25358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5" name="Oval 37">
                <a:extLst>
                  <a:ext uri="{FF2B5EF4-FFF2-40B4-BE49-F238E27FC236}">
                    <a16:creationId xmlns="" xmlns:a16="http://schemas.microsoft.com/office/drawing/2014/main" id="{D2E9CE2F-7685-B870-D89C-172B0EF21E42}"/>
                  </a:ext>
                </a:extLst>
              </p:cNvPr>
              <p:cNvSpPr/>
              <p:nvPr/>
            </p:nvSpPr>
            <p:spPr>
              <a:xfrm>
                <a:off x="14491843" y="20176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6" name="Multiply 38">
                <a:extLst>
                  <a:ext uri="{FF2B5EF4-FFF2-40B4-BE49-F238E27FC236}">
                    <a16:creationId xmlns="" xmlns:a16="http://schemas.microsoft.com/office/drawing/2014/main" id="{2B52FB2F-6FEB-ECA5-0307-0B3A7EB6509D}"/>
                  </a:ext>
                </a:extLst>
              </p:cNvPr>
              <p:cNvSpPr/>
              <p:nvPr/>
            </p:nvSpPr>
            <p:spPr>
              <a:xfrm>
                <a:off x="13078193" y="23086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7" name="Multiply 39">
                <a:extLst>
                  <a:ext uri="{FF2B5EF4-FFF2-40B4-BE49-F238E27FC236}">
                    <a16:creationId xmlns="" xmlns:a16="http://schemas.microsoft.com/office/drawing/2014/main" id="{9B99DD54-32A0-38E7-0880-C4EB290C4DDF}"/>
                  </a:ext>
                </a:extLst>
              </p:cNvPr>
              <p:cNvSpPr/>
              <p:nvPr/>
            </p:nvSpPr>
            <p:spPr>
              <a:xfrm>
                <a:off x="13323864" y="251961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8" name="Multiply 40">
                <a:extLst>
                  <a:ext uri="{FF2B5EF4-FFF2-40B4-BE49-F238E27FC236}">
                    <a16:creationId xmlns="" xmlns:a16="http://schemas.microsoft.com/office/drawing/2014/main" id="{F280C803-EB38-1705-8398-9746F2851489}"/>
                  </a:ext>
                </a:extLst>
              </p:cNvPr>
              <p:cNvSpPr/>
              <p:nvPr/>
            </p:nvSpPr>
            <p:spPr>
              <a:xfrm>
                <a:off x="13749168" y="2693328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9" name="Multiply 41">
                <a:extLst>
                  <a:ext uri="{FF2B5EF4-FFF2-40B4-BE49-F238E27FC236}">
                    <a16:creationId xmlns="" xmlns:a16="http://schemas.microsoft.com/office/drawing/2014/main" id="{E08C1E28-5A7D-FE74-1118-F92C672167B5}"/>
                  </a:ext>
                </a:extLst>
              </p:cNvPr>
              <p:cNvSpPr/>
              <p:nvPr/>
            </p:nvSpPr>
            <p:spPr>
              <a:xfrm>
                <a:off x="13507181" y="2672807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0" name="Multiply 42">
                <a:extLst>
                  <a:ext uri="{FF2B5EF4-FFF2-40B4-BE49-F238E27FC236}">
                    <a16:creationId xmlns="" xmlns:a16="http://schemas.microsoft.com/office/drawing/2014/main" id="{31AA7847-F217-38A0-E85F-29B3CD387758}"/>
                  </a:ext>
                </a:extLst>
              </p:cNvPr>
              <p:cNvSpPr/>
              <p:nvPr/>
            </p:nvSpPr>
            <p:spPr>
              <a:xfrm>
                <a:off x="12998875" y="24902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1" name="Multiply 43">
                <a:extLst>
                  <a:ext uri="{FF2B5EF4-FFF2-40B4-BE49-F238E27FC236}">
                    <a16:creationId xmlns="" xmlns:a16="http://schemas.microsoft.com/office/drawing/2014/main" id="{7F009730-A0AB-D1BD-DB01-C8E1C29E5FEE}"/>
                  </a:ext>
                </a:extLst>
              </p:cNvPr>
              <p:cNvSpPr/>
              <p:nvPr/>
            </p:nvSpPr>
            <p:spPr>
              <a:xfrm>
                <a:off x="14136782" y="274991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2" name="Multiply 44">
                <a:extLst>
                  <a:ext uri="{FF2B5EF4-FFF2-40B4-BE49-F238E27FC236}">
                    <a16:creationId xmlns="" xmlns:a16="http://schemas.microsoft.com/office/drawing/2014/main" id="{4B29034B-900A-E1B2-D1FF-AE1BF9AF13E7}"/>
                  </a:ext>
                </a:extLst>
              </p:cNvPr>
              <p:cNvSpPr/>
              <p:nvPr/>
            </p:nvSpPr>
            <p:spPr>
              <a:xfrm>
                <a:off x="14476369" y="272132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3" name="Multiply 45">
                <a:extLst>
                  <a:ext uri="{FF2B5EF4-FFF2-40B4-BE49-F238E27FC236}">
                    <a16:creationId xmlns="" xmlns:a16="http://schemas.microsoft.com/office/drawing/2014/main" id="{B41E03E0-6F3E-007D-CB4E-5CBC0B3D7B26}"/>
                  </a:ext>
                </a:extLst>
              </p:cNvPr>
              <p:cNvSpPr/>
              <p:nvPr/>
            </p:nvSpPr>
            <p:spPr>
              <a:xfrm>
                <a:off x="13134348" y="275636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4" name="Multiply 46">
                <a:extLst>
                  <a:ext uri="{FF2B5EF4-FFF2-40B4-BE49-F238E27FC236}">
                    <a16:creationId xmlns="" xmlns:a16="http://schemas.microsoft.com/office/drawing/2014/main" id="{6352AA55-D841-6E0D-119F-8443FCF9F3FA}"/>
                  </a:ext>
                </a:extLst>
              </p:cNvPr>
              <p:cNvSpPr/>
              <p:nvPr/>
            </p:nvSpPr>
            <p:spPr>
              <a:xfrm>
                <a:off x="13496384" y="2892653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5" name="Multiply 47">
                <a:extLst>
                  <a:ext uri="{FF2B5EF4-FFF2-40B4-BE49-F238E27FC236}">
                    <a16:creationId xmlns="" xmlns:a16="http://schemas.microsoft.com/office/drawing/2014/main" id="{AD5ECDEC-E8D9-0B0D-2AE3-C179D39008EB}"/>
                  </a:ext>
                </a:extLst>
              </p:cNvPr>
              <p:cNvSpPr/>
              <p:nvPr/>
            </p:nvSpPr>
            <p:spPr>
              <a:xfrm>
                <a:off x="12841249" y="22921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6" name="Multiply 48">
                <a:extLst>
                  <a:ext uri="{FF2B5EF4-FFF2-40B4-BE49-F238E27FC236}">
                    <a16:creationId xmlns="" xmlns:a16="http://schemas.microsoft.com/office/drawing/2014/main" id="{5865E19B-52B0-4231-CC53-6A279EFF6831}"/>
                  </a:ext>
                </a:extLst>
              </p:cNvPr>
              <p:cNvSpPr/>
              <p:nvPr/>
            </p:nvSpPr>
            <p:spPr>
              <a:xfrm>
                <a:off x="13871464" y="2873205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7" name="Freeform 49">
                <a:extLst>
                  <a:ext uri="{FF2B5EF4-FFF2-40B4-BE49-F238E27FC236}">
                    <a16:creationId xmlns="" xmlns:a16="http://schemas.microsoft.com/office/drawing/2014/main" id="{0F4C3783-F2F8-74AF-47CE-AEBAA9AA9B83}"/>
                  </a:ext>
                </a:extLst>
              </p:cNvPr>
              <p:cNvSpPr/>
              <p:nvPr/>
            </p:nvSpPr>
            <p:spPr>
              <a:xfrm>
                <a:off x="13195406" y="1351116"/>
                <a:ext cx="1903847" cy="1403682"/>
              </a:xfrm>
              <a:custGeom>
                <a:avLst/>
                <a:gdLst>
                  <a:gd name="connsiteX0" fmla="*/ 532941 w 2034195"/>
                  <a:gd name="connsiteY0" fmla="*/ 0 h 1853444"/>
                  <a:gd name="connsiteX1" fmla="*/ 14326 w 2034195"/>
                  <a:gd name="connsiteY1" fmla="*/ 1105469 h 1853444"/>
                  <a:gd name="connsiteX2" fmla="*/ 1037908 w 2034195"/>
                  <a:gd name="connsiteY2" fmla="*/ 1842448 h 1853444"/>
                  <a:gd name="connsiteX3" fmla="*/ 2034195 w 2034195"/>
                  <a:gd name="connsiteY3" fmla="*/ 1501254 h 185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4195" h="1853444">
                    <a:moveTo>
                      <a:pt x="532941" y="0"/>
                    </a:moveTo>
                    <a:cubicBezTo>
                      <a:pt x="231553" y="399197"/>
                      <a:pt x="-69835" y="798394"/>
                      <a:pt x="14326" y="1105469"/>
                    </a:cubicBezTo>
                    <a:cubicBezTo>
                      <a:pt x="98487" y="1412544"/>
                      <a:pt x="701263" y="1776484"/>
                      <a:pt x="1037908" y="1842448"/>
                    </a:cubicBezTo>
                    <a:cubicBezTo>
                      <a:pt x="1374553" y="1908412"/>
                      <a:pt x="1679353" y="1662752"/>
                      <a:pt x="2034195" y="1501254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151" name="Retângulo 150">
              <a:extLst>
                <a:ext uri="{FF2B5EF4-FFF2-40B4-BE49-F238E27FC236}">
                  <a16:creationId xmlns="" xmlns:a16="http://schemas.microsoft.com/office/drawing/2014/main" id="{F412AD0E-B6FE-48A9-2E60-A151396B0E54}"/>
                </a:ext>
              </a:extLst>
            </p:cNvPr>
            <p:cNvSpPr/>
            <p:nvPr/>
          </p:nvSpPr>
          <p:spPr>
            <a:xfrm>
              <a:off x="10323051" y="4506280"/>
              <a:ext cx="231591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Relação de compromisso entre flexibilidade </a:t>
              </a:r>
              <a:r>
                <a:rPr lang="pt-B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e </a:t>
              </a:r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capacidade de generalização.</a:t>
              </a:r>
              <a:endParaRPr lang="pt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58882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1EBEF97-8057-BF3C-2F34-ADA7F277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Subajuste e sobreajuste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4DE9484A-5217-F82B-E48D-B22A7C6F4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39919" cy="3178454"/>
          </a:xfrm>
        </p:spPr>
        <p:txBody>
          <a:bodyPr>
            <a:normAutofit/>
          </a:bodyPr>
          <a:lstStyle/>
          <a:p>
            <a:r>
              <a:rPr lang="pt-BR" dirty="0"/>
              <a:t>Já a última figura mostra o que seria uma boa </a:t>
            </a:r>
            <a:r>
              <a:rPr lang="pt-BR" b="1" i="1" dirty="0"/>
              <a:t>hipótese de classificação</a:t>
            </a:r>
            <a:r>
              <a:rPr lang="pt-BR" dirty="0"/>
              <a:t>.</a:t>
            </a:r>
          </a:p>
          <a:p>
            <a:r>
              <a:rPr lang="pt-BR" dirty="0"/>
              <a:t>O polinômio </a:t>
            </a:r>
            <a:r>
              <a:rPr lang="pt-BR" dirty="0" smtClean="0"/>
              <a:t>usado apresenta </a:t>
            </a:r>
            <a:r>
              <a:rPr lang="pt-BR" dirty="0"/>
              <a:t>uma </a:t>
            </a:r>
            <a:r>
              <a:rPr lang="pt-BR" b="1" i="1" dirty="0">
                <a:solidFill>
                  <a:srgbClr val="00B050"/>
                </a:solidFill>
              </a:rPr>
              <a:t>boa relação de compromisso </a:t>
            </a:r>
            <a:r>
              <a:rPr lang="pt-BR" dirty="0"/>
              <a:t>entre a </a:t>
            </a:r>
            <a:r>
              <a:rPr lang="pt-BR" b="1" i="1" dirty="0">
                <a:solidFill>
                  <a:srgbClr val="00B050"/>
                </a:solidFill>
              </a:rPr>
              <a:t>flexibilidade</a:t>
            </a:r>
            <a:r>
              <a:rPr lang="pt-BR" dirty="0"/>
              <a:t> e a </a:t>
            </a:r>
            <a:r>
              <a:rPr lang="pt-BR" b="1" i="1" dirty="0">
                <a:solidFill>
                  <a:srgbClr val="00B050"/>
                </a:solidFill>
              </a:rPr>
              <a:t>capacidade de generalização</a:t>
            </a:r>
            <a:r>
              <a:rPr lang="pt-BR" dirty="0"/>
              <a:t>.</a:t>
            </a:r>
          </a:p>
          <a:p>
            <a:r>
              <a:rPr lang="pt-BR" dirty="0"/>
              <a:t>Os erros nos conjuntos de treinamento e de teste seriam </a:t>
            </a:r>
            <a:r>
              <a:rPr lang="pt-BR" b="1" i="1" dirty="0">
                <a:solidFill>
                  <a:srgbClr val="00B050"/>
                </a:solidFill>
              </a:rPr>
              <a:t>baixos e próximos</a:t>
            </a:r>
            <a:r>
              <a:rPr lang="pt-BR" dirty="0"/>
              <a:t>.</a:t>
            </a:r>
          </a:p>
        </p:txBody>
      </p:sp>
      <p:grpSp>
        <p:nvGrpSpPr>
          <p:cNvPr id="4" name="Group 50">
            <a:extLst>
              <a:ext uri="{FF2B5EF4-FFF2-40B4-BE49-F238E27FC236}">
                <a16:creationId xmlns="" xmlns:a16="http://schemas.microsoft.com/office/drawing/2014/main" id="{AAC33CC3-B566-0A22-6D7F-4A7086BDBE56}"/>
              </a:ext>
            </a:extLst>
          </p:cNvPr>
          <p:cNvGrpSpPr/>
          <p:nvPr/>
        </p:nvGrpSpPr>
        <p:grpSpPr>
          <a:xfrm>
            <a:off x="1028041" y="4681990"/>
            <a:ext cx="2614571" cy="2044068"/>
            <a:chOff x="9561094" y="1203158"/>
            <a:chExt cx="2796786" cy="2093874"/>
          </a:xfrm>
        </p:grpSpPr>
        <p:cxnSp>
          <p:nvCxnSpPr>
            <p:cNvPr id="5" name="Straight Connector 51">
              <a:extLst>
                <a:ext uri="{FF2B5EF4-FFF2-40B4-BE49-F238E27FC236}">
                  <a16:creationId xmlns="" xmlns:a16="http://schemas.microsoft.com/office/drawing/2014/main" id="{5D158E3F-ED3F-A0BB-C06B-2CF4EAA4B11D}"/>
                </a:ext>
              </a:extLst>
            </p:cNvPr>
            <p:cNvCxnSpPr/>
            <p:nvPr/>
          </p:nvCxnSpPr>
          <p:spPr>
            <a:xfrm>
              <a:off x="9724202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2">
              <a:extLst>
                <a:ext uri="{FF2B5EF4-FFF2-40B4-BE49-F238E27FC236}">
                  <a16:creationId xmlns="" xmlns:a16="http://schemas.microsoft.com/office/drawing/2014/main" id="{E14DE293-E665-2737-62F6-D30BF75374C3}"/>
                </a:ext>
              </a:extLst>
            </p:cNvPr>
            <p:cNvCxnSpPr/>
            <p:nvPr/>
          </p:nvCxnSpPr>
          <p:spPr>
            <a:xfrm rot="16200000">
              <a:off x="10797774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53">
                  <a:extLst>
                    <a:ext uri="{FF2B5EF4-FFF2-40B4-BE49-F238E27FC236}">
                      <a16:creationId xmlns="" xmlns:a16="http://schemas.microsoft.com/office/drawing/2014/main" id="{0F060A46-3CFC-45DB-BB36-1A17B92266A3}"/>
                    </a:ext>
                  </a:extLst>
                </p:cNvPr>
                <p:cNvSpPr txBox="1"/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4202" y="1203158"/>
                  <a:ext cx="380827" cy="25789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3953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54">
                  <a:extLst>
                    <a:ext uri="{FF2B5EF4-FFF2-40B4-BE49-F238E27FC236}">
                      <a16:creationId xmlns="" xmlns:a16="http://schemas.microsoft.com/office/drawing/2014/main" id="{375B5669-21CF-6AC7-003F-C8620D6D016C}"/>
                    </a:ext>
                  </a:extLst>
                </p:cNvPr>
                <p:cNvSpPr txBox="1"/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7053" y="3030229"/>
                  <a:ext cx="380827" cy="25789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55">
              <a:extLst>
                <a:ext uri="{FF2B5EF4-FFF2-40B4-BE49-F238E27FC236}">
                  <a16:creationId xmlns="" xmlns:a16="http://schemas.microsoft.com/office/drawing/2014/main" id="{A584C797-F691-3447-D9AC-BA27AFA91641}"/>
                </a:ext>
              </a:extLst>
            </p:cNvPr>
            <p:cNvSpPr/>
            <p:nvPr/>
          </p:nvSpPr>
          <p:spPr>
            <a:xfrm>
              <a:off x="10441769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56">
              <a:extLst>
                <a:ext uri="{FF2B5EF4-FFF2-40B4-BE49-F238E27FC236}">
                  <a16:creationId xmlns="" xmlns:a16="http://schemas.microsoft.com/office/drawing/2014/main" id="{7BF53845-9122-66A2-F6EE-F82FE2EA8B35}"/>
                </a:ext>
              </a:extLst>
            </p:cNvPr>
            <p:cNvSpPr/>
            <p:nvPr/>
          </p:nvSpPr>
          <p:spPr>
            <a:xfrm>
              <a:off x="10450116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57">
              <a:extLst>
                <a:ext uri="{FF2B5EF4-FFF2-40B4-BE49-F238E27FC236}">
                  <a16:creationId xmlns="" xmlns:a16="http://schemas.microsoft.com/office/drawing/2014/main" id="{B986BC97-E4CB-FF24-8B6B-B5E0B58328B4}"/>
                </a:ext>
              </a:extLst>
            </p:cNvPr>
            <p:cNvSpPr/>
            <p:nvPr/>
          </p:nvSpPr>
          <p:spPr>
            <a:xfrm>
              <a:off x="10183755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Oval 58">
              <a:extLst>
                <a:ext uri="{FF2B5EF4-FFF2-40B4-BE49-F238E27FC236}">
                  <a16:creationId xmlns="" xmlns:a16="http://schemas.microsoft.com/office/drawing/2014/main" id="{F93121AB-3E96-4C7B-C0A0-F7366006410B}"/>
                </a:ext>
              </a:extLst>
            </p:cNvPr>
            <p:cNvSpPr/>
            <p:nvPr/>
          </p:nvSpPr>
          <p:spPr>
            <a:xfrm>
              <a:off x="10302622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Oval 59">
              <a:extLst>
                <a:ext uri="{FF2B5EF4-FFF2-40B4-BE49-F238E27FC236}">
                  <a16:creationId xmlns="" xmlns:a16="http://schemas.microsoft.com/office/drawing/2014/main" id="{4A46DC69-8112-7890-D65B-BA227AEC26FF}"/>
                </a:ext>
              </a:extLst>
            </p:cNvPr>
            <p:cNvSpPr/>
            <p:nvPr/>
          </p:nvSpPr>
          <p:spPr>
            <a:xfrm>
              <a:off x="10704566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60">
              <a:extLst>
                <a:ext uri="{FF2B5EF4-FFF2-40B4-BE49-F238E27FC236}">
                  <a16:creationId xmlns="" xmlns:a16="http://schemas.microsoft.com/office/drawing/2014/main" id="{36B8C64A-B43F-AEF3-8FD9-AF525A799E9C}"/>
                </a:ext>
              </a:extLst>
            </p:cNvPr>
            <p:cNvSpPr/>
            <p:nvPr/>
          </p:nvSpPr>
          <p:spPr>
            <a:xfrm>
              <a:off x="10727947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Oval 61">
              <a:extLst>
                <a:ext uri="{FF2B5EF4-FFF2-40B4-BE49-F238E27FC236}">
                  <a16:creationId xmlns="" xmlns:a16="http://schemas.microsoft.com/office/drawing/2014/main" id="{B74988DE-918E-946B-C74E-7EE0F18DA73C}"/>
                </a:ext>
              </a:extLst>
            </p:cNvPr>
            <p:cNvSpPr/>
            <p:nvPr/>
          </p:nvSpPr>
          <p:spPr>
            <a:xfrm>
              <a:off x="10954789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Oval 62">
              <a:extLst>
                <a:ext uri="{FF2B5EF4-FFF2-40B4-BE49-F238E27FC236}">
                  <a16:creationId xmlns="" xmlns:a16="http://schemas.microsoft.com/office/drawing/2014/main" id="{3BBCBCAF-1C6D-67E9-5A37-C65BFCB949F5}"/>
                </a:ext>
              </a:extLst>
            </p:cNvPr>
            <p:cNvSpPr/>
            <p:nvPr/>
          </p:nvSpPr>
          <p:spPr>
            <a:xfrm>
              <a:off x="10717895" y="22319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Oval 63">
              <a:extLst>
                <a:ext uri="{FF2B5EF4-FFF2-40B4-BE49-F238E27FC236}">
                  <a16:creationId xmlns="" xmlns:a16="http://schemas.microsoft.com/office/drawing/2014/main" id="{389E0290-6C37-86BF-D7F6-3C3D70AFDC7D}"/>
                </a:ext>
              </a:extLst>
            </p:cNvPr>
            <p:cNvSpPr/>
            <p:nvPr/>
          </p:nvSpPr>
          <p:spPr>
            <a:xfrm>
              <a:off x="10233441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Oval 64">
              <a:extLst>
                <a:ext uri="{FF2B5EF4-FFF2-40B4-BE49-F238E27FC236}">
                  <a16:creationId xmlns="" xmlns:a16="http://schemas.microsoft.com/office/drawing/2014/main" id="{D535C198-4195-86A4-9BF5-A9F6C34A8330}"/>
                </a:ext>
              </a:extLst>
            </p:cNvPr>
            <p:cNvSpPr/>
            <p:nvPr/>
          </p:nvSpPr>
          <p:spPr>
            <a:xfrm>
              <a:off x="10797774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Oval 65">
              <a:extLst>
                <a:ext uri="{FF2B5EF4-FFF2-40B4-BE49-F238E27FC236}">
                  <a16:creationId xmlns="" xmlns:a16="http://schemas.microsoft.com/office/drawing/2014/main" id="{537C7751-3C73-12CA-E37A-9EDC1ECADCF6}"/>
                </a:ext>
              </a:extLst>
            </p:cNvPr>
            <p:cNvSpPr/>
            <p:nvPr/>
          </p:nvSpPr>
          <p:spPr>
            <a:xfrm>
              <a:off x="10558137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Oval 66">
              <a:extLst>
                <a:ext uri="{FF2B5EF4-FFF2-40B4-BE49-F238E27FC236}">
                  <a16:creationId xmlns="" xmlns:a16="http://schemas.microsoft.com/office/drawing/2014/main" id="{DB34B1B3-6E55-71B6-E580-4C356935E253}"/>
                </a:ext>
              </a:extLst>
            </p:cNvPr>
            <p:cNvSpPr/>
            <p:nvPr/>
          </p:nvSpPr>
          <p:spPr>
            <a:xfrm>
              <a:off x="10948131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Oval 67">
              <a:extLst>
                <a:ext uri="{FF2B5EF4-FFF2-40B4-BE49-F238E27FC236}">
                  <a16:creationId xmlns="" xmlns:a16="http://schemas.microsoft.com/office/drawing/2014/main" id="{3DFE5CE7-19B7-8FAA-31BD-24E698D127FF}"/>
                </a:ext>
              </a:extLst>
            </p:cNvPr>
            <p:cNvSpPr/>
            <p:nvPr/>
          </p:nvSpPr>
          <p:spPr>
            <a:xfrm>
              <a:off x="11196805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Oval 68">
              <a:extLst>
                <a:ext uri="{FF2B5EF4-FFF2-40B4-BE49-F238E27FC236}">
                  <a16:creationId xmlns="" xmlns:a16="http://schemas.microsoft.com/office/drawing/2014/main" id="{1A643A25-5F1E-275A-CB13-6A6CBC92A001}"/>
                </a:ext>
              </a:extLst>
            </p:cNvPr>
            <p:cNvSpPr/>
            <p:nvPr/>
          </p:nvSpPr>
          <p:spPr>
            <a:xfrm>
              <a:off x="11396321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Oval 69">
              <a:extLst>
                <a:ext uri="{FF2B5EF4-FFF2-40B4-BE49-F238E27FC236}">
                  <a16:creationId xmlns="" xmlns:a16="http://schemas.microsoft.com/office/drawing/2014/main" id="{C0416F76-8277-57B0-E040-C19C523F65FE}"/>
                </a:ext>
              </a:extLst>
            </p:cNvPr>
            <p:cNvSpPr/>
            <p:nvPr/>
          </p:nvSpPr>
          <p:spPr>
            <a:xfrm>
              <a:off x="10562838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Oval 70">
              <a:extLst>
                <a:ext uri="{FF2B5EF4-FFF2-40B4-BE49-F238E27FC236}">
                  <a16:creationId xmlns="" xmlns:a16="http://schemas.microsoft.com/office/drawing/2014/main" id="{7C84899F-2320-A837-FEAC-8F52DD9FAB36}"/>
                </a:ext>
              </a:extLst>
            </p:cNvPr>
            <p:cNvSpPr/>
            <p:nvPr/>
          </p:nvSpPr>
          <p:spPr>
            <a:xfrm>
              <a:off x="11505344" y="237306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Oval 71">
              <a:extLst>
                <a:ext uri="{FF2B5EF4-FFF2-40B4-BE49-F238E27FC236}">
                  <a16:creationId xmlns="" xmlns:a16="http://schemas.microsoft.com/office/drawing/2014/main" id="{F32CECB7-0441-EB09-8AC9-3C163719DBF8}"/>
                </a:ext>
              </a:extLst>
            </p:cNvPr>
            <p:cNvSpPr/>
            <p:nvPr/>
          </p:nvSpPr>
          <p:spPr>
            <a:xfrm>
              <a:off x="11165137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Oval 72">
              <a:extLst>
                <a:ext uri="{FF2B5EF4-FFF2-40B4-BE49-F238E27FC236}">
                  <a16:creationId xmlns="" xmlns:a16="http://schemas.microsoft.com/office/drawing/2014/main" id="{7EF0AB90-663B-4A37-FDD8-BB80E88319AF}"/>
                </a:ext>
              </a:extLst>
            </p:cNvPr>
            <p:cNvSpPr/>
            <p:nvPr/>
          </p:nvSpPr>
          <p:spPr>
            <a:xfrm>
              <a:off x="10989996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Oval 73">
              <a:extLst>
                <a:ext uri="{FF2B5EF4-FFF2-40B4-BE49-F238E27FC236}">
                  <a16:creationId xmlns="" xmlns:a16="http://schemas.microsoft.com/office/drawing/2014/main" id="{9D85D20C-303D-4221-EE0D-41D6B72BFEF8}"/>
                </a:ext>
              </a:extLst>
            </p:cNvPr>
            <p:cNvSpPr/>
            <p:nvPr/>
          </p:nvSpPr>
          <p:spPr>
            <a:xfrm>
              <a:off x="10967394" y="252768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Oval 74">
              <a:extLst>
                <a:ext uri="{FF2B5EF4-FFF2-40B4-BE49-F238E27FC236}">
                  <a16:creationId xmlns="" xmlns:a16="http://schemas.microsoft.com/office/drawing/2014/main" id="{2CCFC6DF-F3A6-AEE6-C2C1-5CD54E1BC872}"/>
                </a:ext>
              </a:extLst>
            </p:cNvPr>
            <p:cNvSpPr/>
            <p:nvPr/>
          </p:nvSpPr>
          <p:spPr>
            <a:xfrm>
              <a:off x="11196805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Multiply 75">
              <a:extLst>
                <a:ext uri="{FF2B5EF4-FFF2-40B4-BE49-F238E27FC236}">
                  <a16:creationId xmlns="" xmlns:a16="http://schemas.microsoft.com/office/drawing/2014/main" id="{013EE84D-BE30-53F5-7D24-58A127BDFB67}"/>
                </a:ext>
              </a:extLst>
            </p:cNvPr>
            <p:cNvSpPr/>
            <p:nvPr/>
          </p:nvSpPr>
          <p:spPr>
            <a:xfrm>
              <a:off x="10888371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Multiply 76">
              <a:extLst>
                <a:ext uri="{FF2B5EF4-FFF2-40B4-BE49-F238E27FC236}">
                  <a16:creationId xmlns="" xmlns:a16="http://schemas.microsoft.com/office/drawing/2014/main" id="{16253B35-6000-3165-CC97-2C5695DC707E}"/>
                </a:ext>
              </a:extLst>
            </p:cNvPr>
            <p:cNvSpPr/>
            <p:nvPr/>
          </p:nvSpPr>
          <p:spPr>
            <a:xfrm>
              <a:off x="10099826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Multiply 77">
              <a:extLst>
                <a:ext uri="{FF2B5EF4-FFF2-40B4-BE49-F238E27FC236}">
                  <a16:creationId xmlns="" xmlns:a16="http://schemas.microsoft.com/office/drawing/2014/main" id="{AB3C5468-2303-A8E9-77E5-B694CED428CD}"/>
                </a:ext>
              </a:extLst>
            </p:cNvPr>
            <p:cNvSpPr/>
            <p:nvPr/>
          </p:nvSpPr>
          <p:spPr>
            <a:xfrm>
              <a:off x="9971860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Multiply 78">
              <a:extLst>
                <a:ext uri="{FF2B5EF4-FFF2-40B4-BE49-F238E27FC236}">
                  <a16:creationId xmlns="" xmlns:a16="http://schemas.microsoft.com/office/drawing/2014/main" id="{55EF7B01-BE33-EAC8-7681-BE6B59C74A73}"/>
                </a:ext>
              </a:extLst>
            </p:cNvPr>
            <p:cNvSpPr/>
            <p:nvPr/>
          </p:nvSpPr>
          <p:spPr>
            <a:xfrm>
              <a:off x="9776215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Multiply 79">
              <a:extLst>
                <a:ext uri="{FF2B5EF4-FFF2-40B4-BE49-F238E27FC236}">
                  <a16:creationId xmlns="" xmlns:a16="http://schemas.microsoft.com/office/drawing/2014/main" id="{1110B2D1-9106-F4A3-7E9A-34E2F248B960}"/>
                </a:ext>
              </a:extLst>
            </p:cNvPr>
            <p:cNvSpPr/>
            <p:nvPr/>
          </p:nvSpPr>
          <p:spPr>
            <a:xfrm>
              <a:off x="9753015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Multiply 80">
              <a:extLst>
                <a:ext uri="{FF2B5EF4-FFF2-40B4-BE49-F238E27FC236}">
                  <a16:creationId xmlns="" xmlns:a16="http://schemas.microsoft.com/office/drawing/2014/main" id="{DD301770-2322-F6BE-DE66-9DE851362B9C}"/>
                </a:ext>
              </a:extLst>
            </p:cNvPr>
            <p:cNvSpPr/>
            <p:nvPr/>
          </p:nvSpPr>
          <p:spPr>
            <a:xfrm>
              <a:off x="11407201" y="21565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Multiply 81">
              <a:extLst>
                <a:ext uri="{FF2B5EF4-FFF2-40B4-BE49-F238E27FC236}">
                  <a16:creationId xmlns="" xmlns:a16="http://schemas.microsoft.com/office/drawing/2014/main" id="{7374FE26-AFB2-A4DF-C9D1-5CA2F10641E9}"/>
                </a:ext>
              </a:extLst>
            </p:cNvPr>
            <p:cNvSpPr/>
            <p:nvPr/>
          </p:nvSpPr>
          <p:spPr>
            <a:xfrm>
              <a:off x="9842247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Oval 82">
              <a:extLst>
                <a:ext uri="{FF2B5EF4-FFF2-40B4-BE49-F238E27FC236}">
                  <a16:creationId xmlns="" xmlns:a16="http://schemas.microsoft.com/office/drawing/2014/main" id="{17B4E597-92BA-2AFD-C069-2FF24DAFF969}"/>
                </a:ext>
              </a:extLst>
            </p:cNvPr>
            <p:cNvSpPr/>
            <p:nvPr/>
          </p:nvSpPr>
          <p:spPr>
            <a:xfrm>
              <a:off x="11172165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Oval 83">
              <a:extLst>
                <a:ext uri="{FF2B5EF4-FFF2-40B4-BE49-F238E27FC236}">
                  <a16:creationId xmlns="" xmlns:a16="http://schemas.microsoft.com/office/drawing/2014/main" id="{5872DCA0-4C1E-3643-F3A9-D4C092D4F92F}"/>
                </a:ext>
              </a:extLst>
            </p:cNvPr>
            <p:cNvSpPr/>
            <p:nvPr/>
          </p:nvSpPr>
          <p:spPr>
            <a:xfrm>
              <a:off x="11298715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Oval 84">
              <a:extLst>
                <a:ext uri="{FF2B5EF4-FFF2-40B4-BE49-F238E27FC236}">
                  <a16:creationId xmlns="" xmlns:a16="http://schemas.microsoft.com/office/drawing/2014/main" id="{D9C9E530-CF36-2AE3-043A-EC182A9BE775}"/>
                </a:ext>
              </a:extLst>
            </p:cNvPr>
            <p:cNvSpPr/>
            <p:nvPr/>
          </p:nvSpPr>
          <p:spPr>
            <a:xfrm>
              <a:off x="11380278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Multiply 85">
              <a:extLst>
                <a:ext uri="{FF2B5EF4-FFF2-40B4-BE49-F238E27FC236}">
                  <a16:creationId xmlns="" xmlns:a16="http://schemas.microsoft.com/office/drawing/2014/main" id="{B54ED1FC-F5DE-D600-FCDF-1ADCF29D45E7}"/>
                </a:ext>
              </a:extLst>
            </p:cNvPr>
            <p:cNvSpPr/>
            <p:nvPr/>
          </p:nvSpPr>
          <p:spPr>
            <a:xfrm>
              <a:off x="9966628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Multiply 86">
              <a:extLst>
                <a:ext uri="{FF2B5EF4-FFF2-40B4-BE49-F238E27FC236}">
                  <a16:creationId xmlns="" xmlns:a16="http://schemas.microsoft.com/office/drawing/2014/main" id="{AEEDFEB7-CF7C-4951-7072-A4E2FE403B4A}"/>
                </a:ext>
              </a:extLst>
            </p:cNvPr>
            <p:cNvSpPr/>
            <p:nvPr/>
          </p:nvSpPr>
          <p:spPr>
            <a:xfrm>
              <a:off x="10212299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Multiply 87">
              <a:extLst>
                <a:ext uri="{FF2B5EF4-FFF2-40B4-BE49-F238E27FC236}">
                  <a16:creationId xmlns="" xmlns:a16="http://schemas.microsoft.com/office/drawing/2014/main" id="{38017610-9326-8829-14D6-1B23F2706CDD}"/>
                </a:ext>
              </a:extLst>
            </p:cNvPr>
            <p:cNvSpPr/>
            <p:nvPr/>
          </p:nvSpPr>
          <p:spPr>
            <a:xfrm>
              <a:off x="10637603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Multiply 88">
              <a:extLst>
                <a:ext uri="{FF2B5EF4-FFF2-40B4-BE49-F238E27FC236}">
                  <a16:creationId xmlns="" xmlns:a16="http://schemas.microsoft.com/office/drawing/2014/main" id="{FFAB20C3-59C4-8273-14C1-C4FCDD73DC04}"/>
                </a:ext>
              </a:extLst>
            </p:cNvPr>
            <p:cNvSpPr/>
            <p:nvPr/>
          </p:nvSpPr>
          <p:spPr>
            <a:xfrm>
              <a:off x="10395616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Multiply 89">
              <a:extLst>
                <a:ext uri="{FF2B5EF4-FFF2-40B4-BE49-F238E27FC236}">
                  <a16:creationId xmlns="" xmlns:a16="http://schemas.microsoft.com/office/drawing/2014/main" id="{47C9C92D-7665-03C1-F146-51BC3AA25634}"/>
                </a:ext>
              </a:extLst>
            </p:cNvPr>
            <p:cNvSpPr/>
            <p:nvPr/>
          </p:nvSpPr>
          <p:spPr>
            <a:xfrm>
              <a:off x="9887310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Multiply 90">
              <a:extLst>
                <a:ext uri="{FF2B5EF4-FFF2-40B4-BE49-F238E27FC236}">
                  <a16:creationId xmlns="" xmlns:a16="http://schemas.microsoft.com/office/drawing/2014/main" id="{18559765-9AC9-B7DA-08A1-120BB059E5D0}"/>
                </a:ext>
              </a:extLst>
            </p:cNvPr>
            <p:cNvSpPr/>
            <p:nvPr/>
          </p:nvSpPr>
          <p:spPr>
            <a:xfrm>
              <a:off x="11025217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Multiply 91">
              <a:extLst>
                <a:ext uri="{FF2B5EF4-FFF2-40B4-BE49-F238E27FC236}">
                  <a16:creationId xmlns="" xmlns:a16="http://schemas.microsoft.com/office/drawing/2014/main" id="{E6EB7F2E-1EC5-56CD-AEA8-0D8712EAE5F7}"/>
                </a:ext>
              </a:extLst>
            </p:cNvPr>
            <p:cNvSpPr/>
            <p:nvPr/>
          </p:nvSpPr>
          <p:spPr>
            <a:xfrm>
              <a:off x="11364804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Multiply 92">
              <a:extLst>
                <a:ext uri="{FF2B5EF4-FFF2-40B4-BE49-F238E27FC236}">
                  <a16:creationId xmlns="" xmlns:a16="http://schemas.microsoft.com/office/drawing/2014/main" id="{D53D50BB-56E7-1913-AF5B-45D781C0862A}"/>
                </a:ext>
              </a:extLst>
            </p:cNvPr>
            <p:cNvSpPr/>
            <p:nvPr/>
          </p:nvSpPr>
          <p:spPr>
            <a:xfrm>
              <a:off x="10022783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Multiply 93">
              <a:extLst>
                <a:ext uri="{FF2B5EF4-FFF2-40B4-BE49-F238E27FC236}">
                  <a16:creationId xmlns="" xmlns:a16="http://schemas.microsoft.com/office/drawing/2014/main" id="{D9D948A2-7FCE-B2BE-30C2-804E37360574}"/>
                </a:ext>
              </a:extLst>
            </p:cNvPr>
            <p:cNvSpPr/>
            <p:nvPr/>
          </p:nvSpPr>
          <p:spPr>
            <a:xfrm>
              <a:off x="10384819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Multiply 94">
              <a:extLst>
                <a:ext uri="{FF2B5EF4-FFF2-40B4-BE49-F238E27FC236}">
                  <a16:creationId xmlns="" xmlns:a16="http://schemas.microsoft.com/office/drawing/2014/main" id="{34EE58C7-425A-3119-6C53-3459D32F01E5}"/>
                </a:ext>
              </a:extLst>
            </p:cNvPr>
            <p:cNvSpPr/>
            <p:nvPr/>
          </p:nvSpPr>
          <p:spPr>
            <a:xfrm>
              <a:off x="9729684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Multiply 95">
              <a:extLst>
                <a:ext uri="{FF2B5EF4-FFF2-40B4-BE49-F238E27FC236}">
                  <a16:creationId xmlns="" xmlns:a16="http://schemas.microsoft.com/office/drawing/2014/main" id="{023E38CA-510B-2171-3DCE-8AE48A567302}"/>
                </a:ext>
              </a:extLst>
            </p:cNvPr>
            <p:cNvSpPr/>
            <p:nvPr/>
          </p:nvSpPr>
          <p:spPr>
            <a:xfrm>
              <a:off x="10759899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0" name="Straight Connector 96">
              <a:extLst>
                <a:ext uri="{FF2B5EF4-FFF2-40B4-BE49-F238E27FC236}">
                  <a16:creationId xmlns="" xmlns:a16="http://schemas.microsoft.com/office/drawing/2014/main" id="{71D7C514-BBC0-3FD5-B491-697DD5A4DC45}"/>
                </a:ext>
              </a:extLst>
            </p:cNvPr>
            <p:cNvCxnSpPr/>
            <p:nvPr/>
          </p:nvCxnSpPr>
          <p:spPr>
            <a:xfrm>
              <a:off x="9710234" y="1706871"/>
              <a:ext cx="1903794" cy="145230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97">
            <a:extLst>
              <a:ext uri="{FF2B5EF4-FFF2-40B4-BE49-F238E27FC236}">
                <a16:creationId xmlns="" xmlns:a16="http://schemas.microsoft.com/office/drawing/2014/main" id="{4428BBD2-C403-E0F2-42F0-FB45BB9BA997}"/>
              </a:ext>
            </a:extLst>
          </p:cNvPr>
          <p:cNvGrpSpPr/>
          <p:nvPr/>
        </p:nvGrpSpPr>
        <p:grpSpPr>
          <a:xfrm>
            <a:off x="4968566" y="4648593"/>
            <a:ext cx="2614572" cy="2075388"/>
            <a:chOff x="15842602" y="1171075"/>
            <a:chExt cx="2796787" cy="2125957"/>
          </a:xfrm>
        </p:grpSpPr>
        <p:cxnSp>
          <p:nvCxnSpPr>
            <p:cNvPr id="52" name="Straight Connector 98">
              <a:extLst>
                <a:ext uri="{FF2B5EF4-FFF2-40B4-BE49-F238E27FC236}">
                  <a16:creationId xmlns="" xmlns:a16="http://schemas.microsoft.com/office/drawing/2014/main" id="{076CFCE5-FE63-5677-E86E-73EC5285FD40}"/>
                </a:ext>
              </a:extLst>
            </p:cNvPr>
            <p:cNvCxnSpPr/>
            <p:nvPr/>
          </p:nvCxnSpPr>
          <p:spPr>
            <a:xfrm>
              <a:off x="16005710" y="1351116"/>
              <a:ext cx="0" cy="1945916"/>
            </a:xfrm>
            <a:prstGeom prst="line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9">
              <a:extLst>
                <a:ext uri="{FF2B5EF4-FFF2-40B4-BE49-F238E27FC236}">
                  <a16:creationId xmlns="" xmlns:a16="http://schemas.microsoft.com/office/drawing/2014/main" id="{2BCC2FA1-41AE-B5C3-FD4B-D4CDE7932F9D}"/>
                </a:ext>
              </a:extLst>
            </p:cNvPr>
            <p:cNvCxnSpPr/>
            <p:nvPr/>
          </p:nvCxnSpPr>
          <p:spPr>
            <a:xfrm rot="16200000">
              <a:off x="17079282" y="1922497"/>
              <a:ext cx="0" cy="247336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100">
                  <a:extLst>
                    <a:ext uri="{FF2B5EF4-FFF2-40B4-BE49-F238E27FC236}">
                      <a16:creationId xmlns="" xmlns:a16="http://schemas.microsoft.com/office/drawing/2014/main" id="{8CC8656C-56D6-CE67-FBE4-C5915D7D9407}"/>
                    </a:ext>
                  </a:extLst>
                </p:cNvPr>
                <p:cNvSpPr txBox="1"/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5710" y="1171075"/>
                  <a:ext cx="380827" cy="25789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101">
                  <a:extLst>
                    <a:ext uri="{FF2B5EF4-FFF2-40B4-BE49-F238E27FC236}">
                      <a16:creationId xmlns="" xmlns:a16="http://schemas.microsoft.com/office/drawing/2014/main" id="{D9819669-1BF1-C232-6D45-A09CB263B947}"/>
                    </a:ext>
                  </a:extLst>
                </p:cNvPr>
                <p:cNvSpPr txBox="1"/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8562" y="3030229"/>
                  <a:ext cx="380827" cy="25789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Oval 102">
              <a:extLst>
                <a:ext uri="{FF2B5EF4-FFF2-40B4-BE49-F238E27FC236}">
                  <a16:creationId xmlns="" xmlns:a16="http://schemas.microsoft.com/office/drawing/2014/main" id="{65A7F45A-7658-DFC2-FBF6-1B5CB0AFB028}"/>
                </a:ext>
              </a:extLst>
            </p:cNvPr>
            <p:cNvSpPr/>
            <p:nvPr/>
          </p:nvSpPr>
          <p:spPr>
            <a:xfrm>
              <a:off x="16723277" y="191564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Oval 103">
              <a:extLst>
                <a:ext uri="{FF2B5EF4-FFF2-40B4-BE49-F238E27FC236}">
                  <a16:creationId xmlns="" xmlns:a16="http://schemas.microsoft.com/office/drawing/2014/main" id="{DCEC7F87-D760-9313-00D0-5B665C02F50A}"/>
                </a:ext>
              </a:extLst>
            </p:cNvPr>
            <p:cNvSpPr/>
            <p:nvPr/>
          </p:nvSpPr>
          <p:spPr>
            <a:xfrm>
              <a:off x="16731625" y="212621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Oval 104">
              <a:extLst>
                <a:ext uri="{FF2B5EF4-FFF2-40B4-BE49-F238E27FC236}">
                  <a16:creationId xmlns="" xmlns:a16="http://schemas.microsoft.com/office/drawing/2014/main" id="{F75AFDF8-69D0-7351-D0D2-AEA12369AC2E}"/>
                </a:ext>
              </a:extLst>
            </p:cNvPr>
            <p:cNvSpPr/>
            <p:nvPr/>
          </p:nvSpPr>
          <p:spPr>
            <a:xfrm>
              <a:off x="16465263" y="20544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Oval 105">
              <a:extLst>
                <a:ext uri="{FF2B5EF4-FFF2-40B4-BE49-F238E27FC236}">
                  <a16:creationId xmlns="" xmlns:a16="http://schemas.microsoft.com/office/drawing/2014/main" id="{ADEF85EF-FD15-3FE3-CDE0-2DCBE374B61E}"/>
                </a:ext>
              </a:extLst>
            </p:cNvPr>
            <p:cNvSpPr/>
            <p:nvPr/>
          </p:nvSpPr>
          <p:spPr>
            <a:xfrm>
              <a:off x="16584131" y="22911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106">
              <a:extLst>
                <a:ext uri="{FF2B5EF4-FFF2-40B4-BE49-F238E27FC236}">
                  <a16:creationId xmlns="" xmlns:a16="http://schemas.microsoft.com/office/drawing/2014/main" id="{DC65D5A1-E7CE-5E1A-173B-0C5B0D5914C3}"/>
                </a:ext>
              </a:extLst>
            </p:cNvPr>
            <p:cNvSpPr/>
            <p:nvPr/>
          </p:nvSpPr>
          <p:spPr>
            <a:xfrm>
              <a:off x="16986074" y="2031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Oval 107">
              <a:extLst>
                <a:ext uri="{FF2B5EF4-FFF2-40B4-BE49-F238E27FC236}">
                  <a16:creationId xmlns="" xmlns:a16="http://schemas.microsoft.com/office/drawing/2014/main" id="{A1B536C6-CD1F-55EC-2675-03770F9D35DC}"/>
                </a:ext>
              </a:extLst>
            </p:cNvPr>
            <p:cNvSpPr/>
            <p:nvPr/>
          </p:nvSpPr>
          <p:spPr>
            <a:xfrm>
              <a:off x="17009456" y="183166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Oval 108">
              <a:extLst>
                <a:ext uri="{FF2B5EF4-FFF2-40B4-BE49-F238E27FC236}">
                  <a16:creationId xmlns="" xmlns:a16="http://schemas.microsoft.com/office/drawing/2014/main" id="{EA2ABC7F-B984-A935-BB00-6F08C9EFD138}"/>
                </a:ext>
              </a:extLst>
            </p:cNvPr>
            <p:cNvSpPr/>
            <p:nvPr/>
          </p:nvSpPr>
          <p:spPr>
            <a:xfrm>
              <a:off x="17236297" y="195588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Oval 109">
              <a:extLst>
                <a:ext uri="{FF2B5EF4-FFF2-40B4-BE49-F238E27FC236}">
                  <a16:creationId xmlns="" xmlns:a16="http://schemas.microsoft.com/office/drawing/2014/main" id="{7712E67F-A332-285F-F28A-FAFB7A170895}"/>
                </a:ext>
              </a:extLst>
            </p:cNvPr>
            <p:cNvSpPr/>
            <p:nvPr/>
          </p:nvSpPr>
          <p:spPr>
            <a:xfrm>
              <a:off x="16976321" y="2218662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Oval 110">
              <a:extLst>
                <a:ext uri="{FF2B5EF4-FFF2-40B4-BE49-F238E27FC236}">
                  <a16:creationId xmlns="" xmlns:a16="http://schemas.microsoft.com/office/drawing/2014/main" id="{2AFCCE17-69B6-008F-55DF-7A5FA320728A}"/>
                </a:ext>
              </a:extLst>
            </p:cNvPr>
            <p:cNvSpPr/>
            <p:nvPr/>
          </p:nvSpPr>
          <p:spPr>
            <a:xfrm>
              <a:off x="16514950" y="184010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Oval 111">
              <a:extLst>
                <a:ext uri="{FF2B5EF4-FFF2-40B4-BE49-F238E27FC236}">
                  <a16:creationId xmlns="" xmlns:a16="http://schemas.microsoft.com/office/drawing/2014/main" id="{0C0C7EAB-D7E7-560F-3A01-EE748922BC26}"/>
                </a:ext>
              </a:extLst>
            </p:cNvPr>
            <p:cNvSpPr/>
            <p:nvPr/>
          </p:nvSpPr>
          <p:spPr>
            <a:xfrm>
              <a:off x="17079282" y="16372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Oval 112">
              <a:extLst>
                <a:ext uri="{FF2B5EF4-FFF2-40B4-BE49-F238E27FC236}">
                  <a16:creationId xmlns="" xmlns:a16="http://schemas.microsoft.com/office/drawing/2014/main" id="{2A0C1295-F74A-E7E9-25E1-52207755007F}"/>
                </a:ext>
              </a:extLst>
            </p:cNvPr>
            <p:cNvSpPr/>
            <p:nvPr/>
          </p:nvSpPr>
          <p:spPr>
            <a:xfrm>
              <a:off x="16839645" y="2431458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Oval 113">
              <a:extLst>
                <a:ext uri="{FF2B5EF4-FFF2-40B4-BE49-F238E27FC236}">
                  <a16:creationId xmlns="" xmlns:a16="http://schemas.microsoft.com/office/drawing/2014/main" id="{6B5DAE17-226C-F3EC-7D47-E6C6B7813201}"/>
                </a:ext>
              </a:extLst>
            </p:cNvPr>
            <p:cNvSpPr/>
            <p:nvPr/>
          </p:nvSpPr>
          <p:spPr>
            <a:xfrm>
              <a:off x="17229640" y="214175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Oval 114">
              <a:extLst>
                <a:ext uri="{FF2B5EF4-FFF2-40B4-BE49-F238E27FC236}">
                  <a16:creationId xmlns="" xmlns:a16="http://schemas.microsoft.com/office/drawing/2014/main" id="{2A0C0819-E05D-C295-2019-17E52DF38EAF}"/>
                </a:ext>
              </a:extLst>
            </p:cNvPr>
            <p:cNvSpPr/>
            <p:nvPr/>
          </p:nvSpPr>
          <p:spPr>
            <a:xfrm>
              <a:off x="17478314" y="2190526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9" name="Oval 115">
              <a:extLst>
                <a:ext uri="{FF2B5EF4-FFF2-40B4-BE49-F238E27FC236}">
                  <a16:creationId xmlns="" xmlns:a16="http://schemas.microsoft.com/office/drawing/2014/main" id="{A07EBBE7-FAF1-2DCF-3EB9-7F352A08F74B}"/>
                </a:ext>
              </a:extLst>
            </p:cNvPr>
            <p:cNvSpPr/>
            <p:nvPr/>
          </p:nvSpPr>
          <p:spPr>
            <a:xfrm>
              <a:off x="17677830" y="1803595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Oval 116">
              <a:extLst>
                <a:ext uri="{FF2B5EF4-FFF2-40B4-BE49-F238E27FC236}">
                  <a16:creationId xmlns="" xmlns:a16="http://schemas.microsoft.com/office/drawing/2014/main" id="{959D43FE-6F7F-939D-F368-C48F5513A276}"/>
                </a:ext>
              </a:extLst>
            </p:cNvPr>
            <p:cNvSpPr/>
            <p:nvPr/>
          </p:nvSpPr>
          <p:spPr>
            <a:xfrm>
              <a:off x="16844346" y="16889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Oval 117">
              <a:extLst>
                <a:ext uri="{FF2B5EF4-FFF2-40B4-BE49-F238E27FC236}">
                  <a16:creationId xmlns="" xmlns:a16="http://schemas.microsoft.com/office/drawing/2014/main" id="{BEC16CD4-C8DD-E2D4-5B52-6F4260B5F886}"/>
                </a:ext>
              </a:extLst>
            </p:cNvPr>
            <p:cNvSpPr/>
            <p:nvPr/>
          </p:nvSpPr>
          <p:spPr>
            <a:xfrm>
              <a:off x="17792855" y="2385644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Oval 118">
              <a:extLst>
                <a:ext uri="{FF2B5EF4-FFF2-40B4-BE49-F238E27FC236}">
                  <a16:creationId xmlns="" xmlns:a16="http://schemas.microsoft.com/office/drawing/2014/main" id="{A8B3838F-A335-6F61-7750-EFC4F4B9E0F2}"/>
                </a:ext>
              </a:extLst>
            </p:cNvPr>
            <p:cNvSpPr/>
            <p:nvPr/>
          </p:nvSpPr>
          <p:spPr>
            <a:xfrm>
              <a:off x="17446645" y="23927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3" name="Oval 119">
              <a:extLst>
                <a:ext uri="{FF2B5EF4-FFF2-40B4-BE49-F238E27FC236}">
                  <a16:creationId xmlns="" xmlns:a16="http://schemas.microsoft.com/office/drawing/2014/main" id="{8B56B4DB-1022-C26F-6761-105079E1C502}"/>
                </a:ext>
              </a:extLst>
            </p:cNvPr>
            <p:cNvSpPr/>
            <p:nvPr/>
          </p:nvSpPr>
          <p:spPr>
            <a:xfrm>
              <a:off x="17271504" y="1737997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Oval 120">
              <a:extLst>
                <a:ext uri="{FF2B5EF4-FFF2-40B4-BE49-F238E27FC236}">
                  <a16:creationId xmlns="" xmlns:a16="http://schemas.microsoft.com/office/drawing/2014/main" id="{206912F4-DD08-FD0A-9FC3-8B7EF1142AD1}"/>
                </a:ext>
              </a:extLst>
            </p:cNvPr>
            <p:cNvSpPr/>
            <p:nvPr/>
          </p:nvSpPr>
          <p:spPr>
            <a:xfrm>
              <a:off x="17261076" y="254954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Oval 121">
              <a:extLst>
                <a:ext uri="{FF2B5EF4-FFF2-40B4-BE49-F238E27FC236}">
                  <a16:creationId xmlns="" xmlns:a16="http://schemas.microsoft.com/office/drawing/2014/main" id="{9A38CB3C-0491-8038-F8B5-B9C614B0F1A2}"/>
                </a:ext>
              </a:extLst>
            </p:cNvPr>
            <p:cNvSpPr/>
            <p:nvPr/>
          </p:nvSpPr>
          <p:spPr>
            <a:xfrm>
              <a:off x="17478314" y="1920633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Multiply 122">
              <a:extLst>
                <a:ext uri="{FF2B5EF4-FFF2-40B4-BE49-F238E27FC236}">
                  <a16:creationId xmlns="" xmlns:a16="http://schemas.microsoft.com/office/drawing/2014/main" id="{3D8F8A2B-04E1-3188-7E56-CB4A578B3CCC}"/>
                </a:ext>
              </a:extLst>
            </p:cNvPr>
            <p:cNvSpPr/>
            <p:nvPr/>
          </p:nvSpPr>
          <p:spPr>
            <a:xfrm>
              <a:off x="17169879" y="23047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Multiply 123">
              <a:extLst>
                <a:ext uri="{FF2B5EF4-FFF2-40B4-BE49-F238E27FC236}">
                  <a16:creationId xmlns="" xmlns:a16="http://schemas.microsoft.com/office/drawing/2014/main" id="{9AAE01B9-439C-C66E-DA1A-AF81C4BAD274}"/>
                </a:ext>
              </a:extLst>
            </p:cNvPr>
            <p:cNvSpPr/>
            <p:nvPr/>
          </p:nvSpPr>
          <p:spPr>
            <a:xfrm>
              <a:off x="16381334" y="143837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8" name="Multiply 124">
              <a:extLst>
                <a:ext uri="{FF2B5EF4-FFF2-40B4-BE49-F238E27FC236}">
                  <a16:creationId xmlns="" xmlns:a16="http://schemas.microsoft.com/office/drawing/2014/main" id="{5DEEF50E-80F2-7E51-F6E7-BF976D4BA971}"/>
                </a:ext>
              </a:extLst>
            </p:cNvPr>
            <p:cNvSpPr/>
            <p:nvPr/>
          </p:nvSpPr>
          <p:spPr>
            <a:xfrm>
              <a:off x="16253368" y="1686810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Multiply 125">
              <a:extLst>
                <a:ext uri="{FF2B5EF4-FFF2-40B4-BE49-F238E27FC236}">
                  <a16:creationId xmlns="" xmlns:a16="http://schemas.microsoft.com/office/drawing/2014/main" id="{C87EF8E7-A68A-7CBB-D357-D21A106B8D6B}"/>
                </a:ext>
              </a:extLst>
            </p:cNvPr>
            <p:cNvSpPr/>
            <p:nvPr/>
          </p:nvSpPr>
          <p:spPr>
            <a:xfrm>
              <a:off x="16057723" y="15429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Multiply 126">
              <a:extLst>
                <a:ext uri="{FF2B5EF4-FFF2-40B4-BE49-F238E27FC236}">
                  <a16:creationId xmlns="" xmlns:a16="http://schemas.microsoft.com/office/drawing/2014/main" id="{45F55C5A-4F9D-F940-9AC8-F5E9AE1F934C}"/>
                </a:ext>
              </a:extLst>
            </p:cNvPr>
            <p:cNvSpPr/>
            <p:nvPr/>
          </p:nvSpPr>
          <p:spPr>
            <a:xfrm>
              <a:off x="16034523" y="1870611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Multiply 127">
              <a:extLst>
                <a:ext uri="{FF2B5EF4-FFF2-40B4-BE49-F238E27FC236}">
                  <a16:creationId xmlns="" xmlns:a16="http://schemas.microsoft.com/office/drawing/2014/main" id="{A28E2E3D-ED19-5C47-A62E-E5045C2E65A2}"/>
                </a:ext>
              </a:extLst>
            </p:cNvPr>
            <p:cNvSpPr/>
            <p:nvPr/>
          </p:nvSpPr>
          <p:spPr>
            <a:xfrm>
              <a:off x="17744928" y="2170446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Multiply 128">
              <a:extLst>
                <a:ext uri="{FF2B5EF4-FFF2-40B4-BE49-F238E27FC236}">
                  <a16:creationId xmlns="" xmlns:a16="http://schemas.microsoft.com/office/drawing/2014/main" id="{84B9A896-00DC-8D1A-CA3F-883FBA492FD5}"/>
                </a:ext>
              </a:extLst>
            </p:cNvPr>
            <p:cNvSpPr/>
            <p:nvPr/>
          </p:nvSpPr>
          <p:spPr>
            <a:xfrm>
              <a:off x="16123756" y="20885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3" name="Oval 129">
              <a:extLst>
                <a:ext uri="{FF2B5EF4-FFF2-40B4-BE49-F238E27FC236}">
                  <a16:creationId xmlns="" xmlns:a16="http://schemas.microsoft.com/office/drawing/2014/main" id="{AAD9F985-049D-999C-9D7E-326741A611B3}"/>
                </a:ext>
              </a:extLst>
            </p:cNvPr>
            <p:cNvSpPr/>
            <p:nvPr/>
          </p:nvSpPr>
          <p:spPr>
            <a:xfrm>
              <a:off x="17453674" y="170687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4" name="Oval 130">
              <a:extLst>
                <a:ext uri="{FF2B5EF4-FFF2-40B4-BE49-F238E27FC236}">
                  <a16:creationId xmlns="" xmlns:a16="http://schemas.microsoft.com/office/drawing/2014/main" id="{4FA26275-88AA-F9CE-3DFC-D451A353847B}"/>
                </a:ext>
              </a:extLst>
            </p:cNvPr>
            <p:cNvSpPr/>
            <p:nvPr/>
          </p:nvSpPr>
          <p:spPr>
            <a:xfrm>
              <a:off x="17614361" y="253586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Oval 131">
              <a:extLst>
                <a:ext uri="{FF2B5EF4-FFF2-40B4-BE49-F238E27FC236}">
                  <a16:creationId xmlns="" xmlns:a16="http://schemas.microsoft.com/office/drawing/2014/main" id="{67C7676F-9154-2FA2-EAB6-1B1DDA090F7D}"/>
                </a:ext>
              </a:extLst>
            </p:cNvPr>
            <p:cNvSpPr/>
            <p:nvPr/>
          </p:nvSpPr>
          <p:spPr>
            <a:xfrm>
              <a:off x="17661786" y="2017611"/>
              <a:ext cx="159758" cy="12569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Multiply 132">
              <a:extLst>
                <a:ext uri="{FF2B5EF4-FFF2-40B4-BE49-F238E27FC236}">
                  <a16:creationId xmlns="" xmlns:a16="http://schemas.microsoft.com/office/drawing/2014/main" id="{F8419B3D-AB8A-FF0F-FD8C-205ED3BA41A8}"/>
                </a:ext>
              </a:extLst>
            </p:cNvPr>
            <p:cNvSpPr/>
            <p:nvPr/>
          </p:nvSpPr>
          <p:spPr>
            <a:xfrm>
              <a:off x="16248136" y="2308612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7" name="Multiply 133">
              <a:extLst>
                <a:ext uri="{FF2B5EF4-FFF2-40B4-BE49-F238E27FC236}">
                  <a16:creationId xmlns="" xmlns:a16="http://schemas.microsoft.com/office/drawing/2014/main" id="{7D9FD03A-4B75-8C8C-8F60-FBA4730268F8}"/>
                </a:ext>
              </a:extLst>
            </p:cNvPr>
            <p:cNvSpPr/>
            <p:nvPr/>
          </p:nvSpPr>
          <p:spPr>
            <a:xfrm>
              <a:off x="16493808" y="251961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Multiply 134">
              <a:extLst>
                <a:ext uri="{FF2B5EF4-FFF2-40B4-BE49-F238E27FC236}">
                  <a16:creationId xmlns="" xmlns:a16="http://schemas.microsoft.com/office/drawing/2014/main" id="{2B4E5C27-029F-411C-7635-90BCF180B4CA}"/>
                </a:ext>
              </a:extLst>
            </p:cNvPr>
            <p:cNvSpPr/>
            <p:nvPr/>
          </p:nvSpPr>
          <p:spPr>
            <a:xfrm>
              <a:off x="16919111" y="2693328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Multiply 135">
              <a:extLst>
                <a:ext uri="{FF2B5EF4-FFF2-40B4-BE49-F238E27FC236}">
                  <a16:creationId xmlns="" xmlns:a16="http://schemas.microsoft.com/office/drawing/2014/main" id="{B515A2F7-D24F-B794-D2EB-91E0CDDB4585}"/>
                </a:ext>
              </a:extLst>
            </p:cNvPr>
            <p:cNvSpPr/>
            <p:nvPr/>
          </p:nvSpPr>
          <p:spPr>
            <a:xfrm>
              <a:off x="16677124" y="2672807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Multiply 136">
              <a:extLst>
                <a:ext uri="{FF2B5EF4-FFF2-40B4-BE49-F238E27FC236}">
                  <a16:creationId xmlns="" xmlns:a16="http://schemas.microsoft.com/office/drawing/2014/main" id="{E55D39F9-DD8F-C02A-A2AB-54405C3A336F}"/>
                </a:ext>
              </a:extLst>
            </p:cNvPr>
            <p:cNvSpPr/>
            <p:nvPr/>
          </p:nvSpPr>
          <p:spPr>
            <a:xfrm>
              <a:off x="16168819" y="249020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1" name="Multiply 137">
              <a:extLst>
                <a:ext uri="{FF2B5EF4-FFF2-40B4-BE49-F238E27FC236}">
                  <a16:creationId xmlns="" xmlns:a16="http://schemas.microsoft.com/office/drawing/2014/main" id="{A98EEECE-9D61-BEB4-5E1D-997E56E0032C}"/>
                </a:ext>
              </a:extLst>
            </p:cNvPr>
            <p:cNvSpPr/>
            <p:nvPr/>
          </p:nvSpPr>
          <p:spPr>
            <a:xfrm>
              <a:off x="17306726" y="274991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Multiply 138">
              <a:extLst>
                <a:ext uri="{FF2B5EF4-FFF2-40B4-BE49-F238E27FC236}">
                  <a16:creationId xmlns="" xmlns:a16="http://schemas.microsoft.com/office/drawing/2014/main" id="{D3BB0966-D8BF-DB3B-FEA7-2D042605FA71}"/>
                </a:ext>
              </a:extLst>
            </p:cNvPr>
            <p:cNvSpPr/>
            <p:nvPr/>
          </p:nvSpPr>
          <p:spPr>
            <a:xfrm>
              <a:off x="17646313" y="2721324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3" name="Multiply 139">
              <a:extLst>
                <a:ext uri="{FF2B5EF4-FFF2-40B4-BE49-F238E27FC236}">
                  <a16:creationId xmlns="" xmlns:a16="http://schemas.microsoft.com/office/drawing/2014/main" id="{8A3CDDA7-02C7-DE73-33CF-2102CBFB9A88}"/>
                </a:ext>
              </a:extLst>
            </p:cNvPr>
            <p:cNvSpPr/>
            <p:nvPr/>
          </p:nvSpPr>
          <p:spPr>
            <a:xfrm>
              <a:off x="16304291" y="275636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4" name="Multiply 140">
              <a:extLst>
                <a:ext uri="{FF2B5EF4-FFF2-40B4-BE49-F238E27FC236}">
                  <a16:creationId xmlns="" xmlns:a16="http://schemas.microsoft.com/office/drawing/2014/main" id="{0A9F92D7-71C3-A3EC-264A-43A9AF76600B}"/>
                </a:ext>
              </a:extLst>
            </p:cNvPr>
            <p:cNvSpPr/>
            <p:nvPr/>
          </p:nvSpPr>
          <p:spPr>
            <a:xfrm>
              <a:off x="16666327" y="2892653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5" name="Multiply 141">
              <a:extLst>
                <a:ext uri="{FF2B5EF4-FFF2-40B4-BE49-F238E27FC236}">
                  <a16:creationId xmlns="" xmlns:a16="http://schemas.microsoft.com/office/drawing/2014/main" id="{53B45C06-7FE8-82B1-8830-E10E5B3AA1A9}"/>
                </a:ext>
              </a:extLst>
            </p:cNvPr>
            <p:cNvSpPr/>
            <p:nvPr/>
          </p:nvSpPr>
          <p:spPr>
            <a:xfrm>
              <a:off x="16011193" y="2292189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6" name="Multiply 142">
              <a:extLst>
                <a:ext uri="{FF2B5EF4-FFF2-40B4-BE49-F238E27FC236}">
                  <a16:creationId xmlns="" xmlns:a16="http://schemas.microsoft.com/office/drawing/2014/main" id="{B5A3DE41-A5D4-6BD0-18BD-565185D9396A}"/>
                </a:ext>
              </a:extLst>
            </p:cNvPr>
            <p:cNvSpPr/>
            <p:nvPr/>
          </p:nvSpPr>
          <p:spPr>
            <a:xfrm>
              <a:off x="17041407" y="2873205"/>
              <a:ext cx="255613" cy="201104"/>
            </a:xfrm>
            <a:prstGeom prst="mathMultiply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7" name="Freeform 143">
              <a:extLst>
                <a:ext uri="{FF2B5EF4-FFF2-40B4-BE49-F238E27FC236}">
                  <a16:creationId xmlns="" xmlns:a16="http://schemas.microsoft.com/office/drawing/2014/main" id="{B32312AA-D54B-E475-1FF5-5290CFA85F61}"/>
                </a:ext>
              </a:extLst>
            </p:cNvPr>
            <p:cNvSpPr/>
            <p:nvPr/>
          </p:nvSpPr>
          <p:spPr>
            <a:xfrm>
              <a:off x="16413706" y="1401750"/>
              <a:ext cx="1998621" cy="1334650"/>
            </a:xfrm>
            <a:custGeom>
              <a:avLst/>
              <a:gdLst>
                <a:gd name="connsiteX0" fmla="*/ 626252 w 2251852"/>
                <a:gd name="connsiteY0" fmla="*/ 0 h 1911350"/>
                <a:gd name="connsiteX1" fmla="*/ 594502 w 2251852"/>
                <a:gd name="connsiteY1" fmla="*/ 31750 h 1911350"/>
                <a:gd name="connsiteX2" fmla="*/ 543702 w 2251852"/>
                <a:gd name="connsiteY2" fmla="*/ 69850 h 1911350"/>
                <a:gd name="connsiteX3" fmla="*/ 518302 w 2251852"/>
                <a:gd name="connsiteY3" fmla="*/ 88900 h 1911350"/>
                <a:gd name="connsiteX4" fmla="*/ 499252 w 2251852"/>
                <a:gd name="connsiteY4" fmla="*/ 107950 h 1911350"/>
                <a:gd name="connsiteX5" fmla="*/ 473852 w 2251852"/>
                <a:gd name="connsiteY5" fmla="*/ 127000 h 1911350"/>
                <a:gd name="connsiteX6" fmla="*/ 461152 w 2251852"/>
                <a:gd name="connsiteY6" fmla="*/ 146050 h 1911350"/>
                <a:gd name="connsiteX7" fmla="*/ 442102 w 2251852"/>
                <a:gd name="connsiteY7" fmla="*/ 165100 h 1911350"/>
                <a:gd name="connsiteX8" fmla="*/ 416702 w 2251852"/>
                <a:gd name="connsiteY8" fmla="*/ 196850 h 1911350"/>
                <a:gd name="connsiteX9" fmla="*/ 391302 w 2251852"/>
                <a:gd name="connsiteY9" fmla="*/ 234950 h 1911350"/>
                <a:gd name="connsiteX10" fmla="*/ 372252 w 2251852"/>
                <a:gd name="connsiteY10" fmla="*/ 254000 h 1911350"/>
                <a:gd name="connsiteX11" fmla="*/ 327802 w 2251852"/>
                <a:gd name="connsiteY11" fmla="*/ 311150 h 1911350"/>
                <a:gd name="connsiteX12" fmla="*/ 302402 w 2251852"/>
                <a:gd name="connsiteY12" fmla="*/ 349250 h 1911350"/>
                <a:gd name="connsiteX13" fmla="*/ 289702 w 2251852"/>
                <a:gd name="connsiteY13" fmla="*/ 374650 h 1911350"/>
                <a:gd name="connsiteX14" fmla="*/ 257952 w 2251852"/>
                <a:gd name="connsiteY14" fmla="*/ 412750 h 1911350"/>
                <a:gd name="connsiteX15" fmla="*/ 238902 w 2251852"/>
                <a:gd name="connsiteY15" fmla="*/ 450850 h 1911350"/>
                <a:gd name="connsiteX16" fmla="*/ 232552 w 2251852"/>
                <a:gd name="connsiteY16" fmla="*/ 469900 h 1911350"/>
                <a:gd name="connsiteX17" fmla="*/ 213502 w 2251852"/>
                <a:gd name="connsiteY17" fmla="*/ 482600 h 1911350"/>
                <a:gd name="connsiteX18" fmla="*/ 188102 w 2251852"/>
                <a:gd name="connsiteY18" fmla="*/ 514350 h 1911350"/>
                <a:gd name="connsiteX19" fmla="*/ 162702 w 2251852"/>
                <a:gd name="connsiteY19" fmla="*/ 552450 h 1911350"/>
                <a:gd name="connsiteX20" fmla="*/ 124602 w 2251852"/>
                <a:gd name="connsiteY20" fmla="*/ 584200 h 1911350"/>
                <a:gd name="connsiteX21" fmla="*/ 99202 w 2251852"/>
                <a:gd name="connsiteY21" fmla="*/ 622300 h 1911350"/>
                <a:gd name="connsiteX22" fmla="*/ 80152 w 2251852"/>
                <a:gd name="connsiteY22" fmla="*/ 660400 h 1911350"/>
                <a:gd name="connsiteX23" fmla="*/ 61102 w 2251852"/>
                <a:gd name="connsiteY23" fmla="*/ 673100 h 1911350"/>
                <a:gd name="connsiteX24" fmla="*/ 54752 w 2251852"/>
                <a:gd name="connsiteY24" fmla="*/ 692150 h 1911350"/>
                <a:gd name="connsiteX25" fmla="*/ 42052 w 2251852"/>
                <a:gd name="connsiteY25" fmla="*/ 711200 h 1911350"/>
                <a:gd name="connsiteX26" fmla="*/ 35702 w 2251852"/>
                <a:gd name="connsiteY26" fmla="*/ 755650 h 1911350"/>
                <a:gd name="connsiteX27" fmla="*/ 29352 w 2251852"/>
                <a:gd name="connsiteY27" fmla="*/ 774700 h 1911350"/>
                <a:gd name="connsiteX28" fmla="*/ 23002 w 2251852"/>
                <a:gd name="connsiteY28" fmla="*/ 800100 h 1911350"/>
                <a:gd name="connsiteX29" fmla="*/ 54752 w 2251852"/>
                <a:gd name="connsiteY29" fmla="*/ 1270000 h 1911350"/>
                <a:gd name="connsiteX30" fmla="*/ 54752 w 2251852"/>
                <a:gd name="connsiteY30" fmla="*/ 1270000 h 1911350"/>
                <a:gd name="connsiteX31" fmla="*/ 61102 w 2251852"/>
                <a:gd name="connsiteY31" fmla="*/ 1289050 h 1911350"/>
                <a:gd name="connsiteX32" fmla="*/ 99202 w 2251852"/>
                <a:gd name="connsiteY32" fmla="*/ 1320800 h 1911350"/>
                <a:gd name="connsiteX33" fmla="*/ 111902 w 2251852"/>
                <a:gd name="connsiteY33" fmla="*/ 1339850 h 1911350"/>
                <a:gd name="connsiteX34" fmla="*/ 143652 w 2251852"/>
                <a:gd name="connsiteY34" fmla="*/ 1371600 h 1911350"/>
                <a:gd name="connsiteX35" fmla="*/ 156352 w 2251852"/>
                <a:gd name="connsiteY35" fmla="*/ 1409700 h 1911350"/>
                <a:gd name="connsiteX36" fmla="*/ 169052 w 2251852"/>
                <a:gd name="connsiteY36" fmla="*/ 1428750 h 1911350"/>
                <a:gd name="connsiteX37" fmla="*/ 175402 w 2251852"/>
                <a:gd name="connsiteY37" fmla="*/ 1447800 h 1911350"/>
                <a:gd name="connsiteX38" fmla="*/ 194452 w 2251852"/>
                <a:gd name="connsiteY38" fmla="*/ 1466850 h 1911350"/>
                <a:gd name="connsiteX39" fmla="*/ 232552 w 2251852"/>
                <a:gd name="connsiteY39" fmla="*/ 1504950 h 1911350"/>
                <a:gd name="connsiteX40" fmla="*/ 238902 w 2251852"/>
                <a:gd name="connsiteY40" fmla="*/ 1524000 h 1911350"/>
                <a:gd name="connsiteX41" fmla="*/ 270652 w 2251852"/>
                <a:gd name="connsiteY41" fmla="*/ 1555750 h 1911350"/>
                <a:gd name="connsiteX42" fmla="*/ 277002 w 2251852"/>
                <a:gd name="connsiteY42" fmla="*/ 1574800 h 1911350"/>
                <a:gd name="connsiteX43" fmla="*/ 296052 w 2251852"/>
                <a:gd name="connsiteY43" fmla="*/ 1593850 h 1911350"/>
                <a:gd name="connsiteX44" fmla="*/ 308752 w 2251852"/>
                <a:gd name="connsiteY44" fmla="*/ 1619250 h 1911350"/>
                <a:gd name="connsiteX45" fmla="*/ 346852 w 2251852"/>
                <a:gd name="connsiteY45" fmla="*/ 1638300 h 1911350"/>
                <a:gd name="connsiteX46" fmla="*/ 397652 w 2251852"/>
                <a:gd name="connsiteY46" fmla="*/ 1682750 h 1911350"/>
                <a:gd name="connsiteX47" fmla="*/ 416702 w 2251852"/>
                <a:gd name="connsiteY47" fmla="*/ 1701800 h 1911350"/>
                <a:gd name="connsiteX48" fmla="*/ 454802 w 2251852"/>
                <a:gd name="connsiteY48" fmla="*/ 1714500 h 1911350"/>
                <a:gd name="connsiteX49" fmla="*/ 505602 w 2251852"/>
                <a:gd name="connsiteY49" fmla="*/ 1752600 h 1911350"/>
                <a:gd name="connsiteX50" fmla="*/ 524652 w 2251852"/>
                <a:gd name="connsiteY50" fmla="*/ 1765300 h 1911350"/>
                <a:gd name="connsiteX51" fmla="*/ 543702 w 2251852"/>
                <a:gd name="connsiteY51" fmla="*/ 1771650 h 1911350"/>
                <a:gd name="connsiteX52" fmla="*/ 562752 w 2251852"/>
                <a:gd name="connsiteY52" fmla="*/ 1784350 h 1911350"/>
                <a:gd name="connsiteX53" fmla="*/ 600852 w 2251852"/>
                <a:gd name="connsiteY53" fmla="*/ 1797050 h 1911350"/>
                <a:gd name="connsiteX54" fmla="*/ 677052 w 2251852"/>
                <a:gd name="connsiteY54" fmla="*/ 1790700 h 1911350"/>
                <a:gd name="connsiteX55" fmla="*/ 696102 w 2251852"/>
                <a:gd name="connsiteY55" fmla="*/ 1778000 h 1911350"/>
                <a:gd name="connsiteX56" fmla="*/ 734202 w 2251852"/>
                <a:gd name="connsiteY56" fmla="*/ 1701800 h 1911350"/>
                <a:gd name="connsiteX57" fmla="*/ 753252 w 2251852"/>
                <a:gd name="connsiteY57" fmla="*/ 1663700 h 1911350"/>
                <a:gd name="connsiteX58" fmla="*/ 772302 w 2251852"/>
                <a:gd name="connsiteY58" fmla="*/ 1619250 h 1911350"/>
                <a:gd name="connsiteX59" fmla="*/ 778652 w 2251852"/>
                <a:gd name="connsiteY59" fmla="*/ 1587500 h 1911350"/>
                <a:gd name="connsiteX60" fmla="*/ 785002 w 2251852"/>
                <a:gd name="connsiteY60" fmla="*/ 1562100 h 1911350"/>
                <a:gd name="connsiteX61" fmla="*/ 791352 w 2251852"/>
                <a:gd name="connsiteY61" fmla="*/ 1530350 h 1911350"/>
                <a:gd name="connsiteX62" fmla="*/ 804052 w 2251852"/>
                <a:gd name="connsiteY62" fmla="*/ 1492250 h 1911350"/>
                <a:gd name="connsiteX63" fmla="*/ 810402 w 2251852"/>
                <a:gd name="connsiteY63" fmla="*/ 1473200 h 1911350"/>
                <a:gd name="connsiteX64" fmla="*/ 829452 w 2251852"/>
                <a:gd name="connsiteY64" fmla="*/ 1428750 h 1911350"/>
                <a:gd name="connsiteX65" fmla="*/ 848502 w 2251852"/>
                <a:gd name="connsiteY65" fmla="*/ 1409700 h 1911350"/>
                <a:gd name="connsiteX66" fmla="*/ 854852 w 2251852"/>
                <a:gd name="connsiteY66" fmla="*/ 1384300 h 1911350"/>
                <a:gd name="connsiteX67" fmla="*/ 886602 w 2251852"/>
                <a:gd name="connsiteY67" fmla="*/ 1339850 h 1911350"/>
                <a:gd name="connsiteX68" fmla="*/ 905652 w 2251852"/>
                <a:gd name="connsiteY68" fmla="*/ 1333500 h 1911350"/>
                <a:gd name="connsiteX69" fmla="*/ 956452 w 2251852"/>
                <a:gd name="connsiteY69" fmla="*/ 1301750 h 1911350"/>
                <a:gd name="connsiteX70" fmla="*/ 975502 w 2251852"/>
                <a:gd name="connsiteY70" fmla="*/ 1295400 h 1911350"/>
                <a:gd name="connsiteX71" fmla="*/ 994552 w 2251852"/>
                <a:gd name="connsiteY71" fmla="*/ 1289050 h 1911350"/>
                <a:gd name="connsiteX72" fmla="*/ 1140602 w 2251852"/>
                <a:gd name="connsiteY72" fmla="*/ 1314450 h 1911350"/>
                <a:gd name="connsiteX73" fmla="*/ 1153302 w 2251852"/>
                <a:gd name="connsiteY73" fmla="*/ 1365250 h 1911350"/>
                <a:gd name="connsiteX74" fmla="*/ 1146952 w 2251852"/>
                <a:gd name="connsiteY74" fmla="*/ 1492250 h 1911350"/>
                <a:gd name="connsiteX75" fmla="*/ 1134252 w 2251852"/>
                <a:gd name="connsiteY75" fmla="*/ 1530350 h 1911350"/>
                <a:gd name="connsiteX76" fmla="*/ 1096152 w 2251852"/>
                <a:gd name="connsiteY76" fmla="*/ 1562100 h 1911350"/>
                <a:gd name="connsiteX77" fmla="*/ 1039002 w 2251852"/>
                <a:gd name="connsiteY77" fmla="*/ 1587500 h 1911350"/>
                <a:gd name="connsiteX78" fmla="*/ 1019952 w 2251852"/>
                <a:gd name="connsiteY78" fmla="*/ 1593850 h 1911350"/>
                <a:gd name="connsiteX79" fmla="*/ 994552 w 2251852"/>
                <a:gd name="connsiteY79" fmla="*/ 1606550 h 1911350"/>
                <a:gd name="connsiteX80" fmla="*/ 975502 w 2251852"/>
                <a:gd name="connsiteY80" fmla="*/ 1612900 h 1911350"/>
                <a:gd name="connsiteX81" fmla="*/ 937402 w 2251852"/>
                <a:gd name="connsiteY81" fmla="*/ 1638300 h 1911350"/>
                <a:gd name="connsiteX82" fmla="*/ 899302 w 2251852"/>
                <a:gd name="connsiteY82" fmla="*/ 1701800 h 1911350"/>
                <a:gd name="connsiteX83" fmla="*/ 873902 w 2251852"/>
                <a:gd name="connsiteY83" fmla="*/ 1765300 h 1911350"/>
                <a:gd name="connsiteX84" fmla="*/ 880252 w 2251852"/>
                <a:gd name="connsiteY84" fmla="*/ 1822450 h 1911350"/>
                <a:gd name="connsiteX85" fmla="*/ 886602 w 2251852"/>
                <a:gd name="connsiteY85" fmla="*/ 1841500 h 1911350"/>
                <a:gd name="connsiteX86" fmla="*/ 912002 w 2251852"/>
                <a:gd name="connsiteY86" fmla="*/ 1879600 h 1911350"/>
                <a:gd name="connsiteX87" fmla="*/ 931052 w 2251852"/>
                <a:gd name="connsiteY87" fmla="*/ 1892300 h 1911350"/>
                <a:gd name="connsiteX88" fmla="*/ 950102 w 2251852"/>
                <a:gd name="connsiteY88" fmla="*/ 1898650 h 1911350"/>
                <a:gd name="connsiteX89" fmla="*/ 975502 w 2251852"/>
                <a:gd name="connsiteY89" fmla="*/ 1911350 h 1911350"/>
                <a:gd name="connsiteX90" fmla="*/ 1248552 w 2251852"/>
                <a:gd name="connsiteY90" fmla="*/ 1905000 h 1911350"/>
                <a:gd name="connsiteX91" fmla="*/ 1305702 w 2251852"/>
                <a:gd name="connsiteY91" fmla="*/ 1898650 h 1911350"/>
                <a:gd name="connsiteX92" fmla="*/ 1350152 w 2251852"/>
                <a:gd name="connsiteY92" fmla="*/ 1885950 h 1911350"/>
                <a:gd name="connsiteX93" fmla="*/ 1375552 w 2251852"/>
                <a:gd name="connsiteY93" fmla="*/ 1879600 h 1911350"/>
                <a:gd name="connsiteX94" fmla="*/ 1420002 w 2251852"/>
                <a:gd name="connsiteY94" fmla="*/ 1873250 h 1911350"/>
                <a:gd name="connsiteX95" fmla="*/ 1470802 w 2251852"/>
                <a:gd name="connsiteY95" fmla="*/ 1860550 h 1911350"/>
                <a:gd name="connsiteX96" fmla="*/ 1489852 w 2251852"/>
                <a:gd name="connsiteY96" fmla="*/ 1854200 h 1911350"/>
                <a:gd name="connsiteX97" fmla="*/ 1527952 w 2251852"/>
                <a:gd name="connsiteY97" fmla="*/ 1847850 h 1911350"/>
                <a:gd name="connsiteX98" fmla="*/ 1591452 w 2251852"/>
                <a:gd name="connsiteY98" fmla="*/ 1828800 h 1911350"/>
                <a:gd name="connsiteX99" fmla="*/ 1629552 w 2251852"/>
                <a:gd name="connsiteY99" fmla="*/ 1816100 h 1911350"/>
                <a:gd name="connsiteX100" fmla="*/ 1642252 w 2251852"/>
                <a:gd name="connsiteY100" fmla="*/ 1797050 h 1911350"/>
                <a:gd name="connsiteX101" fmla="*/ 1661302 w 2251852"/>
                <a:gd name="connsiteY101" fmla="*/ 1790700 h 1911350"/>
                <a:gd name="connsiteX102" fmla="*/ 1680352 w 2251852"/>
                <a:gd name="connsiteY102" fmla="*/ 1778000 h 1911350"/>
                <a:gd name="connsiteX103" fmla="*/ 1705752 w 2251852"/>
                <a:gd name="connsiteY103" fmla="*/ 1746250 h 1911350"/>
                <a:gd name="connsiteX104" fmla="*/ 1724802 w 2251852"/>
                <a:gd name="connsiteY104" fmla="*/ 1708150 h 1911350"/>
                <a:gd name="connsiteX105" fmla="*/ 1743852 w 2251852"/>
                <a:gd name="connsiteY105" fmla="*/ 1695450 h 1911350"/>
                <a:gd name="connsiteX106" fmla="*/ 1762902 w 2251852"/>
                <a:gd name="connsiteY106" fmla="*/ 1676400 h 1911350"/>
                <a:gd name="connsiteX107" fmla="*/ 1781952 w 2251852"/>
                <a:gd name="connsiteY107" fmla="*/ 1638300 h 1911350"/>
                <a:gd name="connsiteX108" fmla="*/ 1788302 w 2251852"/>
                <a:gd name="connsiteY108" fmla="*/ 1619250 h 1911350"/>
                <a:gd name="connsiteX109" fmla="*/ 1794652 w 2251852"/>
                <a:gd name="connsiteY109" fmla="*/ 1593850 h 1911350"/>
                <a:gd name="connsiteX110" fmla="*/ 1826402 w 2251852"/>
                <a:gd name="connsiteY110" fmla="*/ 1536700 h 1911350"/>
                <a:gd name="connsiteX111" fmla="*/ 1820052 w 2251852"/>
                <a:gd name="connsiteY111" fmla="*/ 1416050 h 1911350"/>
                <a:gd name="connsiteX112" fmla="*/ 1801002 w 2251852"/>
                <a:gd name="connsiteY112" fmla="*/ 1403350 h 1911350"/>
                <a:gd name="connsiteX113" fmla="*/ 1762902 w 2251852"/>
                <a:gd name="connsiteY113" fmla="*/ 1390650 h 1911350"/>
                <a:gd name="connsiteX114" fmla="*/ 1743852 w 2251852"/>
                <a:gd name="connsiteY114" fmla="*/ 1384300 h 1911350"/>
                <a:gd name="connsiteX115" fmla="*/ 1527952 w 2251852"/>
                <a:gd name="connsiteY115" fmla="*/ 1384300 h 1911350"/>
                <a:gd name="connsiteX116" fmla="*/ 1508902 w 2251852"/>
                <a:gd name="connsiteY116" fmla="*/ 1371600 h 1911350"/>
                <a:gd name="connsiteX117" fmla="*/ 1477152 w 2251852"/>
                <a:gd name="connsiteY117" fmla="*/ 1289050 h 1911350"/>
                <a:gd name="connsiteX118" fmla="*/ 1483502 w 2251852"/>
                <a:gd name="connsiteY118" fmla="*/ 1162050 h 1911350"/>
                <a:gd name="connsiteX119" fmla="*/ 1540652 w 2251852"/>
                <a:gd name="connsiteY119" fmla="*/ 1130300 h 1911350"/>
                <a:gd name="connsiteX120" fmla="*/ 1559702 w 2251852"/>
                <a:gd name="connsiteY120" fmla="*/ 1117600 h 1911350"/>
                <a:gd name="connsiteX121" fmla="*/ 1578752 w 2251852"/>
                <a:gd name="connsiteY121" fmla="*/ 1111250 h 1911350"/>
                <a:gd name="connsiteX122" fmla="*/ 1597802 w 2251852"/>
                <a:gd name="connsiteY122" fmla="*/ 1098550 h 1911350"/>
                <a:gd name="connsiteX123" fmla="*/ 1699402 w 2251852"/>
                <a:gd name="connsiteY123" fmla="*/ 1085850 h 1911350"/>
                <a:gd name="connsiteX124" fmla="*/ 1756552 w 2251852"/>
                <a:gd name="connsiteY124" fmla="*/ 1079500 h 1911350"/>
                <a:gd name="connsiteX125" fmla="*/ 1794652 w 2251852"/>
                <a:gd name="connsiteY125" fmla="*/ 1066800 h 1911350"/>
                <a:gd name="connsiteX126" fmla="*/ 1813702 w 2251852"/>
                <a:gd name="connsiteY126" fmla="*/ 1060450 h 1911350"/>
                <a:gd name="connsiteX127" fmla="*/ 1832752 w 2251852"/>
                <a:gd name="connsiteY127" fmla="*/ 1047750 h 1911350"/>
                <a:gd name="connsiteX128" fmla="*/ 1851802 w 2251852"/>
                <a:gd name="connsiteY128" fmla="*/ 1041400 h 1911350"/>
                <a:gd name="connsiteX129" fmla="*/ 1889902 w 2251852"/>
                <a:gd name="connsiteY129" fmla="*/ 1009650 h 1911350"/>
                <a:gd name="connsiteX130" fmla="*/ 1908952 w 2251852"/>
                <a:gd name="connsiteY130" fmla="*/ 1003300 h 1911350"/>
                <a:gd name="connsiteX131" fmla="*/ 1928002 w 2251852"/>
                <a:gd name="connsiteY131" fmla="*/ 984250 h 1911350"/>
                <a:gd name="connsiteX132" fmla="*/ 1947052 w 2251852"/>
                <a:gd name="connsiteY132" fmla="*/ 977900 h 1911350"/>
                <a:gd name="connsiteX133" fmla="*/ 2004202 w 2251852"/>
                <a:gd name="connsiteY133" fmla="*/ 933450 h 1911350"/>
                <a:gd name="connsiteX134" fmla="*/ 2042302 w 2251852"/>
                <a:gd name="connsiteY134" fmla="*/ 901700 h 1911350"/>
                <a:gd name="connsiteX135" fmla="*/ 2086752 w 2251852"/>
                <a:gd name="connsiteY135" fmla="*/ 889000 h 1911350"/>
                <a:gd name="connsiteX136" fmla="*/ 2105802 w 2251852"/>
                <a:gd name="connsiteY136" fmla="*/ 876300 h 1911350"/>
                <a:gd name="connsiteX137" fmla="*/ 2131202 w 2251852"/>
                <a:gd name="connsiteY137" fmla="*/ 863600 h 1911350"/>
                <a:gd name="connsiteX138" fmla="*/ 2156602 w 2251852"/>
                <a:gd name="connsiteY138" fmla="*/ 844550 h 1911350"/>
                <a:gd name="connsiteX139" fmla="*/ 2175652 w 2251852"/>
                <a:gd name="connsiteY139" fmla="*/ 838200 h 1911350"/>
                <a:gd name="connsiteX140" fmla="*/ 2213752 w 2251852"/>
                <a:gd name="connsiteY140" fmla="*/ 812800 h 1911350"/>
                <a:gd name="connsiteX141" fmla="*/ 2232802 w 2251852"/>
                <a:gd name="connsiteY141" fmla="*/ 800100 h 1911350"/>
                <a:gd name="connsiteX142" fmla="*/ 2251852 w 2251852"/>
                <a:gd name="connsiteY142" fmla="*/ 793750 h 191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2251852" h="1911350">
                  <a:moveTo>
                    <a:pt x="626252" y="0"/>
                  </a:moveTo>
                  <a:cubicBezTo>
                    <a:pt x="615669" y="10583"/>
                    <a:pt x="605928" y="22082"/>
                    <a:pt x="594502" y="31750"/>
                  </a:cubicBezTo>
                  <a:cubicBezTo>
                    <a:pt x="578344" y="45422"/>
                    <a:pt x="560635" y="57150"/>
                    <a:pt x="543702" y="69850"/>
                  </a:cubicBezTo>
                  <a:cubicBezTo>
                    <a:pt x="535235" y="76200"/>
                    <a:pt x="525786" y="81416"/>
                    <a:pt x="518302" y="88900"/>
                  </a:cubicBezTo>
                  <a:cubicBezTo>
                    <a:pt x="511952" y="95250"/>
                    <a:pt x="506070" y="102106"/>
                    <a:pt x="499252" y="107950"/>
                  </a:cubicBezTo>
                  <a:cubicBezTo>
                    <a:pt x="491217" y="114838"/>
                    <a:pt x="481336" y="119516"/>
                    <a:pt x="473852" y="127000"/>
                  </a:cubicBezTo>
                  <a:cubicBezTo>
                    <a:pt x="468456" y="132396"/>
                    <a:pt x="466038" y="140187"/>
                    <a:pt x="461152" y="146050"/>
                  </a:cubicBezTo>
                  <a:cubicBezTo>
                    <a:pt x="455403" y="152949"/>
                    <a:pt x="448452" y="158750"/>
                    <a:pt x="442102" y="165100"/>
                  </a:cubicBezTo>
                  <a:cubicBezTo>
                    <a:pt x="426210" y="228668"/>
                    <a:pt x="450105" y="163447"/>
                    <a:pt x="416702" y="196850"/>
                  </a:cubicBezTo>
                  <a:cubicBezTo>
                    <a:pt x="405909" y="207643"/>
                    <a:pt x="402095" y="224157"/>
                    <a:pt x="391302" y="234950"/>
                  </a:cubicBezTo>
                  <a:cubicBezTo>
                    <a:pt x="384952" y="241300"/>
                    <a:pt x="377765" y="246911"/>
                    <a:pt x="372252" y="254000"/>
                  </a:cubicBezTo>
                  <a:cubicBezTo>
                    <a:pt x="319085" y="322358"/>
                    <a:pt x="371051" y="267901"/>
                    <a:pt x="327802" y="311150"/>
                  </a:cubicBezTo>
                  <a:cubicBezTo>
                    <a:pt x="314180" y="352015"/>
                    <a:pt x="332131" y="307630"/>
                    <a:pt x="302402" y="349250"/>
                  </a:cubicBezTo>
                  <a:cubicBezTo>
                    <a:pt x="296900" y="356953"/>
                    <a:pt x="294398" y="366431"/>
                    <a:pt x="289702" y="374650"/>
                  </a:cubicBezTo>
                  <a:cubicBezTo>
                    <a:pt x="277914" y="395278"/>
                    <a:pt x="275463" y="395239"/>
                    <a:pt x="257952" y="412750"/>
                  </a:cubicBezTo>
                  <a:cubicBezTo>
                    <a:pt x="241991" y="460633"/>
                    <a:pt x="263521" y="401611"/>
                    <a:pt x="238902" y="450850"/>
                  </a:cubicBezTo>
                  <a:cubicBezTo>
                    <a:pt x="235909" y="456837"/>
                    <a:pt x="236733" y="464673"/>
                    <a:pt x="232552" y="469900"/>
                  </a:cubicBezTo>
                  <a:cubicBezTo>
                    <a:pt x="227784" y="475859"/>
                    <a:pt x="219852" y="478367"/>
                    <a:pt x="213502" y="482600"/>
                  </a:cubicBezTo>
                  <a:cubicBezTo>
                    <a:pt x="199202" y="525500"/>
                    <a:pt x="219034" y="478999"/>
                    <a:pt x="188102" y="514350"/>
                  </a:cubicBezTo>
                  <a:cubicBezTo>
                    <a:pt x="178051" y="525837"/>
                    <a:pt x="173495" y="541657"/>
                    <a:pt x="162702" y="552450"/>
                  </a:cubicBezTo>
                  <a:cubicBezTo>
                    <a:pt x="138256" y="576896"/>
                    <a:pt x="151124" y="566519"/>
                    <a:pt x="124602" y="584200"/>
                  </a:cubicBezTo>
                  <a:cubicBezTo>
                    <a:pt x="116135" y="596900"/>
                    <a:pt x="104029" y="607820"/>
                    <a:pt x="99202" y="622300"/>
                  </a:cubicBezTo>
                  <a:cubicBezTo>
                    <a:pt x="94037" y="637794"/>
                    <a:pt x="92462" y="648090"/>
                    <a:pt x="80152" y="660400"/>
                  </a:cubicBezTo>
                  <a:cubicBezTo>
                    <a:pt x="74756" y="665796"/>
                    <a:pt x="67452" y="668867"/>
                    <a:pt x="61102" y="673100"/>
                  </a:cubicBezTo>
                  <a:cubicBezTo>
                    <a:pt x="58985" y="679450"/>
                    <a:pt x="57745" y="686163"/>
                    <a:pt x="54752" y="692150"/>
                  </a:cubicBezTo>
                  <a:cubicBezTo>
                    <a:pt x="51339" y="698976"/>
                    <a:pt x="44245" y="703890"/>
                    <a:pt x="42052" y="711200"/>
                  </a:cubicBezTo>
                  <a:cubicBezTo>
                    <a:pt x="37751" y="725536"/>
                    <a:pt x="38637" y="740974"/>
                    <a:pt x="35702" y="755650"/>
                  </a:cubicBezTo>
                  <a:cubicBezTo>
                    <a:pt x="34389" y="762214"/>
                    <a:pt x="31191" y="768264"/>
                    <a:pt x="29352" y="774700"/>
                  </a:cubicBezTo>
                  <a:cubicBezTo>
                    <a:pt x="26954" y="783091"/>
                    <a:pt x="25119" y="791633"/>
                    <a:pt x="23002" y="800100"/>
                  </a:cubicBezTo>
                  <a:cubicBezTo>
                    <a:pt x="29576" y="1247162"/>
                    <a:pt x="-50496" y="1112127"/>
                    <a:pt x="54752" y="1270000"/>
                  </a:cubicBezTo>
                  <a:lnTo>
                    <a:pt x="54752" y="1270000"/>
                  </a:lnTo>
                  <a:cubicBezTo>
                    <a:pt x="56869" y="1276350"/>
                    <a:pt x="57389" y="1283481"/>
                    <a:pt x="61102" y="1289050"/>
                  </a:cubicBezTo>
                  <a:cubicBezTo>
                    <a:pt x="70881" y="1303718"/>
                    <a:pt x="85145" y="1311429"/>
                    <a:pt x="99202" y="1320800"/>
                  </a:cubicBezTo>
                  <a:cubicBezTo>
                    <a:pt x="103435" y="1327150"/>
                    <a:pt x="106506" y="1334454"/>
                    <a:pt x="111902" y="1339850"/>
                  </a:cubicBezTo>
                  <a:cubicBezTo>
                    <a:pt x="133915" y="1361863"/>
                    <a:pt x="130105" y="1341120"/>
                    <a:pt x="143652" y="1371600"/>
                  </a:cubicBezTo>
                  <a:cubicBezTo>
                    <a:pt x="149089" y="1383833"/>
                    <a:pt x="148926" y="1398561"/>
                    <a:pt x="156352" y="1409700"/>
                  </a:cubicBezTo>
                  <a:cubicBezTo>
                    <a:pt x="160585" y="1416050"/>
                    <a:pt x="165639" y="1421924"/>
                    <a:pt x="169052" y="1428750"/>
                  </a:cubicBezTo>
                  <a:cubicBezTo>
                    <a:pt x="172045" y="1434737"/>
                    <a:pt x="171689" y="1442231"/>
                    <a:pt x="175402" y="1447800"/>
                  </a:cubicBezTo>
                  <a:cubicBezTo>
                    <a:pt x="180383" y="1455272"/>
                    <a:pt x="188608" y="1460032"/>
                    <a:pt x="194452" y="1466850"/>
                  </a:cubicBezTo>
                  <a:cubicBezTo>
                    <a:pt x="225957" y="1503606"/>
                    <a:pt x="199016" y="1482593"/>
                    <a:pt x="232552" y="1504950"/>
                  </a:cubicBezTo>
                  <a:cubicBezTo>
                    <a:pt x="234669" y="1511300"/>
                    <a:pt x="234721" y="1518773"/>
                    <a:pt x="238902" y="1524000"/>
                  </a:cubicBezTo>
                  <a:cubicBezTo>
                    <a:pt x="272769" y="1566333"/>
                    <a:pt x="245252" y="1504950"/>
                    <a:pt x="270652" y="1555750"/>
                  </a:cubicBezTo>
                  <a:cubicBezTo>
                    <a:pt x="273645" y="1561737"/>
                    <a:pt x="273289" y="1569231"/>
                    <a:pt x="277002" y="1574800"/>
                  </a:cubicBezTo>
                  <a:cubicBezTo>
                    <a:pt x="281983" y="1582272"/>
                    <a:pt x="290832" y="1586542"/>
                    <a:pt x="296052" y="1593850"/>
                  </a:cubicBezTo>
                  <a:cubicBezTo>
                    <a:pt x="301554" y="1601553"/>
                    <a:pt x="302692" y="1611978"/>
                    <a:pt x="308752" y="1619250"/>
                  </a:cubicBezTo>
                  <a:cubicBezTo>
                    <a:pt x="318221" y="1630613"/>
                    <a:pt x="333850" y="1633966"/>
                    <a:pt x="346852" y="1638300"/>
                  </a:cubicBezTo>
                  <a:cubicBezTo>
                    <a:pt x="382835" y="1692275"/>
                    <a:pt x="323569" y="1608667"/>
                    <a:pt x="397652" y="1682750"/>
                  </a:cubicBezTo>
                  <a:cubicBezTo>
                    <a:pt x="404002" y="1689100"/>
                    <a:pt x="408852" y="1697439"/>
                    <a:pt x="416702" y="1701800"/>
                  </a:cubicBezTo>
                  <a:cubicBezTo>
                    <a:pt x="428404" y="1708301"/>
                    <a:pt x="454802" y="1714500"/>
                    <a:pt x="454802" y="1714500"/>
                  </a:cubicBezTo>
                  <a:cubicBezTo>
                    <a:pt x="471735" y="1727200"/>
                    <a:pt x="487990" y="1740859"/>
                    <a:pt x="505602" y="1752600"/>
                  </a:cubicBezTo>
                  <a:cubicBezTo>
                    <a:pt x="511952" y="1756833"/>
                    <a:pt x="517826" y="1761887"/>
                    <a:pt x="524652" y="1765300"/>
                  </a:cubicBezTo>
                  <a:cubicBezTo>
                    <a:pt x="530639" y="1768293"/>
                    <a:pt x="537715" y="1768657"/>
                    <a:pt x="543702" y="1771650"/>
                  </a:cubicBezTo>
                  <a:cubicBezTo>
                    <a:pt x="550528" y="1775063"/>
                    <a:pt x="555778" y="1781250"/>
                    <a:pt x="562752" y="1784350"/>
                  </a:cubicBezTo>
                  <a:cubicBezTo>
                    <a:pt x="574985" y="1789787"/>
                    <a:pt x="600852" y="1797050"/>
                    <a:pt x="600852" y="1797050"/>
                  </a:cubicBezTo>
                  <a:cubicBezTo>
                    <a:pt x="626252" y="1794933"/>
                    <a:pt x="652059" y="1795699"/>
                    <a:pt x="677052" y="1790700"/>
                  </a:cubicBezTo>
                  <a:cubicBezTo>
                    <a:pt x="684536" y="1789203"/>
                    <a:pt x="691076" y="1783743"/>
                    <a:pt x="696102" y="1778000"/>
                  </a:cubicBezTo>
                  <a:cubicBezTo>
                    <a:pt x="780033" y="1682079"/>
                    <a:pt x="671853" y="1795323"/>
                    <a:pt x="734202" y="1701800"/>
                  </a:cubicBezTo>
                  <a:cubicBezTo>
                    <a:pt x="758608" y="1665191"/>
                    <a:pt x="737478" y="1700506"/>
                    <a:pt x="753252" y="1663700"/>
                  </a:cubicBezTo>
                  <a:cubicBezTo>
                    <a:pt x="764156" y="1638257"/>
                    <a:pt x="766345" y="1643077"/>
                    <a:pt x="772302" y="1619250"/>
                  </a:cubicBezTo>
                  <a:cubicBezTo>
                    <a:pt x="774920" y="1608779"/>
                    <a:pt x="776311" y="1598036"/>
                    <a:pt x="778652" y="1587500"/>
                  </a:cubicBezTo>
                  <a:cubicBezTo>
                    <a:pt x="780545" y="1578981"/>
                    <a:pt x="783109" y="1570619"/>
                    <a:pt x="785002" y="1562100"/>
                  </a:cubicBezTo>
                  <a:cubicBezTo>
                    <a:pt x="787343" y="1551564"/>
                    <a:pt x="788512" y="1540763"/>
                    <a:pt x="791352" y="1530350"/>
                  </a:cubicBezTo>
                  <a:cubicBezTo>
                    <a:pt x="794874" y="1517435"/>
                    <a:pt x="799819" y="1504950"/>
                    <a:pt x="804052" y="1492250"/>
                  </a:cubicBezTo>
                  <a:lnTo>
                    <a:pt x="810402" y="1473200"/>
                  </a:lnTo>
                  <a:cubicBezTo>
                    <a:pt x="815584" y="1457654"/>
                    <a:pt x="819644" y="1442482"/>
                    <a:pt x="829452" y="1428750"/>
                  </a:cubicBezTo>
                  <a:cubicBezTo>
                    <a:pt x="834672" y="1421442"/>
                    <a:pt x="842152" y="1416050"/>
                    <a:pt x="848502" y="1409700"/>
                  </a:cubicBezTo>
                  <a:cubicBezTo>
                    <a:pt x="850619" y="1401233"/>
                    <a:pt x="851788" y="1392472"/>
                    <a:pt x="854852" y="1384300"/>
                  </a:cubicBezTo>
                  <a:cubicBezTo>
                    <a:pt x="861473" y="1366643"/>
                    <a:pt x="870435" y="1350628"/>
                    <a:pt x="886602" y="1339850"/>
                  </a:cubicBezTo>
                  <a:cubicBezTo>
                    <a:pt x="892171" y="1336137"/>
                    <a:pt x="899302" y="1335617"/>
                    <a:pt x="905652" y="1333500"/>
                  </a:cubicBezTo>
                  <a:cubicBezTo>
                    <a:pt x="925778" y="1303311"/>
                    <a:pt x="911112" y="1316863"/>
                    <a:pt x="956452" y="1301750"/>
                  </a:cubicBezTo>
                  <a:lnTo>
                    <a:pt x="975502" y="1295400"/>
                  </a:lnTo>
                  <a:lnTo>
                    <a:pt x="994552" y="1289050"/>
                  </a:lnTo>
                  <a:cubicBezTo>
                    <a:pt x="1113898" y="1294475"/>
                    <a:pt x="1123394" y="1251354"/>
                    <a:pt x="1140602" y="1314450"/>
                  </a:cubicBezTo>
                  <a:cubicBezTo>
                    <a:pt x="1145195" y="1331289"/>
                    <a:pt x="1149069" y="1348317"/>
                    <a:pt x="1153302" y="1365250"/>
                  </a:cubicBezTo>
                  <a:cubicBezTo>
                    <a:pt x="1151185" y="1407583"/>
                    <a:pt x="1151810" y="1450143"/>
                    <a:pt x="1146952" y="1492250"/>
                  </a:cubicBezTo>
                  <a:cubicBezTo>
                    <a:pt x="1145418" y="1505549"/>
                    <a:pt x="1145391" y="1522924"/>
                    <a:pt x="1134252" y="1530350"/>
                  </a:cubicBezTo>
                  <a:cubicBezTo>
                    <a:pt x="1086954" y="1561882"/>
                    <a:pt x="1145045" y="1521356"/>
                    <a:pt x="1096152" y="1562100"/>
                  </a:cubicBezTo>
                  <a:cubicBezTo>
                    <a:pt x="1076026" y="1578871"/>
                    <a:pt x="1066691" y="1578270"/>
                    <a:pt x="1039002" y="1587500"/>
                  </a:cubicBezTo>
                  <a:cubicBezTo>
                    <a:pt x="1032652" y="1589617"/>
                    <a:pt x="1025939" y="1590857"/>
                    <a:pt x="1019952" y="1593850"/>
                  </a:cubicBezTo>
                  <a:cubicBezTo>
                    <a:pt x="1011485" y="1598083"/>
                    <a:pt x="1003253" y="1602821"/>
                    <a:pt x="994552" y="1606550"/>
                  </a:cubicBezTo>
                  <a:cubicBezTo>
                    <a:pt x="988400" y="1609187"/>
                    <a:pt x="981353" y="1609649"/>
                    <a:pt x="975502" y="1612900"/>
                  </a:cubicBezTo>
                  <a:cubicBezTo>
                    <a:pt x="962159" y="1620313"/>
                    <a:pt x="937402" y="1638300"/>
                    <a:pt x="937402" y="1638300"/>
                  </a:cubicBezTo>
                  <a:cubicBezTo>
                    <a:pt x="922494" y="1660663"/>
                    <a:pt x="909065" y="1677392"/>
                    <a:pt x="899302" y="1701800"/>
                  </a:cubicBezTo>
                  <a:cubicBezTo>
                    <a:pt x="867915" y="1780267"/>
                    <a:pt x="903686" y="1705732"/>
                    <a:pt x="873902" y="1765300"/>
                  </a:cubicBezTo>
                  <a:cubicBezTo>
                    <a:pt x="876019" y="1784350"/>
                    <a:pt x="877101" y="1803544"/>
                    <a:pt x="880252" y="1822450"/>
                  </a:cubicBezTo>
                  <a:cubicBezTo>
                    <a:pt x="881352" y="1829052"/>
                    <a:pt x="883351" y="1835649"/>
                    <a:pt x="886602" y="1841500"/>
                  </a:cubicBezTo>
                  <a:cubicBezTo>
                    <a:pt x="894015" y="1854843"/>
                    <a:pt x="899302" y="1871133"/>
                    <a:pt x="912002" y="1879600"/>
                  </a:cubicBezTo>
                  <a:cubicBezTo>
                    <a:pt x="918352" y="1883833"/>
                    <a:pt x="924226" y="1888887"/>
                    <a:pt x="931052" y="1892300"/>
                  </a:cubicBezTo>
                  <a:cubicBezTo>
                    <a:pt x="937039" y="1895293"/>
                    <a:pt x="943950" y="1896013"/>
                    <a:pt x="950102" y="1898650"/>
                  </a:cubicBezTo>
                  <a:cubicBezTo>
                    <a:pt x="958803" y="1902379"/>
                    <a:pt x="967035" y="1907117"/>
                    <a:pt x="975502" y="1911350"/>
                  </a:cubicBezTo>
                  <a:lnTo>
                    <a:pt x="1248552" y="1905000"/>
                  </a:lnTo>
                  <a:cubicBezTo>
                    <a:pt x="1267705" y="1904263"/>
                    <a:pt x="1286758" y="1901565"/>
                    <a:pt x="1305702" y="1898650"/>
                  </a:cubicBezTo>
                  <a:cubicBezTo>
                    <a:pt x="1327207" y="1895341"/>
                    <a:pt x="1330790" y="1891482"/>
                    <a:pt x="1350152" y="1885950"/>
                  </a:cubicBezTo>
                  <a:cubicBezTo>
                    <a:pt x="1358543" y="1883552"/>
                    <a:pt x="1366966" y="1881161"/>
                    <a:pt x="1375552" y="1879600"/>
                  </a:cubicBezTo>
                  <a:cubicBezTo>
                    <a:pt x="1390278" y="1876923"/>
                    <a:pt x="1405185" y="1875367"/>
                    <a:pt x="1420002" y="1873250"/>
                  </a:cubicBezTo>
                  <a:cubicBezTo>
                    <a:pt x="1463548" y="1858735"/>
                    <a:pt x="1409500" y="1875875"/>
                    <a:pt x="1470802" y="1860550"/>
                  </a:cubicBezTo>
                  <a:cubicBezTo>
                    <a:pt x="1477296" y="1858927"/>
                    <a:pt x="1483318" y="1855652"/>
                    <a:pt x="1489852" y="1854200"/>
                  </a:cubicBezTo>
                  <a:cubicBezTo>
                    <a:pt x="1502421" y="1851407"/>
                    <a:pt x="1515252" y="1849967"/>
                    <a:pt x="1527952" y="1847850"/>
                  </a:cubicBezTo>
                  <a:cubicBezTo>
                    <a:pt x="1576493" y="1823579"/>
                    <a:pt x="1528202" y="1844612"/>
                    <a:pt x="1591452" y="1828800"/>
                  </a:cubicBezTo>
                  <a:cubicBezTo>
                    <a:pt x="1604439" y="1825553"/>
                    <a:pt x="1629552" y="1816100"/>
                    <a:pt x="1629552" y="1816100"/>
                  </a:cubicBezTo>
                  <a:cubicBezTo>
                    <a:pt x="1633785" y="1809750"/>
                    <a:pt x="1636293" y="1801818"/>
                    <a:pt x="1642252" y="1797050"/>
                  </a:cubicBezTo>
                  <a:cubicBezTo>
                    <a:pt x="1647479" y="1792869"/>
                    <a:pt x="1655315" y="1793693"/>
                    <a:pt x="1661302" y="1790700"/>
                  </a:cubicBezTo>
                  <a:cubicBezTo>
                    <a:pt x="1668128" y="1787287"/>
                    <a:pt x="1674002" y="1782233"/>
                    <a:pt x="1680352" y="1778000"/>
                  </a:cubicBezTo>
                  <a:cubicBezTo>
                    <a:pt x="1692714" y="1740914"/>
                    <a:pt x="1677029" y="1774973"/>
                    <a:pt x="1705752" y="1746250"/>
                  </a:cubicBezTo>
                  <a:cubicBezTo>
                    <a:pt x="1759282" y="1692720"/>
                    <a:pt x="1683485" y="1759796"/>
                    <a:pt x="1724802" y="1708150"/>
                  </a:cubicBezTo>
                  <a:cubicBezTo>
                    <a:pt x="1729570" y="1702191"/>
                    <a:pt x="1737989" y="1700336"/>
                    <a:pt x="1743852" y="1695450"/>
                  </a:cubicBezTo>
                  <a:cubicBezTo>
                    <a:pt x="1750751" y="1689701"/>
                    <a:pt x="1756552" y="1682750"/>
                    <a:pt x="1762902" y="1676400"/>
                  </a:cubicBezTo>
                  <a:cubicBezTo>
                    <a:pt x="1778863" y="1628517"/>
                    <a:pt x="1757333" y="1687539"/>
                    <a:pt x="1781952" y="1638300"/>
                  </a:cubicBezTo>
                  <a:cubicBezTo>
                    <a:pt x="1784945" y="1632313"/>
                    <a:pt x="1786463" y="1625686"/>
                    <a:pt x="1788302" y="1619250"/>
                  </a:cubicBezTo>
                  <a:cubicBezTo>
                    <a:pt x="1790700" y="1610859"/>
                    <a:pt x="1790749" y="1601656"/>
                    <a:pt x="1794652" y="1593850"/>
                  </a:cubicBezTo>
                  <a:cubicBezTo>
                    <a:pt x="1838321" y="1506511"/>
                    <a:pt x="1808842" y="1589380"/>
                    <a:pt x="1826402" y="1536700"/>
                  </a:cubicBezTo>
                  <a:cubicBezTo>
                    <a:pt x="1824285" y="1496483"/>
                    <a:pt x="1827587" y="1455611"/>
                    <a:pt x="1820052" y="1416050"/>
                  </a:cubicBezTo>
                  <a:cubicBezTo>
                    <a:pt x="1818624" y="1408553"/>
                    <a:pt x="1807976" y="1406450"/>
                    <a:pt x="1801002" y="1403350"/>
                  </a:cubicBezTo>
                  <a:cubicBezTo>
                    <a:pt x="1788769" y="1397913"/>
                    <a:pt x="1775602" y="1394883"/>
                    <a:pt x="1762902" y="1390650"/>
                  </a:cubicBezTo>
                  <a:lnTo>
                    <a:pt x="1743852" y="1384300"/>
                  </a:lnTo>
                  <a:cubicBezTo>
                    <a:pt x="1658089" y="1390018"/>
                    <a:pt x="1617516" y="1396513"/>
                    <a:pt x="1527952" y="1384300"/>
                  </a:cubicBezTo>
                  <a:cubicBezTo>
                    <a:pt x="1520390" y="1383269"/>
                    <a:pt x="1515252" y="1375833"/>
                    <a:pt x="1508902" y="1371600"/>
                  </a:cubicBezTo>
                  <a:cubicBezTo>
                    <a:pt x="1475200" y="1321047"/>
                    <a:pt x="1485661" y="1348610"/>
                    <a:pt x="1477152" y="1289050"/>
                  </a:cubicBezTo>
                  <a:cubicBezTo>
                    <a:pt x="1479269" y="1246717"/>
                    <a:pt x="1471634" y="1202741"/>
                    <a:pt x="1483502" y="1162050"/>
                  </a:cubicBezTo>
                  <a:cubicBezTo>
                    <a:pt x="1490339" y="1138610"/>
                    <a:pt x="1523274" y="1138989"/>
                    <a:pt x="1540652" y="1130300"/>
                  </a:cubicBezTo>
                  <a:cubicBezTo>
                    <a:pt x="1547478" y="1126887"/>
                    <a:pt x="1552876" y="1121013"/>
                    <a:pt x="1559702" y="1117600"/>
                  </a:cubicBezTo>
                  <a:cubicBezTo>
                    <a:pt x="1565689" y="1114607"/>
                    <a:pt x="1572765" y="1114243"/>
                    <a:pt x="1578752" y="1111250"/>
                  </a:cubicBezTo>
                  <a:cubicBezTo>
                    <a:pt x="1585578" y="1107837"/>
                    <a:pt x="1590334" y="1100122"/>
                    <a:pt x="1597802" y="1098550"/>
                  </a:cubicBezTo>
                  <a:cubicBezTo>
                    <a:pt x="1631200" y="1091519"/>
                    <a:pt x="1665515" y="1089916"/>
                    <a:pt x="1699402" y="1085850"/>
                  </a:cubicBezTo>
                  <a:lnTo>
                    <a:pt x="1756552" y="1079500"/>
                  </a:lnTo>
                  <a:lnTo>
                    <a:pt x="1794652" y="1066800"/>
                  </a:lnTo>
                  <a:cubicBezTo>
                    <a:pt x="1801002" y="1064683"/>
                    <a:pt x="1808133" y="1064163"/>
                    <a:pt x="1813702" y="1060450"/>
                  </a:cubicBezTo>
                  <a:cubicBezTo>
                    <a:pt x="1820052" y="1056217"/>
                    <a:pt x="1825926" y="1051163"/>
                    <a:pt x="1832752" y="1047750"/>
                  </a:cubicBezTo>
                  <a:cubicBezTo>
                    <a:pt x="1838739" y="1044757"/>
                    <a:pt x="1845815" y="1044393"/>
                    <a:pt x="1851802" y="1041400"/>
                  </a:cubicBezTo>
                  <a:cubicBezTo>
                    <a:pt x="1893353" y="1020625"/>
                    <a:pt x="1847771" y="1037737"/>
                    <a:pt x="1889902" y="1009650"/>
                  </a:cubicBezTo>
                  <a:cubicBezTo>
                    <a:pt x="1895471" y="1005937"/>
                    <a:pt x="1902602" y="1005417"/>
                    <a:pt x="1908952" y="1003300"/>
                  </a:cubicBezTo>
                  <a:cubicBezTo>
                    <a:pt x="1915302" y="996950"/>
                    <a:pt x="1920530" y="989231"/>
                    <a:pt x="1928002" y="984250"/>
                  </a:cubicBezTo>
                  <a:cubicBezTo>
                    <a:pt x="1933571" y="980537"/>
                    <a:pt x="1941768" y="982009"/>
                    <a:pt x="1947052" y="977900"/>
                  </a:cubicBezTo>
                  <a:cubicBezTo>
                    <a:pt x="2011302" y="927928"/>
                    <a:pt x="1960132" y="948140"/>
                    <a:pt x="2004202" y="933450"/>
                  </a:cubicBezTo>
                  <a:cubicBezTo>
                    <a:pt x="2015645" y="922007"/>
                    <a:pt x="2026831" y="908331"/>
                    <a:pt x="2042302" y="901700"/>
                  </a:cubicBezTo>
                  <a:cubicBezTo>
                    <a:pt x="2070786" y="889493"/>
                    <a:pt x="2062038" y="901357"/>
                    <a:pt x="2086752" y="889000"/>
                  </a:cubicBezTo>
                  <a:cubicBezTo>
                    <a:pt x="2093578" y="885587"/>
                    <a:pt x="2099176" y="880086"/>
                    <a:pt x="2105802" y="876300"/>
                  </a:cubicBezTo>
                  <a:cubicBezTo>
                    <a:pt x="2114021" y="871604"/>
                    <a:pt x="2123175" y="868617"/>
                    <a:pt x="2131202" y="863600"/>
                  </a:cubicBezTo>
                  <a:cubicBezTo>
                    <a:pt x="2140177" y="857991"/>
                    <a:pt x="2147413" y="849801"/>
                    <a:pt x="2156602" y="844550"/>
                  </a:cubicBezTo>
                  <a:cubicBezTo>
                    <a:pt x="2162414" y="841229"/>
                    <a:pt x="2169801" y="841451"/>
                    <a:pt x="2175652" y="838200"/>
                  </a:cubicBezTo>
                  <a:cubicBezTo>
                    <a:pt x="2188995" y="830787"/>
                    <a:pt x="2201052" y="821267"/>
                    <a:pt x="2213752" y="812800"/>
                  </a:cubicBezTo>
                  <a:cubicBezTo>
                    <a:pt x="2220102" y="808567"/>
                    <a:pt x="2225562" y="802513"/>
                    <a:pt x="2232802" y="800100"/>
                  </a:cubicBezTo>
                  <a:lnTo>
                    <a:pt x="2251852" y="793750"/>
                  </a:ln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7" name="CaixaDeTexto 146">
            <a:extLst>
              <a:ext uri="{FF2B5EF4-FFF2-40B4-BE49-F238E27FC236}">
                <a16:creationId xmlns="" xmlns:a16="http://schemas.microsoft.com/office/drawing/2014/main" id="{47F5026B-9D46-15C8-D2BC-7C7D85A08717}"/>
              </a:ext>
            </a:extLst>
          </p:cNvPr>
          <p:cNvSpPr txBox="1"/>
          <p:nvPr/>
        </p:nvSpPr>
        <p:spPr>
          <a:xfrm>
            <a:off x="2298188" y="4743111"/>
            <a:ext cx="8912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Subajuste</a:t>
            </a:r>
          </a:p>
        </p:txBody>
      </p:sp>
      <p:sp>
        <p:nvSpPr>
          <p:cNvPr id="148" name="CaixaDeTexto 147">
            <a:extLst>
              <a:ext uri="{FF2B5EF4-FFF2-40B4-BE49-F238E27FC236}">
                <a16:creationId xmlns="" xmlns:a16="http://schemas.microsoft.com/office/drawing/2014/main" id="{1D2900C2-AB82-B811-AA58-4352203E2D3A}"/>
              </a:ext>
            </a:extLst>
          </p:cNvPr>
          <p:cNvSpPr txBox="1"/>
          <p:nvPr/>
        </p:nvSpPr>
        <p:spPr>
          <a:xfrm>
            <a:off x="6225723" y="4747151"/>
            <a:ext cx="10436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Sobreajuste</a:t>
            </a:r>
          </a:p>
        </p:txBody>
      </p:sp>
      <p:grpSp>
        <p:nvGrpSpPr>
          <p:cNvPr id="149" name="Agrupar 148">
            <a:extLst>
              <a:ext uri="{FF2B5EF4-FFF2-40B4-BE49-F238E27FC236}">
                <a16:creationId xmlns="" xmlns:a16="http://schemas.microsoft.com/office/drawing/2014/main" id="{B709F5F5-D010-140C-54BC-ECD9C9D3BDAC}"/>
              </a:ext>
            </a:extLst>
          </p:cNvPr>
          <p:cNvGrpSpPr/>
          <p:nvPr/>
        </p:nvGrpSpPr>
        <p:grpSpPr>
          <a:xfrm>
            <a:off x="9002294" y="4452345"/>
            <a:ext cx="3181757" cy="2276742"/>
            <a:chOff x="9487183" y="4461310"/>
            <a:chExt cx="3181757" cy="2276742"/>
          </a:xfrm>
        </p:grpSpPr>
        <p:grpSp>
          <p:nvGrpSpPr>
            <p:cNvPr id="150" name="Group 3">
              <a:extLst>
                <a:ext uri="{FF2B5EF4-FFF2-40B4-BE49-F238E27FC236}">
                  <a16:creationId xmlns="" xmlns:a16="http://schemas.microsoft.com/office/drawing/2014/main" id="{AB792365-752F-4BAA-9C4C-B184E03C398D}"/>
                </a:ext>
              </a:extLst>
            </p:cNvPr>
            <p:cNvGrpSpPr/>
            <p:nvPr/>
          </p:nvGrpSpPr>
          <p:grpSpPr>
            <a:xfrm>
              <a:off x="9487183" y="4678324"/>
              <a:ext cx="2614572" cy="2059728"/>
              <a:chOff x="12672659" y="1187117"/>
              <a:chExt cx="2796787" cy="2109915"/>
            </a:xfrm>
          </p:grpSpPr>
          <p:cxnSp>
            <p:nvCxnSpPr>
              <p:cNvPr id="152" name="Straight Connector 4">
                <a:extLst>
                  <a:ext uri="{FF2B5EF4-FFF2-40B4-BE49-F238E27FC236}">
                    <a16:creationId xmlns="" xmlns:a16="http://schemas.microsoft.com/office/drawing/2014/main" id="{8AEF7EF4-C8E2-9025-0F73-D343985CED93}"/>
                  </a:ext>
                </a:extLst>
              </p:cNvPr>
              <p:cNvCxnSpPr/>
              <p:nvPr/>
            </p:nvCxnSpPr>
            <p:spPr>
              <a:xfrm>
                <a:off x="12835767" y="1351116"/>
                <a:ext cx="0" cy="194591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5">
                <a:extLst>
                  <a:ext uri="{FF2B5EF4-FFF2-40B4-BE49-F238E27FC236}">
                    <a16:creationId xmlns="" xmlns:a16="http://schemas.microsoft.com/office/drawing/2014/main" id="{D0DB9A6C-C2C3-D1E0-888E-5529087456ED}"/>
                  </a:ext>
                </a:extLst>
              </p:cNvPr>
              <p:cNvCxnSpPr/>
              <p:nvPr/>
            </p:nvCxnSpPr>
            <p:spPr>
              <a:xfrm rot="16200000">
                <a:off x="13909339" y="1922497"/>
                <a:ext cx="0" cy="247336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" name="TextBox 6">
                    <a:extLst>
                      <a:ext uri="{FF2B5EF4-FFF2-40B4-BE49-F238E27FC236}">
                        <a16:creationId xmlns="" xmlns:a16="http://schemas.microsoft.com/office/drawing/2014/main" id="{9226C786-A614-1FFF-E435-EF9EE0E3BDB5}"/>
                      </a:ext>
                    </a:extLst>
                  </p:cNvPr>
                  <p:cNvSpPr txBox="1"/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35767" y="1187117"/>
                    <a:ext cx="380827" cy="257896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3953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TextBox 7">
                    <a:extLst>
                      <a:ext uri="{FF2B5EF4-FFF2-40B4-BE49-F238E27FC236}">
                        <a16:creationId xmlns="" xmlns:a16="http://schemas.microsoft.com/office/drawing/2014/main" id="{A7AE877B-7096-7D6A-52D9-0821CEEA5501}"/>
                      </a:ext>
                    </a:extLst>
                  </p:cNvPr>
                  <p:cNvSpPr txBox="1"/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88619" y="3030229"/>
                    <a:ext cx="380827" cy="25789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4285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6" name="Oval 8">
                <a:extLst>
                  <a:ext uri="{FF2B5EF4-FFF2-40B4-BE49-F238E27FC236}">
                    <a16:creationId xmlns="" xmlns:a16="http://schemas.microsoft.com/office/drawing/2014/main" id="{33E38761-B1F8-28E0-C42E-B9D122E3DDEF}"/>
                  </a:ext>
                </a:extLst>
              </p:cNvPr>
              <p:cNvSpPr/>
              <p:nvPr/>
            </p:nvSpPr>
            <p:spPr>
              <a:xfrm>
                <a:off x="13553334" y="191564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7" name="Oval 9">
                <a:extLst>
                  <a:ext uri="{FF2B5EF4-FFF2-40B4-BE49-F238E27FC236}">
                    <a16:creationId xmlns="" xmlns:a16="http://schemas.microsoft.com/office/drawing/2014/main" id="{E60899A5-5DA9-D7A1-35C6-C0FE827771E8}"/>
                  </a:ext>
                </a:extLst>
              </p:cNvPr>
              <p:cNvSpPr/>
              <p:nvPr/>
            </p:nvSpPr>
            <p:spPr>
              <a:xfrm>
                <a:off x="13561681" y="212621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8" name="Oval 10">
                <a:extLst>
                  <a:ext uri="{FF2B5EF4-FFF2-40B4-BE49-F238E27FC236}">
                    <a16:creationId xmlns="" xmlns:a16="http://schemas.microsoft.com/office/drawing/2014/main" id="{4D02DCA5-B9D9-ADA8-0657-7E822EFBD9E6}"/>
                  </a:ext>
                </a:extLst>
              </p:cNvPr>
              <p:cNvSpPr/>
              <p:nvPr/>
            </p:nvSpPr>
            <p:spPr>
              <a:xfrm>
                <a:off x="13295320" y="20544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9" name="Oval 11">
                <a:extLst>
                  <a:ext uri="{FF2B5EF4-FFF2-40B4-BE49-F238E27FC236}">
                    <a16:creationId xmlns="" xmlns:a16="http://schemas.microsoft.com/office/drawing/2014/main" id="{BA4C184D-6569-B044-163D-A6248645074A}"/>
                  </a:ext>
                </a:extLst>
              </p:cNvPr>
              <p:cNvSpPr/>
              <p:nvPr/>
            </p:nvSpPr>
            <p:spPr>
              <a:xfrm>
                <a:off x="13414187" y="22911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0" name="Oval 12">
                <a:extLst>
                  <a:ext uri="{FF2B5EF4-FFF2-40B4-BE49-F238E27FC236}">
                    <a16:creationId xmlns="" xmlns:a16="http://schemas.microsoft.com/office/drawing/2014/main" id="{CE3E37AE-2361-A2C9-9B2E-539168A7485A}"/>
                  </a:ext>
                </a:extLst>
              </p:cNvPr>
              <p:cNvSpPr/>
              <p:nvPr/>
            </p:nvSpPr>
            <p:spPr>
              <a:xfrm>
                <a:off x="13816131" y="2031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1" name="Oval 13">
                <a:extLst>
                  <a:ext uri="{FF2B5EF4-FFF2-40B4-BE49-F238E27FC236}">
                    <a16:creationId xmlns="" xmlns:a16="http://schemas.microsoft.com/office/drawing/2014/main" id="{A1A824E5-D887-DE7B-96A8-350B2E5EC90E}"/>
                  </a:ext>
                </a:extLst>
              </p:cNvPr>
              <p:cNvSpPr/>
              <p:nvPr/>
            </p:nvSpPr>
            <p:spPr>
              <a:xfrm>
                <a:off x="13839512" y="183166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Oval 14">
                <a:extLst>
                  <a:ext uri="{FF2B5EF4-FFF2-40B4-BE49-F238E27FC236}">
                    <a16:creationId xmlns="" xmlns:a16="http://schemas.microsoft.com/office/drawing/2014/main" id="{79AF25B6-5BAB-77F1-3BA4-38D16A85E1BB}"/>
                  </a:ext>
                </a:extLst>
              </p:cNvPr>
              <p:cNvSpPr/>
              <p:nvPr/>
            </p:nvSpPr>
            <p:spPr>
              <a:xfrm>
                <a:off x="14066354" y="195588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3" name="Oval 15">
                <a:extLst>
                  <a:ext uri="{FF2B5EF4-FFF2-40B4-BE49-F238E27FC236}">
                    <a16:creationId xmlns="" xmlns:a16="http://schemas.microsoft.com/office/drawing/2014/main" id="{E35BE1B7-BEDC-43DD-5F47-C47BEBF516EE}"/>
                  </a:ext>
                </a:extLst>
              </p:cNvPr>
              <p:cNvSpPr/>
              <p:nvPr/>
            </p:nvSpPr>
            <p:spPr>
              <a:xfrm>
                <a:off x="13829460" y="22319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4" name="Oval 16">
                <a:extLst>
                  <a:ext uri="{FF2B5EF4-FFF2-40B4-BE49-F238E27FC236}">
                    <a16:creationId xmlns="" xmlns:a16="http://schemas.microsoft.com/office/drawing/2014/main" id="{477E1B4C-E42D-4763-10F9-3E0F9496FE6B}"/>
                  </a:ext>
                </a:extLst>
              </p:cNvPr>
              <p:cNvSpPr/>
              <p:nvPr/>
            </p:nvSpPr>
            <p:spPr>
              <a:xfrm>
                <a:off x="13345007" y="184010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5" name="Oval 17">
                <a:extLst>
                  <a:ext uri="{FF2B5EF4-FFF2-40B4-BE49-F238E27FC236}">
                    <a16:creationId xmlns="" xmlns:a16="http://schemas.microsoft.com/office/drawing/2014/main" id="{81C69D5A-11B3-C872-0341-EF4ED5FE1ED0}"/>
                  </a:ext>
                </a:extLst>
              </p:cNvPr>
              <p:cNvSpPr/>
              <p:nvPr/>
            </p:nvSpPr>
            <p:spPr>
              <a:xfrm>
                <a:off x="13909339" y="16372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6" name="Oval 18">
                <a:extLst>
                  <a:ext uri="{FF2B5EF4-FFF2-40B4-BE49-F238E27FC236}">
                    <a16:creationId xmlns="" xmlns:a16="http://schemas.microsoft.com/office/drawing/2014/main" id="{24B9C5FC-2A2E-A993-B176-99CC6CEE56A9}"/>
                  </a:ext>
                </a:extLst>
              </p:cNvPr>
              <p:cNvSpPr/>
              <p:nvPr/>
            </p:nvSpPr>
            <p:spPr>
              <a:xfrm>
                <a:off x="13669702" y="2431458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7" name="Oval 19">
                <a:extLst>
                  <a:ext uri="{FF2B5EF4-FFF2-40B4-BE49-F238E27FC236}">
                    <a16:creationId xmlns="" xmlns:a16="http://schemas.microsoft.com/office/drawing/2014/main" id="{E8B38059-E292-EA8F-2239-F0B95C55540A}"/>
                  </a:ext>
                </a:extLst>
              </p:cNvPr>
              <p:cNvSpPr/>
              <p:nvPr/>
            </p:nvSpPr>
            <p:spPr>
              <a:xfrm>
                <a:off x="14059696" y="214175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8" name="Oval 20">
                <a:extLst>
                  <a:ext uri="{FF2B5EF4-FFF2-40B4-BE49-F238E27FC236}">
                    <a16:creationId xmlns="" xmlns:a16="http://schemas.microsoft.com/office/drawing/2014/main" id="{C3121AB0-BF07-7F05-E180-11010A5FB0E3}"/>
                  </a:ext>
                </a:extLst>
              </p:cNvPr>
              <p:cNvSpPr/>
              <p:nvPr/>
            </p:nvSpPr>
            <p:spPr>
              <a:xfrm>
                <a:off x="14308370" y="219052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9" name="Oval 21">
                <a:extLst>
                  <a:ext uri="{FF2B5EF4-FFF2-40B4-BE49-F238E27FC236}">
                    <a16:creationId xmlns="" xmlns:a16="http://schemas.microsoft.com/office/drawing/2014/main" id="{092A8682-0FEF-BD8D-9E42-F775EC0F7A63}"/>
                  </a:ext>
                </a:extLst>
              </p:cNvPr>
              <p:cNvSpPr/>
              <p:nvPr/>
            </p:nvSpPr>
            <p:spPr>
              <a:xfrm>
                <a:off x="14507886" y="1803595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0" name="Oval 22">
                <a:extLst>
                  <a:ext uri="{FF2B5EF4-FFF2-40B4-BE49-F238E27FC236}">
                    <a16:creationId xmlns="" xmlns:a16="http://schemas.microsoft.com/office/drawing/2014/main" id="{B28CEF66-621F-8E66-A286-4FDC907ACA55}"/>
                  </a:ext>
                </a:extLst>
              </p:cNvPr>
              <p:cNvSpPr/>
              <p:nvPr/>
            </p:nvSpPr>
            <p:spPr>
              <a:xfrm>
                <a:off x="13674403" y="16889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1" name="Oval 23">
                <a:extLst>
                  <a:ext uri="{FF2B5EF4-FFF2-40B4-BE49-F238E27FC236}">
                    <a16:creationId xmlns="" xmlns:a16="http://schemas.microsoft.com/office/drawing/2014/main" id="{A100062C-D2DA-A3B9-45AB-2D7D32B3896F}"/>
                  </a:ext>
                </a:extLst>
              </p:cNvPr>
              <p:cNvSpPr/>
              <p:nvPr/>
            </p:nvSpPr>
            <p:spPr>
              <a:xfrm>
                <a:off x="14616909" y="237306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2" name="Oval 24">
                <a:extLst>
                  <a:ext uri="{FF2B5EF4-FFF2-40B4-BE49-F238E27FC236}">
                    <a16:creationId xmlns="" xmlns:a16="http://schemas.microsoft.com/office/drawing/2014/main" id="{E2FB1A37-7AFD-300E-35A7-44A5D09A3977}"/>
                  </a:ext>
                </a:extLst>
              </p:cNvPr>
              <p:cNvSpPr/>
              <p:nvPr/>
            </p:nvSpPr>
            <p:spPr>
              <a:xfrm>
                <a:off x="14276702" y="239274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3" name="Oval 25">
                <a:extLst>
                  <a:ext uri="{FF2B5EF4-FFF2-40B4-BE49-F238E27FC236}">
                    <a16:creationId xmlns="" xmlns:a16="http://schemas.microsoft.com/office/drawing/2014/main" id="{B154C988-DF0C-AB44-22FB-79B0AC600080}"/>
                  </a:ext>
                </a:extLst>
              </p:cNvPr>
              <p:cNvSpPr/>
              <p:nvPr/>
            </p:nvSpPr>
            <p:spPr>
              <a:xfrm>
                <a:off x="14101561" y="1737997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4" name="Oval 26">
                <a:extLst>
                  <a:ext uri="{FF2B5EF4-FFF2-40B4-BE49-F238E27FC236}">
                    <a16:creationId xmlns="" xmlns:a16="http://schemas.microsoft.com/office/drawing/2014/main" id="{9909C57C-258A-326C-08BF-2E2A82D6E9FE}"/>
                  </a:ext>
                </a:extLst>
              </p:cNvPr>
              <p:cNvSpPr/>
              <p:nvPr/>
            </p:nvSpPr>
            <p:spPr>
              <a:xfrm>
                <a:off x="14078959" y="2527686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5" name="Oval 27">
                <a:extLst>
                  <a:ext uri="{FF2B5EF4-FFF2-40B4-BE49-F238E27FC236}">
                    <a16:creationId xmlns="" xmlns:a16="http://schemas.microsoft.com/office/drawing/2014/main" id="{1D4BF54C-F15F-A28D-D7D4-A00791203673}"/>
                  </a:ext>
                </a:extLst>
              </p:cNvPr>
              <p:cNvSpPr/>
              <p:nvPr/>
            </p:nvSpPr>
            <p:spPr>
              <a:xfrm>
                <a:off x="14308370" y="1920633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6" name="Multiply 28">
                <a:extLst>
                  <a:ext uri="{FF2B5EF4-FFF2-40B4-BE49-F238E27FC236}">
                    <a16:creationId xmlns="" xmlns:a16="http://schemas.microsoft.com/office/drawing/2014/main" id="{3F6656AB-9290-5B48-AE96-C07D85094FA7}"/>
                  </a:ext>
                </a:extLst>
              </p:cNvPr>
              <p:cNvSpPr/>
              <p:nvPr/>
            </p:nvSpPr>
            <p:spPr>
              <a:xfrm>
                <a:off x="13999936" y="23047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7" name="Multiply 29">
                <a:extLst>
                  <a:ext uri="{FF2B5EF4-FFF2-40B4-BE49-F238E27FC236}">
                    <a16:creationId xmlns="" xmlns:a16="http://schemas.microsoft.com/office/drawing/2014/main" id="{FD60D1F2-561E-933B-C090-5712EE246864}"/>
                  </a:ext>
                </a:extLst>
              </p:cNvPr>
              <p:cNvSpPr/>
              <p:nvPr/>
            </p:nvSpPr>
            <p:spPr>
              <a:xfrm>
                <a:off x="13211391" y="143837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8" name="Multiply 30">
                <a:extLst>
                  <a:ext uri="{FF2B5EF4-FFF2-40B4-BE49-F238E27FC236}">
                    <a16:creationId xmlns="" xmlns:a16="http://schemas.microsoft.com/office/drawing/2014/main" id="{A7FFB01D-4D6B-3562-0A6F-0539E574A6B7}"/>
                  </a:ext>
                </a:extLst>
              </p:cNvPr>
              <p:cNvSpPr/>
              <p:nvPr/>
            </p:nvSpPr>
            <p:spPr>
              <a:xfrm>
                <a:off x="13083425" y="1686810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9" name="Multiply 31">
                <a:extLst>
                  <a:ext uri="{FF2B5EF4-FFF2-40B4-BE49-F238E27FC236}">
                    <a16:creationId xmlns="" xmlns:a16="http://schemas.microsoft.com/office/drawing/2014/main" id="{B463B717-F694-E44E-A842-9B7E0713F9EA}"/>
                  </a:ext>
                </a:extLst>
              </p:cNvPr>
              <p:cNvSpPr/>
              <p:nvPr/>
            </p:nvSpPr>
            <p:spPr>
              <a:xfrm>
                <a:off x="12887780" y="15429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0" name="Multiply 32">
                <a:extLst>
                  <a:ext uri="{FF2B5EF4-FFF2-40B4-BE49-F238E27FC236}">
                    <a16:creationId xmlns="" xmlns:a16="http://schemas.microsoft.com/office/drawing/2014/main" id="{87718451-5827-F63D-27F8-A6720EB38ABB}"/>
                  </a:ext>
                </a:extLst>
              </p:cNvPr>
              <p:cNvSpPr/>
              <p:nvPr/>
            </p:nvSpPr>
            <p:spPr>
              <a:xfrm>
                <a:off x="12864580" y="1870611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1" name="Multiply 33">
                <a:extLst>
                  <a:ext uri="{FF2B5EF4-FFF2-40B4-BE49-F238E27FC236}">
                    <a16:creationId xmlns="" xmlns:a16="http://schemas.microsoft.com/office/drawing/2014/main" id="{682562FC-827C-1765-A5CB-D2910EA9AA48}"/>
                  </a:ext>
                </a:extLst>
              </p:cNvPr>
              <p:cNvSpPr/>
              <p:nvPr/>
            </p:nvSpPr>
            <p:spPr>
              <a:xfrm>
                <a:off x="14518766" y="21565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2" name="Multiply 34">
                <a:extLst>
                  <a:ext uri="{FF2B5EF4-FFF2-40B4-BE49-F238E27FC236}">
                    <a16:creationId xmlns="" xmlns:a16="http://schemas.microsoft.com/office/drawing/2014/main" id="{0B3FC1BB-6DF3-E297-1012-3C706C263B09}"/>
                  </a:ext>
                </a:extLst>
              </p:cNvPr>
              <p:cNvSpPr/>
              <p:nvPr/>
            </p:nvSpPr>
            <p:spPr>
              <a:xfrm>
                <a:off x="12953812" y="20885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3" name="Oval 35">
                <a:extLst>
                  <a:ext uri="{FF2B5EF4-FFF2-40B4-BE49-F238E27FC236}">
                    <a16:creationId xmlns="" xmlns:a16="http://schemas.microsoft.com/office/drawing/2014/main" id="{54C8198E-A0CF-7980-66D9-E4561D57ECC0}"/>
                  </a:ext>
                </a:extLst>
              </p:cNvPr>
              <p:cNvSpPr/>
              <p:nvPr/>
            </p:nvSpPr>
            <p:spPr>
              <a:xfrm>
                <a:off x="14283730" y="170687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4" name="Oval 36">
                <a:extLst>
                  <a:ext uri="{FF2B5EF4-FFF2-40B4-BE49-F238E27FC236}">
                    <a16:creationId xmlns="" xmlns:a16="http://schemas.microsoft.com/office/drawing/2014/main" id="{7CC9821A-184B-A2E3-A34E-FB92FCCAD3FE}"/>
                  </a:ext>
                </a:extLst>
              </p:cNvPr>
              <p:cNvSpPr/>
              <p:nvPr/>
            </p:nvSpPr>
            <p:spPr>
              <a:xfrm>
                <a:off x="14410280" y="253586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5" name="Oval 37">
                <a:extLst>
                  <a:ext uri="{FF2B5EF4-FFF2-40B4-BE49-F238E27FC236}">
                    <a16:creationId xmlns="" xmlns:a16="http://schemas.microsoft.com/office/drawing/2014/main" id="{D2E9CE2F-7685-B870-D89C-172B0EF21E42}"/>
                  </a:ext>
                </a:extLst>
              </p:cNvPr>
              <p:cNvSpPr/>
              <p:nvPr/>
            </p:nvSpPr>
            <p:spPr>
              <a:xfrm>
                <a:off x="14491843" y="2017611"/>
                <a:ext cx="159758" cy="12569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6" name="Multiply 38">
                <a:extLst>
                  <a:ext uri="{FF2B5EF4-FFF2-40B4-BE49-F238E27FC236}">
                    <a16:creationId xmlns="" xmlns:a16="http://schemas.microsoft.com/office/drawing/2014/main" id="{2B52FB2F-6FEB-ECA5-0307-0B3A7EB6509D}"/>
                  </a:ext>
                </a:extLst>
              </p:cNvPr>
              <p:cNvSpPr/>
              <p:nvPr/>
            </p:nvSpPr>
            <p:spPr>
              <a:xfrm>
                <a:off x="13078193" y="2308612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7" name="Multiply 39">
                <a:extLst>
                  <a:ext uri="{FF2B5EF4-FFF2-40B4-BE49-F238E27FC236}">
                    <a16:creationId xmlns="" xmlns:a16="http://schemas.microsoft.com/office/drawing/2014/main" id="{9B99DD54-32A0-38E7-0880-C4EB290C4DDF}"/>
                  </a:ext>
                </a:extLst>
              </p:cNvPr>
              <p:cNvSpPr/>
              <p:nvPr/>
            </p:nvSpPr>
            <p:spPr>
              <a:xfrm>
                <a:off x="13323864" y="251961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8" name="Multiply 40">
                <a:extLst>
                  <a:ext uri="{FF2B5EF4-FFF2-40B4-BE49-F238E27FC236}">
                    <a16:creationId xmlns="" xmlns:a16="http://schemas.microsoft.com/office/drawing/2014/main" id="{F280C803-EB38-1705-8398-9746F2851489}"/>
                  </a:ext>
                </a:extLst>
              </p:cNvPr>
              <p:cNvSpPr/>
              <p:nvPr/>
            </p:nvSpPr>
            <p:spPr>
              <a:xfrm>
                <a:off x="13749168" y="2693328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89" name="Multiply 41">
                <a:extLst>
                  <a:ext uri="{FF2B5EF4-FFF2-40B4-BE49-F238E27FC236}">
                    <a16:creationId xmlns="" xmlns:a16="http://schemas.microsoft.com/office/drawing/2014/main" id="{E08C1E28-5A7D-FE74-1118-F92C672167B5}"/>
                  </a:ext>
                </a:extLst>
              </p:cNvPr>
              <p:cNvSpPr/>
              <p:nvPr/>
            </p:nvSpPr>
            <p:spPr>
              <a:xfrm>
                <a:off x="13507181" y="2672807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0" name="Multiply 42">
                <a:extLst>
                  <a:ext uri="{FF2B5EF4-FFF2-40B4-BE49-F238E27FC236}">
                    <a16:creationId xmlns="" xmlns:a16="http://schemas.microsoft.com/office/drawing/2014/main" id="{31AA7847-F217-38A0-E85F-29B3CD387758}"/>
                  </a:ext>
                </a:extLst>
              </p:cNvPr>
              <p:cNvSpPr/>
              <p:nvPr/>
            </p:nvSpPr>
            <p:spPr>
              <a:xfrm>
                <a:off x="12998875" y="249020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1" name="Multiply 43">
                <a:extLst>
                  <a:ext uri="{FF2B5EF4-FFF2-40B4-BE49-F238E27FC236}">
                    <a16:creationId xmlns="" xmlns:a16="http://schemas.microsoft.com/office/drawing/2014/main" id="{7F009730-A0AB-D1BD-DB01-C8E1C29E5FEE}"/>
                  </a:ext>
                </a:extLst>
              </p:cNvPr>
              <p:cNvSpPr/>
              <p:nvPr/>
            </p:nvSpPr>
            <p:spPr>
              <a:xfrm>
                <a:off x="14136782" y="274991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2" name="Multiply 44">
                <a:extLst>
                  <a:ext uri="{FF2B5EF4-FFF2-40B4-BE49-F238E27FC236}">
                    <a16:creationId xmlns="" xmlns:a16="http://schemas.microsoft.com/office/drawing/2014/main" id="{4B29034B-900A-E1B2-D1FF-AE1BF9AF13E7}"/>
                  </a:ext>
                </a:extLst>
              </p:cNvPr>
              <p:cNvSpPr/>
              <p:nvPr/>
            </p:nvSpPr>
            <p:spPr>
              <a:xfrm>
                <a:off x="14476369" y="2721324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3" name="Multiply 45">
                <a:extLst>
                  <a:ext uri="{FF2B5EF4-FFF2-40B4-BE49-F238E27FC236}">
                    <a16:creationId xmlns="" xmlns:a16="http://schemas.microsoft.com/office/drawing/2014/main" id="{B41E03E0-6F3E-007D-CB4E-5CBC0B3D7B26}"/>
                  </a:ext>
                </a:extLst>
              </p:cNvPr>
              <p:cNvSpPr/>
              <p:nvPr/>
            </p:nvSpPr>
            <p:spPr>
              <a:xfrm>
                <a:off x="13134348" y="275636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4" name="Multiply 46">
                <a:extLst>
                  <a:ext uri="{FF2B5EF4-FFF2-40B4-BE49-F238E27FC236}">
                    <a16:creationId xmlns="" xmlns:a16="http://schemas.microsoft.com/office/drawing/2014/main" id="{6352AA55-D841-6E0D-119F-8443FCF9F3FA}"/>
                  </a:ext>
                </a:extLst>
              </p:cNvPr>
              <p:cNvSpPr/>
              <p:nvPr/>
            </p:nvSpPr>
            <p:spPr>
              <a:xfrm>
                <a:off x="13496384" y="2892653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5" name="Multiply 47">
                <a:extLst>
                  <a:ext uri="{FF2B5EF4-FFF2-40B4-BE49-F238E27FC236}">
                    <a16:creationId xmlns="" xmlns:a16="http://schemas.microsoft.com/office/drawing/2014/main" id="{AD5ECDEC-E8D9-0B0D-2AE3-C179D39008EB}"/>
                  </a:ext>
                </a:extLst>
              </p:cNvPr>
              <p:cNvSpPr/>
              <p:nvPr/>
            </p:nvSpPr>
            <p:spPr>
              <a:xfrm>
                <a:off x="12841249" y="2292189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6" name="Multiply 48">
                <a:extLst>
                  <a:ext uri="{FF2B5EF4-FFF2-40B4-BE49-F238E27FC236}">
                    <a16:creationId xmlns="" xmlns:a16="http://schemas.microsoft.com/office/drawing/2014/main" id="{5865E19B-52B0-4231-CC53-6A279EFF6831}"/>
                  </a:ext>
                </a:extLst>
              </p:cNvPr>
              <p:cNvSpPr/>
              <p:nvPr/>
            </p:nvSpPr>
            <p:spPr>
              <a:xfrm>
                <a:off x="13871464" y="2873205"/>
                <a:ext cx="255613" cy="201104"/>
              </a:xfrm>
              <a:prstGeom prst="mathMultiply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7" name="Freeform 49">
                <a:extLst>
                  <a:ext uri="{FF2B5EF4-FFF2-40B4-BE49-F238E27FC236}">
                    <a16:creationId xmlns="" xmlns:a16="http://schemas.microsoft.com/office/drawing/2014/main" id="{0F4C3783-F2F8-74AF-47CE-AEBAA9AA9B83}"/>
                  </a:ext>
                </a:extLst>
              </p:cNvPr>
              <p:cNvSpPr/>
              <p:nvPr/>
            </p:nvSpPr>
            <p:spPr>
              <a:xfrm>
                <a:off x="13195406" y="1351116"/>
                <a:ext cx="1903847" cy="1403682"/>
              </a:xfrm>
              <a:custGeom>
                <a:avLst/>
                <a:gdLst>
                  <a:gd name="connsiteX0" fmla="*/ 532941 w 2034195"/>
                  <a:gd name="connsiteY0" fmla="*/ 0 h 1853444"/>
                  <a:gd name="connsiteX1" fmla="*/ 14326 w 2034195"/>
                  <a:gd name="connsiteY1" fmla="*/ 1105469 h 1853444"/>
                  <a:gd name="connsiteX2" fmla="*/ 1037908 w 2034195"/>
                  <a:gd name="connsiteY2" fmla="*/ 1842448 h 1853444"/>
                  <a:gd name="connsiteX3" fmla="*/ 2034195 w 2034195"/>
                  <a:gd name="connsiteY3" fmla="*/ 1501254 h 185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4195" h="1853444">
                    <a:moveTo>
                      <a:pt x="532941" y="0"/>
                    </a:moveTo>
                    <a:cubicBezTo>
                      <a:pt x="231553" y="399197"/>
                      <a:pt x="-69835" y="798394"/>
                      <a:pt x="14326" y="1105469"/>
                    </a:cubicBezTo>
                    <a:cubicBezTo>
                      <a:pt x="98487" y="1412544"/>
                      <a:pt x="701263" y="1776484"/>
                      <a:pt x="1037908" y="1842448"/>
                    </a:cubicBezTo>
                    <a:cubicBezTo>
                      <a:pt x="1374553" y="1908412"/>
                      <a:pt x="1679353" y="1662752"/>
                      <a:pt x="2034195" y="1501254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151" name="Retângulo 150">
              <a:extLst>
                <a:ext uri="{FF2B5EF4-FFF2-40B4-BE49-F238E27FC236}">
                  <a16:creationId xmlns="" xmlns:a16="http://schemas.microsoft.com/office/drawing/2014/main" id="{F412AD0E-B6FE-48A9-2E60-A151396B0E54}"/>
                </a:ext>
              </a:extLst>
            </p:cNvPr>
            <p:cNvSpPr/>
            <p:nvPr/>
          </p:nvSpPr>
          <p:spPr>
            <a:xfrm>
              <a:off x="10443465" y="4461310"/>
              <a:ext cx="22254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Relação de compromisso entre flexibilidade </a:t>
              </a:r>
              <a:r>
                <a:rPr lang="pt-BR" sz="1200" dirty="0">
                  <a:solidFill>
                    <a:srgbClr val="000000"/>
                  </a:solidFill>
                  <a:latin typeface="Calibri" panose="020F0502020204030204" pitchFamily="34" charset="0"/>
                </a:rPr>
                <a:t>e </a:t>
              </a:r>
              <a:r>
                <a:rPr lang="pt-BR" sz="1200" dirty="0">
                  <a:solidFill>
                    <a:srgbClr val="000000"/>
                  </a:solidFill>
                  <a:latin typeface="Calibri-Bold"/>
                </a:rPr>
                <a:t>capacidade de generalização.</a:t>
              </a:r>
              <a:endParaRPr lang="pt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930537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51263" y="2452643"/>
            <a:ext cx="10515600" cy="19626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/>
              <a:t>Como evitamos o </a:t>
            </a:r>
            <a:r>
              <a:rPr lang="pt-BR" sz="6000" dirty="0" err="1"/>
              <a:t>subajuste</a:t>
            </a:r>
            <a:r>
              <a:rPr lang="pt-BR" sz="6000" dirty="0"/>
              <a:t> e </a:t>
            </a:r>
            <a:r>
              <a:rPr lang="pt-BR" sz="6000" dirty="0" err="1"/>
              <a:t>sobreajuste</a:t>
            </a:r>
            <a:r>
              <a:rPr lang="pt-BR" sz="6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11502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AF60404-37D7-FAB6-B2A1-A3503583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evitamos o subajuste e sobreajuste?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="" xmlns:a16="http://schemas.microsoft.com/office/drawing/2014/main" id="{21965B5D-719E-23AA-7D7E-5C2AA6EB73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68722" y="1825625"/>
                <a:ext cx="6069204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Quando não conhecemos 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melhor ordem para o polinômio</a:t>
                </a:r>
                <a:r>
                  <a:rPr lang="pt-BR" dirty="0"/>
                  <a:t> da </a:t>
                </a:r>
                <a:r>
                  <a:rPr lang="pt-BR" b="1" i="1" dirty="0"/>
                  <a:t>função discriminante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podemos usar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técnicas de validação cruzada</a:t>
                </a:r>
                <a:r>
                  <a:rPr lang="pt-BR" dirty="0">
                    <a:solidFill>
                      <a:schemeClr val="accent2"/>
                    </a:solidFill>
                  </a:rPr>
                  <a:t> </a:t>
                </a:r>
                <a:r>
                  <a:rPr lang="pt-BR" dirty="0"/>
                  <a:t>(e.g., </a:t>
                </a:r>
                <a:r>
                  <a:rPr lang="pt-BR" i="1" dirty="0" err="1"/>
                  <a:t>holdout</a:t>
                </a:r>
                <a:r>
                  <a:rPr lang="pt-BR" dirty="0"/>
                  <a:t> ou </a:t>
                </a:r>
                <a:r>
                  <a:rPr lang="pt-BR" i="1" dirty="0"/>
                  <a:t>k-</a:t>
                </a:r>
                <a:r>
                  <a:rPr lang="pt-BR" i="1" dirty="0" err="1"/>
                  <a:t>fold</a:t>
                </a:r>
                <a:r>
                  <a:rPr lang="pt-BR" i="1" dirty="0"/>
                  <a:t>)</a:t>
                </a:r>
                <a:r>
                  <a:rPr lang="pt-BR" dirty="0"/>
                  <a:t> para encontra-lo.</a:t>
                </a:r>
              </a:p>
              <a:p>
                <a:r>
                  <a:rPr lang="pt-BR" dirty="0"/>
                  <a:t>Esses técnicas nos auxiliam a encontrar um polinômio que apresente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relação de compromisso entre flexibilidade e capacidade de generalização</a:t>
                </a:r>
                <a:r>
                  <a:rPr lang="pt-BR" dirty="0"/>
                  <a:t>, evitando assim os dois problemas.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1965B5D-719E-23AA-7D7E-5C2AA6EB73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68722" y="1825625"/>
                <a:ext cx="6069204" cy="5032376"/>
              </a:xfrm>
              <a:blipFill>
                <a:blip r:embed="rId2"/>
                <a:stretch>
                  <a:fillRect l="-1807" t="-1937" r="-3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ross-Validation: K Fold vs Monte Carlo | by Rebecca Patro | Towards Data  Science">
            <a:extLst>
              <a:ext uri="{FF2B5EF4-FFF2-40B4-BE49-F238E27FC236}">
                <a16:creationId xmlns="" xmlns:a16="http://schemas.microsoft.com/office/drawing/2014/main" id="{59ABA5C6-BECA-6DCB-AB07-53EEA099B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13" y="2723102"/>
            <a:ext cx="5555024" cy="249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F026CA56-BDFD-05E1-4E35-83187109EF30}"/>
              </a:ext>
            </a:extLst>
          </p:cNvPr>
          <p:cNvSpPr txBox="1"/>
          <p:nvPr/>
        </p:nvSpPr>
        <p:spPr>
          <a:xfrm>
            <a:off x="838200" y="2133190"/>
            <a:ext cx="3211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/>
              <a:t>k-</a:t>
            </a:r>
            <a:r>
              <a:rPr lang="pt-BR" sz="2400" b="1" i="1" dirty="0" err="1"/>
              <a:t>fold</a:t>
            </a:r>
            <a:endParaRPr lang="pt-BR" sz="2400" b="1" i="1" dirty="0"/>
          </a:p>
        </p:txBody>
      </p:sp>
    </p:spTree>
    <p:extLst>
      <p:ext uri="{BB962C8B-B14F-4D97-AF65-F5344CB8AC3E}">
        <p14:creationId xmlns:p14="http://schemas.microsoft.com/office/powerpoint/2010/main" val="2729621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AF60404-37D7-FAB6-B2A1-A3503583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evitamos o subajuste e sobreajuste?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1965B5D-719E-23AA-7D7E-5C2AA6EB7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5916" y="1825625"/>
            <a:ext cx="6652009" cy="5032376"/>
          </a:xfrm>
        </p:spPr>
        <p:txBody>
          <a:bodyPr>
            <a:normAutofit/>
          </a:bodyPr>
          <a:lstStyle/>
          <a:p>
            <a:r>
              <a:rPr lang="pt-BR" dirty="0"/>
              <a:t>Uma forma de </a:t>
            </a:r>
            <a:r>
              <a:rPr lang="pt-BR" b="1" i="1" dirty="0">
                <a:solidFill>
                  <a:srgbClr val="7030A0"/>
                </a:solidFill>
              </a:rPr>
              <a:t>evitar </a:t>
            </a:r>
            <a:r>
              <a:rPr lang="pt-BR" b="1" i="1" dirty="0">
                <a:solidFill>
                  <a:schemeClr val="accent2"/>
                </a:solidFill>
              </a:rPr>
              <a:t>apenas</a:t>
            </a:r>
            <a:r>
              <a:rPr lang="pt-BR" b="1" i="1" dirty="0">
                <a:solidFill>
                  <a:srgbClr val="7030A0"/>
                </a:solidFill>
              </a:rPr>
              <a:t> problemas de sobreajuste</a:t>
            </a:r>
            <a:r>
              <a:rPr lang="pt-BR" dirty="0"/>
              <a:t> é usar </a:t>
            </a:r>
            <a:r>
              <a:rPr lang="pt-BR" b="1" i="1" dirty="0">
                <a:solidFill>
                  <a:srgbClr val="00B050"/>
                </a:solidFill>
              </a:rPr>
              <a:t>técnicas de regularização </a:t>
            </a:r>
            <a:r>
              <a:rPr lang="pt-BR" dirty="0"/>
              <a:t>(e.g., LASSO, Ridge, </a:t>
            </a:r>
            <a:r>
              <a:rPr lang="pt-BR" i="1" dirty="0"/>
              <a:t>Elastic-Net</a:t>
            </a:r>
            <a:r>
              <a:rPr lang="pt-BR" dirty="0"/>
              <a:t>, </a:t>
            </a:r>
            <a:r>
              <a:rPr lang="pt-BR" i="1" dirty="0"/>
              <a:t>Early-stopping</a:t>
            </a:r>
            <a:r>
              <a:rPr lang="pt-BR" dirty="0"/>
              <a:t>).</a:t>
            </a:r>
          </a:p>
          <a:p>
            <a:r>
              <a:rPr lang="pt-BR" dirty="0"/>
              <a:t>A regularização </a:t>
            </a:r>
            <a:r>
              <a:rPr lang="pt-BR" b="1" i="1" dirty="0">
                <a:solidFill>
                  <a:srgbClr val="00B050"/>
                </a:solidFill>
              </a:rPr>
              <a:t>r</a:t>
            </a:r>
            <a:r>
              <a:rPr lang="pt-BR" b="1" i="1" dirty="0">
                <a:solidFill>
                  <a:srgbClr val="00B050"/>
                </a:solidFill>
                <a:effectLst/>
              </a:rPr>
              <a:t>eduz a flexibilidade </a:t>
            </a:r>
            <a:r>
              <a:rPr lang="pt-BR" b="0" i="0" dirty="0">
                <a:effectLst/>
              </a:rPr>
              <a:t>do modelo por meio de </a:t>
            </a:r>
            <a:r>
              <a:rPr lang="pt-BR" b="1" i="1" dirty="0">
                <a:solidFill>
                  <a:srgbClr val="FF0000"/>
                </a:solidFill>
                <a:effectLst/>
              </a:rPr>
              <a:t>penalizações</a:t>
            </a:r>
            <a:r>
              <a:rPr lang="pt-BR" b="0" i="0" dirty="0">
                <a:effectLst/>
              </a:rPr>
              <a:t> aplicadas a seus pesos.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Modelos que se </a:t>
            </a:r>
            <a:r>
              <a:rPr lang="pt-BR" b="1" i="1" dirty="0">
                <a:solidFill>
                  <a:srgbClr val="7030A0"/>
                </a:solidFill>
              </a:rPr>
              <a:t>sobreajustam</a:t>
            </a:r>
            <a:r>
              <a:rPr lang="pt-BR" dirty="0"/>
              <a:t> têm </a:t>
            </a:r>
            <a:r>
              <a:rPr lang="pt-BR" b="1" i="1" dirty="0">
                <a:solidFill>
                  <a:srgbClr val="FF0000"/>
                </a:solidFill>
              </a:rPr>
              <a:t>pesos com valores absolutos muito altos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que as técnicas de regularização fazem é </a:t>
            </a:r>
            <a:r>
              <a:rPr lang="pt-BR" b="1" i="1" dirty="0">
                <a:solidFill>
                  <a:srgbClr val="00B050"/>
                </a:solidFill>
              </a:rPr>
              <a:t>restringir o aumento</a:t>
            </a:r>
            <a:r>
              <a:rPr lang="pt-BR" dirty="0"/>
              <a:t> dos pesos a uma </a:t>
            </a:r>
            <a:r>
              <a:rPr lang="pt-BR" b="1" i="1" dirty="0"/>
              <a:t>região</a:t>
            </a:r>
            <a:r>
              <a:rPr lang="pt-BR" dirty="0"/>
              <a:t> de possíveis valores.</a:t>
            </a:r>
          </a:p>
        </p:txBody>
      </p:sp>
      <p:pic>
        <p:nvPicPr>
          <p:cNvPr id="2052" name="Picture 4" descr="Regularization | Regularization Techniques in Machine Learning">
            <a:extLst>
              <a:ext uri="{FF2B5EF4-FFF2-40B4-BE49-F238E27FC236}">
                <a16:creationId xmlns="" xmlns:a16="http://schemas.microsoft.com/office/drawing/2014/main" id="{DBEAA147-DD30-5BD1-7D88-D1E0DA2EEA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9" t="4263" r="3503" b="13944"/>
          <a:stretch/>
        </p:blipFill>
        <p:spPr bwMode="auto">
          <a:xfrm>
            <a:off x="224413" y="2586185"/>
            <a:ext cx="4943790" cy="272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="" xmlns:a16="http://schemas.microsoft.com/office/drawing/2014/main" id="{07C3999F-E11E-BEA4-B848-576DAA84A093}"/>
              </a:ext>
            </a:extLst>
          </p:cNvPr>
          <p:cNvSpPr txBox="1"/>
          <p:nvPr/>
        </p:nvSpPr>
        <p:spPr>
          <a:xfrm>
            <a:off x="224413" y="2220686"/>
            <a:ext cx="1956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LASSO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E21A5017-C486-6341-CE55-AA6B086B7AFD}"/>
              </a:ext>
            </a:extLst>
          </p:cNvPr>
          <p:cNvSpPr txBox="1"/>
          <p:nvPr/>
        </p:nvSpPr>
        <p:spPr>
          <a:xfrm>
            <a:off x="3212124" y="2220686"/>
            <a:ext cx="1956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Ridge</a:t>
            </a:r>
          </a:p>
        </p:txBody>
      </p:sp>
    </p:spTree>
    <p:extLst>
      <p:ext uri="{BB962C8B-B14F-4D97-AF65-F5344CB8AC3E}">
        <p14:creationId xmlns:p14="http://schemas.microsoft.com/office/powerpoint/2010/main" val="3170954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Quiz</a:t>
            </a:r>
            <a:r>
              <a:rPr lang="pt-BR" dirty="0"/>
              <a:t>: “</a:t>
            </a:r>
            <a:r>
              <a:rPr lang="pt-BR" i="1" dirty="0"/>
              <a:t>T320 - Quiz - Classificação (Parte III)</a:t>
            </a:r>
            <a:r>
              <a:rPr lang="pt-BR" dirty="0"/>
              <a:t>” que se encontra no MS Teams.</a:t>
            </a:r>
          </a:p>
          <a:p>
            <a:r>
              <a:rPr lang="pt-BR" b="1" dirty="0"/>
              <a:t>Exercício Prático</a:t>
            </a:r>
            <a:r>
              <a:rPr lang="pt-BR" dirty="0"/>
              <a:t>: </a:t>
            </a:r>
            <a:r>
              <a:rPr lang="pt-BR" b="1" dirty="0">
                <a:hlinkClick r:id="rId3"/>
              </a:rPr>
              <a:t>Laboratório #3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Pode ser acessado através do link acima (Google </a:t>
            </a:r>
            <a:r>
              <a:rPr lang="pt-BR" dirty="0" err="1"/>
              <a:t>Colab</a:t>
            </a:r>
            <a:r>
              <a:rPr lang="pt-BR" dirty="0"/>
              <a:t>) ou no GitHub.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atentem aos prazos de entrega.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4"/>
              </a:rPr>
              <a:t>Instruções para resolução e entrega dos laboratórios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607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951780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B0A78A2E-6E03-2C97-4148-5EE803DD5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23898"/>
            <a:ext cx="10515600" cy="18102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Anexo I: Encontrando o vetor gradiente do regressor logístico</a:t>
            </a:r>
          </a:p>
        </p:txBody>
      </p:sp>
    </p:spTree>
    <p:extLst>
      <p:ext uri="{BB962C8B-B14F-4D97-AF65-F5344CB8AC3E}">
        <p14:creationId xmlns:p14="http://schemas.microsoft.com/office/powerpoint/2010/main" val="867571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Encontrando 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Antes de encontrarmos 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pt-BR" dirty="0"/>
                  <a:t>, vamos reescrever a </a:t>
                </a:r>
                <a:r>
                  <a:rPr lang="pt-BR" b="1" i="1" dirty="0"/>
                  <a:t>função de erro</a:t>
                </a:r>
                <a:r>
                  <a:rPr lang="pt-BR" dirty="0"/>
                  <a:t> utilizando as seguintes equivalências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pt-BR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pt-BR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Assim, a nova expressão para a </a:t>
                </a:r>
                <a:r>
                  <a:rPr lang="pt-BR" b="1" i="1" dirty="0"/>
                  <a:t>função de erro médio </a:t>
                </a:r>
                <a:r>
                  <a:rPr lang="pt-BR" dirty="0"/>
                  <a:t>é dada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func>
                            <m:func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nary>
                      <m:r>
                        <a:rPr lang="pt-BR">
                          <a:latin typeface="Cambria Math" panose="02040503050406030204" pitchFamily="18" charset="0"/>
                        </a:rPr>
                        <m:t>+(1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pt-BR" dirty="0"/>
              </a:p>
              <a:p>
                <a:endParaRPr lang="pt-BR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5742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Encontrando 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955694" cy="485509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O termo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 é cancelado com um dos elementos gerados a partir do produto envolvido no segundo termo, de forma que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pt-BR" sz="2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pt-BR" sz="2400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pt-BR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4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pt-BR" sz="24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sz="24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pt-BR" sz="240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pt-BR" sz="2400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pt-BR" sz="2400" dirty="0"/>
                  <a:t>.</a:t>
                </a:r>
              </a:p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, então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r>
                      <a:rPr lang="pt-BR" b="1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Desta forma, a </a:t>
                </a:r>
                <a:r>
                  <a:rPr lang="pt-BR" b="1" i="1" dirty="0"/>
                  <a:t>função de erro médio </a:t>
                </a:r>
                <a:r>
                  <a:rPr lang="pt-BR" dirty="0"/>
                  <a:t>se torna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BR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pt-BR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pt-BR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Em seguida, encontramos 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de cada termo da equação acima.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955694" cy="4855094"/>
              </a:xfrm>
              <a:blipFill rotWithShape="0">
                <a:blip r:embed="rId2"/>
                <a:stretch>
                  <a:fillRect l="-1002" t="-753" b="-5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5607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1097915"/>
          </a:xfrm>
        </p:spPr>
        <p:txBody>
          <a:bodyPr>
            <a:normAutofit/>
          </a:bodyPr>
          <a:lstStyle/>
          <a:p>
            <a:r>
              <a:rPr lang="pt-BR" dirty="0"/>
              <a:t>Encontrando 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1186160" cy="516731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Assim, 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do primeiro termo da equação anterior é dado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do segundo termo da equação anterior é dado por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p>
                                            <m:sSupPr>
                                              <m:ctrlP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BR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  <m:sup>
                                              <m:r>
                                                <a:rPr lang="pt-BR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r>
                                            <a:rPr lang="pt-BR" b="1" i="1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p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p>
                                <m:s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p>
                          </m:sSup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Usamos a </a:t>
                </a:r>
                <a:r>
                  <a:rPr lang="pt-BR" b="1" i="1" dirty="0"/>
                  <a:t>regra da cadeia </a:t>
                </a:r>
                <a:r>
                  <a:rPr lang="pt-BR" dirty="0"/>
                  <a:t>para encontrar o vetor gradiente do segundo termo.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1186160" cy="5167312"/>
              </a:xfrm>
              <a:blipFill>
                <a:blip r:embed="rId2"/>
                <a:stretch>
                  <a:fillRect l="-981" t="-2594" b="-10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 flipV="1">
            <a:off x="3230880" y="4389120"/>
            <a:ext cx="356002" cy="15658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0431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Encontrando 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01400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Portanto, combinando os 2 resultados anteriores, temos que 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da</a:t>
                </a:r>
                <a:r>
                  <a:rPr lang="pt-BR" b="1" i="1" dirty="0"/>
                  <a:t> função de erro médio </a:t>
                </a:r>
                <a:r>
                  <a:rPr lang="pt-BR" dirty="0"/>
                  <a:t>é dado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pt-BR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01400" cy="5032376"/>
              </a:xfrm>
              <a:blipFill>
                <a:blip r:embed="rId3"/>
                <a:stretch>
                  <a:fillRect l="-980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675257" y="2175892"/>
                <a:ext cx="1364343" cy="774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algn="ctr">
                  <a:defRPr sz="1400"/>
                </a:lvl1pPr>
              </a:lstStyle>
              <a:p>
                <a:r>
                  <a:rPr lang="pt-BR" dirty="0"/>
                  <a:t>Forma matricial: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𝑿</m:t>
                    </m:r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pt-BR" dirty="0"/>
                  <a:t>  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pt-BR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5257" y="2175892"/>
                <a:ext cx="1364343" cy="774443"/>
              </a:xfrm>
              <a:prstGeom prst="rect">
                <a:avLst/>
              </a:prstGeom>
              <a:blipFill rotWithShape="0">
                <a:blip r:embed="rId4"/>
                <a:stretch>
                  <a:fillRect l="-1339" t="-1575" r="-4018" b="-3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H="1">
            <a:off x="9814560" y="2407920"/>
            <a:ext cx="860698" cy="5424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3676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Figuras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00614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284895" y="1407719"/>
            <a:ext cx="13523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FF0000"/>
                </a:solidFill>
              </a:rPr>
              <a:t>Positivo verdadeiro</a:t>
            </a:r>
          </a:p>
          <a:p>
            <a:pPr algn="ctr"/>
            <a:r>
              <a:rPr lang="pt-BR" sz="1400" dirty="0">
                <a:solidFill>
                  <a:srgbClr val="FF0000"/>
                </a:solidFill>
              </a:rPr>
              <a:t>(true positive)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936069" y="1868838"/>
            <a:ext cx="1080000" cy="10800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6069" y="1868838"/>
            <a:ext cx="1080000" cy="10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36069" y="2948838"/>
            <a:ext cx="1080000" cy="10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27061" y="2948838"/>
            <a:ext cx="1080000" cy="1080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 rot="5400000">
            <a:off x="6375621" y="2764173"/>
            <a:ext cx="216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Predicted label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0572" y="4251169"/>
            <a:ext cx="2165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True label</a:t>
            </a:r>
          </a:p>
        </p:txBody>
      </p:sp>
      <p:sp>
        <p:nvSpPr>
          <p:cNvPr id="37" name="TextBox 36"/>
          <p:cNvSpPr txBox="1"/>
          <p:nvPr/>
        </p:nvSpPr>
        <p:spPr>
          <a:xfrm rot="5400000">
            <a:off x="7236683" y="2254951"/>
            <a:ext cx="1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 rot="5400000">
            <a:off x="7243567" y="3334951"/>
            <a:ext cx="1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36069" y="4028838"/>
            <a:ext cx="1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16069" y="4032548"/>
            <a:ext cx="1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7426411" y="1710483"/>
            <a:ext cx="741238" cy="358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82799" y="1927234"/>
            <a:ext cx="1310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FF0000"/>
                </a:solidFill>
              </a:rPr>
              <a:t>Positivo falso</a:t>
            </a:r>
          </a:p>
          <a:p>
            <a:pPr algn="ctr"/>
            <a:r>
              <a:rPr lang="pt-BR" sz="1400" dirty="0">
                <a:solidFill>
                  <a:srgbClr val="FF0000"/>
                </a:solidFill>
              </a:rPr>
              <a:t>(false positive)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9757980" y="2146383"/>
            <a:ext cx="548575" cy="1264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73915" y="3673911"/>
            <a:ext cx="1365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FF0000"/>
                </a:solidFill>
              </a:rPr>
              <a:t>Negativo falso</a:t>
            </a:r>
          </a:p>
          <a:p>
            <a:pPr algn="ctr"/>
            <a:r>
              <a:rPr lang="pt-BR" sz="1400" dirty="0">
                <a:solidFill>
                  <a:srgbClr val="FF0000"/>
                </a:solidFill>
              </a:rPr>
              <a:t>(False negative)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7389414" y="3738869"/>
            <a:ext cx="1152054" cy="1733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128" y="3443390"/>
            <a:ext cx="13265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FF0000"/>
                </a:solidFill>
              </a:rPr>
              <a:t>Negativo verdadeiro</a:t>
            </a:r>
          </a:p>
          <a:p>
            <a:pPr algn="ctr"/>
            <a:r>
              <a:rPr lang="pt-BR" sz="1400" dirty="0">
                <a:solidFill>
                  <a:srgbClr val="FF0000"/>
                </a:solidFill>
              </a:rPr>
              <a:t>(true negative)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9877238" y="3735492"/>
            <a:ext cx="503539" cy="44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Agrupar 1">
            <a:extLst>
              <a:ext uri="{FF2B5EF4-FFF2-40B4-BE49-F238E27FC236}">
                <a16:creationId xmlns="" xmlns:a16="http://schemas.microsoft.com/office/drawing/2014/main" id="{1CDFFFFC-8192-7919-7B13-5DC35374BC48}"/>
              </a:ext>
            </a:extLst>
          </p:cNvPr>
          <p:cNvGrpSpPr/>
          <p:nvPr/>
        </p:nvGrpSpPr>
        <p:grpSpPr>
          <a:xfrm>
            <a:off x="807621" y="1554888"/>
            <a:ext cx="4264646" cy="3867900"/>
            <a:chOff x="473795" y="2024060"/>
            <a:chExt cx="4264646" cy="3867900"/>
          </a:xfrm>
        </p:grpSpPr>
        <p:pic>
          <p:nvPicPr>
            <p:cNvPr id="4" name="Picture 3">
              <a:extLst>
                <a:ext uri="{FF2B5EF4-FFF2-40B4-BE49-F238E27FC236}">
                  <a16:creationId xmlns="" xmlns:a16="http://schemas.microsoft.com/office/drawing/2014/main" id="{765EBBE8-684D-00AF-53C1-01EFECAF7F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79" t="6664" r="8832"/>
            <a:stretch/>
          </p:blipFill>
          <p:spPr>
            <a:xfrm>
              <a:off x="617437" y="2024060"/>
              <a:ext cx="4121004" cy="376494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aixaDeTexto 4">
                  <a:extLst>
                    <a:ext uri="{FF2B5EF4-FFF2-40B4-BE49-F238E27FC236}">
                      <a16:creationId xmlns="" xmlns:a16="http://schemas.microsoft.com/office/drawing/2014/main" id="{2582792B-3C80-AD73-358C-054A3CBF463F}"/>
                    </a:ext>
                  </a:extLst>
                </p:cNvPr>
                <p:cNvSpPr txBox="1"/>
                <p:nvPr/>
              </p:nvSpPr>
              <p:spPr>
                <a:xfrm rot="16200000">
                  <a:off x="252390" y="3554735"/>
                  <a:ext cx="781363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id="{2582792B-3C80-AD73-358C-054A3CBF4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52390" y="3554735"/>
                  <a:ext cx="781363" cy="338554"/>
                </a:xfrm>
                <a:prstGeom prst="rect">
                  <a:avLst/>
                </a:prstGeom>
                <a:blipFill>
                  <a:blip r:embed="rId4"/>
                  <a:stretch>
                    <a:fillRect t="-2344" r="-8929" b="-78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="" xmlns:a16="http://schemas.microsoft.com/office/drawing/2014/main" id="{8587B273-E9F7-096F-D0CE-D09C64803C0E}"/>
                    </a:ext>
                  </a:extLst>
                </p:cNvPr>
                <p:cNvSpPr txBox="1"/>
                <p:nvPr/>
              </p:nvSpPr>
              <p:spPr>
                <a:xfrm>
                  <a:off x="2270348" y="5553406"/>
                  <a:ext cx="1266826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8587B273-E9F7-096F-D0CE-D09C64803C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0348" y="5553406"/>
                  <a:ext cx="1266826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51063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Agrupar 60">
            <a:extLst>
              <a:ext uri="{FF2B5EF4-FFF2-40B4-BE49-F238E27FC236}">
                <a16:creationId xmlns="" xmlns:a16="http://schemas.microsoft.com/office/drawing/2014/main" id="{6CEAC2DF-B2DD-68B2-0671-2F3740FD26B3}"/>
              </a:ext>
            </a:extLst>
          </p:cNvPr>
          <p:cNvGrpSpPr/>
          <p:nvPr/>
        </p:nvGrpSpPr>
        <p:grpSpPr>
          <a:xfrm>
            <a:off x="7035798" y="2673307"/>
            <a:ext cx="2807332" cy="3344798"/>
            <a:chOff x="7035798" y="2673307"/>
            <a:chExt cx="2807332" cy="3344798"/>
          </a:xfrm>
        </p:grpSpPr>
        <p:sp>
          <p:nvSpPr>
            <p:cNvPr id="17" name="CaixaDeTexto 16">
              <a:extLst>
                <a:ext uri="{FF2B5EF4-FFF2-40B4-BE49-F238E27FC236}">
                  <a16:creationId xmlns="" xmlns:a16="http://schemas.microsoft.com/office/drawing/2014/main" id="{EA72D705-0EF8-C613-09E0-6BB9931A368C}"/>
                </a:ext>
              </a:extLst>
            </p:cNvPr>
            <p:cNvSpPr txBox="1"/>
            <p:nvPr/>
          </p:nvSpPr>
          <p:spPr>
            <a:xfrm>
              <a:off x="8095932" y="5494885"/>
              <a:ext cx="7905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global</a:t>
              </a:r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="" xmlns:a16="http://schemas.microsoft.com/office/drawing/2014/main" id="{590FFF82-676D-D681-F915-3BF433BA72B9}"/>
                </a:ext>
              </a:extLst>
            </p:cNvPr>
            <p:cNvSpPr/>
            <p:nvPr/>
          </p:nvSpPr>
          <p:spPr>
            <a:xfrm>
              <a:off x="7902576" y="3045814"/>
              <a:ext cx="1231900" cy="2445896"/>
            </a:xfrm>
            <a:custGeom>
              <a:avLst/>
              <a:gdLst>
                <a:gd name="connsiteX0" fmla="*/ 0 w 1231900"/>
                <a:gd name="connsiteY0" fmla="*/ 12700 h 2479930"/>
                <a:gd name="connsiteX1" fmla="*/ 330200 w 1231900"/>
                <a:gd name="connsiteY1" fmla="*/ 1905000 h 2479930"/>
                <a:gd name="connsiteX2" fmla="*/ 711200 w 1231900"/>
                <a:gd name="connsiteY2" fmla="*/ 2362200 h 2479930"/>
                <a:gd name="connsiteX3" fmla="*/ 1231900 w 1231900"/>
                <a:gd name="connsiteY3" fmla="*/ 0 h 2479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900" h="2479930">
                  <a:moveTo>
                    <a:pt x="0" y="12700"/>
                  </a:moveTo>
                  <a:cubicBezTo>
                    <a:pt x="105833" y="763058"/>
                    <a:pt x="211667" y="1513417"/>
                    <a:pt x="330200" y="1905000"/>
                  </a:cubicBezTo>
                  <a:cubicBezTo>
                    <a:pt x="448733" y="2296583"/>
                    <a:pt x="560917" y="2679700"/>
                    <a:pt x="711200" y="2362200"/>
                  </a:cubicBezTo>
                  <a:cubicBezTo>
                    <a:pt x="861483" y="2044700"/>
                    <a:pt x="1046691" y="1022350"/>
                    <a:pt x="123190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="" xmlns:a16="http://schemas.microsoft.com/office/drawing/2014/main" id="{0AC9FBB3-9CBE-B1A7-4F17-7FC318B2661B}"/>
                </a:ext>
              </a:extLst>
            </p:cNvPr>
            <p:cNvSpPr txBox="1"/>
            <p:nvPr/>
          </p:nvSpPr>
          <p:spPr>
            <a:xfrm>
              <a:off x="7035798" y="2673307"/>
              <a:ext cx="28073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Função convexa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="" xmlns:a16="http://schemas.microsoft.com/office/drawing/2014/main" id="{E99A0D4F-D3DE-4542-9DC1-713CD9CD66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02576" y="3333750"/>
              <a:ext cx="108000" cy="108000"/>
            </a:xfrm>
            <a:prstGeom prst="ellipse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40" name="Conector de Seta Reta 39">
              <a:extLst>
                <a:ext uri="{FF2B5EF4-FFF2-40B4-BE49-F238E27FC236}">
                  <a16:creationId xmlns="" xmlns:a16="http://schemas.microsoft.com/office/drawing/2014/main" id="{268DC808-05EA-47C5-59A3-5BE582AEE40C}"/>
                </a:ext>
              </a:extLst>
            </p:cNvPr>
            <p:cNvCxnSpPr>
              <a:cxnSpLocks/>
              <a:stCxn id="38" idx="5"/>
            </p:cNvCxnSpPr>
            <p:nvPr/>
          </p:nvCxnSpPr>
          <p:spPr>
            <a:xfrm>
              <a:off x="7994760" y="3425934"/>
              <a:ext cx="966360" cy="5517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de Seta Reta 42">
              <a:extLst>
                <a:ext uri="{FF2B5EF4-FFF2-40B4-BE49-F238E27FC236}">
                  <a16:creationId xmlns="" xmlns:a16="http://schemas.microsoft.com/office/drawing/2014/main" id="{54B06C74-6A21-4148-7BF2-2C1D82541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5932" y="3977640"/>
              <a:ext cx="865188" cy="3451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>
              <a:extLst>
                <a:ext uri="{FF2B5EF4-FFF2-40B4-BE49-F238E27FC236}">
                  <a16:creationId xmlns="" xmlns:a16="http://schemas.microsoft.com/office/drawing/2014/main" id="{5F4704E7-C159-A4FC-6960-FB9661291A3A}"/>
                </a:ext>
              </a:extLst>
            </p:cNvPr>
            <p:cNvCxnSpPr/>
            <p:nvPr/>
          </p:nvCxnSpPr>
          <p:spPr>
            <a:xfrm>
              <a:off x="8095932" y="4322762"/>
              <a:ext cx="698024" cy="3802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>
              <a:extLst>
                <a:ext uri="{FF2B5EF4-FFF2-40B4-BE49-F238E27FC236}">
                  <a16:creationId xmlns="" xmlns:a16="http://schemas.microsoft.com/office/drawing/2014/main" id="{15175306-3E90-44C5-192A-D58AF95893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01038" y="4702969"/>
              <a:ext cx="492918" cy="4071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de Seta Reta 50">
              <a:extLst>
                <a:ext uri="{FF2B5EF4-FFF2-40B4-BE49-F238E27FC236}">
                  <a16:creationId xmlns="" xmlns:a16="http://schemas.microsoft.com/office/drawing/2014/main" id="{74EFD59A-8088-3819-D8BF-E1FB71EC3534}"/>
                </a:ext>
              </a:extLst>
            </p:cNvPr>
            <p:cNvCxnSpPr>
              <a:cxnSpLocks/>
              <a:endCxn id="36" idx="2"/>
            </p:cNvCxnSpPr>
            <p:nvPr/>
          </p:nvCxnSpPr>
          <p:spPr>
            <a:xfrm>
              <a:off x="8301038" y="5110163"/>
              <a:ext cx="312738" cy="2654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de Seta Reta 53">
              <a:extLst>
                <a:ext uri="{FF2B5EF4-FFF2-40B4-BE49-F238E27FC236}">
                  <a16:creationId xmlns="" xmlns:a16="http://schemas.microsoft.com/office/drawing/2014/main" id="{368CEE90-AF05-B68A-9AF1-E561244441D9}"/>
                </a:ext>
              </a:extLst>
            </p:cNvPr>
            <p:cNvCxnSpPr>
              <a:stCxn id="36" idx="2"/>
            </p:cNvCxnSpPr>
            <p:nvPr/>
          </p:nvCxnSpPr>
          <p:spPr>
            <a:xfrm flipH="1">
              <a:off x="8500743" y="5375596"/>
              <a:ext cx="113033" cy="1002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Elipse 20">
              <a:extLst>
                <a:ext uri="{FF2B5EF4-FFF2-40B4-BE49-F238E27FC236}">
                  <a16:creationId xmlns="" xmlns:a16="http://schemas.microsoft.com/office/drawing/2014/main" id="{9BD6F2B2-EF59-EDF9-5760-B302D8261D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6743" y="5421835"/>
              <a:ext cx="108000" cy="108000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6" name="CaixaDeTexto 55">
              <a:extLst>
                <a:ext uri="{FF2B5EF4-FFF2-40B4-BE49-F238E27FC236}">
                  <a16:creationId xmlns="" xmlns:a16="http://schemas.microsoft.com/office/drawing/2014/main" id="{14639DB3-164D-627C-10FA-733E09CE5815}"/>
                </a:ext>
              </a:extLst>
            </p:cNvPr>
            <p:cNvSpPr txBox="1"/>
            <p:nvPr/>
          </p:nvSpPr>
          <p:spPr>
            <a:xfrm>
              <a:off x="7784781" y="3121067"/>
              <a:ext cx="111696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50" dirty="0"/>
                <a:t>Ponto inicial</a:t>
              </a:r>
            </a:p>
          </p:txBody>
        </p:sp>
        <p:cxnSp>
          <p:nvCxnSpPr>
            <p:cNvPr id="57" name="Conector de Seta Reta 56">
              <a:extLst>
                <a:ext uri="{FF2B5EF4-FFF2-40B4-BE49-F238E27FC236}">
                  <a16:creationId xmlns="" xmlns:a16="http://schemas.microsoft.com/office/drawing/2014/main" id="{94925ACA-115F-DE91-11EB-4AD2666E8A40}"/>
                </a:ext>
              </a:extLst>
            </p:cNvPr>
            <p:cNvCxnSpPr/>
            <p:nvPr/>
          </p:nvCxnSpPr>
          <p:spPr>
            <a:xfrm>
              <a:off x="7384891" y="3355232"/>
              <a:ext cx="0" cy="21494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aixaDeTexto 57">
              <a:extLst>
                <a:ext uri="{FF2B5EF4-FFF2-40B4-BE49-F238E27FC236}">
                  <a16:creationId xmlns="" xmlns:a16="http://schemas.microsoft.com/office/drawing/2014/main" id="{6802C94E-EB66-25FA-0BC0-E6FFF8B88DAF}"/>
                </a:ext>
              </a:extLst>
            </p:cNvPr>
            <p:cNvSpPr txBox="1"/>
            <p:nvPr/>
          </p:nvSpPr>
          <p:spPr>
            <a:xfrm>
              <a:off x="7356316" y="5031632"/>
              <a:ext cx="590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Erro</a:t>
              </a:r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="" xmlns:a16="http://schemas.microsoft.com/office/drawing/2014/main" id="{9FD7C786-F446-482E-E3DD-BAAEF25E5EB3}"/>
              </a:ext>
            </a:extLst>
          </p:cNvPr>
          <p:cNvGrpSpPr/>
          <p:nvPr/>
        </p:nvGrpSpPr>
        <p:grpSpPr>
          <a:xfrm>
            <a:off x="2847975" y="2490528"/>
            <a:ext cx="3066413" cy="3445623"/>
            <a:chOff x="2847975" y="2490528"/>
            <a:chExt cx="3066413" cy="3445623"/>
          </a:xfrm>
        </p:grpSpPr>
        <p:sp>
          <p:nvSpPr>
            <p:cNvPr id="11" name="Forma Livre: Forma 10">
              <a:extLst>
                <a:ext uri="{FF2B5EF4-FFF2-40B4-BE49-F238E27FC236}">
                  <a16:creationId xmlns="" xmlns:a16="http://schemas.microsoft.com/office/drawing/2014/main" id="{F50B53DF-4C4E-4C85-8BAE-C98DF42162DA}"/>
                </a:ext>
              </a:extLst>
            </p:cNvPr>
            <p:cNvSpPr/>
            <p:nvPr/>
          </p:nvSpPr>
          <p:spPr>
            <a:xfrm>
              <a:off x="3352800" y="2951604"/>
              <a:ext cx="2238375" cy="2445896"/>
            </a:xfrm>
            <a:custGeom>
              <a:avLst/>
              <a:gdLst>
                <a:gd name="connsiteX0" fmla="*/ 0 w 2238375"/>
                <a:gd name="connsiteY0" fmla="*/ 0 h 2445896"/>
                <a:gd name="connsiteX1" fmla="*/ 180975 w 2238375"/>
                <a:gd name="connsiteY1" fmla="*/ 1390650 h 2445896"/>
                <a:gd name="connsiteX2" fmla="*/ 561975 w 2238375"/>
                <a:gd name="connsiteY2" fmla="*/ 76200 h 2445896"/>
                <a:gd name="connsiteX3" fmla="*/ 990600 w 2238375"/>
                <a:gd name="connsiteY3" fmla="*/ 2428875 h 2445896"/>
                <a:gd name="connsiteX4" fmla="*/ 1381125 w 2238375"/>
                <a:gd name="connsiteY4" fmla="*/ 1085850 h 2445896"/>
                <a:gd name="connsiteX5" fmla="*/ 1600200 w 2238375"/>
                <a:gd name="connsiteY5" fmla="*/ 114300 h 2445896"/>
                <a:gd name="connsiteX6" fmla="*/ 1866900 w 2238375"/>
                <a:gd name="connsiteY6" fmla="*/ 828675 h 2445896"/>
                <a:gd name="connsiteX7" fmla="*/ 2238375 w 2238375"/>
                <a:gd name="connsiteY7" fmla="*/ 247650 h 24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38375" h="2445896">
                  <a:moveTo>
                    <a:pt x="0" y="0"/>
                  </a:moveTo>
                  <a:cubicBezTo>
                    <a:pt x="43656" y="688975"/>
                    <a:pt x="87313" y="1377950"/>
                    <a:pt x="180975" y="1390650"/>
                  </a:cubicBezTo>
                  <a:cubicBezTo>
                    <a:pt x="274637" y="1403350"/>
                    <a:pt x="427038" y="-96837"/>
                    <a:pt x="561975" y="76200"/>
                  </a:cubicBezTo>
                  <a:cubicBezTo>
                    <a:pt x="696912" y="249237"/>
                    <a:pt x="854075" y="2260600"/>
                    <a:pt x="990600" y="2428875"/>
                  </a:cubicBezTo>
                  <a:cubicBezTo>
                    <a:pt x="1127125" y="2597150"/>
                    <a:pt x="1279525" y="1471612"/>
                    <a:pt x="1381125" y="1085850"/>
                  </a:cubicBezTo>
                  <a:cubicBezTo>
                    <a:pt x="1482725" y="700088"/>
                    <a:pt x="1519238" y="157162"/>
                    <a:pt x="1600200" y="114300"/>
                  </a:cubicBezTo>
                  <a:cubicBezTo>
                    <a:pt x="1681162" y="71438"/>
                    <a:pt x="1760538" y="806450"/>
                    <a:pt x="1866900" y="828675"/>
                  </a:cubicBezTo>
                  <a:cubicBezTo>
                    <a:pt x="1973263" y="850900"/>
                    <a:pt x="2105819" y="549275"/>
                    <a:pt x="2238375" y="24765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3" name="Conector de Seta Reta 12">
              <a:extLst>
                <a:ext uri="{FF2B5EF4-FFF2-40B4-BE49-F238E27FC236}">
                  <a16:creationId xmlns="" xmlns:a16="http://schemas.microsoft.com/office/drawing/2014/main" id="{3110A252-5626-CF16-70EC-599A5D7930AA}"/>
                </a:ext>
              </a:extLst>
            </p:cNvPr>
            <p:cNvCxnSpPr/>
            <p:nvPr/>
          </p:nvCxnSpPr>
          <p:spPr>
            <a:xfrm>
              <a:off x="2876550" y="3248025"/>
              <a:ext cx="0" cy="21494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ixaDeTexto 13">
              <a:extLst>
                <a:ext uri="{FF2B5EF4-FFF2-40B4-BE49-F238E27FC236}">
                  <a16:creationId xmlns="" xmlns:a16="http://schemas.microsoft.com/office/drawing/2014/main" id="{19B38D1F-C032-C6E3-3F1A-254B72F09363}"/>
                </a:ext>
              </a:extLst>
            </p:cNvPr>
            <p:cNvSpPr txBox="1"/>
            <p:nvPr/>
          </p:nvSpPr>
          <p:spPr>
            <a:xfrm>
              <a:off x="2847975" y="4924425"/>
              <a:ext cx="590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Erro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="" xmlns:a16="http://schemas.microsoft.com/office/drawing/2014/main" id="{A48B195D-3235-843C-F6C1-5B05456E9673}"/>
                </a:ext>
              </a:extLst>
            </p:cNvPr>
            <p:cNvSpPr txBox="1"/>
            <p:nvPr/>
          </p:nvSpPr>
          <p:spPr>
            <a:xfrm>
              <a:off x="3143250" y="4322762"/>
              <a:ext cx="7905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local</a:t>
              </a:r>
            </a:p>
          </p:txBody>
        </p:sp>
        <p:sp>
          <p:nvSpPr>
            <p:cNvPr id="16" name="Elipse 15">
              <a:extLst>
                <a:ext uri="{FF2B5EF4-FFF2-40B4-BE49-F238E27FC236}">
                  <a16:creationId xmlns="" xmlns:a16="http://schemas.microsoft.com/office/drawing/2014/main" id="{ECC6E25F-D6BE-42F1-A04F-F11D5EE26B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75011" y="4268762"/>
              <a:ext cx="108000" cy="108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="" xmlns:a16="http://schemas.microsoft.com/office/drawing/2014/main" id="{9C45849C-28CE-A26B-8688-8B82CEE63DDA}"/>
                </a:ext>
              </a:extLst>
            </p:cNvPr>
            <p:cNvSpPr txBox="1"/>
            <p:nvPr/>
          </p:nvSpPr>
          <p:spPr>
            <a:xfrm>
              <a:off x="4864734" y="3853542"/>
              <a:ext cx="7905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local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="" xmlns:a16="http://schemas.microsoft.com/office/drawing/2014/main" id="{447D6D01-88F2-02AB-7D57-46450311E923}"/>
                </a:ext>
              </a:extLst>
            </p:cNvPr>
            <p:cNvSpPr txBox="1"/>
            <p:nvPr/>
          </p:nvSpPr>
          <p:spPr>
            <a:xfrm>
              <a:off x="3068321" y="2490528"/>
              <a:ext cx="28073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Função não-convexa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="" xmlns:a16="http://schemas.microsoft.com/office/drawing/2014/main" id="{4468B11C-AD95-31BE-84A6-2C5E405212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57322" y="3067470"/>
              <a:ext cx="108000" cy="108000"/>
            </a:xfrm>
            <a:prstGeom prst="ellipse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4" name="Conector de Seta Reta 23">
              <a:extLst>
                <a:ext uri="{FF2B5EF4-FFF2-40B4-BE49-F238E27FC236}">
                  <a16:creationId xmlns="" xmlns:a16="http://schemas.microsoft.com/office/drawing/2014/main" id="{A4A070D0-9E61-C019-24E6-2177E7BA5DA1}"/>
                </a:ext>
              </a:extLst>
            </p:cNvPr>
            <p:cNvCxnSpPr>
              <a:stCxn id="22" idx="6"/>
            </p:cNvCxnSpPr>
            <p:nvPr/>
          </p:nvCxnSpPr>
          <p:spPr>
            <a:xfrm>
              <a:off x="5065322" y="3121470"/>
              <a:ext cx="465528" cy="2122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de Seta Reta 33">
              <a:extLst>
                <a:ext uri="{FF2B5EF4-FFF2-40B4-BE49-F238E27FC236}">
                  <a16:creationId xmlns="" xmlns:a16="http://schemas.microsoft.com/office/drawing/2014/main" id="{015CC9DE-4883-B304-6D06-0B1612F8A32D}"/>
                </a:ext>
              </a:extLst>
            </p:cNvPr>
            <p:cNvCxnSpPr>
              <a:endCxn id="11" idx="6"/>
            </p:cNvCxnSpPr>
            <p:nvPr/>
          </p:nvCxnSpPr>
          <p:spPr>
            <a:xfrm flipH="1">
              <a:off x="5219700" y="3631746"/>
              <a:ext cx="154781" cy="1485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de Seta Reta 27">
              <a:extLst>
                <a:ext uri="{FF2B5EF4-FFF2-40B4-BE49-F238E27FC236}">
                  <a16:creationId xmlns="" xmlns:a16="http://schemas.microsoft.com/office/drawing/2014/main" id="{C604F759-E9F0-FD37-8241-90A347156F15}"/>
                </a:ext>
              </a:extLst>
            </p:cNvPr>
            <p:cNvCxnSpPr/>
            <p:nvPr/>
          </p:nvCxnSpPr>
          <p:spPr>
            <a:xfrm flipH="1">
              <a:off x="5118100" y="3333750"/>
              <a:ext cx="412750" cy="1968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de Seta Reta 29">
              <a:extLst>
                <a:ext uri="{FF2B5EF4-FFF2-40B4-BE49-F238E27FC236}">
                  <a16:creationId xmlns="" xmlns:a16="http://schemas.microsoft.com/office/drawing/2014/main" id="{6E17B7D1-6C0D-395B-4209-354CCFD369BF}"/>
                </a:ext>
              </a:extLst>
            </p:cNvPr>
            <p:cNvCxnSpPr>
              <a:cxnSpLocks/>
            </p:cNvCxnSpPr>
            <p:nvPr/>
          </p:nvCxnSpPr>
          <p:spPr>
            <a:xfrm>
              <a:off x="5118100" y="3530600"/>
              <a:ext cx="256381" cy="1011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ipse 18">
              <a:extLst>
                <a:ext uri="{FF2B5EF4-FFF2-40B4-BE49-F238E27FC236}">
                  <a16:creationId xmlns="" xmlns:a16="http://schemas.microsoft.com/office/drawing/2014/main" id="{D11EC075-B561-04E9-D79A-021ECD68D8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75836" y="3712201"/>
              <a:ext cx="108000" cy="108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="" xmlns:a16="http://schemas.microsoft.com/office/drawing/2014/main" id="{0DCEEA60-A93D-F00F-E769-1B2D8B95C7F2}"/>
                </a:ext>
              </a:extLst>
            </p:cNvPr>
            <p:cNvSpPr txBox="1"/>
            <p:nvPr/>
          </p:nvSpPr>
          <p:spPr>
            <a:xfrm>
              <a:off x="4797423" y="2867249"/>
              <a:ext cx="111696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50" dirty="0"/>
                <a:t>Ponto inicial</a:t>
              </a:r>
            </a:p>
          </p:txBody>
        </p:sp>
        <p:sp>
          <p:nvSpPr>
            <p:cNvPr id="59" name="CaixaDeTexto 58">
              <a:extLst>
                <a:ext uri="{FF2B5EF4-FFF2-40B4-BE49-F238E27FC236}">
                  <a16:creationId xmlns="" xmlns:a16="http://schemas.microsoft.com/office/drawing/2014/main" id="{6440C131-E34D-0D14-1FAD-DA7EA59843C4}"/>
                </a:ext>
              </a:extLst>
            </p:cNvPr>
            <p:cNvSpPr txBox="1"/>
            <p:nvPr/>
          </p:nvSpPr>
          <p:spPr>
            <a:xfrm>
              <a:off x="3968352" y="5412931"/>
              <a:ext cx="7905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global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="" xmlns:a16="http://schemas.microsoft.com/office/drawing/2014/main" id="{72C876E0-617F-E784-133E-C4A36B7003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19163" y="5339881"/>
              <a:ext cx="108000" cy="108000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27097020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Agrupar 60">
            <a:extLst>
              <a:ext uri="{FF2B5EF4-FFF2-40B4-BE49-F238E27FC236}">
                <a16:creationId xmlns="" xmlns:a16="http://schemas.microsoft.com/office/drawing/2014/main" id="{6CEAC2DF-B2DD-68B2-0671-2F3740FD26B3}"/>
              </a:ext>
            </a:extLst>
          </p:cNvPr>
          <p:cNvGrpSpPr/>
          <p:nvPr/>
        </p:nvGrpSpPr>
        <p:grpSpPr>
          <a:xfrm>
            <a:off x="7035798" y="2673307"/>
            <a:ext cx="2807332" cy="3344798"/>
            <a:chOff x="7035798" y="2673307"/>
            <a:chExt cx="2807332" cy="3344798"/>
          </a:xfrm>
        </p:grpSpPr>
        <p:sp>
          <p:nvSpPr>
            <p:cNvPr id="17" name="CaixaDeTexto 16">
              <a:extLst>
                <a:ext uri="{FF2B5EF4-FFF2-40B4-BE49-F238E27FC236}">
                  <a16:creationId xmlns="" xmlns:a16="http://schemas.microsoft.com/office/drawing/2014/main" id="{EA72D705-0EF8-C613-09E0-6BB9931A368C}"/>
                </a:ext>
              </a:extLst>
            </p:cNvPr>
            <p:cNvSpPr txBox="1"/>
            <p:nvPr/>
          </p:nvSpPr>
          <p:spPr>
            <a:xfrm>
              <a:off x="8095932" y="5494885"/>
              <a:ext cx="7905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global</a:t>
              </a:r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="" xmlns:a16="http://schemas.microsoft.com/office/drawing/2014/main" id="{590FFF82-676D-D681-F915-3BF433BA72B9}"/>
                </a:ext>
              </a:extLst>
            </p:cNvPr>
            <p:cNvSpPr/>
            <p:nvPr/>
          </p:nvSpPr>
          <p:spPr>
            <a:xfrm>
              <a:off x="7902576" y="3045814"/>
              <a:ext cx="1231900" cy="2445896"/>
            </a:xfrm>
            <a:custGeom>
              <a:avLst/>
              <a:gdLst>
                <a:gd name="connsiteX0" fmla="*/ 0 w 1231900"/>
                <a:gd name="connsiteY0" fmla="*/ 12700 h 2479930"/>
                <a:gd name="connsiteX1" fmla="*/ 330200 w 1231900"/>
                <a:gd name="connsiteY1" fmla="*/ 1905000 h 2479930"/>
                <a:gd name="connsiteX2" fmla="*/ 711200 w 1231900"/>
                <a:gd name="connsiteY2" fmla="*/ 2362200 h 2479930"/>
                <a:gd name="connsiteX3" fmla="*/ 1231900 w 1231900"/>
                <a:gd name="connsiteY3" fmla="*/ 0 h 2479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900" h="2479930">
                  <a:moveTo>
                    <a:pt x="0" y="12700"/>
                  </a:moveTo>
                  <a:cubicBezTo>
                    <a:pt x="105833" y="763058"/>
                    <a:pt x="211667" y="1513417"/>
                    <a:pt x="330200" y="1905000"/>
                  </a:cubicBezTo>
                  <a:cubicBezTo>
                    <a:pt x="448733" y="2296583"/>
                    <a:pt x="560917" y="2679700"/>
                    <a:pt x="711200" y="2362200"/>
                  </a:cubicBezTo>
                  <a:cubicBezTo>
                    <a:pt x="861483" y="2044700"/>
                    <a:pt x="1046691" y="1022350"/>
                    <a:pt x="123190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="" xmlns:a16="http://schemas.microsoft.com/office/drawing/2014/main" id="{0AC9FBB3-9CBE-B1A7-4F17-7FC318B2661B}"/>
                </a:ext>
              </a:extLst>
            </p:cNvPr>
            <p:cNvSpPr txBox="1"/>
            <p:nvPr/>
          </p:nvSpPr>
          <p:spPr>
            <a:xfrm>
              <a:off x="7035798" y="2673307"/>
              <a:ext cx="28073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Função convexa</a:t>
              </a:r>
            </a:p>
          </p:txBody>
        </p:sp>
        <p:sp>
          <p:nvSpPr>
            <p:cNvPr id="38" name="Elipse 37">
              <a:extLst>
                <a:ext uri="{FF2B5EF4-FFF2-40B4-BE49-F238E27FC236}">
                  <a16:creationId xmlns="" xmlns:a16="http://schemas.microsoft.com/office/drawing/2014/main" id="{E99A0D4F-D3DE-4542-9DC1-713CD9CD66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02576" y="3333750"/>
              <a:ext cx="108000" cy="108000"/>
            </a:xfrm>
            <a:prstGeom prst="ellipse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40" name="Conector de Seta Reta 39">
              <a:extLst>
                <a:ext uri="{FF2B5EF4-FFF2-40B4-BE49-F238E27FC236}">
                  <a16:creationId xmlns="" xmlns:a16="http://schemas.microsoft.com/office/drawing/2014/main" id="{268DC808-05EA-47C5-59A3-5BE582AEE40C}"/>
                </a:ext>
              </a:extLst>
            </p:cNvPr>
            <p:cNvCxnSpPr>
              <a:cxnSpLocks/>
              <a:stCxn id="38" idx="5"/>
            </p:cNvCxnSpPr>
            <p:nvPr/>
          </p:nvCxnSpPr>
          <p:spPr>
            <a:xfrm>
              <a:off x="7994760" y="3425934"/>
              <a:ext cx="966360" cy="5517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de Seta Reta 42">
              <a:extLst>
                <a:ext uri="{FF2B5EF4-FFF2-40B4-BE49-F238E27FC236}">
                  <a16:creationId xmlns="" xmlns:a16="http://schemas.microsoft.com/office/drawing/2014/main" id="{54B06C74-6A21-4148-7BF2-2C1D82541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5932" y="3977640"/>
              <a:ext cx="865188" cy="3451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>
              <a:extLst>
                <a:ext uri="{FF2B5EF4-FFF2-40B4-BE49-F238E27FC236}">
                  <a16:creationId xmlns="" xmlns:a16="http://schemas.microsoft.com/office/drawing/2014/main" id="{5F4704E7-C159-A4FC-6960-FB9661291A3A}"/>
                </a:ext>
              </a:extLst>
            </p:cNvPr>
            <p:cNvCxnSpPr/>
            <p:nvPr/>
          </p:nvCxnSpPr>
          <p:spPr>
            <a:xfrm>
              <a:off x="8095932" y="4322762"/>
              <a:ext cx="698024" cy="38020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de Seta Reta 47">
              <a:extLst>
                <a:ext uri="{FF2B5EF4-FFF2-40B4-BE49-F238E27FC236}">
                  <a16:creationId xmlns="" xmlns:a16="http://schemas.microsoft.com/office/drawing/2014/main" id="{15175306-3E90-44C5-192A-D58AF95893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01038" y="4702969"/>
              <a:ext cx="492918" cy="4071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de Seta Reta 50">
              <a:extLst>
                <a:ext uri="{FF2B5EF4-FFF2-40B4-BE49-F238E27FC236}">
                  <a16:creationId xmlns="" xmlns:a16="http://schemas.microsoft.com/office/drawing/2014/main" id="{74EFD59A-8088-3819-D8BF-E1FB71EC3534}"/>
                </a:ext>
              </a:extLst>
            </p:cNvPr>
            <p:cNvCxnSpPr>
              <a:cxnSpLocks/>
              <a:endCxn id="36" idx="2"/>
            </p:cNvCxnSpPr>
            <p:nvPr/>
          </p:nvCxnSpPr>
          <p:spPr>
            <a:xfrm>
              <a:off x="8301038" y="5110163"/>
              <a:ext cx="312738" cy="2654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de Seta Reta 53">
              <a:extLst>
                <a:ext uri="{FF2B5EF4-FFF2-40B4-BE49-F238E27FC236}">
                  <a16:creationId xmlns="" xmlns:a16="http://schemas.microsoft.com/office/drawing/2014/main" id="{368CEE90-AF05-B68A-9AF1-E561244441D9}"/>
                </a:ext>
              </a:extLst>
            </p:cNvPr>
            <p:cNvCxnSpPr>
              <a:stCxn id="36" idx="2"/>
            </p:cNvCxnSpPr>
            <p:nvPr/>
          </p:nvCxnSpPr>
          <p:spPr>
            <a:xfrm flipH="1">
              <a:off x="8500743" y="5375596"/>
              <a:ext cx="113033" cy="1002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Elipse 20">
              <a:extLst>
                <a:ext uri="{FF2B5EF4-FFF2-40B4-BE49-F238E27FC236}">
                  <a16:creationId xmlns="" xmlns:a16="http://schemas.microsoft.com/office/drawing/2014/main" id="{9BD6F2B2-EF59-EDF9-5760-B302D8261D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6743" y="5421835"/>
              <a:ext cx="108000" cy="108000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6" name="CaixaDeTexto 55">
              <a:extLst>
                <a:ext uri="{FF2B5EF4-FFF2-40B4-BE49-F238E27FC236}">
                  <a16:creationId xmlns="" xmlns:a16="http://schemas.microsoft.com/office/drawing/2014/main" id="{14639DB3-164D-627C-10FA-733E09CE5815}"/>
                </a:ext>
              </a:extLst>
            </p:cNvPr>
            <p:cNvSpPr txBox="1"/>
            <p:nvPr/>
          </p:nvSpPr>
          <p:spPr>
            <a:xfrm>
              <a:off x="7784781" y="3121067"/>
              <a:ext cx="111696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50" dirty="0"/>
                <a:t>Ponto inicial</a:t>
              </a:r>
            </a:p>
          </p:txBody>
        </p:sp>
        <p:cxnSp>
          <p:nvCxnSpPr>
            <p:cNvPr id="57" name="Conector de Seta Reta 56">
              <a:extLst>
                <a:ext uri="{FF2B5EF4-FFF2-40B4-BE49-F238E27FC236}">
                  <a16:creationId xmlns="" xmlns:a16="http://schemas.microsoft.com/office/drawing/2014/main" id="{94925ACA-115F-DE91-11EB-4AD2666E8A40}"/>
                </a:ext>
              </a:extLst>
            </p:cNvPr>
            <p:cNvCxnSpPr/>
            <p:nvPr/>
          </p:nvCxnSpPr>
          <p:spPr>
            <a:xfrm>
              <a:off x="7384891" y="3355232"/>
              <a:ext cx="0" cy="21494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aixaDeTexto 57">
              <a:extLst>
                <a:ext uri="{FF2B5EF4-FFF2-40B4-BE49-F238E27FC236}">
                  <a16:creationId xmlns="" xmlns:a16="http://schemas.microsoft.com/office/drawing/2014/main" id="{6802C94E-EB66-25FA-0BC0-E6FFF8B88DAF}"/>
                </a:ext>
              </a:extLst>
            </p:cNvPr>
            <p:cNvSpPr txBox="1"/>
            <p:nvPr/>
          </p:nvSpPr>
          <p:spPr>
            <a:xfrm>
              <a:off x="7356316" y="5031632"/>
              <a:ext cx="590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Erro</a:t>
              </a:r>
            </a:p>
          </p:txBody>
        </p:sp>
      </p:grpSp>
      <p:sp>
        <p:nvSpPr>
          <p:cNvPr id="11" name="Forma Livre: Forma 10">
            <a:extLst>
              <a:ext uri="{FF2B5EF4-FFF2-40B4-BE49-F238E27FC236}">
                <a16:creationId xmlns="" xmlns:a16="http://schemas.microsoft.com/office/drawing/2014/main" id="{F50B53DF-4C4E-4C85-8BAE-C98DF42162DA}"/>
              </a:ext>
            </a:extLst>
          </p:cNvPr>
          <p:cNvSpPr/>
          <p:nvPr/>
        </p:nvSpPr>
        <p:spPr>
          <a:xfrm>
            <a:off x="3352800" y="2951604"/>
            <a:ext cx="2238375" cy="2445896"/>
          </a:xfrm>
          <a:custGeom>
            <a:avLst/>
            <a:gdLst>
              <a:gd name="connsiteX0" fmla="*/ 0 w 2238375"/>
              <a:gd name="connsiteY0" fmla="*/ 0 h 2445896"/>
              <a:gd name="connsiteX1" fmla="*/ 180975 w 2238375"/>
              <a:gd name="connsiteY1" fmla="*/ 1390650 h 2445896"/>
              <a:gd name="connsiteX2" fmla="*/ 561975 w 2238375"/>
              <a:gd name="connsiteY2" fmla="*/ 76200 h 2445896"/>
              <a:gd name="connsiteX3" fmla="*/ 990600 w 2238375"/>
              <a:gd name="connsiteY3" fmla="*/ 2428875 h 2445896"/>
              <a:gd name="connsiteX4" fmla="*/ 1381125 w 2238375"/>
              <a:gd name="connsiteY4" fmla="*/ 1085850 h 2445896"/>
              <a:gd name="connsiteX5" fmla="*/ 1600200 w 2238375"/>
              <a:gd name="connsiteY5" fmla="*/ 114300 h 2445896"/>
              <a:gd name="connsiteX6" fmla="*/ 1866900 w 2238375"/>
              <a:gd name="connsiteY6" fmla="*/ 828675 h 2445896"/>
              <a:gd name="connsiteX7" fmla="*/ 2238375 w 2238375"/>
              <a:gd name="connsiteY7" fmla="*/ 247650 h 244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8375" h="2445896">
                <a:moveTo>
                  <a:pt x="0" y="0"/>
                </a:moveTo>
                <a:cubicBezTo>
                  <a:pt x="43656" y="688975"/>
                  <a:pt x="87313" y="1377950"/>
                  <a:pt x="180975" y="1390650"/>
                </a:cubicBezTo>
                <a:cubicBezTo>
                  <a:pt x="274637" y="1403350"/>
                  <a:pt x="427038" y="-96837"/>
                  <a:pt x="561975" y="76200"/>
                </a:cubicBezTo>
                <a:cubicBezTo>
                  <a:pt x="696912" y="249237"/>
                  <a:pt x="854075" y="2260600"/>
                  <a:pt x="990600" y="2428875"/>
                </a:cubicBezTo>
                <a:cubicBezTo>
                  <a:pt x="1127125" y="2597150"/>
                  <a:pt x="1279525" y="1471612"/>
                  <a:pt x="1381125" y="1085850"/>
                </a:cubicBezTo>
                <a:cubicBezTo>
                  <a:pt x="1482725" y="700088"/>
                  <a:pt x="1519238" y="157162"/>
                  <a:pt x="1600200" y="114300"/>
                </a:cubicBezTo>
                <a:cubicBezTo>
                  <a:pt x="1681162" y="71438"/>
                  <a:pt x="1760538" y="806450"/>
                  <a:pt x="1866900" y="828675"/>
                </a:cubicBezTo>
                <a:cubicBezTo>
                  <a:pt x="1973263" y="850900"/>
                  <a:pt x="2105819" y="549275"/>
                  <a:pt x="2238375" y="24765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="" xmlns:a16="http://schemas.microsoft.com/office/drawing/2014/main" id="{3110A252-5626-CF16-70EC-599A5D7930AA}"/>
              </a:ext>
            </a:extLst>
          </p:cNvPr>
          <p:cNvCxnSpPr/>
          <p:nvPr/>
        </p:nvCxnSpPr>
        <p:spPr>
          <a:xfrm>
            <a:off x="2876550" y="3248025"/>
            <a:ext cx="0" cy="21494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="" xmlns:a16="http://schemas.microsoft.com/office/drawing/2014/main" id="{19B38D1F-C032-C6E3-3F1A-254B72F09363}"/>
              </a:ext>
            </a:extLst>
          </p:cNvPr>
          <p:cNvSpPr txBox="1"/>
          <p:nvPr/>
        </p:nvSpPr>
        <p:spPr>
          <a:xfrm>
            <a:off x="2847975" y="4924425"/>
            <a:ext cx="590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Erro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="" xmlns:a16="http://schemas.microsoft.com/office/drawing/2014/main" id="{A48B195D-3235-843C-F6C1-5B05456E9673}"/>
              </a:ext>
            </a:extLst>
          </p:cNvPr>
          <p:cNvSpPr txBox="1"/>
          <p:nvPr/>
        </p:nvSpPr>
        <p:spPr>
          <a:xfrm>
            <a:off x="3143250" y="4322762"/>
            <a:ext cx="790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Mínimo local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="" xmlns:a16="http://schemas.microsoft.com/office/drawing/2014/main" id="{ECC6E25F-D6BE-42F1-A04F-F11D5EE26B26}"/>
              </a:ext>
            </a:extLst>
          </p:cNvPr>
          <p:cNvSpPr>
            <a:spLocks noChangeAspect="1"/>
          </p:cNvSpPr>
          <p:nvPr/>
        </p:nvSpPr>
        <p:spPr>
          <a:xfrm>
            <a:off x="3488074" y="4281825"/>
            <a:ext cx="108000" cy="1080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="" xmlns:a16="http://schemas.microsoft.com/office/drawing/2014/main" id="{9C45849C-28CE-A26B-8688-8B82CEE63DDA}"/>
              </a:ext>
            </a:extLst>
          </p:cNvPr>
          <p:cNvSpPr txBox="1"/>
          <p:nvPr/>
        </p:nvSpPr>
        <p:spPr>
          <a:xfrm>
            <a:off x="4864734" y="3853542"/>
            <a:ext cx="790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Mínimo local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="" xmlns:a16="http://schemas.microsoft.com/office/drawing/2014/main" id="{447D6D01-88F2-02AB-7D57-46450311E923}"/>
              </a:ext>
            </a:extLst>
          </p:cNvPr>
          <p:cNvSpPr txBox="1"/>
          <p:nvPr/>
        </p:nvSpPr>
        <p:spPr>
          <a:xfrm>
            <a:off x="3068321" y="2490528"/>
            <a:ext cx="2807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Função não-convexa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="" xmlns:a16="http://schemas.microsoft.com/office/drawing/2014/main" id="{4468B11C-AD95-31BE-84A6-2C5E40521279}"/>
              </a:ext>
            </a:extLst>
          </p:cNvPr>
          <p:cNvSpPr>
            <a:spLocks noChangeAspect="1"/>
          </p:cNvSpPr>
          <p:nvPr/>
        </p:nvSpPr>
        <p:spPr>
          <a:xfrm>
            <a:off x="4957322" y="3067470"/>
            <a:ext cx="108000" cy="108000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Elipse 18">
            <a:extLst>
              <a:ext uri="{FF2B5EF4-FFF2-40B4-BE49-F238E27FC236}">
                <a16:creationId xmlns="" xmlns:a16="http://schemas.microsoft.com/office/drawing/2014/main" id="{D11EC075-B561-04E9-D79A-021ECD68D842}"/>
              </a:ext>
            </a:extLst>
          </p:cNvPr>
          <p:cNvSpPr>
            <a:spLocks noChangeAspect="1"/>
          </p:cNvSpPr>
          <p:nvPr/>
        </p:nvSpPr>
        <p:spPr>
          <a:xfrm>
            <a:off x="5188899" y="3725264"/>
            <a:ext cx="108000" cy="1080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CaixaDeTexto 34">
            <a:extLst>
              <a:ext uri="{FF2B5EF4-FFF2-40B4-BE49-F238E27FC236}">
                <a16:creationId xmlns="" xmlns:a16="http://schemas.microsoft.com/office/drawing/2014/main" id="{0DCEEA60-A93D-F00F-E769-1B2D8B95C7F2}"/>
              </a:ext>
            </a:extLst>
          </p:cNvPr>
          <p:cNvSpPr txBox="1"/>
          <p:nvPr/>
        </p:nvSpPr>
        <p:spPr>
          <a:xfrm>
            <a:off x="4790754" y="2769180"/>
            <a:ext cx="11169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Ponto inicial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="" xmlns:a16="http://schemas.microsoft.com/office/drawing/2014/main" id="{6440C131-E34D-0D14-1FAD-DA7EA59843C4}"/>
              </a:ext>
            </a:extLst>
          </p:cNvPr>
          <p:cNvSpPr txBox="1"/>
          <p:nvPr/>
        </p:nvSpPr>
        <p:spPr>
          <a:xfrm>
            <a:off x="3968352" y="5412931"/>
            <a:ext cx="790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Mínimo global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="" xmlns:a16="http://schemas.microsoft.com/office/drawing/2014/main" id="{72C876E0-617F-E784-133E-C4A36B7003ED}"/>
              </a:ext>
            </a:extLst>
          </p:cNvPr>
          <p:cNvSpPr>
            <a:spLocks noChangeAspect="1"/>
          </p:cNvSpPr>
          <p:nvPr/>
        </p:nvSpPr>
        <p:spPr>
          <a:xfrm>
            <a:off x="4319163" y="5339881"/>
            <a:ext cx="108000" cy="1080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27" name="Conector em curva 26"/>
          <p:cNvCxnSpPr>
            <a:stCxn id="22" idx="6"/>
          </p:cNvCxnSpPr>
          <p:nvPr/>
        </p:nvCxnSpPr>
        <p:spPr>
          <a:xfrm flipH="1">
            <a:off x="5039976" y="3121470"/>
            <a:ext cx="25346" cy="126555"/>
          </a:xfrm>
          <a:prstGeom prst="curvedConnector4">
            <a:avLst>
              <a:gd name="adj1" fmla="val -258124"/>
              <a:gd name="adj2" fmla="val 713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tângulo 43"/>
          <p:cNvSpPr/>
          <p:nvPr/>
        </p:nvSpPr>
        <p:spPr>
          <a:xfrm>
            <a:off x="5011322" y="3248025"/>
            <a:ext cx="104679" cy="8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3" name="Conector em curva 62"/>
          <p:cNvCxnSpPr/>
          <p:nvPr/>
        </p:nvCxnSpPr>
        <p:spPr>
          <a:xfrm rot="16200000" flipH="1">
            <a:off x="4994499" y="3298713"/>
            <a:ext cx="116999" cy="3307"/>
          </a:xfrm>
          <a:prstGeom prst="curvedConnector5">
            <a:avLst>
              <a:gd name="adj1" fmla="val 1973"/>
              <a:gd name="adj2" fmla="val 2443877"/>
              <a:gd name="adj3" fmla="val 86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em curva 66"/>
          <p:cNvCxnSpPr/>
          <p:nvPr/>
        </p:nvCxnSpPr>
        <p:spPr>
          <a:xfrm rot="16200000" flipH="1">
            <a:off x="5030353" y="3410874"/>
            <a:ext cx="116999" cy="3307"/>
          </a:xfrm>
          <a:prstGeom prst="curvedConnector5">
            <a:avLst>
              <a:gd name="adj1" fmla="val 1973"/>
              <a:gd name="adj2" fmla="val 2443877"/>
              <a:gd name="adj3" fmla="val 86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em curva 68"/>
          <p:cNvCxnSpPr/>
          <p:nvPr/>
        </p:nvCxnSpPr>
        <p:spPr>
          <a:xfrm rot="16200000" flipH="1">
            <a:off x="5048291" y="3516118"/>
            <a:ext cx="116999" cy="3307"/>
          </a:xfrm>
          <a:prstGeom prst="curvedConnector5">
            <a:avLst>
              <a:gd name="adj1" fmla="val 1973"/>
              <a:gd name="adj2" fmla="val 2443877"/>
              <a:gd name="adj3" fmla="val 86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em curva 70"/>
          <p:cNvCxnSpPr/>
          <p:nvPr/>
        </p:nvCxnSpPr>
        <p:spPr>
          <a:xfrm rot="16200000" flipH="1">
            <a:off x="5095568" y="3627074"/>
            <a:ext cx="116999" cy="3307"/>
          </a:xfrm>
          <a:prstGeom prst="curvedConnector5">
            <a:avLst>
              <a:gd name="adj1" fmla="val 1973"/>
              <a:gd name="adj2" fmla="val 2443877"/>
              <a:gd name="adj3" fmla="val 86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em curva 73"/>
          <p:cNvCxnSpPr>
            <a:stCxn id="19" idx="0"/>
            <a:endCxn id="19" idx="0"/>
          </p:cNvCxnSpPr>
          <p:nvPr/>
        </p:nvCxnSpPr>
        <p:spPr>
          <a:xfrm rot="5400000" flipH="1" flipV="1">
            <a:off x="5242899" y="3725264"/>
            <a:ext cx="12700" cy="1270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tângulo 74"/>
          <p:cNvSpPr/>
          <p:nvPr/>
        </p:nvSpPr>
        <p:spPr>
          <a:xfrm>
            <a:off x="5187952" y="3786022"/>
            <a:ext cx="104679" cy="85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1161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="" xmlns:a16="http://schemas.microsoft.com/office/drawing/2014/main" id="{DE488369-EF19-AF97-4E17-223811263C1D}"/>
              </a:ext>
            </a:extLst>
          </p:cNvPr>
          <p:cNvGrpSpPr/>
          <p:nvPr/>
        </p:nvGrpSpPr>
        <p:grpSpPr>
          <a:xfrm>
            <a:off x="2346234" y="2318922"/>
            <a:ext cx="5693524" cy="2737494"/>
            <a:chOff x="2346234" y="2318922"/>
            <a:chExt cx="5693524" cy="2737494"/>
          </a:xfrm>
        </p:grpSpPr>
        <p:sp>
          <p:nvSpPr>
            <p:cNvPr id="4" name="Retângulo 3">
              <a:extLst>
                <a:ext uri="{FF2B5EF4-FFF2-40B4-BE49-F238E27FC236}">
                  <a16:creationId xmlns="" xmlns:a16="http://schemas.microsoft.com/office/drawing/2014/main" id="{CB640DC1-DCCB-99CE-3E59-771E8A71C833}"/>
                </a:ext>
              </a:extLst>
            </p:cNvPr>
            <p:cNvSpPr/>
            <p:nvPr/>
          </p:nvSpPr>
          <p:spPr>
            <a:xfrm>
              <a:off x="3270814" y="3267930"/>
              <a:ext cx="2011680" cy="126274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Modelo de ML</a:t>
              </a:r>
            </a:p>
            <a:p>
              <a:pPr algn="ctr"/>
              <a:r>
                <a:rPr lang="pt-BR" dirty="0">
                  <a:solidFill>
                    <a:schemeClr val="tx1"/>
                  </a:solidFill>
                </a:rPr>
                <a:t>(Classificador)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Seta para a direita 5">
              <a:extLst>
                <a:ext uri="{FF2B5EF4-FFF2-40B4-BE49-F238E27FC236}">
                  <a16:creationId xmlns="" xmlns:a16="http://schemas.microsoft.com/office/drawing/2014/main" id="{398E6E68-724F-5BE1-3FA9-091D5FB4A763}"/>
                </a:ext>
              </a:extLst>
            </p:cNvPr>
            <p:cNvSpPr/>
            <p:nvPr/>
          </p:nvSpPr>
          <p:spPr>
            <a:xfrm>
              <a:off x="2870220" y="3699004"/>
              <a:ext cx="400594" cy="400594"/>
            </a:xfrm>
            <a:prstGeom prst="rightArrow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tângulo 5">
                  <a:extLst>
                    <a:ext uri="{FF2B5EF4-FFF2-40B4-BE49-F238E27FC236}">
                      <a16:creationId xmlns="" xmlns:a16="http://schemas.microsoft.com/office/drawing/2014/main" id="{41C5A256-595F-AFD4-A935-D2A97C56BAD5}"/>
                    </a:ext>
                  </a:extLst>
                </p:cNvPr>
                <p:cNvSpPr/>
                <p:nvPr/>
              </p:nvSpPr>
              <p:spPr>
                <a:xfrm>
                  <a:off x="2346234" y="3637691"/>
                  <a:ext cx="47320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Retângulo 5">
                  <a:extLst>
                    <a:ext uri="{FF2B5EF4-FFF2-40B4-BE49-F238E27FC236}">
                      <a16:creationId xmlns:a16="http://schemas.microsoft.com/office/drawing/2014/main" id="{41C5A256-595F-AFD4-A935-D2A97C56BA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6234" y="3637691"/>
                  <a:ext cx="473206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tângulo 6">
                  <a:extLst>
                    <a:ext uri="{FF2B5EF4-FFF2-40B4-BE49-F238E27FC236}">
                      <a16:creationId xmlns="" xmlns:a16="http://schemas.microsoft.com/office/drawing/2014/main" id="{71CF5D8B-46C6-92AE-3002-AC862F80F2AB}"/>
                    </a:ext>
                  </a:extLst>
                </p:cNvPr>
                <p:cNvSpPr/>
                <p:nvPr/>
              </p:nvSpPr>
              <p:spPr>
                <a:xfrm>
                  <a:off x="5251272" y="3791050"/>
                  <a:ext cx="1111651" cy="5618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𝑝𝑟𝑒𝑑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71CF5D8B-46C6-92AE-3002-AC862F80F2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1272" y="3791050"/>
                  <a:ext cx="1111651" cy="5618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tângulo 7">
                  <a:extLst>
                    <a:ext uri="{FF2B5EF4-FFF2-40B4-BE49-F238E27FC236}">
                      <a16:creationId xmlns="" xmlns:a16="http://schemas.microsoft.com/office/drawing/2014/main" id="{016E1322-6FEE-937B-4FF1-EF9D725EA79A}"/>
                    </a:ext>
                  </a:extLst>
                </p:cNvPr>
                <p:cNvSpPr/>
                <p:nvPr/>
              </p:nvSpPr>
              <p:spPr>
                <a:xfrm>
                  <a:off x="5683088" y="2741368"/>
                  <a:ext cx="1678793" cy="5564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𝑒𝑠𝑝𝑒𝑟𝑎𝑑𝑜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" name="Retângulo 7">
                  <a:extLst>
                    <a:ext uri="{FF2B5EF4-FFF2-40B4-BE49-F238E27FC236}">
                      <a16:creationId xmlns:a16="http://schemas.microsoft.com/office/drawing/2014/main" id="{016E1322-6FEE-937B-4FF1-EF9D725EA7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3088" y="2741368"/>
                  <a:ext cx="1678793" cy="5564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Elipse 8">
              <a:extLst>
                <a:ext uri="{FF2B5EF4-FFF2-40B4-BE49-F238E27FC236}">
                  <a16:creationId xmlns="" xmlns:a16="http://schemas.microsoft.com/office/drawing/2014/main" id="{760BFAE9-F85F-851A-B468-D1E93E418B85}"/>
                </a:ext>
              </a:extLst>
            </p:cNvPr>
            <p:cNvSpPr/>
            <p:nvPr/>
          </p:nvSpPr>
          <p:spPr>
            <a:xfrm>
              <a:off x="6293221" y="3659364"/>
              <a:ext cx="468000" cy="468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Menos 15">
              <a:extLst>
                <a:ext uri="{FF2B5EF4-FFF2-40B4-BE49-F238E27FC236}">
                  <a16:creationId xmlns="" xmlns:a16="http://schemas.microsoft.com/office/drawing/2014/main" id="{C1C8DA0D-D1D3-9C44-24D6-E78BD02C46F6}"/>
                </a:ext>
              </a:extLst>
            </p:cNvPr>
            <p:cNvSpPr/>
            <p:nvPr/>
          </p:nvSpPr>
          <p:spPr>
            <a:xfrm>
              <a:off x="6362923" y="3755294"/>
              <a:ext cx="328311" cy="276139"/>
            </a:xfrm>
            <a:prstGeom prst="mathMinus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tângulo 10">
                  <a:extLst>
                    <a:ext uri="{FF2B5EF4-FFF2-40B4-BE49-F238E27FC236}">
                      <a16:creationId xmlns="" xmlns:a16="http://schemas.microsoft.com/office/drawing/2014/main" id="{582A56EA-DFC0-4636-952F-009E32718CD3}"/>
                    </a:ext>
                  </a:extLst>
                </p:cNvPr>
                <p:cNvSpPr/>
                <p:nvPr/>
              </p:nvSpPr>
              <p:spPr>
                <a:xfrm>
                  <a:off x="7053719" y="3588482"/>
                  <a:ext cx="98603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𝑒𝑟𝑟𝑜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Retângulo 10">
                  <a:extLst>
                    <a:ext uri="{FF2B5EF4-FFF2-40B4-BE49-F238E27FC236}">
                      <a16:creationId xmlns:a16="http://schemas.microsoft.com/office/drawing/2014/main" id="{582A56EA-DFC0-4636-952F-009E32718C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3719" y="3588482"/>
                  <a:ext cx="986039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ector de seta reta 19">
              <a:extLst>
                <a:ext uri="{FF2B5EF4-FFF2-40B4-BE49-F238E27FC236}">
                  <a16:creationId xmlns="" xmlns:a16="http://schemas.microsoft.com/office/drawing/2014/main" id="{93B7DFD1-5FDB-2587-24E3-5F9E0162D492}"/>
                </a:ext>
              </a:extLst>
            </p:cNvPr>
            <p:cNvCxnSpPr>
              <a:stCxn id="4" idx="3"/>
              <a:endCxn id="9" idx="2"/>
            </p:cNvCxnSpPr>
            <p:nvPr/>
          </p:nvCxnSpPr>
          <p:spPr>
            <a:xfrm flipV="1">
              <a:off x="5282494" y="3893364"/>
              <a:ext cx="1010727" cy="59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21">
              <a:extLst>
                <a:ext uri="{FF2B5EF4-FFF2-40B4-BE49-F238E27FC236}">
                  <a16:creationId xmlns="" xmlns:a16="http://schemas.microsoft.com/office/drawing/2014/main" id="{3D11B567-84E7-184B-36AE-259EC8626055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6522485" y="3297802"/>
              <a:ext cx="4736" cy="3615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26">
              <a:extLst>
                <a:ext uri="{FF2B5EF4-FFF2-40B4-BE49-F238E27FC236}">
                  <a16:creationId xmlns="" xmlns:a16="http://schemas.microsoft.com/office/drawing/2014/main" id="{E3839A91-81B0-72AE-34E5-7024208DBA98}"/>
                </a:ext>
              </a:extLst>
            </p:cNvPr>
            <p:cNvCxnSpPr/>
            <p:nvPr/>
          </p:nvCxnSpPr>
          <p:spPr>
            <a:xfrm flipV="1">
              <a:off x="6783119" y="3893364"/>
              <a:ext cx="36000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angulado 33">
              <a:extLst>
                <a:ext uri="{FF2B5EF4-FFF2-40B4-BE49-F238E27FC236}">
                  <a16:creationId xmlns="" xmlns:a16="http://schemas.microsoft.com/office/drawing/2014/main" id="{48A6F896-3C33-7CDE-B70E-F3D62AFEFBB1}"/>
                </a:ext>
              </a:extLst>
            </p:cNvPr>
            <p:cNvCxnSpPr>
              <a:stCxn id="11" idx="2"/>
            </p:cNvCxnSpPr>
            <p:nvPr/>
          </p:nvCxnSpPr>
          <p:spPr>
            <a:xfrm rot="5400000">
              <a:off x="5121830" y="2631507"/>
              <a:ext cx="944715" cy="3905104"/>
            </a:xfrm>
            <a:prstGeom prst="bentConnector2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35">
              <a:extLst>
                <a:ext uri="{FF2B5EF4-FFF2-40B4-BE49-F238E27FC236}">
                  <a16:creationId xmlns="" xmlns:a16="http://schemas.microsoft.com/office/drawing/2014/main" id="{70A3AF85-7599-B974-D767-012AFE57CECE}"/>
                </a:ext>
              </a:extLst>
            </p:cNvPr>
            <p:cNvCxnSpPr/>
            <p:nvPr/>
          </p:nvCxnSpPr>
          <p:spPr>
            <a:xfrm flipV="1">
              <a:off x="3630040" y="2659653"/>
              <a:ext cx="1478069" cy="239345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tângulo 16">
              <a:extLst>
                <a:ext uri="{FF2B5EF4-FFF2-40B4-BE49-F238E27FC236}">
                  <a16:creationId xmlns="" xmlns:a16="http://schemas.microsoft.com/office/drawing/2014/main" id="{F8D87169-5EA8-88FE-EE40-3345C2819C33}"/>
                </a:ext>
              </a:extLst>
            </p:cNvPr>
            <p:cNvSpPr/>
            <p:nvPr/>
          </p:nvSpPr>
          <p:spPr>
            <a:xfrm>
              <a:off x="4369074" y="2318922"/>
              <a:ext cx="151022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2000"/>
                <a:t>Treinamento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36880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11526</TotalTime>
  <Words>3664</Words>
  <Application>Microsoft Office PowerPoint</Application>
  <PresentationFormat>Widescreen</PresentationFormat>
  <Paragraphs>472</Paragraphs>
  <Slides>44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Calibri Light</vt:lpstr>
      <vt:lpstr>Calibri-Bold</vt:lpstr>
      <vt:lpstr>Cambria Math</vt:lpstr>
      <vt:lpstr>Söhne</vt:lpstr>
      <vt:lpstr>Wingdings</vt:lpstr>
      <vt:lpstr>Tema do Office</vt:lpstr>
      <vt:lpstr>T320 - Introdução ao Aprendizado de Máquina II: Classificação (Parte III)</vt:lpstr>
      <vt:lpstr>Recapitulando</vt:lpstr>
      <vt:lpstr>Classificação com função de limiar logístico</vt:lpstr>
      <vt:lpstr>Classificação com função de limiar logístico</vt:lpstr>
      <vt:lpstr>Classificação com função de limiar logístico</vt:lpstr>
      <vt:lpstr>Classificação com função de limiar logístico</vt:lpstr>
      <vt:lpstr>Classificação com função de limiar logístico</vt:lpstr>
      <vt:lpstr>Classificação com função de limiar logístico</vt:lpstr>
      <vt:lpstr>Regressão logística</vt:lpstr>
      <vt:lpstr>Regressão logística</vt:lpstr>
      <vt:lpstr>Regressão logística</vt:lpstr>
      <vt:lpstr>Propriedades da regressão logística</vt:lpstr>
      <vt:lpstr>Função de erro</vt:lpstr>
      <vt:lpstr>Função de erro</vt:lpstr>
      <vt:lpstr>Função de erro</vt:lpstr>
      <vt:lpstr>Função de erro</vt:lpstr>
      <vt:lpstr>Função de erro</vt:lpstr>
      <vt:lpstr>Função de erro</vt:lpstr>
      <vt:lpstr>Função de erro</vt:lpstr>
      <vt:lpstr>Processo de treinamento</vt:lpstr>
      <vt:lpstr>Processo de treinamento</vt:lpstr>
      <vt:lpstr>Vetor gradiente</vt:lpstr>
      <vt:lpstr>Vetor gradiente</vt:lpstr>
      <vt:lpstr>Vetor gradiente</vt:lpstr>
      <vt:lpstr>Vetor gradiente</vt:lpstr>
      <vt:lpstr>Subajuste e sobreajuste</vt:lpstr>
      <vt:lpstr>Subajuste e sobreajuste</vt:lpstr>
      <vt:lpstr>Subajuste e sobreajuste</vt:lpstr>
      <vt:lpstr>Subajuste e sobreajuste</vt:lpstr>
      <vt:lpstr>Apresentação do PowerPoint</vt:lpstr>
      <vt:lpstr>Como evitamos o subajuste e sobreajuste?</vt:lpstr>
      <vt:lpstr>Como evitamos o subajuste e sobreajuste?</vt:lpstr>
      <vt:lpstr>Tarefas</vt:lpstr>
      <vt:lpstr>Apresentação do PowerPoint</vt:lpstr>
      <vt:lpstr>Apresentação do PowerPoint</vt:lpstr>
      <vt:lpstr>Encontrando o vetor gradiente</vt:lpstr>
      <vt:lpstr>Encontrando o vetor gradiente</vt:lpstr>
      <vt:lpstr>Encontrando o vetor gradiente</vt:lpstr>
      <vt:lpstr>Encontrando o vetor gradiente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1954</cp:revision>
  <dcterms:created xsi:type="dcterms:W3CDTF">2020-01-20T13:50:05Z</dcterms:created>
  <dcterms:modified xsi:type="dcterms:W3CDTF">2026-08-29T01:34:21Z</dcterms:modified>
</cp:coreProperties>
</file>