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56" r:id="rId2"/>
    <p:sldId id="385" r:id="rId3"/>
    <p:sldId id="387" r:id="rId4"/>
    <p:sldId id="386" r:id="rId5"/>
    <p:sldId id="389" r:id="rId6"/>
    <p:sldId id="391" r:id="rId7"/>
    <p:sldId id="428" r:id="rId8"/>
    <p:sldId id="393" r:id="rId9"/>
    <p:sldId id="392" r:id="rId10"/>
    <p:sldId id="394" r:id="rId11"/>
    <p:sldId id="390" r:id="rId12"/>
    <p:sldId id="399" r:id="rId13"/>
    <p:sldId id="398" r:id="rId14"/>
    <p:sldId id="402" r:id="rId15"/>
    <p:sldId id="397" r:id="rId16"/>
    <p:sldId id="401" r:id="rId17"/>
    <p:sldId id="406" r:id="rId18"/>
    <p:sldId id="405" r:id="rId19"/>
    <p:sldId id="408" r:id="rId20"/>
    <p:sldId id="409" r:id="rId21"/>
    <p:sldId id="407" r:id="rId22"/>
    <p:sldId id="370" r:id="rId23"/>
    <p:sldId id="424" r:id="rId24"/>
    <p:sldId id="425" r:id="rId25"/>
    <p:sldId id="372" r:id="rId26"/>
    <p:sldId id="410" r:id="rId27"/>
    <p:sldId id="412" r:id="rId28"/>
    <p:sldId id="414" r:id="rId29"/>
    <p:sldId id="417" r:id="rId30"/>
    <p:sldId id="429" r:id="rId31"/>
    <p:sldId id="413" r:id="rId32"/>
    <p:sldId id="418" r:id="rId33"/>
    <p:sldId id="324" r:id="rId34"/>
    <p:sldId id="306" r:id="rId35"/>
    <p:sldId id="419" r:id="rId36"/>
    <p:sldId id="375" r:id="rId37"/>
    <p:sldId id="376" r:id="rId38"/>
    <p:sldId id="377" r:id="rId39"/>
    <p:sldId id="378" r:id="rId40"/>
    <p:sldId id="420" r:id="rId41"/>
    <p:sldId id="362" r:id="rId42"/>
    <p:sldId id="403" r:id="rId43"/>
    <p:sldId id="404" r:id="rId4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86320" autoAdjust="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D62B9A-C89E-FE9F-0BD3-6AF978CB3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D0F34CF-F73E-6EDC-122F-F89A9C660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B49F92C-F191-44C2-39EB-8E8217C5B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CDB2C6B-389B-DF7C-9CD4-5DA63FEB11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7463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3306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3469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7491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#3</a:t>
            </a:r>
            <a:r>
              <a:rPr lang="pt-BR" sz="1200" dirty="0"/>
              <a:t> https://mybinder.org/v2/gh/zz4fap/t320_aprendizado_de_maquina/main?filepath=labs%2FLaboratorio3.ipynb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Exemplo</a:t>
            </a:r>
            <a:r>
              <a:rPr lang="pt-BR" dirty="0"/>
              <a:t>: SPAMClassificationLogisticRegressionSciKit.ipynb</a:t>
            </a:r>
          </a:p>
          <a:p>
            <a:endParaRPr lang="pt-BR" dirty="0"/>
          </a:p>
          <a:p>
            <a:r>
              <a:rPr lang="pt-BR" b="1" i="0" dirty="0"/>
              <a:t>OBS</a:t>
            </a:r>
            <a:r>
              <a:rPr lang="pt-BR" dirty="0"/>
              <a:t>.: Assim como os outros modelos lineares, os modelos de Regressão Logística podem ser regularizados usando penalidades de L1 ou L2. O Scitkit-Learn adiciona uma penalidade L2 por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63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3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58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9" Type="http://schemas.openxmlformats.org/officeDocument/2006/relationships/image" Target="../media/image730.png"/><Relationship Id="rId4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3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5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0887" cy="5032375"/>
          </a:xfrm>
        </p:spPr>
        <p:txBody>
          <a:bodyPr>
            <a:normAutofit/>
          </a:bodyPr>
          <a:lstStyle/>
          <a:p>
            <a:r>
              <a:rPr lang="pt-BR" dirty="0"/>
              <a:t>Anteriormente, vimos que a função de </a:t>
            </a:r>
            <a:r>
              <a:rPr lang="pt-BR" b="1" i="1" dirty="0"/>
              <a:t>limiar rígido </a:t>
            </a:r>
            <a:r>
              <a:rPr lang="pt-BR" dirty="0"/>
              <a:t>apresenta alguns </a:t>
            </a:r>
            <a:r>
              <a:rPr lang="pt-BR" b="1" i="1" dirty="0">
                <a:solidFill>
                  <a:srgbClr val="00B050"/>
                </a:solidFill>
              </a:rPr>
              <a:t>problemas</a:t>
            </a:r>
            <a:r>
              <a:rPr lang="pt-BR" dirty="0"/>
              <a:t> como não poder ser utilizada para encontrar uma </a:t>
            </a:r>
            <a:r>
              <a:rPr lang="pt-BR" b="1" i="1" dirty="0"/>
              <a:t>solução em forma fechada </a:t>
            </a:r>
            <a:r>
              <a:rPr lang="pt-BR" dirty="0"/>
              <a:t>ou com o </a:t>
            </a:r>
            <a:r>
              <a:rPr lang="pt-BR" b="1" i="1" dirty="0"/>
              <a:t>gradiente descendente</a:t>
            </a:r>
            <a:r>
              <a:rPr lang="pt-BR" dirty="0"/>
              <a:t>, além não nos dar a </a:t>
            </a:r>
            <a:r>
              <a:rPr lang="pt-BR" b="1" i="1" dirty="0"/>
              <a:t>confiança das predições</a:t>
            </a:r>
            <a:r>
              <a:rPr lang="pt-BR" dirty="0"/>
              <a:t>.</a:t>
            </a:r>
          </a:p>
          <a:p>
            <a:r>
              <a:rPr lang="pt-BR" dirty="0"/>
              <a:t>Aprendemos também, uma forma intuitiva e iterativa de encontrar os pesos da </a:t>
            </a:r>
            <a:r>
              <a:rPr lang="pt-BR" b="1" i="1" dirty="0"/>
              <a:t>função discriminante </a:t>
            </a:r>
            <a:r>
              <a:rPr lang="pt-BR" dirty="0"/>
              <a:t>quando usamos o </a:t>
            </a:r>
            <a:r>
              <a:rPr lang="pt-BR" b="1" i="1" dirty="0"/>
              <a:t>limiar rígido</a:t>
            </a:r>
            <a:r>
              <a:rPr lang="pt-BR" dirty="0"/>
              <a:t>.</a:t>
            </a:r>
          </a:p>
          <a:p>
            <a:r>
              <a:rPr lang="pt-BR" dirty="0"/>
              <a:t>Na sequência, usaremos </a:t>
            </a:r>
            <a:r>
              <a:rPr lang="pt-BR" b="1" i="1" dirty="0">
                <a:solidFill>
                  <a:srgbClr val="00B050"/>
                </a:solidFill>
              </a:rPr>
              <a:t>outra função de limiar de decisão</a:t>
            </a:r>
            <a:r>
              <a:rPr lang="pt-BR" dirty="0"/>
              <a:t>, chamada de </a:t>
            </a:r>
            <a:r>
              <a:rPr lang="pt-BR" b="1" i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com a qual é possível encontrar-se uma solução usando o </a:t>
            </a:r>
            <a:r>
              <a:rPr lang="pt-BR" b="1" i="1" dirty="0">
                <a:solidFill>
                  <a:srgbClr val="00B050"/>
                </a:solidFill>
              </a:rPr>
              <a:t>gradiente descendente </a:t>
            </a:r>
            <a:r>
              <a:rPr lang="pt-BR" dirty="0"/>
              <a:t>e termos o </a:t>
            </a:r>
            <a:r>
              <a:rPr lang="pt-BR" b="1" i="1" dirty="0">
                <a:solidFill>
                  <a:srgbClr val="00B050"/>
                </a:solidFill>
              </a:rPr>
              <a:t>grau de confiança </a:t>
            </a:r>
            <a:r>
              <a:rPr lang="pt-BR" dirty="0"/>
              <a:t>de uma predição.</a:t>
            </a:r>
          </a:p>
        </p:txBody>
      </p:sp>
    </p:spTree>
    <p:extLst>
      <p:ext uri="{BB962C8B-B14F-4D97-AF65-F5344CB8AC3E}">
        <p14:creationId xmlns:p14="http://schemas.microsoft.com/office/powerpoint/2010/main" val="2930067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648450" cy="5070144"/>
          </a:xfrm>
        </p:spPr>
        <p:txBody>
          <a:bodyPr>
            <a:normAutofit/>
          </a:bodyPr>
          <a:lstStyle/>
          <a:p>
            <a:r>
              <a:rPr lang="pt-BR" dirty="0"/>
              <a:t>Em muitas situações, nós precisamos que o modelo indique o </a:t>
            </a:r>
            <a:r>
              <a:rPr lang="pt-BR" b="1" i="1" dirty="0">
                <a:solidFill>
                  <a:srgbClr val="7030A0"/>
                </a:solidFill>
              </a:rPr>
              <a:t>grau de incerteza </a:t>
            </a:r>
            <a:r>
              <a:rPr lang="pt-BR" dirty="0"/>
              <a:t>quanto às predições.</a:t>
            </a:r>
          </a:p>
          <a:p>
            <a:r>
              <a:rPr lang="pt-BR" dirty="0"/>
              <a:t>Todos esses problemas são resolvidos usando-se a função </a:t>
            </a:r>
            <a:r>
              <a:rPr lang="pt-BR" b="1" i="1" dirty="0">
                <a:solidFill>
                  <a:schemeClr val="accent2"/>
                </a:solidFill>
              </a:rPr>
              <a:t>sigmoide</a:t>
            </a:r>
            <a:r>
              <a:rPr lang="pt-BR" dirty="0"/>
              <a:t> (ou </a:t>
            </a:r>
            <a:r>
              <a:rPr lang="pt-BR" b="1" i="1" dirty="0">
                <a:solidFill>
                  <a:schemeClr val="accent2"/>
                </a:solidFill>
              </a:rPr>
              <a:t>logística</a:t>
            </a:r>
            <a:r>
              <a:rPr lang="pt-BR" dirty="0"/>
              <a:t>).</a:t>
            </a:r>
          </a:p>
          <a:p>
            <a:r>
              <a:rPr lang="pt-BR" dirty="0"/>
              <a:t>Ela é </a:t>
            </a:r>
            <a:r>
              <a:rPr lang="pt-BR" b="1" i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assume valores reais dentro do intervalo de 0 a 1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97111EDA-EAFA-CA5F-4ED2-A39A480B9E4B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Utilizando 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como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temos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hipótese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ficam restritos ao intervalo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assumir o formato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 ou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838200" y="2427506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ser interpretada como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condicional da classe positiva</a:t>
                </a:r>
                <a:r>
                  <a:rPr lang="pt-BR" dirty="0"/>
                  <a:t>,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2296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4CCF39D0-FE48-6508-8112-034BBE54537C}"/>
              </a:ext>
            </a:extLst>
          </p:cNvPr>
          <p:cNvGrpSpPr/>
          <p:nvPr/>
        </p:nvGrpSpPr>
        <p:grpSpPr>
          <a:xfrm>
            <a:off x="401934" y="2056169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470E9AF9-01E7-AC21-572E-01D625BAA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58120DB0-6D11-8F44-3B1B-2640960683B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3125" r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FA3D70E1-BF88-3581-1B09-149D5EF556B5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função logística 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</a:t>
                </a:r>
                <a:r>
                  <a:rPr lang="pt-BR" dirty="0"/>
                  <a:t>, a nova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apresenta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 entre as classes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Esse comportamento é diferente do obtido com o </a:t>
                </a:r>
                <a:r>
                  <a:rPr lang="pt-BR" b="1" i="1" dirty="0"/>
                  <a:t>limiar rígido</a:t>
                </a:r>
                <a:r>
                  <a:rPr lang="pt-BR" dirty="0"/>
                  <a:t>,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mudança entre classes é abrupta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  <a:blipFill>
                <a:blip r:embed="rId3"/>
                <a:stretch>
                  <a:fillRect l="-1554" t="-1937" r="-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xmlns="" id="{3C71D529-D91C-F460-D3EA-516BF1A172F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xmlns="" id="{9E7181FE-6BBA-7C58-5CAB-6820E82D8CC9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xmlns="" id="{910B2765-B62E-E07B-8342-FE8B18514BF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xmlns="" id="{CBAC1B4D-E4BF-1F2F-5817-9898A32C0706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CBAC1B4D-E4BF-1F2F-5817-9898A32C0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xmlns="" id="{2ACE9A2B-4BBB-3C76-B933-0A3D511F3E82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2ACE9A2B-4BBB-3C76-B933-0A3D511F3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0A2257C-117A-2627-3A8F-77F321FED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7633290-C48A-3FB2-A186-B4531500D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37660D3-507D-B2CE-313C-479A1D92DD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Lembrem-se que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discriminante </a:t>
                </a:r>
                <a:r>
                  <a:rPr lang="pt-BR" dirty="0"/>
                  <a:t>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Assim, 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estará 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0.5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</a:t>
                </a:r>
                <a:r>
                  <a:rPr lang="pt-BR" dirty="0" smtClean="0"/>
                  <a:t>posicionad</a:t>
                </a:r>
                <a:r>
                  <a:rPr lang="pt-BR" dirty="0"/>
                  <a:t>o exatamente em cima da fronteira de decisão,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Valores próximos a 0.5 indicam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 smtClean="0"/>
                  <a:t> </a:t>
                </a:r>
                <a:r>
                  <a:rPr lang="pt-BR" dirty="0"/>
                  <a:t>sobre a classe do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7660D3-507D-B2CE-313C-479A1D92DD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l="-1494" t="-1937" r="-13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0595A1C-EEBC-E61E-4B0C-E16528871A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D0354606-A277-86BE-1381-5660F15713B6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3E4EB82C-9FBC-368C-128F-0FDEAA6F7CA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688BE98C-8CE9-C9F5-FDF1-AB08325F46C4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88BE98C-8CE9-C9F5-FDF1-AB08325F4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038A1FEB-D898-A638-2A3C-5EC037144F41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7849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longe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será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absoluto de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</a:t>
                </a:r>
                <a:r>
                  <a:rPr lang="pt-BR" sz="2800" dirty="0"/>
                  <a:t>uanto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longe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</a:t>
                </a:r>
                <a:r>
                  <a:rPr lang="pt-BR" sz="2800" dirty="0"/>
                  <a:t>,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estará do valor 0 ou de 1 </a:t>
                </a:r>
                <a:r>
                  <a:rPr lang="pt-BR" sz="2800" dirty="0"/>
                  <a:t>e, portanto, mais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certeza teremos sobre uma predição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  <a:blipFill>
                <a:blip r:embed="rId3"/>
                <a:stretch>
                  <a:fillRect l="-156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6E97C804-C471-D3F8-C791-2499476ACE1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5F364548-9667-99CD-74B4-6A8853A2B975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7A8C5BCF-8E26-E6E0-4626-E652F4BFCCD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AA049472-CC50-0BFE-DB7F-6C2E18475E67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AA049472-CC50-0BFE-DB7F-6C2E18475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F4CC1366-3D43-8EFC-2434-1C28102F9307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xmlns="" id="{CC64F05A-7E02-1F81-885B-0F985D8A5436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xmlns="" id="{C51C32C2-02A4-97DF-3A0E-763C4C918454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xmlns="" id="{3384F1D0-D12F-3050-B768-FC406B60C537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964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F9C095-0678-B568-4C0C-EE57209756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modelo que estima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probabilidade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de um dado exemplo de entrada pertencer à classe positiva,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é um classificador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no sentido estrito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é na verdade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e é chamado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</a:t>
                </a:r>
                <a:r>
                  <a:rPr lang="pt-BR" b="1" i="1" dirty="0"/>
                  <a:t>logístico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um regressor pois sua saída pode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assumir infinitos valores </a:t>
                </a:r>
                <a:r>
                  <a:rPr lang="pt-BR" dirty="0"/>
                  <a:t>no intervalo entre 0 e 1.</a:t>
                </a:r>
              </a:p>
              <a:p>
                <a:r>
                  <a:rPr lang="pt-BR" dirty="0" smtClean="0"/>
                  <a:t>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normalmente usado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classificação binária </a:t>
                </a:r>
                <a:r>
                  <a:rPr lang="pt-BR" dirty="0"/>
                  <a:t>(i.e., classificação entre duas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), mas para isso, precisamos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quantizar sua saída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Toda </a:t>
                </a:r>
                <a:r>
                  <a:rPr lang="pt-BR" dirty="0"/>
                  <a:t>a teoria por trás da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</a:t>
                </a:r>
                <a:r>
                  <a:rPr lang="pt-BR" dirty="0" smtClean="0"/>
                  <a:t>nos ajudará a entender o funcionamento das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redes neurais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AF9C095-0678-B568-4C0C-EE57209756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  <a:blipFill rotWithShape="0">
                <a:blip r:embed="rId3"/>
                <a:stretch>
                  <a:fillRect l="-925" t="-1937" r="-1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</p:spPr>
            <p:txBody>
              <a:bodyPr/>
              <a:lstStyle/>
              <a:p>
                <a:r>
                  <a:rPr lang="pt-BR" dirty="0" smtClean="0"/>
                  <a:t>Se quantiza a saída da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decisão</a:t>
                </a:r>
                <a:r>
                  <a:rPr lang="pt-BR" i="1" dirty="0" smtClean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Em geral,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(i.e., 50% de probabilidade).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saída </a:t>
                </a:r>
                <a:r>
                  <a:rPr lang="pt-BR" b="1" i="1" dirty="0"/>
                  <a:t>quantizada</a:t>
                </a:r>
                <a:r>
                  <a:rPr lang="pt-BR" dirty="0"/>
                  <a:t> do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𝐶𝑙𝑎𝑠𝑠𝑒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𝑠𝑒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  <a:blipFill rotWithShape="0">
                <a:blip r:embed="rId3"/>
                <a:stretch>
                  <a:fillRect l="-9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77809CD-1BD7-E7EB-6571-1A28F2AF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pt-BR" dirty="0"/>
                  <a:t>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pt-BR" dirty="0"/>
                  <a:t> 0.5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Portanto, o </a:t>
                </a:r>
                <a:r>
                  <a:rPr lang="pt-BR" b="1" i="1" dirty="0"/>
                  <a:t>regressor logístico com limiar de quantização igual a 0.5 </a:t>
                </a:r>
                <a:r>
                  <a:rPr lang="pt-BR" dirty="0"/>
                  <a:t>prediz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  <a:blipFill>
                <a:blip r:embed="rId2"/>
                <a:stretch>
                  <a:fillRect l="-1617" t="-1937" r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DEB44443-FFD9-DE17-AE4D-5329DCB80EFD}"/>
              </a:ext>
            </a:extLst>
          </p:cNvPr>
          <p:cNvGrpSpPr/>
          <p:nvPr/>
        </p:nvGrpSpPr>
        <p:grpSpPr>
          <a:xfrm>
            <a:off x="496556" y="2204516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xmlns="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xmlns="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xmlns="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xmlns="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650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xmlns="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 smtClean="0"/>
                  <a:t>é </a:t>
                </a:r>
                <a:r>
                  <a:rPr lang="pt-BR" dirty="0"/>
                  <a:t>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</a:t>
                </a:r>
                <a:r>
                  <a:rPr lang="pt-BR" dirty="0" smtClean="0"/>
                  <a:t>quando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  <a:blipFill rotWithShape="0">
                <a:blip r:embed="rId3"/>
                <a:stretch>
                  <a:fillRect l="-1706" t="-1937" r="-31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xmlns="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xmlns="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xmlns="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xmlns="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xmlns="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108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 smtClean="0"/>
              <a:t>Para </a:t>
            </a:r>
            <a:r>
              <a:rPr lang="pt-BR" b="1" i="1" dirty="0" smtClean="0">
                <a:solidFill>
                  <a:srgbClr val="00B050"/>
                </a:solidFill>
              </a:rPr>
              <a:t>treinarmos </a:t>
            </a:r>
            <a:r>
              <a:rPr lang="pt-BR" dirty="0"/>
              <a:t>um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regressor logístico</a:t>
            </a:r>
            <a:r>
              <a:rPr lang="pt-BR" b="1" i="1" dirty="0"/>
              <a:t> </a:t>
            </a:r>
            <a:r>
              <a:rPr lang="pt-BR" dirty="0"/>
              <a:t>e encontrarmos os </a:t>
            </a:r>
            <a:r>
              <a:rPr lang="pt-BR" b="1" i="1" dirty="0"/>
              <a:t>pesos</a:t>
            </a:r>
            <a:r>
              <a:rPr lang="pt-BR" dirty="0"/>
              <a:t> da </a:t>
            </a:r>
            <a:r>
              <a:rPr lang="pt-BR" b="1" i="1" dirty="0"/>
              <a:t>função discriminante</a:t>
            </a:r>
            <a:r>
              <a:rPr lang="pt-BR" dirty="0"/>
              <a:t>, nós </a:t>
            </a:r>
            <a:r>
              <a:rPr lang="pt-BR" b="1" i="1" dirty="0">
                <a:solidFill>
                  <a:srgbClr val="00B050"/>
                </a:solidFill>
              </a:rPr>
              <a:t>precisamos</a:t>
            </a:r>
            <a:r>
              <a:rPr lang="pt-BR" dirty="0"/>
              <a:t>, assim como fizemos com a </a:t>
            </a:r>
            <a:r>
              <a:rPr lang="pt-BR" b="1" i="1" dirty="0"/>
              <a:t>regressão linear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definir uma função de </a:t>
            </a:r>
            <a:r>
              <a:rPr lang="pt-BR" b="1" i="1" dirty="0" smtClean="0">
                <a:solidFill>
                  <a:srgbClr val="00B050"/>
                </a:solidFill>
              </a:rPr>
              <a:t>erro a ser </a:t>
            </a:r>
            <a:r>
              <a:rPr lang="pt-BR" b="1" i="1" dirty="0" smtClean="0">
                <a:solidFill>
                  <a:schemeClr val="accent5"/>
                </a:solidFill>
              </a:rPr>
              <a:t>minimizada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Porém, adotar a função do </a:t>
            </a:r>
            <a:r>
              <a:rPr lang="pt-BR" b="1" i="1" dirty="0">
                <a:solidFill>
                  <a:schemeClr val="accent2"/>
                </a:solidFill>
              </a:rPr>
              <a:t>erro quadrático médio</a:t>
            </a:r>
            <a:r>
              <a:rPr lang="pt-BR" b="1" i="1" dirty="0"/>
              <a:t> </a:t>
            </a:r>
            <a:r>
              <a:rPr lang="pt-BR" dirty="0"/>
              <a:t>como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para a </a:t>
            </a:r>
            <a:r>
              <a:rPr lang="pt-BR" b="1" i="1" dirty="0"/>
              <a:t>atualização dos pesos </a:t>
            </a:r>
            <a:r>
              <a:rPr lang="pt-BR" dirty="0"/>
              <a:t>no caso da</a:t>
            </a:r>
            <a:r>
              <a:rPr lang="pt-BR" b="1" i="1" dirty="0"/>
              <a:t> regressão logística</a:t>
            </a:r>
            <a:r>
              <a:rPr lang="pt-BR" dirty="0"/>
              <a:t> e </a:t>
            </a:r>
            <a:r>
              <a:rPr lang="pt-BR" b="1" i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 smtClean="0"/>
                  <a:t>Se considerarmos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como sendo 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i="1" dirty="0"/>
                  <a:t>superfície de erro</a:t>
                </a:r>
                <a:r>
                  <a:rPr lang="pt-BR" dirty="0"/>
                  <a:t> poderá </a:t>
                </a:r>
                <a:r>
                  <a:rPr lang="pt-BR" dirty="0" smtClean="0"/>
                  <a:t>apresentar várias irregularidades, incluindo </a:t>
                </a:r>
                <a:r>
                  <a:rPr lang="pt-BR" b="1" i="1" dirty="0" smtClean="0">
                    <a:solidFill>
                      <a:srgbClr val="FF0000"/>
                    </a:solidFill>
                  </a:rPr>
                  <a:t>diversos mínimos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locais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que vão dificultar o aprendizado do modelo </a:t>
                </a:r>
                <a:endParaRPr lang="pt-BR" dirty="0" smtClean="0"/>
              </a:p>
              <a:p>
                <a:pPr lvl="1"/>
                <a:r>
                  <a:rPr lang="pt-BR" dirty="0" smtClean="0"/>
                  <a:t>Por exemplo, o </a:t>
                </a:r>
                <a:r>
                  <a:rPr lang="pt-BR" dirty="0"/>
                  <a:t>algoritmo do GD pode ficar preso em um mínimo </a:t>
                </a:r>
                <a:r>
                  <a:rPr lang="pt-BR" dirty="0" smtClean="0"/>
                  <a:t>local.</a:t>
                </a:r>
                <a:endParaRPr lang="pt-BR" i="1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 rotWithShape="0">
                <a:blip r:embed="rId3"/>
                <a:stretch>
                  <a:fillRect l="-1462" t="-2663" r="-19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Ideia</a:t>
                </a:r>
                <a:r>
                  <a:rPr lang="pt-BR" dirty="0"/>
                  <a:t>: encontrar uma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i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proposta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intuitiva</a:t>
                </a:r>
                <a:r>
                  <a:rPr lang="pt-BR" dirty="0"/>
                  <a:t> para a </a:t>
                </a:r>
                <a:r>
                  <a:rPr lang="pt-BR" b="1" i="1" dirty="0"/>
                  <a:t>função de</a:t>
                </a:r>
                <a:r>
                  <a:rPr lang="pt-BR" dirty="0"/>
                  <a:t> </a:t>
                </a:r>
                <a:r>
                  <a:rPr lang="pt-BR" b="1" i="1" dirty="0"/>
                  <a:t>erro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para cada exemplo de entrada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é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 smtClean="0"/>
                  <a:t>ésimo</a:t>
                </a:r>
                <a:r>
                  <a:rPr lang="pt-BR" dirty="0" smtClean="0"/>
                  <a:t> rótulo.</a:t>
                </a:r>
                <a:endParaRPr lang="pt-BR" dirty="0"/>
              </a:p>
              <a:p>
                <a:r>
                  <a:rPr lang="pt-BR" dirty="0"/>
                  <a:t>Veremos a seguir uma justificativa para esta escolha.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  <a:blipFill rotWithShape="0">
                <a:blip r:embed="rId3"/>
                <a:stretch>
                  <a:fillRect l="-170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muito grande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Ou seja,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será grande</a:t>
                </a:r>
                <a:r>
                  <a:rPr lang="pt-BR" dirty="0"/>
                  <a:t> se o regressor estimar uma probabilidade próxima a 0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outro lado,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1.</a:t>
                </a:r>
              </a:p>
              <a:p>
                <a:r>
                  <a:rPr lang="pt-BR" dirty="0"/>
                  <a:t>Portanto,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erro será próximo de 0 </a:t>
                </a:r>
                <a:r>
                  <a:rPr lang="pt-BR" dirty="0"/>
                  <a:t>se a probabilidade estimada for próxima de 1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  <a:blipFill rotWithShape="0">
                <a:blip r:embed="rId3"/>
                <a:stretch>
                  <a:fillRect l="-1556" t="-2663" r="-207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7">
            <a:extLst>
              <a:ext uri="{FF2B5EF4-FFF2-40B4-BE49-F238E27FC236}">
                <a16:creationId xmlns:a16="http://schemas.microsoft.com/office/drawing/2014/main" xmlns="" id="{B3C4AFA8-F0AC-4FFD-7DFC-D4EA88D7F0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" t="4876" r="8791"/>
          <a:stretch/>
        </p:blipFill>
        <p:spPr>
          <a:xfrm>
            <a:off x="620091" y="2616473"/>
            <a:ext cx="3938195" cy="3793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xmlns="" id="{DA384F59-84B2-EEA5-B023-5194B4DA1B87}"/>
                  </a:ext>
                </a:extLst>
              </p:cNvPr>
              <p:cNvSpPr txBox="1"/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1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blipFill>
                <a:blip r:embed="rId5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blipFill>
                <a:blip r:embed="rId7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311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>
            <a:extLst>
              <a:ext uri="{FF2B5EF4-FFF2-40B4-BE49-F238E27FC236}">
                <a16:creationId xmlns:a16="http://schemas.microsoft.com/office/drawing/2014/main" xmlns="" id="{CAB49D12-B8D2-8812-1FBB-C0C295BB8C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5" t="5157" r="8791"/>
          <a:stretch/>
        </p:blipFill>
        <p:spPr>
          <a:xfrm>
            <a:off x="717942" y="2597080"/>
            <a:ext cx="3864091" cy="37207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</a:t>
                </a:r>
                <a:r>
                  <a:rPr lang="pt-BR" dirty="0" smtClean="0"/>
                  <a:t>i.e., exemplo </a:t>
                </a:r>
                <a:r>
                  <a:rPr lang="pt-BR" dirty="0"/>
                  <a:t>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será muito grande se o classificador estimar uma probabilidade próxima de </a:t>
                </a:r>
                <a:r>
                  <a:rPr lang="pt-BR" dirty="0" smtClean="0"/>
                  <a:t>1. </a:t>
                </a:r>
                <a:endParaRPr lang="pt-BR" dirty="0"/>
              </a:p>
              <a:p>
                <a:r>
                  <a:rPr lang="pt-BR" dirty="0"/>
                  <a:t>Porém,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</a:t>
                </a:r>
                <a:r>
                  <a:rPr lang="pt-BR" dirty="0" smtClean="0"/>
                  <a:t>0 para </a:t>
                </a:r>
                <a:r>
                  <a:rPr lang="pt-BR" dirty="0"/>
                  <a:t>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  <a:blipFill rotWithShape="0">
                <a:blip r:embed="rId4"/>
                <a:stretch>
                  <a:fillRect l="-15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blipFill>
                <a:blip r:embed="rId6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xmlns="" id="{90A4272F-386E-3CB4-9D80-D03C1F05B0FC}"/>
                  </a:ext>
                </a:extLst>
              </p:cNvPr>
              <p:cNvSpPr txBox="1"/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0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0</a:t>
                </a: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blipFill>
                <a:blip r:embed="rId7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824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para cada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exemplo</a:t>
                </a:r>
                <a:r>
                  <a:rPr lang="pt-BR" b="1" i="1" dirty="0" smtClean="0"/>
                  <a:t>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o valor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 rotWithShape="0"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sz="3000" dirty="0" smtClean="0"/>
              <a:t>A má </a:t>
            </a:r>
            <a:r>
              <a:rPr lang="pt-BR" sz="3000" dirty="0"/>
              <a:t>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 smtClean="0"/>
              <a:t>A boa </a:t>
            </a:r>
            <a:r>
              <a:rPr lang="pt-BR" sz="3000" dirty="0"/>
              <a:t>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</a:t>
            </a:r>
            <a:r>
              <a:rPr lang="pt-BR" sz="3000" b="1" i="1" dirty="0" smtClean="0">
                <a:solidFill>
                  <a:srgbClr val="7030A0"/>
                </a:solidFill>
              </a:rPr>
              <a:t>)</a:t>
            </a:r>
            <a:r>
              <a:rPr lang="pt-BR" sz="3000" dirty="0" smtClean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 smtClean="0"/>
              <a:t>Podemos implementar </a:t>
            </a:r>
            <a:r>
              <a:rPr lang="pt-BR" sz="2600" dirty="0"/>
              <a:t>todas as versões do </a:t>
            </a:r>
            <a:r>
              <a:rPr lang="pt-BR" sz="2600" b="1" i="1" dirty="0">
                <a:solidFill>
                  <a:srgbClr val="7030A0"/>
                </a:solidFill>
              </a:rPr>
              <a:t>GD</a:t>
            </a:r>
            <a:r>
              <a:rPr lang="pt-BR" sz="26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 smtClean="0">
                    <a:solidFill>
                      <a:schemeClr val="accent5"/>
                    </a:solidFill>
                  </a:rPr>
                  <a:t>equação de atualização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iterativa</a:t>
                </a:r>
                <a:r>
                  <a:rPr lang="pt-BR" b="1" i="1" dirty="0"/>
                  <a:t>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00DD6890-7287-3E1E-773F-7EAB37BD2F8A}"/>
              </a:ext>
            </a:extLst>
          </p:cNvPr>
          <p:cNvSpPr txBox="1"/>
          <p:nvPr/>
        </p:nvSpPr>
        <p:spPr>
          <a:xfrm>
            <a:off x="8321040" y="6609806"/>
            <a:ext cx="3870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100" dirty="0" smtClean="0"/>
              <a:t>Anexo I apresenta os passos para se encontrar o vetor gradiente.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tivermos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</a:t>
                </a:r>
                <a:r>
                  <a:rPr lang="pt-BR" dirty="0" smtClean="0"/>
                  <a:t>função em formato </a:t>
                </a:r>
                <a:r>
                  <a:rPr lang="pt-BR" dirty="0"/>
                  <a:t>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 rotWithShape="0">
                <a:blip r:embed="rId2"/>
                <a:stretch>
                  <a:fillRect l="-109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tivermos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em formato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 rotWithShape="0"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Se tivermos </a:t>
                </a:r>
                <a:r>
                  <a:rPr lang="pt-BR" dirty="0"/>
                  <a:t>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em formato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 rotWithShape="0"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 smtClean="0"/>
              <a:t>O modelo também apresenta </a:t>
            </a:r>
            <a:r>
              <a:rPr lang="pt-BR" dirty="0"/>
              <a:t>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</a:t>
            </a:r>
            <a:r>
              <a:rPr lang="pt-BR" dirty="0" smtClean="0"/>
              <a:t>exemplos de ambos os conjuntos.</a:t>
            </a:r>
            <a:endParaRPr lang="pt-BR" dirty="0"/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</a:t>
            </a:r>
            <a:r>
              <a:rPr lang="pt-BR" dirty="0" smtClean="0"/>
              <a:t>i.e.,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</a:t>
            </a:r>
            <a:r>
              <a:rPr lang="pt-BR" dirty="0" smtClean="0"/>
              <a:t>usado apresenta </a:t>
            </a:r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51263" y="2452643"/>
            <a:ext cx="10515600" cy="19626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115023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</a:t>
            </a:r>
            <a:r>
              <a:rPr lang="pt-BR" i="1" dirty="0"/>
              <a:t>Elastic-Net</a:t>
            </a:r>
            <a:r>
              <a:rPr lang="pt-BR" dirty="0"/>
              <a:t>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#3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0061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284895" y="1407719"/>
            <a:ext cx="1352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positive)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936069" y="1868838"/>
            <a:ext cx="1080000" cy="108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6069" y="186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069" y="294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7061" y="2948838"/>
            <a:ext cx="1080000" cy="10800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 rot="5400000">
            <a:off x="6375621" y="2764173"/>
            <a:ext cx="216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Predicted label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0572" y="4251169"/>
            <a:ext cx="2165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True label</a:t>
            </a:r>
          </a:p>
        </p:txBody>
      </p:sp>
      <p:sp>
        <p:nvSpPr>
          <p:cNvPr id="37" name="TextBox 36"/>
          <p:cNvSpPr txBox="1"/>
          <p:nvPr/>
        </p:nvSpPr>
        <p:spPr>
          <a:xfrm rot="5400000">
            <a:off x="7236683" y="225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7243567" y="333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069" y="402883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6069" y="403254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7426411" y="1710483"/>
            <a:ext cx="741238" cy="358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2799" y="1927234"/>
            <a:ext cx="1310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positive)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9757980" y="2146383"/>
            <a:ext cx="548575" cy="1264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73915" y="3673911"/>
            <a:ext cx="1365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negative)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7389414" y="3738869"/>
            <a:ext cx="1152054" cy="1733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128" y="3443390"/>
            <a:ext cx="1326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negative)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9877238" y="3735492"/>
            <a:ext cx="503539" cy="44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Agrupar 1">
            <a:extLst>
              <a:ext uri="{FF2B5EF4-FFF2-40B4-BE49-F238E27FC236}">
                <a16:creationId xmlns:a16="http://schemas.microsoft.com/office/drawing/2014/main" xmlns="" id="{1CDFFFFC-8192-7919-7B13-5DC35374BC48}"/>
              </a:ext>
            </a:extLst>
          </p:cNvPr>
          <p:cNvGrpSpPr/>
          <p:nvPr/>
        </p:nvGrpSpPr>
        <p:grpSpPr>
          <a:xfrm>
            <a:off x="807621" y="1554888"/>
            <a:ext cx="4264646" cy="3867900"/>
            <a:chOff x="473795" y="2024060"/>
            <a:chExt cx="4264646" cy="3867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765EBBE8-684D-00AF-53C1-01EFECAF7F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2582792B-3C80-AD73-358C-054A3CBF463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2582792B-3C80-AD73-358C-054A3CBF4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892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8587B273-E9F7-096F-D0CE-D09C64803C0E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8587B273-E9F7-096F-D0CE-D09C64803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063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:a16="http://schemas.microsoft.com/office/drawing/2014/main" xmlns="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xmlns="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xmlns="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xmlns="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xmlns="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xmlns="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xmlns="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xmlns="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xmlns="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xmlns="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xmlns="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xmlns="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xmlns="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xmlns="" id="{9FD7C786-F446-482E-E3DD-BAAEF25E5EB3}"/>
              </a:ext>
            </a:extLst>
          </p:cNvPr>
          <p:cNvGrpSpPr/>
          <p:nvPr/>
        </p:nvGrpSpPr>
        <p:grpSpPr>
          <a:xfrm>
            <a:off x="2847975" y="2490528"/>
            <a:ext cx="3066413" cy="3445623"/>
            <a:chOff x="2847975" y="2490528"/>
            <a:chExt cx="3066413" cy="3445623"/>
          </a:xfrm>
        </p:grpSpPr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xmlns="" id="{F50B53DF-4C4E-4C85-8BAE-C98DF42162DA}"/>
                </a:ext>
              </a:extLst>
            </p:cNvPr>
            <p:cNvSpPr/>
            <p:nvPr/>
          </p:nvSpPr>
          <p:spPr>
            <a:xfrm>
              <a:off x="3352800" y="2951604"/>
              <a:ext cx="2238375" cy="2445896"/>
            </a:xfrm>
            <a:custGeom>
              <a:avLst/>
              <a:gdLst>
                <a:gd name="connsiteX0" fmla="*/ 0 w 2238375"/>
                <a:gd name="connsiteY0" fmla="*/ 0 h 2445896"/>
                <a:gd name="connsiteX1" fmla="*/ 180975 w 2238375"/>
                <a:gd name="connsiteY1" fmla="*/ 1390650 h 2445896"/>
                <a:gd name="connsiteX2" fmla="*/ 561975 w 2238375"/>
                <a:gd name="connsiteY2" fmla="*/ 76200 h 2445896"/>
                <a:gd name="connsiteX3" fmla="*/ 990600 w 2238375"/>
                <a:gd name="connsiteY3" fmla="*/ 2428875 h 2445896"/>
                <a:gd name="connsiteX4" fmla="*/ 1381125 w 2238375"/>
                <a:gd name="connsiteY4" fmla="*/ 1085850 h 2445896"/>
                <a:gd name="connsiteX5" fmla="*/ 1600200 w 2238375"/>
                <a:gd name="connsiteY5" fmla="*/ 114300 h 2445896"/>
                <a:gd name="connsiteX6" fmla="*/ 1866900 w 2238375"/>
                <a:gd name="connsiteY6" fmla="*/ 828675 h 2445896"/>
                <a:gd name="connsiteX7" fmla="*/ 2238375 w 2238375"/>
                <a:gd name="connsiteY7" fmla="*/ 247650 h 2445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8375" h="2445896">
                  <a:moveTo>
                    <a:pt x="0" y="0"/>
                  </a:moveTo>
                  <a:cubicBezTo>
                    <a:pt x="43656" y="688975"/>
                    <a:pt x="87313" y="1377950"/>
                    <a:pt x="180975" y="1390650"/>
                  </a:cubicBezTo>
                  <a:cubicBezTo>
                    <a:pt x="274637" y="1403350"/>
                    <a:pt x="427038" y="-96837"/>
                    <a:pt x="561975" y="76200"/>
                  </a:cubicBezTo>
                  <a:cubicBezTo>
                    <a:pt x="696912" y="249237"/>
                    <a:pt x="854075" y="2260600"/>
                    <a:pt x="990600" y="2428875"/>
                  </a:cubicBezTo>
                  <a:cubicBezTo>
                    <a:pt x="1127125" y="2597150"/>
                    <a:pt x="1279525" y="1471612"/>
                    <a:pt x="1381125" y="1085850"/>
                  </a:cubicBezTo>
                  <a:cubicBezTo>
                    <a:pt x="1482725" y="700088"/>
                    <a:pt x="1519238" y="157162"/>
                    <a:pt x="1600200" y="114300"/>
                  </a:cubicBezTo>
                  <a:cubicBezTo>
                    <a:pt x="1681162" y="71438"/>
                    <a:pt x="1760538" y="806450"/>
                    <a:pt x="1866900" y="828675"/>
                  </a:cubicBezTo>
                  <a:cubicBezTo>
                    <a:pt x="1973263" y="850900"/>
                    <a:pt x="2105819" y="549275"/>
                    <a:pt x="2238375" y="24765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xmlns="" id="{3110A252-5626-CF16-70EC-599A5D7930AA}"/>
                </a:ext>
              </a:extLst>
            </p:cNvPr>
            <p:cNvCxnSpPr/>
            <p:nvPr/>
          </p:nvCxnSpPr>
          <p:spPr>
            <a:xfrm>
              <a:off x="2876550" y="3248025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xmlns="" id="{19B38D1F-C032-C6E3-3F1A-254B72F09363}"/>
                </a:ext>
              </a:extLst>
            </p:cNvPr>
            <p:cNvSpPr txBox="1"/>
            <p:nvPr/>
          </p:nvSpPr>
          <p:spPr>
            <a:xfrm>
              <a:off x="2847975" y="4924425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A48B195D-3235-843C-F6C1-5B05456E9673}"/>
                </a:ext>
              </a:extLst>
            </p:cNvPr>
            <p:cNvSpPr txBox="1"/>
            <p:nvPr/>
          </p:nvSpPr>
          <p:spPr>
            <a:xfrm>
              <a:off x="3143250" y="432276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xmlns="" id="{ECC6E25F-D6BE-42F1-A04F-F11D5EE26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5011" y="4268762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xmlns="" id="{9C45849C-28CE-A26B-8688-8B82CEE63DDA}"/>
                </a:ext>
              </a:extLst>
            </p:cNvPr>
            <p:cNvSpPr txBox="1"/>
            <p:nvPr/>
          </p:nvSpPr>
          <p:spPr>
            <a:xfrm>
              <a:off x="4864734" y="385354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xmlns="" id="{447D6D01-88F2-02AB-7D57-46450311E923}"/>
                </a:ext>
              </a:extLst>
            </p:cNvPr>
            <p:cNvSpPr txBox="1"/>
            <p:nvPr/>
          </p:nvSpPr>
          <p:spPr>
            <a:xfrm>
              <a:off x="3068321" y="2490528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não-convexa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4468B11C-AD95-31BE-84A6-2C5E405212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57322" y="306747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xmlns="" id="{A4A070D0-9E61-C019-24E6-2177E7BA5DA1}"/>
                </a:ext>
              </a:extLst>
            </p:cNvPr>
            <p:cNvCxnSpPr>
              <a:stCxn id="22" idx="6"/>
            </p:cNvCxnSpPr>
            <p:nvPr/>
          </p:nvCxnSpPr>
          <p:spPr>
            <a:xfrm>
              <a:off x="5065322" y="3121470"/>
              <a:ext cx="465528" cy="2122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:a16="http://schemas.microsoft.com/office/drawing/2014/main" xmlns="" id="{015CC9DE-4883-B304-6D06-0B1612F8A32D}"/>
                </a:ext>
              </a:extLst>
            </p:cNvPr>
            <p:cNvCxnSpPr>
              <a:endCxn id="11" idx="6"/>
            </p:cNvCxnSpPr>
            <p:nvPr/>
          </p:nvCxnSpPr>
          <p:spPr>
            <a:xfrm flipH="1">
              <a:off x="5219700" y="3631746"/>
              <a:ext cx="154781" cy="1485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xmlns="" id="{C604F759-E9F0-FD37-8241-90A347156F15}"/>
                </a:ext>
              </a:extLst>
            </p:cNvPr>
            <p:cNvCxnSpPr/>
            <p:nvPr/>
          </p:nvCxnSpPr>
          <p:spPr>
            <a:xfrm flipH="1">
              <a:off x="5118100" y="3333750"/>
              <a:ext cx="412750" cy="1968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xmlns="" id="{6E17B7D1-6C0D-395B-4209-354CCFD369BF}"/>
                </a:ext>
              </a:extLst>
            </p:cNvPr>
            <p:cNvCxnSpPr>
              <a:cxnSpLocks/>
            </p:cNvCxnSpPr>
            <p:nvPr/>
          </p:nvCxnSpPr>
          <p:spPr>
            <a:xfrm>
              <a:off x="5118100" y="3530600"/>
              <a:ext cx="256381" cy="1011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xmlns="" id="{D11EC075-B561-04E9-D79A-021ECD68D8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5836" y="3712201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xmlns="" id="{0DCEEA60-A93D-F00F-E769-1B2D8B95C7F2}"/>
                </a:ext>
              </a:extLst>
            </p:cNvPr>
            <p:cNvSpPr txBox="1"/>
            <p:nvPr/>
          </p:nvSpPr>
          <p:spPr>
            <a:xfrm>
              <a:off x="4797423" y="2867249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xmlns="" id="{6440C131-E34D-0D14-1FAD-DA7EA59843C4}"/>
                </a:ext>
              </a:extLst>
            </p:cNvPr>
            <p:cNvSpPr txBox="1"/>
            <p:nvPr/>
          </p:nvSpPr>
          <p:spPr>
            <a:xfrm>
              <a:off x="3968352" y="5412931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60" name="Elipse 59">
              <a:extLst>
                <a:ext uri="{FF2B5EF4-FFF2-40B4-BE49-F238E27FC236}">
                  <a16:creationId xmlns:a16="http://schemas.microsoft.com/office/drawing/2014/main" xmlns="" id="{72C876E0-617F-E784-133E-C4A36B7003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19163" y="5339881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7097020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DE488369-EF19-AF97-4E17-223811263C1D}"/>
              </a:ext>
            </a:extLst>
          </p:cNvPr>
          <p:cNvGrpSpPr/>
          <p:nvPr/>
        </p:nvGrpSpPr>
        <p:grpSpPr>
          <a:xfrm>
            <a:off x="2346234" y="2318922"/>
            <a:ext cx="5693524" cy="2737494"/>
            <a:chOff x="2346234" y="2318922"/>
            <a:chExt cx="5693524" cy="2737494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xmlns="" id="{CB640DC1-DCCB-99CE-3E59-771E8A71C833}"/>
                </a:ext>
              </a:extLst>
            </p:cNvPr>
            <p:cNvSpPr/>
            <p:nvPr/>
          </p:nvSpPr>
          <p:spPr>
            <a:xfrm>
              <a:off x="3270814" y="3267930"/>
              <a:ext cx="2011680" cy="126274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Modelo de ML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(Classificador)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Seta para a direita 5">
              <a:extLst>
                <a:ext uri="{FF2B5EF4-FFF2-40B4-BE49-F238E27FC236}">
                  <a16:creationId xmlns:a16="http://schemas.microsoft.com/office/drawing/2014/main" xmlns="" id="{398E6E68-724F-5BE1-3FA9-091D5FB4A763}"/>
                </a:ext>
              </a:extLst>
            </p:cNvPr>
            <p:cNvSpPr/>
            <p:nvPr/>
          </p:nvSpPr>
          <p:spPr>
            <a:xfrm>
              <a:off x="2870220" y="3699004"/>
              <a:ext cx="400594" cy="400594"/>
            </a:xfrm>
            <a:prstGeom prst="rightArrow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xmlns="" id="{41C5A256-595F-AFD4-A935-D2A97C56BAD5}"/>
                    </a:ext>
                  </a:extLst>
                </p:cNvPr>
                <p:cNvSpPr/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id="{41C5A256-595F-AFD4-A935-D2A97C56BA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xmlns="" id="{71CF5D8B-46C6-92AE-3002-AC862F80F2AB}"/>
                    </a:ext>
                  </a:extLst>
                </p:cNvPr>
                <p:cNvSpPr/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𝑝𝑟𝑒𝑑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id="{71CF5D8B-46C6-92AE-3002-AC862F80F2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xmlns="" id="{016E1322-6FEE-937B-4FF1-EF9D725EA79A}"/>
                    </a:ext>
                  </a:extLst>
                </p:cNvPr>
                <p:cNvSpPr/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𝑒𝑠𝑝𝑒𝑟𝑎𝑑𝑜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id="{016E1322-6FEE-937B-4FF1-EF9D725EA7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760BFAE9-F85F-851A-B468-D1E93E418B85}"/>
                </a:ext>
              </a:extLst>
            </p:cNvPr>
            <p:cNvSpPr/>
            <p:nvPr/>
          </p:nvSpPr>
          <p:spPr>
            <a:xfrm>
              <a:off x="6293221" y="3659364"/>
              <a:ext cx="468000" cy="46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Menos 15">
              <a:extLst>
                <a:ext uri="{FF2B5EF4-FFF2-40B4-BE49-F238E27FC236}">
                  <a16:creationId xmlns:a16="http://schemas.microsoft.com/office/drawing/2014/main" xmlns="" id="{C1C8DA0D-D1D3-9C44-24D6-E78BD02C46F6}"/>
                </a:ext>
              </a:extLst>
            </p:cNvPr>
            <p:cNvSpPr/>
            <p:nvPr/>
          </p:nvSpPr>
          <p:spPr>
            <a:xfrm>
              <a:off x="6362923" y="3755294"/>
              <a:ext cx="328311" cy="276139"/>
            </a:xfrm>
            <a:prstGeom prst="mathMinus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xmlns="" id="{582A56EA-DFC0-4636-952F-009E32718CD3}"/>
                    </a:ext>
                  </a:extLst>
                </p:cNvPr>
                <p:cNvSpPr/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𝑒𝑟𝑟𝑜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582A56EA-DFC0-4636-952F-009E32718C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9">
              <a:extLst>
                <a:ext uri="{FF2B5EF4-FFF2-40B4-BE49-F238E27FC236}">
                  <a16:creationId xmlns:a16="http://schemas.microsoft.com/office/drawing/2014/main" xmlns="" id="{93B7DFD1-5FDB-2587-24E3-5F9E0162D492}"/>
                </a:ext>
              </a:extLst>
            </p:cNvPr>
            <p:cNvCxnSpPr>
              <a:stCxn id="4" idx="3"/>
              <a:endCxn id="9" idx="2"/>
            </p:cNvCxnSpPr>
            <p:nvPr/>
          </p:nvCxnSpPr>
          <p:spPr>
            <a:xfrm flipV="1">
              <a:off x="5282494" y="3893364"/>
              <a:ext cx="1010727" cy="59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21">
              <a:extLst>
                <a:ext uri="{FF2B5EF4-FFF2-40B4-BE49-F238E27FC236}">
                  <a16:creationId xmlns:a16="http://schemas.microsoft.com/office/drawing/2014/main" xmlns="" id="{3D11B567-84E7-184B-36AE-259EC8626055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522485" y="3297802"/>
              <a:ext cx="4736" cy="361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26">
              <a:extLst>
                <a:ext uri="{FF2B5EF4-FFF2-40B4-BE49-F238E27FC236}">
                  <a16:creationId xmlns:a16="http://schemas.microsoft.com/office/drawing/2014/main" xmlns="" id="{E3839A91-81B0-72AE-34E5-7024208DBA98}"/>
                </a:ext>
              </a:extLst>
            </p:cNvPr>
            <p:cNvCxnSpPr/>
            <p:nvPr/>
          </p:nvCxnSpPr>
          <p:spPr>
            <a:xfrm flipV="1">
              <a:off x="6783119" y="3893364"/>
              <a:ext cx="36000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angulado 33">
              <a:extLst>
                <a:ext uri="{FF2B5EF4-FFF2-40B4-BE49-F238E27FC236}">
                  <a16:creationId xmlns:a16="http://schemas.microsoft.com/office/drawing/2014/main" xmlns="" id="{48A6F896-3C33-7CDE-B70E-F3D62AFEFBB1}"/>
                </a:ext>
              </a:extLst>
            </p:cNvPr>
            <p:cNvCxnSpPr>
              <a:stCxn id="11" idx="2"/>
            </p:cNvCxnSpPr>
            <p:nvPr/>
          </p:nvCxnSpPr>
          <p:spPr>
            <a:xfrm rot="5400000">
              <a:off x="5121830" y="2631507"/>
              <a:ext cx="944715" cy="3905104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35">
              <a:extLst>
                <a:ext uri="{FF2B5EF4-FFF2-40B4-BE49-F238E27FC236}">
                  <a16:creationId xmlns:a16="http://schemas.microsoft.com/office/drawing/2014/main" xmlns="" id="{70A3AF85-7599-B974-D767-012AFE57CECE}"/>
                </a:ext>
              </a:extLst>
            </p:cNvPr>
            <p:cNvCxnSpPr/>
            <p:nvPr/>
          </p:nvCxnSpPr>
          <p:spPr>
            <a:xfrm flipV="1">
              <a:off x="3630040" y="2659653"/>
              <a:ext cx="1478069" cy="239345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xmlns="" id="{F8D87169-5EA8-88FE-EE40-3345C2819C33}"/>
                </a:ext>
              </a:extLst>
            </p:cNvPr>
            <p:cNvSpPr/>
            <p:nvPr/>
          </p:nvSpPr>
          <p:spPr>
            <a:xfrm>
              <a:off x="4369074" y="2318922"/>
              <a:ext cx="151022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2000"/>
                <a:t>Treinamento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36880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11395</TotalTime>
  <Words>3643</Words>
  <Application>Microsoft Office PowerPoint</Application>
  <PresentationFormat>Widescreen</PresentationFormat>
  <Paragraphs>462</Paragraphs>
  <Slides>43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51" baseType="lpstr">
      <vt:lpstr>Arial</vt:lpstr>
      <vt:lpstr>Calibri</vt:lpstr>
      <vt:lpstr>Calibri Light</vt:lpstr>
      <vt:lpstr>Calibri-Bold</vt:lpstr>
      <vt:lpstr>Cambria Math</vt:lpstr>
      <vt:lpstr>Söhne</vt:lpstr>
      <vt:lpstr>Wingdings</vt:lpstr>
      <vt:lpstr>Tema do Office</vt:lpstr>
      <vt:lpstr>T320 - Introdução ao Aprendizado de Máquina II: Classificação (Parte III)</vt:lpstr>
      <vt:lpstr>Recapitulando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Regressão logística</vt:lpstr>
      <vt:lpstr>Regressão logística</vt:lpstr>
      <vt:lpstr>Propriedades da regressão logística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Tarefas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1945</cp:revision>
  <dcterms:created xsi:type="dcterms:W3CDTF">2020-01-20T13:50:05Z</dcterms:created>
  <dcterms:modified xsi:type="dcterms:W3CDTF">2026-03-14T10:30:20Z</dcterms:modified>
</cp:coreProperties>
</file>