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385" r:id="rId3"/>
    <p:sldId id="387" r:id="rId4"/>
    <p:sldId id="386" r:id="rId5"/>
    <p:sldId id="389" r:id="rId6"/>
    <p:sldId id="427" r:id="rId7"/>
    <p:sldId id="391" r:id="rId8"/>
    <p:sldId id="428" r:id="rId9"/>
    <p:sldId id="393" r:id="rId10"/>
    <p:sldId id="392" r:id="rId11"/>
    <p:sldId id="394" r:id="rId12"/>
    <p:sldId id="390" r:id="rId13"/>
    <p:sldId id="426" r:id="rId14"/>
    <p:sldId id="395" r:id="rId15"/>
    <p:sldId id="399" r:id="rId16"/>
    <p:sldId id="400" r:id="rId17"/>
    <p:sldId id="398" r:id="rId18"/>
    <p:sldId id="402" r:id="rId19"/>
    <p:sldId id="397" r:id="rId20"/>
    <p:sldId id="401" r:id="rId21"/>
    <p:sldId id="406" r:id="rId22"/>
    <p:sldId id="405" r:id="rId23"/>
    <p:sldId id="408" r:id="rId24"/>
    <p:sldId id="409" r:id="rId25"/>
    <p:sldId id="407" r:id="rId26"/>
    <p:sldId id="370" r:id="rId27"/>
    <p:sldId id="424" r:id="rId28"/>
    <p:sldId id="425" r:id="rId29"/>
    <p:sldId id="372" r:id="rId30"/>
    <p:sldId id="410" r:id="rId31"/>
    <p:sldId id="412" r:id="rId32"/>
    <p:sldId id="414" r:id="rId33"/>
    <p:sldId id="417" r:id="rId34"/>
    <p:sldId id="413" r:id="rId35"/>
    <p:sldId id="418" r:id="rId36"/>
    <p:sldId id="324" r:id="rId37"/>
    <p:sldId id="306" r:id="rId38"/>
    <p:sldId id="419" r:id="rId39"/>
    <p:sldId id="375" r:id="rId40"/>
    <p:sldId id="376" r:id="rId41"/>
    <p:sldId id="377" r:id="rId42"/>
    <p:sldId id="378" r:id="rId43"/>
    <p:sldId id="420" r:id="rId44"/>
    <p:sldId id="362" r:id="rId45"/>
    <p:sldId id="403" r:id="rId46"/>
    <p:sldId id="404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41" autoAdjust="0"/>
    <p:restoredTop sz="86320" autoAdjust="0"/>
  </p:normalViewPr>
  <p:slideViewPr>
    <p:cSldViewPr snapToGrid="0">
      <p:cViewPr varScale="1">
        <p:scale>
          <a:sx n="95" d="100"/>
          <a:sy n="95" d="100"/>
        </p:scale>
        <p:origin x="1560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28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5">
              <a:extLst>
                <a:ext uri="{FF2B5EF4-FFF2-40B4-BE49-F238E27FC236}">
                  <a16:creationId xmlns:a16="http://schemas.microsoft.com/office/drawing/2014/main" id="{9E4BA41F-C50A-EB22-3969-B54B89055799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6">
                  <a:extLst>
                    <a:ext uri="{FF2B5EF4-FFF2-40B4-BE49-F238E27FC236}">
                      <a16:creationId xmlns:a16="http://schemas.microsoft.com/office/drawing/2014/main" id="{EAB51CE5-3AEC-BDCD-931E-C785524864AC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6" name="TextBox 6">
                  <a:extLst>
                    <a:ext uri="{FF2B5EF4-FFF2-40B4-BE49-F238E27FC236}">
                      <a16:creationId xmlns:a16="http://schemas.microsoft.com/office/drawing/2014/main" id="{EAB51CE5-3AEC-BDCD-931E-C78552486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ight Brace 9">
              <a:extLst>
                <a:ext uri="{FF2B5EF4-FFF2-40B4-BE49-F238E27FC236}">
                  <a16:creationId xmlns:a16="http://schemas.microsoft.com/office/drawing/2014/main" id="{379D0A19-068F-780D-3C10-C89E648FCA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0">
                  <a:extLst>
                    <a:ext uri="{FF2B5EF4-FFF2-40B4-BE49-F238E27FC236}">
                      <a16:creationId xmlns:a16="http://schemas.microsoft.com/office/drawing/2014/main" id="{D7AB1C2A-A9FD-3845-68F3-F11EEB359059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8" name="TextBox 10">
                  <a:extLst>
                    <a:ext uri="{FF2B5EF4-FFF2-40B4-BE49-F238E27FC236}">
                      <a16:creationId xmlns:a16="http://schemas.microsoft.com/office/drawing/2014/main" id="{D7AB1C2A-A9FD-3845-68F3-F11EEB3590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6A054-EEE5-F455-E0D7-71BCF0150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78D0C-B47C-A61E-4782-46AD7951D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471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>
                    <a:highlight>
                      <a:srgbClr val="FFFF00"/>
                    </a:highlight>
                  </a:rPr>
                  <a:t> prediz uma probabilidade de 0.5 para exemplos posicionados exatamente em cima da </a:t>
                </a:r>
                <a:r>
                  <a:rPr lang="pt-BR" b="1" i="1" dirty="0">
                    <a:highlight>
                      <a:srgbClr val="FFFF00"/>
                    </a:highlight>
                  </a:rPr>
                  <a:t>fronteira de decisão</a:t>
                </a:r>
                <a:r>
                  <a:rPr lang="pt-BR" dirty="0">
                    <a:highlight>
                      <a:srgbClr val="FFFF00"/>
                    </a:highlight>
                  </a:rPr>
                  <a:t>.</a:t>
                </a:r>
              </a:p>
              <a:p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Isso indica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sobre a classe do exemplo.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l="-1494" t="-2663" r="-1909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65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probabilidade 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regressor 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podemos treiná-lo para estimar 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probabilidade</a:t>
                </a:r>
                <a:r>
                  <a:rPr lang="pt-BR" dirty="0"/>
                  <a:t> de um dado email ser um spam.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mas 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sua saída</a:t>
                </a:r>
                <a:r>
                  <a:rPr lang="pt-BR" dirty="0"/>
                  <a:t>. 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6501" cy="5032375"/>
              </a:xfrm>
              <a:blipFill rotWithShape="0">
                <a:blip r:embed="rId3"/>
                <a:stretch>
                  <a:fillRect l="-934" t="-1937" r="-1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 (i.e., 50% de probabilidade).</a:t>
                </a:r>
              </a:p>
              <a:p>
                <a:r>
                  <a:rPr lang="pt-BR" dirty="0"/>
                  <a:t>Se a </a:t>
                </a:r>
                <a:r>
                  <a:rPr lang="pt-BR" b="1" i="1" dirty="0"/>
                  <a:t>probabilidade</a:t>
                </a:r>
                <a:r>
                  <a:rPr lang="pt-BR" dirty="0"/>
                  <a:t> estimada para um exemplo for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igual</a:t>
                </a:r>
                <a:r>
                  <a:rPr lang="pt-BR" dirty="0"/>
                  <a:t> ou maior que 50%, o classificador </a:t>
                </a:r>
                <a:r>
                  <a:rPr lang="pt-BR" b="1" i="1" dirty="0"/>
                  <a:t>prediz</a:t>
                </a:r>
                <a:r>
                  <a:rPr lang="pt-BR" dirty="0"/>
                  <a:t> que o exemplo pertence à </a:t>
                </a:r>
                <a:r>
                  <a:rPr lang="pt-BR" b="1" i="1" dirty="0"/>
                  <a:t>classe positiva</a:t>
                </a:r>
                <a:r>
                  <a:rPr lang="pt-BR" dirty="0"/>
                  <a:t>, caso contrário </a:t>
                </a:r>
                <a:r>
                  <a:rPr lang="pt-BR" b="1" i="1" dirty="0"/>
                  <a:t>prediz</a:t>
                </a:r>
                <a:r>
                  <a:rPr lang="pt-BR" dirty="0"/>
                  <a:t> que pertence à </a:t>
                </a:r>
                <a:r>
                  <a:rPr lang="pt-BR" b="1" i="1" dirty="0"/>
                  <a:t>classe negativa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Ou seja, a 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 r="-14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7809CD-1BD7-E7EB-6571-1A28F2AF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656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nosso objetivo será encontrar uma </a:t>
            </a:r>
            <a:r>
              <a:rPr lang="pt-BR" b="1" i="1" dirty="0">
                <a:solidFill>
                  <a:srgbClr val="00B050"/>
                </a:solidFill>
              </a:rPr>
              <a:t>função discriminante apropriada e seus respectivos pesos</a:t>
            </a:r>
            <a:r>
              <a:rPr lang="pt-BR" dirty="0"/>
              <a:t> de forma que o </a:t>
            </a:r>
            <a:r>
              <a:rPr lang="pt-BR" b="1" i="1" dirty="0">
                <a:solidFill>
                  <a:srgbClr val="00B050"/>
                </a:solidFill>
              </a:rPr>
              <a:t>erro de classificação seja </a:t>
            </a:r>
            <a:r>
              <a:rPr lang="pt-BR" b="1" i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Assim, em breve, </a:t>
            </a:r>
            <a:r>
              <a:rPr lang="pt-BR" b="1" i="1" dirty="0">
                <a:solidFill>
                  <a:srgbClr val="00B050"/>
                </a:solidFill>
              </a:rPr>
              <a:t>definiremos uma função de erro </a:t>
            </a:r>
            <a:r>
              <a:rPr lang="pt-BR" dirty="0"/>
              <a:t>que nos ajudará a treinar o modelo.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DEB44443-FFD9-DE17-AE4D-5329DCB80EFD}"/>
              </a:ext>
            </a:extLst>
          </p:cNvPr>
          <p:cNvGrpSpPr/>
          <p:nvPr/>
        </p:nvGrpSpPr>
        <p:grpSpPr>
          <a:xfrm>
            <a:off x="838200" y="2214564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0211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29E9E-E06F-8549-303A-FAF26C45A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7777E0-5EB4-3104-AEAF-D727E61BC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7926" y="1825624"/>
            <a:ext cx="7066421" cy="5032375"/>
          </a:xfrm>
        </p:spPr>
        <p:txBody>
          <a:bodyPr>
            <a:normAutofit/>
          </a:bodyPr>
          <a:lstStyle/>
          <a:p>
            <a:r>
              <a:rPr lang="pt-BR" dirty="0"/>
              <a:t>Mesmo sendo uma técnica bastante simples, a </a:t>
            </a:r>
            <a:r>
              <a:rPr lang="pt-BR" b="1" i="1" dirty="0"/>
              <a:t>regressão logística</a:t>
            </a:r>
            <a:r>
              <a:rPr lang="pt-BR" dirty="0"/>
              <a:t> é muito utilizada em várias aplicações do mundo real em áreas como medicina, marketing, análise de crédito,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dirty="0"/>
              <a:t>Exemplos</a:t>
            </a:r>
            <a:r>
              <a:rPr lang="pt-BR" sz="2400" dirty="0"/>
              <a:t>: classificar críticas de filmes, probabilidade de um paciente desenvolver uma doença, detecção de spam, classificar transações como fraudulentas ou não, etc.</a:t>
            </a:r>
            <a:endParaRPr lang="pt-BR" dirty="0"/>
          </a:p>
          <a:p>
            <a:r>
              <a:rPr lang="pt-BR" dirty="0"/>
              <a:t>Além disto, toda a teoria por trás da </a:t>
            </a:r>
            <a:r>
              <a:rPr lang="pt-BR" b="1" i="1" dirty="0"/>
              <a:t>regressão logística</a:t>
            </a:r>
            <a:r>
              <a:rPr lang="pt-BR" dirty="0"/>
              <a:t> foi a base para a criação das </a:t>
            </a:r>
            <a:r>
              <a:rPr lang="pt-BR" b="1" i="1" dirty="0">
                <a:solidFill>
                  <a:srgbClr val="00B050"/>
                </a:solidFill>
              </a:rPr>
              <a:t>primeiras redes neurais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1026" name="Picture 2" descr="Introduction | Machine Learning | Google for Developers">
            <a:extLst>
              <a:ext uri="{FF2B5EF4-FFF2-40B4-BE49-F238E27FC236}">
                <a16:creationId xmlns:a16="http://schemas.microsoft.com/office/drawing/2014/main" id="{7C0C75ED-7E2F-A3C6-9F03-C6B192214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6" t="10017" r="5411" b="10715"/>
          <a:stretch/>
        </p:blipFill>
        <p:spPr bwMode="auto">
          <a:xfrm>
            <a:off x="480767" y="5424931"/>
            <a:ext cx="3026192" cy="1343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- saarques/credit-card-fraud-detection: This repository contains  files which were used to create the web app for credit card fraud detection.">
            <a:extLst>
              <a:ext uri="{FF2B5EF4-FFF2-40B4-BE49-F238E27FC236}">
                <a16:creationId xmlns:a16="http://schemas.microsoft.com/office/drawing/2014/main" id="{E1969B2A-E9FC-EF72-48BD-36A42BA60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15275" r="5863" b="8858"/>
          <a:stretch/>
        </p:blipFill>
        <p:spPr bwMode="auto">
          <a:xfrm>
            <a:off x="2640641" y="2197603"/>
            <a:ext cx="2158234" cy="1335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entiment Analysis for IMDb Movie Review - Python Machine Learning AI MySQL  Projects Free Source Code Documentation | FreeProjectz">
            <a:extLst>
              <a:ext uri="{FF2B5EF4-FFF2-40B4-BE49-F238E27FC236}">
                <a16:creationId xmlns:a16="http://schemas.microsoft.com/office/drawing/2014/main" id="{B8FAAD1E-0BC9-6A73-F9BE-0A0405C4C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67" y="1825624"/>
            <a:ext cx="1990823" cy="186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he powerful role of artificial intelligence | Early Cancer Detection">
            <a:extLst>
              <a:ext uri="{FF2B5EF4-FFF2-40B4-BE49-F238E27FC236}">
                <a16:creationId xmlns:a16="http://schemas.microsoft.com/office/drawing/2014/main" id="{E996F6A8-F6B9-9B67-16E5-E5DB8DBA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066" y="3856484"/>
            <a:ext cx="2978439" cy="1401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877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(pois após a quantização tem-se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classificador</a:t>
                </a:r>
                <a:r>
                  <a:rPr lang="pt-BR" dirty="0"/>
                  <a:t>) é 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quando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</a:p>
              <a:p>
                <a:pPr marL="0" indent="0">
                  <a:buNone/>
                </a:pPr>
                <a:r>
                  <a:rPr lang="pt-BR" dirty="0"/>
                  <a:t>que ocorre quando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  <a:blipFill>
                <a:blip r:embed="rId3"/>
                <a:stretch>
                  <a:fillRect l="-1736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Observando a figura da </a:t>
                </a:r>
                <a:r>
                  <a:rPr lang="pt-BR" b="1" i="1" dirty="0"/>
                  <a:t>função logística</a:t>
                </a:r>
                <a:r>
                  <a:rPr lang="pt-BR" dirty="0"/>
                  <a:t>, nós percebemos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quando 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estiver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exatamente em cima da função discriminante</a:t>
                </a:r>
                <a:r>
                  <a:rPr lang="pt-BR" dirty="0"/>
                  <a:t>, a probabilidade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dado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é de 50%, respectivamente.</a:t>
                </a:r>
              </a:p>
              <a:p>
                <a:r>
                  <a:rPr lang="pt-BR" dirty="0"/>
                  <a:t>Isso indica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está indeciso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  <a:blipFill rotWithShape="0">
                <a:blip r:embed="rId3"/>
                <a:stretch>
                  <a:fillRect l="-1833" t="-1937" r="-23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523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Como discutimos antes, para </a:t>
            </a:r>
            <a:r>
              <a:rPr lang="pt-BR" b="1" i="1" dirty="0">
                <a:solidFill>
                  <a:srgbClr val="00B050"/>
                </a:solidFill>
              </a:rPr>
              <a:t>treinarmos um 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erro</a:t>
            </a:r>
            <a:r>
              <a:rPr lang="pt-BR" dirty="0"/>
              <a:t>.</a:t>
            </a:r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pt-BR" dirty="0"/>
                  <a:t>                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vários mínimos 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(e.g., o algoritmo do GD pode ficar preso em um mínimo local).</a:t>
                </a:r>
                <a:endParaRPr lang="pt-BR" i="1" dirty="0"/>
              </a:p>
              <a:p>
                <a:pPr marL="0" indent="0" algn="ctr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2518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valor esperado (i.e., rótulo).</a:t>
                </a:r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>
                <a:blip r:embed="rId3"/>
                <a:stretch>
                  <a:fillRect l="-1700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1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Portanto, o erro será próximo de 0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>
                <a:blip r:embed="rId4"/>
                <a:stretch>
                  <a:fillRect l="-1576" t="-1937" r="-1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para cada exemplo de entrada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a informação dos 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11238</TotalTime>
  <Words>6286</Words>
  <Application>Microsoft Office PowerPoint</Application>
  <PresentationFormat>Widescreen</PresentationFormat>
  <Paragraphs>488</Paragraphs>
  <Slides>46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Regressão logística</vt:lpstr>
      <vt:lpstr>Regressão logística</vt:lpstr>
      <vt:lpstr>Propriedades da 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Tarefas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1908</cp:revision>
  <dcterms:created xsi:type="dcterms:W3CDTF">2020-01-20T13:50:05Z</dcterms:created>
  <dcterms:modified xsi:type="dcterms:W3CDTF">2026-03-06T20:21:19Z</dcterms:modified>
</cp:coreProperties>
</file>