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handoutMasterIdLst>
    <p:handoutMasterId r:id="rId46"/>
  </p:handoutMasterIdLst>
  <p:sldIdLst>
    <p:sldId id="256" r:id="rId2"/>
    <p:sldId id="385" r:id="rId3"/>
    <p:sldId id="387" r:id="rId4"/>
    <p:sldId id="386" r:id="rId5"/>
    <p:sldId id="389" r:id="rId6"/>
    <p:sldId id="391" r:id="rId7"/>
    <p:sldId id="428" r:id="rId8"/>
    <p:sldId id="393" r:id="rId9"/>
    <p:sldId id="392" r:id="rId10"/>
    <p:sldId id="394" r:id="rId11"/>
    <p:sldId id="390" r:id="rId12"/>
    <p:sldId id="399" r:id="rId13"/>
    <p:sldId id="398" r:id="rId14"/>
    <p:sldId id="402" r:id="rId15"/>
    <p:sldId id="397" r:id="rId16"/>
    <p:sldId id="401" r:id="rId17"/>
    <p:sldId id="406" r:id="rId18"/>
    <p:sldId id="405" r:id="rId19"/>
    <p:sldId id="408" r:id="rId20"/>
    <p:sldId id="409" r:id="rId21"/>
    <p:sldId id="407" r:id="rId22"/>
    <p:sldId id="370" r:id="rId23"/>
    <p:sldId id="424" r:id="rId24"/>
    <p:sldId id="425" r:id="rId25"/>
    <p:sldId id="372" r:id="rId26"/>
    <p:sldId id="410" r:id="rId27"/>
    <p:sldId id="412" r:id="rId28"/>
    <p:sldId id="414" r:id="rId29"/>
    <p:sldId id="417" r:id="rId30"/>
    <p:sldId id="429" r:id="rId31"/>
    <p:sldId id="413" r:id="rId32"/>
    <p:sldId id="418" r:id="rId33"/>
    <p:sldId id="324" r:id="rId34"/>
    <p:sldId id="306" r:id="rId35"/>
    <p:sldId id="419" r:id="rId36"/>
    <p:sldId id="375" r:id="rId37"/>
    <p:sldId id="376" r:id="rId38"/>
    <p:sldId id="377" r:id="rId39"/>
    <p:sldId id="378" r:id="rId40"/>
    <p:sldId id="420" r:id="rId41"/>
    <p:sldId id="362" r:id="rId42"/>
    <p:sldId id="403" r:id="rId43"/>
    <p:sldId id="404" r:id="rId4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86320" autoAdjust="0"/>
  </p:normalViewPr>
  <p:slideViewPr>
    <p:cSldViewPr snapToGrid="0">
      <p:cViewPr varScale="1">
        <p:scale>
          <a:sx n="73" d="100"/>
          <a:sy n="73" d="100"/>
        </p:scale>
        <p:origin x="618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13/03/2026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logit, classificação de entropia máxima (MaxEnt)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417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226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95987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08006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BD62B9A-C89E-FE9F-0BD3-6AF978CB3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2D0F34CF-F73E-6EDC-122F-F89A9C6607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DB49F92C-F191-44C2-39EB-8E8217C5B5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1CDB2C6B-389B-DF7C-9CD4-5DA63FEB11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47463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3306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92458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26296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29489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65470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18050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1  (ou seja, se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À medida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0 (ou seja, quando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1  (ou seja, se a classe </a:t>
                </a:r>
                <a:r>
                  <a:rPr lang="pt-BR" i="0">
                    <a:latin typeface="Cambria Math" panose="02040503050406030204" pitchFamily="18" charset="0"/>
                  </a:rPr>
                  <a:t>𝐶_2</a:t>
                </a:r>
                <a:r>
                  <a:rPr lang="pt-BR" dirty="0"/>
                  <a:t> é corretamente identificada). À medida que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0 (ou seja, quando a classe </a:t>
                </a:r>
                <a:r>
                  <a:rPr lang="pt-BR" i="0">
                    <a:latin typeface="Cambria Math" panose="02040503050406030204" pitchFamily="18" charset="0"/>
                  </a:rPr>
                  <a:t>𝐶_</a:t>
                </a:r>
                <a:r>
                  <a:rPr lang="pt-BR" b="0" i="0">
                    <a:latin typeface="Cambria Math" panose="02040503050406030204" pitchFamily="18" charset="0"/>
                  </a:rPr>
                  <a:t>1</a:t>
                </a:r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34697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1  (ou seja, se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À medida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0 (ou seja, quando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1  (ou seja, se a classe </a:t>
                </a:r>
                <a:r>
                  <a:rPr lang="pt-BR" i="0">
                    <a:latin typeface="Cambria Math" panose="02040503050406030204" pitchFamily="18" charset="0"/>
                  </a:rPr>
                  <a:t>𝐶_2</a:t>
                </a:r>
                <a:r>
                  <a:rPr lang="pt-BR" dirty="0"/>
                  <a:t> é corretamente identificada). À medida que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0 (ou seja, quando a classe </a:t>
                </a:r>
                <a:r>
                  <a:rPr lang="pt-BR" i="0">
                    <a:latin typeface="Cambria Math" panose="02040503050406030204" pitchFamily="18" charset="0"/>
                  </a:rPr>
                  <a:t>𝐶_</a:t>
                </a:r>
                <a:r>
                  <a:rPr lang="pt-BR" b="0" i="0">
                    <a:latin typeface="Cambria Math" panose="02040503050406030204" pitchFamily="18" charset="0"/>
                  </a:rPr>
                  <a:t>1</a:t>
                </a:r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74911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14948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92523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#3</a:t>
            </a:r>
            <a:r>
              <a:rPr lang="pt-BR" sz="1200" dirty="0"/>
              <a:t> https://mybinder.org/v2/gh/zz4fap/t320_aprendizado_de_maquina/main?filepath=labs%2FLaboratorio3.ipynb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6143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Exemplo</a:t>
            </a:r>
            <a:r>
              <a:rPr lang="pt-BR" dirty="0"/>
              <a:t>: SPAMClassificationLogisticRegressionSciKit.ipynb</a:t>
            </a:r>
          </a:p>
          <a:p>
            <a:endParaRPr lang="pt-BR" dirty="0"/>
          </a:p>
          <a:p>
            <a:r>
              <a:rPr lang="pt-BR" b="1" i="0" dirty="0"/>
              <a:t>OBS</a:t>
            </a:r>
            <a:r>
              <a:rPr lang="pt-BR" dirty="0"/>
              <a:t>.: Assim como os outros modelos lineares, os modelos de Regressão Logística podem ser regularizados usando penalidades de L1 ou L2. O Scitkit-Learn adiciona uma penalidade L2 por padrão.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3630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13/03/2026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7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31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notebooks/classifica&#231;&#227;o/logistic_regression_with_gradient_descent.ipynb" TargetMode="External"/><Relationship Id="rId2" Type="http://schemas.openxmlformats.org/officeDocument/2006/relationships/image" Target="../media/image58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580.png"/><Relationship Id="rId7" Type="http://schemas.openxmlformats.org/officeDocument/2006/relationships/image" Target="../media/image77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9" Type="http://schemas.openxmlformats.org/officeDocument/2006/relationships/image" Target="../media/image730.png"/><Relationship Id="rId4" Type="http://schemas.openxmlformats.org/officeDocument/2006/relationships/image" Target="../media/image7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3.ipynb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0.png"/><Relationship Id="rId4" Type="http://schemas.openxmlformats.org/officeDocument/2006/relationships/image" Target="../media/image460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0.png"/><Relationship Id="rId4" Type="http://schemas.openxmlformats.org/officeDocument/2006/relationships/image" Target="../media/image5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T320 - Introdução ao Aprendizado de Máquina II: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Classificação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30887" cy="5032375"/>
          </a:xfrm>
        </p:spPr>
        <p:txBody>
          <a:bodyPr>
            <a:normAutofit/>
          </a:bodyPr>
          <a:lstStyle/>
          <a:p>
            <a:r>
              <a:rPr lang="pt-BR" dirty="0"/>
              <a:t>Anteriormente, vimos que a função de </a:t>
            </a:r>
            <a:r>
              <a:rPr lang="pt-BR" b="1" i="1" dirty="0"/>
              <a:t>limiar rígido </a:t>
            </a:r>
            <a:r>
              <a:rPr lang="pt-BR" dirty="0"/>
              <a:t>apresenta alguns </a:t>
            </a:r>
            <a:r>
              <a:rPr lang="pt-BR" b="1" i="1" dirty="0">
                <a:solidFill>
                  <a:srgbClr val="00B050"/>
                </a:solidFill>
              </a:rPr>
              <a:t>problemas</a:t>
            </a:r>
            <a:r>
              <a:rPr lang="pt-BR" dirty="0"/>
              <a:t> como não poder ser utilizada para encontrar uma </a:t>
            </a:r>
            <a:r>
              <a:rPr lang="pt-BR" b="1" i="1" dirty="0"/>
              <a:t>solução em forma fechada </a:t>
            </a:r>
            <a:r>
              <a:rPr lang="pt-BR" dirty="0"/>
              <a:t>ou com o </a:t>
            </a:r>
            <a:r>
              <a:rPr lang="pt-BR" b="1" i="1" dirty="0"/>
              <a:t>gradiente descendente</a:t>
            </a:r>
            <a:r>
              <a:rPr lang="pt-BR" dirty="0"/>
              <a:t>, além não nos dar a </a:t>
            </a:r>
            <a:r>
              <a:rPr lang="pt-BR" b="1" i="1" dirty="0"/>
              <a:t>confiança das predições</a:t>
            </a:r>
            <a:r>
              <a:rPr lang="pt-BR" dirty="0"/>
              <a:t>.</a:t>
            </a:r>
          </a:p>
          <a:p>
            <a:r>
              <a:rPr lang="pt-BR" dirty="0"/>
              <a:t>Aprendemos também, uma forma intuitiva e iterativa de encontrar os pesos da </a:t>
            </a:r>
            <a:r>
              <a:rPr lang="pt-BR" b="1" i="1" dirty="0"/>
              <a:t>função discriminante </a:t>
            </a:r>
            <a:r>
              <a:rPr lang="pt-BR" dirty="0"/>
              <a:t>quando usamos o </a:t>
            </a:r>
            <a:r>
              <a:rPr lang="pt-BR" b="1" i="1" dirty="0"/>
              <a:t>limiar rígido</a:t>
            </a:r>
            <a:r>
              <a:rPr lang="pt-BR" dirty="0"/>
              <a:t>.</a:t>
            </a:r>
          </a:p>
          <a:p>
            <a:r>
              <a:rPr lang="pt-BR" dirty="0"/>
              <a:t>Na sequência, usaremos </a:t>
            </a:r>
            <a:r>
              <a:rPr lang="pt-BR" b="1" i="1" dirty="0">
                <a:solidFill>
                  <a:srgbClr val="00B050"/>
                </a:solidFill>
              </a:rPr>
              <a:t>outra função de limiar de decisão</a:t>
            </a:r>
            <a:r>
              <a:rPr lang="pt-BR" dirty="0"/>
              <a:t>, chamada de </a:t>
            </a:r>
            <a:r>
              <a:rPr lang="pt-BR" b="1" i="1" dirty="0">
                <a:solidFill>
                  <a:srgbClr val="00B050"/>
                </a:solidFill>
              </a:rPr>
              <a:t>função logística</a:t>
            </a:r>
            <a:r>
              <a:rPr lang="pt-BR" dirty="0"/>
              <a:t>, com a qual é possível encontrar-se uma solução usando o </a:t>
            </a:r>
            <a:r>
              <a:rPr lang="pt-BR" b="1" i="1" dirty="0">
                <a:solidFill>
                  <a:srgbClr val="00B050"/>
                </a:solidFill>
              </a:rPr>
              <a:t>gradiente descendente </a:t>
            </a:r>
            <a:r>
              <a:rPr lang="pt-BR" dirty="0"/>
              <a:t>e termos o </a:t>
            </a:r>
            <a:r>
              <a:rPr lang="pt-BR" b="1" i="1" dirty="0">
                <a:solidFill>
                  <a:srgbClr val="00B050"/>
                </a:solidFill>
              </a:rPr>
              <a:t>grau de confiança </a:t>
            </a:r>
            <a:r>
              <a:rPr lang="pt-BR" dirty="0"/>
              <a:t>de uma predição.</a:t>
            </a:r>
          </a:p>
        </p:txBody>
      </p:sp>
    </p:spTree>
    <p:extLst>
      <p:ext uri="{BB962C8B-B14F-4D97-AF65-F5344CB8AC3E}">
        <p14:creationId xmlns:p14="http://schemas.microsoft.com/office/powerpoint/2010/main" val="2930067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26609"/>
            <a:ext cx="11076297" cy="1415583"/>
          </a:xfrm>
        </p:spPr>
        <p:txBody>
          <a:bodyPr>
            <a:normAutofit/>
          </a:bodyPr>
          <a:lstStyle/>
          <a:p>
            <a:r>
              <a:rPr lang="pt-BR" dirty="0"/>
              <a:t>Classificação com função de limiar logístico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43525" y="1787857"/>
            <a:ext cx="6648450" cy="5070144"/>
          </a:xfrm>
        </p:spPr>
        <p:txBody>
          <a:bodyPr>
            <a:normAutofit/>
          </a:bodyPr>
          <a:lstStyle/>
          <a:p>
            <a:r>
              <a:rPr lang="pt-BR" dirty="0"/>
              <a:t>Em muitas situações, nós precisamos que o modelo indique o </a:t>
            </a:r>
            <a:r>
              <a:rPr lang="pt-BR" b="1" i="1" dirty="0">
                <a:solidFill>
                  <a:srgbClr val="7030A0"/>
                </a:solidFill>
              </a:rPr>
              <a:t>grau de incerteza </a:t>
            </a:r>
            <a:r>
              <a:rPr lang="pt-BR" dirty="0"/>
              <a:t>quanto às predições.</a:t>
            </a:r>
          </a:p>
          <a:p>
            <a:r>
              <a:rPr lang="pt-BR" dirty="0"/>
              <a:t>Todos esses problemas são resolvidos usando-se a função </a:t>
            </a:r>
            <a:r>
              <a:rPr lang="pt-BR" b="1" i="1" dirty="0">
                <a:solidFill>
                  <a:schemeClr val="accent2"/>
                </a:solidFill>
              </a:rPr>
              <a:t>sigmoide</a:t>
            </a:r>
            <a:r>
              <a:rPr lang="pt-BR" dirty="0"/>
              <a:t> (ou </a:t>
            </a:r>
            <a:r>
              <a:rPr lang="pt-BR" b="1" i="1" dirty="0">
                <a:solidFill>
                  <a:schemeClr val="accent2"/>
                </a:solidFill>
              </a:rPr>
              <a:t>logística</a:t>
            </a:r>
            <a:r>
              <a:rPr lang="pt-BR" dirty="0"/>
              <a:t>).</a:t>
            </a:r>
          </a:p>
          <a:p>
            <a:r>
              <a:rPr lang="pt-BR" dirty="0"/>
              <a:t>Ela é </a:t>
            </a:r>
            <a:r>
              <a:rPr lang="pt-BR" b="1" i="1" dirty="0">
                <a:solidFill>
                  <a:srgbClr val="00B050"/>
                </a:solidFill>
              </a:rPr>
              <a:t>contínua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diferenciável</a:t>
            </a:r>
            <a:r>
              <a:rPr lang="pt-BR" dirty="0"/>
              <a:t> e </a:t>
            </a:r>
            <a:r>
              <a:rPr lang="pt-BR" b="1" i="1" dirty="0">
                <a:solidFill>
                  <a:srgbClr val="00B050"/>
                </a:solidFill>
              </a:rPr>
              <a:t>assume valores reais dentro do intervalo de 0 a 1</a:t>
            </a:r>
            <a:r>
              <a:rPr lang="pt-BR" dirty="0"/>
              <a:t>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xmlns="" id="{97111EDA-EAFA-CA5F-4ED2-A39A480B9E4B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xmlns="" id="{F15C7042-261D-AB8B-4466-65E05D03FE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xmlns="" id="{B4EEAF36-9D2D-A150-C6EB-558ABC4725B5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B4EEAF36-9D2D-A150-C6EB-558ABC472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602D3346-13D2-7A67-8DDB-6CD34002C899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02D3346-13D2-7A67-8DDB-6CD34002C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390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i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Utilizando a </a:t>
                </a:r>
                <a:r>
                  <a:rPr lang="pt-BR" b="1" i="1" dirty="0"/>
                  <a:t>função logística </a:t>
                </a:r>
                <a:r>
                  <a:rPr lang="pt-BR" dirty="0"/>
                  <a:t>como </a:t>
                </a:r>
                <a:r>
                  <a:rPr lang="pt-BR" b="1" i="1" dirty="0"/>
                  <a:t>função de limiar de decisão</a:t>
                </a:r>
                <a:r>
                  <a:rPr lang="pt-BR" dirty="0"/>
                  <a:t>, temos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hipótese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Os 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ficam restritos ao intervalo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pode assumir o formato de um </a:t>
                </a:r>
                <a:r>
                  <a:rPr lang="pt-BR" b="1" i="1" dirty="0"/>
                  <a:t>hiperplano</a:t>
                </a:r>
                <a:r>
                  <a:rPr lang="pt-BR" dirty="0"/>
                  <a:t> ou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 b="-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34AEE6EF-5ED3-AE55-0A96-F31E1F8942A9}"/>
              </a:ext>
            </a:extLst>
          </p:cNvPr>
          <p:cNvGrpSpPr/>
          <p:nvPr/>
        </p:nvGrpSpPr>
        <p:grpSpPr>
          <a:xfrm>
            <a:off x="838200" y="2427506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8860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pode ser interpretada como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condicional da classe positiva</a:t>
                </a:r>
                <a:r>
                  <a:rPr lang="pt-BR" dirty="0"/>
                  <a:t>,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o de pesos,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i.e.,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 condicional da classe negativa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dado os vetores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o de pesos,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2296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xmlns="" id="{4CCF39D0-FE48-6508-8112-034BBE54537C}"/>
              </a:ext>
            </a:extLst>
          </p:cNvPr>
          <p:cNvGrpSpPr/>
          <p:nvPr/>
        </p:nvGrpSpPr>
        <p:grpSpPr>
          <a:xfrm>
            <a:off x="401934" y="2056169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470E9AF9-01E7-AC21-572E-01D625BAA0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xmlns="" id="{58120DB0-6D11-8F44-3B1B-2640960683BF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58120DB0-6D11-8F44-3B1B-2640960683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5"/>
                  <a:stretch>
                    <a:fillRect t="-3125" r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xmlns="" id="{FA3D70E1-BF88-3581-1B09-149D5EF556B5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FA3D70E1-BF88-3581-1B09-149D5EF556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19148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94030" y="1825624"/>
                <a:ext cx="705509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função logística tem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suave</a:t>
                </a:r>
                <a:r>
                  <a:rPr lang="pt-BR" dirty="0"/>
                  <a:t>, a nova </a:t>
                </a:r>
                <a:r>
                  <a:rPr lang="pt-BR" b="1" i="1" dirty="0"/>
                  <a:t>função hipótese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apresenta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suave entre as classes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Esse comportamento é diferente do obtido com o </a:t>
                </a:r>
                <a:r>
                  <a:rPr lang="pt-BR" b="1" i="1" dirty="0"/>
                  <a:t>limiar rígido</a:t>
                </a:r>
                <a:r>
                  <a:rPr lang="pt-BR" dirty="0"/>
                  <a:t>, onde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mudança entre classes é abrupta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94030" y="1825624"/>
                <a:ext cx="7055095" cy="5032375"/>
              </a:xfrm>
              <a:blipFill>
                <a:blip r:embed="rId3"/>
                <a:stretch>
                  <a:fillRect l="-1554" t="-1937" r="-15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7">
            <a:extLst>
              <a:ext uri="{FF2B5EF4-FFF2-40B4-BE49-F238E27FC236}">
                <a16:creationId xmlns:a16="http://schemas.microsoft.com/office/drawing/2014/main" xmlns="" id="{3C71D529-D91C-F460-D3EA-516BF1A172F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5" name="CaixaDeTexto 8">
            <a:extLst>
              <a:ext uri="{FF2B5EF4-FFF2-40B4-BE49-F238E27FC236}">
                <a16:creationId xmlns:a16="http://schemas.microsoft.com/office/drawing/2014/main" xmlns="" id="{9E7181FE-6BBA-7C58-5CAB-6820E82D8CC9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xmlns="" id="{910B2765-B62E-E07B-8342-FE8B18514BF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xmlns="" id="{CBAC1B4D-E4BF-1F2F-5817-9898A32C0706}"/>
                  </a:ext>
                </a:extLst>
              </p:cNvPr>
              <p:cNvSpPr txBox="1"/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id="{CBAC1B4D-E4BF-1F2F-5817-9898A32C0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xmlns="" id="{2ACE9A2B-4BBB-3C76-B933-0A3D511F3E82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id="{2ACE9A2B-4BBB-3C76-B933-0A3D511F3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0700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0A2257C-117A-2627-3A8F-77F321FED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7633290-C48A-3FB2-A186-B4531500D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37660D3-507D-B2CE-313C-479A1D92DD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Lembrem-se que a </a:t>
                </a:r>
                <a:r>
                  <a:rPr lang="pt-BR" b="1" i="1" dirty="0"/>
                  <a:t>fronteira de decisão</a:t>
                </a:r>
                <a:r>
                  <a:rPr lang="pt-BR" dirty="0"/>
                  <a:t> é definida pela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discriminante </a:t>
                </a:r>
                <a:r>
                  <a:rPr lang="pt-BR" dirty="0"/>
                  <a:t>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dirty="0"/>
                  <a:t>Assim, quanto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próximo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da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fronteira de decisão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próximo</a:t>
                </a:r>
                <a:r>
                  <a:rPr lang="pt-BR" dirty="0"/>
                  <a:t>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estará 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0.5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Se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</a:t>
                </a:r>
                <a:r>
                  <a:rPr lang="pt-BR" dirty="0" smtClean="0"/>
                  <a:t>posicionad</a:t>
                </a:r>
                <a:r>
                  <a:rPr lang="pt-BR" dirty="0"/>
                  <a:t>o exatamente em cima da fronteira de decisão,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Valores próximos a 0.5 indicam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indecisão</a:t>
                </a:r>
                <a:r>
                  <a:rPr lang="pt-BR" dirty="0" smtClean="0"/>
                  <a:t> </a:t>
                </a:r>
                <a:r>
                  <a:rPr lang="pt-BR" dirty="0"/>
                  <a:t>sobre a classe do exemplo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37660D3-507D-B2CE-313C-479A1D92DD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 rotWithShape="0">
                <a:blip r:embed="rId3"/>
                <a:stretch>
                  <a:fillRect l="-1494" t="-1937" r="-13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50595A1C-EEBC-E61E-4B0C-E16528871A0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D0354606-A277-86BE-1381-5660F15713B6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15" name="Picture 3">
            <a:extLst>
              <a:ext uri="{FF2B5EF4-FFF2-40B4-BE49-F238E27FC236}">
                <a16:creationId xmlns:a16="http://schemas.microsoft.com/office/drawing/2014/main" xmlns="" id="{3E4EB82C-9FBC-368C-128F-0FDEAA6F7CA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688BE98C-8CE9-C9F5-FDF1-AB08325F46C4}"/>
                  </a:ext>
                </a:extLst>
              </p:cNvPr>
              <p:cNvSpPr txBox="1"/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688BE98C-8CE9-C9F5-FDF1-AB08325F46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xmlns="" id="{038A1FEB-D898-A638-2A3C-5EC037144F41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F4CC1366-3D43-8EFC-2434-1C28102F9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78495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5041" y="1825624"/>
                <a:ext cx="70240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Quanto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longe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da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maior</a:t>
                </a:r>
                <a:r>
                  <a:rPr lang="pt-BR" dirty="0"/>
                  <a:t> será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 absoluto de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q</a:t>
                </a:r>
                <a:r>
                  <a:rPr lang="pt-BR" sz="2800" dirty="0"/>
                  <a:t>uanto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mais longe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</a:t>
                </a:r>
                <a:r>
                  <a:rPr lang="pt-BR" sz="2800" dirty="0"/>
                  <a:t>,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mais próximo</a:t>
                </a: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estará do valor 0 ou de 1 </a:t>
                </a:r>
                <a:r>
                  <a:rPr lang="pt-BR" sz="2800" dirty="0"/>
                  <a:t>e, portanto, mais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certeza teremos sobre uma predição</a:t>
                </a:r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5041" y="1825624"/>
                <a:ext cx="7024084" cy="5032375"/>
              </a:xfrm>
              <a:blipFill>
                <a:blip r:embed="rId3"/>
                <a:stretch>
                  <a:fillRect l="-156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6E97C804-C471-D3F8-C791-2499476ACE1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5F364548-9667-99CD-74B4-6A8853A2B975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15" name="Picture 3">
            <a:extLst>
              <a:ext uri="{FF2B5EF4-FFF2-40B4-BE49-F238E27FC236}">
                <a16:creationId xmlns:a16="http://schemas.microsoft.com/office/drawing/2014/main" xmlns="" id="{7A8C5BCF-8E26-E6E0-4626-E652F4BFCCD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AA049472-CC50-0BFE-DB7F-6C2E18475E67}"/>
                  </a:ext>
                </a:extLst>
              </p:cNvPr>
              <p:cNvSpPr txBox="1"/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AA049472-CC50-0BFE-DB7F-6C2E18475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xmlns="" id="{F4CC1366-3D43-8EFC-2434-1C28102F9307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F4CC1366-3D43-8EFC-2434-1C28102F9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xmlns="" id="{CC64F05A-7E02-1F81-885B-0F985D8A5436}"/>
              </a:ext>
            </a:extLst>
          </p:cNvPr>
          <p:cNvCxnSpPr>
            <a:cxnSpLocks/>
          </p:cNvCxnSpPr>
          <p:nvPr/>
        </p:nvCxnSpPr>
        <p:spPr>
          <a:xfrm flipV="1">
            <a:off x="3686175" y="1895475"/>
            <a:ext cx="0" cy="27432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xmlns="" id="{C51C32C2-02A4-97DF-3A0E-763C4C918454}"/>
              </a:ext>
            </a:extLst>
          </p:cNvPr>
          <p:cNvCxnSpPr>
            <a:cxnSpLocks/>
          </p:cNvCxnSpPr>
          <p:nvPr/>
        </p:nvCxnSpPr>
        <p:spPr>
          <a:xfrm flipV="1">
            <a:off x="1437795" y="4039976"/>
            <a:ext cx="0" cy="2016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xmlns="" id="{3384F1D0-D12F-3050-B768-FC406B60C537}"/>
              </a:ext>
            </a:extLst>
          </p:cNvPr>
          <p:cNvCxnSpPr>
            <a:cxnSpLocks/>
          </p:cNvCxnSpPr>
          <p:nvPr/>
        </p:nvCxnSpPr>
        <p:spPr>
          <a:xfrm flipV="1">
            <a:off x="2562227" y="2944612"/>
            <a:ext cx="0" cy="2448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89645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AF9C095-0678-B568-4C0C-EE57209756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14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modelo que estima 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probabilidade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de um dado exemplo de entrada pertencer à classe positiva,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é um classificador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no sentido estrito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é na verdade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regressor</a:t>
                </a:r>
                <a:r>
                  <a:rPr lang="pt-BR" dirty="0"/>
                  <a:t> e é chamado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regressor</a:t>
                </a:r>
                <a:r>
                  <a:rPr lang="pt-BR" dirty="0"/>
                  <a:t> </a:t>
                </a:r>
                <a:r>
                  <a:rPr lang="pt-BR" b="1" i="1" dirty="0"/>
                  <a:t>logístico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É um regressor pois sua saída pode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assumir infinitos valores </a:t>
                </a:r>
                <a:r>
                  <a:rPr lang="pt-BR" dirty="0"/>
                  <a:t>no intervalo entre 0 e 1.</a:t>
                </a:r>
              </a:p>
              <a:p>
                <a:r>
                  <a:rPr lang="pt-BR" dirty="0" smtClean="0"/>
                  <a:t>O </a:t>
                </a:r>
                <a:r>
                  <a:rPr lang="pt-BR" b="1" i="1" dirty="0"/>
                  <a:t>regressor logístico </a:t>
                </a:r>
                <a:r>
                  <a:rPr lang="pt-BR" dirty="0"/>
                  <a:t>é normalmente usado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classificação binária </a:t>
                </a:r>
                <a:r>
                  <a:rPr lang="pt-BR" dirty="0"/>
                  <a:t>(i.e., classificação entre duas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), mas para isso, precisamos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quantizar sua saída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Toda </a:t>
                </a:r>
                <a:r>
                  <a:rPr lang="pt-BR" dirty="0"/>
                  <a:t>a teoria por trás da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</a:t>
                </a:r>
                <a:r>
                  <a:rPr lang="pt-BR" dirty="0" smtClean="0"/>
                  <a:t>nos ajudará a entender o funcionamento das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redes neurais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CAF9C095-0678-B568-4C0C-EE57209756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1401" cy="5032375"/>
              </a:xfrm>
              <a:blipFill rotWithShape="0">
                <a:blip r:embed="rId3"/>
                <a:stretch>
                  <a:fillRect l="-925" t="-1937" r="-152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42561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19338" cy="5032375"/>
              </a:xfrm>
            </p:spPr>
            <p:txBody>
              <a:bodyPr/>
              <a:lstStyle/>
              <a:p>
                <a:r>
                  <a:rPr lang="pt-BR" dirty="0" smtClean="0"/>
                  <a:t>Se quantiza a saída da </a:t>
                </a:r>
                <a:r>
                  <a:rPr lang="pt-BR" b="1" i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limiar de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decisão</a:t>
                </a:r>
                <a:r>
                  <a:rPr lang="pt-BR" i="1" dirty="0" smtClean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dirty="0"/>
                  <a:t>Em geral,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 smtClean="0"/>
                  <a:t> </a:t>
                </a:r>
                <a:r>
                  <a:rPr lang="pt-BR" dirty="0"/>
                  <a:t>(i.e., 50% de probabilidade).</a:t>
                </a:r>
              </a:p>
              <a:p>
                <a:r>
                  <a:rPr lang="pt-BR" dirty="0" smtClean="0"/>
                  <a:t>A </a:t>
                </a:r>
                <a:r>
                  <a:rPr lang="pt-BR" dirty="0"/>
                  <a:t>saída </a:t>
                </a:r>
                <a:r>
                  <a:rPr lang="pt-BR" b="1" i="1" dirty="0"/>
                  <a:t>quantizada</a:t>
                </a:r>
                <a:r>
                  <a:rPr lang="pt-BR" dirty="0"/>
                  <a:t> do </a:t>
                </a:r>
                <a:r>
                  <a:rPr lang="pt-BR" b="1" i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𝐶𝑙𝑎𝑠𝑠𝑒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𝑠𝑒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19338" cy="5032375"/>
              </a:xfrm>
              <a:blipFill rotWithShape="0">
                <a:blip r:embed="rId3"/>
                <a:stretch>
                  <a:fillRect l="-98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4267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72AC13C-45BB-B28E-F816-A97767018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77809CD-1BD7-E7EB-6571-1A28F2AF7B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12846" y="1825624"/>
                <a:ext cx="678488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pt-BR" dirty="0"/>
                  <a:t>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pt-BR" dirty="0"/>
                  <a:t> 0.5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Portanto, o </a:t>
                </a:r>
                <a:r>
                  <a:rPr lang="pt-BR" b="1" i="1" dirty="0"/>
                  <a:t>regressor logístico com limiar de quantização igual a 0.5 </a:t>
                </a:r>
                <a:r>
                  <a:rPr lang="pt-BR" dirty="0"/>
                  <a:t>prediz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(i.e.,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), se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 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 (i.e.,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), 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77809CD-1BD7-E7EB-6571-1A28F2AF7B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2846" y="1825624"/>
                <a:ext cx="6784886" cy="5032375"/>
              </a:xfrm>
              <a:blipFill>
                <a:blip r:embed="rId2"/>
                <a:stretch>
                  <a:fillRect l="-1617" t="-1937" r="-1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DEB44443-FFD9-DE17-AE4D-5329DCB80EFD}"/>
              </a:ext>
            </a:extLst>
          </p:cNvPr>
          <p:cNvGrpSpPr/>
          <p:nvPr/>
        </p:nvGrpSpPr>
        <p:grpSpPr>
          <a:xfrm>
            <a:off x="496556" y="2204516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6CFDE865-B8F2-4862-00D0-2F299E8F06B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xmlns="" id="{CF28521A-7BAB-5D5B-7A24-F7AE92AD9921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F28521A-7BAB-5D5B-7A24-F7AE92AD99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1090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ight Brace 5">
              <a:extLst>
                <a:ext uri="{FF2B5EF4-FFF2-40B4-BE49-F238E27FC236}">
                  <a16:creationId xmlns:a16="http://schemas.microsoft.com/office/drawing/2014/main" xmlns="" id="{36FFBC54-E8AA-B8DC-C018-7AF210B1204B}"/>
                </a:ext>
              </a:extLst>
            </p:cNvPr>
            <p:cNvSpPr/>
            <p:nvPr/>
          </p:nvSpPr>
          <p:spPr>
            <a:xfrm rot="5400000">
              <a:off x="3721046" y="2913581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xmlns="" id="{84CA50B8-20A8-7860-76B6-EBE98B2C591B}"/>
                    </a:ext>
                  </a:extLst>
                </p:cNvPr>
                <p:cNvSpPr txBox="1"/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id="{84CA50B8-20A8-7860-76B6-EBE98B2C5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ight Brace 9">
              <a:extLst>
                <a:ext uri="{FF2B5EF4-FFF2-40B4-BE49-F238E27FC236}">
                  <a16:creationId xmlns:a16="http://schemas.microsoft.com/office/drawing/2014/main" xmlns="" id="{7CD5DAF8-692D-4FFB-3889-4F4811A96859}"/>
                </a:ext>
              </a:extLst>
            </p:cNvPr>
            <p:cNvSpPr/>
            <p:nvPr/>
          </p:nvSpPr>
          <p:spPr>
            <a:xfrm rot="16200000">
              <a:off x="1920322" y="2652479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xmlns="" id="{7B8A9F24-4A03-367E-79F6-C51C042914F2}"/>
                    </a:ext>
                  </a:extLst>
                </p:cNvPr>
                <p:cNvSpPr txBox="1"/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id="{7B8A9F24-4A03-367E-79F6-C51C04291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363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xmlns="" id="{E4DC8A7C-AC93-892F-B7D9-AF42FDBFE8D8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4DC8A7C-AC93-892F-B7D9-AF42FDBFE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83650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>
            <a:extLst>
              <a:ext uri="{FF2B5EF4-FFF2-40B4-BE49-F238E27FC236}">
                <a16:creationId xmlns:a16="http://schemas.microsoft.com/office/drawing/2014/main" xmlns="" id="{B8A641DB-726F-6426-9FE6-9A9B9C3C80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9903" y="4242547"/>
            <a:ext cx="2378723" cy="2156297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A5233AA-51F7-6ACD-208D-18BEC80FF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885C979-AADA-BE1B-E924-EADEBB483E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59778" y="1825624"/>
                <a:ext cx="643222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entre classes </a:t>
                </a:r>
                <a:r>
                  <a:rPr lang="pt-BR" dirty="0"/>
                  <a:t>com o regressor logístico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é suave</a:t>
                </a:r>
                <a:r>
                  <a:rPr lang="pt-BR" dirty="0"/>
                  <a:t>, mas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após a quantização</a:t>
                </a:r>
                <a:r>
                  <a:rPr lang="pt-BR" dirty="0"/>
                  <a:t> de sua saída, 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 torna abrupta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 smtClean="0"/>
                  <a:t>é </a:t>
                </a:r>
                <a:r>
                  <a:rPr lang="pt-BR" dirty="0"/>
                  <a:t>determinada quando há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indecisão</a:t>
                </a:r>
                <a:r>
                  <a:rPr lang="pt-BR" dirty="0"/>
                  <a:t> entre as classes.</a:t>
                </a:r>
              </a:p>
              <a:p>
                <a:r>
                  <a:rPr lang="pt-BR" dirty="0"/>
                  <a:t>Ou seja, </a:t>
                </a:r>
                <a:r>
                  <a:rPr lang="pt-BR" dirty="0" smtClean="0"/>
                  <a:t>quando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0.5.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3885C979-AADA-BE1B-E924-EADEBB483E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59778" y="1825624"/>
                <a:ext cx="6432222" cy="5032375"/>
              </a:xfrm>
              <a:blipFill rotWithShape="0">
                <a:blip r:embed="rId3"/>
                <a:stretch>
                  <a:fillRect l="-1706" t="-1937" r="-31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301DF147-5AD8-4827-1B3C-934BCB6CAB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0241" y="2301118"/>
            <a:ext cx="2252879" cy="151245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DC81A026-AE51-E462-440C-065E87F63FC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3" t="11662" r="9254"/>
          <a:stretch/>
        </p:blipFill>
        <p:spPr>
          <a:xfrm>
            <a:off x="3172460" y="2301118"/>
            <a:ext cx="2257744" cy="1512454"/>
          </a:xfrm>
          <a:prstGeom prst="rect">
            <a:avLst/>
          </a:prstGeom>
        </p:spPr>
      </p:pic>
      <p:cxnSp>
        <p:nvCxnSpPr>
          <p:cNvPr id="7" name="Conector de seta reta 8">
            <a:extLst>
              <a:ext uri="{FF2B5EF4-FFF2-40B4-BE49-F238E27FC236}">
                <a16:creationId xmlns:a16="http://schemas.microsoft.com/office/drawing/2014/main" xmlns="" id="{A5564AF5-415F-E5A8-B289-2CB45DE72C76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4390356" y="2995996"/>
            <a:ext cx="561" cy="2129544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F14A03E5-8AEE-CC43-1C61-4E5D3EB0F774}"/>
              </a:ext>
            </a:extLst>
          </p:cNvPr>
          <p:cNvSpPr/>
          <p:nvPr/>
        </p:nvSpPr>
        <p:spPr>
          <a:xfrm rot="2198129">
            <a:off x="3331970" y="2904814"/>
            <a:ext cx="2178268" cy="10117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xmlns="" id="{A160CDC7-3DB9-F339-904B-ECCF2FF687F4}"/>
              </a:ext>
            </a:extLst>
          </p:cNvPr>
          <p:cNvSpPr/>
          <p:nvPr/>
        </p:nvSpPr>
        <p:spPr>
          <a:xfrm>
            <a:off x="4336356" y="5125540"/>
            <a:ext cx="108000" cy="108000"/>
          </a:xfrm>
          <a:prstGeom prst="ellipse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ED590EC9-E826-C9B7-DB48-DB5893E946E0}"/>
              </a:ext>
            </a:extLst>
          </p:cNvPr>
          <p:cNvSpPr txBox="1"/>
          <p:nvPr/>
        </p:nvSpPr>
        <p:spPr>
          <a:xfrm>
            <a:off x="2329684" y="2618144"/>
            <a:ext cx="9742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/>
              <a:t>Quantização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xmlns="" id="{CA218BEA-C92F-A9D2-5B95-1181A660E6D5}"/>
              </a:ext>
            </a:extLst>
          </p:cNvPr>
          <p:cNvSpPr txBox="1"/>
          <p:nvPr/>
        </p:nvSpPr>
        <p:spPr>
          <a:xfrm>
            <a:off x="3438126" y="1993341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abrupta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xmlns="" id="{96DC723A-0689-21BA-776F-298D6AEB8996}"/>
              </a:ext>
            </a:extLst>
          </p:cNvPr>
          <p:cNvSpPr/>
          <p:nvPr/>
        </p:nvSpPr>
        <p:spPr>
          <a:xfrm>
            <a:off x="2501514" y="2850735"/>
            <a:ext cx="576483" cy="3779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xmlns="" id="{8FDC2F49-7E99-272A-7D45-CF96AD496CCE}"/>
              </a:ext>
            </a:extLst>
          </p:cNvPr>
          <p:cNvSpPr txBox="1"/>
          <p:nvPr/>
        </p:nvSpPr>
        <p:spPr>
          <a:xfrm>
            <a:off x="343944" y="2006844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suave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xmlns="" id="{9C42078E-5BB7-D014-6267-4D199DCDA337}"/>
              </a:ext>
            </a:extLst>
          </p:cNvPr>
          <p:cNvSpPr txBox="1"/>
          <p:nvPr/>
        </p:nvSpPr>
        <p:spPr>
          <a:xfrm>
            <a:off x="5014663" y="3682128"/>
            <a:ext cx="799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Fronteira de decisão</a:t>
            </a:r>
          </a:p>
        </p:txBody>
      </p:sp>
      <p:cxnSp>
        <p:nvCxnSpPr>
          <p:cNvPr id="26" name="Conector: Curvo 25">
            <a:extLst>
              <a:ext uri="{FF2B5EF4-FFF2-40B4-BE49-F238E27FC236}">
                <a16:creationId xmlns:a16="http://schemas.microsoft.com/office/drawing/2014/main" xmlns="" id="{A6DB7626-F455-A040-5E09-CAACB2A4E564}"/>
              </a:ext>
            </a:extLst>
          </p:cNvPr>
          <p:cNvCxnSpPr>
            <a:cxnSpLocks/>
            <a:endCxn id="24" idx="1"/>
          </p:cNvCxnSpPr>
          <p:nvPr/>
        </p:nvCxnSpPr>
        <p:spPr>
          <a:xfrm rot="16200000" flipH="1">
            <a:off x="4601307" y="3484215"/>
            <a:ext cx="637641" cy="189071"/>
          </a:xfrm>
          <a:prstGeom prst="curvedConnector2">
            <a:avLst/>
          </a:prstGeom>
          <a:ln w="1905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108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 smtClean="0"/>
              <a:t>Para </a:t>
            </a:r>
            <a:r>
              <a:rPr lang="pt-BR" b="1" i="1" dirty="0" smtClean="0">
                <a:solidFill>
                  <a:srgbClr val="00B050"/>
                </a:solidFill>
              </a:rPr>
              <a:t>treinarmos </a:t>
            </a:r>
            <a:r>
              <a:rPr lang="pt-BR" dirty="0"/>
              <a:t>um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regressor logístico</a:t>
            </a:r>
            <a:r>
              <a:rPr lang="pt-BR" b="1" i="1" dirty="0"/>
              <a:t> </a:t>
            </a:r>
            <a:r>
              <a:rPr lang="pt-BR" dirty="0"/>
              <a:t>e encontrarmos os </a:t>
            </a:r>
            <a:r>
              <a:rPr lang="pt-BR" b="1" i="1" dirty="0"/>
              <a:t>pesos</a:t>
            </a:r>
            <a:r>
              <a:rPr lang="pt-BR" dirty="0"/>
              <a:t> da </a:t>
            </a:r>
            <a:r>
              <a:rPr lang="pt-BR" b="1" i="1" dirty="0"/>
              <a:t>função discriminante</a:t>
            </a:r>
            <a:r>
              <a:rPr lang="pt-BR" dirty="0"/>
              <a:t>, nós </a:t>
            </a:r>
            <a:r>
              <a:rPr lang="pt-BR" b="1" i="1" dirty="0">
                <a:solidFill>
                  <a:srgbClr val="00B050"/>
                </a:solidFill>
              </a:rPr>
              <a:t>precisamos</a:t>
            </a:r>
            <a:r>
              <a:rPr lang="pt-BR" dirty="0"/>
              <a:t>, assim como fizemos com a </a:t>
            </a:r>
            <a:r>
              <a:rPr lang="pt-BR" b="1" i="1" dirty="0"/>
              <a:t>regressão linear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definir uma função de </a:t>
            </a:r>
            <a:r>
              <a:rPr lang="pt-BR" b="1" i="1" dirty="0" smtClean="0">
                <a:solidFill>
                  <a:srgbClr val="00B050"/>
                </a:solidFill>
              </a:rPr>
              <a:t>erro a ser </a:t>
            </a:r>
            <a:r>
              <a:rPr lang="pt-BR" b="1" i="1" dirty="0" smtClean="0">
                <a:solidFill>
                  <a:schemeClr val="accent5"/>
                </a:solidFill>
              </a:rPr>
              <a:t>minimizada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dirty="0"/>
              <a:t>Porém, adotar a função do </a:t>
            </a:r>
            <a:r>
              <a:rPr lang="pt-BR" b="1" i="1" dirty="0">
                <a:solidFill>
                  <a:schemeClr val="accent2"/>
                </a:solidFill>
              </a:rPr>
              <a:t>erro quadrático médio</a:t>
            </a:r>
            <a:r>
              <a:rPr lang="pt-BR" b="1" i="1" dirty="0"/>
              <a:t> </a:t>
            </a:r>
            <a:r>
              <a:rPr lang="pt-BR" dirty="0"/>
              <a:t>como </a:t>
            </a:r>
            <a:r>
              <a:rPr lang="pt-BR" b="1" i="1" dirty="0"/>
              <a:t>função de erro </a:t>
            </a:r>
            <a:r>
              <a:rPr lang="pt-BR" b="1" i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para a </a:t>
            </a:r>
            <a:r>
              <a:rPr lang="pt-BR" b="1" i="1" dirty="0"/>
              <a:t>atualização dos pesos </a:t>
            </a:r>
            <a:r>
              <a:rPr lang="pt-BR" dirty="0"/>
              <a:t>no caso da</a:t>
            </a:r>
            <a:r>
              <a:rPr lang="pt-BR" b="1" i="1" dirty="0"/>
              <a:t> regressão logística</a:t>
            </a:r>
            <a:r>
              <a:rPr lang="pt-BR" dirty="0"/>
              <a:t> e </a:t>
            </a:r>
            <a:r>
              <a:rPr lang="pt-BR" b="1" i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xmlns="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04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 smtClean="0"/>
                  <a:t>Se considerarmos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como sendo o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limLow>
                                    <m:limLow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d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i="1" dirty="0"/>
                  <a:t>superfície de erro</a:t>
                </a:r>
                <a:r>
                  <a:rPr lang="pt-BR" dirty="0"/>
                  <a:t> poderá </a:t>
                </a:r>
                <a:r>
                  <a:rPr lang="pt-BR" dirty="0" smtClean="0"/>
                  <a:t>apresentar várias irregularidades, incluindo </a:t>
                </a:r>
                <a:r>
                  <a:rPr lang="pt-BR" b="1" i="1" dirty="0" smtClean="0">
                    <a:solidFill>
                      <a:srgbClr val="FF0000"/>
                    </a:solidFill>
                  </a:rPr>
                  <a:t>diversos mínimos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locais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que vão dificultar o aprendizado do modelo </a:t>
                </a:r>
                <a:endParaRPr lang="pt-BR" dirty="0" smtClean="0"/>
              </a:p>
              <a:p>
                <a:pPr lvl="1"/>
                <a:r>
                  <a:rPr lang="pt-BR" dirty="0" smtClean="0"/>
                  <a:t>Por exemplo, o </a:t>
                </a:r>
                <a:r>
                  <a:rPr lang="pt-BR" dirty="0"/>
                  <a:t>algoritmo do GD pode ficar preso em um mínimo </a:t>
                </a:r>
                <a:r>
                  <a:rPr lang="pt-BR" dirty="0" smtClean="0"/>
                  <a:t>local.</a:t>
                </a:r>
                <a:endParaRPr lang="pt-BR" i="1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 rotWithShape="0">
                <a:blip r:embed="rId3"/>
                <a:stretch>
                  <a:fillRect l="-1462" t="-2663" r="-19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293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20E2DF9-2743-23C2-DE46-E7AD9A871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34F70FE-EECC-0DF5-F655-DE58234088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5885" y="1825624"/>
                <a:ext cx="75317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Ideia</a:t>
                </a:r>
                <a:r>
                  <a:rPr lang="pt-BR" dirty="0"/>
                  <a:t>: encontrar uma </a:t>
                </a:r>
                <a:r>
                  <a:rPr lang="pt-BR" b="1" i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i="1" dirty="0"/>
                  <a:t>superfície de erro </a:t>
                </a:r>
                <a:r>
                  <a:rPr lang="pt-BR" dirty="0"/>
                  <a:t>resultante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proposta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intuitiva</a:t>
                </a:r>
                <a:r>
                  <a:rPr lang="pt-BR" dirty="0"/>
                  <a:t> para a </a:t>
                </a:r>
                <a:r>
                  <a:rPr lang="pt-BR" b="1" i="1" dirty="0"/>
                  <a:t>função de</a:t>
                </a:r>
                <a:r>
                  <a:rPr lang="pt-BR" dirty="0"/>
                  <a:t> </a:t>
                </a:r>
                <a:r>
                  <a:rPr lang="pt-BR" b="1" i="1" dirty="0"/>
                  <a:t>erro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para cada exemplo de entrada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l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og</m:t>
                                    </m:r>
                                  </m:fName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𝒂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</m:e>
                                </m:func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l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og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e>
                                          <m:sub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𝒂</m:t>
                                            </m:r>
                                          </m:sub>
                                        </m:sSub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𝒙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</m:func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é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 smtClean="0"/>
                  <a:t>ésimo</a:t>
                </a:r>
                <a:r>
                  <a:rPr lang="pt-BR" dirty="0" smtClean="0"/>
                  <a:t> rótulo.</a:t>
                </a:r>
                <a:endParaRPr lang="pt-BR" dirty="0"/>
              </a:p>
              <a:p>
                <a:r>
                  <a:rPr lang="pt-BR" dirty="0"/>
                  <a:t>Veremos a seguir uma justificativa para esta escolha.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C34F70FE-EECC-0DF5-F655-DE58234088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5885" y="1825624"/>
                <a:ext cx="7531799" cy="5032375"/>
              </a:xfrm>
              <a:blipFill rotWithShape="0">
                <a:blip r:embed="rId3"/>
                <a:stretch>
                  <a:fillRect l="-170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656" y="1990946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5807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72C6C58-2120-4F47-1BAC-334526DF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AA41FEE-FFE7-A8B3-A6BF-64195006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62145" y="1825624"/>
                <a:ext cx="705414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Quando o </a:t>
                </a:r>
                <a:r>
                  <a:rPr lang="pt-BR" dirty="0" smtClean="0"/>
                  <a:t>rótulo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o valor de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muito grande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0.</a:t>
                </a:r>
              </a:p>
              <a:p>
                <a:r>
                  <a:rPr lang="pt-BR" dirty="0"/>
                  <a:t>Ou seja,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erro será grande</a:t>
                </a:r>
                <a:r>
                  <a:rPr lang="pt-BR" dirty="0"/>
                  <a:t> se o regressor estimar uma probabilidade próxima a 0 para um exemplo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 outro lado,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próximo de 0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1.</a:t>
                </a:r>
              </a:p>
              <a:p>
                <a:r>
                  <a:rPr lang="pt-BR" dirty="0"/>
                  <a:t>Portanto,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erro será próximo de 0 </a:t>
                </a:r>
                <a:r>
                  <a:rPr lang="pt-BR" dirty="0"/>
                  <a:t>se a probabilidade estimada for próxima de 1 para um exemplo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AA41FEE-FFE7-A8B3-A6BF-64195006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62145" y="1825624"/>
                <a:ext cx="7054147" cy="5032375"/>
              </a:xfrm>
              <a:blipFill rotWithShape="0">
                <a:blip r:embed="rId3"/>
                <a:stretch>
                  <a:fillRect l="-1556" t="-2663" r="-207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7">
            <a:extLst>
              <a:ext uri="{FF2B5EF4-FFF2-40B4-BE49-F238E27FC236}">
                <a16:creationId xmlns:a16="http://schemas.microsoft.com/office/drawing/2014/main" xmlns="" id="{B3C4AFA8-F0AC-4FFD-7DFC-D4EA88D7F0A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393" t="4876" r="8791"/>
          <a:stretch/>
        </p:blipFill>
        <p:spPr>
          <a:xfrm>
            <a:off x="620091" y="2616473"/>
            <a:ext cx="3938195" cy="37939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xmlns="" id="{DA384F59-84B2-EEA5-B023-5194B4DA1B87}"/>
                  </a:ext>
                </a:extLst>
              </p:cNvPr>
              <p:cNvSpPr txBox="1"/>
              <p:nvPr/>
            </p:nvSpPr>
            <p:spPr>
              <a:xfrm>
                <a:off x="1074788" y="1970142"/>
                <a:ext cx="332213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Valor esperado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deve se aproximar de 1</a:t>
                </a:r>
              </a:p>
            </p:txBody>
          </p:sp>
        </mc:Choice>
        <mc:Fallback xmlns="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DA384F59-84B2-EEA5-B023-5194B4DA1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788" y="1970142"/>
                <a:ext cx="3322132" cy="646331"/>
              </a:xfrm>
              <a:prstGeom prst="rect">
                <a:avLst/>
              </a:prstGeom>
              <a:blipFill>
                <a:blip r:embed="rId5"/>
                <a:stretch>
                  <a:fillRect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BCD451E8-248B-2C62-B493-77B6E4868CEB}"/>
                  </a:ext>
                </a:extLst>
              </p:cNvPr>
              <p:cNvSpPr txBox="1"/>
              <p:nvPr/>
            </p:nvSpPr>
            <p:spPr>
              <a:xfrm>
                <a:off x="2202360" y="6193474"/>
                <a:ext cx="106698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2360" y="6193474"/>
                <a:ext cx="1066988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xmlns="" id="{3EAD6F9C-76A6-A699-F8D2-101900496784}"/>
                  </a:ext>
                </a:extLst>
              </p:cNvPr>
              <p:cNvSpPr txBox="1"/>
              <p:nvPr/>
            </p:nvSpPr>
            <p:spPr>
              <a:xfrm rot="16200000">
                <a:off x="-212854" y="4245474"/>
                <a:ext cx="1640537" cy="4049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212854" y="4245474"/>
                <a:ext cx="1640537" cy="404983"/>
              </a:xfrm>
              <a:prstGeom prst="rect">
                <a:avLst/>
              </a:prstGeom>
              <a:blipFill>
                <a:blip r:embed="rId7"/>
                <a:stretch>
                  <a:fillRect r="-89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83113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8">
            <a:extLst>
              <a:ext uri="{FF2B5EF4-FFF2-40B4-BE49-F238E27FC236}">
                <a16:creationId xmlns:a16="http://schemas.microsoft.com/office/drawing/2014/main" xmlns="" id="{CAB49D12-B8D2-8812-1FBB-C0C295BB8C9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05" t="5157" r="8791"/>
          <a:stretch/>
        </p:blipFill>
        <p:spPr>
          <a:xfrm>
            <a:off x="717942" y="2597080"/>
            <a:ext cx="3864091" cy="372076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72C6C58-2120-4F47-1BAC-334526DF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AA41FEE-FFE7-A8B3-A6BF-64195006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54321" y="1825624"/>
                <a:ext cx="69619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o </a:t>
                </a:r>
                <a:r>
                  <a:rPr lang="pt-BR" dirty="0" smtClean="0"/>
                  <a:t>rótulo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</a:t>
                </a:r>
                <a:r>
                  <a:rPr lang="pt-BR" dirty="0" smtClean="0"/>
                  <a:t>i.e., exemplo </a:t>
                </a:r>
                <a:r>
                  <a:rPr lang="pt-BR" dirty="0"/>
                  <a:t>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 smtClean="0"/>
                  <a:t>, </a:t>
                </a:r>
                <a:r>
                  <a:rPr lang="pt-BR" dirty="0"/>
                  <a:t>o valor de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será muito grande se o classificador estimar uma probabilidade próxima de </a:t>
                </a:r>
                <a:r>
                  <a:rPr lang="pt-BR" dirty="0" smtClean="0"/>
                  <a:t>1. </a:t>
                </a:r>
                <a:endParaRPr lang="pt-BR" dirty="0"/>
              </a:p>
              <a:p>
                <a:r>
                  <a:rPr lang="pt-BR" dirty="0"/>
                  <a:t>Porém, o valor de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próximo de 0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</a:t>
                </a:r>
                <a:r>
                  <a:rPr lang="pt-BR" dirty="0" smtClean="0"/>
                  <a:t>0 para </a:t>
                </a:r>
                <a:r>
                  <a:rPr lang="pt-BR" dirty="0"/>
                  <a:t>um exemplo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AA41FEE-FFE7-A8B3-A6BF-64195006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54321" y="1825624"/>
                <a:ext cx="6961971" cy="5032375"/>
              </a:xfrm>
              <a:blipFill rotWithShape="0">
                <a:blip r:embed="rId4"/>
                <a:stretch>
                  <a:fillRect l="-157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BCD451E8-248B-2C62-B493-77B6E4868CEB}"/>
                  </a:ext>
                </a:extLst>
              </p:cNvPr>
              <p:cNvSpPr txBox="1"/>
              <p:nvPr/>
            </p:nvSpPr>
            <p:spPr>
              <a:xfrm>
                <a:off x="2312888" y="6133179"/>
                <a:ext cx="106698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888" y="6133179"/>
                <a:ext cx="1066988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xmlns="" id="{3EAD6F9C-76A6-A699-F8D2-101900496784}"/>
                  </a:ext>
                </a:extLst>
              </p:cNvPr>
              <p:cNvSpPr txBox="1"/>
              <p:nvPr/>
            </p:nvSpPr>
            <p:spPr>
              <a:xfrm rot="16200000">
                <a:off x="-102326" y="4185179"/>
                <a:ext cx="1640537" cy="4049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02326" y="4185179"/>
                <a:ext cx="1640537" cy="404983"/>
              </a:xfrm>
              <a:prstGeom prst="rect">
                <a:avLst/>
              </a:prstGeom>
              <a:blipFill>
                <a:blip r:embed="rId6"/>
                <a:stretch>
                  <a:fillRect r="-9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xmlns="" id="{90A4272F-386E-3CB4-9D80-D03C1F05B0FC}"/>
                  </a:ext>
                </a:extLst>
              </p:cNvPr>
              <p:cNvSpPr txBox="1"/>
              <p:nvPr/>
            </p:nvSpPr>
            <p:spPr>
              <a:xfrm>
                <a:off x="1080432" y="1926225"/>
                <a:ext cx="35016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Valor esperado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0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deve se aproximar de 0</a:t>
                </a:r>
              </a:p>
            </p:txBody>
          </p:sp>
        </mc:Choice>
        <mc:Fallback xmlns="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id="{90A4272F-386E-3CB4-9D80-D03C1F05B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432" y="1926225"/>
                <a:ext cx="3501601" cy="646331"/>
              </a:xfrm>
              <a:prstGeom prst="rect">
                <a:avLst/>
              </a:prstGeom>
              <a:blipFill>
                <a:blip r:embed="rId7"/>
                <a:stretch>
                  <a:fillRect t="-5660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4824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90B006-3B77-B446-0236-D9D3C902F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3FD4E4A-5ACD-4D5C-3A3F-51A57190DC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</p:spPr>
            <p:txBody>
              <a:bodyPr/>
              <a:lstStyle/>
              <a:p>
                <a:r>
                  <a:rPr lang="pt-BR" dirty="0"/>
                  <a:t>Nós podemos unir a </a:t>
                </a:r>
                <a:r>
                  <a:rPr lang="pt-BR" b="1" i="1" dirty="0"/>
                  <a:t>função de erro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para cada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exemplo</a:t>
                </a:r>
                <a:r>
                  <a:rPr lang="pt-BR" b="1" i="1" dirty="0" smtClean="0"/>
                  <a:t> </a:t>
                </a:r>
                <a:r>
                  <a:rPr lang="pt-BR" dirty="0"/>
                  <a:t>em uma expressão única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usando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o valor dos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rótulos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lim>
                      </m:limLow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lim>
                      </m:limLow>
                    </m:oMath>
                  </m:oMathPara>
                </a14:m>
                <a:endParaRPr lang="pt-BR" sz="2400" dirty="0"/>
              </a:p>
              <a:p>
                <a:r>
                  <a:rPr lang="pt-BR" dirty="0"/>
                  <a:t>Assim, podemos definir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 médio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3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sz="2800" dirty="0"/>
                  <a:t>Lembrem-se que sempre queremos 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minimizar o erro ao longo de </a:t>
                </a:r>
                <a:r>
                  <a:rPr lang="pt-BR" sz="2800" b="1" i="1" dirty="0">
                    <a:solidFill>
                      <a:srgbClr val="7030A0"/>
                    </a:solidFill>
                  </a:rPr>
                  <a:t>todo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 o conjunto de treinamento</a:t>
                </a:r>
                <a:r>
                  <a:rPr lang="pt-BR" sz="2800" dirty="0"/>
                  <a:t>, por isso tomamos 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média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Essa função de erro é conhecida na literatura como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entropia cruzada</a:t>
                </a:r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3FD4E4A-5ACD-4D5C-3A3F-51A57190DC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  <a:blipFill rotWithShape="0">
                <a:blip r:embed="rId3"/>
                <a:stretch>
                  <a:fillRect l="-929" t="-1937" b="-27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7576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sz="3000" dirty="0" smtClean="0"/>
              <a:t>A má </a:t>
            </a:r>
            <a:r>
              <a:rPr lang="pt-BR" sz="3000" dirty="0"/>
              <a:t>notícia com relação a essa função é que </a:t>
            </a:r>
            <a:r>
              <a:rPr lang="pt-BR" sz="3000" b="1" i="1" dirty="0">
                <a:solidFill>
                  <a:srgbClr val="00B050"/>
                </a:solidFill>
              </a:rPr>
              <a:t>não existe uma equação de forma fechada</a:t>
            </a:r>
            <a:r>
              <a:rPr lang="pt-BR" sz="3000" b="1" i="1" dirty="0"/>
              <a:t> </a:t>
            </a:r>
            <a:r>
              <a:rPr lang="pt-BR" sz="3000" dirty="0"/>
              <a:t>para encontrar os </a:t>
            </a:r>
            <a:r>
              <a:rPr lang="pt-BR" sz="3000" b="1" i="1" dirty="0"/>
              <a:t>pesos</a:t>
            </a:r>
            <a:r>
              <a:rPr lang="pt-BR" sz="3000" dirty="0"/>
              <a:t> que minimizem essa </a:t>
            </a:r>
            <a:r>
              <a:rPr lang="pt-BR" sz="3000" b="1" i="1" dirty="0"/>
              <a:t>função de erro</a:t>
            </a:r>
            <a:r>
              <a:rPr lang="pt-BR" sz="3000" dirty="0"/>
              <a:t>.</a:t>
            </a:r>
            <a:endParaRPr lang="pt-BR" sz="3000" b="1" i="1" dirty="0"/>
          </a:p>
          <a:p>
            <a:r>
              <a:rPr lang="pt-BR" sz="3000" dirty="0" smtClean="0"/>
              <a:t>A boa </a:t>
            </a:r>
            <a:r>
              <a:rPr lang="pt-BR" sz="3000" dirty="0"/>
              <a:t>notícia é que essa </a:t>
            </a:r>
            <a:r>
              <a:rPr lang="pt-BR" sz="3000" b="1" i="1" dirty="0"/>
              <a:t>função de erro </a:t>
            </a:r>
            <a:r>
              <a:rPr lang="pt-BR" sz="3000" dirty="0"/>
              <a:t>é </a:t>
            </a:r>
            <a:r>
              <a:rPr lang="pt-BR" sz="3000" b="1" i="1" dirty="0">
                <a:solidFill>
                  <a:srgbClr val="00B050"/>
                </a:solidFill>
              </a:rPr>
              <a:t>convexa</a:t>
            </a:r>
            <a:r>
              <a:rPr lang="pt-BR" sz="3000" dirty="0"/>
              <a:t> e </a:t>
            </a:r>
            <a:r>
              <a:rPr lang="pt-BR" sz="3000" b="1" i="1" dirty="0" err="1">
                <a:solidFill>
                  <a:srgbClr val="00B050"/>
                </a:solidFill>
              </a:rPr>
              <a:t>diferenciável</a:t>
            </a:r>
            <a:r>
              <a:rPr lang="pt-BR" sz="3000" dirty="0"/>
              <a:t>.</a:t>
            </a:r>
          </a:p>
          <a:p>
            <a:r>
              <a:rPr lang="pt-BR" sz="3000" dirty="0"/>
              <a:t>Consequentemente, </a:t>
            </a:r>
            <a:r>
              <a:rPr lang="pt-BR" sz="3000" b="1" i="1" dirty="0">
                <a:solidFill>
                  <a:srgbClr val="00B050"/>
                </a:solidFill>
              </a:rPr>
              <a:t>conseguimos</a:t>
            </a:r>
            <a:r>
              <a:rPr lang="pt-BR" sz="3000" dirty="0"/>
              <a:t> calcular o </a:t>
            </a:r>
            <a:r>
              <a:rPr lang="pt-BR" sz="3000" b="1" i="1" dirty="0">
                <a:solidFill>
                  <a:srgbClr val="00B050"/>
                </a:solidFill>
              </a:rPr>
              <a:t>vetor gradiente da função de erro</a:t>
            </a:r>
            <a:r>
              <a:rPr lang="pt-BR" sz="3000" dirty="0"/>
              <a:t> com relação aos pesos e </a:t>
            </a:r>
            <a:r>
              <a:rPr lang="pt-BR" sz="3000" b="1" i="1" dirty="0">
                <a:solidFill>
                  <a:srgbClr val="7030A0"/>
                </a:solidFill>
              </a:rPr>
              <a:t>implementar</a:t>
            </a:r>
            <a:r>
              <a:rPr lang="pt-BR" sz="3000" dirty="0"/>
              <a:t> o algoritmo do </a:t>
            </a:r>
            <a:r>
              <a:rPr lang="pt-BR" sz="3000" b="1" i="1" dirty="0">
                <a:solidFill>
                  <a:srgbClr val="7030A0"/>
                </a:solidFill>
              </a:rPr>
              <a:t>gradiente descendente (GD</a:t>
            </a:r>
            <a:r>
              <a:rPr lang="pt-BR" sz="3000" b="1" i="1" dirty="0" smtClean="0">
                <a:solidFill>
                  <a:srgbClr val="7030A0"/>
                </a:solidFill>
              </a:rPr>
              <a:t>)</a:t>
            </a:r>
            <a:r>
              <a:rPr lang="pt-BR" sz="3000" dirty="0" smtClean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600" dirty="0" smtClean="0"/>
              <a:t>Podemos implementar </a:t>
            </a:r>
            <a:r>
              <a:rPr lang="pt-BR" sz="2600" dirty="0"/>
              <a:t>todas as versões do </a:t>
            </a:r>
            <a:r>
              <a:rPr lang="pt-BR" sz="2600" b="1" i="1" dirty="0">
                <a:solidFill>
                  <a:srgbClr val="7030A0"/>
                </a:solidFill>
              </a:rPr>
              <a:t>GD</a:t>
            </a:r>
            <a:r>
              <a:rPr lang="pt-BR" sz="2600" dirty="0"/>
              <a:t>.</a:t>
            </a:r>
          </a:p>
          <a:p>
            <a:r>
              <a:rPr lang="pt-BR" sz="3000" dirty="0"/>
              <a:t>Por exemplo se usarmos o GDB, é garantido que ele encontre</a:t>
            </a:r>
            <a:r>
              <a:rPr lang="pt-BR" sz="3000" b="1" i="1" dirty="0"/>
              <a:t> </a:t>
            </a:r>
            <a:r>
              <a:rPr lang="pt-BR" sz="3000" dirty="0"/>
              <a:t>o </a:t>
            </a:r>
            <a:r>
              <a:rPr lang="pt-BR" sz="3000" b="1" i="1" dirty="0">
                <a:solidFill>
                  <a:srgbClr val="00B050"/>
                </a:solidFill>
              </a:rPr>
              <a:t>mínimo global </a:t>
            </a:r>
            <a:r>
              <a:rPr lang="pt-BR" sz="3000" dirty="0"/>
              <a:t>dado que a </a:t>
            </a:r>
            <a:r>
              <a:rPr lang="pt-BR" sz="3000" b="1" i="1" dirty="0"/>
              <a:t>taxa de aprendizagem</a:t>
            </a:r>
            <a:r>
              <a:rPr lang="pt-BR" sz="3000" dirty="0"/>
              <a:t> não seja muito grande e se espere tempo suficiente.</a:t>
            </a:r>
          </a:p>
        </p:txBody>
      </p:sp>
    </p:spTree>
    <p:extLst>
      <p:ext uri="{BB962C8B-B14F-4D97-AF65-F5344CB8AC3E}">
        <p14:creationId xmlns:p14="http://schemas.microsoft.com/office/powerpoint/2010/main" val="1079767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 mesma forma como fizemos com 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usamos o algoritmo do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gradiente descendente</a:t>
                </a:r>
                <a:r>
                  <a:rPr lang="pt-BR" b="1" i="1" dirty="0"/>
                  <a:t> </a:t>
                </a:r>
                <a:r>
                  <a:rPr lang="pt-BR" dirty="0"/>
                  <a:t>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encontrar os pesos que minimizam a função de erro médio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 smtClean="0">
                    <a:solidFill>
                      <a:schemeClr val="accent5"/>
                    </a:solidFill>
                  </a:rPr>
                  <a:t>equação de atualização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iterativa</a:t>
                </a:r>
                <a:r>
                  <a:rPr lang="pt-BR" b="1" i="1" dirty="0"/>
                  <a:t> </a:t>
                </a:r>
                <a:r>
                  <a:rPr lang="pt-BR" dirty="0"/>
                  <a:t>dos </a:t>
                </a:r>
                <a:r>
                  <a:rPr lang="pt-BR" b="1" i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 é a matriz de atributos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são vetores coluna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 contendo todos os valores esperados e preditos pelo regressor logístico, respectivamente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2663" r="-1148" b="-13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xmlns="" id="{5E51EB45-1595-7630-C24F-EAA34F018369}"/>
              </a:ext>
            </a:extLst>
          </p:cNvPr>
          <p:cNvSpPr txBox="1"/>
          <p:nvPr/>
        </p:nvSpPr>
        <p:spPr>
          <a:xfrm>
            <a:off x="9838168" y="4122695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xmlns="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>
            <a:off x="10101431" y="4430472"/>
            <a:ext cx="494553" cy="3997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a16:creationId xmlns:mc="http://schemas.openxmlformats.org/markup-compatibility/2006" xmlns:a14="http://schemas.microsoft.com/office/drawing/2010/main" xmlns:a16="http://schemas.microsoft.com/office/drawing/2014/main" xmlns="" id="{00DD6890-7287-3E1E-773F-7EAB37BD2F8A}"/>
              </a:ext>
            </a:extLst>
          </p:cNvPr>
          <p:cNvSpPr txBox="1"/>
          <p:nvPr/>
        </p:nvSpPr>
        <p:spPr>
          <a:xfrm>
            <a:off x="8321040" y="6609806"/>
            <a:ext cx="3870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100" dirty="0" smtClean="0"/>
              <a:t>Anexo I apresenta os passos para se encontrar o vetor gradiente.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a equação de um </a:t>
                </a:r>
                <a:r>
                  <a:rPr lang="pt-BR" sz="2800" b="1" i="1" dirty="0"/>
                  <a:t>hiperplano</a:t>
                </a:r>
                <a:r>
                  <a:rPr lang="pt-BR" sz="2800" dirty="0"/>
                  <a:t>, mas o resultado pode ser diretamente estendido para polinômios.</a:t>
                </a:r>
              </a:p>
              <a:p>
                <a:r>
                  <a:rPr lang="pt-BR" dirty="0"/>
                  <a:t>Percebam que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i="1" dirty="0"/>
                  <a:t> </a:t>
                </a:r>
                <a:r>
                  <a:rPr lang="pt-BR" dirty="0"/>
                  <a:t>da </a:t>
                </a:r>
                <a:r>
                  <a:rPr lang="pt-BR" b="1" i="1" dirty="0"/>
                  <a:t>função de erro médio</a:t>
                </a:r>
                <a:r>
                  <a:rPr lang="pt-BR" dirty="0"/>
                  <a:t> para 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é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i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vai variar dependendo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adotada. </a:t>
                </a:r>
              </a:p>
              <a:p>
                <a:r>
                  <a:rPr lang="pt-BR" dirty="0"/>
                  <a:t>Na sequência, veremos alguns exemplos com diferentes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>
                <a:blip r:embed="rId3"/>
                <a:stretch>
                  <a:fillRect l="-977" r="-15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tivermos </a:t>
                </a:r>
                <a:r>
                  <a:rPr lang="pt-BR" dirty="0"/>
                  <a:t>uma função discriminante com formato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</a:t>
                </a:r>
                <a:r>
                  <a:rPr lang="pt-BR" dirty="0" smtClean="0"/>
                  <a:t>função em formato </a:t>
                </a:r>
                <a:r>
                  <a:rPr lang="pt-BR" dirty="0"/>
                  <a:t>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  <a:blipFill rotWithShape="0">
                <a:blip r:embed="rId2"/>
                <a:stretch>
                  <a:fillRect l="-109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4616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tivermos </a:t>
                </a:r>
                <a:r>
                  <a:rPr lang="pt-BR" dirty="0"/>
                  <a:t>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círculo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em formato </a:t>
                </a:r>
                <a:r>
                  <a:rPr lang="pt-BR" dirty="0"/>
                  <a:t>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  <a:blipFill rotWithShape="0">
                <a:blip r:embed="rId2"/>
                <a:stretch>
                  <a:fillRect l="-10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6419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Se tivermos </a:t>
                </a:r>
                <a:r>
                  <a:rPr lang="pt-BR" dirty="0"/>
                  <a:t>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hipérbole retangular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em formato </a:t>
                </a:r>
                <a:r>
                  <a:rPr lang="pt-BR" dirty="0"/>
                  <a:t>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</m:oMath>
                </a14:m>
                <a:r>
                  <a:rPr lang="pt-BR" dirty="0"/>
                  <a:t> é a multiplicação elemento-a-elemento.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  <a:blipFill rotWithShape="0"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73194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Agora, de posse do </a:t>
                </a:r>
                <a:r>
                  <a:rPr lang="pt-BR" b="1" i="1" dirty="0"/>
                  <a:t>vetor gradiente</a:t>
                </a:r>
                <a:r>
                  <a:rPr lang="pt-BR" dirty="0"/>
                  <a:t>, podemos usá-lo com o </a:t>
                </a:r>
                <a:r>
                  <a:rPr lang="pt-BR" b="1" i="1" dirty="0"/>
                  <a:t>gradiente descendente</a:t>
                </a:r>
                <a:r>
                  <a:rPr lang="pt-BR" dirty="0"/>
                  <a:t> (nas versões em batelada, estocástico ou mini-batch) para atualizar os pesos.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  <a:blipFill>
                <a:blip r:embed="rId2"/>
                <a:stretch>
                  <a:fillRect l="-964" t="-1937" r="-13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7694935" y="6550223"/>
            <a:ext cx="44970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hlinkClick r:id="rId3"/>
              </a:rPr>
              <a:t>Exemplo</a:t>
            </a:r>
            <a:r>
              <a:rPr lang="pt-BR" sz="1400" dirty="0">
                <a:hlinkClick r:id="rId3"/>
              </a:rPr>
              <a:t>: logistic_regression_with_gradient_descent.ipynb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vimos, 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 assumir também o formato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muitas vezes, nós não sabemos qual a </a:t>
                </a:r>
                <a:r>
                  <a:rPr lang="pt-BR" b="1" i="1" dirty="0"/>
                  <a:t>melhor ordem</a:t>
                </a:r>
                <a:r>
                  <a:rPr lang="pt-BR" dirty="0"/>
                  <a:t> para este polinômio.</a:t>
                </a:r>
              </a:p>
              <a:p>
                <a:r>
                  <a:rPr lang="pt-BR" dirty="0"/>
                  <a:t>Assim, como ocorre no caso da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i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i="1" dirty="0"/>
                  <a:t> </a:t>
                </a:r>
                <a:r>
                  <a:rPr lang="pt-BR" dirty="0"/>
                  <a:t>estão sujeitos à ocorrência de </a:t>
                </a:r>
                <a:r>
                  <a:rPr lang="pt-BR" b="1" i="1" dirty="0"/>
                  <a:t>sobreajuste</a:t>
                </a:r>
                <a:r>
                  <a:rPr lang="pt-BR" dirty="0"/>
                  <a:t> e </a:t>
                </a:r>
                <a:r>
                  <a:rPr lang="pt-BR" b="1" i="1" dirty="0"/>
                  <a:t>subajuste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xmlns="" id="{DF911177-1762-1C13-7224-7DC9C7576C34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xmlns="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xmlns="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xmlns="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xmlns="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xmlns="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xmlns="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xmlns="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xmlns="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xmlns="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xmlns="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xmlns="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xmlns="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xmlns="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xmlns="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xmlns="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xmlns="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xmlns="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xmlns="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xmlns="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xmlns="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xmlns="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xmlns="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xmlns="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xmlns="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xmlns="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xmlns="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xmlns="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xmlns="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xmlns="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xmlns="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xmlns="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xmlns="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xmlns="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xmlns="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xmlns="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xmlns="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xmlns="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xmlns="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xmlns="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xmlns="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xmlns="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xmlns="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xmlns="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xmlns="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xmlns="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xmlns="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xmlns="" id="{9BA09B05-5A67-1E11-F943-345BEBEF6CD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xmlns="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xmlns="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xmlns="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xmlns="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xmlns="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xmlns="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xmlns="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xmlns="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xmlns="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xmlns="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xmlns="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xmlns="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xmlns="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xmlns="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xmlns="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xmlns="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xmlns="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xmlns="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xmlns="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xmlns="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xmlns="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xmlns="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xmlns="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xmlns="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xmlns="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xmlns="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xmlns="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xmlns="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xmlns="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xmlns="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xmlns="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xmlns="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xmlns="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xmlns="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xmlns="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xmlns="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xmlns="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xmlns="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xmlns="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xmlns="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xmlns="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xmlns="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xmlns="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xmlns="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xmlns="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xmlns="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xmlns="" id="{1CF5EF7B-31C2-BF66-57C5-B83BDD880795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xmlns="" id="{6B520180-B7A3-73C8-75FE-9FD42CDF419E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xmlns="" id="{B0CAB38C-895F-C677-2B43-E8AA71744A23}"/>
              </a:ext>
            </a:extLst>
          </p:cNvPr>
          <p:cNvGrpSpPr/>
          <p:nvPr/>
        </p:nvGrpSpPr>
        <p:grpSpPr>
          <a:xfrm>
            <a:off x="9002294" y="4437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xmlns="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xmlns="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xmlns="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xmlns="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xmlns="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xmlns="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xmlns="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xmlns="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xmlns="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xmlns="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xmlns="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xmlns="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xmlns="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xmlns="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xmlns="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xmlns="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xmlns="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xmlns="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xmlns="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xmlns="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xmlns="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xmlns="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xmlns="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xmlns="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xmlns="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xmlns="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xmlns="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xmlns="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xmlns="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xmlns="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xmlns="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xmlns="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xmlns="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xmlns="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xmlns="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xmlns="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xmlns="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xmlns="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xmlns="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xmlns="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xmlns="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xmlns="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xmlns="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xmlns="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xmlns="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xmlns="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xmlns="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xmlns="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i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i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i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</a:t>
            </a:r>
            <a:r>
              <a:rPr lang="pt-BR" dirty="0" smtClean="0"/>
              <a:t>exemplos de ambos os conjuntos.</a:t>
            </a:r>
            <a:endParaRPr lang="pt-BR" dirty="0"/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xmlns="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xmlns="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xmlns="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xmlns="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xmlns="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xmlns="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xmlns="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xmlns="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xmlns="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xmlns="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xmlns="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xmlns="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xmlns="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xmlns="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xmlns="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xmlns="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xmlns="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xmlns="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xmlns="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xmlns="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xmlns="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xmlns="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xmlns="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xmlns="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xmlns="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xmlns="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xmlns="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xmlns="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xmlns="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xmlns="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xmlns="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xmlns="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xmlns="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xmlns="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xmlns="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xmlns="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xmlns="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xmlns="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xmlns="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xmlns="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xmlns="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xmlns="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xmlns="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xmlns="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xmlns="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xmlns="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xmlns="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xmlns="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xmlns="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i="1" dirty="0"/>
              <a:t>flexibilidade excessiva </a:t>
            </a:r>
            <a:r>
              <a:rPr lang="pt-BR" dirty="0"/>
              <a:t>do polinômio (i.e., ordem elevada) dá origem a contorções na </a:t>
            </a:r>
            <a:r>
              <a:rPr lang="pt-BR" b="1" i="1" dirty="0"/>
              <a:t>fronteira de decisão </a:t>
            </a:r>
            <a:r>
              <a:rPr lang="pt-BR" dirty="0"/>
              <a:t>na tentativa de </a:t>
            </a:r>
            <a:r>
              <a:rPr lang="pt-BR" b="1" i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i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</a:t>
            </a:r>
            <a:r>
              <a:rPr lang="pt-BR" dirty="0" smtClean="0"/>
              <a:t>i.e., </a:t>
            </a:r>
            <a:r>
              <a:rPr lang="pt-BR" b="1" i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i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i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i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i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i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i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i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i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51263" y="2452643"/>
            <a:ext cx="10515600" cy="19626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evitamos o </a:t>
            </a:r>
            <a:r>
              <a:rPr lang="pt-BR" sz="6000" dirty="0" err="1"/>
              <a:t>subajuste</a:t>
            </a:r>
            <a:r>
              <a:rPr lang="pt-BR" sz="6000" dirty="0"/>
              <a:t> e </a:t>
            </a:r>
            <a:r>
              <a:rPr lang="pt-BR" sz="6000" dirty="0" err="1"/>
              <a:t>sobreajuste</a:t>
            </a:r>
            <a:r>
              <a:rPr lang="pt-BR" sz="6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5115023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1965B5D-719E-23AA-7D7E-5C2AA6EB73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não conhecemos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melhor ordem para o polinômio</a:t>
                </a:r>
                <a:r>
                  <a:rPr lang="pt-BR" dirty="0"/>
                  <a:t>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podemos usar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técnicas de validação cruzada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(e.g., </a:t>
                </a:r>
                <a:r>
                  <a:rPr lang="pt-BR" i="1" dirty="0" err="1"/>
                  <a:t>holdout</a:t>
                </a:r>
                <a:r>
                  <a:rPr lang="pt-BR" dirty="0"/>
                  <a:t> ou </a:t>
                </a:r>
                <a:r>
                  <a:rPr lang="pt-BR" i="1" dirty="0"/>
                  <a:t>k-</a:t>
                </a:r>
                <a:r>
                  <a:rPr lang="pt-BR" i="1" dirty="0" err="1"/>
                  <a:t>fold</a:t>
                </a:r>
                <a:r>
                  <a:rPr lang="pt-BR" i="1" dirty="0"/>
                  <a:t>)</a:t>
                </a:r>
                <a:r>
                  <a:rPr lang="pt-BR" dirty="0"/>
                  <a:t> para encontra-lo.</a:t>
                </a:r>
              </a:p>
              <a:p>
                <a:r>
                  <a:rPr lang="pt-BR" dirty="0"/>
                  <a:t>Esses técnicas nos auxiliam a encontrar um polinômio que apresente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relação de compromisso entre flexibilidade e capacidade de generalização</a:t>
                </a:r>
                <a:r>
                  <a:rPr lang="pt-BR" dirty="0"/>
                  <a:t>, evitando assim os dois problemas.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965B5D-719E-23AA-7D7E-5C2AA6EB73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  <a:blipFill>
                <a:blip r:embed="rId2"/>
                <a:stretch>
                  <a:fillRect l="-1807" t="-1937" r="-3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xmlns="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i="1" dirty="0">
                <a:solidFill>
                  <a:srgbClr val="7030A0"/>
                </a:solidFill>
              </a:rPr>
              <a:t>evitar </a:t>
            </a:r>
            <a:r>
              <a:rPr lang="pt-BR" b="1" i="1" dirty="0">
                <a:solidFill>
                  <a:schemeClr val="accent2"/>
                </a:solidFill>
              </a:rPr>
              <a:t>apenas</a:t>
            </a:r>
            <a:r>
              <a:rPr lang="pt-BR" b="1" i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i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Elastic-Net, Early-stopping).</a:t>
            </a:r>
          </a:p>
          <a:p>
            <a:r>
              <a:rPr lang="pt-BR" dirty="0"/>
              <a:t>A regularização </a:t>
            </a:r>
            <a:r>
              <a:rPr lang="pt-BR" b="1" i="1" dirty="0">
                <a:solidFill>
                  <a:srgbClr val="00B050"/>
                </a:solidFill>
              </a:rPr>
              <a:t>r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i="0" dirty="0">
                <a:effectLst/>
              </a:rPr>
              <a:t>do modelo por meio de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i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i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i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i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i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:a16="http://schemas.microsoft.com/office/drawing/2014/main" xmlns="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- Classificação (Parte III)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#3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607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951780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00614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6284895" y="1407719"/>
            <a:ext cx="13523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Positivo verdadeiro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(true positive)</a:t>
            </a:r>
          </a:p>
        </p:txBody>
      </p:sp>
      <p:sp>
        <p:nvSpPr>
          <p:cNvPr id="3" name="Rectangle 2"/>
          <p:cNvSpPr/>
          <p:nvPr/>
        </p:nvSpPr>
        <p:spPr>
          <a:xfrm>
            <a:off x="7936069" y="1868838"/>
            <a:ext cx="1080000" cy="108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6069" y="1868838"/>
            <a:ext cx="1080000" cy="108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36069" y="2948838"/>
            <a:ext cx="1080000" cy="108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27061" y="2948838"/>
            <a:ext cx="1080000" cy="108000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 rot="5400000">
            <a:off x="6375621" y="2764173"/>
            <a:ext cx="2160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Predicted label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0572" y="4251169"/>
            <a:ext cx="2165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True label</a:t>
            </a:r>
          </a:p>
        </p:txBody>
      </p:sp>
      <p:sp>
        <p:nvSpPr>
          <p:cNvPr id="37" name="TextBox 36"/>
          <p:cNvSpPr txBox="1"/>
          <p:nvPr/>
        </p:nvSpPr>
        <p:spPr>
          <a:xfrm rot="5400000">
            <a:off x="7236683" y="2254951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 rot="5400000">
            <a:off x="7243567" y="3334951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36069" y="4028838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16069" y="4032548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0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7426411" y="1710483"/>
            <a:ext cx="741238" cy="3584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182799" y="1927234"/>
            <a:ext cx="13103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Positivo falso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(false positive)</a:t>
            </a:r>
          </a:p>
        </p:txBody>
      </p:sp>
      <p:cxnSp>
        <p:nvCxnSpPr>
          <p:cNvPr id="15" name="Straight Arrow Connector 14"/>
          <p:cNvCxnSpPr/>
          <p:nvPr/>
        </p:nvCxnSpPr>
        <p:spPr>
          <a:xfrm flipH="1">
            <a:off x="9757980" y="2146383"/>
            <a:ext cx="548575" cy="12645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73915" y="3673911"/>
            <a:ext cx="13656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Negativo falso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(False negative)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V="1">
            <a:off x="7389414" y="3738869"/>
            <a:ext cx="1152054" cy="1733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0128" y="3443390"/>
            <a:ext cx="1326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Negativo verdadeiro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(true negative)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 flipH="1" flipV="1">
            <a:off x="9877238" y="3735492"/>
            <a:ext cx="503539" cy="44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Agrupar 1">
            <a:extLst>
              <a:ext uri="{FF2B5EF4-FFF2-40B4-BE49-F238E27FC236}">
                <a16:creationId xmlns:a16="http://schemas.microsoft.com/office/drawing/2014/main" xmlns="" id="{1CDFFFFC-8192-7919-7B13-5DC35374BC48}"/>
              </a:ext>
            </a:extLst>
          </p:cNvPr>
          <p:cNvGrpSpPr/>
          <p:nvPr/>
        </p:nvGrpSpPr>
        <p:grpSpPr>
          <a:xfrm>
            <a:off x="807621" y="1554888"/>
            <a:ext cx="4264646" cy="3867900"/>
            <a:chOff x="473795" y="2024060"/>
            <a:chExt cx="4264646" cy="3867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xmlns="" id="{765EBBE8-684D-00AF-53C1-01EFECAF7F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xmlns="" id="{2582792B-3C80-AD73-358C-054A3CBF463F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2582792B-3C80-AD73-358C-054A3CBF46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892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xmlns="" id="{8587B273-E9F7-096F-D0CE-D09C64803C0E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8587B273-E9F7-096F-D0CE-D09C64803C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51063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Agrupar 60">
            <a:extLst>
              <a:ext uri="{FF2B5EF4-FFF2-40B4-BE49-F238E27FC236}">
                <a16:creationId xmlns:a16="http://schemas.microsoft.com/office/drawing/2014/main" xmlns="" id="{6CEAC2DF-B2DD-68B2-0671-2F3740FD26B3}"/>
              </a:ext>
            </a:extLst>
          </p:cNvPr>
          <p:cNvGrpSpPr/>
          <p:nvPr/>
        </p:nvGrpSpPr>
        <p:grpSpPr>
          <a:xfrm>
            <a:off x="7035798" y="2673307"/>
            <a:ext cx="2807332" cy="3344798"/>
            <a:chOff x="7035798" y="2673307"/>
            <a:chExt cx="2807332" cy="3344798"/>
          </a:xfrm>
        </p:grpSpPr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xmlns="" id="{EA72D705-0EF8-C613-09E0-6BB9931A368C}"/>
                </a:ext>
              </a:extLst>
            </p:cNvPr>
            <p:cNvSpPr txBox="1"/>
            <p:nvPr/>
          </p:nvSpPr>
          <p:spPr>
            <a:xfrm>
              <a:off x="8095932" y="5494885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</a:p>
          </p:txBody>
        </p:sp>
        <p:sp>
          <p:nvSpPr>
            <p:cNvPr id="36" name="Forma Livre: Forma 35">
              <a:extLst>
                <a:ext uri="{FF2B5EF4-FFF2-40B4-BE49-F238E27FC236}">
                  <a16:creationId xmlns:a16="http://schemas.microsoft.com/office/drawing/2014/main" xmlns="" id="{590FFF82-676D-D681-F915-3BF433BA72B9}"/>
                </a:ext>
              </a:extLst>
            </p:cNvPr>
            <p:cNvSpPr/>
            <p:nvPr/>
          </p:nvSpPr>
          <p:spPr>
            <a:xfrm>
              <a:off x="7902576" y="3045814"/>
              <a:ext cx="1231900" cy="2445896"/>
            </a:xfrm>
            <a:custGeom>
              <a:avLst/>
              <a:gdLst>
                <a:gd name="connsiteX0" fmla="*/ 0 w 1231900"/>
                <a:gd name="connsiteY0" fmla="*/ 12700 h 2479930"/>
                <a:gd name="connsiteX1" fmla="*/ 330200 w 1231900"/>
                <a:gd name="connsiteY1" fmla="*/ 1905000 h 2479930"/>
                <a:gd name="connsiteX2" fmla="*/ 711200 w 1231900"/>
                <a:gd name="connsiteY2" fmla="*/ 2362200 h 2479930"/>
                <a:gd name="connsiteX3" fmla="*/ 1231900 w 1231900"/>
                <a:gd name="connsiteY3" fmla="*/ 0 h 2479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900" h="2479930">
                  <a:moveTo>
                    <a:pt x="0" y="12700"/>
                  </a:moveTo>
                  <a:cubicBezTo>
                    <a:pt x="105833" y="763058"/>
                    <a:pt x="211667" y="1513417"/>
                    <a:pt x="330200" y="1905000"/>
                  </a:cubicBezTo>
                  <a:cubicBezTo>
                    <a:pt x="448733" y="2296583"/>
                    <a:pt x="560917" y="2679700"/>
                    <a:pt x="711200" y="2362200"/>
                  </a:cubicBezTo>
                  <a:cubicBezTo>
                    <a:pt x="861483" y="2044700"/>
                    <a:pt x="1046691" y="1022350"/>
                    <a:pt x="1231900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xmlns="" id="{0AC9FBB3-9CBE-B1A7-4F17-7FC318B2661B}"/>
                </a:ext>
              </a:extLst>
            </p:cNvPr>
            <p:cNvSpPr txBox="1"/>
            <p:nvPr/>
          </p:nvSpPr>
          <p:spPr>
            <a:xfrm>
              <a:off x="7035798" y="2673307"/>
              <a:ext cx="28073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Função convexa</a:t>
              </a:r>
            </a:p>
          </p:txBody>
        </p:sp>
        <p:sp>
          <p:nvSpPr>
            <p:cNvPr id="38" name="Elipse 37">
              <a:extLst>
                <a:ext uri="{FF2B5EF4-FFF2-40B4-BE49-F238E27FC236}">
                  <a16:creationId xmlns:a16="http://schemas.microsoft.com/office/drawing/2014/main" xmlns="" id="{E99A0D4F-D3DE-4542-9DC1-713CD9CD66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02576" y="3333750"/>
              <a:ext cx="108000" cy="108000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40" name="Conector de Seta Reta 39">
              <a:extLst>
                <a:ext uri="{FF2B5EF4-FFF2-40B4-BE49-F238E27FC236}">
                  <a16:creationId xmlns:a16="http://schemas.microsoft.com/office/drawing/2014/main" xmlns="" id="{268DC808-05EA-47C5-59A3-5BE582AEE40C}"/>
                </a:ext>
              </a:extLst>
            </p:cNvPr>
            <p:cNvCxnSpPr>
              <a:cxnSpLocks/>
              <a:stCxn id="38" idx="5"/>
            </p:cNvCxnSpPr>
            <p:nvPr/>
          </p:nvCxnSpPr>
          <p:spPr>
            <a:xfrm>
              <a:off x="7994760" y="3425934"/>
              <a:ext cx="966360" cy="5517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de Seta Reta 42">
              <a:extLst>
                <a:ext uri="{FF2B5EF4-FFF2-40B4-BE49-F238E27FC236}">
                  <a16:creationId xmlns:a16="http://schemas.microsoft.com/office/drawing/2014/main" xmlns="" id="{54B06C74-6A21-4148-7BF2-2C1D825414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95932" y="3977640"/>
              <a:ext cx="865188" cy="3451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45">
              <a:extLst>
                <a:ext uri="{FF2B5EF4-FFF2-40B4-BE49-F238E27FC236}">
                  <a16:creationId xmlns:a16="http://schemas.microsoft.com/office/drawing/2014/main" xmlns="" id="{5F4704E7-C159-A4FC-6960-FB9661291A3A}"/>
                </a:ext>
              </a:extLst>
            </p:cNvPr>
            <p:cNvCxnSpPr/>
            <p:nvPr/>
          </p:nvCxnSpPr>
          <p:spPr>
            <a:xfrm>
              <a:off x="8095932" y="4322762"/>
              <a:ext cx="698024" cy="38020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47">
              <a:extLst>
                <a:ext uri="{FF2B5EF4-FFF2-40B4-BE49-F238E27FC236}">
                  <a16:creationId xmlns:a16="http://schemas.microsoft.com/office/drawing/2014/main" xmlns="" id="{15175306-3E90-44C5-192A-D58AF95893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01038" y="4702969"/>
              <a:ext cx="492918" cy="4071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de Seta Reta 50">
              <a:extLst>
                <a:ext uri="{FF2B5EF4-FFF2-40B4-BE49-F238E27FC236}">
                  <a16:creationId xmlns:a16="http://schemas.microsoft.com/office/drawing/2014/main" xmlns="" id="{74EFD59A-8088-3819-D8BF-E1FB71EC3534}"/>
                </a:ext>
              </a:extLst>
            </p:cNvPr>
            <p:cNvCxnSpPr>
              <a:cxnSpLocks/>
              <a:endCxn id="36" idx="2"/>
            </p:cNvCxnSpPr>
            <p:nvPr/>
          </p:nvCxnSpPr>
          <p:spPr>
            <a:xfrm>
              <a:off x="8301038" y="5110163"/>
              <a:ext cx="312738" cy="265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de Seta Reta 53">
              <a:extLst>
                <a:ext uri="{FF2B5EF4-FFF2-40B4-BE49-F238E27FC236}">
                  <a16:creationId xmlns:a16="http://schemas.microsoft.com/office/drawing/2014/main" xmlns="" id="{368CEE90-AF05-B68A-9AF1-E561244441D9}"/>
                </a:ext>
              </a:extLst>
            </p:cNvPr>
            <p:cNvCxnSpPr>
              <a:stCxn id="36" idx="2"/>
            </p:cNvCxnSpPr>
            <p:nvPr/>
          </p:nvCxnSpPr>
          <p:spPr>
            <a:xfrm flipH="1">
              <a:off x="8500743" y="5375596"/>
              <a:ext cx="113033" cy="1002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xmlns="" id="{9BD6F2B2-EF59-EDF9-5760-B302D8261D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46743" y="5421835"/>
              <a:ext cx="108000" cy="108000"/>
            </a:xfrm>
            <a:prstGeom prst="ellips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6" name="CaixaDeTexto 55">
              <a:extLst>
                <a:ext uri="{FF2B5EF4-FFF2-40B4-BE49-F238E27FC236}">
                  <a16:creationId xmlns:a16="http://schemas.microsoft.com/office/drawing/2014/main" xmlns="" id="{14639DB3-164D-627C-10FA-733E09CE5815}"/>
                </a:ext>
              </a:extLst>
            </p:cNvPr>
            <p:cNvSpPr txBox="1"/>
            <p:nvPr/>
          </p:nvSpPr>
          <p:spPr>
            <a:xfrm>
              <a:off x="7784781" y="3121067"/>
              <a:ext cx="11169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/>
                <a:t>Ponto inicial</a:t>
              </a:r>
            </a:p>
          </p:txBody>
        </p:sp>
        <p:cxnSp>
          <p:nvCxnSpPr>
            <p:cNvPr id="57" name="Conector de Seta Reta 56">
              <a:extLst>
                <a:ext uri="{FF2B5EF4-FFF2-40B4-BE49-F238E27FC236}">
                  <a16:creationId xmlns:a16="http://schemas.microsoft.com/office/drawing/2014/main" xmlns="" id="{94925ACA-115F-DE91-11EB-4AD2666E8A40}"/>
                </a:ext>
              </a:extLst>
            </p:cNvPr>
            <p:cNvCxnSpPr/>
            <p:nvPr/>
          </p:nvCxnSpPr>
          <p:spPr>
            <a:xfrm>
              <a:off x="7384891" y="3355232"/>
              <a:ext cx="0" cy="214947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CaixaDeTexto 57">
              <a:extLst>
                <a:ext uri="{FF2B5EF4-FFF2-40B4-BE49-F238E27FC236}">
                  <a16:creationId xmlns:a16="http://schemas.microsoft.com/office/drawing/2014/main" xmlns="" id="{6802C94E-EB66-25FA-0BC0-E6FFF8B88DAF}"/>
                </a:ext>
              </a:extLst>
            </p:cNvPr>
            <p:cNvSpPr txBox="1"/>
            <p:nvPr/>
          </p:nvSpPr>
          <p:spPr>
            <a:xfrm>
              <a:off x="7356316" y="5031632"/>
              <a:ext cx="5905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Erro</a:t>
              </a:r>
            </a:p>
          </p:txBody>
        </p:sp>
      </p:grpSp>
      <p:grpSp>
        <p:nvGrpSpPr>
          <p:cNvPr id="62" name="Agrupar 61">
            <a:extLst>
              <a:ext uri="{FF2B5EF4-FFF2-40B4-BE49-F238E27FC236}">
                <a16:creationId xmlns:a16="http://schemas.microsoft.com/office/drawing/2014/main" xmlns="" id="{9FD7C786-F446-482E-E3DD-BAAEF25E5EB3}"/>
              </a:ext>
            </a:extLst>
          </p:cNvPr>
          <p:cNvGrpSpPr/>
          <p:nvPr/>
        </p:nvGrpSpPr>
        <p:grpSpPr>
          <a:xfrm>
            <a:off x="2847975" y="2490528"/>
            <a:ext cx="3066413" cy="3445623"/>
            <a:chOff x="2847975" y="2490528"/>
            <a:chExt cx="3066413" cy="3445623"/>
          </a:xfrm>
        </p:grpSpPr>
        <p:sp>
          <p:nvSpPr>
            <p:cNvPr id="11" name="Forma Livre: Forma 10">
              <a:extLst>
                <a:ext uri="{FF2B5EF4-FFF2-40B4-BE49-F238E27FC236}">
                  <a16:creationId xmlns:a16="http://schemas.microsoft.com/office/drawing/2014/main" xmlns="" id="{F50B53DF-4C4E-4C85-8BAE-C98DF42162DA}"/>
                </a:ext>
              </a:extLst>
            </p:cNvPr>
            <p:cNvSpPr/>
            <p:nvPr/>
          </p:nvSpPr>
          <p:spPr>
            <a:xfrm>
              <a:off x="3352800" y="2951604"/>
              <a:ext cx="2238375" cy="2445896"/>
            </a:xfrm>
            <a:custGeom>
              <a:avLst/>
              <a:gdLst>
                <a:gd name="connsiteX0" fmla="*/ 0 w 2238375"/>
                <a:gd name="connsiteY0" fmla="*/ 0 h 2445896"/>
                <a:gd name="connsiteX1" fmla="*/ 180975 w 2238375"/>
                <a:gd name="connsiteY1" fmla="*/ 1390650 h 2445896"/>
                <a:gd name="connsiteX2" fmla="*/ 561975 w 2238375"/>
                <a:gd name="connsiteY2" fmla="*/ 76200 h 2445896"/>
                <a:gd name="connsiteX3" fmla="*/ 990600 w 2238375"/>
                <a:gd name="connsiteY3" fmla="*/ 2428875 h 2445896"/>
                <a:gd name="connsiteX4" fmla="*/ 1381125 w 2238375"/>
                <a:gd name="connsiteY4" fmla="*/ 1085850 h 2445896"/>
                <a:gd name="connsiteX5" fmla="*/ 1600200 w 2238375"/>
                <a:gd name="connsiteY5" fmla="*/ 114300 h 2445896"/>
                <a:gd name="connsiteX6" fmla="*/ 1866900 w 2238375"/>
                <a:gd name="connsiteY6" fmla="*/ 828675 h 2445896"/>
                <a:gd name="connsiteX7" fmla="*/ 2238375 w 2238375"/>
                <a:gd name="connsiteY7" fmla="*/ 247650 h 2445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38375" h="2445896">
                  <a:moveTo>
                    <a:pt x="0" y="0"/>
                  </a:moveTo>
                  <a:cubicBezTo>
                    <a:pt x="43656" y="688975"/>
                    <a:pt x="87313" y="1377950"/>
                    <a:pt x="180975" y="1390650"/>
                  </a:cubicBezTo>
                  <a:cubicBezTo>
                    <a:pt x="274637" y="1403350"/>
                    <a:pt x="427038" y="-96837"/>
                    <a:pt x="561975" y="76200"/>
                  </a:cubicBezTo>
                  <a:cubicBezTo>
                    <a:pt x="696912" y="249237"/>
                    <a:pt x="854075" y="2260600"/>
                    <a:pt x="990600" y="2428875"/>
                  </a:cubicBezTo>
                  <a:cubicBezTo>
                    <a:pt x="1127125" y="2597150"/>
                    <a:pt x="1279525" y="1471612"/>
                    <a:pt x="1381125" y="1085850"/>
                  </a:cubicBezTo>
                  <a:cubicBezTo>
                    <a:pt x="1482725" y="700088"/>
                    <a:pt x="1519238" y="157162"/>
                    <a:pt x="1600200" y="114300"/>
                  </a:cubicBezTo>
                  <a:cubicBezTo>
                    <a:pt x="1681162" y="71438"/>
                    <a:pt x="1760538" y="806450"/>
                    <a:pt x="1866900" y="828675"/>
                  </a:cubicBezTo>
                  <a:cubicBezTo>
                    <a:pt x="1973263" y="850900"/>
                    <a:pt x="2105819" y="549275"/>
                    <a:pt x="2238375" y="24765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xmlns="" id="{3110A252-5626-CF16-70EC-599A5D7930AA}"/>
                </a:ext>
              </a:extLst>
            </p:cNvPr>
            <p:cNvCxnSpPr/>
            <p:nvPr/>
          </p:nvCxnSpPr>
          <p:spPr>
            <a:xfrm>
              <a:off x="2876550" y="3248025"/>
              <a:ext cx="0" cy="214947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xmlns="" id="{19B38D1F-C032-C6E3-3F1A-254B72F09363}"/>
                </a:ext>
              </a:extLst>
            </p:cNvPr>
            <p:cNvSpPr txBox="1"/>
            <p:nvPr/>
          </p:nvSpPr>
          <p:spPr>
            <a:xfrm>
              <a:off x="2847975" y="4924425"/>
              <a:ext cx="5905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Erro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xmlns="" id="{A48B195D-3235-843C-F6C1-5B05456E9673}"/>
                </a:ext>
              </a:extLst>
            </p:cNvPr>
            <p:cNvSpPr txBox="1"/>
            <p:nvPr/>
          </p:nvSpPr>
          <p:spPr>
            <a:xfrm>
              <a:off x="3143250" y="4322762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</a:p>
          </p:txBody>
        </p:sp>
        <p:sp>
          <p:nvSpPr>
            <p:cNvPr id="16" name="Elipse 15">
              <a:extLst>
                <a:ext uri="{FF2B5EF4-FFF2-40B4-BE49-F238E27FC236}">
                  <a16:creationId xmlns:a16="http://schemas.microsoft.com/office/drawing/2014/main" xmlns="" id="{ECC6E25F-D6BE-42F1-A04F-F11D5EE26B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75011" y="4268762"/>
              <a:ext cx="108000" cy="10800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xmlns="" id="{9C45849C-28CE-A26B-8688-8B82CEE63DDA}"/>
                </a:ext>
              </a:extLst>
            </p:cNvPr>
            <p:cNvSpPr txBox="1"/>
            <p:nvPr/>
          </p:nvSpPr>
          <p:spPr>
            <a:xfrm>
              <a:off x="4864734" y="3853542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xmlns="" id="{447D6D01-88F2-02AB-7D57-46450311E923}"/>
                </a:ext>
              </a:extLst>
            </p:cNvPr>
            <p:cNvSpPr txBox="1"/>
            <p:nvPr/>
          </p:nvSpPr>
          <p:spPr>
            <a:xfrm>
              <a:off x="3068321" y="2490528"/>
              <a:ext cx="28073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Função não-convexa</a:t>
              </a:r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xmlns="" id="{4468B11C-AD95-31BE-84A6-2C5E405212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57322" y="3067470"/>
              <a:ext cx="108000" cy="108000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xmlns="" id="{A4A070D0-9E61-C019-24E6-2177E7BA5DA1}"/>
                </a:ext>
              </a:extLst>
            </p:cNvPr>
            <p:cNvCxnSpPr>
              <a:stCxn id="22" idx="6"/>
            </p:cNvCxnSpPr>
            <p:nvPr/>
          </p:nvCxnSpPr>
          <p:spPr>
            <a:xfrm>
              <a:off x="5065322" y="3121470"/>
              <a:ext cx="465528" cy="2122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33">
              <a:extLst>
                <a:ext uri="{FF2B5EF4-FFF2-40B4-BE49-F238E27FC236}">
                  <a16:creationId xmlns:a16="http://schemas.microsoft.com/office/drawing/2014/main" xmlns="" id="{015CC9DE-4883-B304-6D06-0B1612F8A32D}"/>
                </a:ext>
              </a:extLst>
            </p:cNvPr>
            <p:cNvCxnSpPr>
              <a:endCxn id="11" idx="6"/>
            </p:cNvCxnSpPr>
            <p:nvPr/>
          </p:nvCxnSpPr>
          <p:spPr>
            <a:xfrm flipH="1">
              <a:off x="5219700" y="3631746"/>
              <a:ext cx="154781" cy="1485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27">
              <a:extLst>
                <a:ext uri="{FF2B5EF4-FFF2-40B4-BE49-F238E27FC236}">
                  <a16:creationId xmlns:a16="http://schemas.microsoft.com/office/drawing/2014/main" xmlns="" id="{C604F759-E9F0-FD37-8241-90A347156F15}"/>
                </a:ext>
              </a:extLst>
            </p:cNvPr>
            <p:cNvCxnSpPr/>
            <p:nvPr/>
          </p:nvCxnSpPr>
          <p:spPr>
            <a:xfrm flipH="1">
              <a:off x="5118100" y="3333750"/>
              <a:ext cx="412750" cy="1968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29">
              <a:extLst>
                <a:ext uri="{FF2B5EF4-FFF2-40B4-BE49-F238E27FC236}">
                  <a16:creationId xmlns:a16="http://schemas.microsoft.com/office/drawing/2014/main" xmlns="" id="{6E17B7D1-6C0D-395B-4209-354CCFD369BF}"/>
                </a:ext>
              </a:extLst>
            </p:cNvPr>
            <p:cNvCxnSpPr>
              <a:cxnSpLocks/>
            </p:cNvCxnSpPr>
            <p:nvPr/>
          </p:nvCxnSpPr>
          <p:spPr>
            <a:xfrm>
              <a:off x="5118100" y="3530600"/>
              <a:ext cx="256381" cy="1011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xmlns="" id="{D11EC075-B561-04E9-D79A-021ECD68D8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75836" y="3712201"/>
              <a:ext cx="108000" cy="10800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xmlns="" id="{0DCEEA60-A93D-F00F-E769-1B2D8B95C7F2}"/>
                </a:ext>
              </a:extLst>
            </p:cNvPr>
            <p:cNvSpPr txBox="1"/>
            <p:nvPr/>
          </p:nvSpPr>
          <p:spPr>
            <a:xfrm>
              <a:off x="4797423" y="2867249"/>
              <a:ext cx="11169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/>
                <a:t>Ponto inicial</a:t>
              </a:r>
            </a:p>
          </p:txBody>
        </p:sp>
        <p:sp>
          <p:nvSpPr>
            <p:cNvPr id="59" name="CaixaDeTexto 58">
              <a:extLst>
                <a:ext uri="{FF2B5EF4-FFF2-40B4-BE49-F238E27FC236}">
                  <a16:creationId xmlns:a16="http://schemas.microsoft.com/office/drawing/2014/main" xmlns="" id="{6440C131-E34D-0D14-1FAD-DA7EA59843C4}"/>
                </a:ext>
              </a:extLst>
            </p:cNvPr>
            <p:cNvSpPr txBox="1"/>
            <p:nvPr/>
          </p:nvSpPr>
          <p:spPr>
            <a:xfrm>
              <a:off x="3968352" y="5412931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</a:p>
          </p:txBody>
        </p:sp>
        <p:sp>
          <p:nvSpPr>
            <p:cNvPr id="60" name="Elipse 59">
              <a:extLst>
                <a:ext uri="{FF2B5EF4-FFF2-40B4-BE49-F238E27FC236}">
                  <a16:creationId xmlns:a16="http://schemas.microsoft.com/office/drawing/2014/main" xmlns="" id="{72C876E0-617F-E784-133E-C4A36B7003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19163" y="5339881"/>
              <a:ext cx="108000" cy="108000"/>
            </a:xfrm>
            <a:prstGeom prst="ellips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27097020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Agrupar 17">
            <a:extLst>
              <a:ext uri="{FF2B5EF4-FFF2-40B4-BE49-F238E27FC236}">
                <a16:creationId xmlns:a16="http://schemas.microsoft.com/office/drawing/2014/main" xmlns="" id="{DE488369-EF19-AF97-4E17-223811263C1D}"/>
              </a:ext>
            </a:extLst>
          </p:cNvPr>
          <p:cNvGrpSpPr/>
          <p:nvPr/>
        </p:nvGrpSpPr>
        <p:grpSpPr>
          <a:xfrm>
            <a:off x="2346234" y="2318922"/>
            <a:ext cx="5693524" cy="2737494"/>
            <a:chOff x="2346234" y="2318922"/>
            <a:chExt cx="5693524" cy="2737494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xmlns="" id="{CB640DC1-DCCB-99CE-3E59-771E8A71C833}"/>
                </a:ext>
              </a:extLst>
            </p:cNvPr>
            <p:cNvSpPr/>
            <p:nvPr/>
          </p:nvSpPr>
          <p:spPr>
            <a:xfrm>
              <a:off x="3270814" y="3267930"/>
              <a:ext cx="2011680" cy="126274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Modelo de ML</a:t>
              </a:r>
            </a:p>
            <a:p>
              <a:pPr algn="ctr"/>
              <a:r>
                <a:rPr lang="pt-BR" dirty="0">
                  <a:solidFill>
                    <a:schemeClr val="tx1"/>
                  </a:solidFill>
                </a:rPr>
                <a:t>(Classificador)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Seta para a direita 5">
              <a:extLst>
                <a:ext uri="{FF2B5EF4-FFF2-40B4-BE49-F238E27FC236}">
                  <a16:creationId xmlns:a16="http://schemas.microsoft.com/office/drawing/2014/main" xmlns="" id="{398E6E68-724F-5BE1-3FA9-091D5FB4A763}"/>
                </a:ext>
              </a:extLst>
            </p:cNvPr>
            <p:cNvSpPr/>
            <p:nvPr/>
          </p:nvSpPr>
          <p:spPr>
            <a:xfrm>
              <a:off x="2870220" y="3699004"/>
              <a:ext cx="400594" cy="400594"/>
            </a:xfrm>
            <a:prstGeom prst="rightArrow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tângulo 5">
                  <a:extLst>
                    <a:ext uri="{FF2B5EF4-FFF2-40B4-BE49-F238E27FC236}">
                      <a16:creationId xmlns:a16="http://schemas.microsoft.com/office/drawing/2014/main" xmlns="" id="{41C5A256-595F-AFD4-A935-D2A97C56BAD5}"/>
                    </a:ext>
                  </a:extLst>
                </p:cNvPr>
                <p:cNvSpPr/>
                <p:nvPr/>
              </p:nvSpPr>
              <p:spPr>
                <a:xfrm>
                  <a:off x="2346234" y="3637691"/>
                  <a:ext cx="473206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Retângulo 5">
                  <a:extLst>
                    <a:ext uri="{FF2B5EF4-FFF2-40B4-BE49-F238E27FC236}">
                      <a16:creationId xmlns:a16="http://schemas.microsoft.com/office/drawing/2014/main" id="{41C5A256-595F-AFD4-A935-D2A97C56BA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6234" y="3637691"/>
                  <a:ext cx="473206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tângulo 6">
                  <a:extLst>
                    <a:ext uri="{FF2B5EF4-FFF2-40B4-BE49-F238E27FC236}">
                      <a16:creationId xmlns:a16="http://schemas.microsoft.com/office/drawing/2014/main" xmlns="" id="{71CF5D8B-46C6-92AE-3002-AC862F80F2AB}"/>
                    </a:ext>
                  </a:extLst>
                </p:cNvPr>
                <p:cNvSpPr/>
                <p:nvPr/>
              </p:nvSpPr>
              <p:spPr>
                <a:xfrm>
                  <a:off x="5251272" y="3791050"/>
                  <a:ext cx="1111651" cy="5618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𝑝𝑟𝑒𝑑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Retângulo 6">
                  <a:extLst>
                    <a:ext uri="{FF2B5EF4-FFF2-40B4-BE49-F238E27FC236}">
                      <a16:creationId xmlns:a16="http://schemas.microsoft.com/office/drawing/2014/main" id="{71CF5D8B-46C6-92AE-3002-AC862F80F2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272" y="3791050"/>
                  <a:ext cx="1111651" cy="5618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tângulo 7">
                  <a:extLst>
                    <a:ext uri="{FF2B5EF4-FFF2-40B4-BE49-F238E27FC236}">
                      <a16:creationId xmlns:a16="http://schemas.microsoft.com/office/drawing/2014/main" xmlns="" id="{016E1322-6FEE-937B-4FF1-EF9D725EA79A}"/>
                    </a:ext>
                  </a:extLst>
                </p:cNvPr>
                <p:cNvSpPr/>
                <p:nvPr/>
              </p:nvSpPr>
              <p:spPr>
                <a:xfrm>
                  <a:off x="5683088" y="2741368"/>
                  <a:ext cx="1678793" cy="55643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𝑒𝑠𝑝𝑒𝑟𝑎𝑑𝑜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8" name="Retângulo 7">
                  <a:extLst>
                    <a:ext uri="{FF2B5EF4-FFF2-40B4-BE49-F238E27FC236}">
                      <a16:creationId xmlns:a16="http://schemas.microsoft.com/office/drawing/2014/main" id="{016E1322-6FEE-937B-4FF1-EF9D725EA7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3088" y="2741368"/>
                  <a:ext cx="1678793" cy="55643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Elipse 8">
              <a:extLst>
                <a:ext uri="{FF2B5EF4-FFF2-40B4-BE49-F238E27FC236}">
                  <a16:creationId xmlns:a16="http://schemas.microsoft.com/office/drawing/2014/main" xmlns="" id="{760BFAE9-F85F-851A-B468-D1E93E418B85}"/>
                </a:ext>
              </a:extLst>
            </p:cNvPr>
            <p:cNvSpPr/>
            <p:nvPr/>
          </p:nvSpPr>
          <p:spPr>
            <a:xfrm>
              <a:off x="6293221" y="3659364"/>
              <a:ext cx="468000" cy="468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Menos 15">
              <a:extLst>
                <a:ext uri="{FF2B5EF4-FFF2-40B4-BE49-F238E27FC236}">
                  <a16:creationId xmlns:a16="http://schemas.microsoft.com/office/drawing/2014/main" xmlns="" id="{C1C8DA0D-D1D3-9C44-24D6-E78BD02C46F6}"/>
                </a:ext>
              </a:extLst>
            </p:cNvPr>
            <p:cNvSpPr/>
            <p:nvPr/>
          </p:nvSpPr>
          <p:spPr>
            <a:xfrm>
              <a:off x="6362923" y="3755294"/>
              <a:ext cx="328311" cy="276139"/>
            </a:xfrm>
            <a:prstGeom prst="mathMinus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xmlns="" id="{582A56EA-DFC0-4636-952F-009E32718CD3}"/>
                    </a:ext>
                  </a:extLst>
                </p:cNvPr>
                <p:cNvSpPr/>
                <p:nvPr/>
              </p:nvSpPr>
              <p:spPr>
                <a:xfrm>
                  <a:off x="7053719" y="3588482"/>
                  <a:ext cx="986039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𝑒𝑟𝑟𝑜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582A56EA-DFC0-4636-952F-009E32718C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3719" y="3588482"/>
                  <a:ext cx="986039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Conector de seta reta 19">
              <a:extLst>
                <a:ext uri="{FF2B5EF4-FFF2-40B4-BE49-F238E27FC236}">
                  <a16:creationId xmlns:a16="http://schemas.microsoft.com/office/drawing/2014/main" xmlns="" id="{93B7DFD1-5FDB-2587-24E3-5F9E0162D492}"/>
                </a:ext>
              </a:extLst>
            </p:cNvPr>
            <p:cNvCxnSpPr>
              <a:stCxn id="4" idx="3"/>
              <a:endCxn id="9" idx="2"/>
            </p:cNvCxnSpPr>
            <p:nvPr/>
          </p:nvCxnSpPr>
          <p:spPr>
            <a:xfrm flipV="1">
              <a:off x="5282494" y="3893364"/>
              <a:ext cx="1010727" cy="59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21">
              <a:extLst>
                <a:ext uri="{FF2B5EF4-FFF2-40B4-BE49-F238E27FC236}">
                  <a16:creationId xmlns:a16="http://schemas.microsoft.com/office/drawing/2014/main" xmlns="" id="{3D11B567-84E7-184B-36AE-259EC8626055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>
              <a:off x="6522485" y="3297802"/>
              <a:ext cx="4736" cy="3615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26">
              <a:extLst>
                <a:ext uri="{FF2B5EF4-FFF2-40B4-BE49-F238E27FC236}">
                  <a16:creationId xmlns:a16="http://schemas.microsoft.com/office/drawing/2014/main" xmlns="" id="{E3839A91-81B0-72AE-34E5-7024208DBA98}"/>
                </a:ext>
              </a:extLst>
            </p:cNvPr>
            <p:cNvCxnSpPr/>
            <p:nvPr/>
          </p:nvCxnSpPr>
          <p:spPr>
            <a:xfrm flipV="1">
              <a:off x="6783119" y="3893364"/>
              <a:ext cx="36000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angulado 33">
              <a:extLst>
                <a:ext uri="{FF2B5EF4-FFF2-40B4-BE49-F238E27FC236}">
                  <a16:creationId xmlns:a16="http://schemas.microsoft.com/office/drawing/2014/main" xmlns="" id="{48A6F896-3C33-7CDE-B70E-F3D62AFEFBB1}"/>
                </a:ext>
              </a:extLst>
            </p:cNvPr>
            <p:cNvCxnSpPr>
              <a:stCxn id="11" idx="2"/>
            </p:cNvCxnSpPr>
            <p:nvPr/>
          </p:nvCxnSpPr>
          <p:spPr>
            <a:xfrm rot="5400000">
              <a:off x="5121830" y="2631507"/>
              <a:ext cx="944715" cy="3905104"/>
            </a:xfrm>
            <a:prstGeom prst="bentConnector2">
              <a:avLst/>
            </a:prstGeom>
            <a:ln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35">
              <a:extLst>
                <a:ext uri="{FF2B5EF4-FFF2-40B4-BE49-F238E27FC236}">
                  <a16:creationId xmlns:a16="http://schemas.microsoft.com/office/drawing/2014/main" xmlns="" id="{70A3AF85-7599-B974-D767-012AFE57CECE}"/>
                </a:ext>
              </a:extLst>
            </p:cNvPr>
            <p:cNvCxnSpPr/>
            <p:nvPr/>
          </p:nvCxnSpPr>
          <p:spPr>
            <a:xfrm flipV="1">
              <a:off x="3630040" y="2659653"/>
              <a:ext cx="1478069" cy="239345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xmlns="" id="{F8D87169-5EA8-88FE-EE40-3345C2819C33}"/>
                </a:ext>
              </a:extLst>
            </p:cNvPr>
            <p:cNvSpPr/>
            <p:nvPr/>
          </p:nvSpPr>
          <p:spPr>
            <a:xfrm>
              <a:off x="4369074" y="2318922"/>
              <a:ext cx="1510222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2000"/>
                <a:t>Treinamento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368807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11371</TotalTime>
  <Words>3643</Words>
  <Application>Microsoft Office PowerPoint</Application>
  <PresentationFormat>Widescreen</PresentationFormat>
  <Paragraphs>462</Paragraphs>
  <Slides>43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43</vt:i4>
      </vt:variant>
    </vt:vector>
  </HeadingPairs>
  <TitlesOfParts>
    <vt:vector size="51" baseType="lpstr">
      <vt:lpstr>Arial</vt:lpstr>
      <vt:lpstr>Calibri</vt:lpstr>
      <vt:lpstr>Calibri Light</vt:lpstr>
      <vt:lpstr>Calibri-Bold</vt:lpstr>
      <vt:lpstr>Cambria Math</vt:lpstr>
      <vt:lpstr>Söhne</vt:lpstr>
      <vt:lpstr>Wingdings</vt:lpstr>
      <vt:lpstr>Tema do Office</vt:lpstr>
      <vt:lpstr>T320 - Introdução ao Aprendizado de Máquina II: Classificação (Parte III)</vt:lpstr>
      <vt:lpstr>Recapitulando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Regressão logística</vt:lpstr>
      <vt:lpstr>Regressão logística</vt:lpstr>
      <vt:lpstr>Propriedades da regressão logística</vt:lpstr>
      <vt:lpstr>Função de erro</vt:lpstr>
      <vt:lpstr>Função de erro</vt:lpstr>
      <vt:lpstr>Função de erro</vt:lpstr>
      <vt:lpstr>Função de erro</vt:lpstr>
      <vt:lpstr>Função de erro</vt:lpstr>
      <vt:lpstr>Função de erro</vt:lpstr>
      <vt:lpstr>Função de erro</vt:lpstr>
      <vt:lpstr>Processo de treinamento</vt:lpstr>
      <vt:lpstr>Processo de treinamento</vt:lpstr>
      <vt:lpstr>Vetor gradiente</vt:lpstr>
      <vt:lpstr>Vetor gradiente</vt:lpstr>
      <vt:lpstr>Vetor gradiente</vt:lpstr>
      <vt:lpstr>Vetor gradiente</vt:lpstr>
      <vt:lpstr>Subajuste e sobreajuste</vt:lpstr>
      <vt:lpstr>Subajuste e sobreajuste</vt:lpstr>
      <vt:lpstr>Subajuste e sobreajuste</vt:lpstr>
      <vt:lpstr>Subajuste e sobreajuste</vt:lpstr>
      <vt:lpstr>Apresentação do PowerPoint</vt:lpstr>
      <vt:lpstr>Como evitamos o subajuste e sobreajuste?</vt:lpstr>
      <vt:lpstr>Como evitamos o subajuste e sobreajuste?</vt:lpstr>
      <vt:lpstr>Tarefas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1942</cp:revision>
  <dcterms:created xsi:type="dcterms:W3CDTF">2020-01-20T13:50:05Z</dcterms:created>
  <dcterms:modified xsi:type="dcterms:W3CDTF">2026-03-14T01:38:51Z</dcterms:modified>
</cp:coreProperties>
</file>