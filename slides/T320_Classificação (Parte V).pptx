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256" r:id="rId2"/>
    <p:sldId id="336" r:id="rId3"/>
    <p:sldId id="337" r:id="rId4"/>
    <p:sldId id="456" r:id="rId5"/>
    <p:sldId id="473" r:id="rId6"/>
    <p:sldId id="458" r:id="rId7"/>
    <p:sldId id="459" r:id="rId8"/>
    <p:sldId id="461" r:id="rId9"/>
    <p:sldId id="468" r:id="rId10"/>
    <p:sldId id="465" r:id="rId11"/>
    <p:sldId id="466" r:id="rId12"/>
    <p:sldId id="474" r:id="rId13"/>
    <p:sldId id="491" r:id="rId14"/>
    <p:sldId id="493" r:id="rId15"/>
    <p:sldId id="494" r:id="rId16"/>
    <p:sldId id="495" r:id="rId17"/>
    <p:sldId id="496" r:id="rId18"/>
    <p:sldId id="469" r:id="rId19"/>
    <p:sldId id="488" r:id="rId20"/>
    <p:sldId id="475" r:id="rId21"/>
    <p:sldId id="472" r:id="rId22"/>
    <p:sldId id="484" r:id="rId23"/>
    <p:sldId id="497" r:id="rId24"/>
    <p:sldId id="498" r:id="rId25"/>
    <p:sldId id="499" r:id="rId26"/>
    <p:sldId id="500" r:id="rId27"/>
    <p:sldId id="501" r:id="rId28"/>
    <p:sldId id="476" r:id="rId29"/>
    <p:sldId id="489" r:id="rId30"/>
    <p:sldId id="478" r:id="rId31"/>
    <p:sldId id="490" r:id="rId32"/>
    <p:sldId id="470" r:id="rId33"/>
    <p:sldId id="480" r:id="rId34"/>
    <p:sldId id="479" r:id="rId35"/>
    <p:sldId id="487" r:id="rId36"/>
    <p:sldId id="482" r:id="rId37"/>
    <p:sldId id="324" r:id="rId38"/>
    <p:sldId id="306" r:id="rId39"/>
    <p:sldId id="352" r:id="rId40"/>
    <p:sldId id="370" r:id="rId41"/>
    <p:sldId id="351" r:id="rId42"/>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59" autoAdjust="0"/>
    <p:restoredTop sz="76601" autoAdjust="0"/>
  </p:normalViewPr>
  <p:slideViewPr>
    <p:cSldViewPr snapToGrid="0">
      <p:cViewPr varScale="1">
        <p:scale>
          <a:sx n="56" d="100"/>
          <a:sy n="56" d="100"/>
        </p:scale>
        <p:origin x="1212" y="72"/>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18/09/2026</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‹nº›</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18/09/2026</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‹nº›</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joparga3.github.io/standford_logistic_regression/#what-is-logistic-regression"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joparga3.github.io/standford_logistic_regression/#what-is-logistic-regression"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joparga3.github.io/standford_logistic_regression/#what-is-logistic-regression"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joparga3.github.io/standford_logistic_regression/#what-is-logistic-regression"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Uma matriz de confusão, também conhecida como tabela de contingência ou matriz de erros, é um layout de tabela específico que permite a visualização do desempenho de um classificador.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Cada linha da matriz representa os</a:t>
            </a:r>
            <a:r>
              <a:rPr lang="pt-BR" baseline="0" dirty="0"/>
              <a:t> exemplos que foram classificados como pertencentes a uma dada </a:t>
            </a:r>
            <a:r>
              <a:rPr lang="pt-BR" dirty="0"/>
              <a:t>classe, enquanto cada coluna representa os exemplos</a:t>
            </a:r>
            <a:r>
              <a:rPr lang="pt-BR" baseline="0" dirty="0"/>
              <a:t> realmente pertencentes a </a:t>
            </a:r>
            <a:r>
              <a:rPr lang="pt-BR" dirty="0"/>
              <a:t>uma dada classe.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nome, matriz de confusão, deriva do fato de tornar fácil verificar se o classificador está confundindo classes (ou seja, geralmente rotulando incorretamente uma como a outra).</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a:t>
            </a:fld>
            <a:endParaRPr lang="pt-BR"/>
          </a:p>
        </p:txBody>
      </p:sp>
    </p:spTree>
    <p:extLst>
      <p:ext uri="{BB962C8B-B14F-4D97-AF65-F5344CB8AC3E}">
        <p14:creationId xmlns:p14="http://schemas.microsoft.com/office/powerpoint/2010/main" val="1125384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Uma matriz de confusão, também conhecida como tabela de contingência ou matriz de erros, é um layout de tabela específico que permite a visualização do desempenho de um classificador.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Cada linha da matriz representa os</a:t>
            </a:r>
            <a:r>
              <a:rPr lang="pt-BR" baseline="0" dirty="0"/>
              <a:t> exemplos que foram classificados como pertencentes a uma dada </a:t>
            </a:r>
            <a:r>
              <a:rPr lang="pt-BR" dirty="0"/>
              <a:t>classe, enquanto cada coluna representa os exemplos</a:t>
            </a:r>
            <a:r>
              <a:rPr lang="pt-BR" baseline="0" dirty="0"/>
              <a:t> realmente pertencentes a </a:t>
            </a:r>
            <a:r>
              <a:rPr lang="pt-BR" dirty="0"/>
              <a:t>uma dada classe.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nome, matriz de confusão, deriva do fato de tornar fácil verificar se o classificador está confundindo classes (ou seja, geralmente rotulando incorretamente uma como a outra).</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a:t>
            </a:fld>
            <a:endParaRPr lang="pt-BR"/>
          </a:p>
        </p:txBody>
      </p:sp>
    </p:spTree>
    <p:extLst>
      <p:ext uri="{BB962C8B-B14F-4D97-AF65-F5344CB8AC3E}">
        <p14:creationId xmlns:p14="http://schemas.microsoft.com/office/powerpoint/2010/main" val="3217873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Uma matriz de confusão, também conhecida como tabela de contingência ou matriz de erros, é um layout de tabela específico que permite a visualização do desempenho de um classificador.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Cada linha da matriz representa os</a:t>
            </a:r>
            <a:r>
              <a:rPr lang="pt-BR" baseline="0" dirty="0"/>
              <a:t> exemplos que foram classificados como pertencentes a uma dada </a:t>
            </a:r>
            <a:r>
              <a:rPr lang="pt-BR" dirty="0"/>
              <a:t>classe, enquanto cada coluna representa os exemplos</a:t>
            </a:r>
            <a:r>
              <a:rPr lang="pt-BR" baseline="0" dirty="0"/>
              <a:t> realmente pertencentes a </a:t>
            </a:r>
            <a:r>
              <a:rPr lang="pt-BR" dirty="0"/>
              <a:t>uma dada classe.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nome, matriz de confusão, deriva do fato de tornar fácil verificar se o classificador está confundindo classes (ou seja, geralmente rotulando incorretamente uma como a outra).</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a:t>
            </a:fld>
            <a:endParaRPr lang="pt-BR"/>
          </a:p>
        </p:txBody>
      </p:sp>
    </p:spTree>
    <p:extLst>
      <p:ext uri="{BB962C8B-B14F-4D97-AF65-F5344CB8AC3E}">
        <p14:creationId xmlns:p14="http://schemas.microsoft.com/office/powerpoint/2010/main" val="1326122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Uma matriz de confusão, também conhecida como tabela de contingência ou matriz de erros, é um layout de tabela específico que permite a visualização do desempenho de um classificador.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Cada linha da matriz representa os</a:t>
            </a:r>
            <a:r>
              <a:rPr lang="pt-BR" baseline="0" dirty="0"/>
              <a:t> exemplos que foram classificados como pertencentes a uma dada </a:t>
            </a:r>
            <a:r>
              <a:rPr lang="pt-BR" dirty="0"/>
              <a:t>classe, enquanto cada coluna representa os exemplos</a:t>
            </a:r>
            <a:r>
              <a:rPr lang="pt-BR" baseline="0" dirty="0"/>
              <a:t> realmente pertencentes a </a:t>
            </a:r>
            <a:r>
              <a:rPr lang="pt-BR" dirty="0"/>
              <a:t>uma dada classe.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nome, matriz de confusão, deriva do fato de tornar fácil verificar se o classificador está confundindo classes (ou seja, geralmente rotulando incorretamente uma como a outra).</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7</a:t>
            </a:fld>
            <a:endParaRPr lang="pt-BR"/>
          </a:p>
        </p:txBody>
      </p:sp>
    </p:spTree>
    <p:extLst>
      <p:ext uri="{BB962C8B-B14F-4D97-AF65-F5344CB8AC3E}">
        <p14:creationId xmlns:p14="http://schemas.microsoft.com/office/powerpoint/2010/main" val="3409998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 acurácia é uma métrica de avaliação comumente usada no contexto de classificação de modelos de aprendizado de máquina. Ela mede a proporção de exemplos classificados corretamente em relação ao total de exemplos avaliados. Em outras palavras, a acurácia fornece uma indicação de quão bem o modelo está fazendo suas previsões corretas em comparação com todas as previsões feitas.</a:t>
            </a:r>
          </a:p>
          <a:p>
            <a:endParaRPr lang="pt-BR" dirty="0"/>
          </a:p>
          <a:p>
            <a:r>
              <a:rPr lang="pt-BR" dirty="0"/>
              <a:t>A fórmula básica da acurácia é a seguinte:</a:t>
            </a:r>
          </a:p>
          <a:p>
            <a:endParaRPr lang="pt-BR" dirty="0"/>
          </a:p>
          <a:p>
            <a:r>
              <a:rPr lang="pt-BR" dirty="0"/>
              <a:t>\[ \</a:t>
            </a:r>
            <a:r>
              <a:rPr lang="pt-BR" dirty="0" err="1"/>
              <a:t>text</a:t>
            </a:r>
            <a:r>
              <a:rPr lang="pt-BR" dirty="0"/>
              <a:t>{Acurácia} = \</a:t>
            </a:r>
            <a:r>
              <a:rPr lang="pt-BR" dirty="0" err="1"/>
              <a:t>frac</a:t>
            </a:r>
            <a:r>
              <a:rPr lang="pt-BR" dirty="0"/>
              <a:t>{\</a:t>
            </a:r>
            <a:r>
              <a:rPr lang="pt-BR" dirty="0" err="1"/>
              <a:t>text</a:t>
            </a:r>
            <a:r>
              <a:rPr lang="pt-BR" dirty="0"/>
              <a:t>{Número de previsões corretas}}{\</a:t>
            </a:r>
            <a:r>
              <a:rPr lang="pt-BR" dirty="0" err="1"/>
              <a:t>text</a:t>
            </a:r>
            <a:r>
              <a:rPr lang="pt-BR" dirty="0"/>
              <a:t>{Total de exemplos}} \]</a:t>
            </a:r>
          </a:p>
          <a:p>
            <a:endParaRPr lang="pt-BR" dirty="0"/>
          </a:p>
          <a:p>
            <a:r>
              <a:rPr lang="pt-BR" dirty="0"/>
              <a:t>Por exemplo, se um modelo classificar corretamente 85 amostras de um total de 100, a acurácia seria \( \</a:t>
            </a:r>
            <a:r>
              <a:rPr lang="pt-BR" dirty="0" err="1"/>
              <a:t>frac</a:t>
            </a:r>
            <a:r>
              <a:rPr lang="pt-BR" dirty="0"/>
              <a:t>{85}{100} = 0.85 \), ou seja, 85%.</a:t>
            </a:r>
          </a:p>
          <a:p>
            <a:endParaRPr lang="pt-BR" dirty="0"/>
          </a:p>
          <a:p>
            <a:r>
              <a:rPr lang="pt-BR" dirty="0"/>
              <a:t>Apesar de ser uma métrica útil para avaliar a performance geral de um modelo, a acurácia pode ser enganosa em alguns cenários, especialmente quando os dados estão desbalanceados (quando uma classe é mais comum que a outra) ou quando os custos de falsos positivos e falsos negativos não são iguais. Portanto, em casos mais complexos, é importante considerar outras métricas, como precisão, recall, F1-score, entre outras, para ter uma visão mais completa do desempenho do modelo.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10</a:t>
            </a:fld>
            <a:endParaRPr lang="pt-BR"/>
          </a:p>
        </p:txBody>
      </p:sp>
    </p:spTree>
    <p:extLst>
      <p:ext uri="{BB962C8B-B14F-4D97-AF65-F5344CB8AC3E}">
        <p14:creationId xmlns:p14="http://schemas.microsoft.com/office/powerpoint/2010/main" val="237541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A acurácia é uma métrica simples e fácil de interpretar, mas ela pode ser enganosa em alguns casos. Por exemplo, se os custos de falsos positivos e falsos negativos não são iguais, a acurácia pode não refletir o desempenho real do modelo.</a:t>
            </a:r>
          </a:p>
          <a:p>
            <a:r>
              <a:rPr lang="pt-BR" sz="1200" b="0" i="0" kern="1200" dirty="0">
                <a:solidFill>
                  <a:schemeClr val="tx1"/>
                </a:solidFill>
                <a:effectLst/>
                <a:latin typeface="+mn-lt"/>
                <a:ea typeface="+mn-ea"/>
                <a:cs typeface="+mn-cs"/>
              </a:rPr>
              <a:t>Por exemplo, considere um modelo de classificação que é usado para diagnosticar uma doença grave. Se o modelo classificar um paciente saudável como doente, isso pode levar a um tratamento desnecessário e caro. Nesse caso, um falso positivo é mais prejudicial do que um falso negativo.</a:t>
            </a:r>
          </a:p>
          <a:p>
            <a:endParaRPr lang="pt-BR" dirty="0"/>
          </a:p>
          <a:p>
            <a:r>
              <a:rPr lang="pt-BR" sz="1200" b="0" i="0" kern="1200" dirty="0">
                <a:solidFill>
                  <a:schemeClr val="tx1"/>
                </a:solidFill>
                <a:effectLst/>
                <a:latin typeface="+mn-lt"/>
                <a:ea typeface="+mn-ea"/>
                <a:cs typeface="+mn-cs"/>
              </a:rPr>
              <a:t>No entanto, a acurácia não leva em consideração os custos associados aos erros de classificação, ou seja, não diferencia entre falsos positivos (quando o modelo prevê que algo acontecerá, mas na verdade não acontece) e falsos negativos (quando o modelo não prevê algo que acontece). Em muitos cenários do mundo real, os custos de falsos positivos e falsos negativos podem ser muito diferentes.</a:t>
            </a:r>
          </a:p>
          <a:p>
            <a:r>
              <a:rPr lang="pt-BR" sz="1200" b="0" i="0" kern="1200" dirty="0">
                <a:solidFill>
                  <a:schemeClr val="tx1"/>
                </a:solidFill>
                <a:effectLst/>
                <a:latin typeface="+mn-lt"/>
                <a:ea typeface="+mn-ea"/>
                <a:cs typeface="+mn-cs"/>
              </a:rPr>
              <a:t>Por exemplo, em um sistema de detecção de fraudes em transações financeiras, um falso positivo (classificar uma transação legítima como fraude) pode causar inconveniência para o cliente, enquanto um falso negativo (não detectar uma transação fraudulenta) pode resultar em perdas significativas para a empresa. Nesse caso, os custos de falsos negativos são muito maiores do que os de falsos positivos. A acurácia não levaria em consideração essa diferença de custos.</a:t>
            </a:r>
          </a:p>
          <a:p>
            <a:endParaRPr lang="pt-BR"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11</a:t>
            </a:fld>
            <a:endParaRPr lang="pt-BR"/>
          </a:p>
        </p:txBody>
      </p:sp>
    </p:spTree>
    <p:extLst>
      <p:ext uri="{BB962C8B-B14F-4D97-AF65-F5344CB8AC3E}">
        <p14:creationId xmlns:p14="http://schemas.microsoft.com/office/powerpoint/2010/main" val="3359588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A acurácia é uma métrica simples e fácil de interpretar, mas ela pode ser enganosa em alguns casos. Por exemplo, se os custos de falsos positivos e falsos negativos não são iguais, a acurácia pode não refletir o desempenho real do modelo.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Por exemplo, considere um modelo de classificação que é usado para diagnosticar uma doença grave. Se o modelo classificar um paciente saudável como doente, isso pode levar a um tratamento desnecessário e caro. Nesse caso, um falso positivo é mais prejudicial do que um falso negativo.</a:t>
            </a:r>
          </a:p>
          <a:p>
            <a:endParaRPr lang="pt-BR" dirty="0"/>
          </a:p>
          <a:p>
            <a:r>
              <a:rPr lang="pt-BR" sz="1200" b="0" i="0" kern="1200" dirty="0">
                <a:solidFill>
                  <a:schemeClr val="tx1"/>
                </a:solidFill>
                <a:effectLst/>
                <a:latin typeface="+mn-lt"/>
                <a:ea typeface="+mn-ea"/>
                <a:cs typeface="+mn-cs"/>
              </a:rPr>
              <a:t>No entanto, a acurácia não leva em consideração os custos associados aos erros de classificação, ou seja, não diferencia entre falsos positivos (quando o modelo prevê que algo acontecerá, mas na verdade não acontece) e falsos negativos (quando o modelo não prevê algo que acontece). Em muitos cenários do mundo real, os custos de falsos positivos e falsos negativos podem ser muito diferentes.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Por exemplo, em um sistema de detecção de fraudes em transações financeiras, um falso positivo (classificar uma transação legítima como fraude) pode causar inconveniência para o cliente, enquanto um falso negativo (não detectar uma transação fraudulenta) pode resultar em perdas significativas para a empresa. Nesse caso, os custos de falsos negativos são muito maiores do que os de falsos positivos. A acurácia não levaria em consideração essa diferença de custos.</a:t>
            </a:r>
          </a:p>
          <a:p>
            <a:endParaRPr lang="pt-BR"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12</a:t>
            </a:fld>
            <a:endParaRPr lang="pt-BR"/>
          </a:p>
        </p:txBody>
      </p:sp>
    </p:spTree>
    <p:extLst>
      <p:ext uri="{BB962C8B-B14F-4D97-AF65-F5344CB8AC3E}">
        <p14:creationId xmlns:p14="http://schemas.microsoft.com/office/powerpoint/2010/main" val="2179354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dirty="0"/>
              <a:t>De </a:t>
            </a:r>
            <a:r>
              <a:rPr lang="en-US" dirty="0" err="1"/>
              <a:t>tudo</a:t>
            </a:r>
            <a:r>
              <a:rPr lang="en-US" dirty="0"/>
              <a:t> </a:t>
            </a:r>
            <a:r>
              <a:rPr lang="en-US" dirty="0" err="1"/>
              <a:t>aquilo</a:t>
            </a:r>
            <a:r>
              <a:rPr lang="en-US" dirty="0"/>
              <a:t> </a:t>
            </a:r>
            <a:r>
              <a:rPr lang="en-US" dirty="0" err="1"/>
              <a:t>que</a:t>
            </a:r>
            <a:r>
              <a:rPr lang="en-US" dirty="0"/>
              <a:t> o </a:t>
            </a:r>
            <a:r>
              <a:rPr lang="en-US" dirty="0" err="1"/>
              <a:t>modelo</a:t>
            </a:r>
            <a:r>
              <a:rPr lang="en-US" dirty="0"/>
              <a:t> </a:t>
            </a:r>
            <a:r>
              <a:rPr lang="en-US" dirty="0" err="1"/>
              <a:t>classificou</a:t>
            </a:r>
            <a:r>
              <a:rPr lang="en-US" dirty="0"/>
              <a:t> </a:t>
            </a:r>
            <a:r>
              <a:rPr lang="en-US" dirty="0" err="1"/>
              <a:t>como</a:t>
            </a:r>
            <a:r>
              <a:rPr lang="en-US" dirty="0"/>
              <a:t> </a:t>
            </a:r>
            <a:r>
              <a:rPr lang="en-US" dirty="0" err="1"/>
              <a:t>positivo</a:t>
            </a:r>
            <a:r>
              <a:rPr lang="en-US" dirty="0"/>
              <a:t>, o </a:t>
            </a:r>
            <a:r>
              <a:rPr lang="en-US" dirty="0" err="1"/>
              <a:t>quanto</a:t>
            </a:r>
            <a:r>
              <a:rPr lang="en-US" dirty="0"/>
              <a:t> é </a:t>
            </a:r>
            <a:r>
              <a:rPr lang="en-US" dirty="0" err="1"/>
              <a:t>realmente</a:t>
            </a:r>
            <a:r>
              <a:rPr lang="en-US" dirty="0"/>
              <a:t> </a:t>
            </a:r>
            <a:r>
              <a:rPr lang="en-US" dirty="0" err="1"/>
              <a:t>positivo</a:t>
            </a:r>
            <a:r>
              <a:rPr lang="en-US" dirty="0"/>
              <a:t>?</a:t>
            </a:r>
          </a:p>
          <a:p>
            <a:endParaRPr lang="en-US" dirty="0"/>
          </a:p>
          <a:p>
            <a:r>
              <a:rPr lang="en-US" dirty="0" err="1"/>
              <a:t>Precisão</a:t>
            </a:r>
            <a:r>
              <a:rPr lang="en-US" dirty="0"/>
              <a:t> </a:t>
            </a:r>
            <a:r>
              <a:rPr lang="en-US" dirty="0" err="1"/>
              <a:t>mede</a:t>
            </a:r>
            <a:r>
              <a:rPr lang="en-US" dirty="0"/>
              <a:t> a </a:t>
            </a:r>
            <a:r>
              <a:rPr lang="en-US" dirty="0" err="1"/>
              <a:t>confiabilidade</a:t>
            </a:r>
            <a:r>
              <a:rPr lang="en-US" dirty="0"/>
              <a:t> das </a:t>
            </a:r>
            <a:r>
              <a:rPr lang="en-US" dirty="0" err="1"/>
              <a:t>previsões</a:t>
            </a:r>
            <a:r>
              <a:rPr lang="en-US" dirty="0"/>
              <a:t> </a:t>
            </a:r>
            <a:r>
              <a:rPr lang="en-US" dirty="0" err="1"/>
              <a:t>positivas</a:t>
            </a:r>
            <a:r>
              <a:rPr lang="en-US" dirty="0"/>
              <a:t>.</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14</a:t>
            </a:fld>
            <a:endParaRPr lang="pt-BR"/>
          </a:p>
        </p:txBody>
      </p:sp>
    </p:spTree>
    <p:extLst>
      <p:ext uri="{BB962C8B-B14F-4D97-AF65-F5344CB8AC3E}">
        <p14:creationId xmlns:p14="http://schemas.microsoft.com/office/powerpoint/2010/main" val="1043511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smtClean="0"/>
                  <a:t>Assim, obtemos todas as métricas para a classe </a:t>
                </a:r>
                <a14:m>
                  <m:oMath xmlns:m="http://schemas.openxmlformats.org/officeDocument/2006/math">
                    <m:sSub>
                      <m:sSubPr>
                        <m:ctrlPr>
                          <a:rPr lang="pt-BR" sz="1200" i="1" smtClean="0">
                            <a:latin typeface="Cambria Math" panose="02040503050406030204" pitchFamily="18" charset="0"/>
                          </a:rPr>
                        </m:ctrlPr>
                      </m:sSubPr>
                      <m:e>
                        <m:r>
                          <a:rPr lang="pt-BR" sz="1200" i="1">
                            <a:latin typeface="Cambria Math" panose="02040503050406030204" pitchFamily="18" charset="0"/>
                          </a:rPr>
                          <m:t>𝐶</m:t>
                        </m:r>
                      </m:e>
                      <m:sub>
                        <m:r>
                          <a:rPr lang="pt-BR" sz="1200" b="0" i="1" smtClean="0">
                            <a:latin typeface="Cambria Math" panose="02040503050406030204" pitchFamily="18" charset="0"/>
                          </a:rPr>
                          <m:t>1</m:t>
                        </m:r>
                      </m:sub>
                    </m:sSub>
                  </m:oMath>
                </a14:m>
                <a:r>
                  <a:rPr lang="pt-BR" sz="1200" dirty="0"/>
                  <a:t> sendo a classe positiva.</a:t>
                </a:r>
              </a:p>
              <a:p>
                <a:endParaRPr lang="pt-BR" dirty="0"/>
              </a:p>
            </p:txBody>
          </p:sp>
        </mc:Choice>
        <mc:Fallback>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smtClean="0"/>
                  <a:t>Assim, obtemos todas as métricas para a classe </a:t>
                </a:r>
                <a:r>
                  <a:rPr lang="pt-BR" sz="1200" i="0">
                    <a:latin typeface="Cambria Math" panose="02040503050406030204" pitchFamily="18" charset="0"/>
                  </a:rPr>
                  <a:t>𝐶</a:t>
                </a:r>
                <a:r>
                  <a:rPr lang="pt-BR" sz="1200" i="0" smtClean="0">
                    <a:latin typeface="Cambria Math" panose="02040503050406030204" pitchFamily="18" charset="0"/>
                  </a:rPr>
                  <a:t>_</a:t>
                </a:r>
                <a:r>
                  <a:rPr lang="pt-BR" sz="1200" b="0" i="0" smtClean="0">
                    <a:latin typeface="Cambria Math" panose="02040503050406030204" pitchFamily="18" charset="0"/>
                  </a:rPr>
                  <a:t>1</a:t>
                </a:r>
                <a:r>
                  <a:rPr lang="pt-BR" sz="1200" dirty="0"/>
                  <a:t> sendo a classe positiva.</a:t>
                </a:r>
              </a:p>
              <a:p>
                <a:endParaRPr lang="pt-BR" dirty="0"/>
              </a:p>
            </p:txBody>
          </p:sp>
        </mc:Fallback>
      </mc:AlternateContent>
      <p:sp>
        <p:nvSpPr>
          <p:cNvPr id="4" name="Espaço Reservado para Número de Slide 3"/>
          <p:cNvSpPr>
            <a:spLocks noGrp="1"/>
          </p:cNvSpPr>
          <p:nvPr>
            <p:ph type="sldNum" sz="quarter" idx="10"/>
          </p:nvPr>
        </p:nvSpPr>
        <p:spPr/>
        <p:txBody>
          <a:bodyPr/>
          <a:lstStyle/>
          <a:p>
            <a:fld id="{6FC8D850-966F-45A6-8DE7-15B891E7D40D}" type="slidenum">
              <a:rPr lang="pt-BR" smtClean="0"/>
              <a:t>24</a:t>
            </a:fld>
            <a:endParaRPr lang="pt-BR"/>
          </a:p>
        </p:txBody>
      </p:sp>
    </p:spTree>
    <p:extLst>
      <p:ext uri="{BB962C8B-B14F-4D97-AF65-F5344CB8AC3E}">
        <p14:creationId xmlns:p14="http://schemas.microsoft.com/office/powerpoint/2010/main" val="2701035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Em estatística, uma característica operacional do receptor (ROC), ou curva ROC, é um gráfico que ilustra o desempenho de um classificador binário. A curva é criada plotando a taxa de verdadeiro</a:t>
            </a:r>
            <a:r>
              <a:rPr lang="pt-BR" baseline="0" dirty="0"/>
              <a:t> </a:t>
            </a:r>
            <a:r>
              <a:rPr lang="pt-BR" dirty="0"/>
              <a:t>positivo</a:t>
            </a:r>
            <a:r>
              <a:rPr lang="pt-BR" baseline="0" dirty="0"/>
              <a:t> </a:t>
            </a:r>
            <a:r>
              <a:rPr lang="pt-BR" dirty="0"/>
              <a:t>(recall) contra a taxa de falsos</a:t>
            </a:r>
            <a:r>
              <a:rPr lang="pt-BR" baseline="0" dirty="0"/>
              <a:t> </a:t>
            </a:r>
            <a:r>
              <a:rPr lang="pt-BR" dirty="0"/>
              <a:t>positivos (especificidade) em várias configurações de limite.</a:t>
            </a:r>
          </a:p>
          <a:p>
            <a:endParaRPr lang="pt-BR" dirty="0"/>
          </a:p>
          <a:p>
            <a:r>
              <a:rPr lang="pt-BR" dirty="0"/>
              <a:t>A linha pontilhada representa a curva ROC de um classificador puramente aleatório; um bom classificador fica o mais longe possível dessa linha (em direção ao canto superior esquerdo). Um exemplo intuitivo de classificação aleatória é uma decisão através do lançamento</a:t>
            </a:r>
            <a:r>
              <a:rPr lang="pt-BR" baseline="0" dirty="0"/>
              <a:t> de </a:t>
            </a:r>
            <a:r>
              <a:rPr lang="pt-BR" dirty="0"/>
              <a:t>moedas.</a:t>
            </a:r>
          </a:p>
          <a:p>
            <a:endParaRPr lang="pt-BR" dirty="0"/>
          </a:p>
          <a:p>
            <a:r>
              <a:rPr lang="pt-BR" dirty="0"/>
              <a:t>Referência:</a:t>
            </a:r>
          </a:p>
          <a:p>
            <a:r>
              <a:rPr lang="pt-BR" i="0" u="none" dirty="0">
                <a:hlinkClick r:id="rId3"/>
              </a:rPr>
              <a:t>[1] </a:t>
            </a:r>
            <a:r>
              <a:rPr lang="pt-BR" dirty="0">
                <a:hlinkClick r:id="rId3"/>
              </a:rPr>
              <a:t>https://joparga3.github.io/standford_logistic_regression/#what-is-logistic-regression</a:t>
            </a:r>
            <a:endParaRPr lang="pt-BR" dirty="0"/>
          </a:p>
          <a:p>
            <a:r>
              <a:rPr lang="pt-BR" dirty="0"/>
              <a:t>[2] https://www.datasciencecentral.com/profiles/blogs/roc-curve-explained-in-one-picture</a:t>
            </a:r>
          </a:p>
          <a:p>
            <a:r>
              <a:rPr lang="pt-BR" dirty="0"/>
              <a:t>[3] https://en.wikipedia.org/wiki/Receiver_operating_characteristic</a:t>
            </a:r>
          </a:p>
          <a:p>
            <a:endParaRPr lang="pt-BR" dirty="0"/>
          </a:p>
          <a:p>
            <a:endParaRPr lang="pt-BR" dirty="0"/>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28</a:t>
            </a:fld>
            <a:endParaRPr lang="pt-BR"/>
          </a:p>
        </p:txBody>
      </p:sp>
    </p:spTree>
    <p:extLst>
      <p:ext uri="{BB962C8B-B14F-4D97-AF65-F5344CB8AC3E}">
        <p14:creationId xmlns:p14="http://schemas.microsoft.com/office/powerpoint/2010/main" val="42898968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Em estatística, uma característica operacional do receptor (ROC), ou curva ROC, é um gráfico que ilustra o desempenho de um classificador binário. A curva é criada plotando a taxa de verdadeiro</a:t>
            </a:r>
            <a:r>
              <a:rPr lang="pt-BR" baseline="0" dirty="0"/>
              <a:t> </a:t>
            </a:r>
            <a:r>
              <a:rPr lang="pt-BR" dirty="0"/>
              <a:t>positivo</a:t>
            </a:r>
            <a:r>
              <a:rPr lang="pt-BR" baseline="0" dirty="0"/>
              <a:t> </a:t>
            </a:r>
            <a:r>
              <a:rPr lang="pt-BR" dirty="0"/>
              <a:t>(recall) contra a taxa de falsos</a:t>
            </a:r>
            <a:r>
              <a:rPr lang="pt-BR" baseline="0" dirty="0"/>
              <a:t> </a:t>
            </a:r>
            <a:r>
              <a:rPr lang="pt-BR" dirty="0"/>
              <a:t>positivos (especificidade) em várias configurações de limite.</a:t>
            </a:r>
          </a:p>
          <a:p>
            <a:endParaRPr lang="pt-BR" dirty="0"/>
          </a:p>
          <a:p>
            <a:r>
              <a:rPr lang="pt-BR" dirty="0"/>
              <a:t>A linha pontilhada representa a curva ROC de um classificador puramente aleatório; um bom classificador fica o mais longe possível dessa linha (em direção ao canto superior esquerdo). Um exemplo intuitivo de classificação aleatória é uma decisão através do lançamento</a:t>
            </a:r>
            <a:r>
              <a:rPr lang="pt-BR" baseline="0" dirty="0"/>
              <a:t> de </a:t>
            </a:r>
            <a:r>
              <a:rPr lang="pt-BR" dirty="0"/>
              <a:t>moedas.</a:t>
            </a:r>
          </a:p>
          <a:p>
            <a:endParaRPr lang="pt-BR" dirty="0"/>
          </a:p>
          <a:p>
            <a:r>
              <a:rPr lang="pt-BR" dirty="0"/>
              <a:t>Referência:</a:t>
            </a:r>
          </a:p>
          <a:p>
            <a:r>
              <a:rPr lang="pt-BR" i="0" u="none" dirty="0">
                <a:hlinkClick r:id="rId3"/>
              </a:rPr>
              <a:t>[1] </a:t>
            </a:r>
            <a:r>
              <a:rPr lang="pt-BR" dirty="0">
                <a:hlinkClick r:id="rId3"/>
              </a:rPr>
              <a:t>https://joparga3.github.io/standford_logistic_regression/#what-is-logistic-regression</a:t>
            </a:r>
            <a:endParaRPr lang="pt-BR" dirty="0"/>
          </a:p>
          <a:p>
            <a:r>
              <a:rPr lang="pt-BR" dirty="0"/>
              <a:t>[2] https://www.datasciencecentral.com/profiles/blogs/roc-curve-explained-in-one-picture</a:t>
            </a:r>
          </a:p>
          <a:p>
            <a:r>
              <a:rPr lang="pt-BR" dirty="0"/>
              <a:t>[3] https://en.wikipedia.org/wiki/Receiver_operating_characteristic</a:t>
            </a:r>
          </a:p>
          <a:p>
            <a:endParaRPr lang="pt-BR" dirty="0"/>
          </a:p>
          <a:p>
            <a:endParaRPr lang="pt-BR" dirty="0"/>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29</a:t>
            </a:fld>
            <a:endParaRPr lang="pt-BR"/>
          </a:p>
        </p:txBody>
      </p:sp>
    </p:spTree>
    <p:extLst>
      <p:ext uri="{BB962C8B-B14F-4D97-AF65-F5344CB8AC3E}">
        <p14:creationId xmlns:p14="http://schemas.microsoft.com/office/powerpoint/2010/main" val="424123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curva ROC foi criada na segunda guerra mundial para medir a eficácia dos</a:t>
            </a:r>
            <a:r>
              <a:rPr lang="pt-BR" baseline="0" dirty="0"/>
              <a:t> sistemas de radar sendo desenvolvidos na época. A ideia é medir a eficácia do radar em distinguir entre alvos reais e ruído.</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Em estatística, uma característica operacional do receptor (ROC), ou curva ROC, é um gráfico que ilustra o desempenho de um classificador binário. A curva é criada plotando a taxa de verdadeiro</a:t>
            </a:r>
            <a:r>
              <a:rPr lang="pt-BR" baseline="0" dirty="0"/>
              <a:t> </a:t>
            </a:r>
            <a:r>
              <a:rPr lang="pt-BR" dirty="0"/>
              <a:t>positivo</a:t>
            </a:r>
            <a:r>
              <a:rPr lang="pt-BR" baseline="0" dirty="0"/>
              <a:t> </a:t>
            </a:r>
            <a:r>
              <a:rPr lang="pt-BR" dirty="0"/>
              <a:t>(recall) contra a taxa de falsos</a:t>
            </a:r>
            <a:r>
              <a:rPr lang="pt-BR" baseline="0" dirty="0"/>
              <a:t> </a:t>
            </a:r>
            <a:r>
              <a:rPr lang="pt-BR" dirty="0"/>
              <a:t>positivos (especificidade) em várias configurações de limite.</a:t>
            </a:r>
          </a:p>
          <a:p>
            <a:endParaRPr lang="pt-BR" dirty="0"/>
          </a:p>
          <a:p>
            <a:r>
              <a:rPr lang="pt-BR" dirty="0"/>
              <a:t>A linha pontilhada representa a curva ROC de um classificador puramente aleatório; um bom classificador fica o mais longe possível dessa linha (em direção ao canto superior esquerdo). Um exemplo intuitivo de classificação aleatória é uma decisão através do lançamento</a:t>
            </a:r>
            <a:r>
              <a:rPr lang="pt-BR" baseline="0" dirty="0"/>
              <a:t> de </a:t>
            </a:r>
            <a:r>
              <a:rPr lang="pt-BR" dirty="0"/>
              <a:t>moedas.</a:t>
            </a:r>
          </a:p>
          <a:p>
            <a:endParaRPr lang="pt-BR" dirty="0"/>
          </a:p>
          <a:p>
            <a:r>
              <a:rPr lang="pt-BR" dirty="0"/>
              <a:t>Referência:</a:t>
            </a:r>
          </a:p>
          <a:p>
            <a:r>
              <a:rPr lang="pt-BR" i="0" u="none" dirty="0">
                <a:hlinkClick r:id="rId3"/>
              </a:rPr>
              <a:t>[1] </a:t>
            </a:r>
            <a:r>
              <a:rPr lang="pt-BR" dirty="0">
                <a:hlinkClick r:id="rId3"/>
              </a:rPr>
              <a:t>https://joparga3.github.io/standford_logistic_regression/#what-is-logistic-regression</a:t>
            </a:r>
            <a:endParaRPr lang="pt-BR" dirty="0"/>
          </a:p>
          <a:p>
            <a:r>
              <a:rPr lang="pt-BR" dirty="0"/>
              <a:t>[2] https://www.datasciencecentral.com/profiles/blogs/roc-curve-explained-in-one-picture</a:t>
            </a:r>
          </a:p>
          <a:p>
            <a:r>
              <a:rPr lang="pt-BR" dirty="0"/>
              <a:t>[3] https://en.wikipedia.org/wiki/Receiver_operating_characteristic</a:t>
            </a:r>
          </a:p>
          <a:p>
            <a:r>
              <a:rPr lang="pt-BR" dirty="0"/>
              <a:t>[4] https://towardsdatascience.com/understanding-auc-roc-curve-68b2303cc9c5</a:t>
            </a:r>
          </a:p>
          <a:p>
            <a:r>
              <a:rPr lang="pt-BR" dirty="0"/>
              <a:t>[5] https://mlu-explain.github.io/roc-auc/</a:t>
            </a:r>
          </a:p>
          <a:p>
            <a:r>
              <a:rPr lang="pt-BR" dirty="0"/>
              <a:t>[6] https://towardsdatascience.com/receiver-operating-characteristic-curves-demystified-in-python-bd531a4364d0</a:t>
            </a:r>
          </a:p>
          <a:p>
            <a:r>
              <a:rPr lang="pt-BR" dirty="0"/>
              <a:t>[7] https://arogozhnikov.github.io/2015/10/05/roc-curve.html</a:t>
            </a:r>
          </a:p>
          <a:p>
            <a:endParaRPr lang="pt-BR" dirty="0"/>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30</a:t>
            </a:fld>
            <a:endParaRPr lang="pt-BR"/>
          </a:p>
        </p:txBody>
      </p:sp>
    </p:spTree>
    <p:extLst>
      <p:ext uri="{BB962C8B-B14F-4D97-AF65-F5344CB8AC3E}">
        <p14:creationId xmlns:p14="http://schemas.microsoft.com/office/powerpoint/2010/main" val="10394750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curva ROC foi criada na segunda guerra mundial para medir a eficácia dos</a:t>
            </a:r>
            <a:r>
              <a:rPr lang="pt-BR" baseline="0" dirty="0"/>
              <a:t> sistemas de radar sendo desenvolvidos na época. A ideia é medir a eficácia do radar em distinguir entre alvos reais e ruído.</a:t>
            </a: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Em estatística, uma característica operacional do receptor (ROC), ou curva ROC, é um gráfico que ilustra o desempenho de um classificador binário. A curva é criada plotando a taxa de verdadeiro</a:t>
            </a:r>
            <a:r>
              <a:rPr lang="pt-BR" baseline="0" dirty="0"/>
              <a:t> </a:t>
            </a:r>
            <a:r>
              <a:rPr lang="pt-BR" dirty="0"/>
              <a:t>positivo</a:t>
            </a:r>
            <a:r>
              <a:rPr lang="pt-BR" baseline="0" dirty="0"/>
              <a:t> </a:t>
            </a:r>
            <a:r>
              <a:rPr lang="pt-BR" dirty="0"/>
              <a:t>(recall) contra a taxa de falsos</a:t>
            </a:r>
            <a:r>
              <a:rPr lang="pt-BR" baseline="0" dirty="0"/>
              <a:t> </a:t>
            </a:r>
            <a:r>
              <a:rPr lang="pt-BR" dirty="0"/>
              <a:t>positivos (especificidade) em várias configurações de limite.</a:t>
            </a:r>
          </a:p>
          <a:p>
            <a:endParaRPr lang="pt-BR" dirty="0"/>
          </a:p>
          <a:p>
            <a:r>
              <a:rPr lang="pt-BR" dirty="0"/>
              <a:t>A linha pontilhada representa a curva ROC de um classificador puramente aleatório; um bom classificador fica o mais longe possível dessa linha (em direção ao canto superior esquerdo). Um exemplo intuitivo de classificação aleatória é uma decisão através do lançamento</a:t>
            </a:r>
            <a:r>
              <a:rPr lang="pt-BR" baseline="0" dirty="0"/>
              <a:t> de </a:t>
            </a:r>
            <a:r>
              <a:rPr lang="pt-BR" dirty="0"/>
              <a:t>moedas.</a:t>
            </a:r>
          </a:p>
          <a:p>
            <a:endParaRPr lang="pt-BR" dirty="0"/>
          </a:p>
          <a:p>
            <a:r>
              <a:rPr lang="pt-BR" dirty="0"/>
              <a:t>Referência:</a:t>
            </a:r>
          </a:p>
          <a:p>
            <a:r>
              <a:rPr lang="pt-BR" i="0" u="none" dirty="0">
                <a:hlinkClick r:id="rId3"/>
              </a:rPr>
              <a:t>[1] </a:t>
            </a:r>
            <a:r>
              <a:rPr lang="pt-BR" dirty="0">
                <a:hlinkClick r:id="rId3"/>
              </a:rPr>
              <a:t>https://joparga3.github.io/standford_logistic_regression/#what-is-logistic-regression</a:t>
            </a:r>
            <a:endParaRPr lang="pt-BR" dirty="0"/>
          </a:p>
          <a:p>
            <a:r>
              <a:rPr lang="pt-BR" dirty="0"/>
              <a:t>[2] https://www.datasciencecentral.com/profiles/blogs/roc-curve-explained-in-one-picture</a:t>
            </a:r>
          </a:p>
          <a:p>
            <a:r>
              <a:rPr lang="pt-BR" dirty="0"/>
              <a:t>[3] https://en.wikipedia.org/wiki/Receiver_operating_characteristic</a:t>
            </a:r>
          </a:p>
          <a:p>
            <a:r>
              <a:rPr lang="pt-BR" dirty="0"/>
              <a:t>[4] https://towardsdatascience.com/understanding-auc-roc-curve-68b2303cc9c5</a:t>
            </a:r>
          </a:p>
          <a:p>
            <a:r>
              <a:rPr lang="pt-BR" dirty="0"/>
              <a:t>[5] https://mlu-explain.github.io/roc-auc/</a:t>
            </a:r>
          </a:p>
          <a:p>
            <a:r>
              <a:rPr lang="pt-BR" dirty="0"/>
              <a:t>[6] https://towardsdatascience.com/receiver-operating-characteristic-curves-demystified-in-python-bd531a4364d0</a:t>
            </a:r>
          </a:p>
          <a:p>
            <a:r>
              <a:rPr lang="pt-BR" dirty="0"/>
              <a:t>[7] https://arogozhnikov.github.io/2015/10/05/roc-curve.html</a:t>
            </a:r>
          </a:p>
          <a:p>
            <a:endParaRPr lang="pt-BR" dirty="0"/>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31</a:t>
            </a:fld>
            <a:endParaRPr lang="pt-BR"/>
          </a:p>
        </p:txBody>
      </p:sp>
    </p:spTree>
    <p:extLst>
      <p:ext uri="{BB962C8B-B14F-4D97-AF65-F5344CB8AC3E}">
        <p14:creationId xmlns:p14="http://schemas.microsoft.com/office/powerpoint/2010/main" val="1129954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 escolha de um limiar de decisão diferente de 0.5 pode melhorar o desempenho de um classificador binário em situações de desbalanceamento de classes, custos assimétricos de erro, preferência por precisão ou recuperação, efeitos do domínio, tolerância a erros e métricas de desempenho personalizadas. O ajuste do limiar é fundamental para adaptar o modelo às necessidades específicas do problema e aos objetivos da aplicação. É importante considerar cuidadosamente as implicações ao escolher o limiar ideal para o caso em questão.</a:t>
            </a:r>
          </a:p>
          <a:p>
            <a:endParaRPr lang="pt-BR" dirty="0"/>
          </a:p>
          <a:p>
            <a:r>
              <a:rPr lang="pt-BR" dirty="0"/>
              <a:t>A escolha de um limiar de decisão diferente de 0.5 (50%) pode melhorar o desempenho de um classificador binário em vários cenários, dependendo das características do problema e das metas específicas da aplicação. Aqui estão alguns casos em que a adaptação do limiar de decisão pode ser benéfica:</a:t>
            </a:r>
          </a:p>
          <a:p>
            <a:endParaRPr lang="pt-BR" dirty="0"/>
          </a:p>
          <a:p>
            <a:r>
              <a:rPr lang="pt-BR" dirty="0"/>
              <a:t>1. **Desbalanceamento de Classes**: Quando as classes estão desequilibradas, ou seja, uma classe tem muito mais exemplos do que a outra, um limiar de decisão diferente de 0.5 pode ajudar a lidar com essa assimetria. Por exemplo, em um problema de detecção de fraude, em que a maioria das transações é legítima, um limiar de 0.5 pode não ser ideal. Reduzir o limiar (por exemplo, para 0.2 ou 0.3) pode aumentar a sensibilidade (TPR) e reduzir a taxa de falsos negativos, identificando mais casos positivos.</a:t>
            </a:r>
          </a:p>
          <a:p>
            <a:endParaRPr lang="pt-BR" dirty="0"/>
          </a:p>
          <a:p>
            <a:r>
              <a:rPr lang="pt-BR" dirty="0"/>
              <a:t>2. **Custos Assimétricos de Erro**: Em muitos problemas do mundo real, os erros de classificação têm custos diferentes. Por exemplo, em um teste médico, um falso positivo pode causar preocupação, mas um falso negativo pode ser fatal. Nesse caso, você pode ajustar o limiar para minimizar o tipo de erro mais crítico para o seu contexto.</a:t>
            </a:r>
          </a:p>
          <a:p>
            <a:endParaRPr lang="pt-BR" dirty="0"/>
          </a:p>
          <a:p>
            <a:r>
              <a:rPr lang="pt-BR" dirty="0"/>
              <a:t>3. **Preferência por Precisão ou Recuperação**: Dependendo da aplicação, você pode priorizar a precisão ou o recall. Se a precisão for crucial, você pode aumentar o limiar para reduzir os falsos positivos, mesmo que isso signifique reduzir a recuperação. Se a recall for mais importante, pode-se reduzir o limiar para aumentar o TPR, mesmo que isso aumente os falsos positivos.</a:t>
            </a:r>
          </a:p>
          <a:p>
            <a:endParaRPr lang="pt-BR" dirty="0"/>
          </a:p>
          <a:p>
            <a:r>
              <a:rPr lang="pt-BR" dirty="0"/>
              <a:t>4. **Efeito do Domínio**: Em alguns casos, a escolha do limiar de decisão pode depender do domínio específico do problema. O valor ideal pode variar dependendo das características dos dados e do conhecimento especializado no domínio.</a:t>
            </a:r>
          </a:p>
          <a:p>
            <a:endParaRPr lang="pt-BR" dirty="0"/>
          </a:p>
          <a:p>
            <a:r>
              <a:rPr lang="pt-BR" dirty="0"/>
              <a:t>5. **Tolerância a Erros**: Se o seu sistema for tolerante a erros em certas situações, você pode ajustar o limiar para tornar o classificador mais conservador ou mais permissivo, conforme necessário.</a:t>
            </a:r>
          </a:p>
          <a:p>
            <a:endParaRPr lang="pt-BR" dirty="0"/>
          </a:p>
          <a:p>
            <a:r>
              <a:rPr lang="pt-BR" dirty="0"/>
              <a:t>6. **Métricas de Desempenho Personalizadas**: Às vezes, você pode estar interessado em métricas de desempenho personalizadas que não dependam do limiar de 0.5. Ajustar o limiar permite otimizar o modelo para essas métricas específicas.</a:t>
            </a:r>
          </a:p>
          <a:p>
            <a:endParaRPr lang="pt-BR" dirty="0"/>
          </a:p>
          <a:p>
            <a:r>
              <a:rPr lang="pt-BR" dirty="0"/>
              <a:t>Em resumo, a escolha do limiar de decisão é uma consideração crítica ao avaliar o desempenho de um classificador binário. O valor ótimo do limiar dependerá das características do problema e dos objetivos da aplicação. É importante realizar ajustes experimentais e considerar cuidadosamente as implicações antes de determinar o limiar ideal para o seu caso específico.</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33</a:t>
            </a:fld>
            <a:endParaRPr lang="pt-BR"/>
          </a:p>
        </p:txBody>
      </p:sp>
    </p:spTree>
    <p:extLst>
      <p:ext uri="{BB962C8B-B14F-4D97-AF65-F5344CB8AC3E}">
        <p14:creationId xmlns:p14="http://schemas.microsoft.com/office/powerpoint/2010/main" val="1220814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Exemplo</a:t>
            </a:r>
            <a:r>
              <a:rPr lang="pt-BR" dirty="0"/>
              <a:t>:</a:t>
            </a:r>
            <a:r>
              <a:rPr lang="pt-BR" baseline="0" dirty="0"/>
              <a:t> </a:t>
            </a:r>
            <a:r>
              <a:rPr lang="pt-BR" dirty="0"/>
              <a:t>https://colab.research.google.com/</a:t>
            </a:r>
            <a:r>
              <a:rPr lang="pt-BR" dirty="0" err="1"/>
              <a:t>github</a:t>
            </a:r>
            <a:r>
              <a:rPr lang="pt-BR" dirty="0"/>
              <a:t>/zz4fap/t320_aprendizado_de_maquina/</a:t>
            </a:r>
            <a:r>
              <a:rPr lang="pt-BR" dirty="0" err="1"/>
              <a:t>blob</a:t>
            </a:r>
            <a:r>
              <a:rPr lang="pt-BR" dirty="0"/>
              <a:t>/</a:t>
            </a:r>
            <a:r>
              <a:rPr lang="pt-BR" dirty="0" err="1"/>
              <a:t>main</a:t>
            </a:r>
            <a:r>
              <a:rPr lang="pt-BR" dirty="0"/>
              <a:t>/notebooks/classificação/</a:t>
            </a:r>
            <a:r>
              <a:rPr lang="pt-BR" dirty="0" err="1"/>
              <a:t>classification_metrics.ipynb</a:t>
            </a:r>
            <a:endParaRPr lang="pt-BR" b="1" dirty="0"/>
          </a:p>
          <a:p>
            <a:endParaRPr lang="pt-BR" dirty="0"/>
          </a:p>
          <a:p>
            <a:r>
              <a:rPr lang="pt-BR" dirty="0"/>
              <a:t>A área sob a curva ROC é uma medida da qualidade do classificador.</a:t>
            </a:r>
          </a:p>
          <a:p>
            <a:endParaRPr lang="pt-BR" dirty="0"/>
          </a:p>
          <a:p>
            <a:r>
              <a:rPr lang="pt-BR" dirty="0"/>
              <a:t>Referência:</a:t>
            </a:r>
          </a:p>
          <a:p>
            <a:r>
              <a:rPr lang="pt-BR" dirty="0"/>
              <a:t>[1] https://datascience.stackexchange.com/questions/65839/macro-average-and-weighted-average-meaning-in-classification-report</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34</a:t>
            </a:fld>
            <a:endParaRPr lang="pt-BR"/>
          </a:p>
        </p:txBody>
      </p:sp>
    </p:spTree>
    <p:extLst>
      <p:ext uri="{BB962C8B-B14F-4D97-AF65-F5344CB8AC3E}">
        <p14:creationId xmlns:p14="http://schemas.microsoft.com/office/powerpoint/2010/main" val="17041917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Exemplo</a:t>
            </a:r>
            <a:r>
              <a:rPr lang="pt-BR" dirty="0"/>
              <a:t>:</a:t>
            </a:r>
            <a:r>
              <a:rPr lang="pt-BR" baseline="0" dirty="0"/>
              <a:t> </a:t>
            </a:r>
            <a:r>
              <a:rPr lang="pt-BR" dirty="0"/>
              <a:t>https://colab.research.google.com/</a:t>
            </a:r>
            <a:r>
              <a:rPr lang="pt-BR" dirty="0" err="1"/>
              <a:t>github</a:t>
            </a:r>
            <a:r>
              <a:rPr lang="pt-BR" dirty="0"/>
              <a:t>/zz4fap/t320_aprendizado_de_maquina/</a:t>
            </a:r>
            <a:r>
              <a:rPr lang="pt-BR" dirty="0" err="1"/>
              <a:t>blob</a:t>
            </a:r>
            <a:r>
              <a:rPr lang="pt-BR" dirty="0"/>
              <a:t>/</a:t>
            </a:r>
            <a:r>
              <a:rPr lang="pt-BR" dirty="0" err="1"/>
              <a:t>main</a:t>
            </a:r>
            <a:r>
              <a:rPr lang="pt-BR" dirty="0"/>
              <a:t>/notebooks/classificação/</a:t>
            </a:r>
            <a:r>
              <a:rPr lang="pt-BR" dirty="0" err="1"/>
              <a:t>classification_metrics.ipynb</a:t>
            </a:r>
            <a:endParaRPr lang="pt-BR" b="1" dirty="0"/>
          </a:p>
          <a:p>
            <a:endParaRPr lang="pt-BR" dirty="0"/>
          </a:p>
          <a:p>
            <a:r>
              <a:rPr lang="pt-BR" dirty="0"/>
              <a:t>A área sob a curva ROC é uma medida da qualidade do classificador.</a:t>
            </a:r>
          </a:p>
          <a:p>
            <a:endParaRPr lang="pt-BR" dirty="0"/>
          </a:p>
          <a:p>
            <a:r>
              <a:rPr lang="pt-BR" dirty="0"/>
              <a:t>Referência:</a:t>
            </a:r>
          </a:p>
          <a:p>
            <a:r>
              <a:rPr lang="pt-BR" dirty="0"/>
              <a:t>[1] https://datascience.stackexchange.com/questions/65839/macro-average-and-weighted-average-meaning-in-classification-report</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36</a:t>
            </a:fld>
            <a:endParaRPr lang="pt-BR"/>
          </a:p>
        </p:txBody>
      </p:sp>
    </p:spTree>
    <p:extLst>
      <p:ext uri="{BB962C8B-B14F-4D97-AF65-F5344CB8AC3E}">
        <p14:creationId xmlns:p14="http://schemas.microsoft.com/office/powerpoint/2010/main" val="24998277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1" dirty="0"/>
              <a:t>Laboratório #5:</a:t>
            </a:r>
            <a:r>
              <a:rPr lang="pt-BR" sz="1200" dirty="0"/>
              <a:t> https://mybinder.org/v2/gh/zz4fap/t320_aprendizado_de_maquina/main?filepath=labs%2FLaboratorio5.ipynb</a:t>
            </a:r>
          </a:p>
          <a:p>
            <a:endParaRPr lang="pt-BR" sz="1200" dirty="0"/>
          </a:p>
          <a:p>
            <a:r>
              <a:rPr lang="pt-BR" sz="1200" b="1" dirty="0"/>
              <a:t>Laboratório #5:</a:t>
            </a:r>
            <a:r>
              <a:rPr lang="pt-BR" sz="1200" dirty="0"/>
              <a:t> https://colab.research.google.com/github/zz4fap/t320_aprendizado_de_maquina/blob/main/labs/Laboratorio5.ipynb</a:t>
            </a:r>
          </a:p>
          <a:p>
            <a:endParaRPr lang="pt-BR" sz="1200" dirty="0"/>
          </a:p>
        </p:txBody>
      </p:sp>
      <p:sp>
        <p:nvSpPr>
          <p:cNvPr id="4" name="Slide Number Placeholder 3"/>
          <p:cNvSpPr>
            <a:spLocks noGrp="1"/>
          </p:cNvSpPr>
          <p:nvPr>
            <p:ph type="sldNum" sz="quarter" idx="10"/>
          </p:nvPr>
        </p:nvSpPr>
        <p:spPr/>
        <p:txBody>
          <a:bodyPr/>
          <a:lstStyle/>
          <a:p>
            <a:fld id="{6FC8D850-966F-45A6-8DE7-15B891E7D40D}" type="slidenum">
              <a:rPr lang="pt-BR" smtClean="0"/>
              <a:t>37</a:t>
            </a:fld>
            <a:endParaRPr lang="pt-BR"/>
          </a:p>
        </p:txBody>
      </p:sp>
    </p:spTree>
    <p:extLst>
      <p:ext uri="{BB962C8B-B14F-4D97-AF65-F5344CB8AC3E}">
        <p14:creationId xmlns:p14="http://schemas.microsoft.com/office/powerpoint/2010/main" val="1758614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 xmlns:a16="http://schemas.microsoft.com/office/drawing/2014/main"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 xmlns:a16="http://schemas.microsoft.com/office/drawing/2014/main" id="{9EDE2778-5372-4104-B96D-968184DA8288}"/>
              </a:ext>
            </a:extLst>
          </p:cNvPr>
          <p:cNvSpPr>
            <a:spLocks noGrp="1"/>
          </p:cNvSpPr>
          <p:nvPr>
            <p:ph type="dt" sz="half" idx="10"/>
          </p:nvPr>
        </p:nvSpPr>
        <p:spPr/>
        <p:txBody>
          <a:bodyPr/>
          <a:lstStyle/>
          <a:p>
            <a:fld id="{63289F7E-B80B-496E-81B4-D396C37C9454}" type="datetimeFigureOut">
              <a:rPr lang="pt-BR" smtClean="0"/>
              <a:t>18/09/2026</a:t>
            </a:fld>
            <a:endParaRPr lang="pt-BR"/>
          </a:p>
        </p:txBody>
      </p:sp>
      <p:sp>
        <p:nvSpPr>
          <p:cNvPr id="5" name="Espaço Reservado para Rodapé 4">
            <a:extLst>
              <a:ext uri="{FF2B5EF4-FFF2-40B4-BE49-F238E27FC236}">
                <a16:creationId xmlns="" xmlns:a16="http://schemas.microsoft.com/office/drawing/2014/main"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 xmlns:a16="http://schemas.microsoft.com/office/drawing/2014/main" id="{07E5967E-D980-431A-A5DB-3F0C5030A81E}"/>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 xmlns:a16="http://schemas.microsoft.com/office/drawing/2014/main"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 xmlns:a16="http://schemas.microsoft.com/office/drawing/2014/main" id="{F05BE1AF-51EA-425D-B188-DE7BD675009F}"/>
              </a:ext>
            </a:extLst>
          </p:cNvPr>
          <p:cNvSpPr>
            <a:spLocks noGrp="1"/>
          </p:cNvSpPr>
          <p:nvPr>
            <p:ph type="dt" sz="half" idx="10"/>
          </p:nvPr>
        </p:nvSpPr>
        <p:spPr/>
        <p:txBody>
          <a:bodyPr/>
          <a:lstStyle/>
          <a:p>
            <a:fld id="{63289F7E-B80B-496E-81B4-D396C37C9454}" type="datetimeFigureOut">
              <a:rPr lang="pt-BR" smtClean="0"/>
              <a:t>18/09/2026</a:t>
            </a:fld>
            <a:endParaRPr lang="pt-BR"/>
          </a:p>
        </p:txBody>
      </p:sp>
      <p:sp>
        <p:nvSpPr>
          <p:cNvPr id="5" name="Espaço Reservado para Rodapé 4">
            <a:extLst>
              <a:ext uri="{FF2B5EF4-FFF2-40B4-BE49-F238E27FC236}">
                <a16:creationId xmlns="" xmlns:a16="http://schemas.microsoft.com/office/drawing/2014/main"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 xmlns:a16="http://schemas.microsoft.com/office/drawing/2014/main" id="{60CF3DD1-9AEC-4A57-B461-4E4DD86FAC1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 xmlns:a16="http://schemas.microsoft.com/office/drawing/2014/main"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 xmlns:a16="http://schemas.microsoft.com/office/drawing/2014/main" id="{50F1D3FB-740A-4EBA-A309-2CE71D12ECFB}"/>
              </a:ext>
            </a:extLst>
          </p:cNvPr>
          <p:cNvSpPr>
            <a:spLocks noGrp="1"/>
          </p:cNvSpPr>
          <p:nvPr>
            <p:ph type="dt" sz="half" idx="10"/>
          </p:nvPr>
        </p:nvSpPr>
        <p:spPr/>
        <p:txBody>
          <a:bodyPr/>
          <a:lstStyle/>
          <a:p>
            <a:fld id="{63289F7E-B80B-496E-81B4-D396C37C9454}" type="datetimeFigureOut">
              <a:rPr lang="pt-BR" smtClean="0"/>
              <a:t>18/09/2026</a:t>
            </a:fld>
            <a:endParaRPr lang="pt-BR"/>
          </a:p>
        </p:txBody>
      </p:sp>
      <p:sp>
        <p:nvSpPr>
          <p:cNvPr id="5" name="Espaço Reservado para Rodapé 4">
            <a:extLst>
              <a:ext uri="{FF2B5EF4-FFF2-40B4-BE49-F238E27FC236}">
                <a16:creationId xmlns="" xmlns:a16="http://schemas.microsoft.com/office/drawing/2014/main"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 xmlns:a16="http://schemas.microsoft.com/office/drawing/2014/main" id="{353466C6-8248-429F-8056-FF040BF509EB}"/>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 xmlns:a16="http://schemas.microsoft.com/office/drawing/2014/main"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 xmlns:a16="http://schemas.microsoft.com/office/drawing/2014/main"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 xmlns:a16="http://schemas.microsoft.com/office/drawing/2014/main" id="{938070A4-BC2F-4D55-BD8D-DEAF11BB9EE9}"/>
              </a:ext>
            </a:extLst>
          </p:cNvPr>
          <p:cNvSpPr>
            <a:spLocks noGrp="1"/>
          </p:cNvSpPr>
          <p:nvPr>
            <p:ph type="dt" sz="half" idx="10"/>
          </p:nvPr>
        </p:nvSpPr>
        <p:spPr/>
        <p:txBody>
          <a:bodyPr/>
          <a:lstStyle/>
          <a:p>
            <a:fld id="{63289F7E-B80B-496E-81B4-D396C37C9454}" type="datetimeFigureOut">
              <a:rPr lang="pt-BR" smtClean="0"/>
              <a:t>18/09/2026</a:t>
            </a:fld>
            <a:endParaRPr lang="pt-BR"/>
          </a:p>
        </p:txBody>
      </p:sp>
      <p:sp>
        <p:nvSpPr>
          <p:cNvPr id="6" name="Espaço Reservado para Rodapé 5">
            <a:extLst>
              <a:ext uri="{FF2B5EF4-FFF2-40B4-BE49-F238E27FC236}">
                <a16:creationId xmlns="" xmlns:a16="http://schemas.microsoft.com/office/drawing/2014/main"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 xmlns:a16="http://schemas.microsoft.com/office/drawing/2014/main" id="{4CC606A8-097B-4040-94E0-CD8C88280D8F}"/>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 xmlns:a16="http://schemas.microsoft.com/office/drawing/2014/main"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 xmlns:a16="http://schemas.microsoft.com/office/drawing/2014/main"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 xmlns:a16="http://schemas.microsoft.com/office/drawing/2014/main"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 xmlns:a16="http://schemas.microsoft.com/office/drawing/2014/main"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 xmlns:a16="http://schemas.microsoft.com/office/drawing/2014/main" id="{4172C0E5-5AF0-4805-BB51-443733CD2BD5}"/>
              </a:ext>
            </a:extLst>
          </p:cNvPr>
          <p:cNvSpPr>
            <a:spLocks noGrp="1"/>
          </p:cNvSpPr>
          <p:nvPr>
            <p:ph type="dt" sz="half" idx="10"/>
          </p:nvPr>
        </p:nvSpPr>
        <p:spPr/>
        <p:txBody>
          <a:bodyPr/>
          <a:lstStyle/>
          <a:p>
            <a:fld id="{63289F7E-B80B-496E-81B4-D396C37C9454}" type="datetimeFigureOut">
              <a:rPr lang="pt-BR" smtClean="0"/>
              <a:t>18/09/2026</a:t>
            </a:fld>
            <a:endParaRPr lang="pt-BR"/>
          </a:p>
        </p:txBody>
      </p:sp>
      <p:sp>
        <p:nvSpPr>
          <p:cNvPr id="8" name="Espaço Reservado para Rodapé 7">
            <a:extLst>
              <a:ext uri="{FF2B5EF4-FFF2-40B4-BE49-F238E27FC236}">
                <a16:creationId xmlns="" xmlns:a16="http://schemas.microsoft.com/office/drawing/2014/main"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 xmlns:a16="http://schemas.microsoft.com/office/drawing/2014/main" id="{EEE23D32-80E7-4796-A137-66BF842E4B53}"/>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 xmlns:a16="http://schemas.microsoft.com/office/drawing/2014/main" id="{342600A9-7F92-4E22-9D94-E4717252A817}"/>
              </a:ext>
            </a:extLst>
          </p:cNvPr>
          <p:cNvSpPr>
            <a:spLocks noGrp="1"/>
          </p:cNvSpPr>
          <p:nvPr>
            <p:ph type="dt" sz="half" idx="10"/>
          </p:nvPr>
        </p:nvSpPr>
        <p:spPr/>
        <p:txBody>
          <a:bodyPr/>
          <a:lstStyle/>
          <a:p>
            <a:fld id="{63289F7E-B80B-496E-81B4-D396C37C9454}" type="datetimeFigureOut">
              <a:rPr lang="pt-BR" smtClean="0"/>
              <a:t>18/09/2026</a:t>
            </a:fld>
            <a:endParaRPr lang="pt-BR"/>
          </a:p>
        </p:txBody>
      </p:sp>
      <p:sp>
        <p:nvSpPr>
          <p:cNvPr id="4" name="Espaço Reservado para Rodapé 3">
            <a:extLst>
              <a:ext uri="{FF2B5EF4-FFF2-40B4-BE49-F238E27FC236}">
                <a16:creationId xmlns="" xmlns:a16="http://schemas.microsoft.com/office/drawing/2014/main"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 xmlns:a16="http://schemas.microsoft.com/office/drawing/2014/main" id="{6091CC40-A8C4-4063-80EB-CC509962167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 xmlns:a16="http://schemas.microsoft.com/office/drawing/2014/main" id="{DD19515C-212C-4EAE-84A3-8FF4BC844F1B}"/>
              </a:ext>
            </a:extLst>
          </p:cNvPr>
          <p:cNvSpPr>
            <a:spLocks noGrp="1"/>
          </p:cNvSpPr>
          <p:nvPr>
            <p:ph type="dt" sz="half" idx="10"/>
          </p:nvPr>
        </p:nvSpPr>
        <p:spPr/>
        <p:txBody>
          <a:bodyPr/>
          <a:lstStyle/>
          <a:p>
            <a:fld id="{63289F7E-B80B-496E-81B4-D396C37C9454}" type="datetimeFigureOut">
              <a:rPr lang="pt-BR" smtClean="0"/>
              <a:t>18/09/2026</a:t>
            </a:fld>
            <a:endParaRPr lang="pt-BR"/>
          </a:p>
        </p:txBody>
      </p:sp>
      <p:sp>
        <p:nvSpPr>
          <p:cNvPr id="3" name="Espaço Reservado para Rodapé 2">
            <a:extLst>
              <a:ext uri="{FF2B5EF4-FFF2-40B4-BE49-F238E27FC236}">
                <a16:creationId xmlns="" xmlns:a16="http://schemas.microsoft.com/office/drawing/2014/main"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 xmlns:a16="http://schemas.microsoft.com/office/drawing/2014/main" id="{42E49B68-FA1B-468B-9F17-D5C09243D454}"/>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 xmlns:a16="http://schemas.microsoft.com/office/drawing/2014/main"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 xmlns:a16="http://schemas.microsoft.com/office/drawing/2014/main"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 xmlns:a16="http://schemas.microsoft.com/office/drawing/2014/main" id="{A4DC363A-5000-472E-8B17-02E7DCB8840A}"/>
              </a:ext>
            </a:extLst>
          </p:cNvPr>
          <p:cNvSpPr>
            <a:spLocks noGrp="1"/>
          </p:cNvSpPr>
          <p:nvPr>
            <p:ph type="dt" sz="half" idx="10"/>
          </p:nvPr>
        </p:nvSpPr>
        <p:spPr/>
        <p:txBody>
          <a:bodyPr/>
          <a:lstStyle/>
          <a:p>
            <a:fld id="{63289F7E-B80B-496E-81B4-D396C37C9454}" type="datetimeFigureOut">
              <a:rPr lang="pt-BR" smtClean="0"/>
              <a:t>18/09/2026</a:t>
            </a:fld>
            <a:endParaRPr lang="pt-BR"/>
          </a:p>
        </p:txBody>
      </p:sp>
      <p:sp>
        <p:nvSpPr>
          <p:cNvPr id="6" name="Espaço Reservado para Rodapé 5">
            <a:extLst>
              <a:ext uri="{FF2B5EF4-FFF2-40B4-BE49-F238E27FC236}">
                <a16:creationId xmlns="" xmlns:a16="http://schemas.microsoft.com/office/drawing/2014/main"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 xmlns:a16="http://schemas.microsoft.com/office/drawing/2014/main" id="{C63E9726-E64C-42B2-AE8A-8C235A956B4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 xmlns:a16="http://schemas.microsoft.com/office/drawing/2014/main"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 xmlns:a16="http://schemas.microsoft.com/office/drawing/2014/main"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 xmlns:a16="http://schemas.microsoft.com/office/drawing/2014/main" id="{02113D81-8665-4516-BD81-C6A1F254EECD}"/>
              </a:ext>
            </a:extLst>
          </p:cNvPr>
          <p:cNvSpPr>
            <a:spLocks noGrp="1"/>
          </p:cNvSpPr>
          <p:nvPr>
            <p:ph type="dt" sz="half" idx="10"/>
          </p:nvPr>
        </p:nvSpPr>
        <p:spPr/>
        <p:txBody>
          <a:bodyPr/>
          <a:lstStyle/>
          <a:p>
            <a:fld id="{63289F7E-B80B-496E-81B4-D396C37C9454}" type="datetimeFigureOut">
              <a:rPr lang="pt-BR" smtClean="0"/>
              <a:t>18/09/2026</a:t>
            </a:fld>
            <a:endParaRPr lang="pt-BR"/>
          </a:p>
        </p:txBody>
      </p:sp>
      <p:sp>
        <p:nvSpPr>
          <p:cNvPr id="6" name="Espaço Reservado para Rodapé 5">
            <a:extLst>
              <a:ext uri="{FF2B5EF4-FFF2-40B4-BE49-F238E27FC236}">
                <a16:creationId xmlns="" xmlns:a16="http://schemas.microsoft.com/office/drawing/2014/main"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 xmlns:a16="http://schemas.microsoft.com/office/drawing/2014/main" id="{A04D1A2D-69F7-4B8F-A730-BC26DC340BA6}"/>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 xmlns:a16="http://schemas.microsoft.com/office/drawing/2014/main"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 xmlns:a16="http://schemas.microsoft.com/office/drawing/2014/main" id="{99E8855C-D8FD-48F6-B14E-861E0DE4D915}"/>
              </a:ext>
            </a:extLst>
          </p:cNvPr>
          <p:cNvSpPr>
            <a:spLocks noGrp="1"/>
          </p:cNvSpPr>
          <p:nvPr>
            <p:ph type="dt" sz="half" idx="10"/>
          </p:nvPr>
        </p:nvSpPr>
        <p:spPr/>
        <p:txBody>
          <a:bodyPr/>
          <a:lstStyle/>
          <a:p>
            <a:fld id="{63289F7E-B80B-496E-81B4-D396C37C9454}" type="datetimeFigureOut">
              <a:rPr lang="pt-BR" smtClean="0"/>
              <a:t>18/09/2026</a:t>
            </a:fld>
            <a:endParaRPr lang="pt-BR"/>
          </a:p>
        </p:txBody>
      </p:sp>
      <p:sp>
        <p:nvSpPr>
          <p:cNvPr id="5" name="Espaço Reservado para Rodapé 4">
            <a:extLst>
              <a:ext uri="{FF2B5EF4-FFF2-40B4-BE49-F238E27FC236}">
                <a16:creationId xmlns="" xmlns:a16="http://schemas.microsoft.com/office/drawing/2014/main"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 xmlns:a16="http://schemas.microsoft.com/office/drawing/2014/main" id="{6CB462B3-1F22-4C05-B4B8-7A279FB7D5E9}"/>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 xmlns:a16="http://schemas.microsoft.com/office/drawing/2014/main"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 xmlns:a16="http://schemas.microsoft.com/office/drawing/2014/main"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 xmlns:a16="http://schemas.microsoft.com/office/drawing/2014/main" id="{721D5734-7B1F-425D-942F-6EB73344027C}"/>
              </a:ext>
            </a:extLst>
          </p:cNvPr>
          <p:cNvSpPr>
            <a:spLocks noGrp="1"/>
          </p:cNvSpPr>
          <p:nvPr>
            <p:ph type="dt" sz="half" idx="10"/>
          </p:nvPr>
        </p:nvSpPr>
        <p:spPr/>
        <p:txBody>
          <a:bodyPr/>
          <a:lstStyle/>
          <a:p>
            <a:fld id="{63289F7E-B80B-496E-81B4-D396C37C9454}" type="datetimeFigureOut">
              <a:rPr lang="pt-BR" smtClean="0"/>
              <a:t>18/09/2026</a:t>
            </a:fld>
            <a:endParaRPr lang="pt-BR"/>
          </a:p>
        </p:txBody>
      </p:sp>
      <p:sp>
        <p:nvSpPr>
          <p:cNvPr id="5" name="Espaço Reservado para Rodapé 4">
            <a:extLst>
              <a:ext uri="{FF2B5EF4-FFF2-40B4-BE49-F238E27FC236}">
                <a16:creationId xmlns="" xmlns:a16="http://schemas.microsoft.com/office/drawing/2014/main"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 xmlns:a16="http://schemas.microsoft.com/office/drawing/2014/main" id="{BAA44493-9911-47B2-87A6-C2141A972BC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 xmlns:a16="http://schemas.microsoft.com/office/drawing/2014/main"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 xmlns:a16="http://schemas.microsoft.com/office/drawing/2014/main"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 xmlns:a16="http://schemas.microsoft.com/office/drawing/2014/main"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18/09/2026</a:t>
            </a:fld>
            <a:endParaRPr lang="pt-BR"/>
          </a:p>
        </p:txBody>
      </p:sp>
      <p:sp>
        <p:nvSpPr>
          <p:cNvPr id="5" name="Espaço Reservado para Rodapé 4">
            <a:extLst>
              <a:ext uri="{FF2B5EF4-FFF2-40B4-BE49-F238E27FC236}">
                <a16:creationId xmlns="" xmlns:a16="http://schemas.microsoft.com/office/drawing/2014/main"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 xmlns:a16="http://schemas.microsoft.com/office/drawing/2014/main"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‹nº›</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1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0.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colab.research.google.com/github/zz4fap/t320_aprendizado_de_maquina/blob/main/notebooks/classifica&#231;&#227;o/classification_metrics.ipynb"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colab.research.google.com/github/zz4fap/t320_aprendizado_de_maquina/blob/main/labs/Laboratorio5.ipynb"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github.com/zz4fap/t320_aprendizado_de_maquina/blob/main/docs/Resolu%C3%A7%C3%A3o%20e%20entrega%20dos%20laborat%C3%B3rios.pdf"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149.png"/><Relationship Id="rId7" Type="http://schemas.openxmlformats.org/officeDocument/2006/relationships/image" Target="../media/image148.png"/><Relationship Id="rId2" Type="http://schemas.openxmlformats.org/officeDocument/2006/relationships/image" Target="../media/image410.png"/><Relationship Id="rId1" Type="http://schemas.openxmlformats.org/officeDocument/2006/relationships/slideLayout" Target="../slideLayouts/slideLayout2.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32666AC8-2E17-4DB4-B0F5-60C640CCFD2E}"/>
              </a:ext>
            </a:extLst>
          </p:cNvPr>
          <p:cNvSpPr>
            <a:spLocks noGrp="1"/>
          </p:cNvSpPr>
          <p:nvPr>
            <p:ph type="ctrTitle"/>
          </p:nvPr>
        </p:nvSpPr>
        <p:spPr>
          <a:xfrm>
            <a:off x="1524000" y="819807"/>
            <a:ext cx="9144000" cy="2690156"/>
          </a:xfrm>
        </p:spPr>
        <p:txBody>
          <a:bodyPr>
            <a:normAutofit/>
          </a:bodyPr>
          <a:lstStyle/>
          <a:p>
            <a:r>
              <a:rPr lang="pt-BR" sz="5400" dirty="0"/>
              <a:t>T320 - Introdução ao Aprendizado de Máquina II:</a:t>
            </a:r>
            <a:r>
              <a:rPr lang="pt-BR" dirty="0"/>
              <a:t/>
            </a:r>
            <a:br>
              <a:rPr lang="pt-BR" dirty="0"/>
            </a:br>
            <a:r>
              <a:rPr lang="pt-BR" b="1" i="1" dirty="0"/>
              <a:t>Classificação (Parte V)</a:t>
            </a:r>
          </a:p>
        </p:txBody>
      </p:sp>
      <p:sp>
        <p:nvSpPr>
          <p:cNvPr id="4" name="CaixaDeTexto 3">
            <a:extLst>
              <a:ext uri="{FF2B5EF4-FFF2-40B4-BE49-F238E27FC236}">
                <a16:creationId xmlns="" xmlns:a16="http://schemas.microsoft.com/office/drawing/2014/main" id="{430EB894-B7D4-434C-9D1A-A14094D9BEEC}"/>
              </a:ext>
            </a:extLst>
          </p:cNvPr>
          <p:cNvSpPr txBox="1"/>
          <p:nvPr/>
        </p:nvSpPr>
        <p:spPr>
          <a:xfrm>
            <a:off x="7915802" y="5519955"/>
            <a:ext cx="4004345" cy="677108"/>
          </a:xfrm>
          <a:prstGeom prst="rect">
            <a:avLst/>
          </a:prstGeom>
          <a:noFill/>
        </p:spPr>
        <p:txBody>
          <a:bodyPr wrap="square" rtlCol="0">
            <a:spAutoFit/>
          </a:bodyPr>
          <a:lstStyle/>
          <a:p>
            <a:r>
              <a:rPr lang="pt-BR" sz="2000" dirty="0"/>
              <a:t>Felipe Augusto Pereira de Figueiredo</a:t>
            </a:r>
          </a:p>
          <a:p>
            <a:r>
              <a:rPr lang="pt-BR" dirty="0"/>
              <a:t>felipe.figueiredo@inatel.br</a:t>
            </a:r>
          </a:p>
        </p:txBody>
      </p:sp>
      <p:pic>
        <p:nvPicPr>
          <p:cNvPr id="1026" name="Picture 2" descr="Logo">
            <a:extLst>
              <a:ext uri="{FF2B5EF4-FFF2-40B4-BE49-F238E27FC236}">
                <a16:creationId xmlns="" xmlns:a16="http://schemas.microsoft.com/office/drawing/2014/main"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271853" y="5528345"/>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 xmlns:a16="http://schemas.microsoft.com/office/drawing/2014/main"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4965305" y="3396429"/>
            <a:ext cx="2261389" cy="2237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Recapitulando</a:t>
            </a:r>
          </a:p>
        </p:txBody>
      </p:sp>
      <p:sp>
        <p:nvSpPr>
          <p:cNvPr id="3" name="Content Placeholder 2"/>
          <p:cNvSpPr>
            <a:spLocks noGrp="1"/>
          </p:cNvSpPr>
          <p:nvPr>
            <p:ph idx="1"/>
          </p:nvPr>
        </p:nvSpPr>
        <p:spPr>
          <a:xfrm>
            <a:off x="838199" y="1825624"/>
            <a:ext cx="11101252" cy="5032375"/>
          </a:xfrm>
        </p:spPr>
        <p:txBody>
          <a:bodyPr/>
          <a:lstStyle/>
          <a:p>
            <a:r>
              <a:rPr lang="pt-BR" dirty="0"/>
              <a:t>Anteriormente, vimos como lidar com problemas de classificação que</a:t>
            </a:r>
            <a:br>
              <a:rPr lang="pt-BR" dirty="0"/>
            </a:br>
            <a:r>
              <a:rPr lang="pt-BR" dirty="0"/>
              <a:t>envolvem mais de duas classes, também chamados de problemas de </a:t>
            </a:r>
            <a:r>
              <a:rPr lang="pt-BR" b="1" i="1" dirty="0"/>
              <a:t>classificação multiclasses</a:t>
            </a:r>
            <a:r>
              <a:rPr lang="pt-BR" dirty="0"/>
              <a:t> através das abordagens:</a:t>
            </a:r>
          </a:p>
          <a:p>
            <a:pPr lvl="1">
              <a:buFont typeface="Wingdings" panose="05000000000000000000" pitchFamily="2" charset="2"/>
              <a:buChar char="§"/>
            </a:pPr>
            <a:r>
              <a:rPr lang="pt-BR" dirty="0"/>
              <a:t>Um-Contra-Resto</a:t>
            </a:r>
          </a:p>
          <a:p>
            <a:pPr lvl="1">
              <a:buFont typeface="Wingdings" panose="05000000000000000000" pitchFamily="2" charset="2"/>
              <a:buChar char="§"/>
            </a:pPr>
            <a:r>
              <a:rPr lang="pt-BR" dirty="0"/>
              <a:t>Um-Contra-Um</a:t>
            </a:r>
          </a:p>
          <a:p>
            <a:pPr lvl="1">
              <a:buFont typeface="Wingdings" panose="05000000000000000000" pitchFamily="2" charset="2"/>
              <a:buChar char="§"/>
            </a:pPr>
            <a:r>
              <a:rPr lang="pt-BR" dirty="0"/>
              <a:t>Regressão Softmax</a:t>
            </a:r>
          </a:p>
          <a:p>
            <a:r>
              <a:rPr lang="pt-BR" dirty="0"/>
              <a:t>Neste tópico, veremos as </a:t>
            </a:r>
            <a:r>
              <a:rPr lang="pt-BR" b="1" i="1" dirty="0"/>
              <a:t>métricas</a:t>
            </a:r>
            <a:r>
              <a:rPr lang="pt-BR" dirty="0"/>
              <a:t> mais utilizadas para medir o </a:t>
            </a:r>
            <a:r>
              <a:rPr lang="pt-BR" b="1" i="1" dirty="0"/>
              <a:t>desempenho de classificadores</a:t>
            </a:r>
            <a:r>
              <a:rPr lang="pt-BR" dirty="0"/>
              <a:t>.</a:t>
            </a:r>
            <a:br>
              <a:rPr lang="pt-BR" dirty="0"/>
            </a:br>
            <a:endParaRPr lang="pt-BR" dirty="0"/>
          </a:p>
        </p:txBody>
      </p:sp>
    </p:spTree>
    <p:extLst>
      <p:ext uri="{BB962C8B-B14F-4D97-AF65-F5344CB8AC3E}">
        <p14:creationId xmlns:p14="http://schemas.microsoft.com/office/powerpoint/2010/main" val="844407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pt-BR" dirty="0"/>
              <a:t>Métricas para avaliação de classificadores</a:t>
            </a:r>
          </a:p>
        </p:txBody>
      </p:sp>
      <p:sp>
        <p:nvSpPr>
          <p:cNvPr id="3" name="Content Placeholder 2"/>
          <p:cNvSpPr>
            <a:spLocks noGrp="1"/>
          </p:cNvSpPr>
          <p:nvPr>
            <p:ph idx="1"/>
          </p:nvPr>
        </p:nvSpPr>
        <p:spPr>
          <a:xfrm>
            <a:off x="838199" y="1825624"/>
            <a:ext cx="11017469" cy="5032376"/>
          </a:xfrm>
        </p:spPr>
        <p:txBody>
          <a:bodyPr>
            <a:normAutofit/>
          </a:bodyPr>
          <a:lstStyle/>
          <a:p>
            <a:r>
              <a:rPr lang="pt-BR" sz="3200" dirty="0"/>
              <a:t>As métricas para avalição do desempenho de classificadores que estudaremos são:</a:t>
            </a:r>
          </a:p>
          <a:p>
            <a:pPr lvl="1">
              <a:buFont typeface="Wingdings" panose="05000000000000000000" pitchFamily="2" charset="2"/>
              <a:buChar char="§"/>
            </a:pPr>
            <a:r>
              <a:rPr lang="pt-BR" dirty="0"/>
              <a:t>Matriz de confusão </a:t>
            </a:r>
          </a:p>
          <a:p>
            <a:pPr lvl="2">
              <a:buFont typeface="Courier New" panose="02070309020205020404" pitchFamily="49" charset="0"/>
              <a:buChar char="o"/>
            </a:pPr>
            <a:r>
              <a:rPr lang="pt-BR" dirty="0"/>
              <a:t>Várias métricas podem ser extraídas da matriz.</a:t>
            </a:r>
          </a:p>
          <a:p>
            <a:pPr lvl="1">
              <a:buFont typeface="Wingdings" panose="05000000000000000000" pitchFamily="2" charset="2"/>
              <a:buChar char="§"/>
            </a:pPr>
            <a:r>
              <a:rPr lang="pt-BR" dirty="0"/>
              <a:t>Pontuação-F1 (</a:t>
            </a:r>
            <a:r>
              <a:rPr lang="pt-BR" i="1" dirty="0"/>
              <a:t>F1-score</a:t>
            </a:r>
            <a:r>
              <a:rPr lang="pt-BR" dirty="0"/>
              <a:t>)</a:t>
            </a:r>
          </a:p>
          <a:p>
            <a:pPr lvl="1">
              <a:buFont typeface="Wingdings" panose="05000000000000000000" pitchFamily="2" charset="2"/>
              <a:buChar char="§"/>
            </a:pPr>
            <a:r>
              <a:rPr lang="pt-BR" dirty="0"/>
              <a:t>Curva Característica Operacional do Receptor (do inglês, </a:t>
            </a:r>
            <a:r>
              <a:rPr lang="pt-BR" i="1" dirty="0" err="1"/>
              <a:t>Receiver</a:t>
            </a:r>
            <a:r>
              <a:rPr lang="pt-BR" i="1" dirty="0"/>
              <a:t> Operating Characteristic</a:t>
            </a:r>
            <a:r>
              <a:rPr lang="pt-BR" dirty="0"/>
              <a:t> - ROC)</a:t>
            </a:r>
          </a:p>
        </p:txBody>
      </p:sp>
    </p:spTree>
    <p:extLst>
      <p:ext uri="{BB962C8B-B14F-4D97-AF65-F5344CB8AC3E}">
        <p14:creationId xmlns:p14="http://schemas.microsoft.com/office/powerpoint/2010/main" val="4171670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738E7C4-65BB-5A05-5DF4-FF60F520CB58}"/>
              </a:ext>
            </a:extLst>
          </p:cNvPr>
          <p:cNvSpPr>
            <a:spLocks noGrp="1"/>
          </p:cNvSpPr>
          <p:nvPr>
            <p:ph type="title"/>
          </p:nvPr>
        </p:nvSpPr>
        <p:spPr/>
        <p:txBody>
          <a:bodyPr/>
          <a:lstStyle/>
          <a:p>
            <a:r>
              <a:rPr lang="pt-BR" dirty="0"/>
              <a:t>Matriz de confusão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40ABD154-3AFD-0036-3D3B-BDE0F6C2A332}"/>
                  </a:ext>
                </a:extLst>
              </p:cNvPr>
              <p:cNvSpPr>
                <a:spLocks noGrp="1"/>
              </p:cNvSpPr>
              <p:nvPr>
                <p:ph idx="1"/>
              </p:nvPr>
            </p:nvSpPr>
            <p:spPr>
              <a:xfrm>
                <a:off x="5633156" y="1825624"/>
                <a:ext cx="6423377" cy="5032375"/>
              </a:xfrm>
            </p:spPr>
            <p:txBody>
              <a:bodyPr>
                <a:normAutofit/>
              </a:bodyPr>
              <a:lstStyle/>
              <a:p>
                <a:r>
                  <a:rPr lang="pt-BR" dirty="0"/>
                  <a:t>A</a:t>
                </a:r>
                <a:r>
                  <a:rPr lang="pt-BR" sz="2800" dirty="0"/>
                  <a:t> </a:t>
                </a:r>
                <a:r>
                  <a:rPr lang="pt-BR" sz="2800" b="1" i="1" dirty="0"/>
                  <a:t>matriz de confusão</a:t>
                </a:r>
                <a:r>
                  <a:rPr lang="pt-BR" b="1" i="1" dirty="0"/>
                  <a:t> </a:t>
                </a:r>
                <a:r>
                  <a:rPr lang="pt-BR" dirty="0"/>
                  <a:t>mostra o quanto um </a:t>
                </a:r>
                <a:r>
                  <a:rPr lang="pt-BR" sz="2800" dirty="0"/>
                  <a:t>classificador está se </a:t>
                </a:r>
                <a:r>
                  <a:rPr lang="pt-BR" sz="2800" b="1" i="1" dirty="0"/>
                  <a:t>confundindo</a:t>
                </a:r>
                <a:r>
                  <a:rPr lang="pt-BR" sz="2800" dirty="0"/>
                  <a:t>.</a:t>
                </a:r>
              </a:p>
              <a:p>
                <a:r>
                  <a:rPr lang="pt-BR" sz="2800" dirty="0"/>
                  <a:t>A matriz permite verificar quais classes o </a:t>
                </a:r>
                <a:r>
                  <a:rPr lang="pt-BR" sz="2800" b="1" i="1" dirty="0"/>
                  <a:t>classificador</a:t>
                </a:r>
                <a:r>
                  <a:rPr lang="pt-BR" sz="2800" dirty="0"/>
                  <a:t> tem </a:t>
                </a:r>
                <a:r>
                  <a:rPr lang="pt-BR" sz="2800" b="1" i="1" dirty="0">
                    <a:solidFill>
                      <a:srgbClr val="00B050"/>
                    </a:solidFill>
                  </a:rPr>
                  <a:t>maior dificuldade em classificar</a:t>
                </a:r>
                <a:r>
                  <a:rPr lang="pt-BR" sz="2800" dirty="0"/>
                  <a:t>.</a:t>
                </a:r>
              </a:p>
              <a:p>
                <a:r>
                  <a:rPr lang="pt-BR" sz="2800" dirty="0" smtClean="0"/>
                  <a:t>Ela apresenta </a:t>
                </a:r>
                <a:r>
                  <a:rPr lang="pt-BR" sz="2800" b="1" i="1" dirty="0" smtClean="0">
                    <a:solidFill>
                      <a:srgbClr val="00B050"/>
                    </a:solidFill>
                  </a:rPr>
                  <a:t>o </a:t>
                </a:r>
                <a:r>
                  <a:rPr lang="pt-BR" sz="2800" b="1" i="1" dirty="0">
                    <a:solidFill>
                      <a:srgbClr val="00B050"/>
                    </a:solidFill>
                  </a:rPr>
                  <a:t>número de classificações corretas e incorretas </a:t>
                </a:r>
                <a:r>
                  <a:rPr lang="pt-BR" sz="2800" dirty="0"/>
                  <a:t>para cada uma das </a:t>
                </a:r>
                <a14:m>
                  <m:oMath xmlns:m="http://schemas.openxmlformats.org/officeDocument/2006/math">
                    <m:r>
                      <a:rPr lang="pt-BR" sz="2800" i="1">
                        <a:latin typeface="Cambria Math" panose="02040503050406030204" pitchFamily="18" charset="0"/>
                        <a:ea typeface="Cambria Math" panose="02040503050406030204" pitchFamily="18" charset="0"/>
                      </a:rPr>
                      <m:t>𝑄</m:t>
                    </m:r>
                    <m:r>
                      <a:rPr lang="pt-BR" sz="2800" i="1">
                        <a:latin typeface="Cambria Math" panose="02040503050406030204" pitchFamily="18" charset="0"/>
                        <a:ea typeface="Cambria Math" panose="02040503050406030204" pitchFamily="18" charset="0"/>
                      </a:rPr>
                      <m:t> </m:t>
                    </m:r>
                  </m:oMath>
                </a14:m>
                <a:r>
                  <a:rPr lang="pt-BR" sz="2800" dirty="0"/>
                  <a:t>classes existentes. </a:t>
                </a:r>
              </a:p>
              <a:p>
                <a:r>
                  <a:rPr lang="pt-BR" dirty="0"/>
                  <a:t>É uma </a:t>
                </a:r>
                <a:r>
                  <a:rPr lang="pt-BR" b="1" i="1" dirty="0">
                    <a:solidFill>
                      <a:srgbClr val="00B050"/>
                    </a:solidFill>
                  </a:rPr>
                  <a:t>matriz quadrada </a:t>
                </a:r>
                <a:r>
                  <a:rPr lang="pt-BR" dirty="0"/>
                  <a:t>com dimensões </a:t>
                </a:r>
                <a:r>
                  <a:rPr lang="pt-BR" sz="2800" b="1" i="1" dirty="0"/>
                  <a:t> </a:t>
                </a:r>
                <a14:m>
                  <m:oMath xmlns:m="http://schemas.openxmlformats.org/officeDocument/2006/math">
                    <m:sSup>
                      <m:sSupPr>
                        <m:ctrlPr>
                          <a:rPr lang="pt-BR" sz="2800" i="1">
                            <a:latin typeface="Cambria Math" panose="02040503050406030204" pitchFamily="18" charset="0"/>
                            <a:ea typeface="Cambria Math" panose="02040503050406030204" pitchFamily="18" charset="0"/>
                          </a:rPr>
                        </m:ctrlPr>
                      </m:sSupPr>
                      <m:e>
                        <m:r>
                          <a:rPr lang="pt-BR" sz="2800" i="1">
                            <a:latin typeface="Cambria Math" panose="02040503050406030204" pitchFamily="18" charset="0"/>
                            <a:ea typeface="Cambria Math" panose="02040503050406030204" pitchFamily="18" charset="0"/>
                          </a:rPr>
                          <m:t>ℝ</m:t>
                        </m:r>
                      </m:e>
                      <m:sup>
                        <m:r>
                          <a:rPr lang="pt-BR" sz="2800" i="1">
                            <a:latin typeface="Cambria Math" panose="02040503050406030204" pitchFamily="18" charset="0"/>
                            <a:ea typeface="Cambria Math" panose="02040503050406030204" pitchFamily="18" charset="0"/>
                          </a:rPr>
                          <m:t>𝑄</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𝑄</m:t>
                        </m:r>
                      </m:sup>
                    </m:sSup>
                  </m:oMath>
                </a14:m>
                <a:r>
                  <a:rPr lang="pt-BR" sz="2800" dirty="0"/>
                  <a:t>.</a:t>
                </a: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40ABD154-3AFD-0036-3D3B-BDE0F6C2A332}"/>
                  </a:ext>
                </a:extLst>
              </p:cNvPr>
              <p:cNvSpPr>
                <a:spLocks noGrp="1" noRot="1" noChangeAspect="1" noMove="1" noResize="1" noEditPoints="1" noAdjustHandles="1" noChangeArrowheads="1" noChangeShapeType="1" noTextEdit="1"/>
              </p:cNvSpPr>
              <p:nvPr>
                <p:ph idx="1"/>
              </p:nvPr>
            </p:nvSpPr>
            <p:spPr>
              <a:xfrm>
                <a:off x="5633156" y="1825624"/>
                <a:ext cx="6423377" cy="5032375"/>
              </a:xfrm>
              <a:blipFill rotWithShape="0">
                <a:blip r:embed="rId3"/>
                <a:stretch>
                  <a:fillRect l="-1708" t="-1937" r="-189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 xmlns:a16="http://schemas.microsoft.com/office/drawing/2014/main" id="{9FE2C07F-02D2-0345-E394-150F01C017C4}"/>
                  </a:ext>
                </a:extLst>
              </p:cNvPr>
              <p:cNvSpPr txBox="1"/>
              <p:nvPr/>
            </p:nvSpPr>
            <p:spPr>
              <a:xfrm>
                <a:off x="293509" y="2680677"/>
                <a:ext cx="4854223" cy="21223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3200" b="1" i="1" smtClean="0">
                          <a:latin typeface="Cambria Math" panose="02040503050406030204" pitchFamily="18" charset="0"/>
                        </a:rPr>
                        <m:t>𝑪</m:t>
                      </m:r>
                      <m:r>
                        <a:rPr lang="pt-BR" sz="3200" b="0" i="1" smtClean="0">
                          <a:latin typeface="Cambria Math" panose="02040503050406030204" pitchFamily="18" charset="0"/>
                        </a:rPr>
                        <m:t>=</m:t>
                      </m:r>
                      <m:d>
                        <m:dPr>
                          <m:begChr m:val="["/>
                          <m:endChr m:val="]"/>
                          <m:ctrlPr>
                            <a:rPr lang="pt-BR" sz="3200" b="0" i="1" smtClean="0">
                              <a:latin typeface="Cambria Math" panose="02040503050406030204" pitchFamily="18" charset="0"/>
                            </a:rPr>
                          </m:ctrlPr>
                        </m:dPr>
                        <m:e>
                          <m:m>
                            <m:mPr>
                              <m:mcs>
                                <m:mc>
                                  <m:mcPr>
                                    <m:count m:val="3"/>
                                    <m:mcJc m:val="center"/>
                                  </m:mcPr>
                                </m:mc>
                              </m:mcs>
                              <m:ctrlPr>
                                <a:rPr lang="pt-BR" sz="3200" b="0" i="1" smtClean="0">
                                  <a:latin typeface="Cambria Math" panose="02040503050406030204" pitchFamily="18" charset="0"/>
                                </a:rPr>
                              </m:ctrlPr>
                            </m:mPr>
                            <m:mr>
                              <m:e>
                                <m:m>
                                  <m:mPr>
                                    <m:mcs>
                                      <m:mc>
                                        <m:mcPr>
                                          <m:count m:val="1"/>
                                          <m:mcJc m:val="center"/>
                                        </m:mcPr>
                                      </m:mc>
                                    </m:mcs>
                                    <m:ctrlPr>
                                      <a:rPr lang="pt-BR" sz="3200" b="0" i="1" smtClean="0">
                                        <a:latin typeface="Cambria Math" panose="02040503050406030204" pitchFamily="18" charset="0"/>
                                      </a:rPr>
                                    </m:ctrlPr>
                                  </m:mPr>
                                  <m:mr>
                                    <m:e>
                                      <m:m>
                                        <m:mPr>
                                          <m:mcs>
                                            <m:mc>
                                              <m:mcPr>
                                                <m:count m:val="2"/>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i="1" smtClean="0">
                                                    <a:latin typeface="Cambria Math" panose="02040503050406030204" pitchFamily="18" charset="0"/>
                                                  </a:rPr>
                                                  <m:t>11</m:t>
                                                </m:r>
                                              </m:sub>
                                            </m:sSub>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i="1">
                                                    <a:latin typeface="Cambria Math" panose="02040503050406030204" pitchFamily="18" charset="0"/>
                                                  </a:rPr>
                                                  <m:t>1</m:t>
                                                </m:r>
                                                <m:r>
                                                  <a:rPr lang="pt-BR" sz="3200" b="0" i="1" smtClean="0">
                                                    <a:latin typeface="Cambria Math" panose="02040503050406030204" pitchFamily="18" charset="0"/>
                                                  </a:rPr>
                                                  <m:t>2</m:t>
                                                </m:r>
                                              </m:sub>
                                            </m:sSub>
                                          </m:e>
                                        </m:mr>
                                      </m:m>
                                    </m:e>
                                  </m:mr>
                                  <m:mr>
                                    <m:e>
                                      <m:m>
                                        <m:mPr>
                                          <m:mcs>
                                            <m:mc>
                                              <m:mcPr>
                                                <m:count m:val="2"/>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2</m:t>
                                                </m:r>
                                                <m:r>
                                                  <a:rPr lang="pt-BR" sz="3200" i="1">
                                                    <a:latin typeface="Cambria Math" panose="02040503050406030204" pitchFamily="18" charset="0"/>
                                                  </a:rPr>
                                                  <m:t>1</m:t>
                                                </m:r>
                                              </m:sub>
                                            </m:sSub>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22</m:t>
                                                </m:r>
                                              </m:sub>
                                            </m:sSub>
                                          </m:e>
                                        </m:mr>
                                      </m:m>
                                    </m:e>
                                  </m:mr>
                                </m:m>
                              </m:e>
                              <m:e>
                                <m:r>
                                  <a:rPr lang="pt-BR" sz="3200" b="0" i="1" smtClean="0">
                                    <a:latin typeface="Cambria Math" panose="02040503050406030204" pitchFamily="18" charset="0"/>
                                  </a:rPr>
                                  <m:t>⋯</m:t>
                                </m:r>
                              </m:e>
                              <m:e>
                                <m:m>
                                  <m:mPr>
                                    <m:mcs>
                                      <m:mc>
                                        <m:mcPr>
                                          <m:count m:val="1"/>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i="1">
                                              <a:latin typeface="Cambria Math" panose="02040503050406030204" pitchFamily="18" charset="0"/>
                                            </a:rPr>
                                            <m:t>1</m:t>
                                          </m:r>
                                          <m:r>
                                            <a:rPr lang="pt-BR" sz="3200" i="1">
                                              <a:latin typeface="Cambria Math" panose="02040503050406030204" pitchFamily="18" charset="0"/>
                                            </a:rPr>
                                            <m:t>𝑄</m:t>
                                          </m:r>
                                        </m:sub>
                                      </m:sSub>
                                    </m:e>
                                  </m:m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2</m:t>
                                          </m:r>
                                          <m:r>
                                            <a:rPr lang="pt-BR" sz="3200" i="1">
                                              <a:latin typeface="Cambria Math" panose="02040503050406030204" pitchFamily="18" charset="0"/>
                                            </a:rPr>
                                            <m:t>𝑄</m:t>
                                          </m:r>
                                        </m:sub>
                                      </m:sSub>
                                    </m:e>
                                  </m:mr>
                                </m:m>
                              </m:e>
                            </m:mr>
                            <m:mr>
                              <m:e>
                                <m:r>
                                  <a:rPr lang="pt-BR" sz="3200" b="0" i="1" smtClean="0">
                                    <a:latin typeface="Cambria Math" panose="02040503050406030204" pitchFamily="18" charset="0"/>
                                  </a:rPr>
                                  <m:t>⋮</m:t>
                                </m:r>
                              </m:e>
                              <m:e>
                                <m:r>
                                  <a:rPr lang="pt-BR" sz="3200" b="0" i="1" smtClean="0">
                                    <a:latin typeface="Cambria Math" panose="02040503050406030204" pitchFamily="18" charset="0"/>
                                  </a:rPr>
                                  <m:t>⋱</m:t>
                                </m:r>
                              </m:e>
                              <m:e>
                                <m:r>
                                  <a:rPr lang="pt-BR" sz="3200" b="0" i="1" smtClean="0">
                                    <a:latin typeface="Cambria Math" panose="02040503050406030204" pitchFamily="18" charset="0"/>
                                  </a:rPr>
                                  <m:t>⋮</m:t>
                                </m:r>
                              </m:e>
                            </m:mr>
                            <m:mr>
                              <m:e>
                                <m:m>
                                  <m:mPr>
                                    <m:mcs>
                                      <m:mc>
                                        <m:mcPr>
                                          <m:count m:val="2"/>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𝑄</m:t>
                                          </m:r>
                                          <m:r>
                                            <a:rPr lang="pt-BR" sz="3200" i="1">
                                              <a:latin typeface="Cambria Math" panose="02040503050406030204" pitchFamily="18" charset="0"/>
                                            </a:rPr>
                                            <m:t>1</m:t>
                                          </m:r>
                                        </m:sub>
                                      </m:sSub>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𝑄</m:t>
                                          </m:r>
                                          <m:r>
                                            <a:rPr lang="pt-BR" sz="3200" b="0" i="1" smtClean="0">
                                              <a:latin typeface="Cambria Math" panose="02040503050406030204" pitchFamily="18" charset="0"/>
                                            </a:rPr>
                                            <m:t>2</m:t>
                                          </m:r>
                                        </m:sub>
                                      </m:sSub>
                                    </m:e>
                                  </m:mr>
                                </m:m>
                              </m:e>
                              <m:e>
                                <m:r>
                                  <a:rPr lang="pt-BR" sz="3200" b="0" i="1" smtClean="0">
                                    <a:latin typeface="Cambria Math" panose="02040503050406030204" pitchFamily="18" charset="0"/>
                                  </a:rPr>
                                  <m:t>⋯</m:t>
                                </m:r>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𝑄</m:t>
                                    </m:r>
                                    <m:r>
                                      <a:rPr lang="pt-BR" sz="3200" i="1">
                                        <a:latin typeface="Cambria Math" panose="02040503050406030204" pitchFamily="18" charset="0"/>
                                      </a:rPr>
                                      <m:t>𝑄</m:t>
                                    </m:r>
                                  </m:sub>
                                </m:sSub>
                              </m:e>
                            </m:mr>
                          </m:m>
                        </m:e>
                      </m:d>
                    </m:oMath>
                  </m:oMathPara>
                </a14:m>
                <a:endParaRPr lang="pt-BR" sz="2400" dirty="0"/>
              </a:p>
            </p:txBody>
          </p:sp>
        </mc:Choice>
        <mc:Fallback xmlns="">
          <p:sp>
            <p:nvSpPr>
              <p:cNvPr id="5" name="CaixaDeTexto 4">
                <a:extLst>
                  <a:ext uri="{FF2B5EF4-FFF2-40B4-BE49-F238E27FC236}">
                    <a16:creationId xmlns:a16="http://schemas.microsoft.com/office/drawing/2014/main" id="{9FE2C07F-02D2-0345-E394-150F01C017C4}"/>
                  </a:ext>
                </a:extLst>
              </p:cNvPr>
              <p:cNvSpPr txBox="1">
                <a:spLocks noRot="1" noChangeAspect="1" noMove="1" noResize="1" noEditPoints="1" noAdjustHandles="1" noChangeArrowheads="1" noChangeShapeType="1" noTextEdit="1"/>
              </p:cNvSpPr>
              <p:nvPr/>
            </p:nvSpPr>
            <p:spPr>
              <a:xfrm>
                <a:off x="293509" y="2680677"/>
                <a:ext cx="4854223" cy="2122312"/>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 name="CaixaDeTexto 3">
                <a:extLst>
                  <a:ext uri="{FF2B5EF4-FFF2-40B4-BE49-F238E27FC236}">
                    <a16:creationId xmlns="" xmlns:a16="http://schemas.microsoft.com/office/drawing/2014/main" id="{97BEBCA3-C3A9-7150-9856-4668D0593A6C}"/>
                  </a:ext>
                </a:extLst>
              </p:cNvPr>
              <p:cNvSpPr txBox="1"/>
              <p:nvPr/>
            </p:nvSpPr>
            <p:spPr>
              <a:xfrm>
                <a:off x="0" y="6550222"/>
                <a:ext cx="4887813" cy="307777"/>
              </a:xfrm>
              <a:prstGeom prst="rect">
                <a:avLst/>
              </a:prstGeom>
              <a:noFill/>
            </p:spPr>
            <p:txBody>
              <a:bodyPr wrap="none" rtlCol="0">
                <a:spAutoFit/>
              </a:bodyPr>
              <a:lstStyle/>
              <a:p>
                <a:r>
                  <a:rPr lang="pt-BR" sz="1400" b="1" dirty="0"/>
                  <a:t>OBS</a:t>
                </a:r>
                <a:r>
                  <a:rPr lang="pt-BR" sz="1400" dirty="0"/>
                  <a:t>.: Os índices das classes podem começar em 0 e ir até </a:t>
                </a:r>
                <a14:m>
                  <m:oMath xmlns:m="http://schemas.openxmlformats.org/officeDocument/2006/math">
                    <m:r>
                      <a:rPr lang="pt-BR" sz="1400" i="1" smtClean="0">
                        <a:latin typeface="Cambria Math" panose="02040503050406030204" pitchFamily="18" charset="0"/>
                        <a:ea typeface="Cambria Math" panose="02040503050406030204" pitchFamily="18" charset="0"/>
                      </a:rPr>
                      <m:t>𝑄</m:t>
                    </m:r>
                    <m:r>
                      <a:rPr lang="pt-BR" sz="1400" b="0" i="1" smtClean="0">
                        <a:latin typeface="Cambria Math" panose="02040503050406030204" pitchFamily="18" charset="0"/>
                        <a:ea typeface="Cambria Math" panose="02040503050406030204" pitchFamily="18" charset="0"/>
                      </a:rPr>
                      <m:t>−1</m:t>
                    </m:r>
                  </m:oMath>
                </a14:m>
                <a:r>
                  <a:rPr lang="pt-BR" sz="1400" dirty="0"/>
                  <a:t>.</a:t>
                </a:r>
              </a:p>
            </p:txBody>
          </p:sp>
        </mc:Choice>
        <mc:Fallback xmlns="">
          <p:sp>
            <p:nvSpPr>
              <p:cNvPr id="4" name="CaixaDeTexto 3">
                <a:extLst>
                  <a:ext uri="{FF2B5EF4-FFF2-40B4-BE49-F238E27FC236}">
                    <a16:creationId xmlns:a16="http://schemas.microsoft.com/office/drawing/2014/main" id="{97BEBCA3-C3A9-7150-9856-4668D0593A6C}"/>
                  </a:ext>
                </a:extLst>
              </p:cNvPr>
              <p:cNvSpPr txBox="1">
                <a:spLocks noRot="1" noChangeAspect="1" noMove="1" noResize="1" noEditPoints="1" noAdjustHandles="1" noChangeArrowheads="1" noChangeShapeType="1" noTextEdit="1"/>
              </p:cNvSpPr>
              <p:nvPr/>
            </p:nvSpPr>
            <p:spPr>
              <a:xfrm>
                <a:off x="0" y="6550222"/>
                <a:ext cx="4887813" cy="307777"/>
              </a:xfrm>
              <a:prstGeom prst="rect">
                <a:avLst/>
              </a:prstGeom>
              <a:blipFill>
                <a:blip r:embed="rId5"/>
                <a:stretch>
                  <a:fillRect l="-374" t="-4000" b="-20000"/>
                </a:stretch>
              </a:blipFill>
            </p:spPr>
            <p:txBody>
              <a:bodyPr/>
              <a:lstStyle/>
              <a:p>
                <a:r>
                  <a:rPr lang="pt-BR">
                    <a:noFill/>
                  </a:rPr>
                  <a:t> </a:t>
                </a:r>
              </a:p>
            </p:txBody>
          </p:sp>
        </mc:Fallback>
      </mc:AlternateContent>
    </p:spTree>
    <p:extLst>
      <p:ext uri="{BB962C8B-B14F-4D97-AF65-F5344CB8AC3E}">
        <p14:creationId xmlns:p14="http://schemas.microsoft.com/office/powerpoint/2010/main" val="536331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738E7C4-65BB-5A05-5DF4-FF60F520CB58}"/>
              </a:ext>
            </a:extLst>
          </p:cNvPr>
          <p:cNvSpPr>
            <a:spLocks noGrp="1"/>
          </p:cNvSpPr>
          <p:nvPr>
            <p:ph type="title"/>
          </p:nvPr>
        </p:nvSpPr>
        <p:spPr/>
        <p:txBody>
          <a:bodyPr/>
          <a:lstStyle/>
          <a:p>
            <a:r>
              <a:rPr lang="pt-BR" dirty="0"/>
              <a:t>Matriz de confusão</a:t>
            </a:r>
          </a:p>
        </p:txBody>
      </p:sp>
      <mc:AlternateContent xmlns:mc="http://schemas.openxmlformats.org/markup-compatibility/2006" xmlns:a14="http://schemas.microsoft.com/office/drawing/2010/main">
        <mc:Choice Requires="a14">
          <p:sp>
            <p:nvSpPr>
              <p:cNvPr id="5" name="CaixaDeTexto 4">
                <a:extLst>
                  <a:ext uri="{FF2B5EF4-FFF2-40B4-BE49-F238E27FC236}">
                    <a16:creationId xmlns="" xmlns:a16="http://schemas.microsoft.com/office/drawing/2014/main" id="{9FE2C07F-02D2-0345-E394-150F01C017C4}"/>
                  </a:ext>
                </a:extLst>
              </p:cNvPr>
              <p:cNvSpPr txBox="1"/>
              <p:nvPr/>
            </p:nvSpPr>
            <p:spPr>
              <a:xfrm>
                <a:off x="4114741" y="2367844"/>
                <a:ext cx="4854223" cy="21223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pt-BR" sz="3200" b="0" i="1" smtClean="0">
                              <a:latin typeface="Cambria Math" panose="02040503050406030204" pitchFamily="18" charset="0"/>
                            </a:rPr>
                          </m:ctrlPr>
                        </m:dPr>
                        <m:e>
                          <m:m>
                            <m:mPr>
                              <m:mcs>
                                <m:mc>
                                  <m:mcPr>
                                    <m:count m:val="3"/>
                                    <m:mcJc m:val="center"/>
                                  </m:mcPr>
                                </m:mc>
                              </m:mcs>
                              <m:ctrlPr>
                                <a:rPr lang="pt-BR" sz="3200" b="0" i="1" smtClean="0">
                                  <a:latin typeface="Cambria Math" panose="02040503050406030204" pitchFamily="18" charset="0"/>
                                </a:rPr>
                              </m:ctrlPr>
                            </m:mPr>
                            <m:mr>
                              <m:e>
                                <m:m>
                                  <m:mPr>
                                    <m:mcs>
                                      <m:mc>
                                        <m:mcPr>
                                          <m:count m:val="1"/>
                                          <m:mcJc m:val="center"/>
                                        </m:mcPr>
                                      </m:mc>
                                    </m:mcs>
                                    <m:ctrlPr>
                                      <a:rPr lang="pt-BR" sz="3200" b="0" i="1" smtClean="0">
                                        <a:latin typeface="Cambria Math" panose="02040503050406030204" pitchFamily="18" charset="0"/>
                                      </a:rPr>
                                    </m:ctrlPr>
                                  </m:mPr>
                                  <m:mr>
                                    <m:e>
                                      <m:m>
                                        <m:mPr>
                                          <m:mcs>
                                            <m:mc>
                                              <m:mcPr>
                                                <m:count m:val="2"/>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i="1">
                                                    <a:latin typeface="Cambria Math" panose="02040503050406030204" pitchFamily="18" charset="0"/>
                                                  </a:rPr>
                                                  <m:t>11</m:t>
                                                </m:r>
                                              </m:sub>
                                            </m:sSub>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i="1">
                                                    <a:latin typeface="Cambria Math" panose="02040503050406030204" pitchFamily="18" charset="0"/>
                                                  </a:rPr>
                                                  <m:t>1</m:t>
                                                </m:r>
                                                <m:r>
                                                  <a:rPr lang="pt-BR" sz="3200" b="0" i="1" smtClean="0">
                                                    <a:latin typeface="Cambria Math" panose="02040503050406030204" pitchFamily="18" charset="0"/>
                                                  </a:rPr>
                                                  <m:t>2</m:t>
                                                </m:r>
                                              </m:sub>
                                            </m:sSub>
                                          </m:e>
                                        </m:mr>
                                      </m:m>
                                    </m:e>
                                  </m:mr>
                                  <m:mr>
                                    <m:e>
                                      <m:m>
                                        <m:mPr>
                                          <m:mcs>
                                            <m:mc>
                                              <m:mcPr>
                                                <m:count m:val="2"/>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2</m:t>
                                                </m:r>
                                                <m:r>
                                                  <a:rPr lang="pt-BR" sz="3200" i="1">
                                                    <a:latin typeface="Cambria Math" panose="02040503050406030204" pitchFamily="18" charset="0"/>
                                                  </a:rPr>
                                                  <m:t>1</m:t>
                                                </m:r>
                                              </m:sub>
                                            </m:sSub>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22</m:t>
                                                </m:r>
                                              </m:sub>
                                            </m:sSub>
                                          </m:e>
                                        </m:mr>
                                      </m:m>
                                    </m:e>
                                  </m:mr>
                                </m:m>
                              </m:e>
                              <m:e>
                                <m:r>
                                  <a:rPr lang="pt-BR" sz="3200" b="0" i="1" smtClean="0">
                                    <a:latin typeface="Cambria Math" panose="02040503050406030204" pitchFamily="18" charset="0"/>
                                  </a:rPr>
                                  <m:t>⋯</m:t>
                                </m:r>
                              </m:e>
                              <m:e>
                                <m:m>
                                  <m:mPr>
                                    <m:mcs>
                                      <m:mc>
                                        <m:mcPr>
                                          <m:count m:val="1"/>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i="1">
                                              <a:latin typeface="Cambria Math" panose="02040503050406030204" pitchFamily="18" charset="0"/>
                                            </a:rPr>
                                            <m:t>1</m:t>
                                          </m:r>
                                          <m:r>
                                            <a:rPr lang="pt-BR" sz="3200" i="1">
                                              <a:latin typeface="Cambria Math" panose="02040503050406030204" pitchFamily="18" charset="0"/>
                                            </a:rPr>
                                            <m:t>𝑄</m:t>
                                          </m:r>
                                        </m:sub>
                                      </m:sSub>
                                    </m:e>
                                  </m:m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2</m:t>
                                          </m:r>
                                          <m:r>
                                            <a:rPr lang="pt-BR" sz="3200" i="1">
                                              <a:latin typeface="Cambria Math" panose="02040503050406030204" pitchFamily="18" charset="0"/>
                                            </a:rPr>
                                            <m:t>𝑄</m:t>
                                          </m:r>
                                        </m:sub>
                                      </m:sSub>
                                    </m:e>
                                  </m:mr>
                                </m:m>
                              </m:e>
                            </m:mr>
                            <m:mr>
                              <m:e>
                                <m:r>
                                  <a:rPr lang="pt-BR" sz="3200" b="0" i="1" smtClean="0">
                                    <a:latin typeface="Cambria Math" panose="02040503050406030204" pitchFamily="18" charset="0"/>
                                  </a:rPr>
                                  <m:t>⋮</m:t>
                                </m:r>
                              </m:e>
                              <m:e>
                                <m:r>
                                  <a:rPr lang="pt-BR" sz="3200" b="0" i="1" smtClean="0">
                                    <a:latin typeface="Cambria Math" panose="02040503050406030204" pitchFamily="18" charset="0"/>
                                  </a:rPr>
                                  <m:t>⋱</m:t>
                                </m:r>
                              </m:e>
                              <m:e>
                                <m:r>
                                  <a:rPr lang="pt-BR" sz="3200" b="0" i="1" smtClean="0">
                                    <a:latin typeface="Cambria Math" panose="02040503050406030204" pitchFamily="18" charset="0"/>
                                  </a:rPr>
                                  <m:t>⋮</m:t>
                                </m:r>
                              </m:e>
                            </m:mr>
                            <m:mr>
                              <m:e>
                                <m:m>
                                  <m:mPr>
                                    <m:mcs>
                                      <m:mc>
                                        <m:mcPr>
                                          <m:count m:val="2"/>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𝑄</m:t>
                                          </m:r>
                                          <m:r>
                                            <a:rPr lang="pt-BR" sz="3200" i="1">
                                              <a:latin typeface="Cambria Math" panose="02040503050406030204" pitchFamily="18" charset="0"/>
                                            </a:rPr>
                                            <m:t>1</m:t>
                                          </m:r>
                                        </m:sub>
                                      </m:sSub>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𝑄</m:t>
                                          </m:r>
                                          <m:r>
                                            <a:rPr lang="pt-BR" sz="3200" b="0" i="1" smtClean="0">
                                              <a:latin typeface="Cambria Math" panose="02040503050406030204" pitchFamily="18" charset="0"/>
                                            </a:rPr>
                                            <m:t>2</m:t>
                                          </m:r>
                                        </m:sub>
                                      </m:sSub>
                                    </m:e>
                                  </m:mr>
                                </m:m>
                              </m:e>
                              <m:e>
                                <m:r>
                                  <a:rPr lang="pt-BR" sz="3200" b="0" i="1" smtClean="0">
                                    <a:latin typeface="Cambria Math" panose="02040503050406030204" pitchFamily="18" charset="0"/>
                                  </a:rPr>
                                  <m:t>⋯</m:t>
                                </m:r>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𝑄</m:t>
                                    </m:r>
                                    <m:r>
                                      <a:rPr lang="pt-BR" sz="3200" i="1">
                                        <a:latin typeface="Cambria Math" panose="02040503050406030204" pitchFamily="18" charset="0"/>
                                      </a:rPr>
                                      <m:t>𝑄</m:t>
                                    </m:r>
                                  </m:sub>
                                </m:sSub>
                              </m:e>
                            </m:mr>
                          </m:m>
                        </m:e>
                      </m:d>
                    </m:oMath>
                  </m:oMathPara>
                </a14:m>
                <a:endParaRPr lang="pt-BR" sz="2400" dirty="0"/>
              </a:p>
            </p:txBody>
          </p:sp>
        </mc:Choice>
        <mc:Fallback xmlns="">
          <p:sp>
            <p:nvSpPr>
              <p:cNvPr id="5" name="CaixaDeTexto 4">
                <a:extLst>
                  <a:ext uri="{FF2B5EF4-FFF2-40B4-BE49-F238E27FC236}">
                    <a16:creationId xmlns:a16="http://schemas.microsoft.com/office/drawing/2014/main" id="{9FE2C07F-02D2-0345-E394-150F01C017C4}"/>
                  </a:ext>
                </a:extLst>
              </p:cNvPr>
              <p:cNvSpPr txBox="1">
                <a:spLocks noRot="1" noChangeAspect="1" noMove="1" noResize="1" noEditPoints="1" noAdjustHandles="1" noChangeArrowheads="1" noChangeShapeType="1" noTextEdit="1"/>
              </p:cNvSpPr>
              <p:nvPr/>
            </p:nvSpPr>
            <p:spPr>
              <a:xfrm>
                <a:off x="4114741" y="2367844"/>
                <a:ext cx="4854223" cy="2122312"/>
              </a:xfrm>
              <a:prstGeom prst="rect">
                <a:avLst/>
              </a:prstGeom>
              <a:blipFill>
                <a:blip r:embed="rId3"/>
                <a:stretch>
                  <a:fillRect/>
                </a:stretch>
              </a:blipFill>
            </p:spPr>
            <p:txBody>
              <a:bodyPr/>
              <a:lstStyle/>
              <a:p>
                <a:r>
                  <a:rPr lang="pt-BR">
                    <a:noFill/>
                  </a:rPr>
                  <a:t> </a:t>
                </a:r>
              </a:p>
            </p:txBody>
          </p:sp>
        </mc:Fallback>
      </mc:AlternateContent>
      <p:sp>
        <p:nvSpPr>
          <p:cNvPr id="4" name="Chave Direita 3">
            <a:extLst>
              <a:ext uri="{FF2B5EF4-FFF2-40B4-BE49-F238E27FC236}">
                <a16:creationId xmlns="" xmlns:a16="http://schemas.microsoft.com/office/drawing/2014/main" id="{314F6830-34E9-8654-9AF0-D69DE9FAE980}"/>
              </a:ext>
            </a:extLst>
          </p:cNvPr>
          <p:cNvSpPr/>
          <p:nvPr/>
        </p:nvSpPr>
        <p:spPr>
          <a:xfrm rot="16200000" flipH="1">
            <a:off x="6371397" y="2963136"/>
            <a:ext cx="340913" cy="339495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6" name="CaixaDeTexto 5">
            <a:extLst>
              <a:ext uri="{FF2B5EF4-FFF2-40B4-BE49-F238E27FC236}">
                <a16:creationId xmlns="" xmlns:a16="http://schemas.microsoft.com/office/drawing/2014/main" id="{AA46DBC8-FBDE-250B-240D-193F0A609C0C}"/>
              </a:ext>
            </a:extLst>
          </p:cNvPr>
          <p:cNvSpPr txBox="1"/>
          <p:nvPr/>
        </p:nvSpPr>
        <p:spPr>
          <a:xfrm>
            <a:off x="4692770" y="4846951"/>
            <a:ext cx="3726611" cy="923330"/>
          </a:xfrm>
          <a:prstGeom prst="rect">
            <a:avLst/>
          </a:prstGeom>
          <a:noFill/>
        </p:spPr>
        <p:txBody>
          <a:bodyPr wrap="square" rtlCol="0">
            <a:spAutoFit/>
          </a:bodyPr>
          <a:lstStyle/>
          <a:p>
            <a:pPr algn="ctr"/>
            <a:r>
              <a:rPr lang="pt-BR" b="1" i="1" dirty="0" smtClean="0">
                <a:solidFill>
                  <a:srgbClr val="00B050"/>
                </a:solidFill>
              </a:rPr>
              <a:t>Colunas representam os rótulos</a:t>
            </a:r>
            <a:r>
              <a:rPr lang="pt-BR" dirty="0"/>
              <a:t>: classes a que realmente os exemplos </a:t>
            </a:r>
            <a:r>
              <a:rPr lang="pt-BR" dirty="0" smtClean="0"/>
              <a:t>pertencem</a:t>
            </a:r>
            <a:endParaRPr lang="pt-BR" dirty="0"/>
          </a:p>
        </p:txBody>
      </p:sp>
      <p:sp>
        <p:nvSpPr>
          <p:cNvPr id="7" name="Chave Direita 6">
            <a:extLst>
              <a:ext uri="{FF2B5EF4-FFF2-40B4-BE49-F238E27FC236}">
                <a16:creationId xmlns="" xmlns:a16="http://schemas.microsoft.com/office/drawing/2014/main" id="{E94D5995-3604-C1B4-B485-9B393568D39B}"/>
              </a:ext>
            </a:extLst>
          </p:cNvPr>
          <p:cNvSpPr/>
          <p:nvPr/>
        </p:nvSpPr>
        <p:spPr>
          <a:xfrm flipH="1">
            <a:off x="4172678" y="2509734"/>
            <a:ext cx="340913" cy="183852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8" name="CaixaDeTexto 7">
            <a:extLst>
              <a:ext uri="{FF2B5EF4-FFF2-40B4-BE49-F238E27FC236}">
                <a16:creationId xmlns="" xmlns:a16="http://schemas.microsoft.com/office/drawing/2014/main" id="{AF3B44CB-FB5A-9774-1C6B-808D8FC9AA1C}"/>
              </a:ext>
            </a:extLst>
          </p:cNvPr>
          <p:cNvSpPr txBox="1"/>
          <p:nvPr/>
        </p:nvSpPr>
        <p:spPr>
          <a:xfrm>
            <a:off x="707366" y="2950555"/>
            <a:ext cx="3407375" cy="923330"/>
          </a:xfrm>
          <a:prstGeom prst="rect">
            <a:avLst/>
          </a:prstGeom>
          <a:noFill/>
        </p:spPr>
        <p:txBody>
          <a:bodyPr wrap="square" rtlCol="0">
            <a:spAutoFit/>
          </a:bodyPr>
          <a:lstStyle/>
          <a:p>
            <a:pPr algn="ctr"/>
            <a:r>
              <a:rPr lang="pt-BR" b="1" i="1" dirty="0" smtClean="0">
                <a:solidFill>
                  <a:srgbClr val="00B050"/>
                </a:solidFill>
              </a:rPr>
              <a:t>Linhas representam as predições</a:t>
            </a:r>
            <a:r>
              <a:rPr lang="pt-BR" dirty="0"/>
              <a:t>: classes a que os exemplos foram atribuídos</a:t>
            </a:r>
          </a:p>
        </p:txBody>
      </p:sp>
      <p:sp>
        <p:nvSpPr>
          <p:cNvPr id="3" name="Retângulo 2"/>
          <p:cNvSpPr/>
          <p:nvPr/>
        </p:nvSpPr>
        <p:spPr>
          <a:xfrm>
            <a:off x="-24442" y="6581001"/>
            <a:ext cx="7263442" cy="276999"/>
          </a:xfrm>
          <a:prstGeom prst="rect">
            <a:avLst/>
          </a:prstGeom>
        </p:spPr>
        <p:txBody>
          <a:bodyPr wrap="square">
            <a:spAutoFit/>
          </a:bodyPr>
          <a:lstStyle/>
          <a:p>
            <a:r>
              <a:rPr lang="pt-BR" sz="1200" dirty="0" smtClean="0">
                <a:latin typeface="Calibri" panose="020F0502020204030204" pitchFamily="34" charset="0"/>
              </a:rPr>
              <a:t>*</a:t>
            </a:r>
            <a:r>
              <a:rPr lang="pt-BR" sz="1200" dirty="0">
                <a:latin typeface="Calibri" panose="020F0502020204030204" pitchFamily="34" charset="0"/>
              </a:rPr>
              <a:t>OBS.: Em geral se apresenta a matriz desta forma, mas ela pode ser encontrada transposta também.</a:t>
            </a:r>
            <a:endParaRPr lang="pt-BR" sz="1200" dirty="0"/>
          </a:p>
        </p:txBody>
      </p:sp>
    </p:spTree>
    <p:extLst>
      <p:ext uri="{BB962C8B-B14F-4D97-AF65-F5344CB8AC3E}">
        <p14:creationId xmlns:p14="http://schemas.microsoft.com/office/powerpoint/2010/main" val="4252130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738E7C4-65BB-5A05-5DF4-FF60F520CB58}"/>
              </a:ext>
            </a:extLst>
          </p:cNvPr>
          <p:cNvSpPr>
            <a:spLocks noGrp="1"/>
          </p:cNvSpPr>
          <p:nvPr>
            <p:ph type="title"/>
          </p:nvPr>
        </p:nvSpPr>
        <p:spPr/>
        <p:txBody>
          <a:bodyPr/>
          <a:lstStyle/>
          <a:p>
            <a:r>
              <a:rPr lang="pt-BR" dirty="0"/>
              <a:t>Matriz de confusão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40ABD154-3AFD-0036-3D3B-BDE0F6C2A332}"/>
                  </a:ext>
                </a:extLst>
              </p:cNvPr>
              <p:cNvSpPr>
                <a:spLocks noGrp="1"/>
              </p:cNvSpPr>
              <p:nvPr>
                <p:ph idx="1"/>
              </p:nvPr>
            </p:nvSpPr>
            <p:spPr>
              <a:xfrm>
                <a:off x="5633156" y="1825624"/>
                <a:ext cx="6423377" cy="5032375"/>
              </a:xfrm>
            </p:spPr>
            <p:txBody>
              <a:bodyPr>
                <a:normAutofit/>
              </a:bodyPr>
              <a:lstStyle/>
              <a:p>
                <a:r>
                  <a:rPr lang="pt-BR" sz="2800" dirty="0"/>
                  <a:t>A </a:t>
                </a:r>
                <a:r>
                  <a:rPr lang="pt-BR" sz="2800" b="1" i="1" dirty="0">
                    <a:solidFill>
                      <a:srgbClr val="00B050"/>
                    </a:solidFill>
                  </a:rPr>
                  <a:t>diagonal principal </a:t>
                </a:r>
                <a:r>
                  <a:rPr lang="pt-BR" sz="2800" dirty="0"/>
                  <a:t>de </a:t>
                </a:r>
                <a14:m>
                  <m:oMath xmlns:m="http://schemas.openxmlformats.org/officeDocument/2006/math">
                    <m:r>
                      <a:rPr lang="pt-BR" sz="2800" b="1" i="1">
                        <a:latin typeface="Cambria Math" panose="02040503050406030204" pitchFamily="18" charset="0"/>
                      </a:rPr>
                      <m:t>𝑪</m:t>
                    </m:r>
                  </m:oMath>
                </a14:m>
                <a:r>
                  <a:rPr lang="pt-BR" sz="2800" dirty="0"/>
                  <a:t> fornece o número de </a:t>
                </a:r>
                <a:r>
                  <a:rPr lang="pt-BR" sz="2800" b="1" i="1" dirty="0">
                    <a:solidFill>
                      <a:srgbClr val="00B050"/>
                    </a:solidFill>
                  </a:rPr>
                  <a:t>classificações corretas</a:t>
                </a:r>
                <a:r>
                  <a:rPr lang="pt-BR" sz="2800" dirty="0"/>
                  <a:t>.</a:t>
                </a:r>
              </a:p>
              <a:p>
                <a:r>
                  <a:rPr lang="pt-BR" sz="2800" dirty="0"/>
                  <a:t>A </a:t>
                </a:r>
                <a14:m>
                  <m:oMath xmlns:m="http://schemas.openxmlformats.org/officeDocument/2006/math">
                    <m:r>
                      <a:rPr lang="pt-BR" sz="2800" b="0" i="1" smtClean="0">
                        <a:latin typeface="Cambria Math" panose="02040503050406030204" pitchFamily="18" charset="0"/>
                      </a:rPr>
                      <m:t>𝑞</m:t>
                    </m:r>
                  </m:oMath>
                </a14:m>
                <a:r>
                  <a:rPr lang="pt-BR" sz="2800" dirty="0"/>
                  <a:t>-</a:t>
                </a:r>
                <a:r>
                  <a:rPr lang="pt-BR" sz="2800" dirty="0" err="1"/>
                  <a:t>ésima</a:t>
                </a:r>
                <a:r>
                  <a:rPr lang="pt-BR" sz="2800" dirty="0"/>
                  <a:t> </a:t>
                </a:r>
                <a:r>
                  <a:rPr lang="pt-BR" sz="2800" b="1" i="1" dirty="0">
                    <a:solidFill>
                      <a:srgbClr val="7030A0"/>
                    </a:solidFill>
                  </a:rPr>
                  <a:t>linha</a:t>
                </a:r>
                <a:r>
                  <a:rPr lang="pt-BR" sz="2800" dirty="0"/>
                  <a:t> indica o </a:t>
                </a:r>
                <a:r>
                  <a:rPr lang="pt-BR" sz="2800" b="1" i="1" dirty="0">
                    <a:solidFill>
                      <a:srgbClr val="00B050"/>
                    </a:solidFill>
                  </a:rPr>
                  <a:t>total de exemplos que foram classificados como pertencentes </a:t>
                </a:r>
                <a:r>
                  <a:rPr lang="pt-BR" sz="2800" b="1" i="1" dirty="0" smtClean="0">
                    <a:solidFill>
                      <a:srgbClr val="00B050"/>
                    </a:solidFill>
                  </a:rPr>
                  <a:t>à </a:t>
                </a:r>
                <a14:m>
                  <m:oMath xmlns:m="http://schemas.openxmlformats.org/officeDocument/2006/math">
                    <m:r>
                      <a:rPr lang="pt-BR" sz="2800" b="1" i="1">
                        <a:solidFill>
                          <a:srgbClr val="00B050"/>
                        </a:solidFill>
                        <a:latin typeface="Cambria Math" panose="02040503050406030204" pitchFamily="18" charset="0"/>
                      </a:rPr>
                      <m:t>𝒒</m:t>
                    </m:r>
                  </m:oMath>
                </a14:m>
                <a:r>
                  <a:rPr lang="pt-BR" sz="2800" b="1" i="1" dirty="0">
                    <a:solidFill>
                      <a:srgbClr val="00B050"/>
                    </a:solidFill>
                  </a:rPr>
                  <a:t>-</a:t>
                </a:r>
                <a:r>
                  <a:rPr lang="pt-BR" sz="2800" b="1" i="1" dirty="0" err="1">
                    <a:solidFill>
                      <a:srgbClr val="00B050"/>
                    </a:solidFill>
                  </a:rPr>
                  <a:t>ésima</a:t>
                </a:r>
                <a:r>
                  <a:rPr lang="pt-BR" sz="2800" b="1" i="1" dirty="0">
                    <a:solidFill>
                      <a:srgbClr val="00B050"/>
                    </a:solidFill>
                  </a:rPr>
                  <a:t> classe</a:t>
                </a:r>
                <a:r>
                  <a:rPr lang="pt-BR" sz="2800" dirty="0"/>
                  <a:t>, incluindo exemplos que pertencem e não pertencem à classe.</a:t>
                </a:r>
              </a:p>
              <a:p>
                <a:r>
                  <a:rPr lang="pt-BR" sz="2800" dirty="0"/>
                  <a:t>A </a:t>
                </a:r>
                <a14:m>
                  <m:oMath xmlns:m="http://schemas.openxmlformats.org/officeDocument/2006/math">
                    <m:r>
                      <a:rPr lang="pt-BR" sz="2800" i="1">
                        <a:latin typeface="Cambria Math" panose="02040503050406030204" pitchFamily="18" charset="0"/>
                      </a:rPr>
                      <m:t>𝑞</m:t>
                    </m:r>
                  </m:oMath>
                </a14:m>
                <a:r>
                  <a:rPr lang="pt-BR" sz="2800" dirty="0"/>
                  <a:t>-</a:t>
                </a:r>
                <a:r>
                  <a:rPr lang="pt-BR" sz="2800" dirty="0" err="1"/>
                  <a:t>ésima</a:t>
                </a:r>
                <a:r>
                  <a:rPr lang="pt-BR" sz="2800" dirty="0"/>
                  <a:t> </a:t>
                </a:r>
                <a:r>
                  <a:rPr lang="pt-BR" sz="2800" b="1" i="1" dirty="0">
                    <a:solidFill>
                      <a:srgbClr val="7030A0"/>
                    </a:solidFill>
                  </a:rPr>
                  <a:t>coluna</a:t>
                </a:r>
                <a:r>
                  <a:rPr lang="pt-BR" sz="2800" dirty="0"/>
                  <a:t> indica o </a:t>
                </a:r>
                <a:r>
                  <a:rPr lang="pt-BR" sz="2800" b="1" i="1" dirty="0">
                    <a:solidFill>
                      <a:srgbClr val="00B050"/>
                    </a:solidFill>
                  </a:rPr>
                  <a:t>total de exemplos que realmente pertencem à </a:t>
                </a:r>
                <a14:m>
                  <m:oMath xmlns:m="http://schemas.openxmlformats.org/officeDocument/2006/math">
                    <m:r>
                      <a:rPr lang="pt-BR" sz="2800" b="1" i="1">
                        <a:solidFill>
                          <a:srgbClr val="00B050"/>
                        </a:solidFill>
                        <a:latin typeface="Cambria Math" panose="02040503050406030204" pitchFamily="18" charset="0"/>
                      </a:rPr>
                      <m:t>𝒒</m:t>
                    </m:r>
                  </m:oMath>
                </a14:m>
                <a:r>
                  <a:rPr lang="pt-BR" sz="2800" b="1" i="1" dirty="0">
                    <a:solidFill>
                      <a:srgbClr val="00B050"/>
                    </a:solidFill>
                  </a:rPr>
                  <a:t>-</a:t>
                </a:r>
                <a:r>
                  <a:rPr lang="pt-BR" sz="2800" b="1" i="1" dirty="0" err="1">
                    <a:solidFill>
                      <a:srgbClr val="00B050"/>
                    </a:solidFill>
                  </a:rPr>
                  <a:t>ésima</a:t>
                </a:r>
                <a:r>
                  <a:rPr lang="pt-BR" sz="2800" b="1" i="1" dirty="0">
                    <a:solidFill>
                      <a:srgbClr val="00B050"/>
                    </a:solidFill>
                  </a:rPr>
                  <a:t> classe</a:t>
                </a:r>
                <a:r>
                  <a:rPr lang="pt-BR" sz="2800" dirty="0"/>
                  <a:t>, incluindo classificações corretas e incorretas. </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40ABD154-3AFD-0036-3D3B-BDE0F6C2A332}"/>
                  </a:ext>
                </a:extLst>
              </p:cNvPr>
              <p:cNvSpPr>
                <a:spLocks noGrp="1" noRot="1" noChangeAspect="1" noMove="1" noResize="1" noEditPoints="1" noAdjustHandles="1" noChangeArrowheads="1" noChangeShapeType="1" noTextEdit="1"/>
              </p:cNvSpPr>
              <p:nvPr>
                <p:ph idx="1"/>
              </p:nvPr>
            </p:nvSpPr>
            <p:spPr>
              <a:xfrm>
                <a:off x="5633156" y="1825624"/>
                <a:ext cx="6423377" cy="5032375"/>
              </a:xfrm>
              <a:blipFill rotWithShape="0">
                <a:blip r:embed="rId3"/>
                <a:stretch>
                  <a:fillRect l="-1708" t="-1937" r="-170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 xmlns:a16="http://schemas.microsoft.com/office/drawing/2014/main" id="{9FE2C07F-02D2-0345-E394-150F01C017C4}"/>
                  </a:ext>
                </a:extLst>
              </p:cNvPr>
              <p:cNvSpPr txBox="1"/>
              <p:nvPr/>
            </p:nvSpPr>
            <p:spPr>
              <a:xfrm>
                <a:off x="293509" y="2680677"/>
                <a:ext cx="4854223" cy="21223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3200" b="1" i="1" smtClean="0">
                          <a:latin typeface="Cambria Math" panose="02040503050406030204" pitchFamily="18" charset="0"/>
                        </a:rPr>
                        <m:t>𝑪</m:t>
                      </m:r>
                      <m:r>
                        <a:rPr lang="pt-BR" sz="3200" b="0" i="1" smtClean="0">
                          <a:latin typeface="Cambria Math" panose="02040503050406030204" pitchFamily="18" charset="0"/>
                        </a:rPr>
                        <m:t>=</m:t>
                      </m:r>
                      <m:d>
                        <m:dPr>
                          <m:begChr m:val="["/>
                          <m:endChr m:val="]"/>
                          <m:ctrlPr>
                            <a:rPr lang="pt-BR" sz="3200" b="0" i="1" smtClean="0">
                              <a:latin typeface="Cambria Math" panose="02040503050406030204" pitchFamily="18" charset="0"/>
                            </a:rPr>
                          </m:ctrlPr>
                        </m:dPr>
                        <m:e>
                          <m:m>
                            <m:mPr>
                              <m:mcs>
                                <m:mc>
                                  <m:mcPr>
                                    <m:count m:val="3"/>
                                    <m:mcJc m:val="center"/>
                                  </m:mcPr>
                                </m:mc>
                              </m:mcs>
                              <m:ctrlPr>
                                <a:rPr lang="pt-BR" sz="3200" b="0" i="1" smtClean="0">
                                  <a:latin typeface="Cambria Math" panose="02040503050406030204" pitchFamily="18" charset="0"/>
                                </a:rPr>
                              </m:ctrlPr>
                            </m:mPr>
                            <m:mr>
                              <m:e>
                                <m:m>
                                  <m:mPr>
                                    <m:mcs>
                                      <m:mc>
                                        <m:mcPr>
                                          <m:count m:val="1"/>
                                          <m:mcJc m:val="center"/>
                                        </m:mcPr>
                                      </m:mc>
                                    </m:mcs>
                                    <m:ctrlPr>
                                      <a:rPr lang="pt-BR" sz="3200" b="0" i="1" smtClean="0">
                                        <a:latin typeface="Cambria Math" panose="02040503050406030204" pitchFamily="18" charset="0"/>
                                      </a:rPr>
                                    </m:ctrlPr>
                                  </m:mPr>
                                  <m:mr>
                                    <m:e>
                                      <m:m>
                                        <m:mPr>
                                          <m:mcs>
                                            <m:mc>
                                              <m:mcPr>
                                                <m:count m:val="2"/>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i="1">
                                                    <a:latin typeface="Cambria Math" panose="02040503050406030204" pitchFamily="18" charset="0"/>
                                                  </a:rPr>
                                                  <m:t>11</m:t>
                                                </m:r>
                                              </m:sub>
                                            </m:sSub>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i="1">
                                                    <a:latin typeface="Cambria Math" panose="02040503050406030204" pitchFamily="18" charset="0"/>
                                                  </a:rPr>
                                                  <m:t>1</m:t>
                                                </m:r>
                                                <m:r>
                                                  <a:rPr lang="pt-BR" sz="3200" b="0" i="1" smtClean="0">
                                                    <a:latin typeface="Cambria Math" panose="02040503050406030204" pitchFamily="18" charset="0"/>
                                                  </a:rPr>
                                                  <m:t>2</m:t>
                                                </m:r>
                                              </m:sub>
                                            </m:sSub>
                                          </m:e>
                                        </m:mr>
                                      </m:m>
                                    </m:e>
                                  </m:mr>
                                  <m:mr>
                                    <m:e>
                                      <m:m>
                                        <m:mPr>
                                          <m:mcs>
                                            <m:mc>
                                              <m:mcPr>
                                                <m:count m:val="2"/>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2</m:t>
                                                </m:r>
                                                <m:r>
                                                  <a:rPr lang="pt-BR" sz="3200" i="1">
                                                    <a:latin typeface="Cambria Math" panose="02040503050406030204" pitchFamily="18" charset="0"/>
                                                  </a:rPr>
                                                  <m:t>1</m:t>
                                                </m:r>
                                              </m:sub>
                                            </m:sSub>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22</m:t>
                                                </m:r>
                                              </m:sub>
                                            </m:sSub>
                                          </m:e>
                                        </m:mr>
                                      </m:m>
                                    </m:e>
                                  </m:mr>
                                </m:m>
                              </m:e>
                              <m:e>
                                <m:r>
                                  <a:rPr lang="pt-BR" sz="3200" b="0" i="1" smtClean="0">
                                    <a:latin typeface="Cambria Math" panose="02040503050406030204" pitchFamily="18" charset="0"/>
                                  </a:rPr>
                                  <m:t>⋯</m:t>
                                </m:r>
                              </m:e>
                              <m:e>
                                <m:m>
                                  <m:mPr>
                                    <m:mcs>
                                      <m:mc>
                                        <m:mcPr>
                                          <m:count m:val="1"/>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i="1">
                                              <a:latin typeface="Cambria Math" panose="02040503050406030204" pitchFamily="18" charset="0"/>
                                            </a:rPr>
                                            <m:t>1</m:t>
                                          </m:r>
                                          <m:r>
                                            <a:rPr lang="pt-BR" sz="3200" i="1">
                                              <a:latin typeface="Cambria Math" panose="02040503050406030204" pitchFamily="18" charset="0"/>
                                            </a:rPr>
                                            <m:t>𝑄</m:t>
                                          </m:r>
                                        </m:sub>
                                      </m:sSub>
                                    </m:e>
                                  </m:m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2</m:t>
                                          </m:r>
                                          <m:r>
                                            <a:rPr lang="pt-BR" sz="3200" i="1">
                                              <a:latin typeface="Cambria Math" panose="02040503050406030204" pitchFamily="18" charset="0"/>
                                            </a:rPr>
                                            <m:t>𝑄</m:t>
                                          </m:r>
                                        </m:sub>
                                      </m:sSub>
                                    </m:e>
                                  </m:mr>
                                </m:m>
                              </m:e>
                            </m:mr>
                            <m:mr>
                              <m:e>
                                <m:r>
                                  <a:rPr lang="pt-BR" sz="3200" b="0" i="1" smtClean="0">
                                    <a:latin typeface="Cambria Math" panose="02040503050406030204" pitchFamily="18" charset="0"/>
                                  </a:rPr>
                                  <m:t>⋮</m:t>
                                </m:r>
                              </m:e>
                              <m:e>
                                <m:r>
                                  <a:rPr lang="pt-BR" sz="3200" b="0" i="1" smtClean="0">
                                    <a:latin typeface="Cambria Math" panose="02040503050406030204" pitchFamily="18" charset="0"/>
                                  </a:rPr>
                                  <m:t>⋱</m:t>
                                </m:r>
                              </m:e>
                              <m:e>
                                <m:r>
                                  <a:rPr lang="pt-BR" sz="3200" b="0" i="1" smtClean="0">
                                    <a:latin typeface="Cambria Math" panose="02040503050406030204" pitchFamily="18" charset="0"/>
                                  </a:rPr>
                                  <m:t>⋮</m:t>
                                </m:r>
                              </m:e>
                            </m:mr>
                            <m:mr>
                              <m:e>
                                <m:m>
                                  <m:mPr>
                                    <m:mcs>
                                      <m:mc>
                                        <m:mcPr>
                                          <m:count m:val="2"/>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𝑄</m:t>
                                          </m:r>
                                          <m:r>
                                            <a:rPr lang="pt-BR" sz="3200" i="1">
                                              <a:latin typeface="Cambria Math" panose="02040503050406030204" pitchFamily="18" charset="0"/>
                                            </a:rPr>
                                            <m:t>1</m:t>
                                          </m:r>
                                        </m:sub>
                                      </m:sSub>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𝑄</m:t>
                                          </m:r>
                                          <m:r>
                                            <a:rPr lang="pt-BR" sz="3200" b="0" i="1" smtClean="0">
                                              <a:latin typeface="Cambria Math" panose="02040503050406030204" pitchFamily="18" charset="0"/>
                                            </a:rPr>
                                            <m:t>2</m:t>
                                          </m:r>
                                        </m:sub>
                                      </m:sSub>
                                    </m:e>
                                  </m:mr>
                                </m:m>
                              </m:e>
                              <m:e>
                                <m:r>
                                  <a:rPr lang="pt-BR" sz="3200" b="0" i="1" smtClean="0">
                                    <a:latin typeface="Cambria Math" panose="02040503050406030204" pitchFamily="18" charset="0"/>
                                  </a:rPr>
                                  <m:t>⋯</m:t>
                                </m:r>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𝑄</m:t>
                                    </m:r>
                                    <m:r>
                                      <a:rPr lang="pt-BR" sz="3200" i="1">
                                        <a:latin typeface="Cambria Math" panose="02040503050406030204" pitchFamily="18" charset="0"/>
                                      </a:rPr>
                                      <m:t>𝑄</m:t>
                                    </m:r>
                                  </m:sub>
                                </m:sSub>
                              </m:e>
                            </m:mr>
                          </m:m>
                        </m:e>
                      </m:d>
                    </m:oMath>
                  </m:oMathPara>
                </a14:m>
                <a:endParaRPr lang="pt-BR" sz="2400" dirty="0"/>
              </a:p>
            </p:txBody>
          </p:sp>
        </mc:Choice>
        <mc:Fallback xmlns="">
          <p:sp>
            <p:nvSpPr>
              <p:cNvPr id="5" name="CaixaDeTexto 4">
                <a:extLst>
                  <a:ext uri="{FF2B5EF4-FFF2-40B4-BE49-F238E27FC236}">
                    <a16:creationId xmlns:a16="http://schemas.microsoft.com/office/drawing/2014/main" id="{9FE2C07F-02D2-0345-E394-150F01C017C4}"/>
                  </a:ext>
                </a:extLst>
              </p:cNvPr>
              <p:cNvSpPr txBox="1">
                <a:spLocks noRot="1" noChangeAspect="1" noMove="1" noResize="1" noEditPoints="1" noAdjustHandles="1" noChangeArrowheads="1" noChangeShapeType="1" noTextEdit="1"/>
              </p:cNvSpPr>
              <p:nvPr/>
            </p:nvSpPr>
            <p:spPr>
              <a:xfrm>
                <a:off x="293509" y="2680677"/>
                <a:ext cx="4854223" cy="2122312"/>
              </a:xfrm>
              <a:prstGeom prst="rect">
                <a:avLst/>
              </a:prstGeom>
              <a:blipFill>
                <a:blip r:embed="rId4"/>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2170824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738E7C4-65BB-5A05-5DF4-FF60F520CB58}"/>
              </a:ext>
            </a:extLst>
          </p:cNvPr>
          <p:cNvSpPr>
            <a:spLocks noGrp="1"/>
          </p:cNvSpPr>
          <p:nvPr>
            <p:ph type="title"/>
          </p:nvPr>
        </p:nvSpPr>
        <p:spPr/>
        <p:txBody>
          <a:bodyPr/>
          <a:lstStyle/>
          <a:p>
            <a:r>
              <a:rPr lang="pt-BR" dirty="0"/>
              <a:t>Matriz de confusão</a:t>
            </a:r>
          </a:p>
        </p:txBody>
      </p:sp>
      <mc:AlternateContent xmlns:mc="http://schemas.openxmlformats.org/markup-compatibility/2006" xmlns:a14="http://schemas.microsoft.com/office/drawing/2010/main">
        <mc:Choice Requires="a14">
          <p:sp>
            <p:nvSpPr>
              <p:cNvPr id="5" name="CaixaDeTexto 4">
                <a:extLst>
                  <a:ext uri="{FF2B5EF4-FFF2-40B4-BE49-F238E27FC236}">
                    <a16:creationId xmlns="" xmlns:a16="http://schemas.microsoft.com/office/drawing/2014/main" id="{9FE2C07F-02D2-0345-E394-150F01C017C4}"/>
                  </a:ext>
                </a:extLst>
              </p:cNvPr>
              <p:cNvSpPr txBox="1"/>
              <p:nvPr/>
            </p:nvSpPr>
            <p:spPr>
              <a:xfrm>
                <a:off x="3036709" y="2488766"/>
                <a:ext cx="4854223" cy="21223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3200" b="1" i="1" smtClean="0">
                          <a:latin typeface="Cambria Math" panose="02040503050406030204" pitchFamily="18" charset="0"/>
                        </a:rPr>
                        <m:t>𝑪</m:t>
                      </m:r>
                      <m:r>
                        <a:rPr lang="pt-BR" sz="3200" b="0" i="1" smtClean="0">
                          <a:latin typeface="Cambria Math" panose="02040503050406030204" pitchFamily="18" charset="0"/>
                        </a:rPr>
                        <m:t>=</m:t>
                      </m:r>
                      <m:d>
                        <m:dPr>
                          <m:begChr m:val="["/>
                          <m:endChr m:val="]"/>
                          <m:ctrlPr>
                            <a:rPr lang="pt-BR" sz="3200" b="0" i="1" smtClean="0">
                              <a:latin typeface="Cambria Math" panose="02040503050406030204" pitchFamily="18" charset="0"/>
                            </a:rPr>
                          </m:ctrlPr>
                        </m:dPr>
                        <m:e>
                          <m:m>
                            <m:mPr>
                              <m:mcs>
                                <m:mc>
                                  <m:mcPr>
                                    <m:count m:val="3"/>
                                    <m:mcJc m:val="center"/>
                                  </m:mcPr>
                                </m:mc>
                              </m:mcs>
                              <m:ctrlPr>
                                <a:rPr lang="pt-BR" sz="3200" b="0" i="1" smtClean="0">
                                  <a:latin typeface="Cambria Math" panose="02040503050406030204" pitchFamily="18" charset="0"/>
                                </a:rPr>
                              </m:ctrlPr>
                            </m:mPr>
                            <m:mr>
                              <m:e>
                                <m:m>
                                  <m:mPr>
                                    <m:mcs>
                                      <m:mc>
                                        <m:mcPr>
                                          <m:count m:val="1"/>
                                          <m:mcJc m:val="center"/>
                                        </m:mcPr>
                                      </m:mc>
                                    </m:mcs>
                                    <m:ctrlPr>
                                      <a:rPr lang="pt-BR" sz="3200" b="0" i="1" smtClean="0">
                                        <a:latin typeface="Cambria Math" panose="02040503050406030204" pitchFamily="18" charset="0"/>
                                      </a:rPr>
                                    </m:ctrlPr>
                                  </m:mPr>
                                  <m:mr>
                                    <m:e>
                                      <m:m>
                                        <m:mPr>
                                          <m:mcs>
                                            <m:mc>
                                              <m:mcPr>
                                                <m:count m:val="2"/>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i="1">
                                                    <a:latin typeface="Cambria Math" panose="02040503050406030204" pitchFamily="18" charset="0"/>
                                                  </a:rPr>
                                                  <m:t>11</m:t>
                                                </m:r>
                                              </m:sub>
                                            </m:sSub>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i="1">
                                                    <a:latin typeface="Cambria Math" panose="02040503050406030204" pitchFamily="18" charset="0"/>
                                                  </a:rPr>
                                                  <m:t>1</m:t>
                                                </m:r>
                                                <m:r>
                                                  <a:rPr lang="pt-BR" sz="3200" b="0" i="1" smtClean="0">
                                                    <a:latin typeface="Cambria Math" panose="02040503050406030204" pitchFamily="18" charset="0"/>
                                                  </a:rPr>
                                                  <m:t>2</m:t>
                                                </m:r>
                                              </m:sub>
                                            </m:sSub>
                                          </m:e>
                                        </m:mr>
                                      </m:m>
                                    </m:e>
                                  </m:mr>
                                  <m:mr>
                                    <m:e>
                                      <m:m>
                                        <m:mPr>
                                          <m:mcs>
                                            <m:mc>
                                              <m:mcPr>
                                                <m:count m:val="2"/>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2</m:t>
                                                </m:r>
                                                <m:r>
                                                  <a:rPr lang="pt-BR" sz="3200" i="1">
                                                    <a:latin typeface="Cambria Math" panose="02040503050406030204" pitchFamily="18" charset="0"/>
                                                  </a:rPr>
                                                  <m:t>1</m:t>
                                                </m:r>
                                              </m:sub>
                                            </m:sSub>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22</m:t>
                                                </m:r>
                                              </m:sub>
                                            </m:sSub>
                                          </m:e>
                                        </m:mr>
                                      </m:m>
                                    </m:e>
                                  </m:mr>
                                </m:m>
                              </m:e>
                              <m:e>
                                <m:r>
                                  <a:rPr lang="pt-BR" sz="3200" b="0" i="1" smtClean="0">
                                    <a:latin typeface="Cambria Math" panose="02040503050406030204" pitchFamily="18" charset="0"/>
                                  </a:rPr>
                                  <m:t>⋯</m:t>
                                </m:r>
                              </m:e>
                              <m:e>
                                <m:m>
                                  <m:mPr>
                                    <m:mcs>
                                      <m:mc>
                                        <m:mcPr>
                                          <m:count m:val="1"/>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i="1">
                                              <a:latin typeface="Cambria Math" panose="02040503050406030204" pitchFamily="18" charset="0"/>
                                            </a:rPr>
                                            <m:t>1</m:t>
                                          </m:r>
                                          <m:r>
                                            <a:rPr lang="pt-BR" sz="3200" i="1">
                                              <a:latin typeface="Cambria Math" panose="02040503050406030204" pitchFamily="18" charset="0"/>
                                            </a:rPr>
                                            <m:t>𝑄</m:t>
                                          </m:r>
                                        </m:sub>
                                      </m:sSub>
                                    </m:e>
                                  </m:m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2</m:t>
                                          </m:r>
                                          <m:r>
                                            <a:rPr lang="pt-BR" sz="3200" i="1">
                                              <a:latin typeface="Cambria Math" panose="02040503050406030204" pitchFamily="18" charset="0"/>
                                            </a:rPr>
                                            <m:t>𝑄</m:t>
                                          </m:r>
                                        </m:sub>
                                      </m:sSub>
                                    </m:e>
                                  </m:mr>
                                </m:m>
                              </m:e>
                            </m:mr>
                            <m:mr>
                              <m:e>
                                <m:r>
                                  <a:rPr lang="pt-BR" sz="3200" b="0" i="1" smtClean="0">
                                    <a:latin typeface="Cambria Math" panose="02040503050406030204" pitchFamily="18" charset="0"/>
                                  </a:rPr>
                                  <m:t>⋮</m:t>
                                </m:r>
                              </m:e>
                              <m:e>
                                <m:r>
                                  <a:rPr lang="pt-BR" sz="3200" b="0" i="1" smtClean="0">
                                    <a:latin typeface="Cambria Math" panose="02040503050406030204" pitchFamily="18" charset="0"/>
                                  </a:rPr>
                                  <m:t>⋱</m:t>
                                </m:r>
                              </m:e>
                              <m:e>
                                <m:r>
                                  <a:rPr lang="pt-BR" sz="3200" b="0" i="1" smtClean="0">
                                    <a:latin typeface="Cambria Math" panose="02040503050406030204" pitchFamily="18" charset="0"/>
                                  </a:rPr>
                                  <m:t>⋮</m:t>
                                </m:r>
                              </m:e>
                            </m:mr>
                            <m:mr>
                              <m:e>
                                <m:m>
                                  <m:mPr>
                                    <m:mcs>
                                      <m:mc>
                                        <m:mcPr>
                                          <m:count m:val="2"/>
                                          <m:mcJc m:val="center"/>
                                        </m:mcPr>
                                      </m:mc>
                                    </m:mcs>
                                    <m:ctrlPr>
                                      <a:rPr lang="pt-BR" sz="3200" b="0" i="1" smtClean="0">
                                        <a:latin typeface="Cambria Math" panose="02040503050406030204" pitchFamily="18" charset="0"/>
                                      </a:rPr>
                                    </m:ctrlPr>
                                  </m:mPr>
                                  <m:mr>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𝑄</m:t>
                                          </m:r>
                                          <m:r>
                                            <a:rPr lang="pt-BR" sz="3200" i="1">
                                              <a:latin typeface="Cambria Math" panose="02040503050406030204" pitchFamily="18" charset="0"/>
                                            </a:rPr>
                                            <m:t>1</m:t>
                                          </m:r>
                                        </m:sub>
                                      </m:sSub>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𝑄</m:t>
                                          </m:r>
                                          <m:r>
                                            <a:rPr lang="pt-BR" sz="3200" b="0" i="1" smtClean="0">
                                              <a:latin typeface="Cambria Math" panose="02040503050406030204" pitchFamily="18" charset="0"/>
                                            </a:rPr>
                                            <m:t>2</m:t>
                                          </m:r>
                                        </m:sub>
                                      </m:sSub>
                                    </m:e>
                                  </m:mr>
                                </m:m>
                              </m:e>
                              <m:e>
                                <m:r>
                                  <a:rPr lang="pt-BR" sz="3200" b="0" i="1" smtClean="0">
                                    <a:latin typeface="Cambria Math" panose="02040503050406030204" pitchFamily="18" charset="0"/>
                                  </a:rPr>
                                  <m:t>⋯</m:t>
                                </m:r>
                              </m:e>
                              <m:e>
                                <m:sSub>
                                  <m:sSubPr>
                                    <m:ctrlPr>
                                      <a:rPr lang="pt-BR" sz="3200" i="1">
                                        <a:latin typeface="Cambria Math" panose="02040503050406030204" pitchFamily="18" charset="0"/>
                                      </a:rPr>
                                    </m:ctrlPr>
                                  </m:sSubPr>
                                  <m:e>
                                    <m:r>
                                      <a:rPr lang="pt-BR" sz="3200" i="1">
                                        <a:latin typeface="Cambria Math" panose="02040503050406030204" pitchFamily="18" charset="0"/>
                                      </a:rPr>
                                      <m:t>𝐶</m:t>
                                    </m:r>
                                  </m:e>
                                  <m:sub>
                                    <m:r>
                                      <a:rPr lang="pt-BR" sz="3200" b="0" i="1" smtClean="0">
                                        <a:latin typeface="Cambria Math" panose="02040503050406030204" pitchFamily="18" charset="0"/>
                                      </a:rPr>
                                      <m:t>𝑄</m:t>
                                    </m:r>
                                    <m:r>
                                      <a:rPr lang="pt-BR" sz="3200" i="1">
                                        <a:latin typeface="Cambria Math" panose="02040503050406030204" pitchFamily="18" charset="0"/>
                                      </a:rPr>
                                      <m:t>𝑄</m:t>
                                    </m:r>
                                  </m:sub>
                                </m:sSub>
                              </m:e>
                            </m:mr>
                          </m:m>
                        </m:e>
                      </m:d>
                    </m:oMath>
                  </m:oMathPara>
                </a14:m>
                <a:endParaRPr lang="pt-BR" sz="2400" dirty="0"/>
              </a:p>
            </p:txBody>
          </p:sp>
        </mc:Choice>
        <mc:Fallback xmlns="">
          <p:sp>
            <p:nvSpPr>
              <p:cNvPr id="5" name="CaixaDeTexto 4">
                <a:extLst>
                  <a:ext uri="{FF2B5EF4-FFF2-40B4-BE49-F238E27FC236}">
                    <a16:creationId xmlns:a16="http://schemas.microsoft.com/office/drawing/2014/main" id="{9FE2C07F-02D2-0345-E394-150F01C017C4}"/>
                  </a:ext>
                </a:extLst>
              </p:cNvPr>
              <p:cNvSpPr txBox="1">
                <a:spLocks noRot="1" noChangeAspect="1" noMove="1" noResize="1" noEditPoints="1" noAdjustHandles="1" noChangeArrowheads="1" noChangeShapeType="1" noTextEdit="1"/>
              </p:cNvSpPr>
              <p:nvPr/>
            </p:nvSpPr>
            <p:spPr>
              <a:xfrm>
                <a:off x="3036709" y="2488766"/>
                <a:ext cx="4854223" cy="2122312"/>
              </a:xfrm>
              <a:prstGeom prst="rect">
                <a:avLst/>
              </a:prstGeom>
              <a:blipFill>
                <a:blip r:embed="rId3"/>
                <a:stretch>
                  <a:fillRect/>
                </a:stretch>
              </a:blipFill>
            </p:spPr>
            <p:txBody>
              <a:bodyPr/>
              <a:lstStyle/>
              <a:p>
                <a:r>
                  <a:rPr lang="pt-BR">
                    <a:noFill/>
                  </a:rPr>
                  <a:t> </a:t>
                </a:r>
              </a:p>
            </p:txBody>
          </p:sp>
        </mc:Fallback>
      </mc:AlternateContent>
      <p:sp>
        <p:nvSpPr>
          <p:cNvPr id="6" name="Oval 3">
            <a:extLst>
              <a:ext uri="{FF2B5EF4-FFF2-40B4-BE49-F238E27FC236}">
                <a16:creationId xmlns="" xmlns:a16="http://schemas.microsoft.com/office/drawing/2014/main" id="{E9839706-E14C-629A-7F56-18012BB99C3A}"/>
              </a:ext>
            </a:extLst>
          </p:cNvPr>
          <p:cNvSpPr/>
          <p:nvPr/>
        </p:nvSpPr>
        <p:spPr>
          <a:xfrm>
            <a:off x="3794234" y="2523792"/>
            <a:ext cx="4096698" cy="5262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Box 4">
            <a:extLst>
              <a:ext uri="{FF2B5EF4-FFF2-40B4-BE49-F238E27FC236}">
                <a16:creationId xmlns="" xmlns:a16="http://schemas.microsoft.com/office/drawing/2014/main" id="{6279C33D-9270-DC3C-212E-0FD57AC45F7D}"/>
              </a:ext>
            </a:extLst>
          </p:cNvPr>
          <p:cNvSpPr txBox="1"/>
          <p:nvPr/>
        </p:nvSpPr>
        <p:spPr>
          <a:xfrm>
            <a:off x="7894389" y="2452160"/>
            <a:ext cx="3401321" cy="707886"/>
          </a:xfrm>
          <a:prstGeom prst="rect">
            <a:avLst/>
          </a:prstGeom>
          <a:noFill/>
        </p:spPr>
        <p:txBody>
          <a:bodyPr wrap="square" rtlCol="0">
            <a:spAutoFit/>
          </a:bodyPr>
          <a:lstStyle/>
          <a:p>
            <a:pPr algn="ctr"/>
            <a:r>
              <a:rPr lang="pt-BR" sz="2000" dirty="0"/>
              <a:t>Exemplos classificados como pertencentes à classe 1.</a:t>
            </a:r>
          </a:p>
        </p:txBody>
      </p:sp>
      <p:sp>
        <p:nvSpPr>
          <p:cNvPr id="8" name="Oval 5">
            <a:extLst>
              <a:ext uri="{FF2B5EF4-FFF2-40B4-BE49-F238E27FC236}">
                <a16:creationId xmlns="" xmlns:a16="http://schemas.microsoft.com/office/drawing/2014/main" id="{1BD26B11-37BD-057A-7642-8513680C0B09}"/>
              </a:ext>
            </a:extLst>
          </p:cNvPr>
          <p:cNvSpPr/>
          <p:nvPr/>
        </p:nvSpPr>
        <p:spPr>
          <a:xfrm rot="5400000">
            <a:off x="3302270" y="3141648"/>
            <a:ext cx="2251700" cy="79225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reeform 6">
            <a:extLst>
              <a:ext uri="{FF2B5EF4-FFF2-40B4-BE49-F238E27FC236}">
                <a16:creationId xmlns="" xmlns:a16="http://schemas.microsoft.com/office/drawing/2014/main" id="{0F0FD986-F79E-DA0A-829E-1F5A7437324A}"/>
              </a:ext>
            </a:extLst>
          </p:cNvPr>
          <p:cNvSpPr/>
          <p:nvPr/>
        </p:nvSpPr>
        <p:spPr>
          <a:xfrm>
            <a:off x="7525012" y="2452160"/>
            <a:ext cx="577516" cy="145253"/>
          </a:xfrm>
          <a:custGeom>
            <a:avLst/>
            <a:gdLst>
              <a:gd name="connsiteX0" fmla="*/ 0 w 577516"/>
              <a:gd name="connsiteY0" fmla="*/ 145253 h 145253"/>
              <a:gd name="connsiteX1" fmla="*/ 272716 w 577516"/>
              <a:gd name="connsiteY1" fmla="*/ 874 h 145253"/>
              <a:gd name="connsiteX2" fmla="*/ 577516 w 577516"/>
              <a:gd name="connsiteY2" fmla="*/ 81085 h 145253"/>
            </a:gdLst>
            <a:ahLst/>
            <a:cxnLst>
              <a:cxn ang="0">
                <a:pos x="connsiteX0" y="connsiteY0"/>
              </a:cxn>
              <a:cxn ang="0">
                <a:pos x="connsiteX1" y="connsiteY1"/>
              </a:cxn>
              <a:cxn ang="0">
                <a:pos x="connsiteX2" y="connsiteY2"/>
              </a:cxn>
            </a:cxnLst>
            <a:rect l="l" t="t" r="r" b="b"/>
            <a:pathLst>
              <a:path w="577516" h="145253">
                <a:moveTo>
                  <a:pt x="0" y="145253"/>
                </a:moveTo>
                <a:cubicBezTo>
                  <a:pt x="88231" y="78411"/>
                  <a:pt x="176463" y="11569"/>
                  <a:pt x="272716" y="874"/>
                </a:cubicBezTo>
                <a:cubicBezTo>
                  <a:pt x="368969" y="-9821"/>
                  <a:pt x="577516" y="81085"/>
                  <a:pt x="577516" y="81085"/>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Box 7">
            <a:extLst>
              <a:ext uri="{FF2B5EF4-FFF2-40B4-BE49-F238E27FC236}">
                <a16:creationId xmlns="" xmlns:a16="http://schemas.microsoft.com/office/drawing/2014/main" id="{30228E55-A04A-15F3-F542-24A94935CB8F}"/>
              </a:ext>
            </a:extLst>
          </p:cNvPr>
          <p:cNvSpPr txBox="1"/>
          <p:nvPr/>
        </p:nvSpPr>
        <p:spPr>
          <a:xfrm>
            <a:off x="1260491" y="4807062"/>
            <a:ext cx="3921108" cy="707886"/>
          </a:xfrm>
          <a:prstGeom prst="rect">
            <a:avLst/>
          </a:prstGeom>
          <a:noFill/>
        </p:spPr>
        <p:txBody>
          <a:bodyPr wrap="square" rtlCol="0">
            <a:spAutoFit/>
          </a:bodyPr>
          <a:lstStyle/>
          <a:p>
            <a:pPr algn="ctr"/>
            <a:r>
              <a:rPr lang="pt-BR" sz="2000" dirty="0"/>
              <a:t>Quantidade de exemplos realmente pertencentes à classe 1.</a:t>
            </a:r>
          </a:p>
        </p:txBody>
      </p:sp>
      <p:sp>
        <p:nvSpPr>
          <p:cNvPr id="11" name="Freeform 8">
            <a:extLst>
              <a:ext uri="{FF2B5EF4-FFF2-40B4-BE49-F238E27FC236}">
                <a16:creationId xmlns="" xmlns:a16="http://schemas.microsoft.com/office/drawing/2014/main" id="{DE8EF324-A6C8-6014-6A79-6F6CD536E661}"/>
              </a:ext>
            </a:extLst>
          </p:cNvPr>
          <p:cNvSpPr/>
          <p:nvPr/>
        </p:nvSpPr>
        <p:spPr>
          <a:xfrm rot="871324">
            <a:off x="3488790" y="4556114"/>
            <a:ext cx="792260" cy="501897"/>
          </a:xfrm>
          <a:custGeom>
            <a:avLst/>
            <a:gdLst>
              <a:gd name="connsiteX0" fmla="*/ 994610 w 994610"/>
              <a:gd name="connsiteY0" fmla="*/ 0 h 80211"/>
              <a:gd name="connsiteX1" fmla="*/ 0 w 994610"/>
              <a:gd name="connsiteY1" fmla="*/ 80211 h 80211"/>
            </a:gdLst>
            <a:ahLst/>
            <a:cxnLst>
              <a:cxn ang="0">
                <a:pos x="connsiteX0" y="connsiteY0"/>
              </a:cxn>
              <a:cxn ang="0">
                <a:pos x="connsiteX1" y="connsiteY1"/>
              </a:cxn>
            </a:cxnLst>
            <a:rect l="l" t="t" r="r" b="b"/>
            <a:pathLst>
              <a:path w="994610" h="80211">
                <a:moveTo>
                  <a:pt x="994610" y="0"/>
                </a:moveTo>
                <a:cubicBezTo>
                  <a:pt x="596231" y="18716"/>
                  <a:pt x="197853" y="37432"/>
                  <a:pt x="0" y="80211"/>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2" name="Rectangle 9">
                <a:extLst>
                  <a:ext uri="{FF2B5EF4-FFF2-40B4-BE49-F238E27FC236}">
                    <a16:creationId xmlns="" xmlns:a16="http://schemas.microsoft.com/office/drawing/2014/main" id="{B0A8A935-42A2-46DB-34B6-70E5007CD2FA}"/>
                  </a:ext>
                </a:extLst>
              </p:cNvPr>
              <p:cNvSpPr/>
              <p:nvPr/>
            </p:nvSpPr>
            <p:spPr>
              <a:xfrm>
                <a:off x="5757333" y="5298131"/>
                <a:ext cx="6242319" cy="1323439"/>
              </a:xfrm>
              <a:prstGeom prst="rect">
                <a:avLst/>
              </a:prstGeom>
            </p:spPr>
            <p:txBody>
              <a:bodyPr wrap="square">
                <a:spAutoFit/>
              </a:bodyPr>
              <a:lstStyle/>
              <a:p>
                <a:pPr marL="285750" indent="-285750">
                  <a:buFont typeface="Arial" panose="020B0604020202020204" pitchFamily="34" charset="0"/>
                  <a:buChar char="•"/>
                </a:pPr>
                <a14:m>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𝐶</m:t>
                        </m:r>
                      </m:e>
                      <m:sub>
                        <m:r>
                          <a:rPr lang="pt-BR" sz="2000" i="1">
                            <a:latin typeface="Cambria Math" panose="02040503050406030204" pitchFamily="18" charset="0"/>
                          </a:rPr>
                          <m:t>1</m:t>
                        </m:r>
                        <m:r>
                          <a:rPr lang="pt-BR" sz="2000" b="0" i="1" smtClean="0">
                            <a:latin typeface="Cambria Math" panose="02040503050406030204" pitchFamily="18" charset="0"/>
                          </a:rPr>
                          <m:t>1</m:t>
                        </m:r>
                      </m:sub>
                    </m:sSub>
                  </m:oMath>
                </a14:m>
                <a:r>
                  <a:rPr lang="pt-BR" sz="2000" dirty="0"/>
                  <a:t> indica quantos exemplos da classe 1 foram corretamente atribuídos à classe 1.</a:t>
                </a:r>
              </a:p>
              <a:p>
                <a:pPr marL="285750" indent="-285750">
                  <a:buFont typeface="Arial" panose="020B0604020202020204" pitchFamily="34" charset="0"/>
                  <a:buChar char="•"/>
                </a:pPr>
                <a14:m>
                  <m:oMath xmlns:m="http://schemas.openxmlformats.org/officeDocument/2006/math">
                    <m:sSub>
                      <m:sSubPr>
                        <m:ctrlPr>
                          <a:rPr lang="pt-BR" sz="2000" i="1">
                            <a:latin typeface="Cambria Math" panose="02040503050406030204" pitchFamily="18" charset="0"/>
                          </a:rPr>
                        </m:ctrlPr>
                      </m:sSubPr>
                      <m:e>
                        <m:r>
                          <a:rPr lang="pt-BR" sz="2000" i="1">
                            <a:latin typeface="Cambria Math" panose="02040503050406030204" pitchFamily="18" charset="0"/>
                          </a:rPr>
                          <m:t>𝐶</m:t>
                        </m:r>
                      </m:e>
                      <m:sub>
                        <m:r>
                          <a:rPr lang="pt-BR" sz="2000" i="1">
                            <a:latin typeface="Cambria Math" panose="02040503050406030204" pitchFamily="18" charset="0"/>
                          </a:rPr>
                          <m:t>12</m:t>
                        </m:r>
                      </m:sub>
                    </m:sSub>
                  </m:oMath>
                </a14:m>
                <a:r>
                  <a:rPr lang="pt-BR" sz="2000" dirty="0"/>
                  <a:t> indica quantos exemplos da classe 2 foram atribuídos à classe 1.</a:t>
                </a:r>
              </a:p>
            </p:txBody>
          </p:sp>
        </mc:Choice>
        <mc:Fallback xmlns="">
          <p:sp>
            <p:nvSpPr>
              <p:cNvPr id="12" name="Rectangle 9">
                <a:extLst>
                  <a:ext uri="{FF2B5EF4-FFF2-40B4-BE49-F238E27FC236}">
                    <a16:creationId xmlns:a16="http://schemas.microsoft.com/office/drawing/2014/main" id="{B0A8A935-42A2-46DB-34B6-70E5007CD2FA}"/>
                  </a:ext>
                </a:extLst>
              </p:cNvPr>
              <p:cNvSpPr>
                <a:spLocks noRot="1" noChangeAspect="1" noMove="1" noResize="1" noEditPoints="1" noAdjustHandles="1" noChangeArrowheads="1" noChangeShapeType="1" noTextEdit="1"/>
              </p:cNvSpPr>
              <p:nvPr/>
            </p:nvSpPr>
            <p:spPr>
              <a:xfrm>
                <a:off x="5757333" y="5298131"/>
                <a:ext cx="6242319" cy="1323439"/>
              </a:xfrm>
              <a:prstGeom prst="rect">
                <a:avLst/>
              </a:prstGeom>
              <a:blipFill>
                <a:blip r:embed="rId4"/>
                <a:stretch>
                  <a:fillRect l="-879" t="-2304" b="-7373"/>
                </a:stretch>
              </a:blipFill>
            </p:spPr>
            <p:txBody>
              <a:bodyPr/>
              <a:lstStyle/>
              <a:p>
                <a:r>
                  <a:rPr lang="pt-BR">
                    <a:noFill/>
                  </a:rPr>
                  <a:t> </a:t>
                </a:r>
              </a:p>
            </p:txBody>
          </p:sp>
        </mc:Fallback>
      </mc:AlternateContent>
    </p:spTree>
    <p:extLst>
      <p:ext uri="{BB962C8B-B14F-4D97-AF65-F5344CB8AC3E}">
        <p14:creationId xmlns:p14="http://schemas.microsoft.com/office/powerpoint/2010/main" val="2650404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 xmlns:a16="http://schemas.microsoft.com/office/drawing/2014/main" id="{4EAC8C3E-AFB0-15A1-EDEF-475FA3643375}"/>
                  </a:ext>
                </a:extLst>
              </p:cNvPr>
              <p:cNvSpPr>
                <a:spLocks noGrp="1"/>
              </p:cNvSpPr>
              <p:nvPr>
                <p:ph type="title"/>
              </p:nvPr>
            </p:nvSpPr>
            <p:spPr/>
            <p:txBody>
              <a:bodyPr/>
              <a:lstStyle/>
              <a:p>
                <a:r>
                  <a:rPr lang="pt-BR" dirty="0"/>
                  <a:t>Matriz de confusão para caso binário (</a:t>
                </a:r>
                <a14:m>
                  <m:oMath xmlns:m="http://schemas.openxmlformats.org/officeDocument/2006/math">
                    <m:r>
                      <a:rPr lang="pt-BR" b="0" i="1" smtClean="0">
                        <a:latin typeface="Cambria Math" panose="02040503050406030204" pitchFamily="18" charset="0"/>
                      </a:rPr>
                      <m:t>𝑄</m:t>
                    </m:r>
                    <m:r>
                      <a:rPr lang="pt-BR" b="0" i="1" smtClean="0">
                        <a:latin typeface="Cambria Math" panose="02040503050406030204" pitchFamily="18" charset="0"/>
                      </a:rPr>
                      <m:t>=2</m:t>
                    </m:r>
                  </m:oMath>
                </a14:m>
                <a:r>
                  <a:rPr lang="pt-BR" dirty="0"/>
                  <a:t>)</a:t>
                </a:r>
              </a:p>
            </p:txBody>
          </p:sp>
        </mc:Choice>
        <mc:Fallback xmlns="">
          <p:sp>
            <p:nvSpPr>
              <p:cNvPr id="2" name="Título 1">
                <a:extLst>
                  <a:ext uri="{FF2B5EF4-FFF2-40B4-BE49-F238E27FC236}">
                    <a16:creationId xmlns:a16="http://schemas.microsoft.com/office/drawing/2014/main" id="{4EAC8C3E-AFB0-15A1-EDEF-475FA3643375}"/>
                  </a:ext>
                </a:extLst>
              </p:cNvPr>
              <p:cNvSpPr>
                <a:spLocks noGrp="1" noRot="1" noChangeAspect="1" noMove="1" noResize="1" noEditPoints="1" noAdjustHandles="1" noChangeArrowheads="1" noChangeShapeType="1" noTextEdit="1"/>
              </p:cNvSpPr>
              <p:nvPr>
                <p:ph type="title"/>
              </p:nvPr>
            </p:nvSpPr>
            <p:spPr>
              <a:blipFill>
                <a:blip r:embed="rId2"/>
                <a:stretch>
                  <a:fillRect l="-2377" r="-81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6A052458-A5D6-9055-C748-5BFDB00FC77C}"/>
                  </a:ext>
                </a:extLst>
              </p:cNvPr>
              <p:cNvSpPr>
                <a:spLocks noGrp="1"/>
              </p:cNvSpPr>
              <p:nvPr>
                <p:ph idx="1"/>
              </p:nvPr>
            </p:nvSpPr>
            <p:spPr>
              <a:xfrm>
                <a:off x="5520906" y="1825624"/>
                <a:ext cx="6671094" cy="5032375"/>
              </a:xfrm>
            </p:spPr>
            <p:txBody>
              <a:bodyPr>
                <a:normAutofit fontScale="92500" lnSpcReduction="10000"/>
              </a:bodyPr>
              <a:lstStyle/>
              <a:p>
                <a:r>
                  <a:rPr lang="pt-BR" b="1" dirty="0" smtClean="0"/>
                  <a:t>Matriz </a:t>
                </a:r>
                <a:r>
                  <a:rPr lang="pt-BR" b="1" dirty="0"/>
                  <a:t>com dimensão: </a:t>
                </a:r>
                <a:r>
                  <a:rPr lang="pt-BR" dirty="0"/>
                  <a:t>2×2</a:t>
                </a:r>
                <a:r>
                  <a:rPr lang="pt-BR" dirty="0" smtClean="0"/>
                  <a:t>.</a:t>
                </a:r>
                <a:endParaRPr lang="pt-BR" b="1" i="1" dirty="0" smtClean="0"/>
              </a:p>
              <a:p>
                <a:r>
                  <a:rPr lang="pt-BR" b="1" i="1" dirty="0" smtClean="0"/>
                  <a:t>Verdadeiros </a:t>
                </a:r>
                <a:r>
                  <a:rPr lang="pt-BR" b="1" i="1" dirty="0"/>
                  <a:t>Positivos </a:t>
                </a:r>
                <a:r>
                  <a:rPr lang="pt-BR" dirty="0"/>
                  <a:t>(TP): número de exemplos da classe positiva,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2</m:t>
                        </m:r>
                      </m:sub>
                    </m:sSub>
                  </m:oMath>
                </a14:m>
                <a:r>
                  <a:rPr lang="pt-BR" dirty="0"/>
                  <a:t>, classificados corretamente. </a:t>
                </a:r>
              </a:p>
              <a:p>
                <a:r>
                  <a:rPr lang="pt-BR" b="1" i="1" dirty="0"/>
                  <a:t>Verdadeiros Negativos</a:t>
                </a:r>
                <a:r>
                  <a:rPr lang="pt-BR" dirty="0"/>
                  <a:t> (TN): número de exemplos da classe negativa,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1</m:t>
                        </m:r>
                      </m:sub>
                    </m:sSub>
                  </m:oMath>
                </a14:m>
                <a:r>
                  <a:rPr lang="pt-BR" dirty="0"/>
                  <a:t>, classificados corretamente.</a:t>
                </a:r>
              </a:p>
              <a:p>
                <a:r>
                  <a:rPr lang="pt-BR" b="1" i="1" dirty="0"/>
                  <a:t>Falsos Positivos </a:t>
                </a:r>
                <a:r>
                  <a:rPr lang="pt-BR" dirty="0"/>
                  <a:t>(FP): número de exemplos atribuídos à classe positiva, mas que pertencem à classe negativa.</a:t>
                </a:r>
              </a:p>
              <a:p>
                <a:r>
                  <a:rPr lang="pt-BR" b="1" i="1" dirty="0"/>
                  <a:t>Falsos Negativos</a:t>
                </a:r>
                <a:r>
                  <a:rPr lang="pt-BR" dirty="0"/>
                  <a:t> (FN): número de exemplos atribuídos à classe negativa, mas que pertencem à classe positiva.</a:t>
                </a:r>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6A052458-A5D6-9055-C748-5BFDB00FC77C}"/>
                  </a:ext>
                </a:extLst>
              </p:cNvPr>
              <p:cNvSpPr>
                <a:spLocks noGrp="1" noRot="1" noChangeAspect="1" noMove="1" noResize="1" noEditPoints="1" noAdjustHandles="1" noChangeArrowheads="1" noChangeShapeType="1" noTextEdit="1"/>
              </p:cNvSpPr>
              <p:nvPr>
                <p:ph idx="1"/>
              </p:nvPr>
            </p:nvSpPr>
            <p:spPr>
              <a:xfrm>
                <a:off x="5520906" y="1825624"/>
                <a:ext cx="6671094" cy="5032375"/>
              </a:xfrm>
              <a:blipFill rotWithShape="0">
                <a:blip r:embed="rId3"/>
                <a:stretch>
                  <a:fillRect l="-1463" t="-2421"/>
                </a:stretch>
              </a:blipFill>
            </p:spPr>
            <p:txBody>
              <a:bodyPr/>
              <a:lstStyle/>
              <a:p>
                <a:r>
                  <a:rPr lang="pt-BR">
                    <a:noFill/>
                  </a:rPr>
                  <a:t> </a:t>
                </a:r>
              </a:p>
            </p:txBody>
          </p:sp>
        </mc:Fallback>
      </mc:AlternateContent>
      <p:graphicFrame>
        <p:nvGraphicFramePr>
          <p:cNvPr id="5" name="Tabela 5">
            <a:extLst>
              <a:ext uri="{FF2B5EF4-FFF2-40B4-BE49-F238E27FC236}">
                <a16:creationId xmlns="" xmlns:a16="http://schemas.microsoft.com/office/drawing/2014/main" id="{744D7738-C774-F8D0-DD85-76976F9C0032}"/>
              </a:ext>
            </a:extLst>
          </p:cNvPr>
          <p:cNvGraphicFramePr>
            <a:graphicFrameLocks noGrp="1"/>
          </p:cNvGraphicFramePr>
          <p:nvPr>
            <p:extLst>
              <p:ext uri="{D42A27DB-BD31-4B8C-83A1-F6EECF244321}">
                <p14:modId xmlns:p14="http://schemas.microsoft.com/office/powerpoint/2010/main" val="3342318043"/>
              </p:ext>
            </p:extLst>
          </p:nvPr>
        </p:nvGraphicFramePr>
        <p:xfrm>
          <a:off x="1135191" y="2716108"/>
          <a:ext cx="4205790" cy="1645920"/>
        </p:xfrm>
        <a:graphic>
          <a:graphicData uri="http://schemas.openxmlformats.org/drawingml/2006/table">
            <a:tbl>
              <a:tblPr firstRow="1" bandRow="1">
                <a:tableStyleId>{5C22544A-7EE6-4342-B048-85BDC9FD1C3A}</a:tableStyleId>
              </a:tblPr>
              <a:tblGrid>
                <a:gridCol w="2102895">
                  <a:extLst>
                    <a:ext uri="{9D8B030D-6E8A-4147-A177-3AD203B41FA5}">
                      <a16:colId xmlns="" xmlns:a16="http://schemas.microsoft.com/office/drawing/2014/main" val="2780398905"/>
                    </a:ext>
                  </a:extLst>
                </a:gridCol>
                <a:gridCol w="2102895">
                  <a:extLst>
                    <a:ext uri="{9D8B030D-6E8A-4147-A177-3AD203B41FA5}">
                      <a16:colId xmlns="" xmlns:a16="http://schemas.microsoft.com/office/drawing/2014/main" val="1752542230"/>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FF0000"/>
                          </a:solidFill>
                          <a:effectLst/>
                        </a:rPr>
                        <a:t>Verdadeiros </a:t>
                      </a:r>
                      <a:br>
                        <a:rPr lang="pt-BR" sz="2400" b="1" dirty="0">
                          <a:solidFill>
                            <a:srgbClr val="FF0000"/>
                          </a:solidFill>
                          <a:effectLst/>
                        </a:rPr>
                      </a:br>
                      <a:r>
                        <a:rPr lang="pt-BR" sz="2400" b="1" dirty="0">
                          <a:solidFill>
                            <a:srgbClr val="FF0000"/>
                          </a:solidFill>
                          <a:effectLst/>
                        </a:rPr>
                        <a:t>Negativos (TN)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kern="1200" dirty="0">
                          <a:solidFill>
                            <a:srgbClr val="0000FF"/>
                          </a:solidFill>
                          <a:effectLst/>
                          <a:latin typeface="+mn-lt"/>
                          <a:ea typeface="+mn-ea"/>
                          <a:cs typeface="+mn-cs"/>
                        </a:rPr>
                        <a:t>Falsos</a:t>
                      </a:r>
                      <a:br>
                        <a:rPr lang="pt-BR" sz="2400" b="1" kern="1200" dirty="0">
                          <a:solidFill>
                            <a:srgbClr val="0000FF"/>
                          </a:solidFill>
                          <a:effectLst/>
                          <a:latin typeface="+mn-lt"/>
                          <a:ea typeface="+mn-ea"/>
                          <a:cs typeface="+mn-cs"/>
                        </a:rPr>
                      </a:br>
                      <a:r>
                        <a:rPr lang="pt-BR" sz="2400" b="1" kern="1200" dirty="0">
                          <a:solidFill>
                            <a:srgbClr val="0000FF"/>
                          </a:solidFill>
                          <a:effectLst/>
                          <a:latin typeface="+mn-lt"/>
                          <a:ea typeface="+mn-ea"/>
                          <a:cs typeface="+mn-cs"/>
                        </a:rPr>
                        <a:t>Negativos (FN)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95215515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00FF"/>
                          </a:solidFill>
                          <a:effectLst/>
                        </a:rPr>
                        <a:t>Falsos </a:t>
                      </a:r>
                      <a:br>
                        <a:rPr lang="pt-BR" sz="2400" b="1" dirty="0">
                          <a:solidFill>
                            <a:srgbClr val="0000FF"/>
                          </a:solidFill>
                          <a:effectLst/>
                        </a:rPr>
                      </a:br>
                      <a:r>
                        <a:rPr lang="pt-BR" sz="2400" b="1" dirty="0">
                          <a:solidFill>
                            <a:srgbClr val="0000FF"/>
                          </a:solidFill>
                          <a:effectLst/>
                        </a:rPr>
                        <a:t>Positivos (FP)</a:t>
                      </a:r>
                      <a:endParaRPr lang="pt-BR" sz="2400" b="1" kern="1200" dirty="0">
                        <a:solidFill>
                          <a:srgbClr val="0000FF"/>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B050"/>
                          </a:solidFill>
                          <a:effectLst/>
                        </a:rPr>
                        <a:t>Verdadeiros </a:t>
                      </a:r>
                      <a:br>
                        <a:rPr lang="pt-BR" sz="2400" b="1" dirty="0">
                          <a:solidFill>
                            <a:srgbClr val="00B050"/>
                          </a:solidFill>
                          <a:effectLst/>
                        </a:rPr>
                      </a:br>
                      <a:r>
                        <a:rPr lang="pt-BR" sz="2400" b="1" dirty="0">
                          <a:solidFill>
                            <a:srgbClr val="00B050"/>
                          </a:solidFill>
                          <a:effectLst/>
                        </a:rPr>
                        <a:t>Positivos (TP)</a:t>
                      </a:r>
                      <a:endParaRPr lang="pt-BR" sz="2400" b="1" dirty="0">
                        <a:solidFill>
                          <a:srgbClr val="FF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169341992"/>
                  </a:ext>
                </a:extLst>
              </a:tr>
            </a:tbl>
          </a:graphicData>
        </a:graphic>
      </p:graphicFrame>
      <p:sp>
        <p:nvSpPr>
          <p:cNvPr id="7" name="CaixaDeTexto 6">
            <a:extLst>
              <a:ext uri="{FF2B5EF4-FFF2-40B4-BE49-F238E27FC236}">
                <a16:creationId xmlns="" xmlns:a16="http://schemas.microsoft.com/office/drawing/2014/main" id="{44F3702B-0FE3-BDED-62A7-35438A8F3B75}"/>
              </a:ext>
            </a:extLst>
          </p:cNvPr>
          <p:cNvSpPr txBox="1"/>
          <p:nvPr/>
        </p:nvSpPr>
        <p:spPr>
          <a:xfrm rot="16200000">
            <a:off x="-728923" y="3354402"/>
            <a:ext cx="1930400" cy="369332"/>
          </a:xfrm>
          <a:prstGeom prst="rect">
            <a:avLst/>
          </a:prstGeom>
          <a:noFill/>
        </p:spPr>
        <p:txBody>
          <a:bodyPr wrap="square">
            <a:spAutoFit/>
          </a:bodyPr>
          <a:lstStyle/>
          <a:p>
            <a:pPr algn="ctr" rtl="0" fontAlgn="ctr"/>
            <a:r>
              <a:rPr lang="pt-BR" sz="1800" b="1" dirty="0">
                <a:effectLst/>
              </a:rPr>
              <a:t>Classes </a:t>
            </a:r>
            <a:r>
              <a:rPr lang="pt-BR" sz="1800" b="1" dirty="0" smtClean="0">
                <a:effectLst/>
              </a:rPr>
              <a:t>Preditas</a:t>
            </a:r>
            <a:endParaRPr lang="pt-BR" sz="1800" b="1" dirty="0">
              <a:effectLst/>
            </a:endParaRPr>
          </a:p>
        </p:txBody>
      </p:sp>
      <p:sp>
        <p:nvSpPr>
          <p:cNvPr id="9" name="CaixaDeTexto 8">
            <a:extLst>
              <a:ext uri="{FF2B5EF4-FFF2-40B4-BE49-F238E27FC236}">
                <a16:creationId xmlns="" xmlns:a16="http://schemas.microsoft.com/office/drawing/2014/main" id="{1FC82D3C-E180-54E3-CEFE-B2BD9B8D3E2A}"/>
              </a:ext>
            </a:extLst>
          </p:cNvPr>
          <p:cNvSpPr txBox="1"/>
          <p:nvPr/>
        </p:nvSpPr>
        <p:spPr>
          <a:xfrm>
            <a:off x="1241363" y="4856336"/>
            <a:ext cx="3993446" cy="369332"/>
          </a:xfrm>
          <a:prstGeom prst="rect">
            <a:avLst/>
          </a:prstGeom>
          <a:noFill/>
        </p:spPr>
        <p:txBody>
          <a:bodyPr wrap="square">
            <a:spAutoFit/>
          </a:bodyPr>
          <a:lstStyle/>
          <a:p>
            <a:pPr algn="ctr" rtl="0" fontAlgn="b"/>
            <a:r>
              <a:rPr lang="pt-BR" sz="1800" b="1" dirty="0">
                <a:effectLst/>
              </a:rPr>
              <a:t>Classes Verdadeiras</a:t>
            </a:r>
          </a:p>
        </p:txBody>
      </p:sp>
      <mc:AlternateContent xmlns:mc="http://schemas.openxmlformats.org/markup-compatibility/2006" xmlns:a14="http://schemas.microsoft.com/office/drawing/2010/main">
        <mc:Choice Requires="a14">
          <p:sp>
            <p:nvSpPr>
              <p:cNvPr id="11" name="CaixaDeTexto 10">
                <a:extLst>
                  <a:ext uri="{FF2B5EF4-FFF2-40B4-BE49-F238E27FC236}">
                    <a16:creationId xmlns="" xmlns:a16="http://schemas.microsoft.com/office/drawing/2014/main" id="{D618FE73-F69F-A4D4-3E14-7C80BD56C5C9}"/>
                  </a:ext>
                </a:extLst>
              </p:cNvPr>
              <p:cNvSpPr txBox="1"/>
              <p:nvPr/>
            </p:nvSpPr>
            <p:spPr>
              <a:xfrm>
                <a:off x="411671" y="3724613"/>
                <a:ext cx="723520" cy="369332"/>
              </a:xfrm>
              <a:prstGeom prst="rect">
                <a:avLst/>
              </a:prstGeom>
              <a:noFill/>
            </p:spPr>
            <p:txBody>
              <a:bodyPr wrap="square">
                <a:spAutoFit/>
              </a:bodyPr>
              <a:lstStyle/>
              <a:p>
                <a:pPr algn="ctr" rtl="0" fontAlgn="ctr"/>
                <a:r>
                  <a:rPr lang="pt-BR" sz="1800" b="1" dirty="0">
                    <a:effectLst/>
                  </a:rPr>
                  <a:t>+ </a:t>
                </a:r>
                <a:r>
                  <a:rPr lang="pt-BR" sz="1800" dirty="0">
                    <a:effectLst/>
                  </a:rPr>
                  <a:t>(</a:t>
                </a: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2</m:t>
                        </m:r>
                      </m:sub>
                    </m:sSub>
                  </m:oMath>
                </a14:m>
                <a:r>
                  <a:rPr lang="pt-BR" sz="1800" dirty="0">
                    <a:effectLst/>
                  </a:rPr>
                  <a:t>)</a:t>
                </a:r>
              </a:p>
            </p:txBody>
          </p:sp>
        </mc:Choice>
        <mc:Fallback xmlns="">
          <p:sp>
            <p:nvSpPr>
              <p:cNvPr id="11" name="CaixaDeTexto 10">
                <a:extLst>
                  <a:ext uri="{FF2B5EF4-FFF2-40B4-BE49-F238E27FC236}">
                    <a16:creationId xmlns="" xmlns:a16="http://schemas.microsoft.com/office/drawing/2014/main" xmlns:a14="http://schemas.microsoft.com/office/drawing/2010/main" id="{D618FE73-F69F-A4D4-3E14-7C80BD56C5C9}"/>
                  </a:ext>
                </a:extLst>
              </p:cNvPr>
              <p:cNvSpPr txBox="1">
                <a:spLocks noRot="1" noChangeAspect="1" noMove="1" noResize="1" noEditPoints="1" noAdjustHandles="1" noChangeArrowheads="1" noChangeShapeType="1" noTextEdit="1"/>
              </p:cNvSpPr>
              <p:nvPr/>
            </p:nvSpPr>
            <p:spPr>
              <a:xfrm>
                <a:off x="411671" y="3724613"/>
                <a:ext cx="723520" cy="369332"/>
              </a:xfrm>
              <a:prstGeom prst="rect">
                <a:avLst/>
              </a:prstGeom>
              <a:blipFill rotWithShape="0">
                <a:blip r:embed="rId4"/>
                <a:stretch>
                  <a:fillRect l="-7627" t="-8197" r="-7627" b="-2623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 xmlns:a16="http://schemas.microsoft.com/office/drawing/2014/main" id="{64841025-C42C-FB64-87B6-62F7C4AD612E}"/>
                  </a:ext>
                </a:extLst>
              </p:cNvPr>
              <p:cNvSpPr txBox="1"/>
              <p:nvPr/>
            </p:nvSpPr>
            <p:spPr>
              <a:xfrm>
                <a:off x="424978" y="2938030"/>
                <a:ext cx="723520" cy="369332"/>
              </a:xfrm>
              <a:prstGeom prst="rect">
                <a:avLst/>
              </a:prstGeom>
              <a:noFill/>
            </p:spPr>
            <p:txBody>
              <a:bodyPr wrap="square">
                <a:spAutoFit/>
              </a:bodyPr>
              <a:lstStyle/>
              <a:p>
                <a:pPr algn="ctr" rtl="0" fontAlgn="ctr"/>
                <a:r>
                  <a:rPr lang="pt-BR" b="1" dirty="0"/>
                  <a:t>-</a:t>
                </a:r>
                <a:r>
                  <a:rPr lang="pt-BR" sz="1800" b="1" dirty="0">
                    <a:effectLst/>
                  </a:rPr>
                  <a:t> </a:t>
                </a:r>
                <a:r>
                  <a:rPr lang="pt-BR" sz="1800" dirty="0">
                    <a:effectLst/>
                  </a:rPr>
                  <a:t>(</a:t>
                </a: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1</m:t>
                        </m:r>
                      </m:sub>
                    </m:sSub>
                  </m:oMath>
                </a14:m>
                <a:r>
                  <a:rPr lang="pt-BR" sz="1800" dirty="0">
                    <a:effectLst/>
                  </a:rPr>
                  <a:t>)</a:t>
                </a:r>
              </a:p>
            </p:txBody>
          </p:sp>
        </mc:Choice>
        <mc:Fallback xmlns="">
          <p:sp>
            <p:nvSpPr>
              <p:cNvPr id="12" name="CaixaDeTexto 11">
                <a:extLst>
                  <a:ext uri="{FF2B5EF4-FFF2-40B4-BE49-F238E27FC236}">
                    <a16:creationId xmlns="" xmlns:a16="http://schemas.microsoft.com/office/drawing/2014/main" xmlns:a14="http://schemas.microsoft.com/office/drawing/2010/main" id="{64841025-C42C-FB64-87B6-62F7C4AD612E}"/>
                  </a:ext>
                </a:extLst>
              </p:cNvPr>
              <p:cNvSpPr txBox="1">
                <a:spLocks noRot="1" noChangeAspect="1" noMove="1" noResize="1" noEditPoints="1" noAdjustHandles="1" noChangeArrowheads="1" noChangeShapeType="1" noTextEdit="1"/>
              </p:cNvSpPr>
              <p:nvPr/>
            </p:nvSpPr>
            <p:spPr>
              <a:xfrm>
                <a:off x="424978" y="2938030"/>
                <a:ext cx="723520" cy="369332"/>
              </a:xfrm>
              <a:prstGeom prst="rect">
                <a:avLst/>
              </a:prstGeom>
              <a:blipFill rotWithShape="0">
                <a:blip r:embed="rId5"/>
                <a:stretch>
                  <a:fillRect l="-4237" t="-8197" r="-4237" b="-2623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 xmlns:a16="http://schemas.microsoft.com/office/drawing/2014/main" id="{33FF584A-410C-DBCB-7735-A7CD30A88BC6}"/>
                  </a:ext>
                </a:extLst>
              </p:cNvPr>
              <p:cNvSpPr txBox="1"/>
              <p:nvPr/>
            </p:nvSpPr>
            <p:spPr>
              <a:xfrm>
                <a:off x="3156808" y="4362075"/>
                <a:ext cx="2002557" cy="369332"/>
              </a:xfrm>
              <a:prstGeom prst="rect">
                <a:avLst/>
              </a:prstGeom>
              <a:noFill/>
            </p:spPr>
            <p:txBody>
              <a:bodyPr wrap="square">
                <a:spAutoFit/>
              </a:bodyPr>
              <a:lstStyle/>
              <a:p>
                <a:pPr algn="ctr" rtl="0" fontAlgn="ctr"/>
                <a:r>
                  <a:rPr lang="pt-BR" sz="1800" b="1" dirty="0">
                    <a:effectLst/>
                  </a:rPr>
                  <a:t>+ </a:t>
                </a:r>
                <a:r>
                  <a:rPr lang="pt-BR" sz="1800" dirty="0">
                    <a:effectLst/>
                  </a:rPr>
                  <a:t>(</a:t>
                </a: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2</m:t>
                        </m:r>
                      </m:sub>
                    </m:sSub>
                  </m:oMath>
                </a14:m>
                <a:r>
                  <a:rPr lang="pt-BR" sz="1800" dirty="0">
                    <a:effectLst/>
                  </a:rPr>
                  <a:t>)</a:t>
                </a:r>
              </a:p>
            </p:txBody>
          </p:sp>
        </mc:Choice>
        <mc:Fallback xmlns="">
          <p:sp>
            <p:nvSpPr>
              <p:cNvPr id="13" name="CaixaDeTexto 12">
                <a:extLst>
                  <a:ext uri="{FF2B5EF4-FFF2-40B4-BE49-F238E27FC236}">
                    <a16:creationId xmlns="" xmlns:a16="http://schemas.microsoft.com/office/drawing/2014/main" xmlns:a14="http://schemas.microsoft.com/office/drawing/2010/main" id="{33FF584A-410C-DBCB-7735-A7CD30A88BC6}"/>
                  </a:ext>
                </a:extLst>
              </p:cNvPr>
              <p:cNvSpPr txBox="1">
                <a:spLocks noRot="1" noChangeAspect="1" noMove="1" noResize="1" noEditPoints="1" noAdjustHandles="1" noChangeArrowheads="1" noChangeShapeType="1" noTextEdit="1"/>
              </p:cNvSpPr>
              <p:nvPr/>
            </p:nvSpPr>
            <p:spPr>
              <a:xfrm>
                <a:off x="3156808" y="4362075"/>
                <a:ext cx="2002557" cy="369332"/>
              </a:xfrm>
              <a:prstGeom prst="rect">
                <a:avLst/>
              </a:prstGeom>
              <a:blipFill rotWithShape="0">
                <a:blip r:embed="rId6"/>
                <a:stretch>
                  <a:fillRect t="-8333" b="-28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 xmlns:a16="http://schemas.microsoft.com/office/drawing/2014/main" id="{01118442-F1CF-69E3-68DB-2A693775C8C5}"/>
                  </a:ext>
                </a:extLst>
              </p:cNvPr>
              <p:cNvSpPr txBox="1"/>
              <p:nvPr/>
            </p:nvSpPr>
            <p:spPr>
              <a:xfrm>
                <a:off x="1135191" y="4362075"/>
                <a:ext cx="2002557" cy="369332"/>
              </a:xfrm>
              <a:prstGeom prst="rect">
                <a:avLst/>
              </a:prstGeom>
              <a:noFill/>
            </p:spPr>
            <p:txBody>
              <a:bodyPr wrap="square">
                <a:spAutoFit/>
              </a:bodyPr>
              <a:lstStyle/>
              <a:p>
                <a:pPr algn="ctr" rtl="0" fontAlgn="ctr"/>
                <a:r>
                  <a:rPr lang="pt-BR" b="1" dirty="0"/>
                  <a:t>-</a:t>
                </a:r>
                <a:r>
                  <a:rPr lang="pt-BR" sz="1800" b="1" dirty="0">
                    <a:effectLst/>
                  </a:rPr>
                  <a:t> </a:t>
                </a:r>
                <a:r>
                  <a:rPr lang="pt-BR" sz="1800" dirty="0">
                    <a:effectLst/>
                  </a:rPr>
                  <a:t>(</a:t>
                </a: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1</m:t>
                        </m:r>
                      </m:sub>
                    </m:sSub>
                  </m:oMath>
                </a14:m>
                <a:r>
                  <a:rPr lang="pt-BR" sz="1800" dirty="0">
                    <a:effectLst/>
                  </a:rPr>
                  <a:t>)</a:t>
                </a:r>
              </a:p>
            </p:txBody>
          </p:sp>
        </mc:Choice>
        <mc:Fallback xmlns="">
          <p:sp>
            <p:nvSpPr>
              <p:cNvPr id="14" name="CaixaDeTexto 13">
                <a:extLst>
                  <a:ext uri="{FF2B5EF4-FFF2-40B4-BE49-F238E27FC236}">
                    <a16:creationId xmlns="" xmlns:a16="http://schemas.microsoft.com/office/drawing/2014/main" xmlns:a14="http://schemas.microsoft.com/office/drawing/2010/main" id="{01118442-F1CF-69E3-68DB-2A693775C8C5}"/>
                  </a:ext>
                </a:extLst>
              </p:cNvPr>
              <p:cNvSpPr txBox="1">
                <a:spLocks noRot="1" noChangeAspect="1" noMove="1" noResize="1" noEditPoints="1" noAdjustHandles="1" noChangeArrowheads="1" noChangeShapeType="1" noTextEdit="1"/>
              </p:cNvSpPr>
              <p:nvPr/>
            </p:nvSpPr>
            <p:spPr>
              <a:xfrm>
                <a:off x="1135191" y="4362075"/>
                <a:ext cx="2002557" cy="369332"/>
              </a:xfrm>
              <a:prstGeom prst="rect">
                <a:avLst/>
              </a:prstGeom>
              <a:blipFill rotWithShape="0">
                <a:blip r:embed="rId7"/>
                <a:stretch>
                  <a:fillRect t="-8333" b="-28333"/>
                </a:stretch>
              </a:blipFill>
            </p:spPr>
            <p:txBody>
              <a:bodyPr/>
              <a:lstStyle/>
              <a:p>
                <a:r>
                  <a:rPr lang="pt-BR">
                    <a:noFill/>
                  </a:rPr>
                  <a:t> </a:t>
                </a:r>
              </a:p>
            </p:txBody>
          </p:sp>
        </mc:Fallback>
      </mc:AlternateContent>
    </p:spTree>
    <p:extLst>
      <p:ext uri="{BB962C8B-B14F-4D97-AF65-F5344CB8AC3E}">
        <p14:creationId xmlns:p14="http://schemas.microsoft.com/office/powerpoint/2010/main" val="4249566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 xmlns:a16="http://schemas.microsoft.com/office/drawing/2014/main" id="{0F418656-538C-BBD9-47FA-40A924A669E5}"/>
              </a:ext>
            </a:extLst>
          </p:cNvPr>
          <p:cNvSpPr>
            <a:spLocks noGrp="1"/>
          </p:cNvSpPr>
          <p:nvPr>
            <p:ph idx="1"/>
          </p:nvPr>
        </p:nvSpPr>
        <p:spPr>
          <a:xfrm>
            <a:off x="838200" y="1945381"/>
            <a:ext cx="10515600" cy="2967238"/>
          </a:xfrm>
        </p:spPr>
        <p:txBody>
          <a:bodyPr>
            <a:normAutofit/>
          </a:bodyPr>
          <a:lstStyle/>
          <a:p>
            <a:pPr marL="0" indent="0" algn="ctr">
              <a:buNone/>
            </a:pPr>
            <a:r>
              <a:rPr lang="pt-BR" sz="4800" b="1" i="1" dirty="0"/>
              <a:t>Nós podemos calcular algumas métricas de desempenho importantes a partir das informações contidas na matriz de confusão.</a:t>
            </a:r>
          </a:p>
        </p:txBody>
      </p:sp>
    </p:spTree>
    <p:extLst>
      <p:ext uri="{BB962C8B-B14F-4D97-AF65-F5344CB8AC3E}">
        <p14:creationId xmlns:p14="http://schemas.microsoft.com/office/powerpoint/2010/main" val="3794515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8C76DB9-C5DB-DAD2-5D1D-F064916FE36F}"/>
              </a:ext>
            </a:extLst>
          </p:cNvPr>
          <p:cNvSpPr>
            <a:spLocks noGrp="1"/>
          </p:cNvSpPr>
          <p:nvPr>
            <p:ph type="title"/>
          </p:nvPr>
        </p:nvSpPr>
        <p:spPr/>
        <p:txBody>
          <a:bodyPr/>
          <a:lstStyle/>
          <a:p>
            <a:r>
              <a:rPr lang="pt-BR" dirty="0"/>
              <a:t>Acurácia</a:t>
            </a:r>
          </a:p>
        </p:txBody>
      </p:sp>
      <p:sp>
        <p:nvSpPr>
          <p:cNvPr id="3" name="Espaço Reservado para Conteúdo 2">
            <a:extLst>
              <a:ext uri="{FF2B5EF4-FFF2-40B4-BE49-F238E27FC236}">
                <a16:creationId xmlns="" xmlns:a16="http://schemas.microsoft.com/office/drawing/2014/main" id="{0243F063-09F2-F192-E084-325BC503299F}"/>
              </a:ext>
            </a:extLst>
          </p:cNvPr>
          <p:cNvSpPr>
            <a:spLocks noGrp="1"/>
          </p:cNvSpPr>
          <p:nvPr>
            <p:ph idx="1"/>
          </p:nvPr>
        </p:nvSpPr>
        <p:spPr>
          <a:xfrm>
            <a:off x="6296378" y="1825624"/>
            <a:ext cx="5895621" cy="5032375"/>
          </a:xfrm>
        </p:spPr>
        <p:txBody>
          <a:bodyPr/>
          <a:lstStyle/>
          <a:p>
            <a:r>
              <a:rPr lang="pt-BR" dirty="0"/>
              <a:t>Acurácia med</a:t>
            </a:r>
            <a:r>
              <a:rPr lang="pt-BR" b="0" i="0" dirty="0">
                <a:effectLst/>
              </a:rPr>
              <a:t>e a </a:t>
            </a:r>
            <a:r>
              <a:rPr lang="pt-BR" b="1" i="1" dirty="0">
                <a:solidFill>
                  <a:srgbClr val="00B050"/>
                </a:solidFill>
                <a:effectLst/>
              </a:rPr>
              <a:t>proporção de exemplos classificados corretamente em relação ao total de exemplos </a:t>
            </a:r>
            <a:r>
              <a:rPr lang="pt-BR" b="0" i="0" dirty="0">
                <a:effectLst/>
              </a:rPr>
              <a:t>avaliados. </a:t>
            </a:r>
          </a:p>
          <a:p>
            <a:r>
              <a:rPr lang="pt-BR" b="0" i="0" dirty="0">
                <a:effectLst/>
              </a:rPr>
              <a:t>Em outras palavras, a acurácia fornece uma indicação de quão bem o modelo está fazendo suas </a:t>
            </a:r>
            <a:r>
              <a:rPr lang="pt-BR" b="1" i="1" dirty="0">
                <a:solidFill>
                  <a:srgbClr val="00B050"/>
                </a:solidFill>
                <a:effectLst/>
              </a:rPr>
              <a:t>predições corretas em comparação com todas as predições feitas</a:t>
            </a:r>
            <a:r>
              <a:rPr lang="pt-BR" b="0" i="0" dirty="0">
                <a:effectLst/>
              </a:rPr>
              <a:t>.</a:t>
            </a:r>
          </a:p>
          <a:p>
            <a:r>
              <a:rPr lang="pt-BR" b="0" i="0" dirty="0">
                <a:effectLst/>
              </a:rPr>
              <a:t>É uma métrica útil para avaliar </a:t>
            </a:r>
            <a:r>
              <a:rPr lang="pt-BR" dirty="0" smtClean="0"/>
              <a:t>o </a:t>
            </a:r>
            <a:r>
              <a:rPr lang="pt-BR" b="1" i="1" dirty="0">
                <a:solidFill>
                  <a:srgbClr val="7030A0"/>
                </a:solidFill>
              </a:rPr>
              <a:t>desempenho</a:t>
            </a:r>
            <a:r>
              <a:rPr lang="pt-BR" dirty="0" smtClean="0"/>
              <a:t> </a:t>
            </a:r>
            <a:r>
              <a:rPr lang="pt-BR" b="1" i="1" dirty="0" smtClean="0">
                <a:solidFill>
                  <a:srgbClr val="7030A0"/>
                </a:solidFill>
                <a:effectLst/>
              </a:rPr>
              <a:t>geral </a:t>
            </a:r>
            <a:r>
              <a:rPr lang="pt-BR" b="1" i="1" dirty="0">
                <a:solidFill>
                  <a:srgbClr val="7030A0"/>
                </a:solidFill>
                <a:effectLst/>
              </a:rPr>
              <a:t>do modelo</a:t>
            </a:r>
            <a:r>
              <a:rPr lang="pt-BR" b="0" i="0" dirty="0">
                <a:effectLst/>
              </a:rPr>
              <a:t>.</a:t>
            </a:r>
            <a:endParaRPr lang="pt-BR" dirty="0"/>
          </a:p>
        </p:txBody>
      </p:sp>
      <mc:AlternateContent xmlns:mc="http://schemas.openxmlformats.org/markup-compatibility/2006" xmlns:a14="http://schemas.microsoft.com/office/drawing/2010/main">
        <mc:Choice Requires="a14">
          <p:sp>
            <p:nvSpPr>
              <p:cNvPr id="5" name="CaixaDeTexto 4">
                <a:extLst>
                  <a:ext uri="{FF2B5EF4-FFF2-40B4-BE49-F238E27FC236}">
                    <a16:creationId xmlns="" xmlns:a16="http://schemas.microsoft.com/office/drawing/2014/main" id="{A1A8E5FE-3F01-AAA0-2326-F47AA1AC18B9}"/>
                  </a:ext>
                </a:extLst>
              </p:cNvPr>
              <p:cNvSpPr txBox="1"/>
              <p:nvPr/>
            </p:nvSpPr>
            <p:spPr>
              <a:xfrm>
                <a:off x="562154" y="3164375"/>
                <a:ext cx="5057423" cy="10123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pt-BR" sz="3200" smtClean="0">
                          <a:latin typeface="Cambria Math" panose="02040503050406030204" pitchFamily="18" charset="0"/>
                        </a:rPr>
                        <m:t>a</m:t>
                      </m:r>
                      <m:r>
                        <m:rPr>
                          <m:sty m:val="p"/>
                        </m:rPr>
                        <a:rPr lang="pt-BR" sz="3200" b="0" i="0" smtClean="0">
                          <a:latin typeface="Cambria Math" panose="02040503050406030204" pitchFamily="18" charset="0"/>
                        </a:rPr>
                        <m:t>cur</m:t>
                      </m:r>
                      <m:r>
                        <a:rPr lang="pt-BR" sz="3200" b="0" i="0" smtClean="0">
                          <a:latin typeface="Cambria Math" panose="02040503050406030204" pitchFamily="18" charset="0"/>
                        </a:rPr>
                        <m:t>á</m:t>
                      </m:r>
                      <m:r>
                        <m:rPr>
                          <m:sty m:val="p"/>
                        </m:rPr>
                        <a:rPr lang="pt-BR" sz="3200" b="0" i="0" smtClean="0">
                          <a:latin typeface="Cambria Math" panose="02040503050406030204" pitchFamily="18" charset="0"/>
                        </a:rPr>
                        <m:t>cia</m:t>
                      </m:r>
                      <m:r>
                        <a:rPr lang="pt-BR" sz="3200">
                          <a:latin typeface="Cambria Math" panose="02040503050406030204" pitchFamily="18" charset="0"/>
                        </a:rPr>
                        <m:t>=</m:t>
                      </m:r>
                      <m:f>
                        <m:fPr>
                          <m:ctrlPr>
                            <a:rPr lang="pt-BR" sz="3200" i="1">
                              <a:latin typeface="Cambria Math" panose="02040503050406030204" pitchFamily="18" charset="0"/>
                            </a:rPr>
                          </m:ctrlPr>
                        </m:fPr>
                        <m:num>
                          <m:r>
                            <m:rPr>
                              <m:sty m:val="p"/>
                            </m:rPr>
                            <a:rPr lang="pt-BR" sz="3200">
                              <a:latin typeface="Cambria Math" panose="02040503050406030204" pitchFamily="18" charset="0"/>
                            </a:rPr>
                            <m:t>TP</m:t>
                          </m:r>
                          <m:r>
                            <a:rPr lang="pt-BR" sz="3200">
                              <a:latin typeface="Cambria Math" panose="02040503050406030204" pitchFamily="18" charset="0"/>
                            </a:rPr>
                            <m:t>+</m:t>
                          </m:r>
                          <m:r>
                            <m:rPr>
                              <m:sty m:val="p"/>
                            </m:rPr>
                            <a:rPr lang="pt-BR" sz="3200">
                              <a:latin typeface="Cambria Math" panose="02040503050406030204" pitchFamily="18" charset="0"/>
                            </a:rPr>
                            <m:t>TN</m:t>
                          </m:r>
                        </m:num>
                        <m:den>
                          <m:r>
                            <m:rPr>
                              <m:nor/>
                            </m:rPr>
                            <a:rPr lang="pt-BR" sz="3200" dirty="0"/>
                            <m:t>TP</m:t>
                          </m:r>
                          <m:r>
                            <m:rPr>
                              <m:nor/>
                            </m:rPr>
                            <a:rPr lang="pt-BR" sz="3200" dirty="0"/>
                            <m:t> + </m:t>
                          </m:r>
                          <m:r>
                            <m:rPr>
                              <m:nor/>
                            </m:rPr>
                            <a:rPr lang="pt-BR" sz="3200" dirty="0"/>
                            <m:t>FN</m:t>
                          </m:r>
                          <m:r>
                            <m:rPr>
                              <m:nor/>
                            </m:rPr>
                            <a:rPr lang="pt-BR" sz="3200" dirty="0"/>
                            <m:t> + </m:t>
                          </m:r>
                          <m:r>
                            <m:rPr>
                              <m:nor/>
                            </m:rPr>
                            <a:rPr lang="pt-BR" sz="3200" dirty="0"/>
                            <m:t>FP</m:t>
                          </m:r>
                          <m:r>
                            <m:rPr>
                              <m:nor/>
                            </m:rPr>
                            <a:rPr lang="pt-BR" sz="3200" dirty="0"/>
                            <m:t> + </m:t>
                          </m:r>
                          <m:r>
                            <m:rPr>
                              <m:nor/>
                            </m:rPr>
                            <a:rPr lang="pt-BR" sz="3200" dirty="0"/>
                            <m:t>TN</m:t>
                          </m:r>
                        </m:den>
                      </m:f>
                    </m:oMath>
                  </m:oMathPara>
                </a14:m>
                <a:endParaRPr lang="pt-BR" sz="3200" dirty="0"/>
              </a:p>
            </p:txBody>
          </p:sp>
        </mc:Choice>
        <mc:Fallback xmlns="">
          <p:sp>
            <p:nvSpPr>
              <p:cNvPr id="5" name="CaixaDeTexto 4">
                <a:extLst>
                  <a:ext uri="{FF2B5EF4-FFF2-40B4-BE49-F238E27FC236}">
                    <a16:creationId xmlns="" xmlns:a16="http://schemas.microsoft.com/office/drawing/2014/main" xmlns:a14="http://schemas.microsoft.com/office/drawing/2010/main" id="{A1A8E5FE-3F01-AAA0-2326-F47AA1AC18B9}"/>
                  </a:ext>
                </a:extLst>
              </p:cNvPr>
              <p:cNvSpPr txBox="1">
                <a:spLocks noRot="1" noChangeAspect="1" noMove="1" noResize="1" noEditPoints="1" noAdjustHandles="1" noChangeArrowheads="1" noChangeShapeType="1" noTextEdit="1"/>
              </p:cNvSpPr>
              <p:nvPr/>
            </p:nvSpPr>
            <p:spPr>
              <a:xfrm>
                <a:off x="562154" y="3164375"/>
                <a:ext cx="5057423" cy="1012328"/>
              </a:xfrm>
              <a:prstGeom prst="rect">
                <a:avLst/>
              </a:prstGeom>
              <a:blipFill rotWithShape="0">
                <a:blip r:embed="rId3"/>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2761463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364D5D3-A9ED-9B8B-0474-AF3EF62241C0}"/>
              </a:ext>
            </a:extLst>
          </p:cNvPr>
          <p:cNvSpPr>
            <a:spLocks noGrp="1"/>
          </p:cNvSpPr>
          <p:nvPr>
            <p:ph type="title"/>
          </p:nvPr>
        </p:nvSpPr>
        <p:spPr/>
        <p:txBody>
          <a:bodyPr/>
          <a:lstStyle/>
          <a:p>
            <a:r>
              <a:rPr lang="pt-BR" dirty="0"/>
              <a:t>Acurácia</a:t>
            </a:r>
          </a:p>
        </p:txBody>
      </p:sp>
      <p:sp>
        <p:nvSpPr>
          <p:cNvPr id="3" name="Espaço Reservado para Conteúdo 2">
            <a:extLst>
              <a:ext uri="{FF2B5EF4-FFF2-40B4-BE49-F238E27FC236}">
                <a16:creationId xmlns="" xmlns:a16="http://schemas.microsoft.com/office/drawing/2014/main" id="{729D007B-9E18-00C3-2CF2-47D7955EBACC}"/>
              </a:ext>
            </a:extLst>
          </p:cNvPr>
          <p:cNvSpPr>
            <a:spLocks noGrp="1"/>
          </p:cNvSpPr>
          <p:nvPr>
            <p:ph idx="1"/>
          </p:nvPr>
        </p:nvSpPr>
        <p:spPr>
          <a:xfrm>
            <a:off x="5652654" y="1690688"/>
            <a:ext cx="6539345" cy="5167312"/>
          </a:xfrm>
        </p:spPr>
        <p:txBody>
          <a:bodyPr>
            <a:normAutofit lnSpcReduction="10000"/>
          </a:bodyPr>
          <a:lstStyle/>
          <a:p>
            <a:r>
              <a:rPr lang="pt-BR" dirty="0">
                <a:solidFill>
                  <a:schemeClr val="tx1"/>
                </a:solidFill>
              </a:rPr>
              <a:t>A </a:t>
            </a:r>
            <a:r>
              <a:rPr lang="pt-BR" b="1" i="1" dirty="0">
                <a:solidFill>
                  <a:srgbClr val="00B050"/>
                </a:solidFill>
              </a:rPr>
              <a:t>acurácia</a:t>
            </a:r>
            <a:r>
              <a:rPr lang="pt-BR" dirty="0">
                <a:solidFill>
                  <a:schemeClr val="tx1"/>
                </a:solidFill>
              </a:rPr>
              <a:t> é, geralmente, a </a:t>
            </a:r>
            <a:r>
              <a:rPr lang="pt-BR" b="1" i="1" dirty="0">
                <a:solidFill>
                  <a:srgbClr val="00B050"/>
                </a:solidFill>
              </a:rPr>
              <a:t>primeira escolha </a:t>
            </a:r>
            <a:r>
              <a:rPr lang="pt-BR" dirty="0">
                <a:solidFill>
                  <a:schemeClr val="tx1"/>
                </a:solidFill>
              </a:rPr>
              <a:t>para medir a qualidade de um classificador.</a:t>
            </a:r>
          </a:p>
          <a:p>
            <a:r>
              <a:rPr lang="pt-BR" dirty="0">
                <a:solidFill>
                  <a:schemeClr val="tx1"/>
                </a:solidFill>
              </a:rPr>
              <a:t>Entretanto, ela pode ser </a:t>
            </a:r>
            <a:r>
              <a:rPr lang="pt-BR" b="1" i="1" dirty="0">
                <a:solidFill>
                  <a:srgbClr val="7030A0"/>
                </a:solidFill>
              </a:rPr>
              <a:t>enganosa</a:t>
            </a:r>
            <a:r>
              <a:rPr lang="pt-BR" b="1" i="1" dirty="0">
                <a:solidFill>
                  <a:srgbClr val="00B050"/>
                </a:solidFill>
              </a:rPr>
              <a:t> com problemas </a:t>
            </a:r>
            <a:r>
              <a:rPr lang="pt-BR" b="1" i="1" dirty="0">
                <a:solidFill>
                  <a:srgbClr val="7030A0"/>
                </a:solidFill>
              </a:rPr>
              <a:t>desbalanceados</a:t>
            </a:r>
            <a:r>
              <a:rPr lang="pt-BR" dirty="0">
                <a:solidFill>
                  <a:schemeClr val="tx1"/>
                </a:solidFill>
              </a:rPr>
              <a:t>.</a:t>
            </a:r>
          </a:p>
          <a:p>
            <a:pPr lvl="1">
              <a:buFont typeface="Wingdings" panose="05000000000000000000" pitchFamily="2" charset="2"/>
              <a:buChar char="§"/>
            </a:pPr>
            <a:r>
              <a:rPr lang="pt-BR" dirty="0"/>
              <a:t>Problemas onde uma ou algumas classes têm muito mais exemplos do que as demais.</a:t>
            </a:r>
            <a:endParaRPr lang="pt-BR" dirty="0">
              <a:solidFill>
                <a:schemeClr val="tx1"/>
              </a:solidFill>
            </a:endParaRPr>
          </a:p>
          <a:p>
            <a:r>
              <a:rPr lang="pt-BR" dirty="0"/>
              <a:t>Nesses casos, ela pode nos levar a concluir que um </a:t>
            </a:r>
            <a:r>
              <a:rPr lang="pt-BR" b="1" i="1" dirty="0">
                <a:solidFill>
                  <a:srgbClr val="00B050"/>
                </a:solidFill>
              </a:rPr>
              <a:t>classificador ruim é muito bom</a:t>
            </a:r>
            <a:r>
              <a:rPr lang="pt-BR" dirty="0"/>
              <a:t>.</a:t>
            </a:r>
          </a:p>
          <a:p>
            <a:r>
              <a:rPr lang="pt-BR" dirty="0">
                <a:solidFill>
                  <a:schemeClr val="tx1"/>
                </a:solidFill>
              </a:rPr>
              <a:t>Portanto, ela </a:t>
            </a:r>
            <a:r>
              <a:rPr lang="pt-BR" b="1" i="1" dirty="0">
                <a:solidFill>
                  <a:srgbClr val="002060"/>
                </a:solidFill>
              </a:rPr>
              <a:t>só é usada </a:t>
            </a:r>
            <a:r>
              <a:rPr lang="pt-BR" dirty="0"/>
              <a:t>para avaliar o </a:t>
            </a:r>
            <a:r>
              <a:rPr lang="pt-BR" dirty="0">
                <a:solidFill>
                  <a:schemeClr val="tx1"/>
                </a:solidFill>
              </a:rPr>
              <a:t>desempenho geral de um classificador </a:t>
            </a:r>
            <a:r>
              <a:rPr lang="pt-BR" b="1" i="1" dirty="0">
                <a:solidFill>
                  <a:srgbClr val="002060"/>
                </a:solidFill>
              </a:rPr>
              <a:t>quando as classes estão </a:t>
            </a:r>
            <a:r>
              <a:rPr lang="pt-BR" b="1" i="1" dirty="0">
                <a:solidFill>
                  <a:srgbClr val="FF0000"/>
                </a:solidFill>
              </a:rPr>
              <a:t>balanceadas</a:t>
            </a:r>
            <a:r>
              <a:rPr lang="pt-BR" dirty="0">
                <a:solidFill>
                  <a:schemeClr val="tx1"/>
                </a:solidFill>
              </a:rPr>
              <a:t>.</a:t>
            </a:r>
          </a:p>
        </p:txBody>
      </p:sp>
      <mc:AlternateContent xmlns:mc="http://schemas.openxmlformats.org/markup-compatibility/2006" xmlns:a14="http://schemas.microsoft.com/office/drawing/2010/main">
        <mc:Choice Requires="a14">
          <p:sp>
            <p:nvSpPr>
              <p:cNvPr id="4" name="CaixaDeTexto 3">
                <a:extLst>
                  <a:ext uri="{FF2B5EF4-FFF2-40B4-BE49-F238E27FC236}">
                    <a16:creationId xmlns="" xmlns:a16="http://schemas.microsoft.com/office/drawing/2014/main" id="{3B70A8A1-B016-521E-B475-1827A59F773A}"/>
                  </a:ext>
                </a:extLst>
              </p:cNvPr>
              <p:cNvSpPr txBox="1"/>
              <p:nvPr/>
            </p:nvSpPr>
            <p:spPr>
              <a:xfrm>
                <a:off x="330200" y="2987491"/>
                <a:ext cx="5057423" cy="10123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pt-BR" sz="3200" smtClean="0">
                          <a:latin typeface="Cambria Math" panose="02040503050406030204" pitchFamily="18" charset="0"/>
                        </a:rPr>
                        <m:t>a</m:t>
                      </m:r>
                      <m:r>
                        <m:rPr>
                          <m:sty m:val="p"/>
                        </m:rPr>
                        <a:rPr lang="pt-BR" sz="3200" b="0" i="0" smtClean="0">
                          <a:latin typeface="Cambria Math" panose="02040503050406030204" pitchFamily="18" charset="0"/>
                        </a:rPr>
                        <m:t>cur</m:t>
                      </m:r>
                      <m:r>
                        <a:rPr lang="pt-BR" sz="3200" b="0" i="0" smtClean="0">
                          <a:latin typeface="Cambria Math" panose="02040503050406030204" pitchFamily="18" charset="0"/>
                        </a:rPr>
                        <m:t>á</m:t>
                      </m:r>
                      <m:r>
                        <m:rPr>
                          <m:sty m:val="p"/>
                        </m:rPr>
                        <a:rPr lang="pt-BR" sz="3200" b="0" i="0" smtClean="0">
                          <a:latin typeface="Cambria Math" panose="02040503050406030204" pitchFamily="18" charset="0"/>
                        </a:rPr>
                        <m:t>cia</m:t>
                      </m:r>
                      <m:r>
                        <a:rPr lang="pt-BR" sz="3200">
                          <a:latin typeface="Cambria Math" panose="02040503050406030204" pitchFamily="18" charset="0"/>
                        </a:rPr>
                        <m:t>=</m:t>
                      </m:r>
                      <m:f>
                        <m:fPr>
                          <m:ctrlPr>
                            <a:rPr lang="pt-BR" sz="3200" i="1">
                              <a:latin typeface="Cambria Math" panose="02040503050406030204" pitchFamily="18" charset="0"/>
                            </a:rPr>
                          </m:ctrlPr>
                        </m:fPr>
                        <m:num>
                          <m:r>
                            <m:rPr>
                              <m:sty m:val="p"/>
                            </m:rPr>
                            <a:rPr lang="pt-BR" sz="3200">
                              <a:latin typeface="Cambria Math" panose="02040503050406030204" pitchFamily="18" charset="0"/>
                            </a:rPr>
                            <m:t>TP</m:t>
                          </m:r>
                          <m:r>
                            <a:rPr lang="pt-BR" sz="3200">
                              <a:latin typeface="Cambria Math" panose="02040503050406030204" pitchFamily="18" charset="0"/>
                            </a:rPr>
                            <m:t>+</m:t>
                          </m:r>
                          <m:r>
                            <m:rPr>
                              <m:sty m:val="p"/>
                            </m:rPr>
                            <a:rPr lang="pt-BR" sz="3200">
                              <a:latin typeface="Cambria Math" panose="02040503050406030204" pitchFamily="18" charset="0"/>
                            </a:rPr>
                            <m:t>TN</m:t>
                          </m:r>
                        </m:num>
                        <m:den>
                          <m:r>
                            <m:rPr>
                              <m:nor/>
                            </m:rPr>
                            <a:rPr lang="pt-BR" sz="3200" dirty="0"/>
                            <m:t>TP</m:t>
                          </m:r>
                          <m:r>
                            <m:rPr>
                              <m:nor/>
                            </m:rPr>
                            <a:rPr lang="pt-BR" sz="3200" dirty="0"/>
                            <m:t> + </m:t>
                          </m:r>
                          <m:r>
                            <m:rPr>
                              <m:nor/>
                            </m:rPr>
                            <a:rPr lang="pt-BR" sz="3200" dirty="0"/>
                            <m:t>FN</m:t>
                          </m:r>
                          <m:r>
                            <m:rPr>
                              <m:nor/>
                            </m:rPr>
                            <a:rPr lang="pt-BR" sz="3200" dirty="0"/>
                            <m:t> + </m:t>
                          </m:r>
                          <m:r>
                            <m:rPr>
                              <m:nor/>
                            </m:rPr>
                            <a:rPr lang="pt-BR" sz="3200" dirty="0"/>
                            <m:t>FP</m:t>
                          </m:r>
                          <m:r>
                            <m:rPr>
                              <m:nor/>
                            </m:rPr>
                            <a:rPr lang="pt-BR" sz="3200" dirty="0"/>
                            <m:t> + </m:t>
                          </m:r>
                          <m:r>
                            <m:rPr>
                              <m:nor/>
                            </m:rPr>
                            <a:rPr lang="pt-BR" sz="3200" dirty="0"/>
                            <m:t>TN</m:t>
                          </m:r>
                        </m:den>
                      </m:f>
                    </m:oMath>
                  </m:oMathPara>
                </a14:m>
                <a:endParaRPr lang="pt-BR" sz="3200" dirty="0"/>
              </a:p>
            </p:txBody>
          </p:sp>
        </mc:Choice>
        <mc:Fallback xmlns="">
          <p:sp>
            <p:nvSpPr>
              <p:cNvPr id="4" name="CaixaDeTexto 3">
                <a:extLst>
                  <a:ext uri="{FF2B5EF4-FFF2-40B4-BE49-F238E27FC236}">
                    <a16:creationId xmlns:a16="http://schemas.microsoft.com/office/drawing/2014/main" id="{3B70A8A1-B016-521E-B475-1827A59F773A}"/>
                  </a:ext>
                </a:extLst>
              </p:cNvPr>
              <p:cNvSpPr txBox="1">
                <a:spLocks noRot="1" noChangeAspect="1" noMove="1" noResize="1" noEditPoints="1" noAdjustHandles="1" noChangeArrowheads="1" noChangeShapeType="1" noTextEdit="1"/>
              </p:cNvSpPr>
              <p:nvPr/>
            </p:nvSpPr>
            <p:spPr>
              <a:xfrm>
                <a:off x="330200" y="2987491"/>
                <a:ext cx="5057423" cy="1012328"/>
              </a:xfrm>
              <a:prstGeom prst="rect">
                <a:avLst/>
              </a:prstGeom>
              <a:blipFill>
                <a:blip r:embed="rId3"/>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4255808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C364D5D3-A9ED-9B8B-0474-AF3EF62241C0}"/>
              </a:ext>
            </a:extLst>
          </p:cNvPr>
          <p:cNvSpPr>
            <a:spLocks noGrp="1"/>
          </p:cNvSpPr>
          <p:nvPr>
            <p:ph type="title"/>
          </p:nvPr>
        </p:nvSpPr>
        <p:spPr/>
        <p:txBody>
          <a:bodyPr/>
          <a:lstStyle/>
          <a:p>
            <a:r>
              <a:rPr lang="pt-BR" dirty="0"/>
              <a:t>Acurácia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729D007B-9E18-00C3-2CF2-47D7955EBACC}"/>
                  </a:ext>
                </a:extLst>
              </p:cNvPr>
              <p:cNvSpPr>
                <a:spLocks noGrp="1"/>
              </p:cNvSpPr>
              <p:nvPr>
                <p:ph idx="1"/>
              </p:nvPr>
            </p:nvSpPr>
            <p:spPr>
              <a:xfrm>
                <a:off x="838198" y="1690688"/>
                <a:ext cx="11353802" cy="5167312"/>
              </a:xfrm>
            </p:spPr>
            <p:txBody>
              <a:bodyPr>
                <a:normAutofit/>
              </a:bodyPr>
              <a:lstStyle/>
              <a:p>
                <a:r>
                  <a:rPr lang="pt-BR" dirty="0" smtClean="0">
                    <a:solidFill>
                      <a:schemeClr val="tx1"/>
                    </a:solidFill>
                  </a:rPr>
                  <a:t>Analisando a equação da acurácia, o que aconteceria se TP fosse muito maior do que TN, FN e FP?</a:t>
                </a:r>
                <a:endParaRPr lang="pt-BR" sz="800"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func>
                        <m:funcPr>
                          <m:ctrlPr>
                            <a:rPr lang="pt-BR" i="1" smtClean="0">
                              <a:solidFill>
                                <a:schemeClr val="tx1"/>
                              </a:solidFill>
                              <a:latin typeface="Cambria Math" panose="02040503050406030204" pitchFamily="18" charset="0"/>
                            </a:rPr>
                          </m:ctrlPr>
                        </m:funcPr>
                        <m:fName>
                          <m:limLow>
                            <m:limLowPr>
                              <m:ctrlPr>
                                <a:rPr lang="pt-BR" i="1" smtClean="0">
                                  <a:solidFill>
                                    <a:schemeClr val="tx1"/>
                                  </a:solidFill>
                                  <a:latin typeface="Cambria Math" panose="02040503050406030204" pitchFamily="18" charset="0"/>
                                </a:rPr>
                              </m:ctrlPr>
                            </m:limLowPr>
                            <m:e>
                              <m:r>
                                <m:rPr>
                                  <m:sty m:val="p"/>
                                </m:rPr>
                                <a:rPr lang="pt-BR" i="0" smtClean="0">
                                  <a:solidFill>
                                    <a:schemeClr val="tx1"/>
                                  </a:solidFill>
                                  <a:latin typeface="Cambria Math" panose="02040503050406030204" pitchFamily="18" charset="0"/>
                                </a:rPr>
                                <m:t>lim</m:t>
                              </m:r>
                            </m:e>
                            <m:lim>
                              <m:r>
                                <m:rPr>
                                  <m:sty m:val="p"/>
                                </m:rPr>
                                <a:rPr lang="pt-BR" b="0" i="0" smtClean="0">
                                  <a:solidFill>
                                    <a:schemeClr val="tx1"/>
                                  </a:solidFill>
                                  <a:latin typeface="Cambria Math" panose="02040503050406030204" pitchFamily="18" charset="0"/>
                                </a:rPr>
                                <m:t>TP</m:t>
                              </m:r>
                              <m:r>
                                <a:rPr lang="pt-BR" b="0" i="1" smtClean="0">
                                  <a:solidFill>
                                    <a:schemeClr val="tx1"/>
                                  </a:solidFill>
                                  <a:latin typeface="Cambria Math" panose="02040503050406030204" pitchFamily="18" charset="0"/>
                                  <a:ea typeface="Cambria Math" panose="02040503050406030204" pitchFamily="18" charset="0"/>
                                </a:rPr>
                                <m:t>→∞</m:t>
                              </m:r>
                            </m:lim>
                          </m:limLow>
                        </m:fName>
                        <m:e>
                          <m:r>
                            <m:rPr>
                              <m:sty m:val="p"/>
                            </m:rPr>
                            <a:rPr lang="pt-BR" b="0" i="0" smtClean="0">
                              <a:solidFill>
                                <a:schemeClr val="tx1"/>
                              </a:solidFill>
                              <a:latin typeface="Cambria Math" panose="02040503050406030204" pitchFamily="18" charset="0"/>
                              <a:ea typeface="Cambria Math" panose="02040503050406030204" pitchFamily="18" charset="0"/>
                            </a:rPr>
                            <m:t>acur</m:t>
                          </m:r>
                          <m:r>
                            <a:rPr lang="pt-BR" b="0" i="0" smtClean="0">
                              <a:solidFill>
                                <a:schemeClr val="tx1"/>
                              </a:solidFill>
                              <a:latin typeface="Cambria Math" panose="02040503050406030204" pitchFamily="18" charset="0"/>
                              <a:ea typeface="Cambria Math" panose="02040503050406030204" pitchFamily="18" charset="0"/>
                            </a:rPr>
                            <m:t>á</m:t>
                          </m:r>
                          <m:r>
                            <m:rPr>
                              <m:sty m:val="p"/>
                            </m:rPr>
                            <a:rPr lang="pt-BR" b="0" i="0" smtClean="0">
                              <a:solidFill>
                                <a:schemeClr val="tx1"/>
                              </a:solidFill>
                              <a:latin typeface="Cambria Math" panose="02040503050406030204" pitchFamily="18" charset="0"/>
                              <a:ea typeface="Cambria Math" panose="02040503050406030204" pitchFamily="18" charset="0"/>
                            </a:rPr>
                            <m:t>cia</m:t>
                          </m:r>
                        </m:e>
                      </m:func>
                      <m:r>
                        <a:rPr lang="pt-BR">
                          <a:solidFill>
                            <a:schemeClr val="tx1"/>
                          </a:solidFill>
                          <a:latin typeface="Cambria Math" panose="02040503050406030204" pitchFamily="18" charset="0"/>
                        </a:rPr>
                        <m:t>=</m:t>
                      </m:r>
                      <m:limLow>
                        <m:limLowPr>
                          <m:ctrlPr>
                            <a:rPr lang="pt-BR" i="1">
                              <a:solidFill>
                                <a:schemeClr val="tx1"/>
                              </a:solidFill>
                              <a:latin typeface="Cambria Math" panose="02040503050406030204" pitchFamily="18" charset="0"/>
                            </a:rPr>
                          </m:ctrlPr>
                        </m:limLowPr>
                        <m:e>
                          <m:r>
                            <m:rPr>
                              <m:sty m:val="p"/>
                            </m:rPr>
                            <a:rPr lang="pt-BR">
                              <a:solidFill>
                                <a:schemeClr val="tx1"/>
                              </a:solidFill>
                              <a:latin typeface="Cambria Math" panose="02040503050406030204" pitchFamily="18" charset="0"/>
                            </a:rPr>
                            <m:t>lim</m:t>
                          </m:r>
                        </m:e>
                        <m:lim>
                          <m:r>
                            <m:rPr>
                              <m:sty m:val="p"/>
                            </m:rPr>
                            <a:rPr lang="pt-BR">
                              <a:solidFill>
                                <a:schemeClr val="tx1"/>
                              </a:solidFill>
                              <a:latin typeface="Cambria Math" panose="02040503050406030204" pitchFamily="18" charset="0"/>
                            </a:rPr>
                            <m:t>TP</m:t>
                          </m:r>
                          <m:r>
                            <a:rPr lang="pt-BR" i="1">
                              <a:solidFill>
                                <a:schemeClr val="tx1"/>
                              </a:solidFill>
                              <a:latin typeface="Cambria Math" panose="02040503050406030204" pitchFamily="18" charset="0"/>
                              <a:ea typeface="Cambria Math" panose="02040503050406030204" pitchFamily="18" charset="0"/>
                            </a:rPr>
                            <m:t>→∞</m:t>
                          </m:r>
                        </m:lim>
                      </m:limLow>
                      <m:d>
                        <m:dPr>
                          <m:ctrlPr>
                            <a:rPr lang="pt-BR" i="1" smtClean="0">
                              <a:solidFill>
                                <a:schemeClr val="tx1"/>
                              </a:solidFill>
                              <a:latin typeface="Cambria Math" panose="02040503050406030204" pitchFamily="18" charset="0"/>
                              <a:ea typeface="Cambria Math" panose="02040503050406030204" pitchFamily="18" charset="0"/>
                            </a:rPr>
                          </m:ctrlPr>
                        </m:dPr>
                        <m:e>
                          <m:f>
                            <m:fPr>
                              <m:ctrlPr>
                                <a:rPr lang="pt-BR" i="1">
                                  <a:solidFill>
                                    <a:schemeClr val="tx1"/>
                                  </a:solidFill>
                                  <a:latin typeface="Cambria Math" panose="02040503050406030204" pitchFamily="18" charset="0"/>
                                </a:rPr>
                              </m:ctrlPr>
                            </m:fPr>
                            <m:num>
                              <m:r>
                                <m:rPr>
                                  <m:sty m:val="p"/>
                                </m:rPr>
                                <a:rPr lang="pt-BR">
                                  <a:solidFill>
                                    <a:schemeClr val="tx1"/>
                                  </a:solidFill>
                                  <a:latin typeface="Cambria Math" panose="02040503050406030204" pitchFamily="18" charset="0"/>
                                </a:rPr>
                                <m:t>TP</m:t>
                              </m:r>
                              <m:r>
                                <a:rPr lang="pt-BR">
                                  <a:solidFill>
                                    <a:schemeClr val="tx1"/>
                                  </a:solidFill>
                                  <a:latin typeface="Cambria Math" panose="02040503050406030204" pitchFamily="18" charset="0"/>
                                </a:rPr>
                                <m:t>+</m:t>
                              </m:r>
                              <m:r>
                                <m:rPr>
                                  <m:sty m:val="p"/>
                                </m:rPr>
                                <a:rPr lang="pt-BR">
                                  <a:solidFill>
                                    <a:schemeClr val="tx1"/>
                                  </a:solidFill>
                                  <a:latin typeface="Cambria Math" panose="02040503050406030204" pitchFamily="18" charset="0"/>
                                </a:rPr>
                                <m:t>TN</m:t>
                              </m:r>
                            </m:num>
                            <m:den>
                              <m:r>
                                <m:rPr>
                                  <m:sty m:val="p"/>
                                </m:rPr>
                                <a:rPr lang="pt-BR">
                                  <a:solidFill>
                                    <a:schemeClr val="tx1"/>
                                  </a:solidFill>
                                  <a:latin typeface="Cambria Math" panose="02040503050406030204" pitchFamily="18" charset="0"/>
                                </a:rPr>
                                <m:t>TP</m:t>
                              </m:r>
                              <m:r>
                                <a:rPr lang="pt-BR">
                                  <a:solidFill>
                                    <a:schemeClr val="tx1"/>
                                  </a:solidFill>
                                  <a:latin typeface="Cambria Math" panose="02040503050406030204" pitchFamily="18" charset="0"/>
                                </a:rPr>
                                <m:t>+</m:t>
                              </m:r>
                              <m:r>
                                <m:rPr>
                                  <m:sty m:val="p"/>
                                </m:rPr>
                                <a:rPr lang="pt-BR">
                                  <a:solidFill>
                                    <a:schemeClr val="tx1"/>
                                  </a:solidFill>
                                  <a:latin typeface="Cambria Math" panose="02040503050406030204" pitchFamily="18" charset="0"/>
                                </a:rPr>
                                <m:t>TN</m:t>
                              </m:r>
                              <m:r>
                                <a:rPr lang="pt-BR" i="1">
                                  <a:solidFill>
                                    <a:schemeClr val="tx1"/>
                                  </a:solidFill>
                                  <a:latin typeface="Cambria Math" panose="02040503050406030204" pitchFamily="18" charset="0"/>
                                </a:rPr>
                                <m:t>+</m:t>
                              </m:r>
                              <m:r>
                                <m:rPr>
                                  <m:sty m:val="p"/>
                                </m:rPr>
                                <a:rPr lang="pt-BR">
                                  <a:solidFill>
                                    <a:schemeClr val="tx1"/>
                                  </a:solidFill>
                                  <a:latin typeface="Cambria Math" panose="02040503050406030204" pitchFamily="18" charset="0"/>
                                </a:rPr>
                                <m:t>FN</m:t>
                              </m:r>
                              <m:r>
                                <a:rPr lang="pt-BR">
                                  <a:solidFill>
                                    <a:schemeClr val="tx1"/>
                                  </a:solidFill>
                                  <a:latin typeface="Cambria Math" panose="02040503050406030204" pitchFamily="18" charset="0"/>
                                </a:rPr>
                                <m:t>+</m:t>
                              </m:r>
                              <m:r>
                                <m:rPr>
                                  <m:sty m:val="p"/>
                                </m:rPr>
                                <a:rPr lang="pt-BR">
                                  <a:solidFill>
                                    <a:schemeClr val="tx1"/>
                                  </a:solidFill>
                                  <a:latin typeface="Cambria Math" panose="02040503050406030204" pitchFamily="18" charset="0"/>
                                </a:rPr>
                                <m:t>FP</m:t>
                              </m:r>
                            </m:den>
                          </m:f>
                        </m:e>
                      </m:d>
                      <m:r>
                        <a:rPr lang="pt-BR" i="1">
                          <a:latin typeface="Cambria Math" panose="02040503050406030204" pitchFamily="18" charset="0"/>
                          <a:ea typeface="Cambria Math" panose="02040503050406030204" pitchFamily="18" charset="0"/>
                        </a:rPr>
                        <m:t>→</m:t>
                      </m:r>
                      <m:f>
                        <m:fPr>
                          <m:ctrlPr>
                            <a:rPr lang="pt-BR" i="1">
                              <a:solidFill>
                                <a:schemeClr val="tx1"/>
                              </a:solidFill>
                              <a:latin typeface="Cambria Math" panose="02040503050406030204" pitchFamily="18" charset="0"/>
                            </a:rPr>
                          </m:ctrlPr>
                        </m:fPr>
                        <m:num>
                          <m:r>
                            <m:rPr>
                              <m:sty m:val="p"/>
                            </m:rPr>
                            <a:rPr lang="pt-BR">
                              <a:solidFill>
                                <a:schemeClr val="tx1"/>
                              </a:solidFill>
                              <a:latin typeface="Cambria Math" panose="02040503050406030204" pitchFamily="18" charset="0"/>
                            </a:rPr>
                            <m:t>TP</m:t>
                          </m:r>
                        </m:num>
                        <m:den>
                          <m:r>
                            <m:rPr>
                              <m:sty m:val="p"/>
                            </m:rPr>
                            <a:rPr lang="pt-BR">
                              <a:solidFill>
                                <a:schemeClr val="tx1"/>
                              </a:solidFill>
                              <a:latin typeface="Cambria Math" panose="02040503050406030204" pitchFamily="18" charset="0"/>
                            </a:rPr>
                            <m:t>TP</m:t>
                          </m:r>
                        </m:den>
                      </m:f>
                      <m:r>
                        <a:rPr lang="pt-BR" i="1">
                          <a:latin typeface="Cambria Math" panose="02040503050406030204" pitchFamily="18" charset="0"/>
                          <a:ea typeface="Cambria Math" panose="02040503050406030204" pitchFamily="18" charset="0"/>
                        </a:rPr>
                        <m:t>→</m:t>
                      </m:r>
                      <m:r>
                        <a:rPr lang="pt-BR" b="0" i="1" smtClean="0">
                          <a:solidFill>
                            <a:schemeClr val="tx1"/>
                          </a:solidFill>
                          <a:latin typeface="Cambria Math" panose="02040503050406030204" pitchFamily="18" charset="0"/>
                        </a:rPr>
                        <m:t>1</m:t>
                      </m:r>
                      <m:r>
                        <a:rPr lang="pt-BR" b="0" i="0" smtClean="0">
                          <a:solidFill>
                            <a:schemeClr val="tx1"/>
                          </a:solidFill>
                          <a:latin typeface="Cambria Math" panose="02040503050406030204" pitchFamily="18" charset="0"/>
                        </a:rPr>
                        <m:t>.</m:t>
                      </m:r>
                    </m:oMath>
                  </m:oMathPara>
                </a14:m>
                <a:endParaRPr lang="pt-BR" sz="800" dirty="0" smtClean="0"/>
              </a:p>
              <a:p>
                <a:pPr marL="0" indent="0">
                  <a:buNone/>
                </a:pPr>
                <a:endParaRPr lang="pt-BR" sz="800" dirty="0"/>
              </a:p>
              <a:p>
                <a:pPr lvl="1">
                  <a:buFont typeface="Wingdings" panose="05000000000000000000" pitchFamily="2" charset="2"/>
                  <a:buChar char="§"/>
                </a:pPr>
                <a:r>
                  <a:rPr lang="pt-BR" dirty="0"/>
                  <a:t>A </a:t>
                </a:r>
                <a:r>
                  <a:rPr lang="pt-BR" dirty="0" smtClean="0"/>
                  <a:t>acurácia tende à </a:t>
                </a:r>
                <a:r>
                  <a:rPr lang="pt-BR" dirty="0"/>
                  <a:t>1 mesmo que o modelo tenha um desempenho ruim na identificação da classe negativa</a:t>
                </a:r>
                <a:r>
                  <a:rPr lang="pt-BR" dirty="0" smtClean="0"/>
                  <a:t>.</a:t>
                </a:r>
                <a:endParaRPr lang="pt-BR" dirty="0">
                  <a:solidFill>
                    <a:schemeClr val="tx1"/>
                  </a:solidFill>
                </a:endParaRPr>
              </a:p>
              <a:p>
                <a:r>
                  <a:rPr lang="pt-BR" dirty="0">
                    <a:solidFill>
                      <a:schemeClr val="tx1"/>
                    </a:solidFill>
                  </a:rPr>
                  <a:t>O mesmo aconteceria se TN fosse muito maior do que TP, FN e </a:t>
                </a:r>
                <a:r>
                  <a:rPr lang="pt-BR" dirty="0" smtClean="0">
                    <a:solidFill>
                      <a:schemeClr val="tx1"/>
                    </a:solidFill>
                  </a:rPr>
                  <a:t>FP.</a:t>
                </a:r>
              </a:p>
              <a:p>
                <a:r>
                  <a:rPr lang="pt-BR" dirty="0"/>
                  <a:t>Por </a:t>
                </a:r>
                <a:r>
                  <a:rPr lang="pt-BR" dirty="0" smtClean="0"/>
                  <a:t>simplesmente contar </a:t>
                </a:r>
                <a:r>
                  <a:rPr lang="pt-BR" b="1" dirty="0"/>
                  <a:t>quantas </a:t>
                </a:r>
                <a:r>
                  <a:rPr lang="pt-BR" b="1" dirty="0" smtClean="0"/>
                  <a:t>predições </a:t>
                </a:r>
                <a:r>
                  <a:rPr lang="pt-BR" b="1" dirty="0"/>
                  <a:t>estão corretas</a:t>
                </a:r>
                <a:r>
                  <a:rPr lang="pt-BR" dirty="0"/>
                  <a:t>, dando o mesmo peso </a:t>
                </a:r>
                <a:r>
                  <a:rPr lang="pt-BR" dirty="0" smtClean="0"/>
                  <a:t>a </a:t>
                </a:r>
                <a:r>
                  <a:rPr lang="pt-BR" dirty="0" err="1" smtClean="0"/>
                  <a:t>FPs</a:t>
                </a:r>
                <a:r>
                  <a:rPr lang="pt-BR" dirty="0" smtClean="0"/>
                  <a:t> e </a:t>
                </a:r>
                <a:r>
                  <a:rPr lang="pt-BR" dirty="0" err="1" smtClean="0"/>
                  <a:t>FNs</a:t>
                </a:r>
                <a:r>
                  <a:rPr lang="pt-BR" dirty="0" smtClean="0"/>
                  <a:t>, ela também </a:t>
                </a:r>
                <a:r>
                  <a:rPr lang="pt-BR" dirty="0"/>
                  <a:t>é enganosa quando os custos de </a:t>
                </a:r>
                <a:r>
                  <a:rPr lang="pt-BR" dirty="0" err="1" smtClean="0"/>
                  <a:t>FPs</a:t>
                </a:r>
                <a:r>
                  <a:rPr lang="pt-BR" dirty="0" smtClean="0"/>
                  <a:t> e </a:t>
                </a:r>
                <a:r>
                  <a:rPr lang="pt-BR" dirty="0" err="1" smtClean="0"/>
                  <a:t>FNs</a:t>
                </a:r>
                <a:r>
                  <a:rPr lang="pt-BR" dirty="0" smtClean="0"/>
                  <a:t> não </a:t>
                </a:r>
                <a:r>
                  <a:rPr lang="pt-BR" dirty="0"/>
                  <a:t>são iguais</a:t>
                </a:r>
                <a:r>
                  <a:rPr lang="pt-BR" dirty="0" smtClean="0"/>
                  <a:t>.</a:t>
                </a:r>
                <a:endParaRPr lang="pt-BR" dirty="0"/>
              </a:p>
              <a:p>
                <a:pPr lvl="1">
                  <a:buFont typeface="Wingdings" panose="05000000000000000000" pitchFamily="2" charset="2"/>
                  <a:buChar char="§"/>
                </a:pPr>
                <a:r>
                  <a:rPr lang="pt-BR" dirty="0"/>
                  <a:t>Por exemplo, para um modelo de classificação de doenças contagiosas, o custo de um FN (tem a doença, mas o modelo diz que não) é mais alto do que o de um FP</a:t>
                </a:r>
                <a:r>
                  <a:rPr lang="pt-BR" dirty="0" smtClean="0"/>
                  <a:t>.</a:t>
                </a:r>
                <a:endParaRPr lang="pt-BR" dirty="0"/>
              </a:p>
            </p:txBody>
          </p:sp>
        </mc:Choice>
        <mc:Fallback xmlns="">
          <p:sp>
            <p:nvSpPr>
              <p:cNvPr id="3" name="Espaço Reservado para Conteúdo 2">
                <a:extLst>
                  <a:ext uri="{FF2B5EF4-FFF2-40B4-BE49-F238E27FC236}">
                    <a16:creationId xmlns="" xmlns:a16="http://schemas.microsoft.com/office/drawing/2014/main" xmlns:a14="http://schemas.microsoft.com/office/drawing/2010/main" id="{729D007B-9E18-00C3-2CF2-47D7955EBACC}"/>
                  </a:ext>
                </a:extLst>
              </p:cNvPr>
              <p:cNvSpPr>
                <a:spLocks noGrp="1" noRot="1" noChangeAspect="1" noMove="1" noResize="1" noEditPoints="1" noAdjustHandles="1" noChangeArrowheads="1" noChangeShapeType="1" noTextEdit="1"/>
              </p:cNvSpPr>
              <p:nvPr>
                <p:ph idx="1"/>
              </p:nvPr>
            </p:nvSpPr>
            <p:spPr>
              <a:xfrm>
                <a:off x="838198" y="1690688"/>
                <a:ext cx="11353802" cy="5167312"/>
              </a:xfrm>
              <a:blipFill rotWithShape="0">
                <a:blip r:embed="rId3"/>
                <a:stretch>
                  <a:fillRect l="-913" t="-1887" b="-472"/>
                </a:stretch>
              </a:blipFill>
            </p:spPr>
            <p:txBody>
              <a:bodyPr/>
              <a:lstStyle/>
              <a:p>
                <a:r>
                  <a:rPr lang="pt-BR">
                    <a:noFill/>
                  </a:rPr>
                  <a:t> </a:t>
                </a:r>
              </a:p>
            </p:txBody>
          </p:sp>
        </mc:Fallback>
      </mc:AlternateContent>
    </p:spTree>
    <p:extLst>
      <p:ext uri="{BB962C8B-B14F-4D97-AF65-F5344CB8AC3E}">
        <p14:creationId xmlns:p14="http://schemas.microsoft.com/office/powerpoint/2010/main" val="2667360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345057" y="1963647"/>
            <a:ext cx="11455879" cy="2918903"/>
          </a:xfrm>
        </p:spPr>
        <p:txBody>
          <a:bodyPr>
            <a:normAutofit/>
          </a:bodyPr>
          <a:lstStyle/>
          <a:p>
            <a:pPr marL="0" indent="0" algn="ctr">
              <a:buNone/>
            </a:pPr>
            <a:r>
              <a:rPr lang="pt-BR" sz="5400" dirty="0"/>
              <a:t>Portanto, quando temos </a:t>
            </a:r>
            <a:r>
              <a:rPr lang="pt-BR" sz="5400" b="1" i="1" dirty="0">
                <a:solidFill>
                  <a:srgbClr val="00B050"/>
                </a:solidFill>
              </a:rPr>
              <a:t>classes </a:t>
            </a:r>
            <a:r>
              <a:rPr lang="pt-BR" sz="5400" b="1" i="1" dirty="0" smtClean="0">
                <a:solidFill>
                  <a:srgbClr val="00B050"/>
                </a:solidFill>
              </a:rPr>
              <a:t>desbalanceadas ou custos diferentes, devemos </a:t>
            </a:r>
            <a:r>
              <a:rPr lang="pt-BR" sz="5400" b="1" i="1" dirty="0" smtClean="0">
                <a:solidFill>
                  <a:srgbClr val="7030A0"/>
                </a:solidFill>
              </a:rPr>
              <a:t>analisar </a:t>
            </a:r>
            <a:r>
              <a:rPr lang="pt-BR" sz="5400" b="1" i="1" dirty="0">
                <a:solidFill>
                  <a:srgbClr val="7030A0"/>
                </a:solidFill>
              </a:rPr>
              <a:t>outras métricas</a:t>
            </a:r>
            <a:r>
              <a:rPr lang="pt-BR" sz="5400" dirty="0" smtClean="0"/>
              <a:t>.</a:t>
            </a:r>
            <a:endParaRPr lang="pt-BR" sz="5400" dirty="0"/>
          </a:p>
        </p:txBody>
      </p:sp>
    </p:spTree>
    <p:extLst>
      <p:ext uri="{BB962C8B-B14F-4D97-AF65-F5344CB8AC3E}">
        <p14:creationId xmlns:p14="http://schemas.microsoft.com/office/powerpoint/2010/main" val="3109864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759409E-2F7C-F9FB-1D90-828F558DAD79}"/>
              </a:ext>
            </a:extLst>
          </p:cNvPr>
          <p:cNvSpPr>
            <a:spLocks noGrp="1"/>
          </p:cNvSpPr>
          <p:nvPr>
            <p:ph type="title"/>
          </p:nvPr>
        </p:nvSpPr>
        <p:spPr/>
        <p:txBody>
          <a:bodyPr/>
          <a:lstStyle/>
          <a:p>
            <a:r>
              <a:rPr lang="pt-BR" dirty="0"/>
              <a:t>Precisão</a:t>
            </a:r>
          </a:p>
        </p:txBody>
      </p:sp>
      <p:sp>
        <p:nvSpPr>
          <p:cNvPr id="3" name="Espaço Reservado para Conteúdo 2">
            <a:extLst>
              <a:ext uri="{FF2B5EF4-FFF2-40B4-BE49-F238E27FC236}">
                <a16:creationId xmlns:a16="http://schemas.microsoft.com/office/drawing/2014/main" xmlns="" id="{047B3338-3C79-280E-33CD-E184CC752916}"/>
              </a:ext>
            </a:extLst>
          </p:cNvPr>
          <p:cNvSpPr>
            <a:spLocks noGrp="1"/>
          </p:cNvSpPr>
          <p:nvPr>
            <p:ph idx="1"/>
          </p:nvPr>
        </p:nvSpPr>
        <p:spPr>
          <a:xfrm>
            <a:off x="5268686" y="1870780"/>
            <a:ext cx="6836228" cy="4987219"/>
          </a:xfrm>
        </p:spPr>
        <p:txBody>
          <a:bodyPr>
            <a:normAutofit/>
          </a:bodyPr>
          <a:lstStyle/>
          <a:p>
            <a:r>
              <a:rPr lang="pt-BR" b="1" noProof="0" dirty="0"/>
              <a:t>Precisão</a:t>
            </a:r>
            <a:r>
              <a:rPr lang="pt-BR" noProof="0" dirty="0"/>
              <a:t> é a proporção de exemplos da classe positiva corretamente classificados (TP) em relação a todos os exemplos atribuídos à classe positiva (TP + FP).</a:t>
            </a:r>
          </a:p>
          <a:p>
            <a:r>
              <a:rPr lang="pt-BR" noProof="0" dirty="0"/>
              <a:t>Ou seja, de tudo aquilo que o modelo classificou como positivo, quanto realmente é positivo?</a:t>
            </a:r>
          </a:p>
          <a:p>
            <a:pPr lvl="1">
              <a:buFont typeface="Wingdings" panose="05000000000000000000" pitchFamily="2" charset="2"/>
              <a:buChar char="§"/>
            </a:pPr>
            <a:r>
              <a:rPr lang="pt-BR" b="1" dirty="0">
                <a:solidFill>
                  <a:srgbClr val="7030A0"/>
                </a:solidFill>
              </a:rPr>
              <a:t>Quando ele prediz positivo, podemos confiar?</a:t>
            </a:r>
            <a:endParaRPr lang="pt-BR" b="1" noProof="0" dirty="0">
              <a:solidFill>
                <a:srgbClr val="7030A0"/>
              </a:solidFill>
            </a:endParaRPr>
          </a:p>
          <a:p>
            <a:r>
              <a:rPr lang="pt-BR" noProof="0" dirty="0"/>
              <a:t>É uma </a:t>
            </a:r>
            <a:r>
              <a:rPr lang="pt-BR" b="1" noProof="0" dirty="0">
                <a:solidFill>
                  <a:srgbClr val="00B050"/>
                </a:solidFill>
              </a:rPr>
              <a:t>boa medida </a:t>
            </a:r>
            <a:r>
              <a:rPr lang="pt-BR" noProof="0" dirty="0"/>
              <a:t>para determinar a qualidade do classificador </a:t>
            </a:r>
            <a:r>
              <a:rPr lang="pt-BR" b="1" noProof="0" dirty="0">
                <a:solidFill>
                  <a:srgbClr val="00B050"/>
                </a:solidFill>
              </a:rPr>
              <a:t>quando os custos de </a:t>
            </a:r>
            <a:r>
              <a:rPr lang="pt-BR" b="1" noProof="0" dirty="0">
                <a:solidFill>
                  <a:srgbClr val="FF0000"/>
                </a:solidFill>
              </a:rPr>
              <a:t>falsos positivos</a:t>
            </a:r>
            <a:r>
              <a:rPr lang="pt-BR" b="1" noProof="0" dirty="0">
                <a:solidFill>
                  <a:srgbClr val="00B050"/>
                </a:solidFill>
              </a:rPr>
              <a:t> são altos</a:t>
            </a:r>
            <a:r>
              <a:rPr lang="pt-BR" noProof="0" dirty="0"/>
              <a:t>.</a:t>
            </a: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xmlns="" id="{A3376B35-7B47-DF75-A545-B75926FB5BB2}"/>
                  </a:ext>
                </a:extLst>
              </p:cNvPr>
              <p:cNvSpPr txBox="1"/>
              <p:nvPr/>
            </p:nvSpPr>
            <p:spPr>
              <a:xfrm>
                <a:off x="571901" y="3254780"/>
                <a:ext cx="3939823" cy="10225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pt-BR" sz="3200" b="0" i="0" smtClean="0">
                          <a:latin typeface="Cambria Math" panose="02040503050406030204" pitchFamily="18" charset="0"/>
                        </a:rPr>
                        <m:t>precis</m:t>
                      </m:r>
                      <m:r>
                        <a:rPr lang="pt-BR" sz="3200" b="0" i="0" smtClean="0">
                          <a:latin typeface="Cambria Math" panose="02040503050406030204" pitchFamily="18" charset="0"/>
                        </a:rPr>
                        <m:t>ã</m:t>
                      </m:r>
                      <m:r>
                        <m:rPr>
                          <m:sty m:val="p"/>
                        </m:rPr>
                        <a:rPr lang="pt-BR" sz="3200" b="0" i="0" smtClean="0">
                          <a:latin typeface="Cambria Math" panose="02040503050406030204" pitchFamily="18" charset="0"/>
                        </a:rPr>
                        <m:t>o</m:t>
                      </m:r>
                      <m:r>
                        <a:rPr lang="pt-BR" sz="3200" i="1">
                          <a:latin typeface="Cambria Math" panose="02040503050406030204" pitchFamily="18" charset="0"/>
                        </a:rPr>
                        <m:t>=</m:t>
                      </m:r>
                      <m:f>
                        <m:fPr>
                          <m:ctrlPr>
                            <a:rPr lang="pt-BR" sz="3200" b="0" i="1" smtClean="0">
                              <a:latin typeface="Cambria Math" panose="02040503050406030204" pitchFamily="18" charset="0"/>
                            </a:rPr>
                          </m:ctrlPr>
                        </m:fPr>
                        <m:num>
                          <m:r>
                            <m:rPr>
                              <m:sty m:val="p"/>
                            </m:rPr>
                            <a:rPr lang="pt-BR" sz="3200" b="0" i="0" smtClean="0">
                              <a:latin typeface="Cambria Math" panose="02040503050406030204" pitchFamily="18" charset="0"/>
                            </a:rPr>
                            <m:t>TP</m:t>
                          </m:r>
                        </m:num>
                        <m:den>
                          <m:r>
                            <m:rPr>
                              <m:sty m:val="p"/>
                            </m:rPr>
                            <a:rPr lang="pt-BR" sz="3200" b="0" i="0" smtClean="0">
                              <a:latin typeface="Cambria Math" panose="02040503050406030204" pitchFamily="18" charset="0"/>
                            </a:rPr>
                            <m:t>FP</m:t>
                          </m:r>
                          <m:r>
                            <a:rPr lang="pt-BR" sz="3200" b="0" i="0" smtClean="0">
                              <a:latin typeface="Cambria Math" panose="02040503050406030204" pitchFamily="18" charset="0"/>
                            </a:rPr>
                            <m:t>+</m:t>
                          </m:r>
                          <m:r>
                            <m:rPr>
                              <m:sty m:val="p"/>
                            </m:rPr>
                            <a:rPr lang="pt-BR" sz="3200">
                              <a:latin typeface="Cambria Math" panose="02040503050406030204" pitchFamily="18" charset="0"/>
                            </a:rPr>
                            <m:t>TP</m:t>
                          </m:r>
                        </m:den>
                      </m:f>
                    </m:oMath>
                  </m:oMathPara>
                </a14:m>
                <a:endParaRPr lang="pt-BR" sz="3200" dirty="0"/>
              </a:p>
            </p:txBody>
          </p:sp>
        </mc:Choice>
        <mc:Fallback xmlns="">
          <p:sp>
            <p:nvSpPr>
              <p:cNvPr id="5" name="CaixaDeTexto 4">
                <a:extLst>
                  <a:ext uri="{FF2B5EF4-FFF2-40B4-BE49-F238E27FC236}">
                    <a16:creationId xmlns:a16="http://schemas.microsoft.com/office/drawing/2014/main" id="{A3376B35-7B47-DF75-A545-B75926FB5BB2}"/>
                  </a:ext>
                </a:extLst>
              </p:cNvPr>
              <p:cNvSpPr txBox="1">
                <a:spLocks noRot="1" noChangeAspect="1" noMove="1" noResize="1" noEditPoints="1" noAdjustHandles="1" noChangeArrowheads="1" noChangeShapeType="1" noTextEdit="1"/>
              </p:cNvSpPr>
              <p:nvPr/>
            </p:nvSpPr>
            <p:spPr>
              <a:xfrm>
                <a:off x="571901" y="3254780"/>
                <a:ext cx="3939823" cy="1022524"/>
              </a:xfrm>
              <a:prstGeom prst="rect">
                <a:avLst/>
              </a:prstGeom>
              <a:blipFill>
                <a:blip r:embed="rId3"/>
                <a:stretch>
                  <a:fillRect/>
                </a:stretch>
              </a:blipFill>
            </p:spPr>
            <p:txBody>
              <a:bodyPr/>
              <a:lstStyle/>
              <a:p>
                <a:r>
                  <a:rPr lang="en-US">
                    <a:noFill/>
                  </a:rPr>
                  <a:t> </a:t>
                </a:r>
              </a:p>
            </p:txBody>
          </p:sp>
        </mc:Fallback>
      </mc:AlternateContent>
      <p:graphicFrame>
        <p:nvGraphicFramePr>
          <p:cNvPr id="4" name="Tabela 5">
            <a:extLst>
              <a:ext uri="{FF2B5EF4-FFF2-40B4-BE49-F238E27FC236}">
                <a16:creationId xmlns:a16="http://schemas.microsoft.com/office/drawing/2014/main" xmlns="" id="{0D5ABCB4-5EB5-F832-F110-AD1F2FD3532A}"/>
              </a:ext>
            </a:extLst>
          </p:cNvPr>
          <p:cNvGraphicFramePr>
            <a:graphicFrameLocks noGrp="1"/>
          </p:cNvGraphicFramePr>
          <p:nvPr/>
        </p:nvGraphicFramePr>
        <p:xfrm>
          <a:off x="1840088" y="5230813"/>
          <a:ext cx="1794932" cy="914400"/>
        </p:xfrm>
        <a:graphic>
          <a:graphicData uri="http://schemas.openxmlformats.org/drawingml/2006/table">
            <a:tbl>
              <a:tblPr firstRow="1" bandRow="1">
                <a:tableStyleId>{5C22544A-7EE6-4342-B048-85BDC9FD1C3A}</a:tableStyleId>
              </a:tblPr>
              <a:tblGrid>
                <a:gridCol w="897466">
                  <a:extLst>
                    <a:ext uri="{9D8B030D-6E8A-4147-A177-3AD203B41FA5}">
                      <a16:colId xmlns:a16="http://schemas.microsoft.com/office/drawing/2014/main" xmlns="" val="2780398905"/>
                    </a:ext>
                  </a:extLst>
                </a:gridCol>
                <a:gridCol w="897466">
                  <a:extLst>
                    <a:ext uri="{9D8B030D-6E8A-4147-A177-3AD203B41FA5}">
                      <a16:colId xmlns:a16="http://schemas.microsoft.com/office/drawing/2014/main" xmlns="" val="1752542230"/>
                    </a:ext>
                  </a:extLst>
                </a:gridCol>
              </a:tblGrid>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FF0000"/>
                          </a:solidFill>
                          <a:effectLst/>
                        </a:rPr>
                        <a:t>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kern="1200" dirty="0">
                          <a:solidFill>
                            <a:srgbClr val="0000FF"/>
                          </a:solidFill>
                          <a:effectLst/>
                          <a:latin typeface="+mn-lt"/>
                          <a:ea typeface="+mn-ea"/>
                          <a:cs typeface="+mn-cs"/>
                        </a:rPr>
                        <a:t>FN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952155157"/>
                  </a:ext>
                </a:extLst>
              </a:tr>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00FF"/>
                          </a:solidFill>
                          <a:effectLst/>
                        </a:rPr>
                        <a:t>FP</a:t>
                      </a:r>
                      <a:endParaRPr lang="pt-BR" sz="2400" b="1" kern="1200" dirty="0">
                        <a:solidFill>
                          <a:srgbClr val="0000FF"/>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B050"/>
                          </a:solidFill>
                          <a:effectLst/>
                        </a:rPr>
                        <a:t>TP</a:t>
                      </a:r>
                      <a:endParaRPr lang="pt-BR" sz="2400" b="1" dirty="0">
                        <a:solidFill>
                          <a:srgbClr val="FF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69341992"/>
                  </a:ext>
                </a:extLst>
              </a:tr>
            </a:tbl>
          </a:graphicData>
        </a:graphic>
      </p:graphicFrame>
      <p:sp>
        <p:nvSpPr>
          <p:cNvPr id="6" name="Retângulo 5">
            <a:extLst>
              <a:ext uri="{FF2B5EF4-FFF2-40B4-BE49-F238E27FC236}">
                <a16:creationId xmlns:a16="http://schemas.microsoft.com/office/drawing/2014/main" xmlns="" id="{685BDF4E-E4CF-5896-0326-96A536D9643C}"/>
              </a:ext>
            </a:extLst>
          </p:cNvPr>
          <p:cNvSpPr/>
          <p:nvPr/>
        </p:nvSpPr>
        <p:spPr>
          <a:xfrm rot="16200000">
            <a:off x="2443164" y="4941012"/>
            <a:ext cx="609602" cy="1952628"/>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a:extLst>
              <a:ext uri="{FF2B5EF4-FFF2-40B4-BE49-F238E27FC236}">
                <a16:creationId xmlns:a16="http://schemas.microsoft.com/office/drawing/2014/main" xmlns="" id="{D1154846-7200-8A13-7CE3-866E0423AC95}"/>
              </a:ext>
            </a:extLst>
          </p:cNvPr>
          <p:cNvSpPr txBox="1"/>
          <p:nvPr/>
        </p:nvSpPr>
        <p:spPr>
          <a:xfrm>
            <a:off x="2200275" y="6157592"/>
            <a:ext cx="255198" cy="369332"/>
          </a:xfrm>
          <a:prstGeom prst="rect">
            <a:avLst/>
          </a:prstGeom>
          <a:noFill/>
        </p:spPr>
        <p:txBody>
          <a:bodyPr wrap="none" rtlCol="0">
            <a:spAutoFit/>
          </a:bodyPr>
          <a:lstStyle/>
          <a:p>
            <a:r>
              <a:rPr lang="pt-BR" dirty="0"/>
              <a:t>-</a:t>
            </a:r>
            <a:endParaRPr lang="en-US" dirty="0"/>
          </a:p>
        </p:txBody>
      </p:sp>
      <p:sp>
        <p:nvSpPr>
          <p:cNvPr id="9" name="CaixaDeTexto 8">
            <a:extLst>
              <a:ext uri="{FF2B5EF4-FFF2-40B4-BE49-F238E27FC236}">
                <a16:creationId xmlns:a16="http://schemas.microsoft.com/office/drawing/2014/main" xmlns="" id="{D5BECE90-0299-928D-2937-BAD69964EB36}"/>
              </a:ext>
            </a:extLst>
          </p:cNvPr>
          <p:cNvSpPr txBox="1"/>
          <p:nvPr/>
        </p:nvSpPr>
        <p:spPr>
          <a:xfrm>
            <a:off x="3070353" y="6170130"/>
            <a:ext cx="300082" cy="369332"/>
          </a:xfrm>
          <a:prstGeom prst="rect">
            <a:avLst/>
          </a:prstGeom>
          <a:noFill/>
        </p:spPr>
        <p:txBody>
          <a:bodyPr wrap="none" rtlCol="0">
            <a:spAutoFit/>
          </a:bodyPr>
          <a:lstStyle/>
          <a:p>
            <a:r>
              <a:rPr lang="pt-BR" dirty="0"/>
              <a:t>+</a:t>
            </a:r>
            <a:endParaRPr lang="en-US" dirty="0"/>
          </a:p>
        </p:txBody>
      </p:sp>
      <p:sp>
        <p:nvSpPr>
          <p:cNvPr id="11" name="CaixaDeTexto 10">
            <a:extLst>
              <a:ext uri="{FF2B5EF4-FFF2-40B4-BE49-F238E27FC236}">
                <a16:creationId xmlns:a16="http://schemas.microsoft.com/office/drawing/2014/main" xmlns="" id="{4E5240CA-203C-851E-7E56-73BFF976FA1B}"/>
              </a:ext>
            </a:extLst>
          </p:cNvPr>
          <p:cNvSpPr txBox="1"/>
          <p:nvPr/>
        </p:nvSpPr>
        <p:spPr>
          <a:xfrm>
            <a:off x="1469270" y="5688013"/>
            <a:ext cx="300082" cy="369332"/>
          </a:xfrm>
          <a:prstGeom prst="rect">
            <a:avLst/>
          </a:prstGeom>
          <a:noFill/>
        </p:spPr>
        <p:txBody>
          <a:bodyPr wrap="none" rtlCol="0">
            <a:spAutoFit/>
          </a:bodyPr>
          <a:lstStyle/>
          <a:p>
            <a:r>
              <a:rPr lang="pt-BR" dirty="0"/>
              <a:t>+</a:t>
            </a:r>
            <a:endParaRPr lang="en-US" dirty="0"/>
          </a:p>
        </p:txBody>
      </p:sp>
      <p:sp>
        <p:nvSpPr>
          <p:cNvPr id="13" name="CaixaDeTexto 12">
            <a:extLst>
              <a:ext uri="{FF2B5EF4-FFF2-40B4-BE49-F238E27FC236}">
                <a16:creationId xmlns:a16="http://schemas.microsoft.com/office/drawing/2014/main" xmlns="" id="{08DF3936-009E-86E3-DA9B-9C242B4A2046}"/>
              </a:ext>
            </a:extLst>
          </p:cNvPr>
          <p:cNvSpPr txBox="1"/>
          <p:nvPr/>
        </p:nvSpPr>
        <p:spPr>
          <a:xfrm>
            <a:off x="1491712" y="5280937"/>
            <a:ext cx="255198" cy="369332"/>
          </a:xfrm>
          <a:prstGeom prst="rect">
            <a:avLst/>
          </a:prstGeom>
          <a:noFill/>
        </p:spPr>
        <p:txBody>
          <a:bodyPr wrap="none" rtlCol="0">
            <a:spAutoFit/>
          </a:bodyPr>
          <a:lstStyle/>
          <a:p>
            <a:r>
              <a:rPr lang="pt-BR" dirty="0"/>
              <a:t>-</a:t>
            </a:r>
            <a:endParaRPr lang="en-US" dirty="0"/>
          </a:p>
        </p:txBody>
      </p:sp>
    </p:spTree>
    <p:extLst>
      <p:ext uri="{BB962C8B-B14F-4D97-AF65-F5344CB8AC3E}">
        <p14:creationId xmlns:p14="http://schemas.microsoft.com/office/powerpoint/2010/main" val="2807990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6F94076-840C-F8A0-1EBA-0559789D99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5BE837E6-3644-108F-C376-E31809129570}"/>
              </a:ext>
            </a:extLst>
          </p:cNvPr>
          <p:cNvSpPr>
            <a:spLocks noGrp="1"/>
          </p:cNvSpPr>
          <p:nvPr>
            <p:ph type="title"/>
          </p:nvPr>
        </p:nvSpPr>
        <p:spPr/>
        <p:txBody>
          <a:bodyPr/>
          <a:lstStyle/>
          <a:p>
            <a:r>
              <a:rPr lang="pt-BR" dirty="0"/>
              <a:t>Precisão</a:t>
            </a:r>
          </a:p>
        </p:txBody>
      </p:sp>
      <p:sp>
        <p:nvSpPr>
          <p:cNvPr id="3" name="Espaço Reservado para Conteúdo 2">
            <a:extLst>
              <a:ext uri="{FF2B5EF4-FFF2-40B4-BE49-F238E27FC236}">
                <a16:creationId xmlns:a16="http://schemas.microsoft.com/office/drawing/2014/main" xmlns="" id="{1ED50CCD-BAF9-D705-F6DD-4E87FC3E6A8D}"/>
              </a:ext>
            </a:extLst>
          </p:cNvPr>
          <p:cNvSpPr>
            <a:spLocks noGrp="1"/>
          </p:cNvSpPr>
          <p:nvPr>
            <p:ph idx="1"/>
          </p:nvPr>
        </p:nvSpPr>
        <p:spPr>
          <a:xfrm>
            <a:off x="4989690" y="1870780"/>
            <a:ext cx="7115224" cy="4987219"/>
          </a:xfrm>
        </p:spPr>
        <p:txBody>
          <a:bodyPr>
            <a:normAutofit/>
          </a:bodyPr>
          <a:lstStyle/>
          <a:p>
            <a:r>
              <a:rPr lang="pt-BR" dirty="0"/>
              <a:t>Por exemplo, na classificação de </a:t>
            </a:r>
            <a:r>
              <a:rPr lang="pt-BR" b="1" i="1" dirty="0"/>
              <a:t>spams</a:t>
            </a:r>
            <a:r>
              <a:rPr lang="pt-BR" dirty="0"/>
              <a:t> onde o </a:t>
            </a:r>
            <a:r>
              <a:rPr lang="pt-BR" b="1" dirty="0"/>
              <a:t>verdadeiro positivo</a:t>
            </a:r>
            <a:r>
              <a:rPr lang="pt-BR" dirty="0"/>
              <a:t> é um </a:t>
            </a:r>
            <a:r>
              <a:rPr lang="pt-BR" dirty="0" err="1"/>
              <a:t>email</a:t>
            </a:r>
            <a:r>
              <a:rPr lang="pt-BR" dirty="0"/>
              <a:t> de </a:t>
            </a:r>
            <a:r>
              <a:rPr lang="pt-BR" b="1" i="1" dirty="0"/>
              <a:t>spam</a:t>
            </a:r>
            <a:r>
              <a:rPr lang="pt-BR" dirty="0"/>
              <a:t>: </a:t>
            </a:r>
          </a:p>
          <a:p>
            <a:pPr lvl="1">
              <a:buFont typeface="Wingdings" panose="05000000000000000000" pitchFamily="2" charset="2"/>
              <a:buChar char="§"/>
            </a:pPr>
            <a:r>
              <a:rPr lang="pt-BR" dirty="0"/>
              <a:t>Um </a:t>
            </a:r>
            <a:r>
              <a:rPr lang="pt-BR" b="1" dirty="0"/>
              <a:t>falso positivo </a:t>
            </a:r>
            <a:r>
              <a:rPr lang="pt-BR" dirty="0"/>
              <a:t>significa que um </a:t>
            </a:r>
            <a:r>
              <a:rPr lang="pt-BR" b="1" dirty="0" err="1"/>
              <a:t>email</a:t>
            </a:r>
            <a:r>
              <a:rPr lang="pt-BR" b="1" dirty="0"/>
              <a:t> legítimo </a:t>
            </a:r>
            <a:r>
              <a:rPr lang="pt-BR" dirty="0"/>
              <a:t>(</a:t>
            </a:r>
            <a:r>
              <a:rPr lang="pt-BR" i="1" dirty="0" err="1"/>
              <a:t>ham</a:t>
            </a:r>
            <a:r>
              <a:rPr lang="pt-BR" dirty="0"/>
              <a:t>) (</a:t>
            </a:r>
            <a:r>
              <a:rPr lang="pt-BR" b="1" dirty="0"/>
              <a:t>verdadeiro negativo</a:t>
            </a:r>
            <a:r>
              <a:rPr lang="pt-BR" dirty="0"/>
              <a:t>) foi classificado como </a:t>
            </a:r>
            <a:r>
              <a:rPr lang="pt-BR" b="1" i="1" dirty="0"/>
              <a:t>spam</a:t>
            </a:r>
            <a:r>
              <a:rPr lang="pt-BR" dirty="0"/>
              <a:t>. </a:t>
            </a:r>
          </a:p>
          <a:p>
            <a:pPr lvl="1">
              <a:buFont typeface="Wingdings" panose="05000000000000000000" pitchFamily="2" charset="2"/>
              <a:buChar char="§"/>
            </a:pPr>
            <a:r>
              <a:rPr lang="pt-BR" dirty="0"/>
              <a:t>Nesse caso, o cliente do serviço de </a:t>
            </a:r>
            <a:r>
              <a:rPr lang="pt-BR" dirty="0" err="1"/>
              <a:t>email</a:t>
            </a:r>
            <a:r>
              <a:rPr lang="pt-BR" dirty="0"/>
              <a:t> pode perder correspondências importantes se a </a:t>
            </a:r>
            <a:r>
              <a:rPr lang="pt-BR" b="1" dirty="0"/>
              <a:t>precisão</a:t>
            </a:r>
            <a:r>
              <a:rPr lang="pt-BR" dirty="0"/>
              <a:t> for baixa.</a:t>
            </a: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xmlns="" id="{704D3BDA-16E0-C30B-2504-2D58C9069DF7}"/>
                  </a:ext>
                </a:extLst>
              </p:cNvPr>
              <p:cNvSpPr txBox="1"/>
              <p:nvPr/>
            </p:nvSpPr>
            <p:spPr>
              <a:xfrm>
                <a:off x="654753" y="3341865"/>
                <a:ext cx="3939823" cy="10225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pt-BR" sz="3200" b="0" i="0" smtClean="0">
                          <a:latin typeface="Cambria Math" panose="02040503050406030204" pitchFamily="18" charset="0"/>
                        </a:rPr>
                        <m:t>precis</m:t>
                      </m:r>
                      <m:r>
                        <a:rPr lang="pt-BR" sz="3200" b="0" i="0" smtClean="0">
                          <a:latin typeface="Cambria Math" panose="02040503050406030204" pitchFamily="18" charset="0"/>
                        </a:rPr>
                        <m:t>ã</m:t>
                      </m:r>
                      <m:r>
                        <m:rPr>
                          <m:sty m:val="p"/>
                        </m:rPr>
                        <a:rPr lang="pt-BR" sz="3200" b="0" i="0" smtClean="0">
                          <a:latin typeface="Cambria Math" panose="02040503050406030204" pitchFamily="18" charset="0"/>
                        </a:rPr>
                        <m:t>o</m:t>
                      </m:r>
                      <m:r>
                        <a:rPr lang="pt-BR" sz="3200" i="1">
                          <a:latin typeface="Cambria Math" panose="02040503050406030204" pitchFamily="18" charset="0"/>
                        </a:rPr>
                        <m:t>=</m:t>
                      </m:r>
                      <m:f>
                        <m:fPr>
                          <m:ctrlPr>
                            <a:rPr lang="pt-BR" sz="3200" b="0" i="1" smtClean="0">
                              <a:latin typeface="Cambria Math" panose="02040503050406030204" pitchFamily="18" charset="0"/>
                            </a:rPr>
                          </m:ctrlPr>
                        </m:fPr>
                        <m:num>
                          <m:r>
                            <m:rPr>
                              <m:sty m:val="p"/>
                            </m:rPr>
                            <a:rPr lang="pt-BR" sz="3200" b="0" i="0" smtClean="0">
                              <a:latin typeface="Cambria Math" panose="02040503050406030204" pitchFamily="18" charset="0"/>
                            </a:rPr>
                            <m:t>TP</m:t>
                          </m:r>
                        </m:num>
                        <m:den>
                          <m:r>
                            <m:rPr>
                              <m:sty m:val="p"/>
                            </m:rPr>
                            <a:rPr lang="pt-BR" sz="3200" b="0" i="0" smtClean="0">
                              <a:latin typeface="Cambria Math" panose="02040503050406030204" pitchFamily="18" charset="0"/>
                            </a:rPr>
                            <m:t>FP</m:t>
                          </m:r>
                          <m:r>
                            <a:rPr lang="pt-BR" sz="3200" b="0" i="0" smtClean="0">
                              <a:latin typeface="Cambria Math" panose="02040503050406030204" pitchFamily="18" charset="0"/>
                            </a:rPr>
                            <m:t>+</m:t>
                          </m:r>
                          <m:r>
                            <m:rPr>
                              <m:sty m:val="p"/>
                            </m:rPr>
                            <a:rPr lang="pt-BR" sz="3200">
                              <a:latin typeface="Cambria Math" panose="02040503050406030204" pitchFamily="18" charset="0"/>
                            </a:rPr>
                            <m:t>TP</m:t>
                          </m:r>
                        </m:den>
                      </m:f>
                    </m:oMath>
                  </m:oMathPara>
                </a14:m>
                <a:endParaRPr lang="pt-BR" sz="3200" dirty="0"/>
              </a:p>
            </p:txBody>
          </p:sp>
        </mc:Choice>
        <mc:Fallback xmlns="">
          <p:sp>
            <p:nvSpPr>
              <p:cNvPr id="5" name="CaixaDeTexto 4">
                <a:extLst>
                  <a:ext uri="{FF2B5EF4-FFF2-40B4-BE49-F238E27FC236}">
                    <a16:creationId xmlns:a16="http://schemas.microsoft.com/office/drawing/2014/main" id="{A3376B35-7B47-DF75-A545-B75926FB5BB2}"/>
                  </a:ext>
                </a:extLst>
              </p:cNvPr>
              <p:cNvSpPr txBox="1">
                <a:spLocks noRot="1" noChangeAspect="1" noMove="1" noResize="1" noEditPoints="1" noAdjustHandles="1" noChangeArrowheads="1" noChangeShapeType="1" noTextEdit="1"/>
              </p:cNvSpPr>
              <p:nvPr/>
            </p:nvSpPr>
            <p:spPr>
              <a:xfrm>
                <a:off x="654753" y="3341865"/>
                <a:ext cx="3939823" cy="1022524"/>
              </a:xfrm>
              <a:prstGeom prst="rect">
                <a:avLst/>
              </a:prstGeom>
              <a:blipFill>
                <a:blip r:embed="rId2"/>
                <a:stretch>
                  <a:fillRect/>
                </a:stretch>
              </a:blipFill>
            </p:spPr>
            <p:txBody>
              <a:bodyPr/>
              <a:lstStyle/>
              <a:p>
                <a:r>
                  <a:rPr lang="pt-BR">
                    <a:noFill/>
                  </a:rPr>
                  <a:t> </a:t>
                </a:r>
              </a:p>
            </p:txBody>
          </p:sp>
        </mc:Fallback>
      </mc:AlternateContent>
      <p:graphicFrame>
        <p:nvGraphicFramePr>
          <p:cNvPr id="4" name="Tabela 5">
            <a:extLst>
              <a:ext uri="{FF2B5EF4-FFF2-40B4-BE49-F238E27FC236}">
                <a16:creationId xmlns:a16="http://schemas.microsoft.com/office/drawing/2014/main" xmlns="" id="{72E4F38E-A7EF-429F-6B31-B7E993C4BB48}"/>
              </a:ext>
            </a:extLst>
          </p:cNvPr>
          <p:cNvGraphicFramePr>
            <a:graphicFrameLocks noGrp="1"/>
          </p:cNvGraphicFramePr>
          <p:nvPr/>
        </p:nvGraphicFramePr>
        <p:xfrm>
          <a:off x="1840088" y="5230813"/>
          <a:ext cx="1794932" cy="914400"/>
        </p:xfrm>
        <a:graphic>
          <a:graphicData uri="http://schemas.openxmlformats.org/drawingml/2006/table">
            <a:tbl>
              <a:tblPr firstRow="1" bandRow="1">
                <a:tableStyleId>{5C22544A-7EE6-4342-B048-85BDC9FD1C3A}</a:tableStyleId>
              </a:tblPr>
              <a:tblGrid>
                <a:gridCol w="897466">
                  <a:extLst>
                    <a:ext uri="{9D8B030D-6E8A-4147-A177-3AD203B41FA5}">
                      <a16:colId xmlns:a16="http://schemas.microsoft.com/office/drawing/2014/main" xmlns="" val="2780398905"/>
                    </a:ext>
                  </a:extLst>
                </a:gridCol>
                <a:gridCol w="897466">
                  <a:extLst>
                    <a:ext uri="{9D8B030D-6E8A-4147-A177-3AD203B41FA5}">
                      <a16:colId xmlns:a16="http://schemas.microsoft.com/office/drawing/2014/main" xmlns="" val="1752542230"/>
                    </a:ext>
                  </a:extLst>
                </a:gridCol>
              </a:tblGrid>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FF0000"/>
                          </a:solidFill>
                          <a:effectLst/>
                        </a:rPr>
                        <a:t>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kern="1200" dirty="0">
                          <a:solidFill>
                            <a:srgbClr val="0000FF"/>
                          </a:solidFill>
                          <a:effectLst/>
                          <a:latin typeface="+mn-lt"/>
                          <a:ea typeface="+mn-ea"/>
                          <a:cs typeface="+mn-cs"/>
                        </a:rPr>
                        <a:t>FN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952155157"/>
                  </a:ext>
                </a:extLst>
              </a:tr>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00FF"/>
                          </a:solidFill>
                          <a:effectLst/>
                        </a:rPr>
                        <a:t>FP</a:t>
                      </a:r>
                      <a:endParaRPr lang="pt-BR" sz="2400" b="1" kern="1200" dirty="0">
                        <a:solidFill>
                          <a:srgbClr val="0000FF"/>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B050"/>
                          </a:solidFill>
                          <a:effectLst/>
                        </a:rPr>
                        <a:t>TP</a:t>
                      </a:r>
                      <a:endParaRPr lang="pt-BR" sz="2400" b="1" dirty="0">
                        <a:solidFill>
                          <a:srgbClr val="FF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69341992"/>
                  </a:ext>
                </a:extLst>
              </a:tr>
            </a:tbl>
          </a:graphicData>
        </a:graphic>
      </p:graphicFrame>
      <p:sp>
        <p:nvSpPr>
          <p:cNvPr id="6" name="Retângulo 5">
            <a:extLst>
              <a:ext uri="{FF2B5EF4-FFF2-40B4-BE49-F238E27FC236}">
                <a16:creationId xmlns:a16="http://schemas.microsoft.com/office/drawing/2014/main" xmlns="" id="{7DBCA45D-01DE-F21C-9CC9-EBEE7C31C895}"/>
              </a:ext>
            </a:extLst>
          </p:cNvPr>
          <p:cNvSpPr/>
          <p:nvPr/>
        </p:nvSpPr>
        <p:spPr>
          <a:xfrm rot="16200000">
            <a:off x="2438401" y="4876801"/>
            <a:ext cx="609602" cy="208105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a:extLst>
              <a:ext uri="{FF2B5EF4-FFF2-40B4-BE49-F238E27FC236}">
                <a16:creationId xmlns:a16="http://schemas.microsoft.com/office/drawing/2014/main" xmlns="" id="{FD64B03D-AF6E-F650-7BA8-30B1ADE878DC}"/>
              </a:ext>
            </a:extLst>
          </p:cNvPr>
          <p:cNvSpPr txBox="1"/>
          <p:nvPr/>
        </p:nvSpPr>
        <p:spPr>
          <a:xfrm>
            <a:off x="2943805" y="6222127"/>
            <a:ext cx="691215" cy="369332"/>
          </a:xfrm>
          <a:prstGeom prst="rect">
            <a:avLst/>
          </a:prstGeom>
          <a:noFill/>
        </p:spPr>
        <p:txBody>
          <a:bodyPr wrap="none" rtlCol="0">
            <a:spAutoFit/>
          </a:bodyPr>
          <a:lstStyle/>
          <a:p>
            <a:r>
              <a:rPr lang="pt-BR" dirty="0"/>
              <a:t>spam</a:t>
            </a:r>
            <a:endParaRPr lang="en-US" dirty="0"/>
          </a:p>
        </p:txBody>
      </p:sp>
      <p:sp>
        <p:nvSpPr>
          <p:cNvPr id="9" name="CaixaDeTexto 8">
            <a:extLst>
              <a:ext uri="{FF2B5EF4-FFF2-40B4-BE49-F238E27FC236}">
                <a16:creationId xmlns:a16="http://schemas.microsoft.com/office/drawing/2014/main" xmlns="" id="{1C6F87C0-602F-3FE7-1A8C-E76501466135}"/>
              </a:ext>
            </a:extLst>
          </p:cNvPr>
          <p:cNvSpPr txBox="1"/>
          <p:nvPr/>
        </p:nvSpPr>
        <p:spPr>
          <a:xfrm>
            <a:off x="2007143" y="6234506"/>
            <a:ext cx="601447" cy="369332"/>
          </a:xfrm>
          <a:prstGeom prst="rect">
            <a:avLst/>
          </a:prstGeom>
          <a:noFill/>
        </p:spPr>
        <p:txBody>
          <a:bodyPr wrap="none" rtlCol="0">
            <a:spAutoFit/>
          </a:bodyPr>
          <a:lstStyle/>
          <a:p>
            <a:r>
              <a:rPr lang="pt-BR" dirty="0" err="1"/>
              <a:t>ham</a:t>
            </a:r>
            <a:endParaRPr lang="en-US" dirty="0"/>
          </a:p>
        </p:txBody>
      </p:sp>
      <p:sp>
        <p:nvSpPr>
          <p:cNvPr id="11" name="CaixaDeTexto 10">
            <a:extLst>
              <a:ext uri="{FF2B5EF4-FFF2-40B4-BE49-F238E27FC236}">
                <a16:creationId xmlns:a16="http://schemas.microsoft.com/office/drawing/2014/main" xmlns="" id="{4D11FED4-798F-FE62-4DD0-9B02BCE4FF2E}"/>
              </a:ext>
            </a:extLst>
          </p:cNvPr>
          <p:cNvSpPr txBox="1"/>
          <p:nvPr/>
        </p:nvSpPr>
        <p:spPr>
          <a:xfrm>
            <a:off x="1238641" y="5230813"/>
            <a:ext cx="601447" cy="369332"/>
          </a:xfrm>
          <a:prstGeom prst="rect">
            <a:avLst/>
          </a:prstGeom>
          <a:noFill/>
        </p:spPr>
        <p:txBody>
          <a:bodyPr wrap="none" rtlCol="0">
            <a:spAutoFit/>
          </a:bodyPr>
          <a:lstStyle/>
          <a:p>
            <a:r>
              <a:rPr lang="pt-BR" dirty="0" err="1"/>
              <a:t>ham</a:t>
            </a:r>
            <a:endParaRPr lang="en-US" dirty="0"/>
          </a:p>
        </p:txBody>
      </p:sp>
      <p:sp>
        <p:nvSpPr>
          <p:cNvPr id="13" name="CaixaDeTexto 12">
            <a:extLst>
              <a:ext uri="{FF2B5EF4-FFF2-40B4-BE49-F238E27FC236}">
                <a16:creationId xmlns:a16="http://schemas.microsoft.com/office/drawing/2014/main" xmlns="" id="{DF6DA85B-6614-958D-C680-07895E10B379}"/>
              </a:ext>
            </a:extLst>
          </p:cNvPr>
          <p:cNvSpPr txBox="1"/>
          <p:nvPr/>
        </p:nvSpPr>
        <p:spPr>
          <a:xfrm>
            <a:off x="1171177" y="5688013"/>
            <a:ext cx="691215" cy="369332"/>
          </a:xfrm>
          <a:prstGeom prst="rect">
            <a:avLst/>
          </a:prstGeom>
          <a:noFill/>
        </p:spPr>
        <p:txBody>
          <a:bodyPr wrap="none" rtlCol="0">
            <a:spAutoFit/>
          </a:bodyPr>
          <a:lstStyle/>
          <a:p>
            <a:r>
              <a:rPr lang="pt-BR" dirty="0"/>
              <a:t>spam</a:t>
            </a:r>
            <a:endParaRPr lang="en-US" dirty="0"/>
          </a:p>
        </p:txBody>
      </p:sp>
    </p:spTree>
    <p:extLst>
      <p:ext uri="{BB962C8B-B14F-4D97-AF65-F5344CB8AC3E}">
        <p14:creationId xmlns:p14="http://schemas.microsoft.com/office/powerpoint/2010/main" val="4029600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287A758-CC86-49D1-9698-4D8C118C40E1}"/>
              </a:ext>
            </a:extLst>
          </p:cNvPr>
          <p:cNvSpPr>
            <a:spLocks noGrp="1"/>
          </p:cNvSpPr>
          <p:nvPr>
            <p:ph type="title"/>
          </p:nvPr>
        </p:nvSpPr>
        <p:spPr/>
        <p:txBody>
          <a:bodyPr/>
          <a:lstStyle/>
          <a:p>
            <a:r>
              <a:rPr lang="pt-BR" i="1" dirty="0"/>
              <a:t>Recall</a:t>
            </a:r>
          </a:p>
        </p:txBody>
      </p:sp>
      <p:sp>
        <p:nvSpPr>
          <p:cNvPr id="3" name="Espaço Reservado para Conteúdo 2">
            <a:extLst>
              <a:ext uri="{FF2B5EF4-FFF2-40B4-BE49-F238E27FC236}">
                <a16:creationId xmlns:a16="http://schemas.microsoft.com/office/drawing/2014/main" xmlns="" id="{50E4F4E1-BE8B-2CDE-011D-F70A3522A287}"/>
              </a:ext>
            </a:extLst>
          </p:cNvPr>
          <p:cNvSpPr>
            <a:spLocks noGrp="1"/>
          </p:cNvSpPr>
          <p:nvPr>
            <p:ph idx="1"/>
          </p:nvPr>
        </p:nvSpPr>
        <p:spPr>
          <a:xfrm>
            <a:off x="4730044" y="1825624"/>
            <a:ext cx="7374869" cy="5032375"/>
          </a:xfrm>
        </p:spPr>
        <p:txBody>
          <a:bodyPr>
            <a:normAutofit/>
          </a:bodyPr>
          <a:lstStyle/>
          <a:p>
            <a:r>
              <a:rPr lang="pt-BR" b="1" i="1" noProof="0" dirty="0"/>
              <a:t>Recall</a:t>
            </a:r>
            <a:r>
              <a:rPr lang="pt-BR" noProof="0" dirty="0"/>
              <a:t> ou </a:t>
            </a:r>
            <a:r>
              <a:rPr lang="pt-BR" b="1" i="1" noProof="0" dirty="0"/>
              <a:t>sensibilidade</a:t>
            </a:r>
            <a:r>
              <a:rPr lang="pt-BR" noProof="0" dirty="0"/>
              <a:t> é a proporção de exemplos da classe positiva corretamente classificados.</a:t>
            </a:r>
          </a:p>
          <a:p>
            <a:r>
              <a:rPr lang="pt-BR" noProof="0" dirty="0"/>
              <a:t>Dos exemplos que realmente são positivos, quantos o modelo conseguiu acertar?</a:t>
            </a:r>
          </a:p>
          <a:p>
            <a:pPr lvl="1">
              <a:buFont typeface="Wingdings" panose="05000000000000000000" pitchFamily="2" charset="2"/>
              <a:buChar char="§"/>
            </a:pPr>
            <a:r>
              <a:rPr lang="pt-BR" b="1" dirty="0">
                <a:solidFill>
                  <a:srgbClr val="7030A0"/>
                </a:solidFill>
              </a:rPr>
              <a:t>O modelo conseguiu encontrar todos os positivos?</a:t>
            </a:r>
            <a:endParaRPr lang="pt-BR" b="1" noProof="0" dirty="0">
              <a:solidFill>
                <a:srgbClr val="7030A0"/>
              </a:solidFill>
            </a:endParaRPr>
          </a:p>
          <a:p>
            <a:r>
              <a:rPr lang="pt-BR" noProof="0" dirty="0"/>
              <a:t>É uma </a:t>
            </a:r>
            <a:r>
              <a:rPr lang="pt-BR" b="1" noProof="0" dirty="0">
                <a:solidFill>
                  <a:srgbClr val="00B050"/>
                </a:solidFill>
              </a:rPr>
              <a:t>boa medida </a:t>
            </a:r>
            <a:r>
              <a:rPr lang="pt-BR" noProof="0" dirty="0"/>
              <a:t>para determinar a qualidade de um classificador </a:t>
            </a:r>
            <a:r>
              <a:rPr lang="pt-BR" b="1" noProof="0" dirty="0">
                <a:solidFill>
                  <a:srgbClr val="00B050"/>
                </a:solidFill>
              </a:rPr>
              <a:t>quando os custos de </a:t>
            </a:r>
            <a:r>
              <a:rPr lang="pt-BR" b="1" noProof="0" dirty="0">
                <a:solidFill>
                  <a:srgbClr val="FF0000"/>
                </a:solidFill>
              </a:rPr>
              <a:t>falsos negativos</a:t>
            </a:r>
            <a:r>
              <a:rPr lang="pt-BR" b="1" noProof="0" dirty="0">
                <a:solidFill>
                  <a:srgbClr val="00B050"/>
                </a:solidFill>
              </a:rPr>
              <a:t> são altos</a:t>
            </a:r>
            <a:r>
              <a:rPr lang="pt-BR" noProof="0" dirty="0"/>
              <a:t>.</a:t>
            </a: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xmlns="" id="{E92F9593-43C2-2FC6-D7DF-B4A04BE65B06}"/>
                  </a:ext>
                </a:extLst>
              </p:cNvPr>
              <p:cNvSpPr txBox="1"/>
              <p:nvPr/>
            </p:nvSpPr>
            <p:spPr>
              <a:xfrm>
                <a:off x="838200" y="3319287"/>
                <a:ext cx="3417711" cy="10225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3200" b="0" i="1" smtClean="0">
                          <a:latin typeface="Cambria Math" panose="02040503050406030204" pitchFamily="18" charset="0"/>
                        </a:rPr>
                        <m:t>𝑟𝑒𝑐𝑎𝑙𝑙</m:t>
                      </m:r>
                      <m:r>
                        <a:rPr lang="pt-BR" sz="3200" i="1">
                          <a:latin typeface="Cambria Math" panose="02040503050406030204" pitchFamily="18" charset="0"/>
                        </a:rPr>
                        <m:t>=</m:t>
                      </m:r>
                      <m:f>
                        <m:fPr>
                          <m:ctrlPr>
                            <a:rPr lang="pt-BR" sz="3200" i="1">
                              <a:latin typeface="Cambria Math" panose="02040503050406030204" pitchFamily="18" charset="0"/>
                            </a:rPr>
                          </m:ctrlPr>
                        </m:fPr>
                        <m:num>
                          <m:r>
                            <m:rPr>
                              <m:sty m:val="p"/>
                            </m:rPr>
                            <a:rPr lang="pt-BR" sz="3200" i="0">
                              <a:latin typeface="Cambria Math" panose="02040503050406030204" pitchFamily="18" charset="0"/>
                            </a:rPr>
                            <m:t>TP</m:t>
                          </m:r>
                        </m:num>
                        <m:den>
                          <m:r>
                            <m:rPr>
                              <m:sty m:val="p"/>
                            </m:rPr>
                            <a:rPr lang="pt-BR" sz="3200" i="0">
                              <a:latin typeface="Cambria Math" panose="02040503050406030204" pitchFamily="18" charset="0"/>
                            </a:rPr>
                            <m:t>FN</m:t>
                          </m:r>
                          <m:r>
                            <a:rPr lang="pt-BR" sz="3200" b="0" i="0" smtClean="0">
                              <a:latin typeface="Cambria Math" panose="02040503050406030204" pitchFamily="18" charset="0"/>
                            </a:rPr>
                            <m:t>+</m:t>
                          </m:r>
                          <m:r>
                            <m:rPr>
                              <m:sty m:val="p"/>
                            </m:rPr>
                            <a:rPr lang="pt-BR" sz="3200">
                              <a:latin typeface="Cambria Math" panose="02040503050406030204" pitchFamily="18" charset="0"/>
                            </a:rPr>
                            <m:t>TP</m:t>
                          </m:r>
                        </m:den>
                      </m:f>
                    </m:oMath>
                  </m:oMathPara>
                </a14:m>
                <a:endParaRPr lang="pt-BR" sz="3200" dirty="0"/>
              </a:p>
            </p:txBody>
          </p:sp>
        </mc:Choice>
        <mc:Fallback xmlns="">
          <p:sp>
            <p:nvSpPr>
              <p:cNvPr id="5" name="CaixaDeTexto 4">
                <a:extLst>
                  <a:ext uri="{FF2B5EF4-FFF2-40B4-BE49-F238E27FC236}">
                    <a16:creationId xmlns:a16="http://schemas.microsoft.com/office/drawing/2014/main" id="{E92F9593-43C2-2FC6-D7DF-B4A04BE65B06}"/>
                  </a:ext>
                </a:extLst>
              </p:cNvPr>
              <p:cNvSpPr txBox="1">
                <a:spLocks noRot="1" noChangeAspect="1" noMove="1" noResize="1" noEditPoints="1" noAdjustHandles="1" noChangeArrowheads="1" noChangeShapeType="1" noTextEdit="1"/>
              </p:cNvSpPr>
              <p:nvPr/>
            </p:nvSpPr>
            <p:spPr>
              <a:xfrm>
                <a:off x="838200" y="3319287"/>
                <a:ext cx="3417711" cy="1022524"/>
              </a:xfrm>
              <a:prstGeom prst="rect">
                <a:avLst/>
              </a:prstGeom>
              <a:blipFill>
                <a:blip r:embed="rId2"/>
                <a:stretch>
                  <a:fillRect/>
                </a:stretch>
              </a:blipFill>
            </p:spPr>
            <p:txBody>
              <a:bodyPr/>
              <a:lstStyle/>
              <a:p>
                <a:r>
                  <a:rPr lang="pt-BR">
                    <a:noFill/>
                  </a:rPr>
                  <a:t> </a:t>
                </a:r>
              </a:p>
            </p:txBody>
          </p:sp>
        </mc:Fallback>
      </mc:AlternateContent>
      <p:graphicFrame>
        <p:nvGraphicFramePr>
          <p:cNvPr id="4" name="Tabela 5">
            <a:extLst>
              <a:ext uri="{FF2B5EF4-FFF2-40B4-BE49-F238E27FC236}">
                <a16:creationId xmlns:a16="http://schemas.microsoft.com/office/drawing/2014/main" xmlns="" id="{AB28634A-9E6D-BA06-E08B-AF1826CF6578}"/>
              </a:ext>
            </a:extLst>
          </p:cNvPr>
          <p:cNvGraphicFramePr>
            <a:graphicFrameLocks noGrp="1"/>
          </p:cNvGraphicFramePr>
          <p:nvPr/>
        </p:nvGraphicFramePr>
        <p:xfrm>
          <a:off x="1840088" y="5230813"/>
          <a:ext cx="1794932" cy="914400"/>
        </p:xfrm>
        <a:graphic>
          <a:graphicData uri="http://schemas.openxmlformats.org/drawingml/2006/table">
            <a:tbl>
              <a:tblPr firstRow="1" bandRow="1">
                <a:tableStyleId>{5C22544A-7EE6-4342-B048-85BDC9FD1C3A}</a:tableStyleId>
              </a:tblPr>
              <a:tblGrid>
                <a:gridCol w="897466">
                  <a:extLst>
                    <a:ext uri="{9D8B030D-6E8A-4147-A177-3AD203B41FA5}">
                      <a16:colId xmlns:a16="http://schemas.microsoft.com/office/drawing/2014/main" xmlns="" val="2780398905"/>
                    </a:ext>
                  </a:extLst>
                </a:gridCol>
                <a:gridCol w="897466">
                  <a:extLst>
                    <a:ext uri="{9D8B030D-6E8A-4147-A177-3AD203B41FA5}">
                      <a16:colId xmlns:a16="http://schemas.microsoft.com/office/drawing/2014/main" xmlns="" val="1752542230"/>
                    </a:ext>
                  </a:extLst>
                </a:gridCol>
              </a:tblGrid>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FF0000"/>
                          </a:solidFill>
                          <a:effectLst/>
                        </a:rPr>
                        <a:t>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kern="1200" dirty="0">
                          <a:solidFill>
                            <a:srgbClr val="0000FF"/>
                          </a:solidFill>
                          <a:effectLst/>
                          <a:latin typeface="+mn-lt"/>
                          <a:ea typeface="+mn-ea"/>
                          <a:cs typeface="+mn-cs"/>
                        </a:rPr>
                        <a:t>FN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952155157"/>
                  </a:ext>
                </a:extLst>
              </a:tr>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00FF"/>
                          </a:solidFill>
                          <a:effectLst/>
                        </a:rPr>
                        <a:t>FP</a:t>
                      </a:r>
                      <a:endParaRPr lang="pt-BR" sz="2400" b="1" kern="1200" dirty="0">
                        <a:solidFill>
                          <a:srgbClr val="0000FF"/>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B050"/>
                          </a:solidFill>
                          <a:effectLst/>
                        </a:rPr>
                        <a:t>TP</a:t>
                      </a:r>
                      <a:endParaRPr lang="pt-BR" sz="2400" b="1" dirty="0">
                        <a:solidFill>
                          <a:srgbClr val="FF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69341992"/>
                  </a:ext>
                </a:extLst>
              </a:tr>
            </a:tbl>
          </a:graphicData>
        </a:graphic>
      </p:graphicFrame>
      <p:sp>
        <p:nvSpPr>
          <p:cNvPr id="6" name="Retângulo 5">
            <a:extLst>
              <a:ext uri="{FF2B5EF4-FFF2-40B4-BE49-F238E27FC236}">
                <a16:creationId xmlns:a16="http://schemas.microsoft.com/office/drawing/2014/main" xmlns="" id="{894B2598-B989-4F1A-AB5A-34B5BD2133A9}"/>
              </a:ext>
            </a:extLst>
          </p:cNvPr>
          <p:cNvSpPr/>
          <p:nvPr/>
        </p:nvSpPr>
        <p:spPr>
          <a:xfrm>
            <a:off x="2848303" y="5129049"/>
            <a:ext cx="641131" cy="1135118"/>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a:extLst>
              <a:ext uri="{FF2B5EF4-FFF2-40B4-BE49-F238E27FC236}">
                <a16:creationId xmlns:a16="http://schemas.microsoft.com/office/drawing/2014/main" xmlns="" id="{D1154846-7200-8A13-7CE3-866E0423AC95}"/>
              </a:ext>
            </a:extLst>
          </p:cNvPr>
          <p:cNvSpPr txBox="1"/>
          <p:nvPr/>
        </p:nvSpPr>
        <p:spPr>
          <a:xfrm>
            <a:off x="2200275" y="6157592"/>
            <a:ext cx="255198" cy="369332"/>
          </a:xfrm>
          <a:prstGeom prst="rect">
            <a:avLst/>
          </a:prstGeom>
          <a:noFill/>
        </p:spPr>
        <p:txBody>
          <a:bodyPr wrap="none" rtlCol="0">
            <a:spAutoFit/>
          </a:bodyPr>
          <a:lstStyle/>
          <a:p>
            <a:r>
              <a:rPr lang="pt-BR" dirty="0"/>
              <a:t>-</a:t>
            </a:r>
            <a:endParaRPr lang="en-US" dirty="0"/>
          </a:p>
        </p:txBody>
      </p:sp>
      <p:sp>
        <p:nvSpPr>
          <p:cNvPr id="8" name="CaixaDeTexto 7">
            <a:extLst>
              <a:ext uri="{FF2B5EF4-FFF2-40B4-BE49-F238E27FC236}">
                <a16:creationId xmlns:a16="http://schemas.microsoft.com/office/drawing/2014/main" xmlns="" id="{D5BECE90-0299-928D-2937-BAD69964EB36}"/>
              </a:ext>
            </a:extLst>
          </p:cNvPr>
          <p:cNvSpPr txBox="1"/>
          <p:nvPr/>
        </p:nvSpPr>
        <p:spPr>
          <a:xfrm>
            <a:off x="3070353" y="6170130"/>
            <a:ext cx="300082" cy="369332"/>
          </a:xfrm>
          <a:prstGeom prst="rect">
            <a:avLst/>
          </a:prstGeom>
          <a:noFill/>
        </p:spPr>
        <p:txBody>
          <a:bodyPr wrap="none" rtlCol="0">
            <a:spAutoFit/>
          </a:bodyPr>
          <a:lstStyle/>
          <a:p>
            <a:r>
              <a:rPr lang="pt-BR" dirty="0"/>
              <a:t>+</a:t>
            </a:r>
            <a:endParaRPr lang="en-US" dirty="0"/>
          </a:p>
        </p:txBody>
      </p:sp>
      <p:sp>
        <p:nvSpPr>
          <p:cNvPr id="9" name="CaixaDeTexto 8">
            <a:extLst>
              <a:ext uri="{FF2B5EF4-FFF2-40B4-BE49-F238E27FC236}">
                <a16:creationId xmlns:a16="http://schemas.microsoft.com/office/drawing/2014/main" xmlns="" id="{4E5240CA-203C-851E-7E56-73BFF976FA1B}"/>
              </a:ext>
            </a:extLst>
          </p:cNvPr>
          <p:cNvSpPr txBox="1"/>
          <p:nvPr/>
        </p:nvSpPr>
        <p:spPr>
          <a:xfrm>
            <a:off x="1469270" y="5688013"/>
            <a:ext cx="300082" cy="369332"/>
          </a:xfrm>
          <a:prstGeom prst="rect">
            <a:avLst/>
          </a:prstGeom>
          <a:noFill/>
        </p:spPr>
        <p:txBody>
          <a:bodyPr wrap="none" rtlCol="0">
            <a:spAutoFit/>
          </a:bodyPr>
          <a:lstStyle/>
          <a:p>
            <a:r>
              <a:rPr lang="pt-BR" dirty="0"/>
              <a:t>+</a:t>
            </a:r>
            <a:endParaRPr lang="en-US" dirty="0"/>
          </a:p>
        </p:txBody>
      </p:sp>
      <p:sp>
        <p:nvSpPr>
          <p:cNvPr id="10" name="CaixaDeTexto 9">
            <a:extLst>
              <a:ext uri="{FF2B5EF4-FFF2-40B4-BE49-F238E27FC236}">
                <a16:creationId xmlns:a16="http://schemas.microsoft.com/office/drawing/2014/main" xmlns="" id="{08DF3936-009E-86E3-DA9B-9C242B4A2046}"/>
              </a:ext>
            </a:extLst>
          </p:cNvPr>
          <p:cNvSpPr txBox="1"/>
          <p:nvPr/>
        </p:nvSpPr>
        <p:spPr>
          <a:xfrm>
            <a:off x="1491712" y="5280937"/>
            <a:ext cx="255198" cy="369332"/>
          </a:xfrm>
          <a:prstGeom prst="rect">
            <a:avLst/>
          </a:prstGeom>
          <a:noFill/>
        </p:spPr>
        <p:txBody>
          <a:bodyPr wrap="none" rtlCol="0">
            <a:spAutoFit/>
          </a:bodyPr>
          <a:lstStyle/>
          <a:p>
            <a:r>
              <a:rPr lang="pt-BR" dirty="0"/>
              <a:t>-</a:t>
            </a:r>
            <a:endParaRPr lang="en-US" dirty="0"/>
          </a:p>
        </p:txBody>
      </p:sp>
    </p:spTree>
    <p:extLst>
      <p:ext uri="{BB962C8B-B14F-4D97-AF65-F5344CB8AC3E}">
        <p14:creationId xmlns:p14="http://schemas.microsoft.com/office/powerpoint/2010/main" val="3019089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608E56-1063-9535-583F-68F98BEED6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7B281AC0-3FAB-E1EC-DE8A-76F8FBB33FFF}"/>
              </a:ext>
            </a:extLst>
          </p:cNvPr>
          <p:cNvSpPr>
            <a:spLocks noGrp="1"/>
          </p:cNvSpPr>
          <p:nvPr>
            <p:ph type="title"/>
          </p:nvPr>
        </p:nvSpPr>
        <p:spPr/>
        <p:txBody>
          <a:bodyPr/>
          <a:lstStyle/>
          <a:p>
            <a:r>
              <a:rPr lang="pt-BR" i="1" dirty="0"/>
              <a:t>Recall</a:t>
            </a:r>
          </a:p>
        </p:txBody>
      </p:sp>
      <p:sp>
        <p:nvSpPr>
          <p:cNvPr id="3" name="Espaço Reservado para Conteúdo 2">
            <a:extLst>
              <a:ext uri="{FF2B5EF4-FFF2-40B4-BE49-F238E27FC236}">
                <a16:creationId xmlns:a16="http://schemas.microsoft.com/office/drawing/2014/main" xmlns="" id="{4AA4931E-FED8-1E19-BC1E-B1813EAF8984}"/>
              </a:ext>
            </a:extLst>
          </p:cNvPr>
          <p:cNvSpPr>
            <a:spLocks noGrp="1"/>
          </p:cNvSpPr>
          <p:nvPr>
            <p:ph idx="1"/>
          </p:nvPr>
        </p:nvSpPr>
        <p:spPr>
          <a:xfrm>
            <a:off x="4730044" y="1825624"/>
            <a:ext cx="7461955" cy="5032375"/>
          </a:xfrm>
        </p:spPr>
        <p:txBody>
          <a:bodyPr>
            <a:normAutofit/>
          </a:bodyPr>
          <a:lstStyle/>
          <a:p>
            <a:r>
              <a:rPr lang="pt-BR" dirty="0"/>
              <a:t>Por exemplo, na classificação de </a:t>
            </a:r>
            <a:r>
              <a:rPr lang="pt-BR" b="1" dirty="0"/>
              <a:t>doenças</a:t>
            </a:r>
            <a:r>
              <a:rPr lang="pt-BR" dirty="0"/>
              <a:t>:</a:t>
            </a:r>
          </a:p>
          <a:p>
            <a:pPr lvl="1">
              <a:buFont typeface="Wingdings" panose="05000000000000000000" pitchFamily="2" charset="2"/>
              <a:buChar char="§"/>
            </a:pPr>
            <a:r>
              <a:rPr lang="pt-BR" dirty="0"/>
              <a:t>Se um paciente doente (</a:t>
            </a:r>
            <a:r>
              <a:rPr lang="pt-BR" b="1" dirty="0"/>
              <a:t>verdadeiro positivo</a:t>
            </a:r>
            <a:r>
              <a:rPr lang="pt-BR" dirty="0"/>
              <a:t>) for classificado como não doente (</a:t>
            </a:r>
            <a:r>
              <a:rPr lang="pt-BR" b="1" dirty="0"/>
              <a:t>falso negativo</a:t>
            </a:r>
            <a:r>
              <a:rPr lang="pt-BR" dirty="0"/>
              <a:t>). </a:t>
            </a:r>
          </a:p>
          <a:p>
            <a:pPr lvl="1">
              <a:buFont typeface="Wingdings" panose="05000000000000000000" pitchFamily="2" charset="2"/>
              <a:buChar char="§"/>
            </a:pPr>
            <a:r>
              <a:rPr lang="pt-BR" dirty="0"/>
              <a:t>O custo associado ao </a:t>
            </a:r>
            <a:r>
              <a:rPr lang="pt-BR" b="1" dirty="0"/>
              <a:t>falso negativo </a:t>
            </a:r>
            <a:r>
              <a:rPr lang="pt-BR" dirty="0"/>
              <a:t>será extremamente alto se a doença for contagiosa.</a:t>
            </a:r>
          </a:p>
        </p:txBody>
      </p:sp>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xmlns="" id="{838A3350-B424-FFC8-887E-A4F979401EC1}"/>
                  </a:ext>
                </a:extLst>
              </p:cNvPr>
              <p:cNvSpPr txBox="1"/>
              <p:nvPr/>
            </p:nvSpPr>
            <p:spPr>
              <a:xfrm>
                <a:off x="838200" y="3319287"/>
                <a:ext cx="3417711" cy="10225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3200" b="0" i="1" smtClean="0">
                          <a:latin typeface="Cambria Math" panose="02040503050406030204" pitchFamily="18" charset="0"/>
                        </a:rPr>
                        <m:t>𝑟𝑒𝑐𝑎𝑙𝑙</m:t>
                      </m:r>
                      <m:r>
                        <a:rPr lang="pt-BR" sz="3200" i="1">
                          <a:latin typeface="Cambria Math" panose="02040503050406030204" pitchFamily="18" charset="0"/>
                        </a:rPr>
                        <m:t>=</m:t>
                      </m:r>
                      <m:f>
                        <m:fPr>
                          <m:ctrlPr>
                            <a:rPr lang="pt-BR" sz="3200" i="1">
                              <a:latin typeface="Cambria Math" panose="02040503050406030204" pitchFamily="18" charset="0"/>
                            </a:rPr>
                          </m:ctrlPr>
                        </m:fPr>
                        <m:num>
                          <m:r>
                            <m:rPr>
                              <m:sty m:val="p"/>
                            </m:rPr>
                            <a:rPr lang="pt-BR" sz="3200" i="0">
                              <a:latin typeface="Cambria Math" panose="02040503050406030204" pitchFamily="18" charset="0"/>
                            </a:rPr>
                            <m:t>TP</m:t>
                          </m:r>
                        </m:num>
                        <m:den>
                          <m:r>
                            <m:rPr>
                              <m:sty m:val="p"/>
                            </m:rPr>
                            <a:rPr lang="pt-BR" sz="3200" i="0">
                              <a:latin typeface="Cambria Math" panose="02040503050406030204" pitchFamily="18" charset="0"/>
                            </a:rPr>
                            <m:t>FN</m:t>
                          </m:r>
                          <m:r>
                            <a:rPr lang="pt-BR" sz="3200" b="0" i="0" smtClean="0">
                              <a:latin typeface="Cambria Math" panose="02040503050406030204" pitchFamily="18" charset="0"/>
                            </a:rPr>
                            <m:t>+</m:t>
                          </m:r>
                          <m:r>
                            <m:rPr>
                              <m:sty m:val="p"/>
                            </m:rPr>
                            <a:rPr lang="pt-BR" sz="3200">
                              <a:latin typeface="Cambria Math" panose="02040503050406030204" pitchFamily="18" charset="0"/>
                            </a:rPr>
                            <m:t>TP</m:t>
                          </m:r>
                        </m:den>
                      </m:f>
                    </m:oMath>
                  </m:oMathPara>
                </a14:m>
                <a:endParaRPr lang="pt-BR" sz="3200" dirty="0"/>
              </a:p>
            </p:txBody>
          </p:sp>
        </mc:Choice>
        <mc:Fallback xmlns="">
          <p:sp>
            <p:nvSpPr>
              <p:cNvPr id="5" name="CaixaDeTexto 4">
                <a:extLst>
                  <a:ext uri="{FF2B5EF4-FFF2-40B4-BE49-F238E27FC236}">
                    <a16:creationId xmlns:a16="http://schemas.microsoft.com/office/drawing/2014/main" id="{E92F9593-43C2-2FC6-D7DF-B4A04BE65B06}"/>
                  </a:ext>
                </a:extLst>
              </p:cNvPr>
              <p:cNvSpPr txBox="1">
                <a:spLocks noRot="1" noChangeAspect="1" noMove="1" noResize="1" noEditPoints="1" noAdjustHandles="1" noChangeArrowheads="1" noChangeShapeType="1" noTextEdit="1"/>
              </p:cNvSpPr>
              <p:nvPr/>
            </p:nvSpPr>
            <p:spPr>
              <a:xfrm>
                <a:off x="838200" y="3319287"/>
                <a:ext cx="3417711" cy="1022524"/>
              </a:xfrm>
              <a:prstGeom prst="rect">
                <a:avLst/>
              </a:prstGeom>
              <a:blipFill>
                <a:blip r:embed="rId2"/>
                <a:stretch>
                  <a:fillRect/>
                </a:stretch>
              </a:blipFill>
            </p:spPr>
            <p:txBody>
              <a:bodyPr/>
              <a:lstStyle/>
              <a:p>
                <a:r>
                  <a:rPr lang="pt-BR">
                    <a:noFill/>
                  </a:rPr>
                  <a:t> </a:t>
                </a:r>
              </a:p>
            </p:txBody>
          </p:sp>
        </mc:Fallback>
      </mc:AlternateContent>
      <p:graphicFrame>
        <p:nvGraphicFramePr>
          <p:cNvPr id="4" name="Tabela 5">
            <a:extLst>
              <a:ext uri="{FF2B5EF4-FFF2-40B4-BE49-F238E27FC236}">
                <a16:creationId xmlns:a16="http://schemas.microsoft.com/office/drawing/2014/main" xmlns="" id="{6F8B50E5-59B3-7D20-E676-F37DDCFCA230}"/>
              </a:ext>
            </a:extLst>
          </p:cNvPr>
          <p:cNvGraphicFramePr>
            <a:graphicFrameLocks noGrp="1"/>
          </p:cNvGraphicFramePr>
          <p:nvPr/>
        </p:nvGraphicFramePr>
        <p:xfrm>
          <a:off x="1840088" y="5230813"/>
          <a:ext cx="1794932" cy="914400"/>
        </p:xfrm>
        <a:graphic>
          <a:graphicData uri="http://schemas.openxmlformats.org/drawingml/2006/table">
            <a:tbl>
              <a:tblPr firstRow="1" bandRow="1">
                <a:tableStyleId>{5C22544A-7EE6-4342-B048-85BDC9FD1C3A}</a:tableStyleId>
              </a:tblPr>
              <a:tblGrid>
                <a:gridCol w="897466">
                  <a:extLst>
                    <a:ext uri="{9D8B030D-6E8A-4147-A177-3AD203B41FA5}">
                      <a16:colId xmlns:a16="http://schemas.microsoft.com/office/drawing/2014/main" xmlns="" val="2780398905"/>
                    </a:ext>
                  </a:extLst>
                </a:gridCol>
                <a:gridCol w="897466">
                  <a:extLst>
                    <a:ext uri="{9D8B030D-6E8A-4147-A177-3AD203B41FA5}">
                      <a16:colId xmlns:a16="http://schemas.microsoft.com/office/drawing/2014/main" xmlns="" val="1752542230"/>
                    </a:ext>
                  </a:extLst>
                </a:gridCol>
              </a:tblGrid>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FF0000"/>
                          </a:solidFill>
                          <a:effectLst/>
                        </a:rPr>
                        <a:t>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kern="1200" dirty="0">
                          <a:solidFill>
                            <a:srgbClr val="0000FF"/>
                          </a:solidFill>
                          <a:effectLst/>
                          <a:latin typeface="+mn-lt"/>
                          <a:ea typeface="+mn-ea"/>
                          <a:cs typeface="+mn-cs"/>
                        </a:rPr>
                        <a:t>FN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952155157"/>
                  </a:ext>
                </a:extLst>
              </a:tr>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00FF"/>
                          </a:solidFill>
                          <a:effectLst/>
                        </a:rPr>
                        <a:t>FP</a:t>
                      </a:r>
                      <a:endParaRPr lang="pt-BR" sz="2400" b="1" kern="1200" dirty="0">
                        <a:solidFill>
                          <a:srgbClr val="0000FF"/>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B050"/>
                          </a:solidFill>
                          <a:effectLst/>
                        </a:rPr>
                        <a:t>TP</a:t>
                      </a:r>
                      <a:endParaRPr lang="pt-BR" sz="2400" b="1" dirty="0">
                        <a:solidFill>
                          <a:srgbClr val="FF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69341992"/>
                  </a:ext>
                </a:extLst>
              </a:tr>
            </a:tbl>
          </a:graphicData>
        </a:graphic>
      </p:graphicFrame>
      <p:sp>
        <p:nvSpPr>
          <p:cNvPr id="6" name="Retângulo 5">
            <a:extLst>
              <a:ext uri="{FF2B5EF4-FFF2-40B4-BE49-F238E27FC236}">
                <a16:creationId xmlns:a16="http://schemas.microsoft.com/office/drawing/2014/main" xmlns="" id="{26508683-E050-40A0-9B76-B0CF504C46C8}"/>
              </a:ext>
            </a:extLst>
          </p:cNvPr>
          <p:cNvSpPr/>
          <p:nvPr/>
        </p:nvSpPr>
        <p:spPr>
          <a:xfrm>
            <a:off x="2848303" y="5129049"/>
            <a:ext cx="641131" cy="1135118"/>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CaixaDeTexto 7">
            <a:extLst>
              <a:ext uri="{FF2B5EF4-FFF2-40B4-BE49-F238E27FC236}">
                <a16:creationId xmlns:a16="http://schemas.microsoft.com/office/drawing/2014/main" xmlns="" id="{EF4E8F31-70DD-AFAD-34E2-A822946626E9}"/>
              </a:ext>
            </a:extLst>
          </p:cNvPr>
          <p:cNvSpPr txBox="1"/>
          <p:nvPr/>
        </p:nvSpPr>
        <p:spPr>
          <a:xfrm>
            <a:off x="2781709" y="6181265"/>
            <a:ext cx="853311" cy="369332"/>
          </a:xfrm>
          <a:prstGeom prst="rect">
            <a:avLst/>
          </a:prstGeom>
          <a:noFill/>
        </p:spPr>
        <p:txBody>
          <a:bodyPr wrap="none" rtlCol="0">
            <a:spAutoFit/>
          </a:bodyPr>
          <a:lstStyle/>
          <a:p>
            <a:r>
              <a:rPr lang="pt-BR" dirty="0"/>
              <a:t>doente</a:t>
            </a:r>
            <a:endParaRPr lang="en-US" dirty="0"/>
          </a:p>
        </p:txBody>
      </p:sp>
      <p:sp>
        <p:nvSpPr>
          <p:cNvPr id="10" name="CaixaDeTexto 9">
            <a:extLst>
              <a:ext uri="{FF2B5EF4-FFF2-40B4-BE49-F238E27FC236}">
                <a16:creationId xmlns:a16="http://schemas.microsoft.com/office/drawing/2014/main" xmlns="" id="{8339B622-0A8F-73D9-2449-EDF1095410C1}"/>
              </a:ext>
            </a:extLst>
          </p:cNvPr>
          <p:cNvSpPr txBox="1"/>
          <p:nvPr/>
        </p:nvSpPr>
        <p:spPr>
          <a:xfrm>
            <a:off x="1775984" y="6181265"/>
            <a:ext cx="1005725" cy="369332"/>
          </a:xfrm>
          <a:prstGeom prst="rect">
            <a:avLst/>
          </a:prstGeom>
          <a:noFill/>
        </p:spPr>
        <p:txBody>
          <a:bodyPr wrap="none" rtlCol="0">
            <a:spAutoFit/>
          </a:bodyPr>
          <a:lstStyle/>
          <a:p>
            <a:r>
              <a:rPr lang="pt-BR" dirty="0"/>
              <a:t>saudável</a:t>
            </a:r>
            <a:endParaRPr lang="en-US" dirty="0"/>
          </a:p>
        </p:txBody>
      </p:sp>
      <p:sp>
        <p:nvSpPr>
          <p:cNvPr id="12" name="CaixaDeTexto 11">
            <a:extLst>
              <a:ext uri="{FF2B5EF4-FFF2-40B4-BE49-F238E27FC236}">
                <a16:creationId xmlns:a16="http://schemas.microsoft.com/office/drawing/2014/main" xmlns="" id="{C8BDA5C3-77D9-BE4A-F72B-0D83504807E8}"/>
              </a:ext>
            </a:extLst>
          </p:cNvPr>
          <p:cNvSpPr txBox="1"/>
          <p:nvPr/>
        </p:nvSpPr>
        <p:spPr>
          <a:xfrm>
            <a:off x="838200" y="5248003"/>
            <a:ext cx="1005725" cy="369332"/>
          </a:xfrm>
          <a:prstGeom prst="rect">
            <a:avLst/>
          </a:prstGeom>
          <a:noFill/>
        </p:spPr>
        <p:txBody>
          <a:bodyPr wrap="none" rtlCol="0">
            <a:spAutoFit/>
          </a:bodyPr>
          <a:lstStyle/>
          <a:p>
            <a:r>
              <a:rPr lang="pt-BR" dirty="0"/>
              <a:t>saudável</a:t>
            </a:r>
            <a:endParaRPr lang="en-US" dirty="0"/>
          </a:p>
        </p:txBody>
      </p:sp>
      <p:sp>
        <p:nvSpPr>
          <p:cNvPr id="14" name="CaixaDeTexto 13">
            <a:extLst>
              <a:ext uri="{FF2B5EF4-FFF2-40B4-BE49-F238E27FC236}">
                <a16:creationId xmlns:a16="http://schemas.microsoft.com/office/drawing/2014/main" xmlns="" id="{A5CFE41C-61A5-A9A5-1493-12FF02B34221}"/>
              </a:ext>
            </a:extLst>
          </p:cNvPr>
          <p:cNvSpPr txBox="1"/>
          <p:nvPr/>
        </p:nvSpPr>
        <p:spPr>
          <a:xfrm>
            <a:off x="1001652" y="5696608"/>
            <a:ext cx="853311" cy="369332"/>
          </a:xfrm>
          <a:prstGeom prst="rect">
            <a:avLst/>
          </a:prstGeom>
          <a:noFill/>
        </p:spPr>
        <p:txBody>
          <a:bodyPr wrap="none" rtlCol="0">
            <a:spAutoFit/>
          </a:bodyPr>
          <a:lstStyle/>
          <a:p>
            <a:r>
              <a:rPr lang="pt-BR" dirty="0"/>
              <a:t>doente</a:t>
            </a:r>
            <a:endParaRPr lang="en-US" dirty="0"/>
          </a:p>
        </p:txBody>
      </p:sp>
    </p:spTree>
    <p:extLst>
      <p:ext uri="{BB962C8B-B14F-4D97-AF65-F5344CB8AC3E}">
        <p14:creationId xmlns:p14="http://schemas.microsoft.com/office/powerpoint/2010/main" val="1586171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DA02418A-FD8A-4D3A-F78B-19D2F315EA09}"/>
              </a:ext>
            </a:extLst>
          </p:cNvPr>
          <p:cNvSpPr>
            <a:spLocks noGrp="1"/>
          </p:cNvSpPr>
          <p:nvPr>
            <p:ph type="title"/>
          </p:nvPr>
        </p:nvSpPr>
        <p:spPr/>
        <p:txBody>
          <a:bodyPr/>
          <a:lstStyle/>
          <a:p>
            <a:r>
              <a:rPr lang="pt-BR" dirty="0"/>
              <a:t>Especificidade</a:t>
            </a:r>
          </a:p>
        </p:txBody>
      </p:sp>
      <p:sp>
        <p:nvSpPr>
          <p:cNvPr id="3" name="Espaço Reservado para Conteúdo 2">
            <a:extLst>
              <a:ext uri="{FF2B5EF4-FFF2-40B4-BE49-F238E27FC236}">
                <a16:creationId xmlns="" xmlns:a16="http://schemas.microsoft.com/office/drawing/2014/main" id="{96809D8B-A4CE-3C56-037B-42A71F621C48}"/>
              </a:ext>
            </a:extLst>
          </p:cNvPr>
          <p:cNvSpPr>
            <a:spLocks noGrp="1"/>
          </p:cNvSpPr>
          <p:nvPr>
            <p:ph idx="1"/>
          </p:nvPr>
        </p:nvSpPr>
        <p:spPr>
          <a:xfrm>
            <a:off x="6201103" y="1825624"/>
            <a:ext cx="5770179" cy="5032375"/>
          </a:xfrm>
        </p:spPr>
        <p:txBody>
          <a:bodyPr/>
          <a:lstStyle/>
          <a:p>
            <a:r>
              <a:rPr lang="pt-BR" b="1" i="1" dirty="0">
                <a:solidFill>
                  <a:srgbClr val="00B050"/>
                </a:solidFill>
              </a:rPr>
              <a:t>Especificidade</a:t>
            </a:r>
            <a:r>
              <a:rPr lang="pt-BR" b="1" dirty="0"/>
              <a:t> </a:t>
            </a:r>
            <a:r>
              <a:rPr lang="pt-BR" dirty="0"/>
              <a:t>ou </a:t>
            </a:r>
            <a:r>
              <a:rPr lang="pt-BR" b="1" i="1" dirty="0"/>
              <a:t>taxa de verdadeiros negativos </a:t>
            </a:r>
            <a:r>
              <a:rPr lang="pt-BR" dirty="0"/>
              <a:t>é a proporção de exemplos da classe negativa corretamente classificados.</a:t>
            </a:r>
          </a:p>
          <a:p>
            <a:endParaRPr lang="pt-BR" dirty="0"/>
          </a:p>
        </p:txBody>
      </p:sp>
      <p:graphicFrame>
        <p:nvGraphicFramePr>
          <p:cNvPr id="4" name="Tabela 5">
            <a:extLst>
              <a:ext uri="{FF2B5EF4-FFF2-40B4-BE49-F238E27FC236}">
                <a16:creationId xmlns="" xmlns:a16="http://schemas.microsoft.com/office/drawing/2014/main" id="{E02B334E-4F57-F983-AF39-A6FCB464ABF3}"/>
              </a:ext>
            </a:extLst>
          </p:cNvPr>
          <p:cNvGraphicFramePr>
            <a:graphicFrameLocks noGrp="1"/>
          </p:cNvGraphicFramePr>
          <p:nvPr/>
        </p:nvGraphicFramePr>
        <p:xfrm>
          <a:off x="1840088" y="5230813"/>
          <a:ext cx="1794932" cy="914400"/>
        </p:xfrm>
        <a:graphic>
          <a:graphicData uri="http://schemas.openxmlformats.org/drawingml/2006/table">
            <a:tbl>
              <a:tblPr firstRow="1" bandRow="1">
                <a:tableStyleId>{5C22544A-7EE6-4342-B048-85BDC9FD1C3A}</a:tableStyleId>
              </a:tblPr>
              <a:tblGrid>
                <a:gridCol w="897466">
                  <a:extLst>
                    <a:ext uri="{9D8B030D-6E8A-4147-A177-3AD203B41FA5}">
                      <a16:colId xmlns="" xmlns:a16="http://schemas.microsoft.com/office/drawing/2014/main" val="2780398905"/>
                    </a:ext>
                  </a:extLst>
                </a:gridCol>
                <a:gridCol w="897466">
                  <a:extLst>
                    <a:ext uri="{9D8B030D-6E8A-4147-A177-3AD203B41FA5}">
                      <a16:colId xmlns="" xmlns:a16="http://schemas.microsoft.com/office/drawing/2014/main" val="1752542230"/>
                    </a:ext>
                  </a:extLst>
                </a:gridCol>
              </a:tblGrid>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FF0000"/>
                          </a:solidFill>
                          <a:effectLst/>
                        </a:rPr>
                        <a:t>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kern="1200" dirty="0">
                          <a:solidFill>
                            <a:srgbClr val="0000FF"/>
                          </a:solidFill>
                          <a:effectLst/>
                          <a:latin typeface="+mn-lt"/>
                          <a:ea typeface="+mn-ea"/>
                          <a:cs typeface="+mn-cs"/>
                        </a:rPr>
                        <a:t>FN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952155157"/>
                  </a:ext>
                </a:extLst>
              </a:tr>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00FF"/>
                          </a:solidFill>
                          <a:effectLst/>
                        </a:rPr>
                        <a:t>FP</a:t>
                      </a:r>
                      <a:endParaRPr lang="pt-BR" sz="2400" b="1" kern="1200" dirty="0">
                        <a:solidFill>
                          <a:srgbClr val="0000FF"/>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B050"/>
                          </a:solidFill>
                          <a:effectLst/>
                        </a:rPr>
                        <a:t>TP</a:t>
                      </a:r>
                      <a:endParaRPr lang="pt-BR" sz="2400" b="1" dirty="0">
                        <a:solidFill>
                          <a:srgbClr val="FF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169341992"/>
                  </a:ext>
                </a:extLst>
              </a:tr>
            </a:tbl>
          </a:graphicData>
        </a:graphic>
      </p:graphicFrame>
      <p:sp>
        <p:nvSpPr>
          <p:cNvPr id="5" name="Retângulo 4">
            <a:extLst>
              <a:ext uri="{FF2B5EF4-FFF2-40B4-BE49-F238E27FC236}">
                <a16:creationId xmlns="" xmlns:a16="http://schemas.microsoft.com/office/drawing/2014/main" id="{8C2B580F-B223-9E7A-D76C-8F14D3E585A0}"/>
              </a:ext>
            </a:extLst>
          </p:cNvPr>
          <p:cNvSpPr/>
          <p:nvPr/>
        </p:nvSpPr>
        <p:spPr>
          <a:xfrm>
            <a:off x="1954931" y="5129049"/>
            <a:ext cx="641131" cy="1135118"/>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7" name="CaixaDeTexto 6">
                <a:extLst>
                  <a:ext uri="{FF2B5EF4-FFF2-40B4-BE49-F238E27FC236}">
                    <a16:creationId xmlns="" xmlns:a16="http://schemas.microsoft.com/office/drawing/2014/main" id="{A07AB995-6DB3-594A-08D2-01E5AB1E6EA9}"/>
                  </a:ext>
                </a:extLst>
              </p:cNvPr>
              <p:cNvSpPr txBox="1"/>
              <p:nvPr/>
            </p:nvSpPr>
            <p:spPr>
              <a:xfrm>
                <a:off x="838200" y="2917738"/>
                <a:ext cx="4761186" cy="102252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pt-BR" sz="3200" b="0" i="0" smtClean="0">
                          <a:latin typeface="Cambria Math" panose="02040503050406030204" pitchFamily="18" charset="0"/>
                        </a:rPr>
                        <m:t>especificidade</m:t>
                      </m:r>
                      <m:r>
                        <a:rPr lang="pt-BR" sz="3200" i="1">
                          <a:latin typeface="Cambria Math" panose="02040503050406030204" pitchFamily="18" charset="0"/>
                        </a:rPr>
                        <m:t>=</m:t>
                      </m:r>
                      <m:f>
                        <m:fPr>
                          <m:ctrlPr>
                            <a:rPr lang="pt-BR" sz="3200" i="1">
                              <a:latin typeface="Cambria Math" panose="02040503050406030204" pitchFamily="18" charset="0"/>
                            </a:rPr>
                          </m:ctrlPr>
                        </m:fPr>
                        <m:num>
                          <m:r>
                            <m:rPr>
                              <m:sty m:val="p"/>
                            </m:rPr>
                            <a:rPr lang="pt-BR" sz="3200" i="0">
                              <a:latin typeface="Cambria Math" panose="02040503050406030204" pitchFamily="18" charset="0"/>
                            </a:rPr>
                            <m:t>T</m:t>
                          </m:r>
                          <m:r>
                            <m:rPr>
                              <m:sty m:val="p"/>
                            </m:rPr>
                            <a:rPr lang="pt-BR" sz="3200" b="0" i="0" smtClean="0">
                              <a:latin typeface="Cambria Math" panose="02040503050406030204" pitchFamily="18" charset="0"/>
                            </a:rPr>
                            <m:t>N</m:t>
                          </m:r>
                        </m:num>
                        <m:den>
                          <m:r>
                            <m:rPr>
                              <m:sty m:val="p"/>
                            </m:rPr>
                            <a:rPr lang="pt-BR" sz="3200" i="0">
                              <a:latin typeface="Cambria Math" panose="02040503050406030204" pitchFamily="18" charset="0"/>
                            </a:rPr>
                            <m:t>T</m:t>
                          </m:r>
                          <m:r>
                            <m:rPr>
                              <m:sty m:val="p"/>
                            </m:rPr>
                            <a:rPr lang="pt-BR" sz="3200" b="0" i="0" smtClean="0">
                              <a:latin typeface="Cambria Math" panose="02040503050406030204" pitchFamily="18" charset="0"/>
                            </a:rPr>
                            <m:t>N</m:t>
                          </m:r>
                          <m:r>
                            <a:rPr lang="pt-BR" sz="3200" i="0">
                              <a:latin typeface="Cambria Math" panose="02040503050406030204" pitchFamily="18" charset="0"/>
                            </a:rPr>
                            <m:t>+</m:t>
                          </m:r>
                          <m:r>
                            <m:rPr>
                              <m:sty m:val="p"/>
                            </m:rPr>
                            <a:rPr lang="pt-BR" sz="3200" i="0">
                              <a:latin typeface="Cambria Math" panose="02040503050406030204" pitchFamily="18" charset="0"/>
                            </a:rPr>
                            <m:t>FP</m:t>
                          </m:r>
                        </m:den>
                      </m:f>
                    </m:oMath>
                  </m:oMathPara>
                </a14:m>
                <a:endParaRPr lang="pt-BR" sz="3200" dirty="0"/>
              </a:p>
            </p:txBody>
          </p:sp>
        </mc:Choice>
        <mc:Fallback xmlns="">
          <p:sp>
            <p:nvSpPr>
              <p:cNvPr id="7" name="CaixaDeTexto 6">
                <a:extLst>
                  <a:ext uri="{FF2B5EF4-FFF2-40B4-BE49-F238E27FC236}">
                    <a16:creationId xmlns:a16="http://schemas.microsoft.com/office/drawing/2014/main" id="{A07AB995-6DB3-594A-08D2-01E5AB1E6EA9}"/>
                  </a:ext>
                </a:extLst>
              </p:cNvPr>
              <p:cNvSpPr txBox="1">
                <a:spLocks noRot="1" noChangeAspect="1" noMove="1" noResize="1" noEditPoints="1" noAdjustHandles="1" noChangeArrowheads="1" noChangeShapeType="1" noTextEdit="1"/>
              </p:cNvSpPr>
              <p:nvPr/>
            </p:nvSpPr>
            <p:spPr>
              <a:xfrm>
                <a:off x="838200" y="2917738"/>
                <a:ext cx="4761186" cy="1022524"/>
              </a:xfrm>
              <a:prstGeom prst="rect">
                <a:avLst/>
              </a:prstGeom>
              <a:blipFill>
                <a:blip r:embed="rId2"/>
                <a:stretch>
                  <a:fillRect/>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xmlns="" id="{D1154846-7200-8A13-7CE3-866E0423AC95}"/>
              </a:ext>
            </a:extLst>
          </p:cNvPr>
          <p:cNvSpPr txBox="1"/>
          <p:nvPr/>
        </p:nvSpPr>
        <p:spPr>
          <a:xfrm>
            <a:off x="2200275" y="6157592"/>
            <a:ext cx="255198" cy="369332"/>
          </a:xfrm>
          <a:prstGeom prst="rect">
            <a:avLst/>
          </a:prstGeom>
          <a:noFill/>
        </p:spPr>
        <p:txBody>
          <a:bodyPr wrap="none" rtlCol="0">
            <a:spAutoFit/>
          </a:bodyPr>
          <a:lstStyle/>
          <a:p>
            <a:r>
              <a:rPr lang="pt-BR" dirty="0"/>
              <a:t>-</a:t>
            </a:r>
            <a:endParaRPr lang="en-US" dirty="0"/>
          </a:p>
        </p:txBody>
      </p:sp>
      <p:sp>
        <p:nvSpPr>
          <p:cNvPr id="9" name="CaixaDeTexto 8">
            <a:extLst>
              <a:ext uri="{FF2B5EF4-FFF2-40B4-BE49-F238E27FC236}">
                <a16:creationId xmlns:a16="http://schemas.microsoft.com/office/drawing/2014/main" xmlns="" id="{D5BECE90-0299-928D-2937-BAD69964EB36}"/>
              </a:ext>
            </a:extLst>
          </p:cNvPr>
          <p:cNvSpPr txBox="1"/>
          <p:nvPr/>
        </p:nvSpPr>
        <p:spPr>
          <a:xfrm>
            <a:off x="3070353" y="6170130"/>
            <a:ext cx="300082" cy="369332"/>
          </a:xfrm>
          <a:prstGeom prst="rect">
            <a:avLst/>
          </a:prstGeom>
          <a:noFill/>
        </p:spPr>
        <p:txBody>
          <a:bodyPr wrap="none" rtlCol="0">
            <a:spAutoFit/>
          </a:bodyPr>
          <a:lstStyle/>
          <a:p>
            <a:r>
              <a:rPr lang="pt-BR" dirty="0"/>
              <a:t>+</a:t>
            </a:r>
            <a:endParaRPr lang="en-US" dirty="0"/>
          </a:p>
        </p:txBody>
      </p:sp>
      <p:sp>
        <p:nvSpPr>
          <p:cNvPr id="10" name="CaixaDeTexto 9">
            <a:extLst>
              <a:ext uri="{FF2B5EF4-FFF2-40B4-BE49-F238E27FC236}">
                <a16:creationId xmlns:a16="http://schemas.microsoft.com/office/drawing/2014/main" xmlns="" id="{4E5240CA-203C-851E-7E56-73BFF976FA1B}"/>
              </a:ext>
            </a:extLst>
          </p:cNvPr>
          <p:cNvSpPr txBox="1"/>
          <p:nvPr/>
        </p:nvSpPr>
        <p:spPr>
          <a:xfrm>
            <a:off x="1469270" y="5688013"/>
            <a:ext cx="300082" cy="369332"/>
          </a:xfrm>
          <a:prstGeom prst="rect">
            <a:avLst/>
          </a:prstGeom>
          <a:noFill/>
        </p:spPr>
        <p:txBody>
          <a:bodyPr wrap="none" rtlCol="0">
            <a:spAutoFit/>
          </a:bodyPr>
          <a:lstStyle/>
          <a:p>
            <a:r>
              <a:rPr lang="pt-BR" dirty="0"/>
              <a:t>+</a:t>
            </a:r>
            <a:endParaRPr lang="en-US" dirty="0"/>
          </a:p>
        </p:txBody>
      </p:sp>
      <p:sp>
        <p:nvSpPr>
          <p:cNvPr id="11" name="CaixaDeTexto 10">
            <a:extLst>
              <a:ext uri="{FF2B5EF4-FFF2-40B4-BE49-F238E27FC236}">
                <a16:creationId xmlns:a16="http://schemas.microsoft.com/office/drawing/2014/main" xmlns="" id="{08DF3936-009E-86E3-DA9B-9C242B4A2046}"/>
              </a:ext>
            </a:extLst>
          </p:cNvPr>
          <p:cNvSpPr txBox="1"/>
          <p:nvPr/>
        </p:nvSpPr>
        <p:spPr>
          <a:xfrm>
            <a:off x="1491712" y="5280937"/>
            <a:ext cx="255198" cy="369332"/>
          </a:xfrm>
          <a:prstGeom prst="rect">
            <a:avLst/>
          </a:prstGeom>
          <a:noFill/>
        </p:spPr>
        <p:txBody>
          <a:bodyPr wrap="none" rtlCol="0">
            <a:spAutoFit/>
          </a:bodyPr>
          <a:lstStyle/>
          <a:p>
            <a:r>
              <a:rPr lang="pt-BR" dirty="0"/>
              <a:t>-</a:t>
            </a:r>
            <a:endParaRPr lang="en-US" dirty="0"/>
          </a:p>
        </p:txBody>
      </p:sp>
    </p:spTree>
    <p:extLst>
      <p:ext uri="{BB962C8B-B14F-4D97-AF65-F5344CB8AC3E}">
        <p14:creationId xmlns:p14="http://schemas.microsoft.com/office/powerpoint/2010/main" val="1480798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7CC1604-6E46-4CA6-D82F-385F2688C603}"/>
              </a:ext>
            </a:extLst>
          </p:cNvPr>
          <p:cNvSpPr>
            <a:spLocks noGrp="1"/>
          </p:cNvSpPr>
          <p:nvPr>
            <p:ph type="title"/>
          </p:nvPr>
        </p:nvSpPr>
        <p:spPr/>
        <p:txBody>
          <a:bodyPr/>
          <a:lstStyle/>
          <a:p>
            <a:r>
              <a:rPr lang="pt-BR" dirty="0"/>
              <a:t>Taxas de falso positivo e negativo</a:t>
            </a:r>
          </a:p>
        </p:txBody>
      </p:sp>
      <p:sp>
        <p:nvSpPr>
          <p:cNvPr id="3" name="Espaço Reservado para Conteúdo 2">
            <a:extLst>
              <a:ext uri="{FF2B5EF4-FFF2-40B4-BE49-F238E27FC236}">
                <a16:creationId xmlns="" xmlns:a16="http://schemas.microsoft.com/office/drawing/2014/main" id="{FF46BDEB-E8F5-7119-62CF-6C86FA393FCC}"/>
              </a:ext>
            </a:extLst>
          </p:cNvPr>
          <p:cNvSpPr>
            <a:spLocks noGrp="1"/>
          </p:cNvSpPr>
          <p:nvPr>
            <p:ph idx="1"/>
          </p:nvPr>
        </p:nvSpPr>
        <p:spPr>
          <a:xfrm>
            <a:off x="6067810" y="1825624"/>
            <a:ext cx="5930227" cy="5032375"/>
          </a:xfrm>
        </p:spPr>
        <p:txBody>
          <a:bodyPr/>
          <a:lstStyle/>
          <a:p>
            <a:r>
              <a:rPr lang="pt-BR" b="1" i="1" dirty="0">
                <a:effectLst/>
              </a:rPr>
              <a:t>Taxa de falsos negativos</a:t>
            </a:r>
            <a:r>
              <a:rPr lang="pt-BR" b="1" dirty="0">
                <a:effectLst/>
              </a:rPr>
              <a:t> (TFN)</a:t>
            </a:r>
            <a:r>
              <a:rPr lang="pt-BR" b="0" i="0" dirty="0">
                <a:effectLst/>
              </a:rPr>
              <a:t>: é a proporção de exemplos da classe positiva classificados incorretamente.</a:t>
            </a:r>
          </a:p>
          <a:p>
            <a:endParaRPr lang="pt-BR" b="1" i="1" dirty="0" smtClean="0">
              <a:effectLst/>
            </a:endParaRPr>
          </a:p>
          <a:p>
            <a:endParaRPr lang="pt-BR" b="1" i="1" dirty="0"/>
          </a:p>
          <a:p>
            <a:endParaRPr lang="pt-BR" b="1" i="1" dirty="0" smtClean="0">
              <a:effectLst/>
            </a:endParaRPr>
          </a:p>
          <a:p>
            <a:r>
              <a:rPr lang="pt-BR" b="1" i="1" dirty="0" smtClean="0">
                <a:effectLst/>
              </a:rPr>
              <a:t>Taxa </a:t>
            </a:r>
            <a:r>
              <a:rPr lang="pt-BR" b="1" i="1" dirty="0">
                <a:effectLst/>
              </a:rPr>
              <a:t>de falsos positivos</a:t>
            </a:r>
            <a:r>
              <a:rPr lang="pt-BR" b="1" dirty="0">
                <a:effectLst/>
              </a:rPr>
              <a:t> (TFP)</a:t>
            </a:r>
            <a:r>
              <a:rPr lang="pt-BR" b="0" i="0" dirty="0">
                <a:effectLst/>
              </a:rPr>
              <a:t>: é a proporção de exemplos da classe negativa classificados incorretamente.</a:t>
            </a:r>
            <a:endParaRPr lang="pt-BR" dirty="0"/>
          </a:p>
        </p:txBody>
      </p:sp>
      <mc:AlternateContent xmlns:mc="http://schemas.openxmlformats.org/markup-compatibility/2006" xmlns:a14="http://schemas.microsoft.com/office/drawing/2010/main">
        <mc:Choice Requires="a14">
          <p:sp>
            <p:nvSpPr>
              <p:cNvPr id="4" name="CaixaDeTexto 3">
                <a:extLst>
                  <a:ext uri="{FF2B5EF4-FFF2-40B4-BE49-F238E27FC236}">
                    <a16:creationId xmlns="" xmlns:a16="http://schemas.microsoft.com/office/drawing/2014/main" id="{E10A5C75-D2A9-C1F1-FBAB-D01BDBCD026F}"/>
                  </a:ext>
                </a:extLst>
              </p:cNvPr>
              <p:cNvSpPr txBox="1"/>
              <p:nvPr/>
            </p:nvSpPr>
            <p:spPr>
              <a:xfrm>
                <a:off x="441043" y="2300471"/>
                <a:ext cx="2953168" cy="102252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pt-BR" sz="3200" b="0" i="0" smtClean="0">
                          <a:latin typeface="Cambria Math" panose="02040503050406030204" pitchFamily="18" charset="0"/>
                        </a:rPr>
                        <m:t>TFN</m:t>
                      </m:r>
                      <m:r>
                        <a:rPr lang="pt-BR" sz="3200" i="1">
                          <a:latin typeface="Cambria Math" panose="02040503050406030204" pitchFamily="18" charset="0"/>
                        </a:rPr>
                        <m:t>=</m:t>
                      </m:r>
                      <m:f>
                        <m:fPr>
                          <m:ctrlPr>
                            <a:rPr lang="pt-BR" sz="3200" i="1">
                              <a:latin typeface="Cambria Math" panose="02040503050406030204" pitchFamily="18" charset="0"/>
                            </a:rPr>
                          </m:ctrlPr>
                        </m:fPr>
                        <m:num>
                          <m:r>
                            <m:rPr>
                              <m:sty m:val="p"/>
                            </m:rPr>
                            <a:rPr lang="pt-BR" sz="3200" b="0" i="0" smtClean="0">
                              <a:latin typeface="Cambria Math" panose="02040503050406030204" pitchFamily="18" charset="0"/>
                            </a:rPr>
                            <m:t>FN</m:t>
                          </m:r>
                        </m:num>
                        <m:den>
                          <m:r>
                            <m:rPr>
                              <m:sty m:val="p"/>
                            </m:rPr>
                            <a:rPr lang="pt-BR" sz="3200" b="0" i="0" smtClean="0">
                              <a:latin typeface="Cambria Math" panose="02040503050406030204" pitchFamily="18" charset="0"/>
                            </a:rPr>
                            <m:t>FN</m:t>
                          </m:r>
                          <m:r>
                            <a:rPr lang="pt-BR" sz="3200" i="0">
                              <a:latin typeface="Cambria Math" panose="02040503050406030204" pitchFamily="18" charset="0"/>
                            </a:rPr>
                            <m:t>+</m:t>
                          </m:r>
                          <m:r>
                            <m:rPr>
                              <m:sty m:val="p"/>
                            </m:rPr>
                            <a:rPr lang="pt-BR" sz="3200" b="0" i="0" smtClean="0">
                              <a:latin typeface="Cambria Math" panose="02040503050406030204" pitchFamily="18" charset="0"/>
                            </a:rPr>
                            <m:t>T</m:t>
                          </m:r>
                          <m:r>
                            <m:rPr>
                              <m:sty m:val="p"/>
                            </m:rPr>
                            <a:rPr lang="pt-BR" sz="3200" i="0">
                              <a:latin typeface="Cambria Math" panose="02040503050406030204" pitchFamily="18" charset="0"/>
                            </a:rPr>
                            <m:t>P</m:t>
                          </m:r>
                        </m:den>
                      </m:f>
                    </m:oMath>
                  </m:oMathPara>
                </a14:m>
                <a:endParaRPr lang="pt-BR" sz="3200" dirty="0"/>
              </a:p>
            </p:txBody>
          </p:sp>
        </mc:Choice>
        <mc:Fallback xmlns="">
          <p:sp>
            <p:nvSpPr>
              <p:cNvPr id="4" name="CaixaDeTexto 3">
                <a:extLst>
                  <a:ext uri="{FF2B5EF4-FFF2-40B4-BE49-F238E27FC236}">
                    <a16:creationId xmlns:a16="http://schemas.microsoft.com/office/drawing/2014/main" id="{E10A5C75-D2A9-C1F1-FBAB-D01BDBCD026F}"/>
                  </a:ext>
                </a:extLst>
              </p:cNvPr>
              <p:cNvSpPr txBox="1">
                <a:spLocks noRot="1" noChangeAspect="1" noMove="1" noResize="1" noEditPoints="1" noAdjustHandles="1" noChangeArrowheads="1" noChangeShapeType="1" noTextEdit="1"/>
              </p:cNvSpPr>
              <p:nvPr/>
            </p:nvSpPr>
            <p:spPr>
              <a:xfrm>
                <a:off x="441043" y="2300471"/>
                <a:ext cx="2953168" cy="1022524"/>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 xmlns:a16="http://schemas.microsoft.com/office/drawing/2014/main" id="{EC3ABC0C-2207-F9BF-7981-A156917E322E}"/>
                  </a:ext>
                </a:extLst>
              </p:cNvPr>
              <p:cNvSpPr txBox="1"/>
              <p:nvPr/>
            </p:nvSpPr>
            <p:spPr>
              <a:xfrm>
                <a:off x="441043" y="4621845"/>
                <a:ext cx="2863272" cy="102252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m:rPr>
                          <m:sty m:val="p"/>
                        </m:rPr>
                        <a:rPr lang="pt-BR" sz="3200" b="0" i="0" smtClean="0">
                          <a:latin typeface="Cambria Math" panose="02040503050406030204" pitchFamily="18" charset="0"/>
                        </a:rPr>
                        <m:t>TFP</m:t>
                      </m:r>
                      <m:r>
                        <a:rPr lang="pt-BR" sz="3200" i="1">
                          <a:latin typeface="Cambria Math" panose="02040503050406030204" pitchFamily="18" charset="0"/>
                        </a:rPr>
                        <m:t>=</m:t>
                      </m:r>
                      <m:f>
                        <m:fPr>
                          <m:ctrlPr>
                            <a:rPr lang="pt-BR" sz="3200" i="1">
                              <a:latin typeface="Cambria Math" panose="02040503050406030204" pitchFamily="18" charset="0"/>
                            </a:rPr>
                          </m:ctrlPr>
                        </m:fPr>
                        <m:num>
                          <m:r>
                            <m:rPr>
                              <m:sty m:val="p"/>
                            </m:rPr>
                            <a:rPr lang="pt-BR" sz="3200" b="0" i="0" smtClean="0">
                              <a:latin typeface="Cambria Math" panose="02040503050406030204" pitchFamily="18" charset="0"/>
                            </a:rPr>
                            <m:t>FP</m:t>
                          </m:r>
                        </m:num>
                        <m:den>
                          <m:r>
                            <m:rPr>
                              <m:sty m:val="p"/>
                            </m:rPr>
                            <a:rPr lang="pt-BR" sz="3200" b="0" i="0" smtClean="0">
                              <a:latin typeface="Cambria Math" panose="02040503050406030204" pitchFamily="18" charset="0"/>
                            </a:rPr>
                            <m:t>FP</m:t>
                          </m:r>
                          <m:r>
                            <a:rPr lang="pt-BR" sz="3200" i="0">
                              <a:latin typeface="Cambria Math" panose="02040503050406030204" pitchFamily="18" charset="0"/>
                            </a:rPr>
                            <m:t>+</m:t>
                          </m:r>
                          <m:r>
                            <m:rPr>
                              <m:sty m:val="p"/>
                            </m:rPr>
                            <a:rPr lang="pt-BR" sz="3200" b="0" i="0" smtClean="0">
                              <a:latin typeface="Cambria Math" panose="02040503050406030204" pitchFamily="18" charset="0"/>
                            </a:rPr>
                            <m:t>TN</m:t>
                          </m:r>
                        </m:den>
                      </m:f>
                    </m:oMath>
                  </m:oMathPara>
                </a14:m>
                <a:endParaRPr lang="pt-BR" sz="3200" dirty="0"/>
              </a:p>
            </p:txBody>
          </p:sp>
        </mc:Choice>
        <mc:Fallback xmlns="">
          <p:sp>
            <p:nvSpPr>
              <p:cNvPr id="5" name="CaixaDeTexto 4">
                <a:extLst>
                  <a:ext uri="{FF2B5EF4-FFF2-40B4-BE49-F238E27FC236}">
                    <a16:creationId xmlns:a16="http://schemas.microsoft.com/office/drawing/2014/main" id="{EC3ABC0C-2207-F9BF-7981-A156917E322E}"/>
                  </a:ext>
                </a:extLst>
              </p:cNvPr>
              <p:cNvSpPr txBox="1">
                <a:spLocks noRot="1" noChangeAspect="1" noMove="1" noResize="1" noEditPoints="1" noAdjustHandles="1" noChangeArrowheads="1" noChangeShapeType="1" noTextEdit="1"/>
              </p:cNvSpPr>
              <p:nvPr/>
            </p:nvSpPr>
            <p:spPr>
              <a:xfrm>
                <a:off x="441043" y="4621845"/>
                <a:ext cx="2863272" cy="1022524"/>
              </a:xfrm>
              <a:prstGeom prst="rect">
                <a:avLst/>
              </a:prstGeom>
              <a:blipFill>
                <a:blip r:embed="rId3"/>
                <a:stretch>
                  <a:fillRect/>
                </a:stretch>
              </a:blipFill>
            </p:spPr>
            <p:txBody>
              <a:bodyPr/>
              <a:lstStyle/>
              <a:p>
                <a:r>
                  <a:rPr lang="pt-BR">
                    <a:noFill/>
                  </a:rPr>
                  <a:t> </a:t>
                </a:r>
              </a:p>
            </p:txBody>
          </p:sp>
        </mc:Fallback>
      </mc:AlternateContent>
      <p:graphicFrame>
        <p:nvGraphicFramePr>
          <p:cNvPr id="6" name="Tabela 5">
            <a:extLst>
              <a:ext uri="{FF2B5EF4-FFF2-40B4-BE49-F238E27FC236}">
                <a16:creationId xmlns="" xmlns:a16="http://schemas.microsoft.com/office/drawing/2014/main" id="{29464B3E-F9A6-954A-58D5-274B5724889A}"/>
              </a:ext>
            </a:extLst>
          </p:cNvPr>
          <p:cNvGraphicFramePr>
            <a:graphicFrameLocks noGrp="1"/>
          </p:cNvGraphicFramePr>
          <p:nvPr>
            <p:extLst>
              <p:ext uri="{D42A27DB-BD31-4B8C-83A1-F6EECF244321}">
                <p14:modId xmlns:p14="http://schemas.microsoft.com/office/powerpoint/2010/main" val="1907019096"/>
              </p:ext>
            </p:extLst>
          </p:nvPr>
        </p:nvGraphicFramePr>
        <p:xfrm>
          <a:off x="3903911" y="2345938"/>
          <a:ext cx="1794932" cy="914400"/>
        </p:xfrm>
        <a:graphic>
          <a:graphicData uri="http://schemas.openxmlformats.org/drawingml/2006/table">
            <a:tbl>
              <a:tblPr firstRow="1" bandRow="1">
                <a:tableStyleId>{5C22544A-7EE6-4342-B048-85BDC9FD1C3A}</a:tableStyleId>
              </a:tblPr>
              <a:tblGrid>
                <a:gridCol w="897466">
                  <a:extLst>
                    <a:ext uri="{9D8B030D-6E8A-4147-A177-3AD203B41FA5}">
                      <a16:colId xmlns="" xmlns:a16="http://schemas.microsoft.com/office/drawing/2014/main" val="2780398905"/>
                    </a:ext>
                  </a:extLst>
                </a:gridCol>
                <a:gridCol w="897466">
                  <a:extLst>
                    <a:ext uri="{9D8B030D-6E8A-4147-A177-3AD203B41FA5}">
                      <a16:colId xmlns="" xmlns:a16="http://schemas.microsoft.com/office/drawing/2014/main" val="1752542230"/>
                    </a:ext>
                  </a:extLst>
                </a:gridCol>
              </a:tblGrid>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FF0000"/>
                          </a:solidFill>
                          <a:effectLst/>
                        </a:rPr>
                        <a:t>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kern="1200" dirty="0">
                          <a:solidFill>
                            <a:srgbClr val="0000FF"/>
                          </a:solidFill>
                          <a:effectLst/>
                          <a:latin typeface="+mn-lt"/>
                          <a:ea typeface="+mn-ea"/>
                          <a:cs typeface="+mn-cs"/>
                        </a:rPr>
                        <a:t>FN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952155157"/>
                  </a:ext>
                </a:extLst>
              </a:tr>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00FF"/>
                          </a:solidFill>
                          <a:effectLst/>
                        </a:rPr>
                        <a:t>FP</a:t>
                      </a:r>
                      <a:endParaRPr lang="pt-BR" sz="2400" b="1" kern="1200" dirty="0">
                        <a:solidFill>
                          <a:srgbClr val="0000FF"/>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B050"/>
                          </a:solidFill>
                          <a:effectLst/>
                        </a:rPr>
                        <a:t>TP</a:t>
                      </a:r>
                      <a:endParaRPr lang="pt-BR" sz="2400" b="1" dirty="0">
                        <a:solidFill>
                          <a:srgbClr val="FF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169341992"/>
                  </a:ext>
                </a:extLst>
              </a:tr>
            </a:tbl>
          </a:graphicData>
        </a:graphic>
      </p:graphicFrame>
      <p:sp>
        <p:nvSpPr>
          <p:cNvPr id="7" name="Retângulo 6">
            <a:extLst>
              <a:ext uri="{FF2B5EF4-FFF2-40B4-BE49-F238E27FC236}">
                <a16:creationId xmlns="" xmlns:a16="http://schemas.microsoft.com/office/drawing/2014/main" id="{714AC60D-5589-74A1-E0AA-5820FF01C211}"/>
              </a:ext>
            </a:extLst>
          </p:cNvPr>
          <p:cNvSpPr/>
          <p:nvPr/>
        </p:nvSpPr>
        <p:spPr>
          <a:xfrm>
            <a:off x="4914679" y="2300471"/>
            <a:ext cx="641131" cy="1022524"/>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aphicFrame>
        <p:nvGraphicFramePr>
          <p:cNvPr id="8" name="Tabela 7">
            <a:extLst>
              <a:ext uri="{FF2B5EF4-FFF2-40B4-BE49-F238E27FC236}">
                <a16:creationId xmlns="" xmlns:a16="http://schemas.microsoft.com/office/drawing/2014/main" id="{6E23708C-7A44-16B2-D21D-97C8A8158EC6}"/>
              </a:ext>
            </a:extLst>
          </p:cNvPr>
          <p:cNvGraphicFramePr>
            <a:graphicFrameLocks noGrp="1"/>
          </p:cNvGraphicFramePr>
          <p:nvPr>
            <p:extLst>
              <p:ext uri="{D42A27DB-BD31-4B8C-83A1-F6EECF244321}">
                <p14:modId xmlns:p14="http://schemas.microsoft.com/office/powerpoint/2010/main" val="3522977362"/>
              </p:ext>
            </p:extLst>
          </p:nvPr>
        </p:nvGraphicFramePr>
        <p:xfrm>
          <a:off x="3903911" y="4729969"/>
          <a:ext cx="1794932" cy="914400"/>
        </p:xfrm>
        <a:graphic>
          <a:graphicData uri="http://schemas.openxmlformats.org/drawingml/2006/table">
            <a:tbl>
              <a:tblPr firstRow="1" bandRow="1">
                <a:tableStyleId>{5C22544A-7EE6-4342-B048-85BDC9FD1C3A}</a:tableStyleId>
              </a:tblPr>
              <a:tblGrid>
                <a:gridCol w="897466">
                  <a:extLst>
                    <a:ext uri="{9D8B030D-6E8A-4147-A177-3AD203B41FA5}">
                      <a16:colId xmlns="" xmlns:a16="http://schemas.microsoft.com/office/drawing/2014/main" val="2780398905"/>
                    </a:ext>
                  </a:extLst>
                </a:gridCol>
                <a:gridCol w="897466">
                  <a:extLst>
                    <a:ext uri="{9D8B030D-6E8A-4147-A177-3AD203B41FA5}">
                      <a16:colId xmlns="" xmlns:a16="http://schemas.microsoft.com/office/drawing/2014/main" val="1752542230"/>
                    </a:ext>
                  </a:extLst>
                </a:gridCol>
              </a:tblGrid>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FF0000"/>
                          </a:solidFill>
                          <a:effectLst/>
                        </a:rPr>
                        <a:t>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kern="1200" dirty="0">
                          <a:solidFill>
                            <a:srgbClr val="0000FF"/>
                          </a:solidFill>
                          <a:effectLst/>
                          <a:latin typeface="+mn-lt"/>
                          <a:ea typeface="+mn-ea"/>
                          <a:cs typeface="+mn-cs"/>
                        </a:rPr>
                        <a:t>FN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3952155157"/>
                  </a:ext>
                </a:extLst>
              </a:tr>
              <a:tr h="4310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00FF"/>
                          </a:solidFill>
                          <a:effectLst/>
                        </a:rPr>
                        <a:t>FP</a:t>
                      </a:r>
                      <a:endParaRPr lang="pt-BR" sz="2400" b="1" kern="1200" dirty="0">
                        <a:solidFill>
                          <a:srgbClr val="0000FF"/>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400" b="1" dirty="0">
                          <a:solidFill>
                            <a:srgbClr val="00B050"/>
                          </a:solidFill>
                          <a:effectLst/>
                        </a:rPr>
                        <a:t>TP</a:t>
                      </a:r>
                      <a:endParaRPr lang="pt-BR" sz="2400" b="1" dirty="0">
                        <a:solidFill>
                          <a:srgbClr val="FF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169341992"/>
                  </a:ext>
                </a:extLst>
              </a:tr>
            </a:tbl>
          </a:graphicData>
        </a:graphic>
      </p:graphicFrame>
      <p:sp>
        <p:nvSpPr>
          <p:cNvPr id="9" name="Retângulo 8">
            <a:extLst>
              <a:ext uri="{FF2B5EF4-FFF2-40B4-BE49-F238E27FC236}">
                <a16:creationId xmlns="" xmlns:a16="http://schemas.microsoft.com/office/drawing/2014/main" id="{5FB465DC-8630-7222-83D1-EB6B34BF259E}"/>
              </a:ext>
            </a:extLst>
          </p:cNvPr>
          <p:cNvSpPr/>
          <p:nvPr/>
        </p:nvSpPr>
        <p:spPr>
          <a:xfrm>
            <a:off x="4018754" y="4656351"/>
            <a:ext cx="641131" cy="1065205"/>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aixaDeTexto 9">
            <a:extLst>
              <a:ext uri="{FF2B5EF4-FFF2-40B4-BE49-F238E27FC236}">
                <a16:creationId xmlns:a16="http://schemas.microsoft.com/office/drawing/2014/main" xmlns="" id="{D1154846-7200-8A13-7CE3-866E0423AC95}"/>
              </a:ext>
            </a:extLst>
          </p:cNvPr>
          <p:cNvSpPr txBox="1"/>
          <p:nvPr/>
        </p:nvSpPr>
        <p:spPr>
          <a:xfrm>
            <a:off x="4253362" y="5674512"/>
            <a:ext cx="255198" cy="369332"/>
          </a:xfrm>
          <a:prstGeom prst="rect">
            <a:avLst/>
          </a:prstGeom>
          <a:noFill/>
        </p:spPr>
        <p:txBody>
          <a:bodyPr wrap="none" rtlCol="0">
            <a:spAutoFit/>
          </a:bodyPr>
          <a:lstStyle/>
          <a:p>
            <a:r>
              <a:rPr lang="pt-BR" dirty="0"/>
              <a:t>-</a:t>
            </a:r>
            <a:endParaRPr lang="en-US" dirty="0"/>
          </a:p>
        </p:txBody>
      </p:sp>
      <p:sp>
        <p:nvSpPr>
          <p:cNvPr id="11" name="CaixaDeTexto 10">
            <a:extLst>
              <a:ext uri="{FF2B5EF4-FFF2-40B4-BE49-F238E27FC236}">
                <a16:creationId xmlns:a16="http://schemas.microsoft.com/office/drawing/2014/main" xmlns="" id="{D5BECE90-0299-928D-2937-BAD69964EB36}"/>
              </a:ext>
            </a:extLst>
          </p:cNvPr>
          <p:cNvSpPr txBox="1"/>
          <p:nvPr/>
        </p:nvSpPr>
        <p:spPr>
          <a:xfrm>
            <a:off x="5123440" y="5687050"/>
            <a:ext cx="300082" cy="369332"/>
          </a:xfrm>
          <a:prstGeom prst="rect">
            <a:avLst/>
          </a:prstGeom>
          <a:noFill/>
        </p:spPr>
        <p:txBody>
          <a:bodyPr wrap="none" rtlCol="0">
            <a:spAutoFit/>
          </a:bodyPr>
          <a:lstStyle/>
          <a:p>
            <a:r>
              <a:rPr lang="pt-BR" dirty="0"/>
              <a:t>+</a:t>
            </a:r>
            <a:endParaRPr lang="en-US" dirty="0"/>
          </a:p>
        </p:txBody>
      </p:sp>
      <p:sp>
        <p:nvSpPr>
          <p:cNvPr id="12" name="CaixaDeTexto 11">
            <a:extLst>
              <a:ext uri="{FF2B5EF4-FFF2-40B4-BE49-F238E27FC236}">
                <a16:creationId xmlns:a16="http://schemas.microsoft.com/office/drawing/2014/main" xmlns="" id="{4E5240CA-203C-851E-7E56-73BFF976FA1B}"/>
              </a:ext>
            </a:extLst>
          </p:cNvPr>
          <p:cNvSpPr txBox="1"/>
          <p:nvPr/>
        </p:nvSpPr>
        <p:spPr>
          <a:xfrm>
            <a:off x="3522357" y="5204933"/>
            <a:ext cx="300082" cy="369332"/>
          </a:xfrm>
          <a:prstGeom prst="rect">
            <a:avLst/>
          </a:prstGeom>
          <a:noFill/>
        </p:spPr>
        <p:txBody>
          <a:bodyPr wrap="none" rtlCol="0">
            <a:spAutoFit/>
          </a:bodyPr>
          <a:lstStyle/>
          <a:p>
            <a:r>
              <a:rPr lang="pt-BR" dirty="0"/>
              <a:t>+</a:t>
            </a:r>
            <a:endParaRPr lang="en-US" dirty="0"/>
          </a:p>
        </p:txBody>
      </p:sp>
      <p:sp>
        <p:nvSpPr>
          <p:cNvPr id="13" name="CaixaDeTexto 12">
            <a:extLst>
              <a:ext uri="{FF2B5EF4-FFF2-40B4-BE49-F238E27FC236}">
                <a16:creationId xmlns:a16="http://schemas.microsoft.com/office/drawing/2014/main" xmlns="" id="{08DF3936-009E-86E3-DA9B-9C242B4A2046}"/>
              </a:ext>
            </a:extLst>
          </p:cNvPr>
          <p:cNvSpPr txBox="1"/>
          <p:nvPr/>
        </p:nvSpPr>
        <p:spPr>
          <a:xfrm>
            <a:off x="3544799" y="4797857"/>
            <a:ext cx="255198" cy="369332"/>
          </a:xfrm>
          <a:prstGeom prst="rect">
            <a:avLst/>
          </a:prstGeom>
          <a:noFill/>
        </p:spPr>
        <p:txBody>
          <a:bodyPr wrap="none" rtlCol="0">
            <a:spAutoFit/>
          </a:bodyPr>
          <a:lstStyle/>
          <a:p>
            <a:r>
              <a:rPr lang="pt-BR" dirty="0"/>
              <a:t>-</a:t>
            </a:r>
            <a:endParaRPr lang="en-US" dirty="0"/>
          </a:p>
        </p:txBody>
      </p:sp>
      <p:sp>
        <p:nvSpPr>
          <p:cNvPr id="14" name="CaixaDeTexto 13">
            <a:extLst>
              <a:ext uri="{FF2B5EF4-FFF2-40B4-BE49-F238E27FC236}">
                <a16:creationId xmlns:a16="http://schemas.microsoft.com/office/drawing/2014/main" xmlns="" id="{D1154846-7200-8A13-7CE3-866E0423AC95}"/>
              </a:ext>
            </a:extLst>
          </p:cNvPr>
          <p:cNvSpPr txBox="1"/>
          <p:nvPr/>
        </p:nvSpPr>
        <p:spPr>
          <a:xfrm>
            <a:off x="4305124" y="3276369"/>
            <a:ext cx="255198" cy="369332"/>
          </a:xfrm>
          <a:prstGeom prst="rect">
            <a:avLst/>
          </a:prstGeom>
          <a:noFill/>
        </p:spPr>
        <p:txBody>
          <a:bodyPr wrap="none" rtlCol="0">
            <a:spAutoFit/>
          </a:bodyPr>
          <a:lstStyle/>
          <a:p>
            <a:r>
              <a:rPr lang="pt-BR" dirty="0"/>
              <a:t>-</a:t>
            </a:r>
            <a:endParaRPr lang="en-US" dirty="0"/>
          </a:p>
        </p:txBody>
      </p:sp>
      <p:sp>
        <p:nvSpPr>
          <p:cNvPr id="15" name="CaixaDeTexto 14">
            <a:extLst>
              <a:ext uri="{FF2B5EF4-FFF2-40B4-BE49-F238E27FC236}">
                <a16:creationId xmlns:a16="http://schemas.microsoft.com/office/drawing/2014/main" xmlns="" id="{D5BECE90-0299-928D-2937-BAD69964EB36}"/>
              </a:ext>
            </a:extLst>
          </p:cNvPr>
          <p:cNvSpPr txBox="1"/>
          <p:nvPr/>
        </p:nvSpPr>
        <p:spPr>
          <a:xfrm>
            <a:off x="5106190" y="3288907"/>
            <a:ext cx="300082" cy="369332"/>
          </a:xfrm>
          <a:prstGeom prst="rect">
            <a:avLst/>
          </a:prstGeom>
          <a:noFill/>
        </p:spPr>
        <p:txBody>
          <a:bodyPr wrap="none" rtlCol="0">
            <a:spAutoFit/>
          </a:bodyPr>
          <a:lstStyle/>
          <a:p>
            <a:r>
              <a:rPr lang="pt-BR" dirty="0"/>
              <a:t>+</a:t>
            </a:r>
            <a:endParaRPr lang="en-US" dirty="0"/>
          </a:p>
        </p:txBody>
      </p:sp>
      <p:sp>
        <p:nvSpPr>
          <p:cNvPr id="16" name="CaixaDeTexto 15">
            <a:extLst>
              <a:ext uri="{FF2B5EF4-FFF2-40B4-BE49-F238E27FC236}">
                <a16:creationId xmlns:a16="http://schemas.microsoft.com/office/drawing/2014/main" xmlns="" id="{4E5240CA-203C-851E-7E56-73BFF976FA1B}"/>
              </a:ext>
            </a:extLst>
          </p:cNvPr>
          <p:cNvSpPr txBox="1"/>
          <p:nvPr/>
        </p:nvSpPr>
        <p:spPr>
          <a:xfrm>
            <a:off x="3574119" y="2806790"/>
            <a:ext cx="300082" cy="369332"/>
          </a:xfrm>
          <a:prstGeom prst="rect">
            <a:avLst/>
          </a:prstGeom>
          <a:noFill/>
        </p:spPr>
        <p:txBody>
          <a:bodyPr wrap="none" rtlCol="0">
            <a:spAutoFit/>
          </a:bodyPr>
          <a:lstStyle/>
          <a:p>
            <a:r>
              <a:rPr lang="pt-BR" dirty="0"/>
              <a:t>+</a:t>
            </a:r>
            <a:endParaRPr lang="en-US" dirty="0"/>
          </a:p>
        </p:txBody>
      </p:sp>
      <p:sp>
        <p:nvSpPr>
          <p:cNvPr id="17" name="CaixaDeTexto 16">
            <a:extLst>
              <a:ext uri="{FF2B5EF4-FFF2-40B4-BE49-F238E27FC236}">
                <a16:creationId xmlns:a16="http://schemas.microsoft.com/office/drawing/2014/main" xmlns="" id="{08DF3936-009E-86E3-DA9B-9C242B4A2046}"/>
              </a:ext>
            </a:extLst>
          </p:cNvPr>
          <p:cNvSpPr txBox="1"/>
          <p:nvPr/>
        </p:nvSpPr>
        <p:spPr>
          <a:xfrm>
            <a:off x="3596561" y="2399714"/>
            <a:ext cx="255198" cy="369332"/>
          </a:xfrm>
          <a:prstGeom prst="rect">
            <a:avLst/>
          </a:prstGeom>
          <a:noFill/>
        </p:spPr>
        <p:txBody>
          <a:bodyPr wrap="none" rtlCol="0">
            <a:spAutoFit/>
          </a:bodyPr>
          <a:lstStyle/>
          <a:p>
            <a:r>
              <a:rPr lang="pt-BR" dirty="0"/>
              <a:t>-</a:t>
            </a:r>
            <a:endParaRPr lang="en-US" dirty="0"/>
          </a:p>
        </p:txBody>
      </p:sp>
    </p:spTree>
    <p:extLst>
      <p:ext uri="{BB962C8B-B14F-4D97-AF65-F5344CB8AC3E}">
        <p14:creationId xmlns:p14="http://schemas.microsoft.com/office/powerpoint/2010/main" val="2282352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BF87474-9D5C-0B3D-63E8-AD1CF986CDF4}"/>
              </a:ext>
            </a:extLst>
          </p:cNvPr>
          <p:cNvSpPr>
            <a:spLocks noGrp="1"/>
          </p:cNvSpPr>
          <p:nvPr>
            <p:ph type="title"/>
          </p:nvPr>
        </p:nvSpPr>
        <p:spPr/>
        <p:txBody>
          <a:bodyPr/>
          <a:lstStyle/>
          <a:p>
            <a:r>
              <a:rPr lang="pt-BR" dirty="0"/>
              <a:t>Precisão versus </a:t>
            </a:r>
            <a:r>
              <a:rPr lang="pt-BR" i="1" dirty="0"/>
              <a:t>recall</a:t>
            </a:r>
          </a:p>
        </p:txBody>
      </p:sp>
      <p:sp>
        <p:nvSpPr>
          <p:cNvPr id="3" name="Espaço Reservado para Conteúdo 2">
            <a:extLst>
              <a:ext uri="{FF2B5EF4-FFF2-40B4-BE49-F238E27FC236}">
                <a16:creationId xmlns="" xmlns:a16="http://schemas.microsoft.com/office/drawing/2014/main" id="{82DAA94B-AA8F-AF15-EE11-8B107DF8C311}"/>
              </a:ext>
            </a:extLst>
          </p:cNvPr>
          <p:cNvSpPr>
            <a:spLocks noGrp="1"/>
          </p:cNvSpPr>
          <p:nvPr>
            <p:ph idx="1"/>
          </p:nvPr>
        </p:nvSpPr>
        <p:spPr>
          <a:xfrm>
            <a:off x="5175849" y="1825624"/>
            <a:ext cx="7016151" cy="5032375"/>
          </a:xfrm>
        </p:spPr>
        <p:txBody>
          <a:bodyPr>
            <a:normAutofit/>
          </a:bodyPr>
          <a:lstStyle/>
          <a:p>
            <a:r>
              <a:rPr lang="pt-BR" dirty="0"/>
              <a:t>A </a:t>
            </a:r>
            <a:r>
              <a:rPr lang="pt-BR" b="1" i="1" dirty="0">
                <a:solidFill>
                  <a:srgbClr val="00B050"/>
                </a:solidFill>
              </a:rPr>
              <a:t>precisão</a:t>
            </a:r>
            <a:r>
              <a:rPr lang="pt-BR" dirty="0"/>
              <a:t> não fornece informações a respeito da quantidade de </a:t>
            </a:r>
            <a:r>
              <a:rPr lang="pt-BR" b="1" i="1" dirty="0">
                <a:solidFill>
                  <a:srgbClr val="00B050"/>
                </a:solidFill>
              </a:rPr>
              <a:t>falsos negativos</a:t>
            </a:r>
            <a:r>
              <a:rPr lang="pt-BR" dirty="0"/>
              <a:t>. </a:t>
            </a:r>
          </a:p>
          <a:p>
            <a:r>
              <a:rPr lang="pt-BR" dirty="0"/>
              <a:t>Por outro lado, o </a:t>
            </a:r>
            <a:r>
              <a:rPr lang="pt-BR" b="1" i="1" dirty="0">
                <a:solidFill>
                  <a:srgbClr val="00B050"/>
                </a:solidFill>
              </a:rPr>
              <a:t>recall</a:t>
            </a:r>
            <a:r>
              <a:rPr lang="pt-BR" dirty="0"/>
              <a:t> não fornece informações a respeito da quantidade de </a:t>
            </a:r>
            <a:r>
              <a:rPr lang="pt-BR" b="1" i="1" dirty="0">
                <a:solidFill>
                  <a:srgbClr val="00B050"/>
                </a:solidFill>
              </a:rPr>
              <a:t>falsos </a:t>
            </a:r>
            <a:r>
              <a:rPr lang="pt-BR" b="1" i="1" dirty="0" smtClean="0">
                <a:solidFill>
                  <a:srgbClr val="00B050"/>
                </a:solidFill>
              </a:rPr>
              <a:t>positivos</a:t>
            </a:r>
            <a:r>
              <a:rPr lang="pt-BR" dirty="0" smtClean="0"/>
              <a:t>.</a:t>
            </a:r>
          </a:p>
          <a:p>
            <a:r>
              <a:rPr lang="pt-BR" dirty="0" smtClean="0"/>
              <a:t>Mas </a:t>
            </a:r>
            <a:r>
              <a:rPr lang="pt-BR" dirty="0"/>
              <a:t>e se os </a:t>
            </a:r>
            <a:r>
              <a:rPr lang="pt-BR" b="1" dirty="0">
                <a:solidFill>
                  <a:schemeClr val="accent2"/>
                </a:solidFill>
              </a:rPr>
              <a:t>custos associados a falsos positivos e negativos são iguais</a:t>
            </a:r>
            <a:r>
              <a:rPr lang="pt-BR" dirty="0"/>
              <a:t>?</a:t>
            </a:r>
          </a:p>
          <a:p>
            <a:r>
              <a:rPr lang="pt-BR" dirty="0" smtClean="0"/>
              <a:t>Nesse </a:t>
            </a:r>
            <a:r>
              <a:rPr lang="pt-BR" dirty="0"/>
              <a:t>caso, para analisarmos o desempenho de um classificador, precisamos de uma </a:t>
            </a:r>
            <a:r>
              <a:rPr lang="pt-BR" b="1" i="1" dirty="0">
                <a:solidFill>
                  <a:srgbClr val="7030A0"/>
                </a:solidFill>
              </a:rPr>
              <a:t>métrica que combine as duas</a:t>
            </a:r>
            <a:r>
              <a:rPr lang="pt-BR" dirty="0"/>
              <a:t>.</a:t>
            </a:r>
          </a:p>
          <a:p>
            <a:endParaRPr lang="pt-BR" dirty="0"/>
          </a:p>
        </p:txBody>
      </p:sp>
      <mc:AlternateContent xmlns:mc="http://schemas.openxmlformats.org/markup-compatibility/2006" xmlns:a14="http://schemas.microsoft.com/office/drawing/2010/main">
        <mc:Choice Requires="a14">
          <p:sp>
            <p:nvSpPr>
              <p:cNvPr id="4" name="CaixaDeTexto 3">
                <a:extLst>
                  <a:ext uri="{FF2B5EF4-FFF2-40B4-BE49-F238E27FC236}">
                    <a16:creationId xmlns="" xmlns:a16="http://schemas.microsoft.com/office/drawing/2014/main" id="{B66DD82C-2C7C-932B-0676-6777E743E2CA}"/>
                  </a:ext>
                </a:extLst>
              </p:cNvPr>
              <p:cNvSpPr txBox="1"/>
              <p:nvPr/>
            </p:nvSpPr>
            <p:spPr>
              <a:xfrm>
                <a:off x="838200" y="4204505"/>
                <a:ext cx="3417711" cy="10225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3200" b="0" i="1" smtClean="0">
                          <a:latin typeface="Cambria Math" panose="02040503050406030204" pitchFamily="18" charset="0"/>
                        </a:rPr>
                        <m:t>𝑟𝑒𝑐𝑎𝑙𝑙</m:t>
                      </m:r>
                      <m:r>
                        <a:rPr lang="pt-BR" sz="3200" i="1">
                          <a:latin typeface="Cambria Math" panose="02040503050406030204" pitchFamily="18" charset="0"/>
                        </a:rPr>
                        <m:t>=</m:t>
                      </m:r>
                      <m:f>
                        <m:fPr>
                          <m:ctrlPr>
                            <a:rPr lang="pt-BR" sz="3200" i="1">
                              <a:latin typeface="Cambria Math" panose="02040503050406030204" pitchFamily="18" charset="0"/>
                            </a:rPr>
                          </m:ctrlPr>
                        </m:fPr>
                        <m:num>
                          <m:r>
                            <m:rPr>
                              <m:sty m:val="p"/>
                            </m:rPr>
                            <a:rPr lang="pt-BR" sz="3200" i="0">
                              <a:latin typeface="Cambria Math" panose="02040503050406030204" pitchFamily="18" charset="0"/>
                            </a:rPr>
                            <m:t>TP</m:t>
                          </m:r>
                        </m:num>
                        <m:den>
                          <m:r>
                            <m:rPr>
                              <m:sty m:val="p"/>
                            </m:rPr>
                            <a:rPr lang="pt-BR" sz="3200" i="0">
                              <a:latin typeface="Cambria Math" panose="02040503050406030204" pitchFamily="18" charset="0"/>
                            </a:rPr>
                            <m:t>FN</m:t>
                          </m:r>
                          <m:r>
                            <a:rPr lang="pt-BR" sz="3200" b="0" i="0" smtClean="0">
                              <a:latin typeface="Cambria Math" panose="02040503050406030204" pitchFamily="18" charset="0"/>
                            </a:rPr>
                            <m:t>+</m:t>
                          </m:r>
                          <m:r>
                            <m:rPr>
                              <m:sty m:val="p"/>
                            </m:rPr>
                            <a:rPr lang="pt-BR" sz="3200">
                              <a:latin typeface="Cambria Math" panose="02040503050406030204" pitchFamily="18" charset="0"/>
                            </a:rPr>
                            <m:t>TP</m:t>
                          </m:r>
                        </m:den>
                      </m:f>
                    </m:oMath>
                  </m:oMathPara>
                </a14:m>
                <a:endParaRPr lang="pt-BR" sz="3200" dirty="0"/>
              </a:p>
            </p:txBody>
          </p:sp>
        </mc:Choice>
        <mc:Fallback xmlns="">
          <p:sp>
            <p:nvSpPr>
              <p:cNvPr id="4" name="CaixaDeTexto 3">
                <a:extLst>
                  <a:ext uri="{FF2B5EF4-FFF2-40B4-BE49-F238E27FC236}">
                    <a16:creationId xmlns:a16="http://schemas.microsoft.com/office/drawing/2014/main" id="{B66DD82C-2C7C-932B-0676-6777E743E2CA}"/>
                  </a:ext>
                </a:extLst>
              </p:cNvPr>
              <p:cNvSpPr txBox="1">
                <a:spLocks noRot="1" noChangeAspect="1" noMove="1" noResize="1" noEditPoints="1" noAdjustHandles="1" noChangeArrowheads="1" noChangeShapeType="1" noTextEdit="1"/>
              </p:cNvSpPr>
              <p:nvPr/>
            </p:nvSpPr>
            <p:spPr>
              <a:xfrm>
                <a:off x="838200" y="4204505"/>
                <a:ext cx="3417711" cy="1022524"/>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 xmlns:a16="http://schemas.microsoft.com/office/drawing/2014/main" id="{1C33F56B-917E-EDAE-B038-52C2901A324E}"/>
                  </a:ext>
                </a:extLst>
              </p:cNvPr>
              <p:cNvSpPr txBox="1"/>
              <p:nvPr/>
            </p:nvSpPr>
            <p:spPr>
              <a:xfrm>
                <a:off x="577143" y="2563651"/>
                <a:ext cx="3939823" cy="10225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pt-BR" sz="3200" b="0" i="0" smtClean="0">
                          <a:latin typeface="Cambria Math" panose="02040503050406030204" pitchFamily="18" charset="0"/>
                        </a:rPr>
                        <m:t>precis</m:t>
                      </m:r>
                      <m:r>
                        <a:rPr lang="pt-BR" sz="3200" b="0" i="0" smtClean="0">
                          <a:latin typeface="Cambria Math" panose="02040503050406030204" pitchFamily="18" charset="0"/>
                        </a:rPr>
                        <m:t>ã</m:t>
                      </m:r>
                      <m:r>
                        <m:rPr>
                          <m:sty m:val="p"/>
                        </m:rPr>
                        <a:rPr lang="pt-BR" sz="3200" b="0" i="0" smtClean="0">
                          <a:latin typeface="Cambria Math" panose="02040503050406030204" pitchFamily="18" charset="0"/>
                        </a:rPr>
                        <m:t>o</m:t>
                      </m:r>
                      <m:r>
                        <a:rPr lang="pt-BR" sz="3200" i="1">
                          <a:latin typeface="Cambria Math" panose="02040503050406030204" pitchFamily="18" charset="0"/>
                        </a:rPr>
                        <m:t>=</m:t>
                      </m:r>
                      <m:f>
                        <m:fPr>
                          <m:ctrlPr>
                            <a:rPr lang="pt-BR" sz="3200" i="1">
                              <a:latin typeface="Cambria Math" panose="02040503050406030204" pitchFamily="18" charset="0"/>
                            </a:rPr>
                          </m:ctrlPr>
                        </m:fPr>
                        <m:num>
                          <m:r>
                            <m:rPr>
                              <m:sty m:val="p"/>
                            </m:rPr>
                            <a:rPr lang="pt-BR" sz="3200" b="0" i="0" smtClean="0">
                              <a:latin typeface="Cambria Math" panose="02040503050406030204" pitchFamily="18" charset="0"/>
                            </a:rPr>
                            <m:t>TP</m:t>
                          </m:r>
                        </m:num>
                        <m:den>
                          <m:r>
                            <m:rPr>
                              <m:sty m:val="p"/>
                            </m:rPr>
                            <a:rPr lang="pt-BR" sz="3200" b="0" i="0" smtClean="0">
                              <a:latin typeface="Cambria Math" panose="02040503050406030204" pitchFamily="18" charset="0"/>
                            </a:rPr>
                            <m:t>FP</m:t>
                          </m:r>
                          <m:r>
                            <a:rPr lang="pt-BR" sz="3200" b="0" i="0" smtClean="0">
                              <a:latin typeface="Cambria Math" panose="02040503050406030204" pitchFamily="18" charset="0"/>
                            </a:rPr>
                            <m:t>+</m:t>
                          </m:r>
                          <m:r>
                            <m:rPr>
                              <m:sty m:val="p"/>
                            </m:rPr>
                            <a:rPr lang="pt-BR" sz="3200">
                              <a:latin typeface="Cambria Math" panose="02040503050406030204" pitchFamily="18" charset="0"/>
                            </a:rPr>
                            <m:t>TP</m:t>
                          </m:r>
                        </m:den>
                      </m:f>
                    </m:oMath>
                  </m:oMathPara>
                </a14:m>
                <a:endParaRPr lang="pt-BR" sz="3200" dirty="0"/>
              </a:p>
            </p:txBody>
          </p:sp>
        </mc:Choice>
        <mc:Fallback xmlns="">
          <p:sp>
            <p:nvSpPr>
              <p:cNvPr id="5" name="CaixaDeTexto 4">
                <a:extLst>
                  <a:ext uri="{FF2B5EF4-FFF2-40B4-BE49-F238E27FC236}">
                    <a16:creationId xmlns:a16="http://schemas.microsoft.com/office/drawing/2014/main" id="{1C33F56B-917E-EDAE-B038-52C2901A324E}"/>
                  </a:ext>
                </a:extLst>
              </p:cNvPr>
              <p:cNvSpPr txBox="1">
                <a:spLocks noRot="1" noChangeAspect="1" noMove="1" noResize="1" noEditPoints="1" noAdjustHandles="1" noChangeArrowheads="1" noChangeShapeType="1" noTextEdit="1"/>
              </p:cNvSpPr>
              <p:nvPr/>
            </p:nvSpPr>
            <p:spPr>
              <a:xfrm>
                <a:off x="577143" y="2563651"/>
                <a:ext cx="3939823" cy="1022524"/>
              </a:xfrm>
              <a:prstGeom prst="rect">
                <a:avLst/>
              </a:prstGeom>
              <a:blipFill>
                <a:blip r:embed="rId3"/>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1658531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B64DCA44-CC6E-8998-A693-998426B94AA3}"/>
              </a:ext>
            </a:extLst>
          </p:cNvPr>
          <p:cNvSpPr>
            <a:spLocks noGrp="1"/>
          </p:cNvSpPr>
          <p:nvPr>
            <p:ph type="title"/>
          </p:nvPr>
        </p:nvSpPr>
        <p:spPr/>
        <p:txBody>
          <a:bodyPr/>
          <a:lstStyle/>
          <a:p>
            <a:r>
              <a:rPr lang="pt-BR" dirty="0"/>
              <a:t>F1-</a:t>
            </a:r>
            <a:r>
              <a:rPr lang="pt-BR" i="1" dirty="0"/>
              <a:t>score</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C261D671-8D7F-BF6D-3C19-CFC15A190C23}"/>
                  </a:ext>
                </a:extLst>
              </p:cNvPr>
              <p:cNvSpPr>
                <a:spLocks noGrp="1"/>
              </p:cNvSpPr>
              <p:nvPr>
                <p:ph idx="1"/>
              </p:nvPr>
            </p:nvSpPr>
            <p:spPr>
              <a:xfrm>
                <a:off x="838200" y="1825624"/>
                <a:ext cx="11185187" cy="5032375"/>
              </a:xfrm>
            </p:spPr>
            <p:txBody>
              <a:bodyPr>
                <a:normAutofit/>
              </a:bodyPr>
              <a:lstStyle/>
              <a:p>
                <a:r>
                  <a:rPr lang="pt-BR" dirty="0"/>
                  <a:t>O F1-</a:t>
                </a:r>
                <a:r>
                  <a:rPr lang="pt-BR" i="1" dirty="0"/>
                  <a:t>score</a:t>
                </a:r>
                <a:r>
                  <a:rPr lang="pt-BR" dirty="0"/>
                  <a:t> </a:t>
                </a:r>
                <a:r>
                  <a:rPr lang="pt-BR" b="1" i="1" dirty="0">
                    <a:solidFill>
                      <a:srgbClr val="00B050"/>
                    </a:solidFill>
                  </a:rPr>
                  <a:t>combina as duas métricas </a:t>
                </a:r>
                <a:r>
                  <a:rPr lang="pt-BR" dirty="0"/>
                  <a:t>em uma única.</a:t>
                </a:r>
              </a:p>
              <a:p>
                <a:r>
                  <a:rPr lang="pt-BR" dirty="0"/>
                  <a:t>A métrica </a:t>
                </a:r>
                <a:r>
                  <a:rPr lang="pt-BR" b="1" i="1" dirty="0">
                    <a:solidFill>
                      <a:srgbClr val="00B050"/>
                    </a:solidFill>
                  </a:rPr>
                  <a:t>dá a mesma importância </a:t>
                </a:r>
                <a:r>
                  <a:rPr lang="pt-BR" dirty="0"/>
                  <a:t>à </a:t>
                </a:r>
                <a:r>
                  <a:rPr lang="pt-BR" b="1" i="1" dirty="0"/>
                  <a:t>precisão</a:t>
                </a:r>
                <a:r>
                  <a:rPr lang="pt-BR" dirty="0"/>
                  <a:t> e ao </a:t>
                </a:r>
                <a:r>
                  <a:rPr lang="pt-BR" b="1" i="1" dirty="0"/>
                  <a:t>recall</a:t>
                </a:r>
                <a:r>
                  <a:rPr lang="pt-BR" dirty="0"/>
                  <a:t>.</a:t>
                </a:r>
              </a:p>
              <a:p>
                <a:r>
                  <a:rPr lang="pt-BR" dirty="0"/>
                  <a:t>Valores de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𝐹</m:t>
                        </m:r>
                      </m:e>
                      <m:sub>
                        <m:r>
                          <a:rPr lang="pt-BR" i="1">
                            <a:latin typeface="Cambria Math" panose="02040503050406030204" pitchFamily="18" charset="0"/>
                          </a:rPr>
                          <m:t>1</m:t>
                        </m:r>
                      </m:sub>
                    </m:sSub>
                  </m:oMath>
                </a14:m>
                <a:r>
                  <a:rPr lang="pt-BR" dirty="0"/>
                  <a:t> próximos de 1 indicam que o </a:t>
                </a:r>
                <a:r>
                  <a:rPr lang="pt-BR" b="1" i="1" dirty="0"/>
                  <a:t>classificador</a:t>
                </a:r>
                <a:r>
                  <a:rPr lang="pt-BR" dirty="0"/>
                  <a:t> obteve ótimos resultados tanto de </a:t>
                </a:r>
                <a:r>
                  <a:rPr lang="pt-BR" b="1" i="1" dirty="0"/>
                  <a:t>precisão</a:t>
                </a:r>
                <a:r>
                  <a:rPr lang="pt-BR" dirty="0"/>
                  <a:t> quanto de </a:t>
                </a:r>
                <a:r>
                  <a:rPr lang="pt-BR" b="1" i="1" dirty="0"/>
                  <a:t>recall</a:t>
                </a:r>
                <a:r>
                  <a:rPr lang="pt-BR" dirty="0"/>
                  <a:t>.</a:t>
                </a:r>
              </a:p>
              <a:p>
                <a:r>
                  <a:rPr lang="pt-BR" dirty="0"/>
                  <a:t>Em outras palavras, </a:t>
                </a: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𝐹</m:t>
                        </m:r>
                      </m:e>
                      <m:sub>
                        <m:r>
                          <a:rPr lang="pt-BR" i="1">
                            <a:latin typeface="Cambria Math" panose="02040503050406030204" pitchFamily="18" charset="0"/>
                          </a:rPr>
                          <m:t>1</m:t>
                        </m:r>
                      </m:sub>
                    </m:sSub>
                    <m:r>
                      <a:rPr lang="pt-BR"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1</m:t>
                    </m:r>
                  </m:oMath>
                </a14:m>
                <a:r>
                  <a:rPr lang="pt-BR" dirty="0"/>
                  <a:t> significa que </a:t>
                </a:r>
                <a14:m>
                  <m:oMath xmlns:m="http://schemas.openxmlformats.org/officeDocument/2006/math">
                    <m:r>
                      <m:rPr>
                        <m:sty m:val="p"/>
                      </m:rPr>
                      <a:rPr lang="pt-BR">
                        <a:latin typeface="Cambria Math" panose="02040503050406030204" pitchFamily="18" charset="0"/>
                      </a:rPr>
                      <m:t>FN</m:t>
                    </m:r>
                  </m:oMath>
                </a14:m>
                <a:r>
                  <a:rPr lang="pt-BR" dirty="0">
                    <a:ea typeface="Cambria Math" panose="02040503050406030204" pitchFamily="18" charset="0"/>
                  </a:rPr>
                  <a:t> e </a:t>
                </a:r>
                <a14:m>
                  <m:oMath xmlns:m="http://schemas.openxmlformats.org/officeDocument/2006/math">
                    <m:r>
                      <m:rPr>
                        <m:sty m:val="p"/>
                      </m:rPr>
                      <a:rPr lang="pt-BR">
                        <a:latin typeface="Cambria Math" panose="02040503050406030204" pitchFamily="18" charset="0"/>
                      </a:rPr>
                      <m:t>FP</m:t>
                    </m:r>
                  </m:oMath>
                </a14:m>
                <a:r>
                  <a:rPr lang="pt-BR" dirty="0">
                    <a:ea typeface="Cambria Math" panose="02040503050406030204" pitchFamily="18" charset="0"/>
                  </a:rPr>
                  <a:t> </a:t>
                </a:r>
                <a14:m>
                  <m:oMath xmlns:m="http://schemas.openxmlformats.org/officeDocument/2006/math">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0</m:t>
                    </m:r>
                  </m:oMath>
                </a14:m>
                <a:r>
                  <a:rPr lang="pt-BR" dirty="0"/>
                  <a:t>.</a:t>
                </a:r>
              </a:p>
            </p:txBody>
          </p:sp>
        </mc:Choice>
        <mc:Fallback xmlns="">
          <p:sp>
            <p:nvSpPr>
              <p:cNvPr id="3" name="Espaço Reservado para Conteúdo 2">
                <a:extLst>
                  <a:ext uri="{FF2B5EF4-FFF2-40B4-BE49-F238E27FC236}">
                    <a16:creationId xmlns:a16="http://schemas.microsoft.com/office/drawing/2014/main" id="{C261D671-8D7F-BF6D-3C19-CFC15A190C23}"/>
                  </a:ext>
                </a:extLst>
              </p:cNvPr>
              <p:cNvSpPr>
                <a:spLocks noGrp="1" noRot="1" noChangeAspect="1" noMove="1" noResize="1" noEditPoints="1" noAdjustHandles="1" noChangeArrowheads="1" noChangeShapeType="1" noTextEdit="1"/>
              </p:cNvSpPr>
              <p:nvPr>
                <p:ph idx="1"/>
              </p:nvPr>
            </p:nvSpPr>
            <p:spPr>
              <a:xfrm>
                <a:off x="838200" y="1825624"/>
                <a:ext cx="11185187" cy="5032375"/>
              </a:xfrm>
              <a:blipFill>
                <a:blip r:embed="rId2"/>
                <a:stretch>
                  <a:fillRect l="-981" t="-193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 xmlns:a16="http://schemas.microsoft.com/office/drawing/2014/main" id="{C0A929A7-E33F-6D02-D301-38706DE0743C}"/>
                  </a:ext>
                </a:extLst>
              </p:cNvPr>
              <p:cNvSpPr txBox="1"/>
              <p:nvPr/>
            </p:nvSpPr>
            <p:spPr>
              <a:xfrm>
                <a:off x="1589091" y="4664413"/>
                <a:ext cx="9013818" cy="1418273"/>
              </a:xfrm>
              <a:prstGeom prst="rect">
                <a:avLst/>
              </a:prstGeom>
              <a:noFill/>
            </p:spPr>
            <p:txBody>
              <a:bodyPr wrap="square">
                <a:spAutoFit/>
              </a:bodyPr>
              <a:lstStyle/>
              <a:p>
                <a:pPr marL="0" indent="0" algn="ctr">
                  <a:buNone/>
                </a:pPr>
                <a14:m>
                  <m:oMathPara xmlns:m="http://schemas.openxmlformats.org/officeDocument/2006/math">
                    <m:oMathParaPr>
                      <m:jc m:val="centerGroup"/>
                    </m:oMathParaPr>
                    <m:oMath xmlns:m="http://schemas.openxmlformats.org/officeDocument/2006/math">
                      <m:sSub>
                        <m:sSubPr>
                          <m:ctrlPr>
                            <a:rPr lang="pt-BR" sz="3200" i="1" smtClean="0">
                              <a:latin typeface="Cambria Math" panose="02040503050406030204" pitchFamily="18" charset="0"/>
                            </a:rPr>
                          </m:ctrlPr>
                        </m:sSubPr>
                        <m:e>
                          <m:r>
                            <a:rPr lang="pt-BR" sz="3200" i="1">
                              <a:latin typeface="Cambria Math" panose="02040503050406030204" pitchFamily="18" charset="0"/>
                            </a:rPr>
                            <m:t>𝐹</m:t>
                          </m:r>
                        </m:e>
                        <m:sub>
                          <m:r>
                            <a:rPr lang="pt-BR" sz="3200" b="0" i="1" smtClean="0">
                              <a:latin typeface="Cambria Math" panose="02040503050406030204" pitchFamily="18" charset="0"/>
                            </a:rPr>
                            <m:t>1</m:t>
                          </m:r>
                        </m:sub>
                      </m:sSub>
                      <m:r>
                        <a:rPr lang="pt-BR" sz="3200" i="1">
                          <a:latin typeface="Cambria Math" panose="02040503050406030204" pitchFamily="18" charset="0"/>
                        </a:rPr>
                        <m:t>=</m:t>
                      </m:r>
                      <m:f>
                        <m:fPr>
                          <m:ctrlPr>
                            <a:rPr lang="pt-BR" sz="3200" b="0" i="1" smtClean="0">
                              <a:latin typeface="Cambria Math" panose="02040503050406030204" pitchFamily="18" charset="0"/>
                            </a:rPr>
                          </m:ctrlPr>
                        </m:fPr>
                        <m:num>
                          <m:r>
                            <m:rPr>
                              <m:sty m:val="p"/>
                            </m:rPr>
                            <a:rPr lang="pt-BR" sz="3200" b="0" i="0" smtClean="0">
                              <a:latin typeface="Cambria Math" panose="02040503050406030204" pitchFamily="18" charset="0"/>
                            </a:rPr>
                            <m:t>TP</m:t>
                          </m:r>
                        </m:num>
                        <m:den>
                          <m:r>
                            <m:rPr>
                              <m:sty m:val="p"/>
                            </m:rPr>
                            <a:rPr lang="pt-BR" sz="3200" b="0" i="0" smtClean="0">
                              <a:latin typeface="Cambria Math" panose="02040503050406030204" pitchFamily="18" charset="0"/>
                            </a:rPr>
                            <m:t>TP</m:t>
                          </m:r>
                          <m:r>
                            <a:rPr lang="pt-BR" sz="3200" b="0" i="0" smtClean="0">
                              <a:latin typeface="Cambria Math" panose="02040503050406030204" pitchFamily="18" charset="0"/>
                            </a:rPr>
                            <m:t>+</m:t>
                          </m:r>
                          <m:f>
                            <m:fPr>
                              <m:ctrlPr>
                                <a:rPr lang="pt-BR" sz="3200" b="0" i="1" smtClean="0">
                                  <a:latin typeface="Cambria Math" panose="02040503050406030204" pitchFamily="18" charset="0"/>
                                </a:rPr>
                              </m:ctrlPr>
                            </m:fPr>
                            <m:num>
                              <m:r>
                                <m:rPr>
                                  <m:sty m:val="p"/>
                                </m:rPr>
                                <a:rPr lang="pt-BR" sz="3200" b="0" i="0" smtClean="0">
                                  <a:latin typeface="Cambria Math" panose="02040503050406030204" pitchFamily="18" charset="0"/>
                                </a:rPr>
                                <m:t>FN</m:t>
                              </m:r>
                              <m:r>
                                <a:rPr lang="pt-BR" sz="3200" b="0" i="0" smtClean="0">
                                  <a:latin typeface="Cambria Math" panose="02040503050406030204" pitchFamily="18" charset="0"/>
                                </a:rPr>
                                <m:t>+</m:t>
                              </m:r>
                              <m:r>
                                <m:rPr>
                                  <m:sty m:val="p"/>
                                </m:rPr>
                                <a:rPr lang="pt-BR" sz="3200" b="0" i="0" smtClean="0">
                                  <a:latin typeface="Cambria Math" panose="02040503050406030204" pitchFamily="18" charset="0"/>
                                </a:rPr>
                                <m:t>FP</m:t>
                              </m:r>
                            </m:num>
                            <m:den>
                              <m:r>
                                <a:rPr lang="pt-BR" sz="3200" b="0" i="0" smtClean="0">
                                  <a:latin typeface="Cambria Math" panose="02040503050406030204" pitchFamily="18" charset="0"/>
                                </a:rPr>
                                <m:t>2</m:t>
                              </m:r>
                            </m:den>
                          </m:f>
                        </m:den>
                      </m:f>
                      <m:r>
                        <a:rPr lang="pt-BR" sz="3200" b="0" i="0" smtClean="0">
                          <a:latin typeface="Cambria Math" panose="02040503050406030204" pitchFamily="18" charset="0"/>
                        </a:rPr>
                        <m:t>=2</m:t>
                      </m:r>
                      <m:f>
                        <m:fPr>
                          <m:ctrlPr>
                            <a:rPr lang="pt-BR" sz="3200" b="0" i="1" smtClean="0">
                              <a:latin typeface="Cambria Math" panose="02040503050406030204" pitchFamily="18" charset="0"/>
                            </a:rPr>
                          </m:ctrlPr>
                        </m:fPr>
                        <m:num>
                          <m:r>
                            <m:rPr>
                              <m:sty m:val="p"/>
                            </m:rPr>
                            <a:rPr lang="pt-BR" sz="3200" b="0" i="0" smtClean="0">
                              <a:latin typeface="Cambria Math" panose="02040503050406030204" pitchFamily="18" charset="0"/>
                            </a:rPr>
                            <m:t>precis</m:t>
                          </m:r>
                          <m:r>
                            <a:rPr lang="pt-BR" sz="3200" b="0" i="0" smtClean="0">
                              <a:latin typeface="Cambria Math" panose="02040503050406030204" pitchFamily="18" charset="0"/>
                            </a:rPr>
                            <m:t>ã</m:t>
                          </m:r>
                          <m:r>
                            <m:rPr>
                              <m:sty m:val="p"/>
                            </m:rPr>
                            <a:rPr lang="pt-BR" sz="3200" b="0" i="0" smtClean="0">
                              <a:latin typeface="Cambria Math" panose="02040503050406030204" pitchFamily="18" charset="0"/>
                            </a:rPr>
                            <m:t>o</m:t>
                          </m:r>
                          <m:r>
                            <a:rPr lang="pt-BR" sz="3200" b="0" i="0" smtClean="0">
                              <a:latin typeface="Cambria Math" panose="02040503050406030204" pitchFamily="18" charset="0"/>
                              <a:ea typeface="Cambria Math" panose="02040503050406030204" pitchFamily="18" charset="0"/>
                            </a:rPr>
                            <m:t>×</m:t>
                          </m:r>
                          <m:r>
                            <a:rPr lang="pt-BR" sz="3200" b="0" i="1" smtClean="0">
                              <a:latin typeface="Cambria Math" panose="02040503050406030204" pitchFamily="18" charset="0"/>
                              <a:ea typeface="Cambria Math" panose="02040503050406030204" pitchFamily="18" charset="0"/>
                            </a:rPr>
                            <m:t>𝑟𝑒𝑐𝑎𝑙𝑙</m:t>
                          </m:r>
                        </m:num>
                        <m:den>
                          <m:r>
                            <m:rPr>
                              <m:sty m:val="p"/>
                            </m:rPr>
                            <a:rPr lang="pt-BR" sz="3200" i="0">
                              <a:latin typeface="Cambria Math" panose="02040503050406030204" pitchFamily="18" charset="0"/>
                            </a:rPr>
                            <m:t>precis</m:t>
                          </m:r>
                          <m:r>
                            <a:rPr lang="pt-BR" sz="3200" i="0">
                              <a:latin typeface="Cambria Math" panose="02040503050406030204" pitchFamily="18" charset="0"/>
                            </a:rPr>
                            <m:t>ã</m:t>
                          </m:r>
                          <m:r>
                            <m:rPr>
                              <m:sty m:val="p"/>
                            </m:rPr>
                            <a:rPr lang="pt-BR" sz="3200" i="0">
                              <a:latin typeface="Cambria Math" panose="02040503050406030204" pitchFamily="18" charset="0"/>
                            </a:rPr>
                            <m:t>o</m:t>
                          </m:r>
                          <m:r>
                            <a:rPr lang="pt-BR" sz="3200" b="0" i="0" smtClean="0">
                              <a:latin typeface="Cambria Math" panose="02040503050406030204" pitchFamily="18" charset="0"/>
                            </a:rPr>
                            <m:t>+</m:t>
                          </m:r>
                          <m:r>
                            <a:rPr lang="pt-BR" sz="3200" i="1">
                              <a:latin typeface="Cambria Math" panose="02040503050406030204" pitchFamily="18" charset="0"/>
                              <a:ea typeface="Cambria Math" panose="02040503050406030204" pitchFamily="18" charset="0"/>
                            </a:rPr>
                            <m:t>𝑟𝑒𝑐𝑎𝑙𝑙</m:t>
                          </m:r>
                        </m:den>
                      </m:f>
                      <m:r>
                        <a:rPr lang="pt-BR" sz="3200" b="0" i="0" smtClean="0">
                          <a:latin typeface="Cambria Math" panose="02040503050406030204" pitchFamily="18" charset="0"/>
                        </a:rPr>
                        <m:t>.</m:t>
                      </m:r>
                    </m:oMath>
                  </m:oMathPara>
                </a14:m>
                <a:endParaRPr lang="pt-BR" sz="3200" dirty="0"/>
              </a:p>
            </p:txBody>
          </p:sp>
        </mc:Choice>
        <mc:Fallback xmlns="">
          <p:sp>
            <p:nvSpPr>
              <p:cNvPr id="5" name="CaixaDeTexto 4">
                <a:extLst>
                  <a:ext uri="{FF2B5EF4-FFF2-40B4-BE49-F238E27FC236}">
                    <a16:creationId xmlns:a16="http://schemas.microsoft.com/office/drawing/2014/main" id="{C0A929A7-E33F-6D02-D301-38706DE0743C}"/>
                  </a:ext>
                </a:extLst>
              </p:cNvPr>
              <p:cNvSpPr txBox="1">
                <a:spLocks noRot="1" noChangeAspect="1" noMove="1" noResize="1" noEditPoints="1" noAdjustHandles="1" noChangeArrowheads="1" noChangeShapeType="1" noTextEdit="1"/>
              </p:cNvSpPr>
              <p:nvPr/>
            </p:nvSpPr>
            <p:spPr>
              <a:xfrm>
                <a:off x="1589091" y="4664413"/>
                <a:ext cx="9013818" cy="1418273"/>
              </a:xfrm>
              <a:prstGeom prst="rect">
                <a:avLst/>
              </a:prstGeom>
              <a:blipFill>
                <a:blip r:embed="rId3"/>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2802091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0F418656-538C-BBD9-47FA-40A924A669E5}"/>
                  </a:ext>
                </a:extLst>
              </p:cNvPr>
              <p:cNvSpPr>
                <a:spLocks noGrp="1"/>
              </p:cNvSpPr>
              <p:nvPr>
                <p:ph idx="1"/>
              </p:nvPr>
            </p:nvSpPr>
            <p:spPr>
              <a:xfrm>
                <a:off x="728254" y="2533701"/>
                <a:ext cx="10735491" cy="1790597"/>
              </a:xfrm>
            </p:spPr>
            <p:txBody>
              <a:bodyPr>
                <a:normAutofit/>
              </a:bodyPr>
              <a:lstStyle/>
              <a:p>
                <a:pPr marL="0" indent="0" algn="ctr">
                  <a:buNone/>
                </a:pPr>
                <a:r>
                  <a:rPr lang="pt-BR" sz="4800" b="1" i="1" dirty="0"/>
                  <a:t>OK, consigo calcular as métricas para problemas binários, mas e quando </a:t>
                </a:r>
                <a14:m>
                  <m:oMath xmlns:m="http://schemas.openxmlformats.org/officeDocument/2006/math">
                    <m:r>
                      <a:rPr lang="pt-BR" sz="4800" b="1" i="1" smtClean="0">
                        <a:latin typeface="Cambria Math" panose="02040503050406030204" pitchFamily="18" charset="0"/>
                      </a:rPr>
                      <m:t>𝑸</m:t>
                    </m:r>
                  </m:oMath>
                </a14:m>
                <a:r>
                  <a:rPr lang="pt-BR" sz="4800" b="1" i="1" dirty="0"/>
                  <a:t> &gt; 2?</a:t>
                </a:r>
              </a:p>
            </p:txBody>
          </p:sp>
        </mc:Choice>
        <mc:Fallback xmlns="">
          <p:sp>
            <p:nvSpPr>
              <p:cNvPr id="3" name="Espaço Reservado para Conteúdo 2">
                <a:extLst>
                  <a:ext uri="{FF2B5EF4-FFF2-40B4-BE49-F238E27FC236}">
                    <a16:creationId xmlns:a16="http://schemas.microsoft.com/office/drawing/2014/main" id="{0F418656-538C-BBD9-47FA-40A924A669E5}"/>
                  </a:ext>
                </a:extLst>
              </p:cNvPr>
              <p:cNvSpPr>
                <a:spLocks noGrp="1" noRot="1" noChangeAspect="1" noMove="1" noResize="1" noEditPoints="1" noAdjustHandles="1" noChangeArrowheads="1" noChangeShapeType="1" noTextEdit="1"/>
              </p:cNvSpPr>
              <p:nvPr>
                <p:ph idx="1"/>
              </p:nvPr>
            </p:nvSpPr>
            <p:spPr>
              <a:xfrm>
                <a:off x="728254" y="2533701"/>
                <a:ext cx="10735491" cy="1790597"/>
              </a:xfrm>
              <a:blipFill>
                <a:blip r:embed="rId2"/>
                <a:stretch>
                  <a:fillRect l="-2213" t="-11604" r="-2157"/>
                </a:stretch>
              </a:blipFill>
            </p:spPr>
            <p:txBody>
              <a:bodyPr/>
              <a:lstStyle/>
              <a:p>
                <a:r>
                  <a:rPr lang="pt-BR">
                    <a:noFill/>
                  </a:rPr>
                  <a:t> </a:t>
                </a:r>
              </a:p>
            </p:txBody>
          </p:sp>
        </mc:Fallback>
      </mc:AlternateContent>
    </p:spTree>
    <p:extLst>
      <p:ext uri="{BB962C8B-B14F-4D97-AF65-F5344CB8AC3E}">
        <p14:creationId xmlns:p14="http://schemas.microsoft.com/office/powerpoint/2010/main" val="4050354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mc="http://schemas.openxmlformats.org/markup-compatibility/2006" xmlns:a14="http://schemas.microsoft.com/office/drawing/2010/main" xmlns="" xmlns:a16="http://schemas.microsoft.com/office/drawing/2014/main" id="{8A72D81A-2F34-C6A9-5C62-20408D2DA9BE}"/>
              </a:ext>
            </a:extLst>
          </p:cNvPr>
          <p:cNvSpPr>
            <a:spLocks noGrp="1"/>
          </p:cNvSpPr>
          <p:nvPr>
            <p:ph type="title"/>
          </p:nvPr>
        </p:nvSpPr>
        <p:spPr/>
        <p:txBody>
          <a:bodyPr/>
          <a:lstStyle/>
          <a:p>
            <a:r>
              <a:rPr lang="pt-BR" dirty="0"/>
              <a:t>Matriz de confusão para caso </a:t>
            </a:r>
            <a:r>
              <a:rPr lang="pt-BR" dirty="0" err="1" smtClean="0"/>
              <a:t>multiclasses</a:t>
            </a:r>
            <a:endParaRPr lang="pt-BR" dirty="0"/>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 xmlns:a16="http://schemas.microsoft.com/office/drawing/2014/main" id="{916D7837-06E9-18F8-248E-3EF87E8AD2CF}"/>
                  </a:ext>
                </a:extLst>
              </p:cNvPr>
              <p:cNvSpPr>
                <a:spLocks noGrp="1"/>
              </p:cNvSpPr>
              <p:nvPr>
                <p:ph idx="1"/>
              </p:nvPr>
            </p:nvSpPr>
            <p:spPr>
              <a:xfrm>
                <a:off x="838200" y="1825624"/>
                <a:ext cx="11353800" cy="5032375"/>
              </a:xfrm>
            </p:spPr>
            <p:txBody>
              <a:bodyPr>
                <a:normAutofit/>
              </a:bodyPr>
              <a:lstStyle/>
              <a:p>
                <a:r>
                  <a:rPr lang="pt-BR" dirty="0"/>
                  <a:t>É possível calcular as métricas anteriores para o cenário multiclasses (i.e., </a:t>
                </a:r>
                <a14:m>
                  <m:oMath xmlns:m="http://schemas.openxmlformats.org/officeDocument/2006/math">
                    <m:r>
                      <a:rPr lang="pt-BR" b="0" i="1" smtClean="0">
                        <a:latin typeface="Cambria Math" panose="02040503050406030204" pitchFamily="18" charset="0"/>
                      </a:rPr>
                      <m:t>𝑄</m:t>
                    </m:r>
                    <m:r>
                      <a:rPr lang="pt-BR" b="0" i="1" smtClean="0">
                        <a:latin typeface="Cambria Math" panose="02040503050406030204" pitchFamily="18" charset="0"/>
                      </a:rPr>
                      <m:t>&gt;2</m:t>
                    </m:r>
                  </m:oMath>
                </a14:m>
                <a:r>
                  <a:rPr lang="pt-BR" dirty="0" smtClean="0"/>
                  <a:t>).</a:t>
                </a:r>
                <a:endParaRPr lang="pt-BR" dirty="0"/>
              </a:p>
              <a:p>
                <a:r>
                  <a:rPr lang="pt-BR" dirty="0"/>
                  <a:t>Para isso, basta selecionar </a:t>
                </a:r>
                <a:r>
                  <a:rPr lang="pt-BR" b="1" dirty="0"/>
                  <a:t>uma classe por vez </a:t>
                </a:r>
                <a:r>
                  <a:rPr lang="pt-BR" dirty="0"/>
                  <a:t>como sendo a </a:t>
                </a:r>
                <a:r>
                  <a:rPr lang="pt-BR" b="1" dirty="0" smtClean="0"/>
                  <a:t>positiva</a:t>
                </a:r>
                <a:r>
                  <a:rPr lang="pt-BR" dirty="0"/>
                  <a:t>, enquanto todas </a:t>
                </a:r>
                <a:r>
                  <a:rPr lang="pt-BR" b="1" dirty="0"/>
                  <a:t>as demais classes formam a classe negativa</a:t>
                </a:r>
                <a:r>
                  <a:rPr lang="pt-BR" dirty="0" smtClean="0"/>
                  <a:t>.</a:t>
                </a:r>
                <a:endParaRPr lang="pt-BR" dirty="0"/>
              </a:p>
              <a:p>
                <a:pPr lvl="1">
                  <a:buFont typeface="Wingdings" panose="05000000000000000000" pitchFamily="2" charset="2"/>
                  <a:buChar char="§"/>
                </a:pPr>
                <a:r>
                  <a:rPr lang="pt-BR" dirty="0" smtClean="0"/>
                  <a:t>A e</a:t>
                </a:r>
                <a:r>
                  <a:rPr lang="pt-BR" dirty="0" smtClean="0"/>
                  <a:t>stratégia aqui é a </a:t>
                </a:r>
                <a:r>
                  <a:rPr lang="pt-BR" b="1" i="1" dirty="0">
                    <a:solidFill>
                      <a:srgbClr val="00B050"/>
                    </a:solidFill>
                  </a:rPr>
                  <a:t>um-contra-o-resto</a:t>
                </a:r>
                <a:r>
                  <a:rPr lang="pt-BR" dirty="0"/>
                  <a:t>.</a:t>
                </a:r>
              </a:p>
              <a:p>
                <a:pPr lvl="1">
                  <a:buFont typeface="Wingdings" panose="05000000000000000000" pitchFamily="2" charset="2"/>
                  <a:buChar char="§"/>
                </a:pPr>
                <a:r>
                  <a:rPr lang="pt-BR" dirty="0"/>
                  <a:t>Ou seja, transformamos um problema com </a:t>
                </a:r>
                <a14:m>
                  <m:oMath xmlns:m="http://schemas.openxmlformats.org/officeDocument/2006/math">
                    <m:r>
                      <a:rPr lang="pt-BR">
                        <a:latin typeface="Cambria Math" panose="02040503050406030204" pitchFamily="18" charset="0"/>
                      </a:rPr>
                      <m:t>𝑸</m:t>
                    </m:r>
                  </m:oMath>
                </a14:m>
                <a:r>
                  <a:rPr lang="pt-BR" dirty="0"/>
                  <a:t> classes em </a:t>
                </a:r>
                <a14:m>
                  <m:oMath xmlns:m="http://schemas.openxmlformats.org/officeDocument/2006/math">
                    <m:r>
                      <a:rPr lang="pt-BR">
                        <a:latin typeface="Cambria Math" panose="02040503050406030204" pitchFamily="18" charset="0"/>
                      </a:rPr>
                      <m:t>𝑸</m:t>
                    </m:r>
                  </m:oMath>
                </a14:m>
                <a:r>
                  <a:rPr lang="pt-BR" dirty="0"/>
                  <a:t> problemas </a:t>
                </a:r>
                <a:r>
                  <a:rPr lang="pt-BR" dirty="0" smtClean="0"/>
                  <a:t>binários.</a:t>
                </a:r>
              </a:p>
              <a:p>
                <a:pPr lvl="1">
                  <a:buFont typeface="Wingdings" panose="05000000000000000000" pitchFamily="2" charset="2"/>
                  <a:buChar char="§"/>
                </a:pPr>
                <a:r>
                  <a:rPr lang="pt-BR" dirty="0" smtClean="0"/>
                  <a:t>Assim</a:t>
                </a:r>
                <a:r>
                  <a:rPr lang="pt-BR" dirty="0"/>
                  <a:t>, passamos a ter </a:t>
                </a:r>
                <a:r>
                  <a:rPr lang="pt-BR" dirty="0">
                    <a:solidFill>
                      <a:schemeClr val="accent2"/>
                    </a:solidFill>
                  </a:rPr>
                  <a:t>𝑸 </a:t>
                </a:r>
                <a:r>
                  <a:rPr lang="pt-BR" b="1" dirty="0">
                    <a:solidFill>
                      <a:schemeClr val="accent2"/>
                    </a:solidFill>
                  </a:rPr>
                  <a:t>matrizes de confusão binárias, uma para cada classe sendo a classe positiva</a:t>
                </a:r>
                <a:r>
                  <a:rPr lang="pt-BR" b="1" dirty="0" smtClean="0">
                    <a:solidFill>
                      <a:schemeClr val="accent2"/>
                    </a:solidFill>
                  </a:rPr>
                  <a:t>.</a:t>
                </a:r>
                <a:endParaRPr lang="pt-BR" dirty="0">
                  <a:solidFill>
                    <a:schemeClr val="accent2"/>
                  </a:solidFill>
                </a:endParaRPr>
              </a:p>
              <a:p>
                <a:r>
                  <a:rPr lang="pt-BR" dirty="0" smtClean="0"/>
                  <a:t>Desta forma, </a:t>
                </a:r>
                <a:r>
                  <a:rPr lang="pt-BR" dirty="0"/>
                  <a:t>obtém-se os valores das </a:t>
                </a:r>
                <a:r>
                  <a:rPr lang="pt-BR" b="1" i="1" dirty="0">
                    <a:solidFill>
                      <a:srgbClr val="00B050"/>
                    </a:solidFill>
                  </a:rPr>
                  <a:t>métricas </a:t>
                </a:r>
                <a:r>
                  <a:rPr lang="pt-BR" b="1" i="1" dirty="0" smtClean="0">
                    <a:solidFill>
                      <a:srgbClr val="00B050"/>
                    </a:solidFill>
                  </a:rPr>
                  <a:t>(TP, TN, FP, FN) para </a:t>
                </a:r>
                <a:r>
                  <a:rPr lang="pt-BR" b="1" i="1" dirty="0">
                    <a:solidFill>
                      <a:srgbClr val="00B050"/>
                    </a:solidFill>
                  </a:rPr>
                  <a:t>cada uma das </a:t>
                </a:r>
                <a14:m>
                  <m:oMath xmlns:m="http://schemas.openxmlformats.org/officeDocument/2006/math">
                    <m:r>
                      <a:rPr lang="pt-BR" b="1" i="1">
                        <a:solidFill>
                          <a:srgbClr val="00B050"/>
                        </a:solidFill>
                        <a:latin typeface="Cambria Math" panose="02040503050406030204" pitchFamily="18" charset="0"/>
                      </a:rPr>
                      <m:t>𝑸</m:t>
                    </m:r>
                  </m:oMath>
                </a14:m>
                <a:r>
                  <a:rPr lang="pt-BR" b="1" i="1" dirty="0">
                    <a:solidFill>
                      <a:srgbClr val="00B050"/>
                    </a:solidFill>
                  </a:rPr>
                  <a:t> classes</a:t>
                </a:r>
                <a:r>
                  <a:rPr lang="pt-BR" dirty="0"/>
                  <a:t>.</a:t>
                </a:r>
              </a:p>
              <a:p>
                <a:r>
                  <a:rPr lang="pt-BR" dirty="0"/>
                  <a:t>Vejamos um exemplo para </a:t>
                </a:r>
                <a14:m>
                  <m:oMath xmlns:m="http://schemas.openxmlformats.org/officeDocument/2006/math">
                    <m:r>
                      <a:rPr lang="pt-BR" i="1">
                        <a:latin typeface="Cambria Math" panose="02040503050406030204" pitchFamily="18" charset="0"/>
                      </a:rPr>
                      <m:t>𝑄</m:t>
                    </m:r>
                    <m:r>
                      <a:rPr lang="pt-BR" b="0" i="1" smtClean="0">
                        <a:latin typeface="Cambria Math" panose="02040503050406030204" pitchFamily="18" charset="0"/>
                      </a:rPr>
                      <m:t>=3</m:t>
                    </m:r>
                  </m:oMath>
                </a14:m>
                <a:r>
                  <a:rPr lang="pt-BR" dirty="0"/>
                  <a:t>, ou seja,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1</m:t>
                        </m:r>
                      </m:sub>
                    </m:sSub>
                  </m:oMath>
                </a14:m>
                <a:r>
                  <a:rPr lang="pt-BR" dirty="0"/>
                  <a:t>,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2</m:t>
                        </m:r>
                      </m:sub>
                    </m:sSub>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3</m:t>
                        </m:r>
                      </m:sub>
                    </m:sSub>
                  </m:oMath>
                </a14:m>
                <a:r>
                  <a:rPr lang="pt-BR" dirty="0"/>
                  <a:t>.</a:t>
                </a:r>
              </a:p>
            </p:txBody>
          </p:sp>
        </mc:Choice>
        <mc:Fallback>
          <p:sp>
            <p:nvSpPr>
              <p:cNvPr id="3" name="Espaço Reservado para Conteúdo 2">
                <a:extLst>
                  <a:ext uri="{FF2B5EF4-FFF2-40B4-BE49-F238E27FC236}">
                    <a16:creationId xmlns="" xmlns:a16="http://schemas.microsoft.com/office/drawing/2014/main" xmlns:a14="http://schemas.microsoft.com/office/drawing/2010/main" id="{916D7837-06E9-18F8-248E-3EF87E8AD2CF}"/>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rotWithShape="0">
                <a:blip r:embed="rId2"/>
                <a:stretch>
                  <a:fillRect l="-967" t="-1937"/>
                </a:stretch>
              </a:blipFill>
            </p:spPr>
            <p:txBody>
              <a:bodyPr/>
              <a:lstStyle/>
              <a:p>
                <a:r>
                  <a:rPr lang="pt-BR">
                    <a:noFill/>
                  </a:rPr>
                  <a:t> </a:t>
                </a:r>
              </a:p>
            </p:txBody>
          </p:sp>
        </mc:Fallback>
      </mc:AlternateContent>
    </p:spTree>
    <p:extLst>
      <p:ext uri="{BB962C8B-B14F-4D97-AF65-F5344CB8AC3E}">
        <p14:creationId xmlns:p14="http://schemas.microsoft.com/office/powerpoint/2010/main" val="373657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 xmlns:a16="http://schemas.microsoft.com/office/drawing/2014/main" id="{44F6D18B-0399-55B9-FD83-C7EDF77FF08A}"/>
                  </a:ext>
                </a:extLst>
              </p:cNvPr>
              <p:cNvSpPr>
                <a:spLocks noGrp="1"/>
              </p:cNvSpPr>
              <p:nvPr>
                <p:ph type="title"/>
              </p:nvPr>
            </p:nvSpPr>
            <p:spPr>
              <a:xfrm>
                <a:off x="838200" y="365125"/>
                <a:ext cx="10789356" cy="1325563"/>
              </a:xfrm>
            </p:spPr>
            <p:txBody>
              <a:bodyPr/>
              <a:lstStyle/>
              <a:p>
                <a:r>
                  <a:rPr lang="pt-BR" dirty="0"/>
                  <a:t>Matriz de confusão para caso multiclasses (</a:t>
                </a:r>
                <a14:m>
                  <m:oMath xmlns:m="http://schemas.openxmlformats.org/officeDocument/2006/math">
                    <m:r>
                      <a:rPr lang="pt-BR" b="0" i="1" smtClean="0">
                        <a:latin typeface="Cambria Math" panose="02040503050406030204" pitchFamily="18" charset="0"/>
                      </a:rPr>
                      <m:t>𝑄</m:t>
                    </m:r>
                    <m:r>
                      <a:rPr lang="pt-BR" b="0" i="0" smtClean="0">
                        <a:latin typeface="Cambria Math" panose="02040503050406030204" pitchFamily="18" charset="0"/>
                      </a:rPr>
                      <m:t>=3</m:t>
                    </m:r>
                  </m:oMath>
                </a14:m>
                <a:r>
                  <a:rPr lang="pt-BR" dirty="0"/>
                  <a:t>)</a:t>
                </a:r>
              </a:p>
            </p:txBody>
          </p:sp>
        </mc:Choice>
        <mc:Fallback xmlns="">
          <p:sp>
            <p:nvSpPr>
              <p:cNvPr id="2" name="Título 1">
                <a:extLst>
                  <a:ext uri="{FF2B5EF4-FFF2-40B4-BE49-F238E27FC236}">
                    <a16:creationId xmlns:a16="http://schemas.microsoft.com/office/drawing/2014/main" id="{44F6D18B-0399-55B9-FD83-C7EDF77FF08A}"/>
                  </a:ext>
                </a:extLst>
              </p:cNvPr>
              <p:cNvSpPr>
                <a:spLocks noGrp="1" noRot="1" noChangeAspect="1" noMove="1" noResize="1" noEditPoints="1" noAdjustHandles="1" noChangeArrowheads="1" noChangeShapeType="1" noTextEdit="1"/>
              </p:cNvSpPr>
              <p:nvPr>
                <p:ph type="title"/>
              </p:nvPr>
            </p:nvSpPr>
            <p:spPr>
              <a:xfrm>
                <a:off x="838200" y="365125"/>
                <a:ext cx="10789356" cy="1325563"/>
              </a:xfrm>
              <a:blipFill>
                <a:blip r:embed="rId3"/>
                <a:stretch>
                  <a:fillRect l="-2318" t="-13364" b="-21198"/>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graphicFrame>
            <p:nvGraphicFramePr>
              <p:cNvPr id="4" name="Table 3">
                <a:extLst>
                  <a:ext uri="{FF2B5EF4-FFF2-40B4-BE49-F238E27FC236}">
                    <a16:creationId xmlns="" xmlns:a16="http://schemas.microsoft.com/office/drawing/2014/main" id="{08325068-7110-8CDE-99D3-4E05F625B769}"/>
                  </a:ext>
                </a:extLst>
              </p:cNvPr>
              <p:cNvGraphicFramePr>
                <a:graphicFrameLocks noGrp="1"/>
              </p:cNvGraphicFramePr>
              <p:nvPr>
                <p:extLst/>
              </p:nvPr>
            </p:nvGraphicFramePr>
            <p:xfrm>
              <a:off x="200301" y="2500290"/>
              <a:ext cx="6494749" cy="2933897"/>
            </p:xfrm>
            <a:graphic>
              <a:graphicData uri="http://schemas.openxmlformats.org/drawingml/2006/table">
                <a:tbl>
                  <a:tblPr/>
                  <a:tblGrid>
                    <a:gridCol w="1110811">
                      <a:extLst>
                        <a:ext uri="{9D8B030D-6E8A-4147-A177-3AD203B41FA5}">
                          <a16:colId xmlns="" xmlns:a16="http://schemas.microsoft.com/office/drawing/2014/main" val="20000"/>
                        </a:ext>
                      </a:extLst>
                    </a:gridCol>
                    <a:gridCol w="787519">
                      <a:extLst>
                        <a:ext uri="{9D8B030D-6E8A-4147-A177-3AD203B41FA5}">
                          <a16:colId xmlns="" xmlns:a16="http://schemas.microsoft.com/office/drawing/2014/main" val="20001"/>
                        </a:ext>
                      </a:extLst>
                    </a:gridCol>
                    <a:gridCol w="1554434">
                      <a:extLst>
                        <a:ext uri="{9D8B030D-6E8A-4147-A177-3AD203B41FA5}">
                          <a16:colId xmlns="" xmlns:a16="http://schemas.microsoft.com/office/drawing/2014/main" val="20002"/>
                        </a:ext>
                      </a:extLst>
                    </a:gridCol>
                    <a:gridCol w="1580916">
                      <a:extLst>
                        <a:ext uri="{9D8B030D-6E8A-4147-A177-3AD203B41FA5}">
                          <a16:colId xmlns="" xmlns:a16="http://schemas.microsoft.com/office/drawing/2014/main" val="20003"/>
                        </a:ext>
                      </a:extLst>
                    </a:gridCol>
                    <a:gridCol w="1461069">
                      <a:extLst>
                        <a:ext uri="{9D8B030D-6E8A-4147-A177-3AD203B41FA5}">
                          <a16:colId xmlns="" xmlns:a16="http://schemas.microsoft.com/office/drawing/2014/main" val="20004"/>
                        </a:ext>
                      </a:extLst>
                    </a:gridCol>
                  </a:tblGrid>
                  <a:tr h="698713">
                    <a:tc rowSpan="3">
                      <a:txBody>
                        <a:bodyPr/>
                        <a:lstStyle/>
                        <a:p>
                          <a:pPr algn="ctr" rtl="0" fontAlgn="ctr"/>
                          <a:r>
                            <a:rPr lang="pt-BR" sz="1800" b="1" dirty="0">
                              <a:effectLst/>
                            </a:rPr>
                            <a:t>Classes </a:t>
                          </a:r>
                          <a:br>
                            <a:rPr lang="pt-BR" sz="1800" b="1" dirty="0">
                              <a:effectLst/>
                            </a:rPr>
                          </a:br>
                          <a:r>
                            <a:rPr lang="pt-BR" sz="1800" b="1" dirty="0">
                              <a:effectLst/>
                            </a:rPr>
                            <a:t>Preditas</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a:latin typeface="Cambria Math" panose="02040503050406030204" pitchFamily="18" charset="0"/>
                                    </a:rPr>
                                    <m:t>1</m:t>
                                  </m:r>
                                </m:sub>
                              </m:sSub>
                            </m:oMath>
                          </a14:m>
                          <a:r>
                            <a:rPr lang="pt-BR" sz="1800" b="0" dirty="0">
                              <a:effectLst/>
                            </a:rPr>
                            <a:t>)</a:t>
                          </a:r>
                          <a:endParaRPr lang="pt-BR" sz="1800" b="1" dirty="0">
                            <a:effectLst/>
                          </a:endParaRP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800" b="1" dirty="0">
                              <a:solidFill>
                                <a:srgbClr val="00FF00"/>
                              </a:solidFill>
                              <a:effectLst/>
                              <a:latin typeface="Calibri" panose="020F0502020204030204" pitchFamily="34" charset="0"/>
                            </a:rPr>
                            <a:t>Verdadeiros </a:t>
                          </a:r>
                          <a:br>
                            <a:rPr lang="pt-BR" sz="1800" b="1" dirty="0">
                              <a:solidFill>
                                <a:srgbClr val="00FF00"/>
                              </a:solidFill>
                              <a:effectLst/>
                              <a:latin typeface="Calibri" panose="020F0502020204030204" pitchFamily="34" charset="0"/>
                            </a:rPr>
                          </a:br>
                          <a:r>
                            <a:rPr lang="pt-BR" sz="1800" b="1" dirty="0">
                              <a:solidFill>
                                <a:srgbClr val="00FF00"/>
                              </a:solidFill>
                              <a:effectLst/>
                              <a:latin typeface="Calibri" panose="020F0502020204030204" pitchFamily="34" charset="0"/>
                            </a:rPr>
                            <a:t>Positivos (TP)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0000FF"/>
                              </a:solidFill>
                              <a:effectLst/>
                              <a:latin typeface="Calibri" panose="020F0502020204030204" pitchFamily="34" charset="0"/>
                            </a:rPr>
                            <a:t>Falsos </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Positivos (FP)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0000FF"/>
                              </a:solidFill>
                              <a:effectLst/>
                              <a:latin typeface="Calibri" panose="020F0502020204030204" pitchFamily="34" charset="0"/>
                            </a:rPr>
                            <a:t>Falsos </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Positivos (FP)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698713">
                    <a:tc vMerge="1">
                      <a:txBody>
                        <a:bodyPr/>
                        <a:lstStyle/>
                        <a:p>
                          <a:endParaRPr lang="pt-BR"/>
                        </a:p>
                      </a:txBody>
                      <a:tcPr/>
                    </a:tc>
                    <a:tc>
                      <a:txBody>
                        <a:bodyPr/>
                        <a:lstStyle/>
                        <a:p>
                          <a:pPr algn="ctr" rtl="0" fontAlgn="ctr"/>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2</m:t>
                                  </m:r>
                                </m:sub>
                              </m:sSub>
                            </m:oMath>
                          </a14:m>
                          <a:r>
                            <a:rPr lang="pt-BR" sz="1800" b="0" dirty="0">
                              <a:effectLst/>
                            </a:rPr>
                            <a:t>)</a:t>
                          </a:r>
                          <a:endParaRPr lang="pt-BR" sz="1800" b="1" dirty="0">
                            <a:effectLst/>
                          </a:endParaRP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800" b="1" dirty="0">
                              <a:solidFill>
                                <a:srgbClr val="0000FF"/>
                              </a:solidFill>
                              <a:effectLst/>
                              <a:latin typeface="Calibri" panose="020F0502020204030204" pitchFamily="34" charset="0"/>
                            </a:rPr>
                            <a:t>Falsos</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Negativos (FN)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698713">
                    <a:tc vMerge="1">
                      <a:txBody>
                        <a:bodyPr/>
                        <a:lstStyle/>
                        <a:p>
                          <a:endParaRPr lang="pt-BR"/>
                        </a:p>
                      </a:txBody>
                      <a:tcPr/>
                    </a:tc>
                    <a:tc>
                      <a:txBody>
                        <a:bodyPr/>
                        <a:lstStyle/>
                        <a:p>
                          <a:pPr algn="ctr" rtl="0" fontAlgn="ctr"/>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3</m:t>
                                  </m:r>
                                </m:sub>
                              </m:sSub>
                            </m:oMath>
                          </a14:m>
                          <a:r>
                            <a:rPr lang="pt-BR" sz="1800" b="0" dirty="0">
                              <a:effectLst/>
                            </a:rPr>
                            <a:t>)</a:t>
                          </a:r>
                          <a:endParaRPr lang="pt-BR" sz="1800" b="1" dirty="0">
                            <a:effectLst/>
                          </a:endParaRP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800" b="1" dirty="0">
                              <a:solidFill>
                                <a:srgbClr val="0000FF"/>
                              </a:solidFill>
                              <a:effectLst/>
                              <a:latin typeface="Calibri" panose="020F0502020204030204" pitchFamily="34" charset="0"/>
                            </a:rPr>
                            <a:t>Falsos</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Negativos (FN)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418879">
                    <a:tc rowSpan="2" gridSpan="2">
                      <a:txBody>
                        <a:bodyPr/>
                        <a:lstStyle/>
                        <a:p>
                          <a:pPr rtl="0" fontAlgn="b"/>
                          <a:endParaRPr lang="pt-BR" sz="18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a:txBody>
                        <a:bodyPr/>
                        <a:lstStyle/>
                        <a:p>
                          <a:pPr algn="ctr" rtl="0" fontAlgn="b"/>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a:latin typeface="Cambria Math" panose="02040503050406030204" pitchFamily="18" charset="0"/>
                                    </a:rPr>
                                    <m:t>1</m:t>
                                  </m:r>
                                </m:sub>
                              </m:sSub>
                            </m:oMath>
                          </a14:m>
                          <a:r>
                            <a:rPr lang="pt-BR" sz="1800" b="0" dirty="0">
                              <a:effectLst/>
                            </a:rPr>
                            <a: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2</m:t>
                                  </m:r>
                                </m:sub>
                              </m:sSub>
                            </m:oMath>
                          </a14:m>
                          <a:r>
                            <a:rPr lang="pt-BR" sz="1800" b="0" dirty="0">
                              <a:effectLst/>
                            </a:rPr>
                            <a:t>)</a:t>
                          </a:r>
                          <a:endParaRPr lang="pt-BR" sz="1800" b="1"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3</m:t>
                                  </m:r>
                                </m:sub>
                              </m:sSub>
                            </m:oMath>
                          </a14:m>
                          <a:r>
                            <a:rPr lang="pt-BR" sz="1800" b="0" dirty="0">
                              <a:effectLst/>
                            </a:rPr>
                            <a:t>)</a:t>
                          </a:r>
                          <a:endParaRPr lang="pt-BR" sz="1800" b="1"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 xmlns:a16="http://schemas.microsoft.com/office/drawing/2014/main" val="10003"/>
                      </a:ext>
                    </a:extLst>
                  </a:tr>
                  <a:tr h="418879">
                    <a:tc gridSpan="2" vMerge="1">
                      <a:txBody>
                        <a:bodyPr/>
                        <a:lstStyle/>
                        <a:p>
                          <a:endParaRPr lang="pt-BR"/>
                        </a:p>
                      </a:txBody>
                      <a:tcPr/>
                    </a:tc>
                    <a:tc hMerge="1" vMerge="1">
                      <a:txBody>
                        <a:bodyPr/>
                        <a:lstStyle/>
                        <a:p>
                          <a:endParaRPr lang="pt-BR"/>
                        </a:p>
                      </a:txBody>
                      <a:tcPr/>
                    </a:tc>
                    <a:tc gridSpan="3">
                      <a:txBody>
                        <a:bodyPr/>
                        <a:lstStyle/>
                        <a:p>
                          <a:pPr algn="ctr" rtl="0" fontAlgn="b"/>
                          <a:r>
                            <a:rPr lang="pt-BR" sz="1800" b="1" dirty="0">
                              <a:effectLst/>
                            </a:rPr>
                            <a:t>Classes Verdadeiras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extLst>
                      <a:ext uri="{0D108BD9-81ED-4DB2-BD59-A6C34878D82A}">
                        <a16:rowId xmlns="" xmlns:a16="http://schemas.microsoft.com/office/drawing/2014/main" val="10004"/>
                      </a:ext>
                    </a:extLst>
                  </a:tr>
                </a:tbl>
              </a:graphicData>
            </a:graphic>
          </p:graphicFrame>
        </mc:Choice>
        <mc:Fallback>
          <p:graphicFrame>
            <p:nvGraphicFramePr>
              <p:cNvPr id="4" name="Table 3">
                <a:extLst>
                  <a:ext uri="{FF2B5EF4-FFF2-40B4-BE49-F238E27FC236}">
                    <a16:creationId xmlns="" xmlns:a16="http://schemas.microsoft.com/office/drawing/2014/main" xmlns:a14="http://schemas.microsoft.com/office/drawing/2010/main" id="{08325068-7110-8CDE-99D3-4E05F625B769}"/>
                  </a:ext>
                </a:extLst>
              </p:cNvPr>
              <p:cNvGraphicFramePr>
                <a:graphicFrameLocks noGrp="1"/>
              </p:cNvGraphicFramePr>
              <p:nvPr>
                <p:extLst/>
              </p:nvPr>
            </p:nvGraphicFramePr>
            <p:xfrm>
              <a:off x="200301" y="2500290"/>
              <a:ext cx="6494749" cy="2933897"/>
            </p:xfrm>
            <a:graphic>
              <a:graphicData uri="http://schemas.openxmlformats.org/drawingml/2006/table">
                <a:tbl>
                  <a:tblPr/>
                  <a:tblGrid>
                    <a:gridCol w="1110811">
                      <a:extLst>
                        <a:ext uri="{9D8B030D-6E8A-4147-A177-3AD203B41FA5}">
                          <a16:colId xmlns="" xmlns:a16="http://schemas.microsoft.com/office/drawing/2014/main" xmlns:a14="http://schemas.microsoft.com/office/drawing/2010/main" val="20000"/>
                        </a:ext>
                      </a:extLst>
                    </a:gridCol>
                    <a:gridCol w="787519">
                      <a:extLst>
                        <a:ext uri="{9D8B030D-6E8A-4147-A177-3AD203B41FA5}">
                          <a16:colId xmlns="" xmlns:a16="http://schemas.microsoft.com/office/drawing/2014/main" xmlns:a14="http://schemas.microsoft.com/office/drawing/2010/main" val="20001"/>
                        </a:ext>
                      </a:extLst>
                    </a:gridCol>
                    <a:gridCol w="1554434">
                      <a:extLst>
                        <a:ext uri="{9D8B030D-6E8A-4147-A177-3AD203B41FA5}">
                          <a16:colId xmlns="" xmlns:a16="http://schemas.microsoft.com/office/drawing/2014/main" xmlns:a14="http://schemas.microsoft.com/office/drawing/2010/main" val="20002"/>
                        </a:ext>
                      </a:extLst>
                    </a:gridCol>
                    <a:gridCol w="1580916">
                      <a:extLst>
                        <a:ext uri="{9D8B030D-6E8A-4147-A177-3AD203B41FA5}">
                          <a16:colId xmlns="" xmlns:a16="http://schemas.microsoft.com/office/drawing/2014/main" xmlns:a14="http://schemas.microsoft.com/office/drawing/2010/main" val="20003"/>
                        </a:ext>
                      </a:extLst>
                    </a:gridCol>
                    <a:gridCol w="1461069">
                      <a:extLst>
                        <a:ext uri="{9D8B030D-6E8A-4147-A177-3AD203B41FA5}">
                          <a16:colId xmlns="" xmlns:a16="http://schemas.microsoft.com/office/drawing/2014/main" xmlns:a14="http://schemas.microsoft.com/office/drawing/2010/main" val="20004"/>
                        </a:ext>
                      </a:extLst>
                    </a:gridCol>
                  </a:tblGrid>
                  <a:tr h="698713">
                    <a:tc rowSpan="3">
                      <a:txBody>
                        <a:bodyPr/>
                        <a:lstStyle/>
                        <a:p>
                          <a:pPr algn="ctr" rtl="0" fontAlgn="ctr"/>
                          <a:r>
                            <a:rPr lang="pt-BR" sz="1800" b="1" dirty="0">
                              <a:effectLst/>
                            </a:rPr>
                            <a:t>Classes </a:t>
                          </a:r>
                          <a:br>
                            <a:rPr lang="pt-BR" sz="1800" b="1" dirty="0">
                              <a:effectLst/>
                            </a:rPr>
                          </a:br>
                          <a:r>
                            <a:rPr lang="pt-BR" sz="1800" b="1" dirty="0">
                              <a:effectLst/>
                            </a:rPr>
                            <a:t>Preditas</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endParaRPr lang="pt-B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4"/>
                          <a:stretch>
                            <a:fillRect l="-140000" t="-870" r="-582308" b="-336522"/>
                          </a:stretch>
                        </a:blipFill>
                      </a:tcPr>
                    </a:tc>
                    <a:tc>
                      <a:txBody>
                        <a:bodyPr/>
                        <a:lstStyle/>
                        <a:p>
                          <a:pPr algn="ctr" rtl="0" fontAlgn="b"/>
                          <a:r>
                            <a:rPr lang="pt-BR" sz="1800" b="1" dirty="0">
                              <a:solidFill>
                                <a:srgbClr val="00FF00"/>
                              </a:solidFill>
                              <a:effectLst/>
                              <a:latin typeface="Calibri" panose="020F0502020204030204" pitchFamily="34" charset="0"/>
                            </a:rPr>
                            <a:t>Verdadeiros </a:t>
                          </a:r>
                          <a:br>
                            <a:rPr lang="pt-BR" sz="1800" b="1" dirty="0">
                              <a:solidFill>
                                <a:srgbClr val="00FF00"/>
                              </a:solidFill>
                              <a:effectLst/>
                              <a:latin typeface="Calibri" panose="020F0502020204030204" pitchFamily="34" charset="0"/>
                            </a:rPr>
                          </a:br>
                          <a:r>
                            <a:rPr lang="pt-BR" sz="1800" b="1" dirty="0">
                              <a:solidFill>
                                <a:srgbClr val="00FF00"/>
                              </a:solidFill>
                              <a:effectLst/>
                              <a:latin typeface="Calibri" panose="020F0502020204030204" pitchFamily="34" charset="0"/>
                            </a:rPr>
                            <a:t>Positivos (TP)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0000FF"/>
                              </a:solidFill>
                              <a:effectLst/>
                              <a:latin typeface="Calibri" panose="020F0502020204030204" pitchFamily="34" charset="0"/>
                            </a:rPr>
                            <a:t>Falsos </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Positivos (FP)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0000FF"/>
                              </a:solidFill>
                              <a:effectLst/>
                              <a:latin typeface="Calibri" panose="020F0502020204030204" pitchFamily="34" charset="0"/>
                            </a:rPr>
                            <a:t>Falsos </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Positivos (FP)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0"/>
                      </a:ext>
                    </a:extLst>
                  </a:tr>
                  <a:tr h="698713">
                    <a:tc vMerge="1">
                      <a:txBody>
                        <a:bodyPr/>
                        <a:lstStyle/>
                        <a:p>
                          <a:endParaRPr lang="pt-BR"/>
                        </a:p>
                      </a:txBody>
                      <a:tcPr/>
                    </a:tc>
                    <a:tc>
                      <a:txBody>
                        <a:bodyPr/>
                        <a:lstStyle/>
                        <a:p>
                          <a:endParaRPr lang="pt-B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4"/>
                          <a:stretch>
                            <a:fillRect l="-140000" t="-100870" r="-582308" b="-236522"/>
                          </a:stretch>
                        </a:blipFill>
                      </a:tcPr>
                    </a:tc>
                    <a:tc>
                      <a:txBody>
                        <a:bodyPr/>
                        <a:lstStyle/>
                        <a:p>
                          <a:pPr algn="ctr" rtl="0" fontAlgn="b"/>
                          <a:r>
                            <a:rPr lang="pt-BR" sz="1800" b="1" dirty="0">
                              <a:solidFill>
                                <a:srgbClr val="0000FF"/>
                              </a:solidFill>
                              <a:effectLst/>
                              <a:latin typeface="Calibri" panose="020F0502020204030204" pitchFamily="34" charset="0"/>
                            </a:rPr>
                            <a:t>Falsos</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Negativos (FN)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1"/>
                      </a:ext>
                    </a:extLst>
                  </a:tr>
                  <a:tr h="698713">
                    <a:tc vMerge="1">
                      <a:txBody>
                        <a:bodyPr/>
                        <a:lstStyle/>
                        <a:p>
                          <a:endParaRPr lang="pt-BR"/>
                        </a:p>
                      </a:txBody>
                      <a:tcPr/>
                    </a:tc>
                    <a:tc>
                      <a:txBody>
                        <a:bodyPr/>
                        <a:lstStyle/>
                        <a:p>
                          <a:endParaRPr lang="pt-B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4"/>
                          <a:stretch>
                            <a:fillRect l="-140000" t="-202632" r="-582308" b="-138596"/>
                          </a:stretch>
                        </a:blipFill>
                      </a:tcPr>
                    </a:tc>
                    <a:tc>
                      <a:txBody>
                        <a:bodyPr/>
                        <a:lstStyle/>
                        <a:p>
                          <a:pPr algn="ctr" rtl="0" fontAlgn="b"/>
                          <a:r>
                            <a:rPr lang="pt-BR" sz="1800" b="1" dirty="0">
                              <a:solidFill>
                                <a:srgbClr val="0000FF"/>
                              </a:solidFill>
                              <a:effectLst/>
                              <a:latin typeface="Calibri" panose="020F0502020204030204" pitchFamily="34" charset="0"/>
                            </a:rPr>
                            <a:t>Falsos</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Negativos (FN)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2"/>
                      </a:ext>
                    </a:extLst>
                  </a:tr>
                  <a:tr h="418879">
                    <a:tc rowSpan="2" gridSpan="2">
                      <a:txBody>
                        <a:bodyPr/>
                        <a:lstStyle/>
                        <a:p>
                          <a:pPr rtl="0" fontAlgn="b"/>
                          <a:endParaRPr lang="pt-BR" sz="18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a:txBody>
                        <a:bodyPr/>
                        <a:lstStyle/>
                        <a:p>
                          <a:endParaRPr lang="pt-B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4"/>
                          <a:stretch>
                            <a:fillRect l="-122353" t="-500000" r="-196863" b="-128986"/>
                          </a:stretch>
                        </a:blipFill>
                      </a:tcPr>
                    </a:tc>
                    <a:tc>
                      <a:txBody>
                        <a:bodyPr/>
                        <a:lstStyle/>
                        <a:p>
                          <a:endParaRPr lang="pt-B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4"/>
                          <a:stretch>
                            <a:fillRect l="-218077" t="-500000" r="-93077" b="-128986"/>
                          </a:stretch>
                        </a:blipFill>
                      </a:tcPr>
                    </a:tc>
                    <a:tc>
                      <a:txBody>
                        <a:bodyPr/>
                        <a:lstStyle/>
                        <a:p>
                          <a:endParaRPr lang="pt-B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4"/>
                          <a:stretch>
                            <a:fillRect l="-344583" t="-500000" r="-833" b="-128986"/>
                          </a:stretch>
                        </a:blipFill>
                      </a:tcPr>
                    </a:tc>
                    <a:extLst>
                      <a:ext uri="{0D108BD9-81ED-4DB2-BD59-A6C34878D82A}">
                        <a16:rowId xmlns="" xmlns:a16="http://schemas.microsoft.com/office/drawing/2014/main" xmlns:a14="http://schemas.microsoft.com/office/drawing/2010/main" val="10003"/>
                      </a:ext>
                    </a:extLst>
                  </a:tr>
                  <a:tr h="418879">
                    <a:tc gridSpan="2" vMerge="1">
                      <a:txBody>
                        <a:bodyPr/>
                        <a:lstStyle/>
                        <a:p>
                          <a:endParaRPr lang="pt-BR"/>
                        </a:p>
                      </a:txBody>
                      <a:tcPr/>
                    </a:tc>
                    <a:tc hMerge="1" vMerge="1">
                      <a:txBody>
                        <a:bodyPr/>
                        <a:lstStyle/>
                        <a:p>
                          <a:endParaRPr lang="pt-BR"/>
                        </a:p>
                      </a:txBody>
                      <a:tcPr/>
                    </a:tc>
                    <a:tc gridSpan="3">
                      <a:txBody>
                        <a:bodyPr/>
                        <a:lstStyle/>
                        <a:p>
                          <a:pPr algn="ctr" rtl="0" fontAlgn="b"/>
                          <a:r>
                            <a:rPr lang="pt-BR" sz="1800" b="1" dirty="0">
                              <a:effectLst/>
                            </a:rPr>
                            <a:t>Classes Verdadeiras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extLst>
                      <a:ext uri="{0D108BD9-81ED-4DB2-BD59-A6C34878D82A}">
                        <a16:rowId xmlns="" xmlns:a16="http://schemas.microsoft.com/office/drawing/2014/main" xmlns:a14="http://schemas.microsoft.com/office/drawing/2010/main" val="10004"/>
                      </a:ext>
                    </a:extLst>
                  </a:tr>
                </a:tbl>
              </a:graphicData>
            </a:graphic>
          </p:graphicFrame>
        </mc:Fallback>
      </mc:AlternateContent>
      <mc:AlternateContent xmlns:mc="http://schemas.openxmlformats.org/markup-compatibility/2006">
        <mc:Choice xmlns:a14="http://schemas.microsoft.com/office/drawing/2010/main" Requires="a14">
          <p:sp>
            <p:nvSpPr>
              <p:cNvPr id="5" name="CaixaDeTexto 4">
                <a:extLst>
                  <a:ext uri="{FF2B5EF4-FFF2-40B4-BE49-F238E27FC236}">
                    <a16:creationId xmlns="" xmlns:a16="http://schemas.microsoft.com/office/drawing/2014/main" id="{C5882695-5DE1-C1D3-36F2-0FBA637ABB6A}"/>
                  </a:ext>
                </a:extLst>
              </p:cNvPr>
              <p:cNvSpPr txBox="1"/>
              <p:nvPr/>
            </p:nvSpPr>
            <p:spPr>
              <a:xfrm>
                <a:off x="2059551" y="2038625"/>
                <a:ext cx="4635499" cy="461665"/>
              </a:xfrm>
              <a:prstGeom prst="rect">
                <a:avLst/>
              </a:prstGeom>
              <a:noFill/>
            </p:spPr>
            <p:txBody>
              <a:bodyPr wrap="square" rtlCol="0">
                <a:spAutoFit/>
              </a:bodyPr>
              <a:lstStyle/>
              <a:p>
                <a:pPr algn="ctr"/>
                <a:r>
                  <a:rPr lang="pt-BR" sz="2400" dirty="0"/>
                  <a:t>Classe </a:t>
                </a:r>
                <a14:m>
                  <m:oMath xmlns:m="http://schemas.openxmlformats.org/officeDocument/2006/math">
                    <m:sSub>
                      <m:sSubPr>
                        <m:ctrlPr>
                          <a:rPr lang="pt-BR" sz="2400" i="1">
                            <a:latin typeface="Cambria Math" panose="02040503050406030204" pitchFamily="18" charset="0"/>
                          </a:rPr>
                        </m:ctrlPr>
                      </m:sSubPr>
                      <m:e>
                        <m:r>
                          <a:rPr lang="pt-BR" sz="2400" i="1">
                            <a:latin typeface="Cambria Math" panose="02040503050406030204" pitchFamily="18" charset="0"/>
                          </a:rPr>
                          <m:t>𝐶</m:t>
                        </m:r>
                      </m:e>
                      <m:sub>
                        <m:r>
                          <a:rPr lang="pt-BR" sz="2400" b="0" i="1" smtClean="0">
                            <a:latin typeface="Cambria Math" panose="02040503050406030204" pitchFamily="18" charset="0"/>
                          </a:rPr>
                          <m:t>1</m:t>
                        </m:r>
                      </m:sub>
                    </m:sSub>
                  </m:oMath>
                </a14:m>
                <a:r>
                  <a:rPr lang="pt-BR" sz="2400" dirty="0"/>
                  <a:t> é a positiva.</a:t>
                </a:r>
              </a:p>
            </p:txBody>
          </p:sp>
        </mc:Choice>
        <mc:Fallback>
          <p:sp>
            <p:nvSpPr>
              <p:cNvPr id="5" name="CaixaDeTexto 4">
                <a:extLst>
                  <a:ext uri="{FF2B5EF4-FFF2-40B4-BE49-F238E27FC236}">
                    <a16:creationId xmlns="" xmlns:a16="http://schemas.microsoft.com/office/drawing/2014/main" xmlns:a14="http://schemas.microsoft.com/office/drawing/2010/main" id="{C5882695-5DE1-C1D3-36F2-0FBA637ABB6A}"/>
                  </a:ext>
                </a:extLst>
              </p:cNvPr>
              <p:cNvSpPr txBox="1">
                <a:spLocks noRot="1" noChangeAspect="1" noMove="1" noResize="1" noEditPoints="1" noAdjustHandles="1" noChangeArrowheads="1" noChangeShapeType="1" noTextEdit="1"/>
              </p:cNvSpPr>
              <p:nvPr/>
            </p:nvSpPr>
            <p:spPr>
              <a:xfrm>
                <a:off x="2059551" y="2038625"/>
                <a:ext cx="4635499" cy="461665"/>
              </a:xfrm>
              <a:prstGeom prst="rect">
                <a:avLst/>
              </a:prstGeom>
              <a:blipFill rotWithShape="0">
                <a:blip r:embed="rId5"/>
                <a:stretch>
                  <a:fillRect t="-10526" b="-28947"/>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6" name="Espaço Reservado para Conteúdo 2"/>
              <p:cNvSpPr>
                <a:spLocks noGrp="1"/>
              </p:cNvSpPr>
              <p:nvPr>
                <p:ph idx="1"/>
              </p:nvPr>
            </p:nvSpPr>
            <p:spPr>
              <a:xfrm>
                <a:off x="6866626" y="1825624"/>
                <a:ext cx="5325374" cy="5032375"/>
              </a:xfrm>
            </p:spPr>
            <p:txBody>
              <a:bodyPr>
                <a:normAutofit/>
              </a:bodyPr>
              <a:lstStyle/>
              <a:p>
                <a:r>
                  <a:rPr lang="pt-BR" dirty="0" smtClean="0"/>
                  <a:t>Para </a:t>
                </a:r>
                <a14:m>
                  <m:oMath xmlns:m="http://schemas.openxmlformats.org/officeDocument/2006/math">
                    <m:r>
                      <a:rPr lang="pt-BR" i="1">
                        <a:latin typeface="Cambria Math" panose="02040503050406030204" pitchFamily="18" charset="0"/>
                      </a:rPr>
                      <m:t>𝑄</m:t>
                    </m:r>
                    <m:r>
                      <a:rPr lang="pt-BR" b="0" i="1" smtClean="0">
                        <a:latin typeface="Cambria Math" panose="02040503050406030204" pitchFamily="18" charset="0"/>
                      </a:rPr>
                      <m:t>=3</m:t>
                    </m:r>
                  </m:oMath>
                </a14:m>
                <a:r>
                  <a:rPr lang="pt-BR" dirty="0" smtClean="0"/>
                  <a:t>, </a:t>
                </a:r>
                <a:r>
                  <a:rPr lang="pt-BR" dirty="0"/>
                  <a:t>teremos 3 matrizes de confusão </a:t>
                </a:r>
                <a:r>
                  <a:rPr lang="pt-BR" dirty="0" smtClean="0"/>
                  <a:t>binárias.</a:t>
                </a:r>
              </a:p>
              <a:p>
                <a:r>
                  <a:rPr lang="pt-BR" dirty="0" smtClean="0"/>
                  <a:t>A </a:t>
                </a:r>
                <a:r>
                  <a:rPr lang="pt-BR" dirty="0"/>
                  <a:t>primeira matriz considera a classe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1</m:t>
                        </m:r>
                      </m:sub>
                    </m:sSub>
                  </m:oMath>
                </a14:m>
                <a:r>
                  <a:rPr lang="pt-BR" dirty="0" smtClean="0"/>
                  <a:t> </a:t>
                </a:r>
                <a:r>
                  <a:rPr lang="pt-BR" dirty="0"/>
                  <a:t>como a classe positiva e as demais classes,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2</m:t>
                        </m:r>
                      </m:sub>
                    </m:sSub>
                  </m:oMath>
                </a14:m>
                <a:r>
                  <a:rPr lang="pt-BR" dirty="0" smtClean="0"/>
                  <a:t> </a:t>
                </a:r>
                <a:r>
                  <a:rPr lang="pt-BR" dirty="0"/>
                  <a:t>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3</m:t>
                        </m:r>
                      </m:sub>
                    </m:sSub>
                  </m:oMath>
                </a14:m>
                <a:r>
                  <a:rPr lang="pt-BR" dirty="0" smtClean="0"/>
                  <a:t>, </a:t>
                </a:r>
                <a:r>
                  <a:rPr lang="pt-BR" dirty="0"/>
                  <a:t>como a classe </a:t>
                </a:r>
                <a:r>
                  <a:rPr lang="pt-BR" dirty="0" smtClean="0"/>
                  <a:t>negativa.</a:t>
                </a:r>
              </a:p>
              <a:p>
                <a:r>
                  <a:rPr lang="pt-BR" dirty="0" smtClean="0"/>
                  <a:t>Agora</a:t>
                </a:r>
                <a:r>
                  <a:rPr lang="pt-BR" dirty="0"/>
                  <a:t>, de posse de TP, TN, FP, e FN, </a:t>
                </a:r>
                <a:r>
                  <a:rPr lang="pt-BR" b="1" dirty="0" smtClean="0"/>
                  <a:t>conseguimos </a:t>
                </a:r>
                <a:r>
                  <a:rPr lang="pt-BR" b="1" dirty="0"/>
                  <a:t>calcular as métricas anteriores para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1</m:t>
                        </m:r>
                      </m:sub>
                    </m:sSub>
                  </m:oMath>
                </a14:m>
                <a:r>
                  <a:rPr lang="pt-BR" dirty="0" smtClean="0"/>
                  <a:t> </a:t>
                </a:r>
                <a:r>
                  <a:rPr lang="pt-BR" dirty="0"/>
                  <a:t>sendo a classe positiva</a:t>
                </a:r>
                <a:r>
                  <a:rPr lang="pt-BR" dirty="0" smtClean="0"/>
                  <a:t>.</a:t>
                </a:r>
              </a:p>
              <a:p>
                <a:pPr lvl="1">
                  <a:buFont typeface="Wingdings" panose="05000000000000000000" pitchFamily="2" charset="2"/>
                  <a:buChar char="§"/>
                </a:pPr>
                <a:r>
                  <a:rPr lang="pt-BR" dirty="0" smtClean="0"/>
                  <a:t>Somamos </a:t>
                </a:r>
                <a:r>
                  <a:rPr lang="pt-BR" dirty="0"/>
                  <a:t>todos os elementos com a mesma identificação</a:t>
                </a:r>
                <a:r>
                  <a:rPr lang="pt-BR" dirty="0" smtClean="0"/>
                  <a:t>.</a:t>
                </a:r>
                <a:endParaRPr lang="pt-BR" dirty="0"/>
              </a:p>
            </p:txBody>
          </p:sp>
        </mc:Choice>
        <mc:Fallback>
          <p:sp>
            <p:nvSpPr>
              <p:cNvPr id="6" name="Espaço Reservado para Conteúdo 2"/>
              <p:cNvSpPr>
                <a:spLocks noGrp="1" noRot="1" noChangeAspect="1" noMove="1" noResize="1" noEditPoints="1" noAdjustHandles="1" noChangeArrowheads="1" noChangeShapeType="1" noTextEdit="1"/>
              </p:cNvSpPr>
              <p:nvPr>
                <p:ph idx="1"/>
              </p:nvPr>
            </p:nvSpPr>
            <p:spPr>
              <a:xfrm>
                <a:off x="6866626" y="1825624"/>
                <a:ext cx="5325374" cy="5032375"/>
              </a:xfrm>
              <a:blipFill rotWithShape="0">
                <a:blip r:embed="rId6"/>
                <a:stretch>
                  <a:fillRect l="-2059" t="-1937" r="-2174" b="-242"/>
                </a:stretch>
              </a:blipFill>
            </p:spPr>
            <p:txBody>
              <a:bodyPr/>
              <a:lstStyle/>
              <a:p>
                <a:r>
                  <a:rPr lang="pt-BR">
                    <a:noFill/>
                  </a:rPr>
                  <a:t> </a:t>
                </a:r>
              </a:p>
            </p:txBody>
          </p:sp>
        </mc:Fallback>
      </mc:AlternateContent>
    </p:spTree>
    <p:extLst>
      <p:ext uri="{BB962C8B-B14F-4D97-AF65-F5344CB8AC3E}">
        <p14:creationId xmlns:p14="http://schemas.microsoft.com/office/powerpoint/2010/main" val="1637447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 xmlns:a16="http://schemas.microsoft.com/office/drawing/2014/main" id="{6F3810FD-8C1E-E235-CDF3-A845D40ED979}"/>
                  </a:ext>
                </a:extLst>
              </p:cNvPr>
              <p:cNvSpPr>
                <a:spLocks noGrp="1"/>
              </p:cNvSpPr>
              <p:nvPr>
                <p:ph type="title"/>
              </p:nvPr>
            </p:nvSpPr>
            <p:spPr/>
            <p:txBody>
              <a:bodyPr/>
              <a:lstStyle/>
              <a:p>
                <a:r>
                  <a:rPr lang="pt-BR" dirty="0"/>
                  <a:t>Matriz de confusão para caso multiclasses (</a:t>
                </a:r>
                <a14:m>
                  <m:oMath xmlns:m="http://schemas.openxmlformats.org/officeDocument/2006/math">
                    <m:r>
                      <a:rPr lang="pt-BR" b="0" i="1" smtClean="0">
                        <a:latin typeface="Cambria Math" panose="02040503050406030204" pitchFamily="18" charset="0"/>
                      </a:rPr>
                      <m:t>𝑄</m:t>
                    </m:r>
                    <m:r>
                      <a:rPr lang="pt-BR" b="0" i="1" smtClean="0">
                        <a:latin typeface="Cambria Math" panose="02040503050406030204" pitchFamily="18" charset="0"/>
                      </a:rPr>
                      <m:t>=3</m:t>
                    </m:r>
                  </m:oMath>
                </a14:m>
                <a:r>
                  <a:rPr lang="pt-BR" dirty="0"/>
                  <a:t>)</a:t>
                </a:r>
              </a:p>
            </p:txBody>
          </p:sp>
        </mc:Choice>
        <mc:Fallback xmlns="">
          <p:sp>
            <p:nvSpPr>
              <p:cNvPr id="2" name="Título 1">
                <a:extLst>
                  <a:ext uri="{FF2B5EF4-FFF2-40B4-BE49-F238E27FC236}">
                    <a16:creationId xmlns:a16="http://schemas.microsoft.com/office/drawing/2014/main" id="{6F3810FD-8C1E-E235-CDF3-A845D40ED979}"/>
                  </a:ext>
                </a:extLst>
              </p:cNvPr>
              <p:cNvSpPr>
                <a:spLocks noGrp="1" noRot="1" noChangeAspect="1" noMove="1" noResize="1" noEditPoints="1" noAdjustHandles="1" noChangeArrowheads="1" noChangeShapeType="1" noTextEdit="1"/>
              </p:cNvSpPr>
              <p:nvPr>
                <p:ph type="title"/>
              </p:nvPr>
            </p:nvSpPr>
            <p:spPr>
              <a:blipFill>
                <a:blip r:embed="rId2"/>
                <a:stretch>
                  <a:fillRect l="-2377" t="-13364" b="-21198"/>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graphicFrame>
            <p:nvGraphicFramePr>
              <p:cNvPr id="4" name="Table 4">
                <a:extLst>
                  <a:ext uri="{FF2B5EF4-FFF2-40B4-BE49-F238E27FC236}">
                    <a16:creationId xmlns="" xmlns:a16="http://schemas.microsoft.com/office/drawing/2014/main" id="{F549053F-BDE4-C8D3-A996-B46C550898B5}"/>
                  </a:ext>
                </a:extLst>
              </p:cNvPr>
              <p:cNvGraphicFramePr>
                <a:graphicFrameLocks noGrp="1"/>
              </p:cNvGraphicFramePr>
              <p:nvPr>
                <p:extLst/>
              </p:nvPr>
            </p:nvGraphicFramePr>
            <p:xfrm>
              <a:off x="198993" y="2521796"/>
              <a:ext cx="6508042" cy="2892976"/>
            </p:xfrm>
            <a:graphic>
              <a:graphicData uri="http://schemas.openxmlformats.org/drawingml/2006/table">
                <a:tbl>
                  <a:tblPr/>
                  <a:tblGrid>
                    <a:gridCol w="1257084">
                      <a:extLst>
                        <a:ext uri="{9D8B030D-6E8A-4147-A177-3AD203B41FA5}">
                          <a16:colId xmlns="" xmlns:a16="http://schemas.microsoft.com/office/drawing/2014/main" val="20000"/>
                        </a:ext>
                      </a:extLst>
                    </a:gridCol>
                    <a:gridCol w="698205">
                      <a:extLst>
                        <a:ext uri="{9D8B030D-6E8A-4147-A177-3AD203B41FA5}">
                          <a16:colId xmlns="" xmlns:a16="http://schemas.microsoft.com/office/drawing/2014/main" val="20001"/>
                        </a:ext>
                      </a:extLst>
                    </a:gridCol>
                    <a:gridCol w="1624635">
                      <a:extLst>
                        <a:ext uri="{9D8B030D-6E8A-4147-A177-3AD203B41FA5}">
                          <a16:colId xmlns="" xmlns:a16="http://schemas.microsoft.com/office/drawing/2014/main" val="20002"/>
                        </a:ext>
                      </a:extLst>
                    </a:gridCol>
                    <a:gridCol w="1464059">
                      <a:extLst>
                        <a:ext uri="{9D8B030D-6E8A-4147-A177-3AD203B41FA5}">
                          <a16:colId xmlns="" xmlns:a16="http://schemas.microsoft.com/office/drawing/2014/main" val="20003"/>
                        </a:ext>
                      </a:extLst>
                    </a:gridCol>
                    <a:gridCol w="1464059">
                      <a:extLst>
                        <a:ext uri="{9D8B030D-6E8A-4147-A177-3AD203B41FA5}">
                          <a16:colId xmlns="" xmlns:a16="http://schemas.microsoft.com/office/drawing/2014/main" val="20004"/>
                        </a:ext>
                      </a:extLst>
                    </a:gridCol>
                  </a:tblGrid>
                  <a:tr h="700022">
                    <a:tc rowSpan="3">
                      <a:txBody>
                        <a:bodyPr/>
                        <a:lstStyle/>
                        <a:p>
                          <a:pPr algn="ctr" rtl="0" fontAlgn="ctr"/>
                          <a:r>
                            <a:rPr lang="pt-BR" sz="1800" b="1" dirty="0">
                              <a:effectLst/>
                            </a:rPr>
                            <a:t>Classes </a:t>
                          </a:r>
                          <a:br>
                            <a:rPr lang="pt-BR" sz="1800" b="1" dirty="0">
                              <a:effectLst/>
                            </a:rPr>
                          </a:br>
                          <a:r>
                            <a:rPr lang="pt-BR" sz="1800" b="1" dirty="0">
                              <a:effectLst/>
                            </a:rPr>
                            <a:t>Preditas</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a:latin typeface="Cambria Math" panose="02040503050406030204" pitchFamily="18" charset="0"/>
                                    </a:rPr>
                                    <m:t>1</m:t>
                                  </m:r>
                                </m:sub>
                              </m:sSub>
                            </m:oMath>
                          </a14:m>
                          <a:r>
                            <a:rPr lang="pt-BR" sz="1800" b="0" dirty="0">
                              <a:effectLst/>
                            </a:rPr>
                            <a:t>)</a:t>
                          </a:r>
                          <a:endParaRPr lang="pt-BR" sz="1800" b="1" dirty="0">
                            <a:effectLst/>
                          </a:endParaRP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0000FF"/>
                              </a:solidFill>
                              <a:effectLst/>
                              <a:latin typeface="Calibri" panose="020F0502020204030204" pitchFamily="34" charset="0"/>
                            </a:rPr>
                            <a:t>Falsos</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Negativos (FN)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723738">
                    <a:tc vMerge="1">
                      <a:txBody>
                        <a:bodyPr/>
                        <a:lstStyle/>
                        <a:p>
                          <a:endParaRPr lang="pt-BR"/>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2</m:t>
                                  </m:r>
                                </m:sub>
                              </m:sSub>
                            </m:oMath>
                          </a14:m>
                          <a:r>
                            <a:rPr lang="pt-BR" sz="1800" b="0" dirty="0">
                              <a:effectLst/>
                            </a:rPr>
                            <a:t>)</a:t>
                          </a:r>
                          <a:endParaRPr lang="pt-BR" sz="1800" b="1" dirty="0">
                            <a:effectLst/>
                          </a:endParaRP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 </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Positivos (FP)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00FF00"/>
                              </a:solidFill>
                              <a:effectLst/>
                              <a:latin typeface="Calibri" panose="020F0502020204030204" pitchFamily="34" charset="0"/>
                            </a:rPr>
                            <a:t>Verdadeiros </a:t>
                          </a:r>
                          <a:br>
                            <a:rPr lang="pt-BR" sz="1800" b="1" dirty="0">
                              <a:solidFill>
                                <a:srgbClr val="00FF00"/>
                              </a:solidFill>
                              <a:effectLst/>
                              <a:latin typeface="Calibri" panose="020F0502020204030204" pitchFamily="34" charset="0"/>
                            </a:rPr>
                          </a:br>
                          <a:r>
                            <a:rPr lang="pt-BR" sz="1800" b="1" dirty="0">
                              <a:solidFill>
                                <a:srgbClr val="00FF00"/>
                              </a:solidFill>
                              <a:effectLst/>
                              <a:latin typeface="Calibri" panose="020F0502020204030204" pitchFamily="34" charset="0"/>
                            </a:rPr>
                            <a:t>Positivos (TP)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 </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Positivos (FP)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723738">
                    <a:tc vMerge="1">
                      <a:txBody>
                        <a:bodyPr/>
                        <a:lstStyle/>
                        <a:p>
                          <a:endParaRPr lang="pt-BR"/>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3</m:t>
                                  </m:r>
                                </m:sub>
                              </m:sSub>
                            </m:oMath>
                          </a14:m>
                          <a:r>
                            <a:rPr lang="pt-BR" sz="1800" b="0" dirty="0">
                              <a:effectLst/>
                            </a:rPr>
                            <a:t>)</a:t>
                          </a:r>
                          <a:endParaRPr lang="pt-BR" sz="1800" b="1" dirty="0">
                            <a:effectLst/>
                          </a:endParaRP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Negativos (FN)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72739">
                    <a:tc rowSpan="2" gridSpan="2">
                      <a:txBody>
                        <a:bodyPr/>
                        <a:lstStyle/>
                        <a:p>
                          <a:pPr rtl="0" fontAlgn="b"/>
                          <a:endParaRPr lang="pt-BR" sz="18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a:txBody>
                        <a:bodyPr/>
                        <a:lstStyle/>
                        <a:p>
                          <a:pPr algn="ctr" rtl="0" fontAlgn="b"/>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a:latin typeface="Cambria Math" panose="02040503050406030204" pitchFamily="18" charset="0"/>
                                    </a:rPr>
                                    <m:t>1</m:t>
                                  </m:r>
                                </m:sub>
                              </m:sSub>
                            </m:oMath>
                          </a14:m>
                          <a:r>
                            <a:rPr lang="pt-BR" sz="1800" b="0" dirty="0">
                              <a:effectLst/>
                            </a:rPr>
                            <a:t>)</a:t>
                          </a:r>
                          <a:endParaRPr lang="pt-BR" sz="1800" b="1"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2</m:t>
                                  </m:r>
                                </m:sub>
                              </m:sSub>
                            </m:oMath>
                          </a14:m>
                          <a:r>
                            <a:rPr lang="pt-BR" sz="1800" b="0" dirty="0">
                              <a:effectLst/>
                            </a:rPr>
                            <a:t>)</a:t>
                          </a:r>
                          <a:endParaRPr lang="pt-BR" sz="1800" b="1"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3</m:t>
                                  </m:r>
                                </m:sub>
                              </m:sSub>
                            </m:oMath>
                          </a14:m>
                          <a:r>
                            <a:rPr lang="pt-BR" sz="1800" b="0" dirty="0">
                              <a:effectLst/>
                            </a:rPr>
                            <a:t>)</a:t>
                          </a:r>
                          <a:endParaRPr lang="pt-BR" sz="1800" b="1"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 xmlns:a16="http://schemas.microsoft.com/office/drawing/2014/main" val="10003"/>
                      </a:ext>
                    </a:extLst>
                  </a:tr>
                  <a:tr h="372739">
                    <a:tc gridSpan="2" vMerge="1">
                      <a:txBody>
                        <a:bodyPr/>
                        <a:lstStyle/>
                        <a:p>
                          <a:endParaRPr lang="pt-BR"/>
                        </a:p>
                      </a:txBody>
                      <a:tcPr/>
                    </a:tc>
                    <a:tc hMerge="1" vMerge="1">
                      <a:txBody>
                        <a:bodyPr/>
                        <a:lstStyle/>
                        <a:p>
                          <a:endParaRPr lang="pt-BR"/>
                        </a:p>
                      </a:txBody>
                      <a:tcPr/>
                    </a:tc>
                    <a:tc gridSpan="3">
                      <a:txBody>
                        <a:bodyPr/>
                        <a:lstStyle/>
                        <a:p>
                          <a:pPr algn="ctr" rtl="0" fontAlgn="b"/>
                          <a:r>
                            <a:rPr lang="pt-BR" sz="1800" b="1" dirty="0">
                              <a:effectLst/>
                            </a:rPr>
                            <a:t>Classes Verdadeiras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extLst>
                      <a:ext uri="{0D108BD9-81ED-4DB2-BD59-A6C34878D82A}">
                        <a16:rowId xmlns="" xmlns:a16="http://schemas.microsoft.com/office/drawing/2014/main" val="10004"/>
                      </a:ext>
                    </a:extLst>
                  </a:tr>
                </a:tbl>
              </a:graphicData>
            </a:graphic>
          </p:graphicFrame>
        </mc:Choice>
        <mc:Fallback>
          <p:graphicFrame>
            <p:nvGraphicFramePr>
              <p:cNvPr id="4" name="Table 4">
                <a:extLst>
                  <a:ext uri="{FF2B5EF4-FFF2-40B4-BE49-F238E27FC236}">
                    <a16:creationId xmlns="" xmlns:a16="http://schemas.microsoft.com/office/drawing/2014/main" xmlns:a14="http://schemas.microsoft.com/office/drawing/2010/main" id="{F549053F-BDE4-C8D3-A996-B46C550898B5}"/>
                  </a:ext>
                </a:extLst>
              </p:cNvPr>
              <p:cNvGraphicFramePr>
                <a:graphicFrameLocks noGrp="1"/>
              </p:cNvGraphicFramePr>
              <p:nvPr>
                <p:extLst/>
              </p:nvPr>
            </p:nvGraphicFramePr>
            <p:xfrm>
              <a:off x="198993" y="2521796"/>
              <a:ext cx="6508042" cy="2892976"/>
            </p:xfrm>
            <a:graphic>
              <a:graphicData uri="http://schemas.openxmlformats.org/drawingml/2006/table">
                <a:tbl>
                  <a:tblPr/>
                  <a:tblGrid>
                    <a:gridCol w="1257084">
                      <a:extLst>
                        <a:ext uri="{9D8B030D-6E8A-4147-A177-3AD203B41FA5}">
                          <a16:colId xmlns="" xmlns:a16="http://schemas.microsoft.com/office/drawing/2014/main" xmlns:a14="http://schemas.microsoft.com/office/drawing/2010/main" val="20000"/>
                        </a:ext>
                      </a:extLst>
                    </a:gridCol>
                    <a:gridCol w="698205">
                      <a:extLst>
                        <a:ext uri="{9D8B030D-6E8A-4147-A177-3AD203B41FA5}">
                          <a16:colId xmlns="" xmlns:a16="http://schemas.microsoft.com/office/drawing/2014/main" xmlns:a14="http://schemas.microsoft.com/office/drawing/2010/main" val="20001"/>
                        </a:ext>
                      </a:extLst>
                    </a:gridCol>
                    <a:gridCol w="1624635">
                      <a:extLst>
                        <a:ext uri="{9D8B030D-6E8A-4147-A177-3AD203B41FA5}">
                          <a16:colId xmlns="" xmlns:a16="http://schemas.microsoft.com/office/drawing/2014/main" xmlns:a14="http://schemas.microsoft.com/office/drawing/2010/main" val="20002"/>
                        </a:ext>
                      </a:extLst>
                    </a:gridCol>
                    <a:gridCol w="1464059">
                      <a:extLst>
                        <a:ext uri="{9D8B030D-6E8A-4147-A177-3AD203B41FA5}">
                          <a16:colId xmlns="" xmlns:a16="http://schemas.microsoft.com/office/drawing/2014/main" xmlns:a14="http://schemas.microsoft.com/office/drawing/2010/main" val="20003"/>
                        </a:ext>
                      </a:extLst>
                    </a:gridCol>
                    <a:gridCol w="1464059">
                      <a:extLst>
                        <a:ext uri="{9D8B030D-6E8A-4147-A177-3AD203B41FA5}">
                          <a16:colId xmlns="" xmlns:a16="http://schemas.microsoft.com/office/drawing/2014/main" xmlns:a14="http://schemas.microsoft.com/office/drawing/2010/main" val="20004"/>
                        </a:ext>
                      </a:extLst>
                    </a:gridCol>
                  </a:tblGrid>
                  <a:tr h="700022">
                    <a:tc rowSpan="3">
                      <a:txBody>
                        <a:bodyPr/>
                        <a:lstStyle/>
                        <a:p>
                          <a:pPr algn="ctr" rtl="0" fontAlgn="ctr"/>
                          <a:r>
                            <a:rPr lang="pt-BR" sz="1800" b="1" dirty="0">
                              <a:effectLst/>
                            </a:rPr>
                            <a:t>Classes </a:t>
                          </a:r>
                          <a:br>
                            <a:rPr lang="pt-BR" sz="1800" b="1" dirty="0">
                              <a:effectLst/>
                            </a:rPr>
                          </a:br>
                          <a:r>
                            <a:rPr lang="pt-BR" sz="1800" b="1" dirty="0">
                              <a:effectLst/>
                            </a:rPr>
                            <a:t>Preditas</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endParaRPr lang="pt-B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3"/>
                          <a:stretch>
                            <a:fillRect l="-180000" t="-870" r="-652174" b="-331304"/>
                          </a:stretch>
                        </a:blip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0000FF"/>
                              </a:solidFill>
                              <a:effectLst/>
                              <a:latin typeface="Calibri" panose="020F0502020204030204" pitchFamily="34" charset="0"/>
                            </a:rPr>
                            <a:t>Falsos</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Negativos (FN)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0"/>
                      </a:ext>
                    </a:extLst>
                  </a:tr>
                  <a:tr h="723738">
                    <a:tc vMerge="1">
                      <a:txBody>
                        <a:bodyPr/>
                        <a:lstStyle/>
                        <a:p>
                          <a:endParaRPr lang="pt-BR"/>
                        </a:p>
                      </a:txBody>
                      <a:tcPr/>
                    </a:tc>
                    <a:tc>
                      <a:txBody>
                        <a:bodyPr/>
                        <a:lstStyle/>
                        <a:p>
                          <a:endParaRPr lang="pt-B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3"/>
                          <a:stretch>
                            <a:fillRect l="-180000" t="-97479" r="-652174" b="-220168"/>
                          </a:stretch>
                        </a:blip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 </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Positivos (FP)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00FF00"/>
                              </a:solidFill>
                              <a:effectLst/>
                              <a:latin typeface="Calibri" panose="020F0502020204030204" pitchFamily="34" charset="0"/>
                            </a:rPr>
                            <a:t>Verdadeiros </a:t>
                          </a:r>
                          <a:br>
                            <a:rPr lang="pt-BR" sz="1800" b="1" dirty="0">
                              <a:solidFill>
                                <a:srgbClr val="00FF00"/>
                              </a:solidFill>
                              <a:effectLst/>
                              <a:latin typeface="Calibri" panose="020F0502020204030204" pitchFamily="34" charset="0"/>
                            </a:rPr>
                          </a:br>
                          <a:r>
                            <a:rPr lang="pt-BR" sz="1800" b="1" dirty="0">
                              <a:solidFill>
                                <a:srgbClr val="00FF00"/>
                              </a:solidFill>
                              <a:effectLst/>
                              <a:latin typeface="Calibri" panose="020F0502020204030204" pitchFamily="34" charset="0"/>
                            </a:rPr>
                            <a:t>Positivos (TP)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 </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Positivos (FP)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1"/>
                      </a:ext>
                    </a:extLst>
                  </a:tr>
                  <a:tr h="723738">
                    <a:tc vMerge="1">
                      <a:txBody>
                        <a:bodyPr/>
                        <a:lstStyle/>
                        <a:p>
                          <a:endParaRPr lang="pt-BR"/>
                        </a:p>
                      </a:txBody>
                      <a:tcPr/>
                    </a:tc>
                    <a:tc>
                      <a:txBody>
                        <a:bodyPr/>
                        <a:lstStyle/>
                        <a:p>
                          <a:endParaRPr lang="pt-B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3"/>
                          <a:stretch>
                            <a:fillRect l="-180000" t="-197479" r="-652174" b="-120168"/>
                          </a:stretch>
                        </a:blip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Negativos (FN)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2"/>
                      </a:ext>
                    </a:extLst>
                  </a:tr>
                  <a:tr h="372739">
                    <a:tc rowSpan="2" gridSpan="2">
                      <a:txBody>
                        <a:bodyPr/>
                        <a:lstStyle/>
                        <a:p>
                          <a:pPr rtl="0" fontAlgn="b"/>
                          <a:endParaRPr lang="pt-BR" sz="180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a:txBody>
                        <a:bodyPr/>
                        <a:lstStyle/>
                        <a:p>
                          <a:endParaRPr lang="pt-B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3"/>
                          <a:stretch>
                            <a:fillRect l="-120599" t="-570968" r="-180899" b="-130645"/>
                          </a:stretch>
                        </a:blipFill>
                      </a:tcPr>
                    </a:tc>
                    <a:tc>
                      <a:txBody>
                        <a:bodyPr/>
                        <a:lstStyle/>
                        <a:p>
                          <a:endParaRPr lang="pt-B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3"/>
                          <a:stretch>
                            <a:fillRect l="-244398" t="-570968" r="-100415" b="-130645"/>
                          </a:stretch>
                        </a:blipFill>
                      </a:tcPr>
                    </a:tc>
                    <a:tc>
                      <a:txBody>
                        <a:bodyPr/>
                        <a:lstStyle/>
                        <a:p>
                          <a:endParaRPr lang="pt-B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3"/>
                          <a:stretch>
                            <a:fillRect l="-345833" t="-570968" r="-833" b="-130645"/>
                          </a:stretch>
                        </a:blipFill>
                      </a:tcPr>
                    </a:tc>
                    <a:extLst>
                      <a:ext uri="{0D108BD9-81ED-4DB2-BD59-A6C34878D82A}">
                        <a16:rowId xmlns="" xmlns:a16="http://schemas.microsoft.com/office/drawing/2014/main" xmlns:a14="http://schemas.microsoft.com/office/drawing/2010/main" val="10003"/>
                      </a:ext>
                    </a:extLst>
                  </a:tr>
                  <a:tr h="372739">
                    <a:tc gridSpan="2" vMerge="1">
                      <a:txBody>
                        <a:bodyPr/>
                        <a:lstStyle/>
                        <a:p>
                          <a:endParaRPr lang="pt-BR"/>
                        </a:p>
                      </a:txBody>
                      <a:tcPr/>
                    </a:tc>
                    <a:tc hMerge="1" vMerge="1">
                      <a:txBody>
                        <a:bodyPr/>
                        <a:lstStyle/>
                        <a:p>
                          <a:endParaRPr lang="pt-BR"/>
                        </a:p>
                      </a:txBody>
                      <a:tcPr/>
                    </a:tc>
                    <a:tc gridSpan="3">
                      <a:txBody>
                        <a:bodyPr/>
                        <a:lstStyle/>
                        <a:p>
                          <a:pPr algn="ctr" rtl="0" fontAlgn="b"/>
                          <a:r>
                            <a:rPr lang="pt-BR" sz="1800" b="1" dirty="0">
                              <a:effectLst/>
                            </a:rPr>
                            <a:t>Classes Verdadeiras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extLst>
                      <a:ext uri="{0D108BD9-81ED-4DB2-BD59-A6C34878D82A}">
                        <a16:rowId xmlns="" xmlns:a16="http://schemas.microsoft.com/office/drawing/2014/main" xmlns:a14="http://schemas.microsoft.com/office/drawing/2010/main" val="10004"/>
                      </a:ext>
                    </a:extLst>
                  </a:tr>
                </a:tbl>
              </a:graphicData>
            </a:graphic>
          </p:graphicFrame>
        </mc:Fallback>
      </mc:AlternateContent>
      <mc:AlternateContent xmlns:mc="http://schemas.openxmlformats.org/markup-compatibility/2006">
        <mc:Choice xmlns:a14="http://schemas.microsoft.com/office/drawing/2010/main" Requires="a14">
          <p:sp>
            <p:nvSpPr>
              <p:cNvPr id="6" name="CaixaDeTexto 5">
                <a:extLst>
                  <a:ext uri="{FF2B5EF4-FFF2-40B4-BE49-F238E27FC236}">
                    <a16:creationId xmlns="" xmlns:a16="http://schemas.microsoft.com/office/drawing/2014/main" id="{B7DCAE37-0B68-31FE-C4B4-15B3A38CF8F2}"/>
                  </a:ext>
                </a:extLst>
              </p:cNvPr>
              <p:cNvSpPr txBox="1"/>
              <p:nvPr/>
            </p:nvSpPr>
            <p:spPr>
              <a:xfrm>
                <a:off x="2173135" y="2052250"/>
                <a:ext cx="4533900" cy="461665"/>
              </a:xfrm>
              <a:prstGeom prst="rect">
                <a:avLst/>
              </a:prstGeom>
              <a:noFill/>
            </p:spPr>
            <p:txBody>
              <a:bodyPr wrap="square" rtlCol="0">
                <a:spAutoFit/>
              </a:bodyPr>
              <a:lstStyle/>
              <a:p>
                <a:pPr algn="ctr"/>
                <a:r>
                  <a:rPr lang="pt-BR" sz="2400" dirty="0"/>
                  <a:t>Classe </a:t>
                </a:r>
                <a14:m>
                  <m:oMath xmlns:m="http://schemas.openxmlformats.org/officeDocument/2006/math">
                    <m:sSub>
                      <m:sSubPr>
                        <m:ctrlPr>
                          <a:rPr lang="pt-BR" sz="2400" i="1">
                            <a:latin typeface="Cambria Math" panose="02040503050406030204" pitchFamily="18" charset="0"/>
                          </a:rPr>
                        </m:ctrlPr>
                      </m:sSubPr>
                      <m:e>
                        <m:r>
                          <a:rPr lang="pt-BR" sz="2400" i="1">
                            <a:latin typeface="Cambria Math" panose="02040503050406030204" pitchFamily="18" charset="0"/>
                          </a:rPr>
                          <m:t>𝐶</m:t>
                        </m:r>
                      </m:e>
                      <m:sub>
                        <m:r>
                          <a:rPr lang="pt-BR" sz="2400" b="0" i="1" smtClean="0">
                            <a:latin typeface="Cambria Math" panose="02040503050406030204" pitchFamily="18" charset="0"/>
                          </a:rPr>
                          <m:t>2</m:t>
                        </m:r>
                      </m:sub>
                    </m:sSub>
                  </m:oMath>
                </a14:m>
                <a:r>
                  <a:rPr lang="pt-BR" sz="2400" dirty="0"/>
                  <a:t> é a positiva.</a:t>
                </a:r>
              </a:p>
            </p:txBody>
          </p:sp>
        </mc:Choice>
        <mc:Fallback>
          <p:sp>
            <p:nvSpPr>
              <p:cNvPr id="6" name="CaixaDeTexto 5">
                <a:extLst>
                  <a:ext uri="{FF2B5EF4-FFF2-40B4-BE49-F238E27FC236}">
                    <a16:creationId xmlns="" xmlns:a16="http://schemas.microsoft.com/office/drawing/2014/main" xmlns:a14="http://schemas.microsoft.com/office/drawing/2010/main" id="{B7DCAE37-0B68-31FE-C4B4-15B3A38CF8F2}"/>
                  </a:ext>
                </a:extLst>
              </p:cNvPr>
              <p:cNvSpPr txBox="1">
                <a:spLocks noRot="1" noChangeAspect="1" noMove="1" noResize="1" noEditPoints="1" noAdjustHandles="1" noChangeArrowheads="1" noChangeShapeType="1" noTextEdit="1"/>
              </p:cNvSpPr>
              <p:nvPr/>
            </p:nvSpPr>
            <p:spPr>
              <a:xfrm>
                <a:off x="2173135" y="2052250"/>
                <a:ext cx="4533900" cy="461665"/>
              </a:xfrm>
              <a:prstGeom prst="rect">
                <a:avLst/>
              </a:prstGeom>
              <a:blipFill rotWithShape="0">
                <a:blip r:embed="rId4"/>
                <a:stretch>
                  <a:fillRect t="-10667" b="-30667"/>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7" name="Espaço Reservado para Conteúdo 2"/>
              <p:cNvSpPr>
                <a:spLocks noGrp="1"/>
              </p:cNvSpPr>
              <p:nvPr>
                <p:ph idx="1"/>
              </p:nvPr>
            </p:nvSpPr>
            <p:spPr>
              <a:xfrm>
                <a:off x="6866626" y="1825624"/>
                <a:ext cx="5325374" cy="5032375"/>
              </a:xfrm>
            </p:spPr>
            <p:txBody>
              <a:bodyPr>
                <a:normAutofit/>
              </a:bodyPr>
              <a:lstStyle/>
              <a:p>
                <a:r>
                  <a:rPr lang="pt-BR" dirty="0" smtClean="0"/>
                  <a:t>A segunda matriz </a:t>
                </a:r>
                <a:r>
                  <a:rPr lang="pt-BR" dirty="0"/>
                  <a:t>considera a classe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2</m:t>
                        </m:r>
                      </m:sub>
                    </m:sSub>
                  </m:oMath>
                </a14:m>
                <a:r>
                  <a:rPr lang="pt-BR" dirty="0" smtClean="0"/>
                  <a:t> </a:t>
                </a:r>
                <a:r>
                  <a:rPr lang="pt-BR" dirty="0"/>
                  <a:t>como a classe positiva e as demais classes,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1</m:t>
                        </m:r>
                      </m:sub>
                    </m:sSub>
                  </m:oMath>
                </a14:m>
                <a:r>
                  <a:rPr lang="pt-BR" dirty="0" smtClean="0"/>
                  <a:t> </a:t>
                </a:r>
                <a:r>
                  <a:rPr lang="pt-BR" dirty="0"/>
                  <a:t>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3</m:t>
                        </m:r>
                      </m:sub>
                    </m:sSub>
                  </m:oMath>
                </a14:m>
                <a:r>
                  <a:rPr lang="pt-BR" dirty="0" smtClean="0"/>
                  <a:t>, </a:t>
                </a:r>
                <a:r>
                  <a:rPr lang="pt-BR" dirty="0"/>
                  <a:t>como a classe </a:t>
                </a:r>
                <a:r>
                  <a:rPr lang="pt-BR" dirty="0" smtClean="0"/>
                  <a:t>negativa.</a:t>
                </a:r>
              </a:p>
              <a:p>
                <a:r>
                  <a:rPr lang="pt-BR" dirty="0" smtClean="0"/>
                  <a:t>Agora</a:t>
                </a:r>
                <a:r>
                  <a:rPr lang="pt-BR" dirty="0"/>
                  <a:t>, de posse de TP, TN, FP, e FN, </a:t>
                </a:r>
                <a:r>
                  <a:rPr lang="pt-BR" b="1" dirty="0" smtClean="0"/>
                  <a:t>conseguimos </a:t>
                </a:r>
                <a:r>
                  <a:rPr lang="pt-BR" b="1" dirty="0"/>
                  <a:t>calcular as métricas anteriores para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2</m:t>
                        </m:r>
                      </m:sub>
                    </m:sSub>
                  </m:oMath>
                </a14:m>
                <a:r>
                  <a:rPr lang="pt-BR" dirty="0" smtClean="0"/>
                  <a:t> </a:t>
                </a:r>
                <a:r>
                  <a:rPr lang="pt-BR" dirty="0"/>
                  <a:t>sendo a classe positiva</a:t>
                </a:r>
                <a:r>
                  <a:rPr lang="pt-BR" dirty="0" smtClean="0"/>
                  <a:t>.</a:t>
                </a:r>
              </a:p>
            </p:txBody>
          </p:sp>
        </mc:Choice>
        <mc:Fallback>
          <p:sp>
            <p:nvSpPr>
              <p:cNvPr id="7" name="Espaço Reservado para Conteúdo 2"/>
              <p:cNvSpPr>
                <a:spLocks noGrp="1" noRot="1" noChangeAspect="1" noMove="1" noResize="1" noEditPoints="1" noAdjustHandles="1" noChangeArrowheads="1" noChangeShapeType="1" noTextEdit="1"/>
              </p:cNvSpPr>
              <p:nvPr>
                <p:ph idx="1"/>
              </p:nvPr>
            </p:nvSpPr>
            <p:spPr>
              <a:xfrm>
                <a:off x="6866626" y="1825624"/>
                <a:ext cx="5325374" cy="5032375"/>
              </a:xfrm>
              <a:blipFill rotWithShape="0">
                <a:blip r:embed="rId5"/>
                <a:stretch>
                  <a:fillRect l="-2059" t="-1937" r="-2403"/>
                </a:stretch>
              </a:blipFill>
            </p:spPr>
            <p:txBody>
              <a:bodyPr/>
              <a:lstStyle/>
              <a:p>
                <a:r>
                  <a:rPr lang="pt-BR">
                    <a:noFill/>
                  </a:rPr>
                  <a:t> </a:t>
                </a:r>
              </a:p>
            </p:txBody>
          </p:sp>
        </mc:Fallback>
      </mc:AlternateContent>
    </p:spTree>
    <p:extLst>
      <p:ext uri="{BB962C8B-B14F-4D97-AF65-F5344CB8AC3E}">
        <p14:creationId xmlns:p14="http://schemas.microsoft.com/office/powerpoint/2010/main" val="1253797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 xmlns:a16="http://schemas.microsoft.com/office/drawing/2014/main" id="{111DAAB9-5089-6A1D-EE26-B216DFC95A44}"/>
                  </a:ext>
                </a:extLst>
              </p:cNvPr>
              <p:cNvSpPr>
                <a:spLocks noGrp="1"/>
              </p:cNvSpPr>
              <p:nvPr>
                <p:ph type="title"/>
              </p:nvPr>
            </p:nvSpPr>
            <p:spPr/>
            <p:txBody>
              <a:bodyPr/>
              <a:lstStyle/>
              <a:p>
                <a:r>
                  <a:rPr lang="pt-BR" dirty="0"/>
                  <a:t>Matriz de confusão para caso multiclasses (</a:t>
                </a:r>
                <a14:m>
                  <m:oMath xmlns:m="http://schemas.openxmlformats.org/officeDocument/2006/math">
                    <m:r>
                      <a:rPr lang="pt-BR" b="0" i="1" smtClean="0">
                        <a:latin typeface="Cambria Math" panose="02040503050406030204" pitchFamily="18" charset="0"/>
                      </a:rPr>
                      <m:t>𝑄</m:t>
                    </m:r>
                    <m:r>
                      <a:rPr lang="pt-BR" b="0" i="1" smtClean="0">
                        <a:latin typeface="Cambria Math" panose="02040503050406030204" pitchFamily="18" charset="0"/>
                      </a:rPr>
                      <m:t>=3</m:t>
                    </m:r>
                  </m:oMath>
                </a14:m>
                <a:r>
                  <a:rPr lang="pt-BR" dirty="0"/>
                  <a:t>)</a:t>
                </a:r>
              </a:p>
            </p:txBody>
          </p:sp>
        </mc:Choice>
        <mc:Fallback xmlns="">
          <p:sp>
            <p:nvSpPr>
              <p:cNvPr id="2" name="Título 1">
                <a:extLst>
                  <a:ext uri="{FF2B5EF4-FFF2-40B4-BE49-F238E27FC236}">
                    <a16:creationId xmlns:a16="http://schemas.microsoft.com/office/drawing/2014/main" id="{111DAAB9-5089-6A1D-EE26-B216DFC95A44}"/>
                  </a:ext>
                </a:extLst>
              </p:cNvPr>
              <p:cNvSpPr>
                <a:spLocks noGrp="1" noRot="1" noChangeAspect="1" noMove="1" noResize="1" noEditPoints="1" noAdjustHandles="1" noChangeArrowheads="1" noChangeShapeType="1" noTextEdit="1"/>
              </p:cNvSpPr>
              <p:nvPr>
                <p:ph type="title"/>
              </p:nvPr>
            </p:nvSpPr>
            <p:spPr>
              <a:blipFill>
                <a:blip r:embed="rId2"/>
                <a:stretch>
                  <a:fillRect l="-2377" t="-13364" b="-21198"/>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graphicFrame>
            <p:nvGraphicFramePr>
              <p:cNvPr id="4" name="Table 5">
                <a:extLst>
                  <a:ext uri="{FF2B5EF4-FFF2-40B4-BE49-F238E27FC236}">
                    <a16:creationId xmlns="" xmlns:a16="http://schemas.microsoft.com/office/drawing/2014/main" id="{503C0902-1049-AA2E-DEEA-7B2CB97542AE}"/>
                  </a:ext>
                </a:extLst>
              </p:cNvPr>
              <p:cNvGraphicFramePr>
                <a:graphicFrameLocks noGrp="1"/>
              </p:cNvGraphicFramePr>
              <p:nvPr>
                <p:extLst/>
              </p:nvPr>
            </p:nvGraphicFramePr>
            <p:xfrm>
              <a:off x="236395" y="2544148"/>
              <a:ext cx="6458656" cy="2892976"/>
            </p:xfrm>
            <a:graphic>
              <a:graphicData uri="http://schemas.openxmlformats.org/drawingml/2006/table">
                <a:tbl>
                  <a:tblPr/>
                  <a:tblGrid>
                    <a:gridCol w="1299528">
                      <a:extLst>
                        <a:ext uri="{9D8B030D-6E8A-4147-A177-3AD203B41FA5}">
                          <a16:colId xmlns="" xmlns:a16="http://schemas.microsoft.com/office/drawing/2014/main" val="20000"/>
                        </a:ext>
                      </a:extLst>
                    </a:gridCol>
                    <a:gridCol w="800281">
                      <a:extLst>
                        <a:ext uri="{9D8B030D-6E8A-4147-A177-3AD203B41FA5}">
                          <a16:colId xmlns="" xmlns:a16="http://schemas.microsoft.com/office/drawing/2014/main" val="20001"/>
                        </a:ext>
                      </a:extLst>
                    </a:gridCol>
                    <a:gridCol w="1452949">
                      <a:extLst>
                        <a:ext uri="{9D8B030D-6E8A-4147-A177-3AD203B41FA5}">
                          <a16:colId xmlns="" xmlns:a16="http://schemas.microsoft.com/office/drawing/2014/main" val="20002"/>
                        </a:ext>
                      </a:extLst>
                    </a:gridCol>
                    <a:gridCol w="1452949">
                      <a:extLst>
                        <a:ext uri="{9D8B030D-6E8A-4147-A177-3AD203B41FA5}">
                          <a16:colId xmlns="" xmlns:a16="http://schemas.microsoft.com/office/drawing/2014/main" val="20003"/>
                        </a:ext>
                      </a:extLst>
                    </a:gridCol>
                    <a:gridCol w="1452949">
                      <a:extLst>
                        <a:ext uri="{9D8B030D-6E8A-4147-A177-3AD203B41FA5}">
                          <a16:colId xmlns="" xmlns:a16="http://schemas.microsoft.com/office/drawing/2014/main" val="20004"/>
                        </a:ext>
                      </a:extLst>
                    </a:gridCol>
                  </a:tblGrid>
                  <a:tr h="700022">
                    <a:tc rowSpan="3">
                      <a:txBody>
                        <a:bodyPr/>
                        <a:lstStyle/>
                        <a:p>
                          <a:pPr algn="ctr" rtl="0" fontAlgn="ctr"/>
                          <a:r>
                            <a:rPr lang="pt-BR" sz="1800" b="1" dirty="0">
                              <a:effectLst/>
                            </a:rPr>
                            <a:t>Classes </a:t>
                          </a:r>
                          <a:br>
                            <a:rPr lang="pt-BR" sz="1800" b="1" dirty="0">
                              <a:effectLst/>
                            </a:rPr>
                          </a:br>
                          <a:r>
                            <a:rPr lang="pt-BR" sz="1800" b="1" dirty="0">
                              <a:effectLst/>
                            </a:rPr>
                            <a:t>Preditas</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a:latin typeface="Cambria Math" panose="02040503050406030204" pitchFamily="18" charset="0"/>
                                    </a:rPr>
                                    <m:t>1</m:t>
                                  </m:r>
                                </m:sub>
                              </m:sSub>
                            </m:oMath>
                          </a14:m>
                          <a:r>
                            <a:rPr lang="pt-BR" sz="1800" b="0" dirty="0">
                              <a:effectLst/>
                            </a:rPr>
                            <a:t>)</a:t>
                          </a:r>
                          <a:endParaRPr lang="pt-BR" sz="1800" b="1" dirty="0">
                            <a:effectLst/>
                          </a:endParaRP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Negativos (FN)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723738">
                    <a:tc vMerge="1">
                      <a:txBody>
                        <a:bodyPr/>
                        <a:lstStyle/>
                        <a:p>
                          <a:endParaRPr lang="pt-BR"/>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2</m:t>
                                  </m:r>
                                </m:sub>
                              </m:sSub>
                            </m:oMath>
                          </a14:m>
                          <a:r>
                            <a:rPr lang="pt-BR" sz="1800" b="0" dirty="0">
                              <a:effectLst/>
                            </a:rPr>
                            <a:t>)</a:t>
                          </a:r>
                          <a:endParaRPr lang="pt-BR" sz="1800" b="1" dirty="0">
                            <a:effectLst/>
                          </a:endParaRP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Negativos (FN)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723738">
                    <a:tc vMerge="1">
                      <a:txBody>
                        <a:bodyPr/>
                        <a:lstStyle/>
                        <a:p>
                          <a:endParaRPr lang="pt-BR"/>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3</m:t>
                                  </m:r>
                                </m:sub>
                              </m:sSub>
                            </m:oMath>
                          </a14:m>
                          <a:r>
                            <a:rPr lang="pt-BR" sz="1800" b="0" dirty="0">
                              <a:effectLst/>
                            </a:rPr>
                            <a:t>)</a:t>
                          </a:r>
                          <a:endParaRPr lang="pt-BR" sz="1800" b="1" dirty="0">
                            <a:effectLst/>
                          </a:endParaRP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 </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Positivos (FP)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 </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Positivos (FP)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FF00"/>
                              </a:solidFill>
                              <a:effectLst/>
                              <a:latin typeface="Calibri" panose="020F0502020204030204" pitchFamily="34" charset="0"/>
                            </a:rPr>
                            <a:t>Verdadeiros </a:t>
                          </a:r>
                          <a:br>
                            <a:rPr lang="pt-BR" sz="1800" b="1" dirty="0">
                              <a:solidFill>
                                <a:srgbClr val="00FF00"/>
                              </a:solidFill>
                              <a:effectLst/>
                              <a:latin typeface="Calibri" panose="020F0502020204030204" pitchFamily="34" charset="0"/>
                            </a:rPr>
                          </a:br>
                          <a:r>
                            <a:rPr lang="pt-BR" sz="1800" b="1" dirty="0">
                              <a:solidFill>
                                <a:srgbClr val="00FF00"/>
                              </a:solidFill>
                              <a:effectLst/>
                              <a:latin typeface="Calibri" panose="020F0502020204030204" pitchFamily="34" charset="0"/>
                            </a:rPr>
                            <a:t>Positivos (TP)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72739">
                    <a:tc rowSpan="2" gridSpan="2">
                      <a:txBody>
                        <a:bodyPr/>
                        <a:lstStyle/>
                        <a:p>
                          <a:pPr rtl="0" fontAlgn="b"/>
                          <a:endParaRPr lang="pt-BR" sz="18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a:txBody>
                        <a:bodyPr/>
                        <a:lstStyle/>
                        <a:p>
                          <a:pPr algn="ctr" rtl="0" fontAlgn="b"/>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1</m:t>
                                  </m:r>
                                </m:sub>
                              </m:sSub>
                            </m:oMath>
                          </a14:m>
                          <a:r>
                            <a:rPr lang="pt-BR" sz="1800" b="0" dirty="0">
                              <a:effectLst/>
                            </a:rPr>
                            <a:t>)</a:t>
                          </a:r>
                          <a:endParaRPr lang="pt-BR" sz="1800" b="1"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2</m:t>
                                  </m:r>
                                </m:sub>
                              </m:sSub>
                            </m:oMath>
                          </a14:m>
                          <a:r>
                            <a:rPr lang="pt-BR" sz="1800" b="0" dirty="0">
                              <a:effectLst/>
                            </a:rPr>
                            <a:t>)</a:t>
                          </a:r>
                          <a:endParaRPr lang="pt-BR" sz="1800" b="1"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pt-BR" sz="1800" b="1" dirty="0">
                              <a:effectLst/>
                            </a:rPr>
                            <a:t>+ </a:t>
                          </a:r>
                          <a:r>
                            <a:rPr lang="pt-BR" sz="1800" b="0" dirty="0">
                              <a:effectLst/>
                            </a:rPr>
                            <a:t>(</a:t>
                          </a:r>
                          <a14:m>
                            <m:oMath xmlns:m="http://schemas.openxmlformats.org/officeDocument/2006/math">
                              <m:sSub>
                                <m:sSubPr>
                                  <m:ctrlPr>
                                    <a:rPr lang="pt-BR" sz="1800" b="0" i="1" smtClean="0">
                                      <a:latin typeface="Cambria Math" panose="02040503050406030204" pitchFamily="18" charset="0"/>
                                    </a:rPr>
                                  </m:ctrlPr>
                                </m:sSubPr>
                                <m:e>
                                  <m:r>
                                    <a:rPr lang="pt-BR" sz="1800" b="0" i="1">
                                      <a:latin typeface="Cambria Math" panose="02040503050406030204" pitchFamily="18" charset="0"/>
                                    </a:rPr>
                                    <m:t>𝐶</m:t>
                                  </m:r>
                                </m:e>
                                <m:sub>
                                  <m:r>
                                    <a:rPr lang="pt-BR" sz="1800" b="0" i="1" smtClean="0">
                                      <a:latin typeface="Cambria Math" panose="02040503050406030204" pitchFamily="18" charset="0"/>
                                    </a:rPr>
                                    <m:t>3</m:t>
                                  </m:r>
                                </m:sub>
                              </m:sSub>
                            </m:oMath>
                          </a14:m>
                          <a:r>
                            <a:rPr lang="pt-BR" sz="1800" b="0" dirty="0">
                              <a:effectLst/>
                            </a:rPr>
                            <a:t>)</a:t>
                          </a:r>
                          <a:endParaRPr lang="pt-BR" sz="1800" b="1"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 xmlns:a16="http://schemas.microsoft.com/office/drawing/2014/main" val="10003"/>
                      </a:ext>
                    </a:extLst>
                  </a:tr>
                  <a:tr h="372739">
                    <a:tc gridSpan="2" vMerge="1">
                      <a:txBody>
                        <a:bodyPr/>
                        <a:lstStyle/>
                        <a:p>
                          <a:endParaRPr lang="pt-BR"/>
                        </a:p>
                      </a:txBody>
                      <a:tcPr/>
                    </a:tc>
                    <a:tc hMerge="1" vMerge="1">
                      <a:txBody>
                        <a:bodyPr/>
                        <a:lstStyle/>
                        <a:p>
                          <a:endParaRPr lang="pt-BR"/>
                        </a:p>
                      </a:txBody>
                      <a:tcPr/>
                    </a:tc>
                    <a:tc gridSpan="3">
                      <a:txBody>
                        <a:bodyPr/>
                        <a:lstStyle/>
                        <a:p>
                          <a:pPr algn="ctr" rtl="0" fontAlgn="b"/>
                          <a:r>
                            <a:rPr lang="pt-BR" sz="1800" b="1" dirty="0">
                              <a:effectLst/>
                            </a:rPr>
                            <a:t>Classes Verdadeiras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extLst>
                      <a:ext uri="{0D108BD9-81ED-4DB2-BD59-A6C34878D82A}">
                        <a16:rowId xmlns="" xmlns:a16="http://schemas.microsoft.com/office/drawing/2014/main" val="10004"/>
                      </a:ext>
                    </a:extLst>
                  </a:tr>
                </a:tbl>
              </a:graphicData>
            </a:graphic>
          </p:graphicFrame>
        </mc:Choice>
        <mc:Fallback>
          <p:graphicFrame>
            <p:nvGraphicFramePr>
              <p:cNvPr id="4" name="Table 5">
                <a:extLst>
                  <a:ext uri="{FF2B5EF4-FFF2-40B4-BE49-F238E27FC236}">
                    <a16:creationId xmlns="" xmlns:a16="http://schemas.microsoft.com/office/drawing/2014/main" xmlns:a14="http://schemas.microsoft.com/office/drawing/2010/main" id="{503C0902-1049-AA2E-DEEA-7B2CB97542AE}"/>
                  </a:ext>
                </a:extLst>
              </p:cNvPr>
              <p:cNvGraphicFramePr>
                <a:graphicFrameLocks noGrp="1"/>
              </p:cNvGraphicFramePr>
              <p:nvPr>
                <p:extLst/>
              </p:nvPr>
            </p:nvGraphicFramePr>
            <p:xfrm>
              <a:off x="236395" y="2544148"/>
              <a:ext cx="6458656" cy="2892976"/>
            </p:xfrm>
            <a:graphic>
              <a:graphicData uri="http://schemas.openxmlformats.org/drawingml/2006/table">
                <a:tbl>
                  <a:tblPr/>
                  <a:tblGrid>
                    <a:gridCol w="1299528">
                      <a:extLst>
                        <a:ext uri="{9D8B030D-6E8A-4147-A177-3AD203B41FA5}">
                          <a16:colId xmlns="" xmlns:a16="http://schemas.microsoft.com/office/drawing/2014/main" xmlns:a14="http://schemas.microsoft.com/office/drawing/2010/main" val="20000"/>
                        </a:ext>
                      </a:extLst>
                    </a:gridCol>
                    <a:gridCol w="800281">
                      <a:extLst>
                        <a:ext uri="{9D8B030D-6E8A-4147-A177-3AD203B41FA5}">
                          <a16:colId xmlns="" xmlns:a16="http://schemas.microsoft.com/office/drawing/2014/main" xmlns:a14="http://schemas.microsoft.com/office/drawing/2010/main" val="20001"/>
                        </a:ext>
                      </a:extLst>
                    </a:gridCol>
                    <a:gridCol w="1452949">
                      <a:extLst>
                        <a:ext uri="{9D8B030D-6E8A-4147-A177-3AD203B41FA5}">
                          <a16:colId xmlns="" xmlns:a16="http://schemas.microsoft.com/office/drawing/2014/main" xmlns:a14="http://schemas.microsoft.com/office/drawing/2010/main" val="20002"/>
                        </a:ext>
                      </a:extLst>
                    </a:gridCol>
                    <a:gridCol w="1452949">
                      <a:extLst>
                        <a:ext uri="{9D8B030D-6E8A-4147-A177-3AD203B41FA5}">
                          <a16:colId xmlns="" xmlns:a16="http://schemas.microsoft.com/office/drawing/2014/main" xmlns:a14="http://schemas.microsoft.com/office/drawing/2010/main" val="20003"/>
                        </a:ext>
                      </a:extLst>
                    </a:gridCol>
                    <a:gridCol w="1452949">
                      <a:extLst>
                        <a:ext uri="{9D8B030D-6E8A-4147-A177-3AD203B41FA5}">
                          <a16:colId xmlns="" xmlns:a16="http://schemas.microsoft.com/office/drawing/2014/main" xmlns:a14="http://schemas.microsoft.com/office/drawing/2010/main" val="20004"/>
                        </a:ext>
                      </a:extLst>
                    </a:gridCol>
                  </a:tblGrid>
                  <a:tr h="700022">
                    <a:tc rowSpan="3">
                      <a:txBody>
                        <a:bodyPr/>
                        <a:lstStyle/>
                        <a:p>
                          <a:pPr algn="ctr" rtl="0" fontAlgn="ctr"/>
                          <a:r>
                            <a:rPr lang="pt-BR" sz="1800" b="1" dirty="0">
                              <a:effectLst/>
                            </a:rPr>
                            <a:t>Classes </a:t>
                          </a:r>
                          <a:br>
                            <a:rPr lang="pt-BR" sz="1800" b="1" dirty="0">
                              <a:effectLst/>
                            </a:rPr>
                          </a:br>
                          <a:r>
                            <a:rPr lang="pt-BR" sz="1800" b="1" dirty="0">
                              <a:effectLst/>
                            </a:rPr>
                            <a:t>Preditas</a:t>
                          </a:r>
                        </a:p>
                      </a:txBody>
                      <a:tcPr marL="28575" marR="28575" marT="19050" marB="190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endParaRPr lang="pt-B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3"/>
                          <a:stretch>
                            <a:fillRect l="-162121" t="-870" r="-543939" b="-330435"/>
                          </a:stretch>
                        </a:blip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Negativos (FN)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0"/>
                      </a:ext>
                    </a:extLst>
                  </a:tr>
                  <a:tr h="723738">
                    <a:tc vMerge="1">
                      <a:txBody>
                        <a:bodyPr/>
                        <a:lstStyle/>
                        <a:p>
                          <a:endParaRPr lang="pt-BR"/>
                        </a:p>
                      </a:txBody>
                      <a:tcPr/>
                    </a:tc>
                    <a:tc>
                      <a:txBody>
                        <a:bodyPr/>
                        <a:lstStyle/>
                        <a:p>
                          <a:endParaRPr lang="pt-B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3"/>
                          <a:stretch>
                            <a:fillRect l="-162121" t="-97479" r="-543939" b="-219328"/>
                          </a:stretch>
                        </a:blip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FF0000"/>
                              </a:solidFill>
                              <a:effectLst/>
                              <a:latin typeface="Calibri" panose="020F0502020204030204" pitchFamily="34" charset="0"/>
                            </a:rPr>
                            <a:t>Verdadeiros </a:t>
                          </a:r>
                          <a:br>
                            <a:rPr lang="pt-BR" sz="1800" b="1" dirty="0">
                              <a:solidFill>
                                <a:srgbClr val="FF0000"/>
                              </a:solidFill>
                              <a:effectLst/>
                              <a:latin typeface="Calibri" panose="020F0502020204030204" pitchFamily="34" charset="0"/>
                            </a:rPr>
                          </a:br>
                          <a:r>
                            <a:rPr lang="pt-BR" sz="1800" b="1" dirty="0">
                              <a:solidFill>
                                <a:srgbClr val="FF0000"/>
                              </a:solidFill>
                              <a:effectLst/>
                              <a:latin typeface="Calibri" panose="020F0502020204030204" pitchFamily="34" charset="0"/>
                            </a:rPr>
                            <a:t>Negativos (TN)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Negativos (FN)</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1"/>
                      </a:ext>
                    </a:extLst>
                  </a:tr>
                  <a:tr h="723738">
                    <a:tc vMerge="1">
                      <a:txBody>
                        <a:bodyPr/>
                        <a:lstStyle/>
                        <a:p>
                          <a:endParaRPr lang="pt-BR"/>
                        </a:p>
                      </a:txBody>
                      <a:tcPr/>
                    </a:tc>
                    <a:tc>
                      <a:txBody>
                        <a:bodyPr/>
                        <a:lstStyle/>
                        <a:p>
                          <a:endParaRPr lang="pt-BR"/>
                        </a:p>
                      </a:txBody>
                      <a:tcPr marL="28575" marR="28575" marT="19050" marB="19050" anchor="ctr">
                        <a:lnL w="9525"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3"/>
                          <a:stretch>
                            <a:fillRect l="-162121" t="-197479" r="-543939" b="-119328"/>
                          </a:stretch>
                        </a:blip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 </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Positivos (FP)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00FF"/>
                              </a:solidFill>
                              <a:effectLst/>
                              <a:latin typeface="Calibri" panose="020F0502020204030204" pitchFamily="34" charset="0"/>
                            </a:rPr>
                            <a:t>Falsos </a:t>
                          </a:r>
                          <a:br>
                            <a:rPr lang="pt-BR" sz="1800" b="1" dirty="0">
                              <a:solidFill>
                                <a:srgbClr val="0000FF"/>
                              </a:solidFill>
                              <a:effectLst/>
                              <a:latin typeface="Calibri" panose="020F0502020204030204" pitchFamily="34" charset="0"/>
                            </a:rPr>
                          </a:br>
                          <a:r>
                            <a:rPr lang="pt-BR" sz="1800" b="1" dirty="0">
                              <a:solidFill>
                                <a:srgbClr val="0000FF"/>
                              </a:solidFill>
                              <a:effectLst/>
                              <a:latin typeface="Calibri" panose="020F0502020204030204" pitchFamily="34" charset="0"/>
                            </a:rPr>
                            <a:t>Positivos (FP)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pt-BR" sz="1800" b="1" dirty="0">
                              <a:solidFill>
                                <a:srgbClr val="00FF00"/>
                              </a:solidFill>
                              <a:effectLst/>
                              <a:latin typeface="Calibri" panose="020F0502020204030204" pitchFamily="34" charset="0"/>
                            </a:rPr>
                            <a:t>Verdadeiros </a:t>
                          </a:r>
                          <a:br>
                            <a:rPr lang="pt-BR" sz="1800" b="1" dirty="0">
                              <a:solidFill>
                                <a:srgbClr val="00FF00"/>
                              </a:solidFill>
                              <a:effectLst/>
                              <a:latin typeface="Calibri" panose="020F0502020204030204" pitchFamily="34" charset="0"/>
                            </a:rPr>
                          </a:br>
                          <a:r>
                            <a:rPr lang="pt-BR" sz="1800" b="1" dirty="0">
                              <a:solidFill>
                                <a:srgbClr val="00FF00"/>
                              </a:solidFill>
                              <a:effectLst/>
                              <a:latin typeface="Calibri" panose="020F0502020204030204" pitchFamily="34" charset="0"/>
                            </a:rPr>
                            <a:t>Positivos (TP)</a:t>
                          </a: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2"/>
                      </a:ext>
                    </a:extLst>
                  </a:tr>
                  <a:tr h="372739">
                    <a:tc rowSpan="2" gridSpan="2">
                      <a:txBody>
                        <a:bodyPr/>
                        <a:lstStyle/>
                        <a:p>
                          <a:pPr rtl="0" fontAlgn="b"/>
                          <a:endParaRPr lang="pt-BR" sz="1800" dirty="0">
                            <a:effectLst/>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2" hMerge="1">
                      <a:txBody>
                        <a:bodyPr/>
                        <a:lstStyle/>
                        <a:p>
                          <a:endParaRPr lang="pt-BR"/>
                        </a:p>
                      </a:txBody>
                      <a:tcPr/>
                    </a:tc>
                    <a:tc>
                      <a:txBody>
                        <a:bodyPr/>
                        <a:lstStyle/>
                        <a:p>
                          <a:endParaRPr lang="pt-B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3"/>
                          <a:stretch>
                            <a:fillRect l="-144770" t="-580328" r="-200418" b="-132787"/>
                          </a:stretch>
                        </a:blipFill>
                      </a:tcPr>
                    </a:tc>
                    <a:tc>
                      <a:txBody>
                        <a:bodyPr/>
                        <a:lstStyle/>
                        <a:p>
                          <a:endParaRPr lang="pt-B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3"/>
                          <a:stretch>
                            <a:fillRect l="-245798" t="-580328" r="-101261" b="-132787"/>
                          </a:stretch>
                        </a:blipFill>
                      </a:tcPr>
                    </a:tc>
                    <a:tc>
                      <a:txBody>
                        <a:bodyPr/>
                        <a:lstStyle/>
                        <a:p>
                          <a:endParaRPr lang="pt-B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CCCCCC"/>
                          </a:solidFill>
                          <a:prstDash val="solid"/>
                          <a:round/>
                          <a:headEnd type="none" w="med" len="med"/>
                          <a:tailEnd type="none" w="med" len="med"/>
                        </a:lnB>
                        <a:blipFill rotWithShape="0">
                          <a:blip r:embed="rId3"/>
                          <a:stretch>
                            <a:fillRect l="-344351" t="-580328" r="-837" b="-132787"/>
                          </a:stretch>
                        </a:blipFill>
                      </a:tcPr>
                    </a:tc>
                    <a:extLst>
                      <a:ext uri="{0D108BD9-81ED-4DB2-BD59-A6C34878D82A}">
                        <a16:rowId xmlns="" xmlns:a16="http://schemas.microsoft.com/office/drawing/2014/main" xmlns:a14="http://schemas.microsoft.com/office/drawing/2010/main" val="10003"/>
                      </a:ext>
                    </a:extLst>
                  </a:tr>
                  <a:tr h="372739">
                    <a:tc gridSpan="2" vMerge="1">
                      <a:txBody>
                        <a:bodyPr/>
                        <a:lstStyle/>
                        <a:p>
                          <a:endParaRPr lang="pt-BR"/>
                        </a:p>
                      </a:txBody>
                      <a:tcPr/>
                    </a:tc>
                    <a:tc hMerge="1" vMerge="1">
                      <a:txBody>
                        <a:bodyPr/>
                        <a:lstStyle/>
                        <a:p>
                          <a:endParaRPr lang="pt-BR"/>
                        </a:p>
                      </a:txBody>
                      <a:tcPr/>
                    </a:tc>
                    <a:tc gridSpan="3">
                      <a:txBody>
                        <a:bodyPr/>
                        <a:lstStyle/>
                        <a:p>
                          <a:pPr algn="ctr" rtl="0" fontAlgn="b"/>
                          <a:r>
                            <a:rPr lang="pt-BR" sz="1800" b="1" dirty="0">
                              <a:effectLst/>
                            </a:rPr>
                            <a:t>Classes Verdadeiras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extLst>
                      <a:ext uri="{0D108BD9-81ED-4DB2-BD59-A6C34878D82A}">
                        <a16:rowId xmlns="" xmlns:a16="http://schemas.microsoft.com/office/drawing/2014/main" xmlns:a14="http://schemas.microsoft.com/office/drawing/2010/main" val="10004"/>
                      </a:ext>
                    </a:extLst>
                  </a:tr>
                </a:tbl>
              </a:graphicData>
            </a:graphic>
          </p:graphicFrame>
        </mc:Fallback>
      </mc:AlternateContent>
      <mc:AlternateContent xmlns:mc="http://schemas.openxmlformats.org/markup-compatibility/2006">
        <mc:Choice xmlns:a14="http://schemas.microsoft.com/office/drawing/2010/main" Requires="a14">
          <p:sp>
            <p:nvSpPr>
              <p:cNvPr id="5" name="CaixaDeTexto 4">
                <a:extLst>
                  <a:ext uri="{FF2B5EF4-FFF2-40B4-BE49-F238E27FC236}">
                    <a16:creationId xmlns="" xmlns:a16="http://schemas.microsoft.com/office/drawing/2014/main" id="{B83BC0EE-008B-5644-0A66-777A225A2EE1}"/>
                  </a:ext>
                </a:extLst>
              </p:cNvPr>
              <p:cNvSpPr txBox="1"/>
              <p:nvPr/>
            </p:nvSpPr>
            <p:spPr>
              <a:xfrm>
                <a:off x="2351651" y="2083811"/>
                <a:ext cx="4343400" cy="461665"/>
              </a:xfrm>
              <a:prstGeom prst="rect">
                <a:avLst/>
              </a:prstGeom>
              <a:noFill/>
            </p:spPr>
            <p:txBody>
              <a:bodyPr wrap="square" rtlCol="0">
                <a:spAutoFit/>
              </a:bodyPr>
              <a:lstStyle/>
              <a:p>
                <a:pPr algn="ctr"/>
                <a:r>
                  <a:rPr lang="pt-BR" sz="2400" dirty="0"/>
                  <a:t>Classe </a:t>
                </a:r>
                <a14:m>
                  <m:oMath xmlns:m="http://schemas.openxmlformats.org/officeDocument/2006/math">
                    <m:sSub>
                      <m:sSubPr>
                        <m:ctrlPr>
                          <a:rPr lang="pt-BR" sz="2400" i="1">
                            <a:latin typeface="Cambria Math" panose="02040503050406030204" pitchFamily="18" charset="0"/>
                          </a:rPr>
                        </m:ctrlPr>
                      </m:sSubPr>
                      <m:e>
                        <m:r>
                          <a:rPr lang="pt-BR" sz="2400" i="1">
                            <a:latin typeface="Cambria Math" panose="02040503050406030204" pitchFamily="18" charset="0"/>
                          </a:rPr>
                          <m:t>𝐶</m:t>
                        </m:r>
                      </m:e>
                      <m:sub>
                        <m:r>
                          <a:rPr lang="pt-BR" sz="2400" b="0" i="1" smtClean="0">
                            <a:latin typeface="Cambria Math" panose="02040503050406030204" pitchFamily="18" charset="0"/>
                          </a:rPr>
                          <m:t>3</m:t>
                        </m:r>
                      </m:sub>
                    </m:sSub>
                    <m:r>
                      <a:rPr lang="pt-BR" sz="2400" b="0" i="1" smtClean="0">
                        <a:latin typeface="Cambria Math" panose="02040503050406030204" pitchFamily="18" charset="0"/>
                      </a:rPr>
                      <m:t> </m:t>
                    </m:r>
                  </m:oMath>
                </a14:m>
                <a:r>
                  <a:rPr lang="pt-BR" sz="2400" dirty="0"/>
                  <a:t>é a positiva.</a:t>
                </a:r>
              </a:p>
            </p:txBody>
          </p:sp>
        </mc:Choice>
        <mc:Fallback>
          <p:sp>
            <p:nvSpPr>
              <p:cNvPr id="5" name="CaixaDeTexto 4">
                <a:extLst>
                  <a:ext uri="{FF2B5EF4-FFF2-40B4-BE49-F238E27FC236}">
                    <a16:creationId xmlns="" xmlns:a16="http://schemas.microsoft.com/office/drawing/2014/main" xmlns:a14="http://schemas.microsoft.com/office/drawing/2010/main" id="{B83BC0EE-008B-5644-0A66-777A225A2EE1}"/>
                  </a:ext>
                </a:extLst>
              </p:cNvPr>
              <p:cNvSpPr txBox="1">
                <a:spLocks noRot="1" noChangeAspect="1" noMove="1" noResize="1" noEditPoints="1" noAdjustHandles="1" noChangeArrowheads="1" noChangeShapeType="1" noTextEdit="1"/>
              </p:cNvSpPr>
              <p:nvPr/>
            </p:nvSpPr>
            <p:spPr>
              <a:xfrm>
                <a:off x="2351651" y="2083811"/>
                <a:ext cx="4343400" cy="461665"/>
              </a:xfrm>
              <a:prstGeom prst="rect">
                <a:avLst/>
              </a:prstGeom>
              <a:blipFill rotWithShape="0">
                <a:blip r:embed="rId4"/>
                <a:stretch>
                  <a:fillRect t="-10526" b="-28947"/>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6" name="Espaço Reservado para Conteúdo 2"/>
              <p:cNvSpPr>
                <a:spLocks noGrp="1"/>
              </p:cNvSpPr>
              <p:nvPr>
                <p:ph idx="1"/>
              </p:nvPr>
            </p:nvSpPr>
            <p:spPr>
              <a:xfrm>
                <a:off x="6866626" y="1825624"/>
                <a:ext cx="5325374" cy="5032375"/>
              </a:xfrm>
            </p:spPr>
            <p:txBody>
              <a:bodyPr>
                <a:normAutofit/>
              </a:bodyPr>
              <a:lstStyle/>
              <a:p>
                <a:r>
                  <a:rPr lang="pt-BR" dirty="0" smtClean="0"/>
                  <a:t>A segunda matriz </a:t>
                </a:r>
                <a:r>
                  <a:rPr lang="pt-BR" dirty="0"/>
                  <a:t>considera a classe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3</m:t>
                        </m:r>
                      </m:sub>
                    </m:sSub>
                  </m:oMath>
                </a14:m>
                <a:r>
                  <a:rPr lang="pt-BR" dirty="0" smtClean="0"/>
                  <a:t> </a:t>
                </a:r>
                <a:r>
                  <a:rPr lang="pt-BR" dirty="0"/>
                  <a:t>como a classe positiva e as demais classes,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1</m:t>
                        </m:r>
                      </m:sub>
                    </m:sSub>
                  </m:oMath>
                </a14:m>
                <a:r>
                  <a:rPr lang="pt-BR" dirty="0" smtClean="0"/>
                  <a:t> </a:t>
                </a:r>
                <a:r>
                  <a:rPr lang="pt-BR" dirty="0"/>
                  <a:t>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2</m:t>
                        </m:r>
                      </m:sub>
                    </m:sSub>
                  </m:oMath>
                </a14:m>
                <a:r>
                  <a:rPr lang="pt-BR" dirty="0" smtClean="0"/>
                  <a:t>, </a:t>
                </a:r>
                <a:r>
                  <a:rPr lang="pt-BR" dirty="0"/>
                  <a:t>como a classe </a:t>
                </a:r>
                <a:r>
                  <a:rPr lang="pt-BR" dirty="0" smtClean="0"/>
                  <a:t>negativa.</a:t>
                </a:r>
              </a:p>
              <a:p>
                <a:r>
                  <a:rPr lang="pt-BR" dirty="0" smtClean="0"/>
                  <a:t>Agora</a:t>
                </a:r>
                <a:r>
                  <a:rPr lang="pt-BR" dirty="0"/>
                  <a:t>, de posse de TP, TN, FP, e FN, </a:t>
                </a:r>
                <a:r>
                  <a:rPr lang="pt-BR" b="1" dirty="0" smtClean="0"/>
                  <a:t>conseguimos </a:t>
                </a:r>
                <a:r>
                  <a:rPr lang="pt-BR" b="1" dirty="0"/>
                  <a:t>calcular as métricas anteriores para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3</m:t>
                        </m:r>
                      </m:sub>
                    </m:sSub>
                  </m:oMath>
                </a14:m>
                <a:r>
                  <a:rPr lang="pt-BR" dirty="0" smtClean="0"/>
                  <a:t> </a:t>
                </a:r>
                <a:r>
                  <a:rPr lang="pt-BR" dirty="0"/>
                  <a:t>sendo a classe positiva</a:t>
                </a:r>
                <a:r>
                  <a:rPr lang="pt-BR" dirty="0" smtClean="0"/>
                  <a:t>.</a:t>
                </a:r>
                <a:endParaRPr lang="pt-BR" dirty="0"/>
              </a:p>
              <a:p>
                <a:r>
                  <a:rPr lang="pt-BR" dirty="0"/>
                  <a:t>Percebam que, ao final, teremos um </a:t>
                </a:r>
                <a:r>
                  <a:rPr lang="pt-BR" b="1" dirty="0">
                    <a:solidFill>
                      <a:schemeClr val="accent2"/>
                    </a:solidFill>
                  </a:rPr>
                  <a:t>conjunto de métricas (precisão, </a:t>
                </a:r>
                <a:r>
                  <a:rPr lang="pt-BR" b="1" i="1" dirty="0">
                    <a:solidFill>
                      <a:schemeClr val="accent2"/>
                    </a:solidFill>
                  </a:rPr>
                  <a:t>recall</a:t>
                </a:r>
                <a:r>
                  <a:rPr lang="pt-BR" b="1" dirty="0">
                    <a:solidFill>
                      <a:schemeClr val="accent2"/>
                    </a:solidFill>
                  </a:rPr>
                  <a:t>, F1-</a:t>
                </a:r>
                <a:r>
                  <a:rPr lang="pt-BR" b="1" i="1" dirty="0">
                    <a:solidFill>
                      <a:schemeClr val="accent2"/>
                    </a:solidFill>
                  </a:rPr>
                  <a:t>score</a:t>
                </a:r>
                <a:r>
                  <a:rPr lang="pt-BR" b="1" dirty="0">
                    <a:solidFill>
                      <a:schemeClr val="accent2"/>
                    </a:solidFill>
                  </a:rPr>
                  <a:t>) por classe</a:t>
                </a:r>
                <a:r>
                  <a:rPr lang="pt-BR" dirty="0" smtClean="0">
                    <a:solidFill>
                      <a:schemeClr val="accent2"/>
                    </a:solidFill>
                  </a:rPr>
                  <a:t>.</a:t>
                </a:r>
                <a:endParaRPr lang="pt-BR" dirty="0">
                  <a:solidFill>
                    <a:schemeClr val="accent2"/>
                  </a:solidFill>
                </a:endParaRPr>
              </a:p>
            </p:txBody>
          </p:sp>
        </mc:Choice>
        <mc:Fallback>
          <p:sp>
            <p:nvSpPr>
              <p:cNvPr id="6" name="Espaço Reservado para Conteúdo 2"/>
              <p:cNvSpPr>
                <a:spLocks noGrp="1" noRot="1" noChangeAspect="1" noMove="1" noResize="1" noEditPoints="1" noAdjustHandles="1" noChangeArrowheads="1" noChangeShapeType="1" noTextEdit="1"/>
              </p:cNvSpPr>
              <p:nvPr>
                <p:ph idx="1"/>
              </p:nvPr>
            </p:nvSpPr>
            <p:spPr>
              <a:xfrm>
                <a:off x="6866626" y="1825624"/>
                <a:ext cx="5325374" cy="5032375"/>
              </a:xfrm>
              <a:blipFill rotWithShape="0">
                <a:blip r:embed="rId5"/>
                <a:stretch>
                  <a:fillRect l="-2059" t="-1937" r="-2403" b="-1816"/>
                </a:stretch>
              </a:blipFill>
            </p:spPr>
            <p:txBody>
              <a:bodyPr/>
              <a:lstStyle/>
              <a:p>
                <a:r>
                  <a:rPr lang="pt-BR">
                    <a:noFill/>
                  </a:rPr>
                  <a:t> </a:t>
                </a:r>
              </a:p>
            </p:txBody>
          </p:sp>
        </mc:Fallback>
      </mc:AlternateContent>
    </p:spTree>
    <p:extLst>
      <p:ext uri="{BB962C8B-B14F-4D97-AF65-F5344CB8AC3E}">
        <p14:creationId xmlns:p14="http://schemas.microsoft.com/office/powerpoint/2010/main" val="187121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A478C6-7197-E66C-805B-12C1C5C166DC}"/>
              </a:ext>
            </a:extLst>
          </p:cNvPr>
          <p:cNvSpPr>
            <a:spLocks noGrp="1"/>
          </p:cNvSpPr>
          <p:nvPr>
            <p:ph type="title"/>
          </p:nvPr>
        </p:nvSpPr>
        <p:spPr/>
        <p:txBody>
          <a:bodyPr/>
          <a:lstStyle/>
          <a:p>
            <a:r>
              <a:rPr lang="pt-BR" dirty="0"/>
              <a:t>Acurácia para o caso multiclasses</a:t>
            </a:r>
            <a:endParaRPr lang="en-US" dirty="0"/>
          </a:p>
        </p:txBody>
      </p:sp>
      <p:sp>
        <p:nvSpPr>
          <p:cNvPr id="3" name="Content Placeholder 2">
            <a:extLst>
              <a:ext uri="{FF2B5EF4-FFF2-40B4-BE49-F238E27FC236}">
                <a16:creationId xmlns="" xmlns:a16="http://schemas.microsoft.com/office/drawing/2014/main" id="{2B0A3077-842E-10B4-83E8-F6B58E0934BA}"/>
              </a:ext>
            </a:extLst>
          </p:cNvPr>
          <p:cNvSpPr>
            <a:spLocks noGrp="1"/>
          </p:cNvSpPr>
          <p:nvPr>
            <p:ph idx="1"/>
          </p:nvPr>
        </p:nvSpPr>
        <p:spPr>
          <a:xfrm>
            <a:off x="6466113" y="1825625"/>
            <a:ext cx="5617029" cy="4351338"/>
          </a:xfrm>
        </p:spPr>
        <p:txBody>
          <a:bodyPr/>
          <a:lstStyle/>
          <a:p>
            <a:r>
              <a:rPr lang="pt-BR" dirty="0"/>
              <a:t>Para o caso multiclasses, a acurácia é calculada como razão entre a soma de todos os acertos e o total de exemplos avaliados (i.e., a soma erros e acertos).</a:t>
            </a:r>
            <a:endParaRPr lang="en-US" dirty="0"/>
          </a:p>
        </p:txBody>
      </p:sp>
      <mc:AlternateContent xmlns:mc="http://schemas.openxmlformats.org/markup-compatibility/2006" xmlns:a14="http://schemas.microsoft.com/office/drawing/2010/main">
        <mc:Choice Requires="a14">
          <p:sp>
            <p:nvSpPr>
              <p:cNvPr id="4" name="CaixaDeTexto 3">
                <a:extLst>
                  <a:ext uri="{FF2B5EF4-FFF2-40B4-BE49-F238E27FC236}">
                    <a16:creationId xmlns="" xmlns:a16="http://schemas.microsoft.com/office/drawing/2014/main" id="{BCF716F4-6740-06F0-4F7F-43E81B6588C9}"/>
                  </a:ext>
                </a:extLst>
              </p:cNvPr>
              <p:cNvSpPr txBox="1"/>
              <p:nvPr/>
            </p:nvSpPr>
            <p:spPr>
              <a:xfrm>
                <a:off x="731383" y="5421759"/>
                <a:ext cx="10729233" cy="11148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pt-BR" sz="3200" i="0" smtClean="0">
                          <a:latin typeface="Cambria Math" panose="02040503050406030204" pitchFamily="18" charset="0"/>
                        </a:rPr>
                        <m:t>a</m:t>
                      </m:r>
                      <m:r>
                        <m:rPr>
                          <m:sty m:val="p"/>
                        </m:rPr>
                        <a:rPr lang="pt-BR" sz="3200" b="0" i="0" smtClean="0">
                          <a:latin typeface="Cambria Math" panose="02040503050406030204" pitchFamily="18" charset="0"/>
                        </a:rPr>
                        <m:t>cur</m:t>
                      </m:r>
                      <m:r>
                        <a:rPr lang="pt-BR" sz="3200" b="0" i="0" smtClean="0">
                          <a:latin typeface="Cambria Math" panose="02040503050406030204" pitchFamily="18" charset="0"/>
                        </a:rPr>
                        <m:t>á</m:t>
                      </m:r>
                      <m:r>
                        <m:rPr>
                          <m:sty m:val="p"/>
                        </m:rPr>
                        <a:rPr lang="pt-BR" sz="3200" b="0" i="0" smtClean="0">
                          <a:latin typeface="Cambria Math" panose="02040503050406030204" pitchFamily="18" charset="0"/>
                        </a:rPr>
                        <m:t>cia</m:t>
                      </m:r>
                      <m:r>
                        <a:rPr lang="pt-BR" sz="3200" i="0">
                          <a:latin typeface="Cambria Math" panose="02040503050406030204" pitchFamily="18" charset="0"/>
                        </a:rPr>
                        <m:t>=</m:t>
                      </m:r>
                      <m:f>
                        <m:fPr>
                          <m:ctrlPr>
                            <a:rPr lang="pt-BR" sz="3200" b="0" i="1" smtClean="0">
                              <a:latin typeface="Cambria Math" panose="02040503050406030204" pitchFamily="18" charset="0"/>
                            </a:rPr>
                          </m:ctrlPr>
                        </m:fPr>
                        <m:num>
                          <m:r>
                            <m:rPr>
                              <m:sty m:val="p"/>
                            </m:rPr>
                            <a:rPr lang="pt-BR" sz="3200" b="0" i="0" smtClean="0">
                              <a:latin typeface="Cambria Math" panose="02040503050406030204" pitchFamily="18" charset="0"/>
                            </a:rPr>
                            <m:t>Soma</m:t>
                          </m:r>
                          <m:r>
                            <a:rPr lang="pt-BR" sz="3200" b="0" i="0" smtClean="0">
                              <a:latin typeface="Cambria Math" panose="02040503050406030204" pitchFamily="18" charset="0"/>
                            </a:rPr>
                            <m:t> </m:t>
                          </m:r>
                          <m:r>
                            <m:rPr>
                              <m:sty m:val="p"/>
                            </m:rPr>
                            <a:rPr lang="pt-BR" sz="3200" b="0" i="0" smtClean="0">
                              <a:latin typeface="Cambria Math" panose="02040503050406030204" pitchFamily="18" charset="0"/>
                            </a:rPr>
                            <m:t>dos</m:t>
                          </m:r>
                          <m:r>
                            <a:rPr lang="pt-BR" sz="3200" b="0" i="0" smtClean="0">
                              <a:latin typeface="Cambria Math" panose="02040503050406030204" pitchFamily="18" charset="0"/>
                            </a:rPr>
                            <m:t> </m:t>
                          </m:r>
                          <m:r>
                            <m:rPr>
                              <m:sty m:val="p"/>
                            </m:rPr>
                            <a:rPr lang="pt-BR" sz="3200" b="0" i="0" smtClean="0">
                              <a:latin typeface="Cambria Math" panose="02040503050406030204" pitchFamily="18" charset="0"/>
                            </a:rPr>
                            <m:t>elementos</m:t>
                          </m:r>
                          <m:r>
                            <a:rPr lang="pt-BR" sz="3200" b="0" i="0" smtClean="0">
                              <a:latin typeface="Cambria Math" panose="02040503050406030204" pitchFamily="18" charset="0"/>
                            </a:rPr>
                            <m:t> </m:t>
                          </m:r>
                          <m:r>
                            <m:rPr>
                              <m:sty m:val="p"/>
                            </m:rPr>
                            <a:rPr lang="pt-BR" sz="3200" b="0" i="0" smtClean="0">
                              <a:latin typeface="Cambria Math" panose="02040503050406030204" pitchFamily="18" charset="0"/>
                            </a:rPr>
                            <m:t>da</m:t>
                          </m:r>
                          <m:r>
                            <a:rPr lang="pt-BR" sz="3200" b="0" i="0" smtClean="0">
                              <a:latin typeface="Cambria Math" panose="02040503050406030204" pitchFamily="18" charset="0"/>
                            </a:rPr>
                            <m:t> </m:t>
                          </m:r>
                          <m:r>
                            <m:rPr>
                              <m:sty m:val="p"/>
                            </m:rPr>
                            <a:rPr lang="pt-BR" sz="3200" b="0" i="0" smtClean="0">
                              <a:latin typeface="Cambria Math" panose="02040503050406030204" pitchFamily="18" charset="0"/>
                            </a:rPr>
                            <m:t>diagonal</m:t>
                          </m:r>
                          <m:r>
                            <a:rPr lang="pt-BR" sz="3200" b="0" i="0" smtClean="0">
                              <a:latin typeface="Cambria Math" panose="02040503050406030204" pitchFamily="18" charset="0"/>
                            </a:rPr>
                            <m:t> </m:t>
                          </m:r>
                          <m:r>
                            <m:rPr>
                              <m:sty m:val="p"/>
                            </m:rPr>
                            <a:rPr lang="pt-BR" sz="3200" b="0" i="0" smtClean="0">
                              <a:latin typeface="Cambria Math" panose="02040503050406030204" pitchFamily="18" charset="0"/>
                            </a:rPr>
                            <m:t>principal</m:t>
                          </m:r>
                        </m:num>
                        <m:den>
                          <m:r>
                            <m:rPr>
                              <m:sty m:val="p"/>
                            </m:rPr>
                            <a:rPr lang="pt-BR" sz="3200" b="0" i="0" smtClean="0">
                              <a:latin typeface="Cambria Math" panose="02040503050406030204" pitchFamily="18" charset="0"/>
                            </a:rPr>
                            <m:t>Soma</m:t>
                          </m:r>
                          <m:r>
                            <a:rPr lang="pt-BR" sz="3200" b="0" i="0" smtClean="0">
                              <a:latin typeface="Cambria Math" panose="02040503050406030204" pitchFamily="18" charset="0"/>
                            </a:rPr>
                            <m:t> </m:t>
                          </m:r>
                          <m:r>
                            <m:rPr>
                              <m:sty m:val="p"/>
                            </m:rPr>
                            <a:rPr lang="pt-BR" sz="3200" b="0" i="0" smtClean="0">
                              <a:latin typeface="Cambria Math" panose="02040503050406030204" pitchFamily="18" charset="0"/>
                            </a:rPr>
                            <m:t>de</m:t>
                          </m:r>
                          <m:r>
                            <a:rPr lang="pt-BR" sz="3200" b="0" i="0" smtClean="0">
                              <a:latin typeface="Cambria Math" panose="02040503050406030204" pitchFamily="18" charset="0"/>
                            </a:rPr>
                            <m:t> </m:t>
                          </m:r>
                          <m:r>
                            <m:rPr>
                              <m:sty m:val="p"/>
                            </m:rPr>
                            <a:rPr lang="pt-BR" sz="3200" b="0" i="0" smtClean="0">
                              <a:latin typeface="Cambria Math" panose="02040503050406030204" pitchFamily="18" charset="0"/>
                            </a:rPr>
                            <m:t>todos</m:t>
                          </m:r>
                          <m:r>
                            <a:rPr lang="pt-BR" sz="3200" b="0" i="0" smtClean="0">
                              <a:latin typeface="Cambria Math" panose="02040503050406030204" pitchFamily="18" charset="0"/>
                            </a:rPr>
                            <m:t> </m:t>
                          </m:r>
                          <m:r>
                            <m:rPr>
                              <m:sty m:val="p"/>
                            </m:rPr>
                            <a:rPr lang="pt-BR" sz="3200" b="0" i="0" smtClean="0">
                              <a:latin typeface="Cambria Math" panose="02040503050406030204" pitchFamily="18" charset="0"/>
                            </a:rPr>
                            <m:t>os</m:t>
                          </m:r>
                          <m:r>
                            <a:rPr lang="pt-BR" sz="3200" b="0" i="0" smtClean="0">
                              <a:latin typeface="Cambria Math" panose="02040503050406030204" pitchFamily="18" charset="0"/>
                            </a:rPr>
                            <m:t> </m:t>
                          </m:r>
                          <m:r>
                            <m:rPr>
                              <m:sty m:val="p"/>
                            </m:rPr>
                            <a:rPr lang="pt-BR" sz="3200" b="0" i="0" smtClean="0">
                              <a:latin typeface="Cambria Math" panose="02040503050406030204" pitchFamily="18" charset="0"/>
                            </a:rPr>
                            <m:t>elementos</m:t>
                          </m:r>
                          <m:r>
                            <a:rPr lang="pt-BR" sz="3200" b="0" i="1" smtClean="0">
                              <a:latin typeface="Cambria Math" panose="02040503050406030204" pitchFamily="18" charset="0"/>
                            </a:rPr>
                            <m:t> (</m:t>
                          </m:r>
                          <m:r>
                            <m:rPr>
                              <m:sty m:val="p"/>
                            </m:rPr>
                            <a:rPr lang="pt-BR" sz="3200" b="0" i="0" smtClean="0">
                              <a:latin typeface="Cambria Math" panose="02040503050406030204" pitchFamily="18" charset="0"/>
                            </a:rPr>
                            <m:t>erros</m:t>
                          </m:r>
                          <m:r>
                            <a:rPr lang="pt-BR" sz="3200" b="0" i="0" smtClean="0">
                              <a:latin typeface="Cambria Math" panose="02040503050406030204" pitchFamily="18" charset="0"/>
                            </a:rPr>
                            <m:t>+</m:t>
                          </m:r>
                          <m:r>
                            <m:rPr>
                              <m:sty m:val="p"/>
                            </m:rPr>
                            <a:rPr lang="pt-BR" sz="3200" b="0" i="0" smtClean="0">
                              <a:latin typeface="Cambria Math" panose="02040503050406030204" pitchFamily="18" charset="0"/>
                            </a:rPr>
                            <m:t>acertos</m:t>
                          </m:r>
                          <m:r>
                            <a:rPr lang="pt-BR" sz="3200" b="0" i="1" smtClean="0">
                              <a:latin typeface="Cambria Math" panose="02040503050406030204" pitchFamily="18" charset="0"/>
                            </a:rPr>
                            <m:t>)</m:t>
                          </m:r>
                        </m:den>
                      </m:f>
                    </m:oMath>
                  </m:oMathPara>
                </a14:m>
                <a:endParaRPr lang="pt-BR" sz="3200" dirty="0"/>
              </a:p>
            </p:txBody>
          </p:sp>
        </mc:Choice>
        <mc:Fallback xmlns="">
          <p:sp>
            <p:nvSpPr>
              <p:cNvPr id="4" name="CaixaDeTexto 3">
                <a:extLst>
                  <a:ext uri="{FF2B5EF4-FFF2-40B4-BE49-F238E27FC236}">
                    <a16:creationId xmlns:a16="http://schemas.microsoft.com/office/drawing/2014/main" id="{BCF716F4-6740-06F0-4F7F-43E81B6588C9}"/>
                  </a:ext>
                </a:extLst>
              </p:cNvPr>
              <p:cNvSpPr txBox="1">
                <a:spLocks noRot="1" noChangeAspect="1" noMove="1" noResize="1" noEditPoints="1" noAdjustHandles="1" noChangeArrowheads="1" noChangeShapeType="1" noTextEdit="1"/>
              </p:cNvSpPr>
              <p:nvPr/>
            </p:nvSpPr>
            <p:spPr>
              <a:xfrm>
                <a:off x="731383" y="5421759"/>
                <a:ext cx="10729233" cy="1114857"/>
              </a:xfrm>
              <a:prstGeom prst="rect">
                <a:avLst/>
              </a:prstGeom>
              <a:blipFill>
                <a:blip r:embed="rId2"/>
                <a:stretch>
                  <a:fillRect/>
                </a:stretch>
              </a:blipFill>
            </p:spPr>
            <p:txBody>
              <a:bodyPr/>
              <a:lstStyle/>
              <a:p>
                <a:r>
                  <a:rPr lang="en-US">
                    <a:noFill/>
                  </a:rPr>
                  <a:t> </a:t>
                </a:r>
              </a:p>
            </p:txBody>
          </p:sp>
        </mc:Fallback>
      </mc:AlternateContent>
      <p:graphicFrame>
        <p:nvGraphicFramePr>
          <p:cNvPr id="5" name="Table 4">
            <a:extLst>
              <a:ext uri="{FF2B5EF4-FFF2-40B4-BE49-F238E27FC236}">
                <a16:creationId xmlns="" xmlns:a16="http://schemas.microsoft.com/office/drawing/2014/main" id="{91DB5CB5-58D6-D6F0-CAE4-AE7FAAC84F35}"/>
              </a:ext>
            </a:extLst>
          </p:cNvPr>
          <p:cNvGraphicFramePr>
            <a:graphicFrameLocks noGrp="1"/>
          </p:cNvGraphicFramePr>
          <p:nvPr>
            <p:extLst/>
          </p:nvPr>
        </p:nvGraphicFramePr>
        <p:xfrm>
          <a:off x="2139041" y="2511547"/>
          <a:ext cx="2590803" cy="1817031"/>
        </p:xfrm>
        <a:graphic>
          <a:graphicData uri="http://schemas.openxmlformats.org/drawingml/2006/table">
            <a:tbl>
              <a:tblPr firstRow="1" bandRow="1">
                <a:tableStyleId>{2D5ABB26-0587-4C30-8999-92F81FD0307C}</a:tableStyleId>
              </a:tblPr>
              <a:tblGrid>
                <a:gridCol w="863601">
                  <a:extLst>
                    <a:ext uri="{9D8B030D-6E8A-4147-A177-3AD203B41FA5}">
                      <a16:colId xmlns="" xmlns:a16="http://schemas.microsoft.com/office/drawing/2014/main" val="3867026763"/>
                    </a:ext>
                  </a:extLst>
                </a:gridCol>
                <a:gridCol w="863601">
                  <a:extLst>
                    <a:ext uri="{9D8B030D-6E8A-4147-A177-3AD203B41FA5}">
                      <a16:colId xmlns="" xmlns:a16="http://schemas.microsoft.com/office/drawing/2014/main" val="2035180929"/>
                    </a:ext>
                  </a:extLst>
                </a:gridCol>
                <a:gridCol w="863601">
                  <a:extLst>
                    <a:ext uri="{9D8B030D-6E8A-4147-A177-3AD203B41FA5}">
                      <a16:colId xmlns="" xmlns:a16="http://schemas.microsoft.com/office/drawing/2014/main" val="1096411002"/>
                    </a:ext>
                  </a:extLst>
                </a:gridCol>
              </a:tblGrid>
              <a:tr h="605677">
                <a:tc>
                  <a:txBody>
                    <a:bodyPr/>
                    <a:lstStyle/>
                    <a:p>
                      <a:pPr algn="ctr"/>
                      <a:r>
                        <a:rPr lang="pt-BR" dirty="0"/>
                        <a:t>Acerto</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pt-BR" dirty="0"/>
                        <a:t>Erro</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600"/>
                    </a:solidFill>
                  </a:tcPr>
                </a:tc>
                <a:tc>
                  <a:txBody>
                    <a:bodyPr/>
                    <a:lstStyle/>
                    <a:p>
                      <a:pPr algn="ctr"/>
                      <a:r>
                        <a:rPr lang="pt-BR" dirty="0"/>
                        <a:t>Erro</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600"/>
                    </a:solidFill>
                  </a:tcPr>
                </a:tc>
                <a:extLst>
                  <a:ext uri="{0D108BD9-81ED-4DB2-BD59-A6C34878D82A}">
                    <a16:rowId xmlns="" xmlns:a16="http://schemas.microsoft.com/office/drawing/2014/main" val="3112607757"/>
                  </a:ext>
                </a:extLst>
              </a:tr>
              <a:tr h="605677">
                <a:tc>
                  <a:txBody>
                    <a:bodyPr/>
                    <a:lstStyle/>
                    <a:p>
                      <a:pPr algn="ctr"/>
                      <a:r>
                        <a:rPr lang="pt-BR" dirty="0"/>
                        <a:t>Erro</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600"/>
                    </a:solidFill>
                  </a:tcPr>
                </a:tc>
                <a:tc>
                  <a:txBody>
                    <a:bodyPr/>
                    <a:lstStyle/>
                    <a:p>
                      <a:pPr algn="ctr"/>
                      <a:r>
                        <a:rPr lang="pt-BR" sz="1800" kern="1200" dirty="0">
                          <a:solidFill>
                            <a:schemeClr val="tx1"/>
                          </a:solidFill>
                          <a:latin typeface="+mn-lt"/>
                          <a:ea typeface="+mn-ea"/>
                          <a:cs typeface="+mn-cs"/>
                        </a:rPr>
                        <a:t>Acerto</a:t>
                      </a:r>
                      <a:endParaRPr lang="en-US" sz="18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r>
                        <a:rPr lang="pt-BR" dirty="0"/>
                        <a:t>Erro</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600"/>
                    </a:solidFill>
                  </a:tcPr>
                </a:tc>
                <a:extLst>
                  <a:ext uri="{0D108BD9-81ED-4DB2-BD59-A6C34878D82A}">
                    <a16:rowId xmlns="" xmlns:a16="http://schemas.microsoft.com/office/drawing/2014/main" val="324473955"/>
                  </a:ext>
                </a:extLst>
              </a:tr>
              <a:tr h="605677">
                <a:tc>
                  <a:txBody>
                    <a:bodyPr/>
                    <a:lstStyle/>
                    <a:p>
                      <a:pPr algn="ctr"/>
                      <a:r>
                        <a:rPr lang="pt-BR" dirty="0"/>
                        <a:t>Erro</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600"/>
                    </a:solidFill>
                  </a:tcPr>
                </a:tc>
                <a:tc>
                  <a:txBody>
                    <a:bodyPr/>
                    <a:lstStyle/>
                    <a:p>
                      <a:pPr algn="ctr"/>
                      <a:r>
                        <a:rPr lang="pt-BR" dirty="0"/>
                        <a:t>Erro</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6600"/>
                    </a:solidFill>
                  </a:tcPr>
                </a:tc>
                <a:tc>
                  <a:txBody>
                    <a:bodyPr/>
                    <a:lstStyle/>
                    <a:p>
                      <a:pPr algn="ctr"/>
                      <a:r>
                        <a:rPr lang="pt-BR" dirty="0"/>
                        <a:t>Acerto</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 xmlns:a16="http://schemas.microsoft.com/office/drawing/2014/main" val="493002121"/>
                  </a:ext>
                </a:extLst>
              </a:tr>
            </a:tbl>
          </a:graphicData>
        </a:graphic>
      </p:graphicFrame>
      <p:sp>
        <p:nvSpPr>
          <p:cNvPr id="6" name="TextBox 5">
            <a:extLst>
              <a:ext uri="{FF2B5EF4-FFF2-40B4-BE49-F238E27FC236}">
                <a16:creationId xmlns="" xmlns:a16="http://schemas.microsoft.com/office/drawing/2014/main" id="{4FB9EF39-B90C-8E8A-FAA1-894F1357DF08}"/>
              </a:ext>
            </a:extLst>
          </p:cNvPr>
          <p:cNvSpPr txBox="1"/>
          <p:nvPr/>
        </p:nvSpPr>
        <p:spPr>
          <a:xfrm>
            <a:off x="2416628" y="4328578"/>
            <a:ext cx="301686" cy="369332"/>
          </a:xfrm>
          <a:prstGeom prst="rect">
            <a:avLst/>
          </a:prstGeom>
          <a:noFill/>
        </p:spPr>
        <p:txBody>
          <a:bodyPr wrap="none" rtlCol="0">
            <a:spAutoFit/>
          </a:bodyPr>
          <a:lstStyle/>
          <a:p>
            <a:r>
              <a:rPr lang="pt-BR" dirty="0"/>
              <a:t>0</a:t>
            </a:r>
            <a:endParaRPr lang="en-US" dirty="0"/>
          </a:p>
        </p:txBody>
      </p:sp>
      <p:sp>
        <p:nvSpPr>
          <p:cNvPr id="7" name="TextBox 6">
            <a:extLst>
              <a:ext uri="{FF2B5EF4-FFF2-40B4-BE49-F238E27FC236}">
                <a16:creationId xmlns="" xmlns:a16="http://schemas.microsoft.com/office/drawing/2014/main" id="{EE98951F-EC06-3600-8596-2C37C9D3F470}"/>
              </a:ext>
            </a:extLst>
          </p:cNvPr>
          <p:cNvSpPr txBox="1"/>
          <p:nvPr/>
        </p:nvSpPr>
        <p:spPr>
          <a:xfrm>
            <a:off x="3271550" y="4328578"/>
            <a:ext cx="301686" cy="369332"/>
          </a:xfrm>
          <a:prstGeom prst="rect">
            <a:avLst/>
          </a:prstGeom>
          <a:noFill/>
        </p:spPr>
        <p:txBody>
          <a:bodyPr wrap="square" rtlCol="0">
            <a:spAutoFit/>
          </a:bodyPr>
          <a:lstStyle/>
          <a:p>
            <a:r>
              <a:rPr lang="pt-BR" dirty="0"/>
              <a:t>1</a:t>
            </a:r>
            <a:endParaRPr lang="en-US" dirty="0"/>
          </a:p>
        </p:txBody>
      </p:sp>
      <p:sp>
        <p:nvSpPr>
          <p:cNvPr id="8" name="TextBox 7">
            <a:extLst>
              <a:ext uri="{FF2B5EF4-FFF2-40B4-BE49-F238E27FC236}">
                <a16:creationId xmlns="" xmlns:a16="http://schemas.microsoft.com/office/drawing/2014/main" id="{04A648ED-ACCF-A0E8-A7FF-A93266861237}"/>
              </a:ext>
            </a:extLst>
          </p:cNvPr>
          <p:cNvSpPr txBox="1"/>
          <p:nvPr/>
        </p:nvSpPr>
        <p:spPr>
          <a:xfrm>
            <a:off x="4152897" y="4328578"/>
            <a:ext cx="301686" cy="369332"/>
          </a:xfrm>
          <a:prstGeom prst="rect">
            <a:avLst/>
          </a:prstGeom>
          <a:noFill/>
        </p:spPr>
        <p:txBody>
          <a:bodyPr wrap="none" rtlCol="0">
            <a:spAutoFit/>
          </a:bodyPr>
          <a:lstStyle/>
          <a:p>
            <a:r>
              <a:rPr lang="pt-BR" dirty="0"/>
              <a:t>2</a:t>
            </a:r>
            <a:endParaRPr lang="en-US" dirty="0"/>
          </a:p>
        </p:txBody>
      </p:sp>
      <p:sp>
        <p:nvSpPr>
          <p:cNvPr id="9" name="TextBox 8">
            <a:extLst>
              <a:ext uri="{FF2B5EF4-FFF2-40B4-BE49-F238E27FC236}">
                <a16:creationId xmlns="" xmlns:a16="http://schemas.microsoft.com/office/drawing/2014/main" id="{0F24060A-F1D6-9DB5-76BA-3A64C1CCFBA2}"/>
              </a:ext>
            </a:extLst>
          </p:cNvPr>
          <p:cNvSpPr txBox="1"/>
          <p:nvPr/>
        </p:nvSpPr>
        <p:spPr>
          <a:xfrm>
            <a:off x="1837355" y="2569628"/>
            <a:ext cx="301686" cy="369332"/>
          </a:xfrm>
          <a:prstGeom prst="rect">
            <a:avLst/>
          </a:prstGeom>
          <a:noFill/>
        </p:spPr>
        <p:txBody>
          <a:bodyPr wrap="none" rtlCol="0">
            <a:spAutoFit/>
          </a:bodyPr>
          <a:lstStyle/>
          <a:p>
            <a:r>
              <a:rPr lang="pt-BR" dirty="0"/>
              <a:t>0</a:t>
            </a:r>
            <a:endParaRPr lang="en-US" dirty="0"/>
          </a:p>
        </p:txBody>
      </p:sp>
      <p:sp>
        <p:nvSpPr>
          <p:cNvPr id="10" name="TextBox 9">
            <a:extLst>
              <a:ext uri="{FF2B5EF4-FFF2-40B4-BE49-F238E27FC236}">
                <a16:creationId xmlns="" xmlns:a16="http://schemas.microsoft.com/office/drawing/2014/main" id="{504D6480-6017-F7EF-CBF8-45BE5E5980C6}"/>
              </a:ext>
            </a:extLst>
          </p:cNvPr>
          <p:cNvSpPr txBox="1"/>
          <p:nvPr/>
        </p:nvSpPr>
        <p:spPr>
          <a:xfrm>
            <a:off x="1837355" y="3235396"/>
            <a:ext cx="301686" cy="369332"/>
          </a:xfrm>
          <a:prstGeom prst="rect">
            <a:avLst/>
          </a:prstGeom>
          <a:noFill/>
        </p:spPr>
        <p:txBody>
          <a:bodyPr wrap="none" rtlCol="0">
            <a:spAutoFit/>
          </a:bodyPr>
          <a:lstStyle/>
          <a:p>
            <a:r>
              <a:rPr lang="pt-BR" dirty="0"/>
              <a:t>1</a:t>
            </a:r>
            <a:endParaRPr lang="en-US" dirty="0"/>
          </a:p>
        </p:txBody>
      </p:sp>
      <p:sp>
        <p:nvSpPr>
          <p:cNvPr id="11" name="TextBox 10">
            <a:extLst>
              <a:ext uri="{FF2B5EF4-FFF2-40B4-BE49-F238E27FC236}">
                <a16:creationId xmlns="" xmlns:a16="http://schemas.microsoft.com/office/drawing/2014/main" id="{40EA34B0-3C80-7E6E-DB17-529180947558}"/>
              </a:ext>
            </a:extLst>
          </p:cNvPr>
          <p:cNvSpPr txBox="1"/>
          <p:nvPr/>
        </p:nvSpPr>
        <p:spPr>
          <a:xfrm>
            <a:off x="1837355" y="3799431"/>
            <a:ext cx="301686" cy="369332"/>
          </a:xfrm>
          <a:prstGeom prst="rect">
            <a:avLst/>
          </a:prstGeom>
          <a:noFill/>
        </p:spPr>
        <p:txBody>
          <a:bodyPr wrap="none" rtlCol="0">
            <a:spAutoFit/>
          </a:bodyPr>
          <a:lstStyle/>
          <a:p>
            <a:r>
              <a:rPr lang="pt-BR" dirty="0"/>
              <a:t>2</a:t>
            </a:r>
            <a:endParaRPr lang="en-US" dirty="0"/>
          </a:p>
        </p:txBody>
      </p:sp>
      <mc:AlternateContent xmlns:mc="http://schemas.openxmlformats.org/markup-compatibility/2006" xmlns:a14="http://schemas.microsoft.com/office/drawing/2010/main">
        <mc:Choice Requires="a14">
          <p:sp>
            <p:nvSpPr>
              <p:cNvPr id="12" name="CaixaDeTexto 11"/>
              <p:cNvSpPr txBox="1"/>
              <p:nvPr/>
            </p:nvSpPr>
            <p:spPr>
              <a:xfrm>
                <a:off x="2841940" y="1960229"/>
                <a:ext cx="118500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2800" b="0" i="1" smtClean="0">
                          <a:latin typeface="Cambria Math" panose="02040503050406030204" pitchFamily="18" charset="0"/>
                        </a:rPr>
                        <m:t>𝑄</m:t>
                      </m:r>
                      <m:r>
                        <a:rPr lang="pt-BR" sz="2800" b="0" i="1" smtClean="0">
                          <a:latin typeface="Cambria Math" panose="02040503050406030204" pitchFamily="18" charset="0"/>
                        </a:rPr>
                        <m:t>=3</m:t>
                      </m:r>
                    </m:oMath>
                  </m:oMathPara>
                </a14:m>
                <a:endParaRPr lang="pt-BR" sz="2800" dirty="0"/>
              </a:p>
            </p:txBody>
          </p:sp>
        </mc:Choice>
        <mc:Fallback xmlns="">
          <p:sp>
            <p:nvSpPr>
              <p:cNvPr id="12" name="CaixaDeTexto 11"/>
              <p:cNvSpPr txBox="1">
                <a:spLocks noRot="1" noChangeAspect="1" noMove="1" noResize="1" noEditPoints="1" noAdjustHandles="1" noChangeArrowheads="1" noChangeShapeType="1" noTextEdit="1"/>
              </p:cNvSpPr>
              <p:nvPr/>
            </p:nvSpPr>
            <p:spPr>
              <a:xfrm>
                <a:off x="2841940" y="1960229"/>
                <a:ext cx="1185004" cy="523220"/>
              </a:xfrm>
              <a:prstGeom prst="rect">
                <a:avLst/>
              </a:prstGeom>
              <a:blipFill rotWithShape="0">
                <a:blip r:embed="rId3"/>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3291177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1C9A834-08A5-FF32-99E2-C2083723D5B2}"/>
              </a:ext>
            </a:extLst>
          </p:cNvPr>
          <p:cNvSpPr>
            <a:spLocks noGrp="1"/>
          </p:cNvSpPr>
          <p:nvPr>
            <p:ph type="title"/>
          </p:nvPr>
        </p:nvSpPr>
        <p:spPr/>
        <p:txBody>
          <a:bodyPr>
            <a:normAutofit/>
          </a:bodyPr>
          <a:lstStyle/>
          <a:p>
            <a:r>
              <a:rPr lang="pt-BR" sz="4400" dirty="0"/>
              <a:t>Curva característica de operação do receptor</a:t>
            </a:r>
            <a:endParaRPr lang="pt-BR" dirty="0"/>
          </a:p>
        </p:txBody>
      </p:sp>
      <p:sp>
        <p:nvSpPr>
          <p:cNvPr id="3" name="Espaço Reservado para Conteúdo 2">
            <a:extLst>
              <a:ext uri="{FF2B5EF4-FFF2-40B4-BE49-F238E27FC236}">
                <a16:creationId xmlns="" xmlns:a16="http://schemas.microsoft.com/office/drawing/2014/main" id="{0998D617-0B6B-0F34-3EF5-C89BF5185C38}"/>
              </a:ext>
            </a:extLst>
          </p:cNvPr>
          <p:cNvSpPr>
            <a:spLocks noGrp="1"/>
          </p:cNvSpPr>
          <p:nvPr>
            <p:ph idx="1"/>
          </p:nvPr>
        </p:nvSpPr>
        <p:spPr>
          <a:xfrm>
            <a:off x="6538823" y="1825624"/>
            <a:ext cx="5653177" cy="5032375"/>
          </a:xfrm>
        </p:spPr>
        <p:txBody>
          <a:bodyPr>
            <a:normAutofit/>
          </a:bodyPr>
          <a:lstStyle/>
          <a:p>
            <a:r>
              <a:rPr lang="pt-BR" dirty="0"/>
              <a:t>Também conhecida como curva </a:t>
            </a:r>
            <a:r>
              <a:rPr lang="pt-BR" i="1" dirty="0" err="1" smtClean="0"/>
              <a:t>Receiver</a:t>
            </a:r>
            <a:r>
              <a:rPr lang="pt-BR" i="1" dirty="0" smtClean="0"/>
              <a:t> </a:t>
            </a:r>
            <a:r>
              <a:rPr lang="pt-BR" i="1" dirty="0" err="1"/>
              <a:t>Operating</a:t>
            </a:r>
            <a:r>
              <a:rPr lang="pt-BR" i="1" dirty="0"/>
              <a:t> </a:t>
            </a:r>
            <a:r>
              <a:rPr lang="pt-BR" i="1" dirty="0" err="1" smtClean="0"/>
              <a:t>Characteristic</a:t>
            </a:r>
            <a:r>
              <a:rPr lang="pt-BR" dirty="0"/>
              <a:t> </a:t>
            </a:r>
            <a:r>
              <a:rPr lang="pt-BR" dirty="0" smtClean="0"/>
              <a:t>(ROC).</a:t>
            </a:r>
            <a:endParaRPr lang="pt-BR" dirty="0"/>
          </a:p>
          <a:p>
            <a:r>
              <a:rPr lang="pt-BR" dirty="0"/>
              <a:t>É um gráfico que mostra o desempenho de um </a:t>
            </a:r>
            <a:r>
              <a:rPr lang="pt-BR" b="1" i="1" dirty="0">
                <a:solidFill>
                  <a:srgbClr val="00B050"/>
                </a:solidFill>
              </a:rPr>
              <a:t>classificador </a:t>
            </a:r>
            <a:r>
              <a:rPr lang="pt-BR" b="1" i="1" dirty="0">
                <a:solidFill>
                  <a:schemeClr val="accent2"/>
                </a:solidFill>
              </a:rPr>
              <a:t>binário</a:t>
            </a:r>
            <a:r>
              <a:rPr lang="pt-BR" b="1" i="1" dirty="0">
                <a:solidFill>
                  <a:srgbClr val="00B050"/>
                </a:solidFill>
              </a:rPr>
              <a:t> </a:t>
            </a:r>
            <a:r>
              <a:rPr lang="pt-BR" dirty="0"/>
              <a:t>conforme seu </a:t>
            </a:r>
            <a:r>
              <a:rPr lang="pt-BR" b="1" i="1" dirty="0">
                <a:solidFill>
                  <a:srgbClr val="00B050"/>
                </a:solidFill>
              </a:rPr>
              <a:t>limiar de </a:t>
            </a:r>
            <a:r>
              <a:rPr lang="pt-BR" b="1" i="1" dirty="0" smtClean="0">
                <a:solidFill>
                  <a:srgbClr val="00B050"/>
                </a:solidFill>
              </a:rPr>
              <a:t>quantização</a:t>
            </a:r>
            <a:r>
              <a:rPr lang="pt-BR" dirty="0" smtClean="0">
                <a:solidFill>
                  <a:srgbClr val="00B050"/>
                </a:solidFill>
              </a:rPr>
              <a:t>, </a:t>
            </a:r>
            <a:r>
              <a:rPr lang="pt-BR" b="1" i="1" dirty="0">
                <a:solidFill>
                  <a:srgbClr val="00B050"/>
                </a:solidFill>
              </a:rPr>
              <a:t>T</a:t>
            </a:r>
            <a:r>
              <a:rPr lang="pt-BR" dirty="0"/>
              <a:t>,</a:t>
            </a:r>
            <a:r>
              <a:rPr lang="pt-BR" b="1" i="1" dirty="0"/>
              <a:t> </a:t>
            </a:r>
            <a:r>
              <a:rPr lang="pt-BR" dirty="0"/>
              <a:t>é variado.</a:t>
            </a:r>
          </a:p>
          <a:p>
            <a:pPr marL="0" indent="0">
              <a:buNone/>
            </a:pPr>
            <a:endParaRPr lang="pt-BR" dirty="0"/>
          </a:p>
        </p:txBody>
      </p:sp>
      <p:pic>
        <p:nvPicPr>
          <p:cNvPr id="8" name="Imagem 7">
            <a:extLst>
              <a:ext uri="{FF2B5EF4-FFF2-40B4-BE49-F238E27FC236}">
                <a16:creationId xmlns="" xmlns:a16="http://schemas.microsoft.com/office/drawing/2014/main" id="{240AB8A0-BCA7-9F7C-5462-AB6A2FD71CA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20991"/>
          <a:stretch/>
        </p:blipFill>
        <p:spPr>
          <a:xfrm>
            <a:off x="699093" y="1690688"/>
            <a:ext cx="5317788" cy="4774323"/>
          </a:xfrm>
          <a:prstGeom prst="rect">
            <a:avLst/>
          </a:prstGeom>
        </p:spPr>
      </p:pic>
      <mc:AlternateContent xmlns:mc="http://schemas.openxmlformats.org/markup-compatibility/2006" xmlns:a14="http://schemas.microsoft.com/office/drawing/2010/main">
        <mc:Choice Requires="a14">
          <p:sp>
            <p:nvSpPr>
              <p:cNvPr id="9" name="Retângulo 8">
                <a:extLst>
                  <a:ext uri="{FF2B5EF4-FFF2-40B4-BE49-F238E27FC236}">
                    <a16:creationId xmlns="" xmlns:a16="http://schemas.microsoft.com/office/drawing/2014/main" id="{57207A74-6C0A-136B-09C8-D0CB9DBADFAB}"/>
                  </a:ext>
                </a:extLst>
              </p:cNvPr>
              <p:cNvSpPr/>
              <p:nvPr/>
            </p:nvSpPr>
            <p:spPr>
              <a:xfrm>
                <a:off x="4341697" y="1825624"/>
                <a:ext cx="1517082"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𝑹</m:t>
                      </m:r>
                      <m:r>
                        <a:rPr lang="pt-BR" i="1">
                          <a:latin typeface="Cambria Math" panose="02040503050406030204" pitchFamily="18" charset="0"/>
                        </a:rPr>
                        <m:t>=</m:t>
                      </m:r>
                      <m:f>
                        <m:fPr>
                          <m:ctrlPr>
                            <a:rPr lang="pt-BR" i="1" smtClean="0">
                              <a:latin typeface="Cambria Math" panose="02040503050406030204" pitchFamily="18" charset="0"/>
                            </a:rPr>
                          </m:ctrlPr>
                        </m:fPr>
                        <m:num>
                          <m:r>
                            <m:rPr>
                              <m:sty m:val="p"/>
                            </m:rPr>
                            <a:rPr lang="pt-BR" b="0" i="0" smtClean="0">
                              <a:latin typeface="Cambria Math" panose="02040503050406030204" pitchFamily="18" charset="0"/>
                            </a:rPr>
                            <m:t>TP</m:t>
                          </m:r>
                        </m:num>
                        <m:den>
                          <m:r>
                            <m:rPr>
                              <m:sty m:val="p"/>
                            </m:rPr>
                            <a:rPr lang="pt-BR" i="0">
                              <a:latin typeface="Cambria Math" panose="02040503050406030204" pitchFamily="18" charset="0"/>
                            </a:rPr>
                            <m:t>TP</m:t>
                          </m:r>
                          <m:r>
                            <a:rPr lang="pt-BR" i="0">
                              <a:latin typeface="Cambria Math" panose="02040503050406030204" pitchFamily="18" charset="0"/>
                            </a:rPr>
                            <m:t>+</m:t>
                          </m:r>
                          <m:r>
                            <m:rPr>
                              <m:sty m:val="p"/>
                            </m:rPr>
                            <a:rPr lang="pt-BR" i="0">
                              <a:latin typeface="Cambria Math" panose="02040503050406030204" pitchFamily="18" charset="0"/>
                            </a:rPr>
                            <m:t>FN</m:t>
                          </m:r>
                        </m:den>
                      </m:f>
                    </m:oMath>
                  </m:oMathPara>
                </a14:m>
                <a:endParaRPr lang="pt-BR" dirty="0"/>
              </a:p>
            </p:txBody>
          </p:sp>
        </mc:Choice>
        <mc:Fallback xmlns="">
          <p:sp>
            <p:nvSpPr>
              <p:cNvPr id="9" name="Retângulo 8">
                <a:extLst>
                  <a:ext uri="{FF2B5EF4-FFF2-40B4-BE49-F238E27FC236}">
                    <a16:creationId xmlns:a16="http://schemas.microsoft.com/office/drawing/2014/main" id="{57207A74-6C0A-136B-09C8-D0CB9DBADFAB}"/>
                  </a:ext>
                </a:extLst>
              </p:cNvPr>
              <p:cNvSpPr>
                <a:spLocks noRot="1" noChangeAspect="1" noMove="1" noResize="1" noEditPoints="1" noAdjustHandles="1" noChangeArrowheads="1" noChangeShapeType="1" noTextEdit="1"/>
              </p:cNvSpPr>
              <p:nvPr/>
            </p:nvSpPr>
            <p:spPr>
              <a:xfrm>
                <a:off x="4341697" y="1825624"/>
                <a:ext cx="1517082" cy="61549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Retângulo 9">
                <a:extLst>
                  <a:ext uri="{FF2B5EF4-FFF2-40B4-BE49-F238E27FC236}">
                    <a16:creationId xmlns="" xmlns:a16="http://schemas.microsoft.com/office/drawing/2014/main" id="{EF34B8CF-4543-6D31-B409-48CE4615F805}"/>
                  </a:ext>
                </a:extLst>
              </p:cNvPr>
              <p:cNvSpPr/>
              <p:nvPr/>
            </p:nvSpPr>
            <p:spPr>
              <a:xfrm>
                <a:off x="4203564" y="5849521"/>
                <a:ext cx="1813317"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𝑻𝑭𝑷</m:t>
                      </m:r>
                      <m:r>
                        <a:rPr lang="pt-BR" i="1">
                          <a:latin typeface="Cambria Math" panose="02040503050406030204" pitchFamily="18" charset="0"/>
                        </a:rPr>
                        <m:t>=</m:t>
                      </m:r>
                      <m:f>
                        <m:fPr>
                          <m:ctrlPr>
                            <a:rPr lang="pt-BR" i="1">
                              <a:latin typeface="Cambria Math" panose="02040503050406030204" pitchFamily="18" charset="0"/>
                            </a:rPr>
                          </m:ctrlPr>
                        </m:fPr>
                        <m:num>
                          <m:r>
                            <m:rPr>
                              <m:sty m:val="p"/>
                            </m:rPr>
                            <a:rPr lang="pt-BR">
                              <a:latin typeface="Cambria Math" panose="02040503050406030204" pitchFamily="18" charset="0"/>
                            </a:rPr>
                            <m:t>FP</m:t>
                          </m:r>
                        </m:num>
                        <m:den>
                          <m:r>
                            <m:rPr>
                              <m:sty m:val="p"/>
                            </m:rPr>
                            <a:rPr lang="pt-BR">
                              <a:latin typeface="Cambria Math" panose="02040503050406030204" pitchFamily="18" charset="0"/>
                            </a:rPr>
                            <m:t>TN</m:t>
                          </m:r>
                          <m:r>
                            <a:rPr lang="pt-BR">
                              <a:latin typeface="Cambria Math" panose="02040503050406030204" pitchFamily="18" charset="0"/>
                            </a:rPr>
                            <m:t>+</m:t>
                          </m:r>
                          <m:r>
                            <m:rPr>
                              <m:sty m:val="p"/>
                            </m:rPr>
                            <a:rPr lang="pt-BR">
                              <a:latin typeface="Cambria Math" panose="02040503050406030204" pitchFamily="18" charset="0"/>
                            </a:rPr>
                            <m:t>FP</m:t>
                          </m:r>
                        </m:den>
                      </m:f>
                    </m:oMath>
                  </m:oMathPara>
                </a14:m>
                <a:endParaRPr lang="pt-BR" dirty="0"/>
              </a:p>
            </p:txBody>
          </p:sp>
        </mc:Choice>
        <mc:Fallback xmlns="">
          <p:sp>
            <p:nvSpPr>
              <p:cNvPr id="10" name="Retângulo 9">
                <a:extLst>
                  <a:ext uri="{FF2B5EF4-FFF2-40B4-BE49-F238E27FC236}">
                    <a16:creationId xmlns:a16="http://schemas.microsoft.com/office/drawing/2014/main" id="{EF34B8CF-4543-6D31-B409-48CE4615F805}"/>
                  </a:ext>
                </a:extLst>
              </p:cNvPr>
              <p:cNvSpPr>
                <a:spLocks noRot="1" noChangeAspect="1" noMove="1" noResize="1" noEditPoints="1" noAdjustHandles="1" noChangeArrowheads="1" noChangeShapeType="1" noTextEdit="1"/>
              </p:cNvSpPr>
              <p:nvPr/>
            </p:nvSpPr>
            <p:spPr>
              <a:xfrm>
                <a:off x="4203564" y="5849521"/>
                <a:ext cx="1813317" cy="615490"/>
              </a:xfrm>
              <a:prstGeom prst="rect">
                <a:avLst/>
              </a:prstGeom>
              <a:blipFill>
                <a:blip r:embed="rId5"/>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22964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1C9A834-08A5-FF32-99E2-C2083723D5B2}"/>
              </a:ext>
            </a:extLst>
          </p:cNvPr>
          <p:cNvSpPr>
            <a:spLocks noGrp="1"/>
          </p:cNvSpPr>
          <p:nvPr>
            <p:ph type="title"/>
          </p:nvPr>
        </p:nvSpPr>
        <p:spPr/>
        <p:txBody>
          <a:bodyPr>
            <a:normAutofit/>
          </a:bodyPr>
          <a:lstStyle/>
          <a:p>
            <a:r>
              <a:rPr lang="pt-BR" sz="4400" dirty="0"/>
              <a:t>Curva característica de operação do receptor</a:t>
            </a:r>
            <a:endParaRPr lang="pt-BR" dirty="0"/>
          </a:p>
        </p:txBody>
      </p:sp>
      <p:sp>
        <p:nvSpPr>
          <p:cNvPr id="3" name="Espaço Reservado para Conteúdo 2">
            <a:extLst>
              <a:ext uri="{FF2B5EF4-FFF2-40B4-BE49-F238E27FC236}">
                <a16:creationId xmlns="" xmlns:a16="http://schemas.microsoft.com/office/drawing/2014/main" id="{0998D617-0B6B-0F34-3EF5-C89BF5185C38}"/>
              </a:ext>
            </a:extLst>
          </p:cNvPr>
          <p:cNvSpPr>
            <a:spLocks noGrp="1"/>
          </p:cNvSpPr>
          <p:nvPr>
            <p:ph idx="1"/>
          </p:nvPr>
        </p:nvSpPr>
        <p:spPr>
          <a:xfrm>
            <a:off x="6590581" y="1825624"/>
            <a:ext cx="5601419" cy="5032375"/>
          </a:xfrm>
        </p:spPr>
        <p:txBody>
          <a:bodyPr>
            <a:normAutofit/>
          </a:bodyPr>
          <a:lstStyle/>
          <a:p>
            <a:r>
              <a:rPr lang="pt-BR" dirty="0"/>
              <a:t>A curva é criada plotando-se o </a:t>
            </a:r>
            <a:r>
              <a:rPr lang="pt-BR" b="1" i="1" dirty="0">
                <a:solidFill>
                  <a:srgbClr val="00B050"/>
                </a:solidFill>
              </a:rPr>
              <a:t>recall</a:t>
            </a:r>
            <a:r>
              <a:rPr lang="pt-BR" dirty="0"/>
              <a:t> em função da </a:t>
            </a:r>
            <a:r>
              <a:rPr lang="pt-BR" b="1" i="1" dirty="0">
                <a:solidFill>
                  <a:srgbClr val="00B050"/>
                </a:solidFill>
              </a:rPr>
              <a:t>taxa de falsos positivos </a:t>
            </a:r>
            <a:r>
              <a:rPr lang="pt-BR" dirty="0"/>
              <a:t>para </a:t>
            </a:r>
            <a:r>
              <a:rPr lang="pt-BR" b="1" i="1" dirty="0">
                <a:solidFill>
                  <a:srgbClr val="00B050"/>
                </a:solidFill>
              </a:rPr>
              <a:t>vários valores de T</a:t>
            </a:r>
            <a:r>
              <a:rPr lang="pt-BR" dirty="0"/>
              <a:t>.</a:t>
            </a:r>
          </a:p>
          <a:p>
            <a:r>
              <a:rPr lang="pt-BR" dirty="0"/>
              <a:t>Quanto </a:t>
            </a:r>
            <a:r>
              <a:rPr lang="pt-BR" b="1" i="1" dirty="0">
                <a:solidFill>
                  <a:srgbClr val="00B050"/>
                </a:solidFill>
              </a:rPr>
              <a:t>mais à esquerda e para cima </a:t>
            </a:r>
            <a:r>
              <a:rPr lang="pt-BR" dirty="0"/>
              <a:t>estiver a </a:t>
            </a:r>
            <a:r>
              <a:rPr lang="pt-BR" b="1" i="1" dirty="0"/>
              <a:t>curva ROC </a:t>
            </a:r>
            <a:r>
              <a:rPr lang="pt-BR" dirty="0"/>
              <a:t>de um </a:t>
            </a:r>
            <a:r>
              <a:rPr lang="pt-BR" b="1" i="1" dirty="0"/>
              <a:t>classificador</a:t>
            </a:r>
            <a:r>
              <a:rPr lang="pt-BR" dirty="0"/>
              <a:t>, </a:t>
            </a:r>
            <a:r>
              <a:rPr lang="pt-BR" b="1" i="1" dirty="0">
                <a:solidFill>
                  <a:srgbClr val="00B050"/>
                </a:solidFill>
              </a:rPr>
              <a:t>melhor será o seu desempenho</a:t>
            </a:r>
            <a:r>
              <a:rPr lang="pt-BR" dirty="0"/>
              <a:t>. </a:t>
            </a:r>
          </a:p>
        </p:txBody>
      </p:sp>
      <p:pic>
        <p:nvPicPr>
          <p:cNvPr id="8" name="Imagem 7">
            <a:extLst>
              <a:ext uri="{FF2B5EF4-FFF2-40B4-BE49-F238E27FC236}">
                <a16:creationId xmlns="" xmlns:a16="http://schemas.microsoft.com/office/drawing/2014/main" id="{240AB8A0-BCA7-9F7C-5462-AB6A2FD71CA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20991"/>
          <a:stretch/>
        </p:blipFill>
        <p:spPr>
          <a:xfrm>
            <a:off x="528405" y="1690688"/>
            <a:ext cx="5317788" cy="4774323"/>
          </a:xfrm>
          <a:prstGeom prst="rect">
            <a:avLst/>
          </a:prstGeom>
        </p:spPr>
      </p:pic>
      <mc:AlternateContent xmlns:mc="http://schemas.openxmlformats.org/markup-compatibility/2006" xmlns:a14="http://schemas.microsoft.com/office/drawing/2010/main">
        <mc:Choice Requires="a14">
          <p:sp>
            <p:nvSpPr>
              <p:cNvPr id="9" name="Retângulo 8">
                <a:extLst>
                  <a:ext uri="{FF2B5EF4-FFF2-40B4-BE49-F238E27FC236}">
                    <a16:creationId xmlns="" xmlns:a16="http://schemas.microsoft.com/office/drawing/2014/main" id="{57207A74-6C0A-136B-09C8-D0CB9DBADFAB}"/>
                  </a:ext>
                </a:extLst>
              </p:cNvPr>
              <p:cNvSpPr/>
              <p:nvPr/>
            </p:nvSpPr>
            <p:spPr>
              <a:xfrm>
                <a:off x="4171009" y="1825624"/>
                <a:ext cx="1517082"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𝑹</m:t>
                      </m:r>
                      <m:r>
                        <a:rPr lang="pt-BR" i="1">
                          <a:latin typeface="Cambria Math" panose="02040503050406030204" pitchFamily="18" charset="0"/>
                        </a:rPr>
                        <m:t>=</m:t>
                      </m:r>
                      <m:f>
                        <m:fPr>
                          <m:ctrlPr>
                            <a:rPr lang="pt-BR" i="1" smtClean="0">
                              <a:latin typeface="Cambria Math" panose="02040503050406030204" pitchFamily="18" charset="0"/>
                            </a:rPr>
                          </m:ctrlPr>
                        </m:fPr>
                        <m:num>
                          <m:r>
                            <m:rPr>
                              <m:sty m:val="p"/>
                            </m:rPr>
                            <a:rPr lang="pt-BR" b="0" i="0" smtClean="0">
                              <a:latin typeface="Cambria Math" panose="02040503050406030204" pitchFamily="18" charset="0"/>
                            </a:rPr>
                            <m:t>TP</m:t>
                          </m:r>
                        </m:num>
                        <m:den>
                          <m:r>
                            <m:rPr>
                              <m:sty m:val="p"/>
                            </m:rPr>
                            <a:rPr lang="pt-BR" i="0">
                              <a:latin typeface="Cambria Math" panose="02040503050406030204" pitchFamily="18" charset="0"/>
                            </a:rPr>
                            <m:t>TP</m:t>
                          </m:r>
                          <m:r>
                            <a:rPr lang="pt-BR" i="0">
                              <a:latin typeface="Cambria Math" panose="02040503050406030204" pitchFamily="18" charset="0"/>
                            </a:rPr>
                            <m:t>+</m:t>
                          </m:r>
                          <m:r>
                            <m:rPr>
                              <m:sty m:val="p"/>
                            </m:rPr>
                            <a:rPr lang="pt-BR" i="0">
                              <a:latin typeface="Cambria Math" panose="02040503050406030204" pitchFamily="18" charset="0"/>
                            </a:rPr>
                            <m:t>FN</m:t>
                          </m:r>
                        </m:den>
                      </m:f>
                    </m:oMath>
                  </m:oMathPara>
                </a14:m>
                <a:endParaRPr lang="pt-BR" dirty="0"/>
              </a:p>
            </p:txBody>
          </p:sp>
        </mc:Choice>
        <mc:Fallback xmlns="">
          <p:sp>
            <p:nvSpPr>
              <p:cNvPr id="9" name="Retângulo 8">
                <a:extLst>
                  <a:ext uri="{FF2B5EF4-FFF2-40B4-BE49-F238E27FC236}">
                    <a16:creationId xmlns:a16="http://schemas.microsoft.com/office/drawing/2014/main" id="{57207A74-6C0A-136B-09C8-D0CB9DBADFAB}"/>
                  </a:ext>
                </a:extLst>
              </p:cNvPr>
              <p:cNvSpPr>
                <a:spLocks noRot="1" noChangeAspect="1" noMove="1" noResize="1" noEditPoints="1" noAdjustHandles="1" noChangeArrowheads="1" noChangeShapeType="1" noTextEdit="1"/>
              </p:cNvSpPr>
              <p:nvPr/>
            </p:nvSpPr>
            <p:spPr>
              <a:xfrm>
                <a:off x="4171009" y="1825624"/>
                <a:ext cx="1517082" cy="61549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Retângulo 9">
                <a:extLst>
                  <a:ext uri="{FF2B5EF4-FFF2-40B4-BE49-F238E27FC236}">
                    <a16:creationId xmlns="" xmlns:a16="http://schemas.microsoft.com/office/drawing/2014/main" id="{EF34B8CF-4543-6D31-B409-48CE4615F805}"/>
                  </a:ext>
                </a:extLst>
              </p:cNvPr>
              <p:cNvSpPr/>
              <p:nvPr/>
            </p:nvSpPr>
            <p:spPr>
              <a:xfrm>
                <a:off x="4032876" y="5849521"/>
                <a:ext cx="1813317"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𝑻𝑭𝑷</m:t>
                      </m:r>
                      <m:r>
                        <a:rPr lang="pt-BR" i="1">
                          <a:latin typeface="Cambria Math" panose="02040503050406030204" pitchFamily="18" charset="0"/>
                        </a:rPr>
                        <m:t>=</m:t>
                      </m:r>
                      <m:f>
                        <m:fPr>
                          <m:ctrlPr>
                            <a:rPr lang="pt-BR" i="1">
                              <a:latin typeface="Cambria Math" panose="02040503050406030204" pitchFamily="18" charset="0"/>
                            </a:rPr>
                          </m:ctrlPr>
                        </m:fPr>
                        <m:num>
                          <m:r>
                            <m:rPr>
                              <m:sty m:val="p"/>
                            </m:rPr>
                            <a:rPr lang="pt-BR">
                              <a:latin typeface="Cambria Math" panose="02040503050406030204" pitchFamily="18" charset="0"/>
                            </a:rPr>
                            <m:t>FP</m:t>
                          </m:r>
                        </m:num>
                        <m:den>
                          <m:r>
                            <m:rPr>
                              <m:sty m:val="p"/>
                            </m:rPr>
                            <a:rPr lang="pt-BR">
                              <a:latin typeface="Cambria Math" panose="02040503050406030204" pitchFamily="18" charset="0"/>
                            </a:rPr>
                            <m:t>TN</m:t>
                          </m:r>
                          <m:r>
                            <a:rPr lang="pt-BR">
                              <a:latin typeface="Cambria Math" panose="02040503050406030204" pitchFamily="18" charset="0"/>
                            </a:rPr>
                            <m:t>+</m:t>
                          </m:r>
                          <m:r>
                            <m:rPr>
                              <m:sty m:val="p"/>
                            </m:rPr>
                            <a:rPr lang="pt-BR">
                              <a:latin typeface="Cambria Math" panose="02040503050406030204" pitchFamily="18" charset="0"/>
                            </a:rPr>
                            <m:t>FP</m:t>
                          </m:r>
                        </m:den>
                      </m:f>
                    </m:oMath>
                  </m:oMathPara>
                </a14:m>
                <a:endParaRPr lang="pt-BR" dirty="0"/>
              </a:p>
            </p:txBody>
          </p:sp>
        </mc:Choice>
        <mc:Fallback xmlns="">
          <p:sp>
            <p:nvSpPr>
              <p:cNvPr id="10" name="Retângulo 9">
                <a:extLst>
                  <a:ext uri="{FF2B5EF4-FFF2-40B4-BE49-F238E27FC236}">
                    <a16:creationId xmlns:a16="http://schemas.microsoft.com/office/drawing/2014/main" id="{EF34B8CF-4543-6D31-B409-48CE4615F805}"/>
                  </a:ext>
                </a:extLst>
              </p:cNvPr>
              <p:cNvSpPr>
                <a:spLocks noRot="1" noChangeAspect="1" noMove="1" noResize="1" noEditPoints="1" noAdjustHandles="1" noChangeArrowheads="1" noChangeShapeType="1" noTextEdit="1"/>
              </p:cNvSpPr>
              <p:nvPr/>
            </p:nvSpPr>
            <p:spPr>
              <a:xfrm>
                <a:off x="4032876" y="5849521"/>
                <a:ext cx="1813317" cy="615490"/>
              </a:xfrm>
              <a:prstGeom prst="rect">
                <a:avLst/>
              </a:prstGeom>
              <a:blipFill>
                <a:blip r:embed="rId5"/>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17682934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1C9A834-08A5-FF32-99E2-C2083723D5B2}"/>
              </a:ext>
            </a:extLst>
          </p:cNvPr>
          <p:cNvSpPr>
            <a:spLocks noGrp="1"/>
          </p:cNvSpPr>
          <p:nvPr>
            <p:ph type="title"/>
          </p:nvPr>
        </p:nvSpPr>
        <p:spPr/>
        <p:txBody>
          <a:bodyPr>
            <a:normAutofit/>
          </a:bodyPr>
          <a:lstStyle/>
          <a:p>
            <a:r>
              <a:rPr lang="pt-BR" sz="4400" dirty="0"/>
              <a:t>Curva característica de operação do receptor</a:t>
            </a:r>
            <a:endParaRPr lang="pt-BR" dirty="0"/>
          </a:p>
        </p:txBody>
      </p:sp>
      <p:sp>
        <p:nvSpPr>
          <p:cNvPr id="3" name="Espaço Reservado para Conteúdo 2">
            <a:extLst>
              <a:ext uri="{FF2B5EF4-FFF2-40B4-BE49-F238E27FC236}">
                <a16:creationId xmlns="" xmlns:a16="http://schemas.microsoft.com/office/drawing/2014/main" id="{0998D617-0B6B-0F34-3EF5-C89BF5185C38}"/>
              </a:ext>
            </a:extLst>
          </p:cNvPr>
          <p:cNvSpPr>
            <a:spLocks noGrp="1"/>
          </p:cNvSpPr>
          <p:nvPr>
            <p:ph idx="1"/>
          </p:nvPr>
        </p:nvSpPr>
        <p:spPr>
          <a:xfrm>
            <a:off x="6590581" y="1842877"/>
            <a:ext cx="5601419" cy="5032375"/>
          </a:xfrm>
        </p:spPr>
        <p:txBody>
          <a:bodyPr>
            <a:normAutofit/>
          </a:bodyPr>
          <a:lstStyle/>
          <a:p>
            <a:r>
              <a:rPr lang="pt-BR" dirty="0"/>
              <a:t>Em geral, nós comparamos a curva ROC </a:t>
            </a:r>
            <a:r>
              <a:rPr lang="pt-BR" dirty="0" smtClean="0"/>
              <a:t>de um classificador </a:t>
            </a:r>
            <a:r>
              <a:rPr lang="pt-BR" dirty="0"/>
              <a:t>com as curvas de outros classificadores.</a:t>
            </a:r>
          </a:p>
          <a:p>
            <a:r>
              <a:rPr lang="pt-BR" dirty="0"/>
              <a:t>Por exemplo, a linha em </a:t>
            </a:r>
            <a:r>
              <a:rPr lang="pt-BR" b="1" i="1" dirty="0">
                <a:solidFill>
                  <a:srgbClr val="FF0000"/>
                </a:solidFill>
              </a:rPr>
              <a:t>vermelho</a:t>
            </a:r>
            <a:r>
              <a:rPr lang="pt-BR" dirty="0"/>
              <a:t>, indica um </a:t>
            </a:r>
            <a:r>
              <a:rPr lang="pt-BR" b="1" i="1" dirty="0"/>
              <a:t>classificador </a:t>
            </a:r>
            <a:r>
              <a:rPr lang="pt-BR" b="1" i="1" dirty="0">
                <a:solidFill>
                  <a:srgbClr val="7030A0"/>
                </a:solidFill>
              </a:rPr>
              <a:t>puramente aleatório</a:t>
            </a:r>
            <a:r>
              <a:rPr lang="pt-BR" dirty="0"/>
              <a:t>. </a:t>
            </a:r>
          </a:p>
          <a:p>
            <a:pPr lvl="1">
              <a:buFont typeface="Wingdings" panose="05000000000000000000" pitchFamily="2" charset="2"/>
              <a:buChar char="§"/>
            </a:pPr>
            <a:r>
              <a:rPr lang="pt-BR" dirty="0"/>
              <a:t>Um bom </a:t>
            </a:r>
            <a:r>
              <a:rPr lang="pt-BR" b="1" i="1" dirty="0"/>
              <a:t>classificador</a:t>
            </a:r>
            <a:r>
              <a:rPr lang="pt-BR" dirty="0"/>
              <a:t> fica o mais à esquerda possível dessa linha.</a:t>
            </a:r>
          </a:p>
        </p:txBody>
      </p:sp>
      <p:pic>
        <p:nvPicPr>
          <p:cNvPr id="8" name="Imagem 7">
            <a:extLst>
              <a:ext uri="{FF2B5EF4-FFF2-40B4-BE49-F238E27FC236}">
                <a16:creationId xmlns="" xmlns:a16="http://schemas.microsoft.com/office/drawing/2014/main" id="{240AB8A0-BCA7-9F7C-5462-AB6A2FD71CA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20991"/>
          <a:stretch/>
        </p:blipFill>
        <p:spPr>
          <a:xfrm>
            <a:off x="601557" y="1690688"/>
            <a:ext cx="5317788" cy="4774323"/>
          </a:xfrm>
          <a:prstGeom prst="rect">
            <a:avLst/>
          </a:prstGeom>
        </p:spPr>
      </p:pic>
      <mc:AlternateContent xmlns:mc="http://schemas.openxmlformats.org/markup-compatibility/2006" xmlns:a14="http://schemas.microsoft.com/office/drawing/2010/main">
        <mc:Choice Requires="a14">
          <p:sp>
            <p:nvSpPr>
              <p:cNvPr id="9" name="Retângulo 8">
                <a:extLst>
                  <a:ext uri="{FF2B5EF4-FFF2-40B4-BE49-F238E27FC236}">
                    <a16:creationId xmlns="" xmlns:a16="http://schemas.microsoft.com/office/drawing/2014/main" id="{57207A74-6C0A-136B-09C8-D0CB9DBADFAB}"/>
                  </a:ext>
                </a:extLst>
              </p:cNvPr>
              <p:cNvSpPr/>
              <p:nvPr/>
            </p:nvSpPr>
            <p:spPr>
              <a:xfrm>
                <a:off x="4244161" y="1825624"/>
                <a:ext cx="1517082"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𝑹</m:t>
                      </m:r>
                      <m:r>
                        <a:rPr lang="pt-BR" i="1">
                          <a:latin typeface="Cambria Math" panose="02040503050406030204" pitchFamily="18" charset="0"/>
                        </a:rPr>
                        <m:t>=</m:t>
                      </m:r>
                      <m:f>
                        <m:fPr>
                          <m:ctrlPr>
                            <a:rPr lang="pt-BR" i="1" smtClean="0">
                              <a:latin typeface="Cambria Math" panose="02040503050406030204" pitchFamily="18" charset="0"/>
                            </a:rPr>
                          </m:ctrlPr>
                        </m:fPr>
                        <m:num>
                          <m:r>
                            <m:rPr>
                              <m:sty m:val="p"/>
                            </m:rPr>
                            <a:rPr lang="pt-BR" b="0" i="0" smtClean="0">
                              <a:latin typeface="Cambria Math" panose="02040503050406030204" pitchFamily="18" charset="0"/>
                            </a:rPr>
                            <m:t>TP</m:t>
                          </m:r>
                        </m:num>
                        <m:den>
                          <m:r>
                            <m:rPr>
                              <m:sty m:val="p"/>
                            </m:rPr>
                            <a:rPr lang="pt-BR" i="0">
                              <a:latin typeface="Cambria Math" panose="02040503050406030204" pitchFamily="18" charset="0"/>
                            </a:rPr>
                            <m:t>TP</m:t>
                          </m:r>
                          <m:r>
                            <a:rPr lang="pt-BR" i="0">
                              <a:latin typeface="Cambria Math" panose="02040503050406030204" pitchFamily="18" charset="0"/>
                            </a:rPr>
                            <m:t>+</m:t>
                          </m:r>
                          <m:r>
                            <m:rPr>
                              <m:sty m:val="p"/>
                            </m:rPr>
                            <a:rPr lang="pt-BR" i="0">
                              <a:latin typeface="Cambria Math" panose="02040503050406030204" pitchFamily="18" charset="0"/>
                            </a:rPr>
                            <m:t>FN</m:t>
                          </m:r>
                        </m:den>
                      </m:f>
                    </m:oMath>
                  </m:oMathPara>
                </a14:m>
                <a:endParaRPr lang="pt-BR" dirty="0"/>
              </a:p>
            </p:txBody>
          </p:sp>
        </mc:Choice>
        <mc:Fallback xmlns="">
          <p:sp>
            <p:nvSpPr>
              <p:cNvPr id="9" name="Retângulo 8">
                <a:extLst>
                  <a:ext uri="{FF2B5EF4-FFF2-40B4-BE49-F238E27FC236}">
                    <a16:creationId xmlns:a16="http://schemas.microsoft.com/office/drawing/2014/main" id="{57207A74-6C0A-136B-09C8-D0CB9DBADFAB}"/>
                  </a:ext>
                </a:extLst>
              </p:cNvPr>
              <p:cNvSpPr>
                <a:spLocks noRot="1" noChangeAspect="1" noMove="1" noResize="1" noEditPoints="1" noAdjustHandles="1" noChangeArrowheads="1" noChangeShapeType="1" noTextEdit="1"/>
              </p:cNvSpPr>
              <p:nvPr/>
            </p:nvSpPr>
            <p:spPr>
              <a:xfrm>
                <a:off x="4244161" y="1825624"/>
                <a:ext cx="1517082" cy="61549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Retângulo 9">
                <a:extLst>
                  <a:ext uri="{FF2B5EF4-FFF2-40B4-BE49-F238E27FC236}">
                    <a16:creationId xmlns="" xmlns:a16="http://schemas.microsoft.com/office/drawing/2014/main" id="{EF34B8CF-4543-6D31-B409-48CE4615F805}"/>
                  </a:ext>
                </a:extLst>
              </p:cNvPr>
              <p:cNvSpPr/>
              <p:nvPr/>
            </p:nvSpPr>
            <p:spPr>
              <a:xfrm>
                <a:off x="4106028" y="5849521"/>
                <a:ext cx="1813317"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𝑻𝑭𝑷</m:t>
                      </m:r>
                      <m:r>
                        <a:rPr lang="pt-BR" i="1">
                          <a:latin typeface="Cambria Math" panose="02040503050406030204" pitchFamily="18" charset="0"/>
                        </a:rPr>
                        <m:t>=</m:t>
                      </m:r>
                      <m:f>
                        <m:fPr>
                          <m:ctrlPr>
                            <a:rPr lang="pt-BR" i="1">
                              <a:latin typeface="Cambria Math" panose="02040503050406030204" pitchFamily="18" charset="0"/>
                            </a:rPr>
                          </m:ctrlPr>
                        </m:fPr>
                        <m:num>
                          <m:r>
                            <m:rPr>
                              <m:sty m:val="p"/>
                            </m:rPr>
                            <a:rPr lang="pt-BR">
                              <a:latin typeface="Cambria Math" panose="02040503050406030204" pitchFamily="18" charset="0"/>
                            </a:rPr>
                            <m:t>FP</m:t>
                          </m:r>
                        </m:num>
                        <m:den>
                          <m:r>
                            <m:rPr>
                              <m:sty m:val="p"/>
                            </m:rPr>
                            <a:rPr lang="pt-BR">
                              <a:latin typeface="Cambria Math" panose="02040503050406030204" pitchFamily="18" charset="0"/>
                            </a:rPr>
                            <m:t>TN</m:t>
                          </m:r>
                          <m:r>
                            <a:rPr lang="pt-BR">
                              <a:latin typeface="Cambria Math" panose="02040503050406030204" pitchFamily="18" charset="0"/>
                            </a:rPr>
                            <m:t>+</m:t>
                          </m:r>
                          <m:r>
                            <m:rPr>
                              <m:sty m:val="p"/>
                            </m:rPr>
                            <a:rPr lang="pt-BR">
                              <a:latin typeface="Cambria Math" panose="02040503050406030204" pitchFamily="18" charset="0"/>
                            </a:rPr>
                            <m:t>FP</m:t>
                          </m:r>
                        </m:den>
                      </m:f>
                    </m:oMath>
                  </m:oMathPara>
                </a14:m>
                <a:endParaRPr lang="pt-BR" dirty="0"/>
              </a:p>
            </p:txBody>
          </p:sp>
        </mc:Choice>
        <mc:Fallback xmlns="">
          <p:sp>
            <p:nvSpPr>
              <p:cNvPr id="10" name="Retângulo 9">
                <a:extLst>
                  <a:ext uri="{FF2B5EF4-FFF2-40B4-BE49-F238E27FC236}">
                    <a16:creationId xmlns:a16="http://schemas.microsoft.com/office/drawing/2014/main" id="{EF34B8CF-4543-6D31-B409-48CE4615F805}"/>
                  </a:ext>
                </a:extLst>
              </p:cNvPr>
              <p:cNvSpPr>
                <a:spLocks noRot="1" noChangeAspect="1" noMove="1" noResize="1" noEditPoints="1" noAdjustHandles="1" noChangeArrowheads="1" noChangeShapeType="1" noTextEdit="1"/>
              </p:cNvSpPr>
              <p:nvPr/>
            </p:nvSpPr>
            <p:spPr>
              <a:xfrm>
                <a:off x="4106028" y="5849521"/>
                <a:ext cx="1813317" cy="615490"/>
              </a:xfrm>
              <a:prstGeom prst="rect">
                <a:avLst/>
              </a:prstGeom>
              <a:blipFill>
                <a:blip r:embed="rId5"/>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11105332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1C9A834-08A5-FF32-99E2-C2083723D5B2}"/>
              </a:ext>
            </a:extLst>
          </p:cNvPr>
          <p:cNvSpPr>
            <a:spLocks noGrp="1"/>
          </p:cNvSpPr>
          <p:nvPr>
            <p:ph type="title"/>
          </p:nvPr>
        </p:nvSpPr>
        <p:spPr/>
        <p:txBody>
          <a:bodyPr>
            <a:normAutofit/>
          </a:bodyPr>
          <a:lstStyle/>
          <a:p>
            <a:r>
              <a:rPr lang="pt-BR" sz="4400" dirty="0"/>
              <a:t>Curva característica de operação do receptor</a:t>
            </a:r>
            <a:endParaRPr lang="pt-BR" dirty="0"/>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 xmlns:a16="http://schemas.microsoft.com/office/drawing/2014/main" id="{0998D617-0B6B-0F34-3EF5-C89BF5185C38}"/>
                  </a:ext>
                </a:extLst>
              </p:cNvPr>
              <p:cNvSpPr>
                <a:spLocks noGrp="1"/>
              </p:cNvSpPr>
              <p:nvPr>
                <p:ph idx="1"/>
              </p:nvPr>
            </p:nvSpPr>
            <p:spPr>
              <a:xfrm>
                <a:off x="6314536" y="1825624"/>
                <a:ext cx="5877463" cy="5032375"/>
              </a:xfrm>
            </p:spPr>
            <p:txBody>
              <a:bodyPr>
                <a:normAutofit/>
              </a:bodyPr>
              <a:lstStyle/>
              <a:p>
                <a:r>
                  <a:rPr lang="pt-BR" dirty="0"/>
                  <a:t>Classes </a:t>
                </a:r>
                <a:r>
                  <a:rPr lang="pt-BR" b="1" i="1" dirty="0">
                    <a:solidFill>
                      <a:srgbClr val="00B050"/>
                    </a:solidFill>
                  </a:rPr>
                  <a:t>sem sobreposição </a:t>
                </a:r>
                <a:r>
                  <a:rPr lang="pt-BR" dirty="0"/>
                  <a:t>apresentam uma curva ROC </a:t>
                </a:r>
                <a:r>
                  <a:rPr lang="pt-BR" dirty="0" smtClean="0"/>
                  <a:t>que </a:t>
                </a:r>
                <a:r>
                  <a:rPr lang="pt-BR" b="1" dirty="0" smtClean="0">
                    <a:solidFill>
                      <a:schemeClr val="accent2"/>
                    </a:solidFill>
                  </a:rPr>
                  <a:t>passa sobre o eixo do </a:t>
                </a:r>
                <a:r>
                  <a:rPr lang="pt-BR" b="1" i="1" dirty="0" smtClean="0">
                    <a:solidFill>
                      <a:schemeClr val="accent2"/>
                    </a:solidFill>
                  </a:rPr>
                  <a:t>recall</a:t>
                </a:r>
                <a:r>
                  <a:rPr lang="pt-BR" b="1" dirty="0" smtClean="0">
                    <a:solidFill>
                      <a:schemeClr val="accent2"/>
                    </a:solidFill>
                  </a:rPr>
                  <a:t> </a:t>
                </a:r>
                <a:r>
                  <a:rPr lang="pt-BR" dirty="0" smtClean="0"/>
                  <a:t>e é </a:t>
                </a:r>
                <a:r>
                  <a:rPr lang="pt-BR" b="1" i="1" dirty="0" smtClean="0">
                    <a:solidFill>
                      <a:srgbClr val="00B050"/>
                    </a:solidFill>
                  </a:rPr>
                  <a:t>paralela ao eixo da </a:t>
                </a:r>
                <a:r>
                  <a:rPr lang="pt-BR" b="1" i="1" dirty="0">
                    <a:solidFill>
                      <a:srgbClr val="00B050"/>
                    </a:solidFill>
                  </a:rPr>
                  <a:t>TFP</a:t>
                </a:r>
                <a:r>
                  <a:rPr lang="pt-BR" dirty="0"/>
                  <a:t> (linha azul tracejada).</a:t>
                </a:r>
              </a:p>
              <a:p>
                <a:r>
                  <a:rPr lang="pt-BR" dirty="0"/>
                  <a:t>Classes sem sobreposição têm classificação perfeita quando </a:t>
                </a:r>
                <a14:m>
                  <m:oMath xmlns:m="http://schemas.openxmlformats.org/officeDocument/2006/math">
                    <m:r>
                      <a:rPr lang="pt-BR" i="1">
                        <a:latin typeface="Cambria Math" panose="02040503050406030204" pitchFamily="18" charset="0"/>
                      </a:rPr>
                      <m:t>𝑇</m:t>
                    </m:r>
                    <m:r>
                      <a:rPr lang="pt-BR" i="1">
                        <a:latin typeface="Cambria Math" panose="02040503050406030204" pitchFamily="18" charset="0"/>
                      </a:rPr>
                      <m:t>=0.5</m:t>
                    </m:r>
                  </m:oMath>
                </a14:m>
                <a:r>
                  <a:rPr lang="pt-BR" dirty="0"/>
                  <a:t>, </a:t>
                </a:r>
                <a:r>
                  <a:rPr lang="pt-BR" dirty="0" smtClean="0"/>
                  <a:t>representando:</a:t>
                </a:r>
              </a:p>
              <a:p>
                <a:pPr lvl="1">
                  <a:buFont typeface="Wingdings" panose="05000000000000000000" pitchFamily="2" charset="2"/>
                  <a:buChar char="§"/>
                </a:pPr>
                <a:r>
                  <a:rPr lang="pt-BR" dirty="0" smtClean="0"/>
                  <a:t>100</a:t>
                </a:r>
                <a:r>
                  <a:rPr lang="pt-BR" dirty="0"/>
                  <a:t>% de </a:t>
                </a:r>
                <a:r>
                  <a:rPr lang="pt-BR" b="1" i="1" dirty="0"/>
                  <a:t>recall</a:t>
                </a:r>
                <a:r>
                  <a:rPr lang="pt-BR" dirty="0"/>
                  <a:t> (i.e., sem falsos negativos) </a:t>
                </a:r>
                <a:endParaRPr lang="pt-BR" dirty="0" smtClean="0"/>
              </a:p>
              <a:p>
                <a:pPr lvl="1">
                  <a:buFont typeface="Wingdings" panose="05000000000000000000" pitchFamily="2" charset="2"/>
                  <a:buChar char="§"/>
                </a:pPr>
                <a:r>
                  <a:rPr lang="pt-BR" dirty="0" smtClean="0"/>
                  <a:t>e </a:t>
                </a:r>
                <a:r>
                  <a:rPr lang="pt-BR" dirty="0"/>
                  <a:t>100% de </a:t>
                </a:r>
                <a:r>
                  <a:rPr lang="pt-BR" b="1" i="1" dirty="0"/>
                  <a:t>especificidade</a:t>
                </a:r>
                <a:r>
                  <a:rPr lang="pt-BR" dirty="0"/>
                  <a:t> (i.e., sem falsos positivos).</a:t>
                </a:r>
              </a:p>
            </p:txBody>
          </p:sp>
        </mc:Choice>
        <mc:Fallback>
          <p:sp>
            <p:nvSpPr>
              <p:cNvPr id="3" name="Espaço Reservado para Conteúdo 2">
                <a:extLst>
                  <a:ext uri="{FF2B5EF4-FFF2-40B4-BE49-F238E27FC236}">
                    <a16:creationId xmlns="" xmlns:a16="http://schemas.microsoft.com/office/drawing/2014/main" xmlns:a14="http://schemas.microsoft.com/office/drawing/2010/main" id="{0998D617-0B6B-0F34-3EF5-C89BF5185C38}"/>
                  </a:ext>
                </a:extLst>
              </p:cNvPr>
              <p:cNvSpPr>
                <a:spLocks noGrp="1" noRot="1" noChangeAspect="1" noMove="1" noResize="1" noEditPoints="1" noAdjustHandles="1" noChangeArrowheads="1" noChangeShapeType="1" noTextEdit="1"/>
              </p:cNvSpPr>
              <p:nvPr>
                <p:ph idx="1"/>
              </p:nvPr>
            </p:nvSpPr>
            <p:spPr>
              <a:xfrm>
                <a:off x="6314536" y="1825624"/>
                <a:ext cx="5877463" cy="5032375"/>
              </a:xfrm>
              <a:blipFill rotWithShape="0">
                <a:blip r:embed="rId3"/>
                <a:stretch>
                  <a:fillRect l="-1867" t="-1937"/>
                </a:stretch>
              </a:blipFill>
            </p:spPr>
            <p:txBody>
              <a:bodyPr/>
              <a:lstStyle/>
              <a:p>
                <a:r>
                  <a:rPr lang="pt-BR">
                    <a:noFill/>
                  </a:rPr>
                  <a:t> </a:t>
                </a:r>
              </a:p>
            </p:txBody>
          </p:sp>
        </mc:Fallback>
      </mc:AlternateContent>
      <p:pic>
        <p:nvPicPr>
          <p:cNvPr id="8" name="Imagem 7">
            <a:extLst>
              <a:ext uri="{FF2B5EF4-FFF2-40B4-BE49-F238E27FC236}">
                <a16:creationId xmlns="" xmlns:a16="http://schemas.microsoft.com/office/drawing/2014/main" id="{240AB8A0-BCA7-9F7C-5462-AB6A2FD71CA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20991"/>
          <a:stretch/>
        </p:blipFill>
        <p:spPr>
          <a:xfrm>
            <a:off x="650325" y="1690688"/>
            <a:ext cx="5317788" cy="4774323"/>
          </a:xfrm>
          <a:prstGeom prst="rect">
            <a:avLst/>
          </a:prstGeom>
        </p:spPr>
      </p:pic>
      <mc:AlternateContent xmlns:mc="http://schemas.openxmlformats.org/markup-compatibility/2006" xmlns:a14="http://schemas.microsoft.com/office/drawing/2010/main">
        <mc:Choice Requires="a14">
          <p:sp>
            <p:nvSpPr>
              <p:cNvPr id="9" name="Retângulo 8">
                <a:extLst>
                  <a:ext uri="{FF2B5EF4-FFF2-40B4-BE49-F238E27FC236}">
                    <a16:creationId xmlns="" xmlns:a16="http://schemas.microsoft.com/office/drawing/2014/main" id="{57207A74-6C0A-136B-09C8-D0CB9DBADFAB}"/>
                  </a:ext>
                </a:extLst>
              </p:cNvPr>
              <p:cNvSpPr/>
              <p:nvPr/>
            </p:nvSpPr>
            <p:spPr>
              <a:xfrm>
                <a:off x="4292929" y="1825624"/>
                <a:ext cx="1517082"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𝑹</m:t>
                      </m:r>
                      <m:r>
                        <a:rPr lang="pt-BR" i="1">
                          <a:latin typeface="Cambria Math" panose="02040503050406030204" pitchFamily="18" charset="0"/>
                        </a:rPr>
                        <m:t>=</m:t>
                      </m:r>
                      <m:f>
                        <m:fPr>
                          <m:ctrlPr>
                            <a:rPr lang="pt-BR" i="1" smtClean="0">
                              <a:latin typeface="Cambria Math" panose="02040503050406030204" pitchFamily="18" charset="0"/>
                            </a:rPr>
                          </m:ctrlPr>
                        </m:fPr>
                        <m:num>
                          <m:r>
                            <m:rPr>
                              <m:sty m:val="p"/>
                            </m:rPr>
                            <a:rPr lang="pt-BR" b="0" i="0" smtClean="0">
                              <a:latin typeface="Cambria Math" panose="02040503050406030204" pitchFamily="18" charset="0"/>
                            </a:rPr>
                            <m:t>TP</m:t>
                          </m:r>
                        </m:num>
                        <m:den>
                          <m:r>
                            <m:rPr>
                              <m:sty m:val="p"/>
                            </m:rPr>
                            <a:rPr lang="pt-BR" i="0">
                              <a:latin typeface="Cambria Math" panose="02040503050406030204" pitchFamily="18" charset="0"/>
                            </a:rPr>
                            <m:t>TP</m:t>
                          </m:r>
                          <m:r>
                            <a:rPr lang="pt-BR" i="0">
                              <a:latin typeface="Cambria Math" panose="02040503050406030204" pitchFamily="18" charset="0"/>
                            </a:rPr>
                            <m:t>+</m:t>
                          </m:r>
                          <m:r>
                            <m:rPr>
                              <m:sty m:val="p"/>
                            </m:rPr>
                            <a:rPr lang="pt-BR" i="0">
                              <a:latin typeface="Cambria Math" panose="02040503050406030204" pitchFamily="18" charset="0"/>
                            </a:rPr>
                            <m:t>FN</m:t>
                          </m:r>
                        </m:den>
                      </m:f>
                    </m:oMath>
                  </m:oMathPara>
                </a14:m>
                <a:endParaRPr lang="pt-BR" dirty="0"/>
              </a:p>
            </p:txBody>
          </p:sp>
        </mc:Choice>
        <mc:Fallback xmlns="">
          <p:sp>
            <p:nvSpPr>
              <p:cNvPr id="9" name="Retângulo 8">
                <a:extLst>
                  <a:ext uri="{FF2B5EF4-FFF2-40B4-BE49-F238E27FC236}">
                    <a16:creationId xmlns:a16="http://schemas.microsoft.com/office/drawing/2014/main" id="{57207A74-6C0A-136B-09C8-D0CB9DBADFAB}"/>
                  </a:ext>
                </a:extLst>
              </p:cNvPr>
              <p:cNvSpPr>
                <a:spLocks noRot="1" noChangeAspect="1" noMove="1" noResize="1" noEditPoints="1" noAdjustHandles="1" noChangeArrowheads="1" noChangeShapeType="1" noTextEdit="1"/>
              </p:cNvSpPr>
              <p:nvPr/>
            </p:nvSpPr>
            <p:spPr>
              <a:xfrm>
                <a:off x="4292929" y="1825624"/>
                <a:ext cx="1517082" cy="61549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Retângulo 9">
                <a:extLst>
                  <a:ext uri="{FF2B5EF4-FFF2-40B4-BE49-F238E27FC236}">
                    <a16:creationId xmlns="" xmlns:a16="http://schemas.microsoft.com/office/drawing/2014/main" id="{EF34B8CF-4543-6D31-B409-48CE4615F805}"/>
                  </a:ext>
                </a:extLst>
              </p:cNvPr>
              <p:cNvSpPr/>
              <p:nvPr/>
            </p:nvSpPr>
            <p:spPr>
              <a:xfrm>
                <a:off x="4154796" y="5849521"/>
                <a:ext cx="1813317"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𝑻𝑭𝑷</m:t>
                      </m:r>
                      <m:r>
                        <a:rPr lang="pt-BR" i="1">
                          <a:latin typeface="Cambria Math" panose="02040503050406030204" pitchFamily="18" charset="0"/>
                        </a:rPr>
                        <m:t>=</m:t>
                      </m:r>
                      <m:f>
                        <m:fPr>
                          <m:ctrlPr>
                            <a:rPr lang="pt-BR" i="1">
                              <a:latin typeface="Cambria Math" panose="02040503050406030204" pitchFamily="18" charset="0"/>
                            </a:rPr>
                          </m:ctrlPr>
                        </m:fPr>
                        <m:num>
                          <m:r>
                            <m:rPr>
                              <m:sty m:val="p"/>
                            </m:rPr>
                            <a:rPr lang="pt-BR">
                              <a:latin typeface="Cambria Math" panose="02040503050406030204" pitchFamily="18" charset="0"/>
                            </a:rPr>
                            <m:t>FP</m:t>
                          </m:r>
                        </m:num>
                        <m:den>
                          <m:r>
                            <m:rPr>
                              <m:sty m:val="p"/>
                            </m:rPr>
                            <a:rPr lang="pt-BR">
                              <a:latin typeface="Cambria Math" panose="02040503050406030204" pitchFamily="18" charset="0"/>
                            </a:rPr>
                            <m:t>TN</m:t>
                          </m:r>
                          <m:r>
                            <a:rPr lang="pt-BR">
                              <a:latin typeface="Cambria Math" panose="02040503050406030204" pitchFamily="18" charset="0"/>
                            </a:rPr>
                            <m:t>+</m:t>
                          </m:r>
                          <m:r>
                            <m:rPr>
                              <m:sty m:val="p"/>
                            </m:rPr>
                            <a:rPr lang="pt-BR">
                              <a:latin typeface="Cambria Math" panose="02040503050406030204" pitchFamily="18" charset="0"/>
                            </a:rPr>
                            <m:t>FP</m:t>
                          </m:r>
                        </m:den>
                      </m:f>
                    </m:oMath>
                  </m:oMathPara>
                </a14:m>
                <a:endParaRPr lang="pt-BR" dirty="0"/>
              </a:p>
            </p:txBody>
          </p:sp>
        </mc:Choice>
        <mc:Fallback xmlns="">
          <p:sp>
            <p:nvSpPr>
              <p:cNvPr id="10" name="Retângulo 9">
                <a:extLst>
                  <a:ext uri="{FF2B5EF4-FFF2-40B4-BE49-F238E27FC236}">
                    <a16:creationId xmlns:a16="http://schemas.microsoft.com/office/drawing/2014/main" id="{EF34B8CF-4543-6D31-B409-48CE4615F805}"/>
                  </a:ext>
                </a:extLst>
              </p:cNvPr>
              <p:cNvSpPr>
                <a:spLocks noRot="1" noChangeAspect="1" noMove="1" noResize="1" noEditPoints="1" noAdjustHandles="1" noChangeArrowheads="1" noChangeShapeType="1" noTextEdit="1"/>
              </p:cNvSpPr>
              <p:nvPr/>
            </p:nvSpPr>
            <p:spPr>
              <a:xfrm>
                <a:off x="4154796" y="5849521"/>
                <a:ext cx="1813317" cy="615490"/>
              </a:xfrm>
              <a:prstGeom prst="rect">
                <a:avLst/>
              </a:prstGeom>
              <a:blipFill>
                <a:blip r:embed="rId6"/>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2213654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33F1B0EE-2CD4-E8BF-117B-007FC91F23E7}"/>
              </a:ext>
            </a:extLst>
          </p:cNvPr>
          <p:cNvSpPr>
            <a:spLocks noGrp="1"/>
          </p:cNvSpPr>
          <p:nvPr>
            <p:ph type="title"/>
          </p:nvPr>
        </p:nvSpPr>
        <p:spPr/>
        <p:txBody>
          <a:bodyPr/>
          <a:lstStyle/>
          <a:p>
            <a:r>
              <a:rPr lang="pt-BR" sz="4400" dirty="0"/>
              <a:t>Como as curvas ROC são obtidas?</a:t>
            </a:r>
            <a:endParaRPr lang="pt-BR"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 xmlns:a16="http://schemas.microsoft.com/office/drawing/2014/main" id="{54B875B9-5A6C-42BB-A12E-4AB2A0F373BF}"/>
                  </a:ext>
                </a:extLst>
              </p:cNvPr>
              <p:cNvSpPr>
                <a:spLocks noGrp="1"/>
              </p:cNvSpPr>
              <p:nvPr>
                <p:ph idx="1"/>
              </p:nvPr>
            </p:nvSpPr>
            <p:spPr>
              <a:xfrm>
                <a:off x="5212080" y="1825625"/>
                <a:ext cx="6844937" cy="5032375"/>
              </a:xfrm>
            </p:spPr>
            <p:txBody>
              <a:bodyPr>
                <a:normAutofit/>
              </a:bodyPr>
              <a:lstStyle/>
              <a:p>
                <a:r>
                  <a:rPr lang="pt-BR" dirty="0"/>
                  <a:t>Em geral,</a:t>
                </a:r>
                <a:r>
                  <a:rPr lang="pt-BR" b="1" i="1" dirty="0">
                    <a:solidFill>
                      <a:srgbClr val="00B050"/>
                    </a:solidFill>
                  </a:rPr>
                  <a:t> classificadores binários</a:t>
                </a:r>
                <a:r>
                  <a:rPr lang="pt-BR" dirty="0"/>
                  <a:t> </a:t>
                </a:r>
                <a:r>
                  <a:rPr lang="pt-BR" b="1" i="1" dirty="0">
                    <a:solidFill>
                      <a:srgbClr val="00B050"/>
                    </a:solidFill>
                  </a:rPr>
                  <a:t>apresentam em sua saída a probabilidade </a:t>
                </a:r>
                <a:r>
                  <a:rPr lang="pt-BR" dirty="0"/>
                  <a:t>para um exemplo de entrada. </a:t>
                </a:r>
              </a:p>
              <a:p>
                <a:r>
                  <a:rPr lang="pt-BR" dirty="0"/>
                  <a:t>Em seguida, essas </a:t>
                </a:r>
                <a:r>
                  <a:rPr lang="pt-BR" b="1" i="1" dirty="0">
                    <a:solidFill>
                      <a:srgbClr val="00B050"/>
                    </a:solidFill>
                  </a:rPr>
                  <a:t>probabilidades são discretizadas</a:t>
                </a:r>
                <a:r>
                  <a:rPr lang="pt-BR" dirty="0"/>
                  <a:t> para que se tenha a decisão final.</a:t>
                </a:r>
              </a:p>
              <a:p>
                <a:r>
                  <a:rPr lang="pt-BR" dirty="0"/>
                  <a:t>Por exemplo, se o valor de </a:t>
                </a:r>
                <a14:m>
                  <m:oMath xmlns:m="http://schemas.openxmlformats.org/officeDocument/2006/math">
                    <m:sSub>
                      <m:sSubPr>
                        <m:ctrlPr>
                          <a:rPr lang="pt-BR" i="1">
                            <a:latin typeface="Cambria Math" panose="02040503050406030204" pitchFamily="18" charset="0"/>
                          </a:rPr>
                        </m:ctrlPr>
                      </m:sSubPr>
                      <m:e>
                        <m:r>
                          <a:rPr lang="pt-BR" b="0" i="1">
                            <a:latin typeface="Cambria Math" panose="02040503050406030204" pitchFamily="18" charset="0"/>
                          </a:rPr>
                          <m:t>h</m:t>
                        </m:r>
                      </m:e>
                      <m:sub>
                        <m:r>
                          <a:rPr lang="pt-BR" b="1" i="1">
                            <a:latin typeface="Cambria Math" panose="02040503050406030204" pitchFamily="18" charset="0"/>
                          </a:rPr>
                          <m:t>𝒂</m:t>
                        </m:r>
                      </m:sub>
                    </m:sSub>
                    <m:d>
                      <m:dPr>
                        <m:ctrlPr>
                          <a:rPr lang="pt-BR" i="1">
                            <a:latin typeface="Cambria Math" panose="02040503050406030204" pitchFamily="18" charset="0"/>
                          </a:rPr>
                        </m:ctrlPr>
                      </m:dPr>
                      <m:e>
                        <m:r>
                          <a:rPr lang="pt-BR" b="1" i="1">
                            <a:latin typeface="Cambria Math" panose="02040503050406030204" pitchFamily="18" charset="0"/>
                          </a:rPr>
                          <m:t>𝒙</m:t>
                        </m:r>
                        <m:d>
                          <m:dPr>
                            <m:ctrlPr>
                              <a:rPr lang="pt-BR" b="1" i="1">
                                <a:latin typeface="Cambria Math" panose="02040503050406030204" pitchFamily="18" charset="0"/>
                              </a:rPr>
                            </m:ctrlPr>
                          </m:dPr>
                          <m:e>
                            <m:r>
                              <a:rPr lang="pt-BR" i="1">
                                <a:latin typeface="Cambria Math" panose="02040503050406030204" pitchFamily="18" charset="0"/>
                              </a:rPr>
                              <m:t>𝑖</m:t>
                            </m:r>
                          </m:e>
                        </m:d>
                      </m:e>
                    </m:d>
                  </m:oMath>
                </a14:m>
                <a:r>
                  <a:rPr lang="pt-BR" dirty="0"/>
                  <a:t> ultrapassa um determinado </a:t>
                </a:r>
                <a:r>
                  <a:rPr lang="pt-BR" b="1" i="1" dirty="0"/>
                  <a:t>limiar</a:t>
                </a:r>
                <a:r>
                  <a:rPr lang="pt-BR" dirty="0"/>
                  <a:t>,</a:t>
                </a:r>
                <a:r>
                  <a:rPr lang="pt-BR" b="1" i="1" dirty="0"/>
                  <a:t> T</a:t>
                </a:r>
                <a:r>
                  <a:rPr lang="pt-BR" dirty="0"/>
                  <a:t>, ele é mapeado no valor 1 (classe positiva, </a:t>
                </a:r>
                <a14:m>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𝐶</m:t>
                        </m:r>
                      </m:e>
                      <m:sub>
                        <m:r>
                          <a:rPr lang="pt-BR" b="0" i="1" smtClean="0">
                            <a:latin typeface="Cambria Math" panose="02040503050406030204" pitchFamily="18" charset="0"/>
                          </a:rPr>
                          <m:t>2</m:t>
                        </m:r>
                      </m:sub>
                    </m:sSub>
                  </m:oMath>
                </a14:m>
                <a:r>
                  <a:rPr lang="pt-BR" dirty="0"/>
                  <a:t>).</a:t>
                </a:r>
              </a:p>
              <a:p>
                <a:r>
                  <a:rPr lang="pt-BR" dirty="0"/>
                  <a:t>Caso contrário, ele é mapeado no valor 0 (classe negativa,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1</m:t>
                        </m:r>
                      </m:sub>
                    </m:sSub>
                  </m:oMath>
                </a14:m>
                <a:r>
                  <a:rPr lang="pt-BR" dirty="0"/>
                  <a:t>).</a:t>
                </a:r>
              </a:p>
            </p:txBody>
          </p:sp>
        </mc:Choice>
        <mc:Fallback xmlns="">
          <p:sp>
            <p:nvSpPr>
              <p:cNvPr id="3" name="Espaço Reservado para Conteúdo 2">
                <a:extLst>
                  <a:ext uri="{FF2B5EF4-FFF2-40B4-BE49-F238E27FC236}">
                    <a16:creationId xmlns:a16="http://schemas.microsoft.com/office/drawing/2014/main" id="{54B875B9-5A6C-42BB-A12E-4AB2A0F373BF}"/>
                  </a:ext>
                </a:extLst>
              </p:cNvPr>
              <p:cNvSpPr>
                <a:spLocks noGrp="1" noRot="1" noChangeAspect="1" noMove="1" noResize="1" noEditPoints="1" noAdjustHandles="1" noChangeArrowheads="1" noChangeShapeType="1" noTextEdit="1"/>
              </p:cNvSpPr>
              <p:nvPr>
                <p:ph idx="1"/>
              </p:nvPr>
            </p:nvSpPr>
            <p:spPr>
              <a:xfrm>
                <a:off x="5212080" y="1825625"/>
                <a:ext cx="6844937" cy="5032375"/>
              </a:xfrm>
              <a:blipFill>
                <a:blip r:embed="rId2"/>
                <a:stretch>
                  <a:fillRect l="-1603" t="-1937"/>
                </a:stretch>
              </a:blipFill>
            </p:spPr>
            <p:txBody>
              <a:bodyPr/>
              <a:lstStyle/>
              <a:p>
                <a:r>
                  <a:rPr lang="pt-BR">
                    <a:noFill/>
                  </a:rPr>
                  <a:t> </a:t>
                </a:r>
              </a:p>
            </p:txBody>
          </p:sp>
        </mc:Fallback>
      </mc:AlternateContent>
      <p:pic>
        <p:nvPicPr>
          <p:cNvPr id="4" name="Picture 2" descr="ROC curves.svg">
            <a:extLst>
              <a:ext uri="{FF2B5EF4-FFF2-40B4-BE49-F238E27FC236}">
                <a16:creationId xmlns="" xmlns:a16="http://schemas.microsoft.com/office/drawing/2014/main" id="{40EFFB75-59CF-B7DF-9636-9D5E28A808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431" r="7445"/>
          <a:stretch/>
        </p:blipFill>
        <p:spPr bwMode="auto">
          <a:xfrm>
            <a:off x="292819" y="2122650"/>
            <a:ext cx="4417665" cy="3847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311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33F1B0EE-2CD4-E8BF-117B-007FC91F23E7}"/>
              </a:ext>
            </a:extLst>
          </p:cNvPr>
          <p:cNvSpPr>
            <a:spLocks noGrp="1"/>
          </p:cNvSpPr>
          <p:nvPr>
            <p:ph type="title"/>
          </p:nvPr>
        </p:nvSpPr>
        <p:spPr/>
        <p:txBody>
          <a:bodyPr/>
          <a:lstStyle/>
          <a:p>
            <a:r>
              <a:rPr lang="pt-BR" sz="4400" dirty="0"/>
              <a:t>Como as curvas ROC são obtidas?</a:t>
            </a:r>
            <a:endParaRPr lang="pt-BR" dirty="0"/>
          </a:p>
        </p:txBody>
      </p:sp>
      <p:sp>
        <p:nvSpPr>
          <p:cNvPr id="3" name="Espaço Reservado para Conteúdo 2">
            <a:extLst>
              <a:ext uri="{FF2B5EF4-FFF2-40B4-BE49-F238E27FC236}">
                <a16:creationId xmlns="" xmlns:a16="http://schemas.microsoft.com/office/drawing/2014/main" id="{54B875B9-5A6C-42BB-A12E-4AB2A0F373BF}"/>
              </a:ext>
            </a:extLst>
          </p:cNvPr>
          <p:cNvSpPr>
            <a:spLocks noGrp="1"/>
          </p:cNvSpPr>
          <p:nvPr>
            <p:ph idx="1"/>
          </p:nvPr>
        </p:nvSpPr>
        <p:spPr>
          <a:xfrm>
            <a:off x="5669280" y="1855443"/>
            <a:ext cx="6387737" cy="5032375"/>
          </a:xfrm>
        </p:spPr>
        <p:txBody>
          <a:bodyPr>
            <a:normAutofit/>
          </a:bodyPr>
          <a:lstStyle/>
          <a:p>
            <a:r>
              <a:rPr lang="pt-BR" dirty="0"/>
              <a:t>Sendo assim, ao plotarmos o </a:t>
            </a:r>
            <a:r>
              <a:rPr lang="pt-BR" b="1" i="1" dirty="0"/>
              <a:t>recall</a:t>
            </a:r>
            <a:r>
              <a:rPr lang="pt-BR" dirty="0"/>
              <a:t> versus a </a:t>
            </a:r>
            <a:r>
              <a:rPr lang="pt-BR" b="1" i="1" dirty="0"/>
              <a:t>taxa de falso positivo </a:t>
            </a:r>
            <a:r>
              <a:rPr lang="pt-BR" dirty="0"/>
              <a:t>para diferentes valores de </a:t>
            </a:r>
            <a:r>
              <a:rPr lang="pt-BR" b="1" i="1" dirty="0"/>
              <a:t>limiar</a:t>
            </a:r>
            <a:r>
              <a:rPr lang="pt-BR" dirty="0"/>
              <a:t>, </a:t>
            </a:r>
            <a:r>
              <a:rPr lang="pt-BR" b="1" i="1" dirty="0"/>
              <a:t>T</a:t>
            </a:r>
            <a:r>
              <a:rPr lang="pt-BR" dirty="0"/>
              <a:t>, obtemos a </a:t>
            </a:r>
            <a:r>
              <a:rPr lang="pt-BR" b="1" i="1" dirty="0"/>
              <a:t>curva ROC</a:t>
            </a:r>
            <a:r>
              <a:rPr lang="pt-BR" dirty="0"/>
              <a:t> associada a um </a:t>
            </a:r>
            <a:r>
              <a:rPr lang="pt-BR" b="1" i="1" dirty="0"/>
              <a:t>classificador binário</a:t>
            </a:r>
            <a:r>
              <a:rPr lang="pt-BR" dirty="0"/>
              <a:t>.</a:t>
            </a:r>
          </a:p>
          <a:p>
            <a:r>
              <a:rPr lang="pt-BR" dirty="0"/>
              <a:t>A </a:t>
            </a:r>
            <a:r>
              <a:rPr lang="pt-BR" b="1" i="1" dirty="0">
                <a:solidFill>
                  <a:srgbClr val="00B050"/>
                </a:solidFill>
              </a:rPr>
              <a:t>escolha do</a:t>
            </a:r>
            <a:r>
              <a:rPr lang="pt-BR" b="1" i="1" dirty="0">
                <a:solidFill>
                  <a:srgbClr val="00B050"/>
                </a:solidFill>
                <a:effectLst/>
              </a:rPr>
              <a:t> limiar de decisão diferente de 0.5 pode melhorar o desempenho de um classificador</a:t>
            </a:r>
            <a:r>
              <a:rPr lang="pt-BR" b="0" i="0" dirty="0">
                <a:effectLst/>
              </a:rPr>
              <a:t> binário em situações de desbalanceamento de classes ou custos assimétricos de erro</a:t>
            </a:r>
            <a:r>
              <a:rPr lang="pt-BR" dirty="0"/>
              <a:t> (i.e., </a:t>
            </a:r>
            <a:r>
              <a:rPr lang="pt-BR" b="0" i="0" dirty="0">
                <a:effectLst/>
              </a:rPr>
              <a:t>precisão ou </a:t>
            </a:r>
            <a:r>
              <a:rPr lang="pt-BR" b="0" i="1" dirty="0">
                <a:effectLst/>
              </a:rPr>
              <a:t>recall</a:t>
            </a:r>
            <a:r>
              <a:rPr lang="pt-BR" dirty="0"/>
              <a:t>)</a:t>
            </a:r>
            <a:r>
              <a:rPr lang="pt-BR" b="0" i="0" dirty="0">
                <a:effectLst/>
              </a:rPr>
              <a:t>.</a:t>
            </a:r>
            <a:endParaRPr lang="pt-BR" dirty="0"/>
          </a:p>
        </p:txBody>
      </p:sp>
      <p:pic>
        <p:nvPicPr>
          <p:cNvPr id="4" name="Picture 2" descr="ROC curves.svg">
            <a:extLst>
              <a:ext uri="{FF2B5EF4-FFF2-40B4-BE49-F238E27FC236}">
                <a16:creationId xmlns="" xmlns:a16="http://schemas.microsoft.com/office/drawing/2014/main" id="{40EFFB75-59CF-B7DF-9636-9D5E28A808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431" r="7445"/>
          <a:stretch/>
        </p:blipFill>
        <p:spPr bwMode="auto">
          <a:xfrm>
            <a:off x="292819" y="2122650"/>
            <a:ext cx="4417665" cy="3847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3834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ECA7EC4-43C6-979E-8AE0-0716552C347D}"/>
              </a:ext>
            </a:extLst>
          </p:cNvPr>
          <p:cNvSpPr>
            <a:spLocks noGrp="1"/>
          </p:cNvSpPr>
          <p:nvPr>
            <p:ph type="title"/>
          </p:nvPr>
        </p:nvSpPr>
        <p:spPr/>
        <p:txBody>
          <a:bodyPr/>
          <a:lstStyle/>
          <a:p>
            <a:r>
              <a:rPr lang="pt-BR" dirty="0"/>
              <a:t>Comparando classificadores com a curva ROC</a:t>
            </a:r>
          </a:p>
        </p:txBody>
      </p:sp>
      <p:sp>
        <p:nvSpPr>
          <p:cNvPr id="3" name="Espaço Reservado para Conteúdo 2">
            <a:extLst>
              <a:ext uri="{FF2B5EF4-FFF2-40B4-BE49-F238E27FC236}">
                <a16:creationId xmlns="" xmlns:a16="http://schemas.microsoft.com/office/drawing/2014/main" id="{8150DAF9-3E3C-DF70-0359-A3133AB00F8C}"/>
              </a:ext>
            </a:extLst>
          </p:cNvPr>
          <p:cNvSpPr>
            <a:spLocks noGrp="1"/>
          </p:cNvSpPr>
          <p:nvPr>
            <p:ph idx="1"/>
          </p:nvPr>
        </p:nvSpPr>
        <p:spPr>
          <a:xfrm>
            <a:off x="5615609" y="1825624"/>
            <a:ext cx="6480597" cy="5032375"/>
          </a:xfrm>
        </p:spPr>
        <p:txBody>
          <a:bodyPr>
            <a:normAutofit lnSpcReduction="10000"/>
          </a:bodyPr>
          <a:lstStyle/>
          <a:p>
            <a:r>
              <a:rPr lang="pt-BR" dirty="0"/>
              <a:t>Usamos curvas ROC para comparar </a:t>
            </a:r>
            <a:r>
              <a:rPr lang="pt-BR" b="1" i="1" dirty="0">
                <a:solidFill>
                  <a:srgbClr val="00B050"/>
                </a:solidFill>
              </a:rPr>
              <a:t>classificadores binários</a:t>
            </a:r>
            <a:r>
              <a:rPr lang="pt-BR" dirty="0"/>
              <a:t>.</a:t>
            </a:r>
          </a:p>
          <a:p>
            <a:r>
              <a:rPr lang="pt-BR" dirty="0"/>
              <a:t>Para isso, criamos uma </a:t>
            </a:r>
            <a:r>
              <a:rPr lang="pt-BR" b="1" i="1" dirty="0"/>
              <a:t>curva ROC</a:t>
            </a:r>
            <a:r>
              <a:rPr lang="pt-BR" dirty="0"/>
              <a:t> para cada um deles. </a:t>
            </a:r>
          </a:p>
          <a:p>
            <a:r>
              <a:rPr lang="pt-BR" dirty="0"/>
              <a:t>Por exemplo, considerem as </a:t>
            </a:r>
            <a:r>
              <a:rPr lang="pt-BR" b="1" i="1" dirty="0"/>
              <a:t>curvas </a:t>
            </a:r>
            <a:r>
              <a:rPr lang="pt-BR" dirty="0"/>
              <a:t>na figura ao lado. </a:t>
            </a:r>
          </a:p>
          <a:p>
            <a:r>
              <a:rPr lang="pt-BR" dirty="0"/>
              <a:t>Para decidir qual o melhor </a:t>
            </a:r>
            <a:r>
              <a:rPr lang="pt-BR" b="1" i="1" dirty="0"/>
              <a:t>classificador</a:t>
            </a:r>
            <a:r>
              <a:rPr lang="pt-BR" dirty="0"/>
              <a:t>, podemos analisar a </a:t>
            </a:r>
            <a:r>
              <a:rPr lang="pt-BR" b="1" i="1" dirty="0">
                <a:solidFill>
                  <a:srgbClr val="7030A0"/>
                </a:solidFill>
              </a:rPr>
              <a:t>área sob a curva (ASC) ROC</a:t>
            </a:r>
            <a:r>
              <a:rPr lang="pt-BR" dirty="0"/>
              <a:t>.</a:t>
            </a:r>
          </a:p>
          <a:p>
            <a:r>
              <a:rPr lang="pt-BR" b="1" i="1" dirty="0"/>
              <a:t>ASC</a:t>
            </a:r>
            <a:r>
              <a:rPr lang="pt-BR" dirty="0"/>
              <a:t> é outra métrica da qualidade de um classificador.</a:t>
            </a:r>
          </a:p>
          <a:p>
            <a:pPr lvl="1">
              <a:buFont typeface="Wingdings" panose="05000000000000000000" pitchFamily="2" charset="2"/>
              <a:buChar char="§"/>
            </a:pPr>
            <a:r>
              <a:rPr lang="pt-BR" dirty="0"/>
              <a:t>É um número entre 0 e </a:t>
            </a:r>
            <a:r>
              <a:rPr lang="pt-BR" dirty="0" smtClean="0"/>
              <a:t>1, que quanto maior, </a:t>
            </a:r>
            <a:r>
              <a:rPr lang="pt-BR" dirty="0"/>
              <a:t>melhor será o classificador.</a:t>
            </a:r>
          </a:p>
        </p:txBody>
      </p:sp>
      <p:pic>
        <p:nvPicPr>
          <p:cNvPr id="6" name="Imagem 5">
            <a:extLst>
              <a:ext uri="{FF2B5EF4-FFF2-40B4-BE49-F238E27FC236}">
                <a16:creationId xmlns="" xmlns:a16="http://schemas.microsoft.com/office/drawing/2014/main" id="{90550AD6-ECC9-445E-75B0-9790A4B3807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8058"/>
          <a:stretch/>
        </p:blipFill>
        <p:spPr>
          <a:xfrm>
            <a:off x="655320" y="1588963"/>
            <a:ext cx="4008120" cy="4903912"/>
          </a:xfrm>
          <a:prstGeom prst="rect">
            <a:avLst/>
          </a:prstGeom>
        </p:spPr>
      </p:pic>
    </p:spTree>
    <p:extLst>
      <p:ext uri="{BB962C8B-B14F-4D97-AF65-F5344CB8AC3E}">
        <p14:creationId xmlns:p14="http://schemas.microsoft.com/office/powerpoint/2010/main" val="3486252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 xmlns:a16="http://schemas.microsoft.com/office/drawing/2014/main" id="{0F418656-538C-BBD9-47FA-40A924A669E5}"/>
              </a:ext>
            </a:extLst>
          </p:cNvPr>
          <p:cNvSpPr>
            <a:spLocks noGrp="1"/>
          </p:cNvSpPr>
          <p:nvPr>
            <p:ph idx="1"/>
          </p:nvPr>
        </p:nvSpPr>
        <p:spPr>
          <a:xfrm>
            <a:off x="4581939" y="2464255"/>
            <a:ext cx="7374835" cy="2358196"/>
          </a:xfrm>
        </p:spPr>
        <p:txBody>
          <a:bodyPr>
            <a:normAutofit/>
          </a:bodyPr>
          <a:lstStyle/>
          <a:p>
            <a:pPr marL="0" indent="0" algn="ctr">
              <a:buNone/>
            </a:pPr>
            <a:r>
              <a:rPr lang="pt-BR" sz="4800" b="1" i="1" dirty="0"/>
              <a:t>Qual é o melhor classificador usando esta métrica?</a:t>
            </a:r>
          </a:p>
        </p:txBody>
      </p:sp>
      <p:pic>
        <p:nvPicPr>
          <p:cNvPr id="2" name="Imagem 1">
            <a:extLst>
              <a:ext uri="{FF2B5EF4-FFF2-40B4-BE49-F238E27FC236}">
                <a16:creationId xmlns="" xmlns:a16="http://schemas.microsoft.com/office/drawing/2014/main" id="{503F44D4-B445-790D-3C43-3156F90AF15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8058"/>
          <a:stretch/>
        </p:blipFill>
        <p:spPr>
          <a:xfrm>
            <a:off x="347207" y="1191397"/>
            <a:ext cx="4008120" cy="4903912"/>
          </a:xfrm>
          <a:prstGeom prst="rect">
            <a:avLst/>
          </a:prstGeom>
        </p:spPr>
      </p:pic>
    </p:spTree>
    <p:extLst>
      <p:ext uri="{BB962C8B-B14F-4D97-AF65-F5344CB8AC3E}">
        <p14:creationId xmlns:p14="http://schemas.microsoft.com/office/powerpoint/2010/main" val="32855537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ECA7EC4-43C6-979E-8AE0-0716552C347D}"/>
              </a:ext>
            </a:extLst>
          </p:cNvPr>
          <p:cNvSpPr>
            <a:spLocks noGrp="1"/>
          </p:cNvSpPr>
          <p:nvPr>
            <p:ph type="title"/>
          </p:nvPr>
        </p:nvSpPr>
        <p:spPr/>
        <p:txBody>
          <a:bodyPr/>
          <a:lstStyle/>
          <a:p>
            <a:r>
              <a:rPr lang="pt-BR" dirty="0"/>
              <a:t>Comparando classificadores com a curva ROC</a:t>
            </a:r>
          </a:p>
        </p:txBody>
      </p:sp>
      <p:sp>
        <p:nvSpPr>
          <p:cNvPr id="3" name="Espaço Reservado para Conteúdo 2">
            <a:extLst>
              <a:ext uri="{FF2B5EF4-FFF2-40B4-BE49-F238E27FC236}">
                <a16:creationId xmlns="" xmlns:a16="http://schemas.microsoft.com/office/drawing/2014/main" id="{8150DAF9-3E3C-DF70-0359-A3133AB00F8C}"/>
              </a:ext>
            </a:extLst>
          </p:cNvPr>
          <p:cNvSpPr>
            <a:spLocks noGrp="1"/>
          </p:cNvSpPr>
          <p:nvPr>
            <p:ph idx="1"/>
          </p:nvPr>
        </p:nvSpPr>
        <p:spPr>
          <a:xfrm>
            <a:off x="4937760" y="1825624"/>
            <a:ext cx="7158447" cy="5032375"/>
          </a:xfrm>
        </p:spPr>
        <p:txBody>
          <a:bodyPr>
            <a:normAutofit/>
          </a:bodyPr>
          <a:lstStyle/>
          <a:p>
            <a:r>
              <a:rPr lang="pt-BR" dirty="0"/>
              <a:t>O </a:t>
            </a:r>
            <a:r>
              <a:rPr lang="pt-BR" b="1" i="1" dirty="0"/>
              <a:t>classificador A</a:t>
            </a:r>
            <a:r>
              <a:rPr lang="pt-BR" dirty="0"/>
              <a:t> tem melhor desempenho, pois tem </a:t>
            </a:r>
            <a:r>
              <a:rPr lang="pt-BR" b="1" i="1" dirty="0"/>
              <a:t>ASC</a:t>
            </a:r>
            <a:r>
              <a:rPr lang="pt-BR" dirty="0"/>
              <a:t> maior do que a </a:t>
            </a:r>
            <a:r>
              <a:rPr lang="pt-BR" dirty="0" smtClean="0"/>
              <a:t>de </a:t>
            </a:r>
            <a:r>
              <a:rPr lang="pt-BR" b="1" i="1" dirty="0" smtClean="0"/>
              <a:t>B</a:t>
            </a:r>
            <a:r>
              <a:rPr lang="pt-BR" dirty="0" smtClean="0"/>
              <a:t>.</a:t>
            </a:r>
            <a:endParaRPr lang="pt-BR" dirty="0"/>
          </a:p>
          <a:p>
            <a:r>
              <a:rPr lang="pt-BR" b="1" dirty="0"/>
              <a:t>Vantagens da curva ROC</a:t>
            </a:r>
            <a:endParaRPr lang="pt-BR" dirty="0"/>
          </a:p>
          <a:p>
            <a:pPr lvl="1">
              <a:buFont typeface="Wingdings" panose="05000000000000000000" pitchFamily="2" charset="2"/>
              <a:buChar char="§"/>
            </a:pPr>
            <a:r>
              <a:rPr lang="pt-BR" dirty="0"/>
              <a:t>Possibilita a análise de diferentes métricas ao longo da variação do </a:t>
            </a:r>
            <a:r>
              <a:rPr lang="pt-BR" b="1" i="1" dirty="0">
                <a:solidFill>
                  <a:srgbClr val="7030A0"/>
                </a:solidFill>
              </a:rPr>
              <a:t>limiar de quantização</a:t>
            </a:r>
            <a:r>
              <a:rPr lang="pt-BR" dirty="0"/>
              <a:t>.</a:t>
            </a:r>
          </a:p>
          <a:p>
            <a:pPr lvl="1">
              <a:buFont typeface="Wingdings" panose="05000000000000000000" pitchFamily="2" charset="2"/>
              <a:buChar char="§"/>
            </a:pPr>
            <a:r>
              <a:rPr lang="pt-BR" dirty="0"/>
              <a:t>Auxilia na avaliação de diferentes </a:t>
            </a:r>
            <a:r>
              <a:rPr lang="pt-BR" b="1" i="1" dirty="0">
                <a:solidFill>
                  <a:srgbClr val="7030A0"/>
                </a:solidFill>
              </a:rPr>
              <a:t>limiares de quantização</a:t>
            </a:r>
            <a:r>
              <a:rPr lang="pt-BR" dirty="0"/>
              <a:t>.</a:t>
            </a:r>
          </a:p>
          <a:p>
            <a:r>
              <a:rPr lang="pt-BR" b="1" dirty="0"/>
              <a:t>Desvantagens</a:t>
            </a:r>
          </a:p>
          <a:p>
            <a:pPr lvl="1">
              <a:buFont typeface="Wingdings" panose="05000000000000000000" pitchFamily="2" charset="2"/>
              <a:buChar char="§"/>
            </a:pPr>
            <a:r>
              <a:rPr lang="pt-BR" dirty="0"/>
              <a:t>Específica para problemas de </a:t>
            </a:r>
            <a:r>
              <a:rPr lang="pt-BR" b="1" i="1" dirty="0"/>
              <a:t>classificação binária</a:t>
            </a:r>
            <a:r>
              <a:rPr lang="pt-BR" dirty="0"/>
              <a:t>. </a:t>
            </a:r>
          </a:p>
          <a:p>
            <a:pPr lvl="1">
              <a:buFont typeface="Wingdings" panose="05000000000000000000" pitchFamily="2" charset="2"/>
              <a:buChar char="§"/>
            </a:pPr>
            <a:r>
              <a:rPr lang="pt-BR" dirty="0"/>
              <a:t>No caso </a:t>
            </a:r>
            <a:r>
              <a:rPr lang="pt-BR" b="1" i="1" dirty="0"/>
              <a:t>multiclasses</a:t>
            </a:r>
            <a:r>
              <a:rPr lang="pt-BR" dirty="0"/>
              <a:t>, devemos utilizar as estratégias </a:t>
            </a:r>
            <a:r>
              <a:rPr lang="pt-BR" b="1" i="1" dirty="0"/>
              <a:t>um-contra-o-resto </a:t>
            </a:r>
            <a:r>
              <a:rPr lang="pt-BR" dirty="0"/>
              <a:t>ou</a:t>
            </a:r>
            <a:r>
              <a:rPr lang="pt-BR" b="1" i="1" dirty="0"/>
              <a:t> um-contra-um</a:t>
            </a:r>
            <a:r>
              <a:rPr lang="pt-BR" dirty="0"/>
              <a:t> e plotar várias </a:t>
            </a:r>
            <a:r>
              <a:rPr lang="pt-BR" b="1" i="1" dirty="0"/>
              <a:t>curvas ROC</a:t>
            </a:r>
            <a:r>
              <a:rPr lang="pt-BR" dirty="0"/>
              <a:t>.</a:t>
            </a:r>
            <a:endParaRPr lang="pt-BR" b="1" dirty="0"/>
          </a:p>
        </p:txBody>
      </p:sp>
      <p:pic>
        <p:nvPicPr>
          <p:cNvPr id="6" name="Imagem 5">
            <a:extLst>
              <a:ext uri="{FF2B5EF4-FFF2-40B4-BE49-F238E27FC236}">
                <a16:creationId xmlns="" xmlns:a16="http://schemas.microsoft.com/office/drawing/2014/main" id="{90550AD6-ECC9-445E-75B0-9790A4B3807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8058"/>
          <a:stretch/>
        </p:blipFill>
        <p:spPr>
          <a:xfrm>
            <a:off x="739533" y="1588963"/>
            <a:ext cx="4008120" cy="4903912"/>
          </a:xfrm>
          <a:prstGeom prst="rect">
            <a:avLst/>
          </a:prstGeom>
        </p:spPr>
      </p:pic>
      <p:sp>
        <p:nvSpPr>
          <p:cNvPr id="4" name="Rectangle 3">
            <a:extLst>
              <a:ext uri="{FF2B5EF4-FFF2-40B4-BE49-F238E27FC236}">
                <a16:creationId xmlns="" xmlns:a16="http://schemas.microsoft.com/office/drawing/2014/main" id="{44FD8BD5-D7EC-6939-40DB-26A8765ED2A5}"/>
              </a:ext>
            </a:extLst>
          </p:cNvPr>
          <p:cNvSpPr/>
          <p:nvPr/>
        </p:nvSpPr>
        <p:spPr>
          <a:xfrm>
            <a:off x="0" y="6581000"/>
            <a:ext cx="2521524" cy="276999"/>
          </a:xfrm>
          <a:prstGeom prst="rect">
            <a:avLst/>
          </a:prstGeom>
        </p:spPr>
        <p:txBody>
          <a:bodyPr wrap="none">
            <a:spAutoFit/>
          </a:bodyPr>
          <a:lstStyle/>
          <a:p>
            <a:r>
              <a:rPr lang="pt-BR" sz="1200" dirty="0">
                <a:hlinkClick r:id="rId4"/>
              </a:rPr>
              <a:t>Exemplo: classification_metrics.ipynb</a:t>
            </a:r>
            <a:endParaRPr lang="pt-BR" sz="1200" dirty="0"/>
          </a:p>
        </p:txBody>
      </p:sp>
    </p:spTree>
    <p:extLst>
      <p:ext uri="{BB962C8B-B14F-4D97-AF65-F5344CB8AC3E}">
        <p14:creationId xmlns:p14="http://schemas.microsoft.com/office/powerpoint/2010/main" val="37180259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Tarefas</a:t>
            </a:r>
          </a:p>
        </p:txBody>
      </p:sp>
      <p:sp>
        <p:nvSpPr>
          <p:cNvPr id="3" name="Content Placeholder 2"/>
          <p:cNvSpPr>
            <a:spLocks noGrp="1"/>
          </p:cNvSpPr>
          <p:nvPr>
            <p:ph idx="1"/>
          </p:nvPr>
        </p:nvSpPr>
        <p:spPr/>
        <p:txBody>
          <a:bodyPr/>
          <a:lstStyle/>
          <a:p>
            <a:r>
              <a:rPr lang="pt-BR" b="1" dirty="0"/>
              <a:t>Quiz</a:t>
            </a:r>
            <a:r>
              <a:rPr lang="pt-BR" dirty="0"/>
              <a:t>: “</a:t>
            </a:r>
            <a:r>
              <a:rPr lang="pt-BR" i="1" dirty="0"/>
              <a:t>T320 - Quiz - Classificação (Parte V)</a:t>
            </a:r>
            <a:r>
              <a:rPr lang="pt-BR" dirty="0"/>
              <a:t>” que se encontra no MS Teams.</a:t>
            </a:r>
          </a:p>
          <a:p>
            <a:r>
              <a:rPr lang="pt-BR" b="1" dirty="0"/>
              <a:t>Exercício Prático</a:t>
            </a:r>
            <a:r>
              <a:rPr lang="pt-BR" dirty="0"/>
              <a:t>: </a:t>
            </a:r>
            <a:r>
              <a:rPr lang="pt-BR" b="1" dirty="0">
                <a:hlinkClick r:id="rId3"/>
              </a:rPr>
              <a:t>Laboratório #5</a:t>
            </a:r>
            <a:r>
              <a:rPr lang="pt-BR" dirty="0"/>
              <a:t>.</a:t>
            </a:r>
          </a:p>
          <a:p>
            <a:pPr lvl="1"/>
            <a:r>
              <a:rPr lang="pt-BR" dirty="0"/>
              <a:t>Pode ser baixado do MS Teams ou do GitHub.</a:t>
            </a:r>
          </a:p>
          <a:p>
            <a:pPr lvl="1"/>
            <a:r>
              <a:rPr lang="pt-BR" dirty="0"/>
              <a:t>Pode ser respondido através do link acima (na nuvem) ou localmente.</a:t>
            </a:r>
          </a:p>
          <a:p>
            <a:pPr lvl="1"/>
            <a:r>
              <a:rPr lang="pt-BR" dirty="0">
                <a:hlinkClick r:id="rId4"/>
              </a:rPr>
              <a:t>Instruções para resolução e entrega dos </a:t>
            </a:r>
            <a:r>
              <a:rPr lang="pt-BR">
                <a:hlinkClick r:id="rId4"/>
              </a:rPr>
              <a:t>laboratórios</a:t>
            </a:r>
            <a:r>
              <a:rPr lang="pt-BR"/>
              <a:t>.</a:t>
            </a:r>
            <a:endParaRPr lang="pt-BR" dirty="0"/>
          </a:p>
        </p:txBody>
      </p:sp>
    </p:spTree>
    <p:extLst>
      <p:ext uri="{BB962C8B-B14F-4D97-AF65-F5344CB8AC3E}">
        <p14:creationId xmlns:p14="http://schemas.microsoft.com/office/powerpoint/2010/main" val="20371607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37951780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 xmlns:a16="http://schemas.microsoft.com/office/drawing/2014/main" id="{94F8A259-1560-CC93-9770-6AEADA39FC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00714" y="811490"/>
            <a:ext cx="6420922" cy="5235019"/>
          </a:xfrm>
          <a:prstGeom prst="rect">
            <a:avLst/>
          </a:prstGeom>
        </p:spPr>
      </p:pic>
    </p:spTree>
    <p:extLst>
      <p:ext uri="{BB962C8B-B14F-4D97-AF65-F5344CB8AC3E}">
        <p14:creationId xmlns:p14="http://schemas.microsoft.com/office/powerpoint/2010/main" val="13587733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Grupo 74"/>
          <p:cNvGrpSpPr/>
          <p:nvPr/>
        </p:nvGrpSpPr>
        <p:grpSpPr>
          <a:xfrm>
            <a:off x="3824542" y="1420136"/>
            <a:ext cx="6730910" cy="4693006"/>
            <a:chOff x="3824542" y="1420136"/>
            <a:chExt cx="6730910" cy="4693006"/>
          </a:xfrm>
        </p:grpSpPr>
        <p:cxnSp>
          <p:nvCxnSpPr>
            <p:cNvPr id="14" name="Straight Connector 13"/>
            <p:cNvCxnSpPr/>
            <p:nvPr/>
          </p:nvCxnSpPr>
          <p:spPr>
            <a:xfrm>
              <a:off x="4560982" y="2045689"/>
              <a:ext cx="0" cy="2786742"/>
            </a:xfrm>
            <a:prstGeom prst="line">
              <a:avLst/>
            </a:prstGeom>
            <a:ln w="381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6200000">
              <a:off x="5948003" y="3432710"/>
              <a:ext cx="0" cy="2786742"/>
            </a:xfrm>
            <a:prstGeom prst="line">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472082" y="4823889"/>
              <a:ext cx="165100" cy="369332"/>
            </a:xfrm>
            <a:prstGeom prst="rect">
              <a:avLst/>
            </a:prstGeom>
            <a:noFill/>
          </p:spPr>
          <p:txBody>
            <a:bodyPr wrap="square" rtlCol="0">
              <a:spAutoFit/>
            </a:bodyPr>
            <a:lstStyle/>
            <a:p>
              <a:pPr algn="ctr"/>
              <a:r>
                <a:rPr lang="pt-BR" dirty="0"/>
                <a:t>0</a:t>
              </a:r>
            </a:p>
          </p:txBody>
        </p:sp>
        <p:sp>
          <p:nvSpPr>
            <p:cNvPr id="18" name="TextBox 17"/>
            <p:cNvSpPr txBox="1"/>
            <p:nvPr/>
          </p:nvSpPr>
          <p:spPr>
            <a:xfrm>
              <a:off x="6456885" y="4832431"/>
              <a:ext cx="194129" cy="369332"/>
            </a:xfrm>
            <a:prstGeom prst="rect">
              <a:avLst/>
            </a:prstGeom>
            <a:noFill/>
          </p:spPr>
          <p:txBody>
            <a:bodyPr wrap="square" rtlCol="0">
              <a:spAutoFit/>
            </a:bodyPr>
            <a:lstStyle/>
            <a:p>
              <a:pPr algn="ctr"/>
              <a:r>
                <a:rPr lang="pt-BR" dirty="0"/>
                <a:t>1</a:t>
              </a:r>
            </a:p>
          </p:txBody>
        </p:sp>
        <p:sp>
          <p:nvSpPr>
            <p:cNvPr id="19" name="TextBox 18"/>
            <p:cNvSpPr txBox="1"/>
            <p:nvPr/>
          </p:nvSpPr>
          <p:spPr>
            <a:xfrm>
              <a:off x="4351433" y="2661414"/>
              <a:ext cx="165100" cy="369332"/>
            </a:xfrm>
            <a:prstGeom prst="rect">
              <a:avLst/>
            </a:prstGeom>
            <a:noFill/>
          </p:spPr>
          <p:txBody>
            <a:bodyPr wrap="square" rtlCol="0">
              <a:spAutoFit/>
            </a:bodyPr>
            <a:lstStyle/>
            <a:p>
              <a:pPr algn="ctr"/>
              <a:r>
                <a:rPr lang="pt-BR" dirty="0"/>
                <a:t>1</a:t>
              </a:r>
            </a:p>
          </p:txBody>
        </p:sp>
        <mc:AlternateContent xmlns:mc="http://schemas.openxmlformats.org/markup-compatibility/2006" xmlns:a14="http://schemas.microsoft.com/office/drawing/2010/main">
          <mc:Choice Requires="a14">
            <p:sp>
              <p:nvSpPr>
                <p:cNvPr id="24" name="TextBox 23"/>
                <p:cNvSpPr txBox="1"/>
                <p:nvPr/>
              </p:nvSpPr>
              <p:spPr>
                <a:xfrm>
                  <a:off x="4433983" y="1420136"/>
                  <a:ext cx="3981936" cy="646331"/>
                </a:xfrm>
                <a:prstGeom prst="rect">
                  <a:avLst/>
                </a:prstGeom>
                <a:noFill/>
              </p:spPr>
              <p:txBody>
                <a:bodyPr wrap="square" rtlCol="0">
                  <a:spAutoFit/>
                </a:bodyPr>
                <a:lstStyle/>
                <a:p>
                  <a:r>
                    <a:rPr lang="pt-BR" b="1" dirty="0">
                      <a:latin typeface="Cambria Math" panose="02040503050406030204" pitchFamily="18" charset="0"/>
                    </a:rPr>
                    <a:t>Taxa de verdadeiros positivos </a:t>
                  </a:r>
                </a:p>
                <a:p>
                  <a:pPr/>
                  <a14:m>
                    <m:oMathPara xmlns:m="http://schemas.openxmlformats.org/officeDocument/2006/math">
                      <m:oMathParaPr>
                        <m:jc m:val="left"/>
                      </m:oMathParaPr>
                      <m:oMath xmlns:m="http://schemas.openxmlformats.org/officeDocument/2006/math">
                        <m:r>
                          <a:rPr lang="pt-BR" b="0" i="1" smtClean="0">
                            <a:latin typeface="Cambria Math" panose="02040503050406030204" pitchFamily="18" charset="0"/>
                          </a:rPr>
                          <m:t>𝑟𝑒𝑐𝑎𝑙𝑙</m:t>
                        </m:r>
                      </m:oMath>
                    </m:oMathPara>
                  </a14:m>
                  <a:endParaRPr lang="pt-BR" i="1" dirty="0">
                    <a:latin typeface="Cambria Math" panose="02040503050406030204" pitchFamily="18" charset="0"/>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4433983" y="1420136"/>
                  <a:ext cx="3981936" cy="646331"/>
                </a:xfrm>
                <a:prstGeom prst="rect">
                  <a:avLst/>
                </a:prstGeom>
                <a:blipFill>
                  <a:blip r:embed="rId2"/>
                  <a:stretch>
                    <a:fillRect l="-1223" t="-6604"/>
                  </a:stretch>
                </a:blipFill>
              </p:spPr>
              <p:txBody>
                <a:bodyPr/>
                <a:lstStyle/>
                <a:p>
                  <a:r>
                    <a:rPr lang="pt-BR">
                      <a:noFill/>
                    </a:rPr>
                    <a:t> </a:t>
                  </a:r>
                </a:p>
              </p:txBody>
            </p:sp>
          </mc:Fallback>
        </mc:AlternateContent>
        <p:sp>
          <p:nvSpPr>
            <p:cNvPr id="25" name="TextBox 24"/>
            <p:cNvSpPr txBox="1"/>
            <p:nvPr/>
          </p:nvSpPr>
          <p:spPr>
            <a:xfrm>
              <a:off x="6786587" y="4860772"/>
              <a:ext cx="3768865" cy="646331"/>
            </a:xfrm>
            <a:prstGeom prst="rect">
              <a:avLst/>
            </a:prstGeom>
            <a:noFill/>
          </p:spPr>
          <p:txBody>
            <a:bodyPr wrap="square" rtlCol="0">
              <a:spAutoFit/>
            </a:bodyPr>
            <a:lstStyle/>
            <a:p>
              <a:r>
                <a:rPr lang="pt-BR" b="1" dirty="0">
                  <a:latin typeface="Cambria Math" panose="02040503050406030204" pitchFamily="18" charset="0"/>
                </a:rPr>
                <a:t>Taxa de falsos positivos</a:t>
              </a:r>
            </a:p>
            <a:p>
              <a:r>
                <a:rPr lang="pt-BR" dirty="0"/>
                <a:t>1 – </a:t>
              </a:r>
              <a:r>
                <a:rPr lang="pt-BR" i="1" dirty="0"/>
                <a:t>especificidade</a:t>
              </a:r>
              <a:endParaRPr lang="pt-BR" dirty="0"/>
            </a:p>
          </p:txBody>
        </p:sp>
        <p:cxnSp>
          <p:nvCxnSpPr>
            <p:cNvPr id="27" name="Straight Connector 26"/>
            <p:cNvCxnSpPr/>
            <p:nvPr/>
          </p:nvCxnSpPr>
          <p:spPr>
            <a:xfrm flipV="1">
              <a:off x="4564367" y="2846079"/>
              <a:ext cx="1980000" cy="8279"/>
            </a:xfrm>
            <a:prstGeom prst="line">
              <a:avLst/>
            </a:prstGeom>
            <a:ln w="317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flipV="1">
              <a:off x="5559810" y="3829917"/>
              <a:ext cx="1980000" cy="8279"/>
            </a:xfrm>
            <a:prstGeom prst="line">
              <a:avLst/>
            </a:prstGeom>
            <a:ln w="317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4567517" y="2844056"/>
              <a:ext cx="1986432" cy="198000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6651014" y="2854358"/>
              <a:ext cx="1459993" cy="261610"/>
            </a:xfrm>
            <a:prstGeom prst="rect">
              <a:avLst/>
            </a:prstGeom>
            <a:noFill/>
          </p:spPr>
          <p:txBody>
            <a:bodyPr wrap="square" rtlCol="0">
              <a:spAutoFit/>
            </a:bodyPr>
            <a:lstStyle/>
            <a:p>
              <a:pPr algn="ctr"/>
              <a:r>
                <a:rPr lang="pt-BR" sz="1100" dirty="0"/>
                <a:t>Classificação aleatória</a:t>
              </a:r>
            </a:p>
          </p:txBody>
        </p:sp>
        <p:cxnSp>
          <p:nvCxnSpPr>
            <p:cNvPr id="39" name="Straight Arrow Connector 38"/>
            <p:cNvCxnSpPr/>
            <p:nvPr/>
          </p:nvCxnSpPr>
          <p:spPr>
            <a:xfrm flipV="1">
              <a:off x="6124575" y="3036260"/>
              <a:ext cx="609600" cy="3461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4879800" y="4249211"/>
              <a:ext cx="264299" cy="30480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4578656" y="4007622"/>
              <a:ext cx="604878" cy="261610"/>
            </a:xfrm>
            <a:prstGeom prst="rect">
              <a:avLst/>
            </a:prstGeom>
            <a:noFill/>
          </p:spPr>
          <p:txBody>
            <a:bodyPr wrap="square" rtlCol="0">
              <a:spAutoFit/>
            </a:bodyPr>
            <a:lstStyle/>
            <a:p>
              <a:pPr algn="ctr"/>
              <a:r>
                <a:rPr lang="pt-BR" sz="1100" dirty="0"/>
                <a:t>Melhor</a:t>
              </a:r>
            </a:p>
          </p:txBody>
        </p:sp>
        <p:sp>
          <p:nvSpPr>
            <p:cNvPr id="46" name="TextBox 45"/>
            <p:cNvSpPr txBox="1"/>
            <p:nvPr/>
          </p:nvSpPr>
          <p:spPr>
            <a:xfrm>
              <a:off x="4869525" y="4549779"/>
              <a:ext cx="604878" cy="261610"/>
            </a:xfrm>
            <a:prstGeom prst="rect">
              <a:avLst/>
            </a:prstGeom>
            <a:noFill/>
          </p:spPr>
          <p:txBody>
            <a:bodyPr wrap="square" rtlCol="0">
              <a:spAutoFit/>
            </a:bodyPr>
            <a:lstStyle/>
            <a:p>
              <a:pPr algn="ctr"/>
              <a:r>
                <a:rPr lang="pt-BR" sz="1100" dirty="0"/>
                <a:t>Pior</a:t>
              </a:r>
            </a:p>
          </p:txBody>
        </p:sp>
        <p:sp>
          <p:nvSpPr>
            <p:cNvPr id="48" name="Freeform 47"/>
            <p:cNvSpPr/>
            <p:nvPr/>
          </p:nvSpPr>
          <p:spPr>
            <a:xfrm>
              <a:off x="4611966" y="2837706"/>
              <a:ext cx="1948517" cy="1973683"/>
            </a:xfrm>
            <a:custGeom>
              <a:avLst/>
              <a:gdLst>
                <a:gd name="connsiteX0" fmla="*/ 0 w 1933575"/>
                <a:gd name="connsiteY0" fmla="*/ 1914525 h 1914525"/>
                <a:gd name="connsiteX1" fmla="*/ 342900 w 1933575"/>
                <a:gd name="connsiteY1" fmla="*/ 495300 h 1914525"/>
                <a:gd name="connsiteX2" fmla="*/ 1933575 w 1933575"/>
                <a:gd name="connsiteY2" fmla="*/ 0 h 1914525"/>
              </a:gdLst>
              <a:ahLst/>
              <a:cxnLst>
                <a:cxn ang="0">
                  <a:pos x="connsiteX0" y="connsiteY0"/>
                </a:cxn>
                <a:cxn ang="0">
                  <a:pos x="connsiteX1" y="connsiteY1"/>
                </a:cxn>
                <a:cxn ang="0">
                  <a:pos x="connsiteX2" y="connsiteY2"/>
                </a:cxn>
              </a:cxnLst>
              <a:rect l="l" t="t" r="r" b="b"/>
              <a:pathLst>
                <a:path w="1933575" h="1914525">
                  <a:moveTo>
                    <a:pt x="0" y="1914525"/>
                  </a:moveTo>
                  <a:cubicBezTo>
                    <a:pt x="10319" y="1364456"/>
                    <a:pt x="20638" y="814387"/>
                    <a:pt x="342900" y="495300"/>
                  </a:cubicBezTo>
                  <a:cubicBezTo>
                    <a:pt x="665162" y="176213"/>
                    <a:pt x="1543050" y="158750"/>
                    <a:pt x="1933575" y="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9" name="Straight Arrow Connector 48"/>
            <p:cNvCxnSpPr>
              <a:cxnSpLocks/>
            </p:cNvCxnSpPr>
            <p:nvPr/>
          </p:nvCxnSpPr>
          <p:spPr>
            <a:xfrm>
              <a:off x="5144099" y="3308172"/>
              <a:ext cx="1948517" cy="695471"/>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6920286" y="3894501"/>
              <a:ext cx="1551943" cy="430887"/>
            </a:xfrm>
            <a:prstGeom prst="rect">
              <a:avLst/>
            </a:prstGeom>
            <a:noFill/>
          </p:spPr>
          <p:txBody>
            <a:bodyPr wrap="square" rtlCol="0">
              <a:spAutoFit/>
            </a:bodyPr>
            <a:lstStyle/>
            <a:p>
              <a:pPr algn="ctr"/>
              <a:r>
                <a:rPr lang="pt-BR" sz="1100" dirty="0"/>
                <a:t>Curva ROC de um classificador qualquer</a:t>
              </a:r>
            </a:p>
          </p:txBody>
        </p:sp>
        <p:cxnSp>
          <p:nvCxnSpPr>
            <p:cNvPr id="4" name="Conector reto 3"/>
            <p:cNvCxnSpPr>
              <a:endCxn id="48" idx="2"/>
            </p:cNvCxnSpPr>
            <p:nvPr/>
          </p:nvCxnSpPr>
          <p:spPr>
            <a:xfrm flipV="1">
              <a:off x="4554632" y="2837706"/>
              <a:ext cx="2005851" cy="16652"/>
            </a:xfrm>
            <a:prstGeom prst="line">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26" name="Conector reto 25"/>
            <p:cNvCxnSpPr>
              <a:endCxn id="16" idx="0"/>
            </p:cNvCxnSpPr>
            <p:nvPr/>
          </p:nvCxnSpPr>
          <p:spPr>
            <a:xfrm flipH="1">
              <a:off x="4554632" y="2854358"/>
              <a:ext cx="12886" cy="1969531"/>
            </a:xfrm>
            <a:prstGeom prst="line">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36" name="Conector reto 35"/>
            <p:cNvCxnSpPr/>
            <p:nvPr/>
          </p:nvCxnSpPr>
          <p:spPr>
            <a:xfrm>
              <a:off x="4472082" y="5857729"/>
              <a:ext cx="612000" cy="0"/>
            </a:xfrm>
            <a:prstGeom prst="line">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37" name="TextBox 31"/>
            <p:cNvSpPr txBox="1"/>
            <p:nvPr/>
          </p:nvSpPr>
          <p:spPr>
            <a:xfrm>
              <a:off x="5022122" y="5589922"/>
              <a:ext cx="1628892" cy="523220"/>
            </a:xfrm>
            <a:prstGeom prst="rect">
              <a:avLst/>
            </a:prstGeom>
            <a:noFill/>
          </p:spPr>
          <p:txBody>
            <a:bodyPr wrap="square" rtlCol="0">
              <a:spAutoFit/>
            </a:bodyPr>
            <a:lstStyle/>
            <a:p>
              <a:pPr algn="ctr"/>
              <a:r>
                <a:rPr lang="pt-BR" sz="1400" dirty="0"/>
                <a:t>Curva para classes sem sobreposição</a:t>
              </a:r>
            </a:p>
          </p:txBody>
        </p:sp>
        <mc:AlternateContent xmlns:mc="http://schemas.openxmlformats.org/markup-compatibility/2006" xmlns:a14="http://schemas.microsoft.com/office/drawing/2010/main">
          <mc:Choice Requires="a14">
            <p:sp>
              <p:nvSpPr>
                <p:cNvPr id="41" name="TextBox 31"/>
                <p:cNvSpPr txBox="1"/>
                <p:nvPr/>
              </p:nvSpPr>
              <p:spPr>
                <a:xfrm>
                  <a:off x="4695204" y="2168421"/>
                  <a:ext cx="2067261" cy="261610"/>
                </a:xfrm>
                <a:prstGeom prst="rect">
                  <a:avLst/>
                </a:prstGeom>
                <a:noFill/>
              </p:spPr>
              <p:txBody>
                <a:bodyPr wrap="square" rtlCol="0">
                  <a:spAutoFit/>
                </a:bodyPr>
                <a:lstStyle/>
                <a:p>
                  <a14:m>
                    <m:oMath xmlns:m="http://schemas.openxmlformats.org/officeDocument/2006/math">
                      <m:r>
                        <a:rPr lang="pt-BR" sz="1100" b="0" i="1" smtClean="0">
                          <a:latin typeface="Cambria Math" panose="02040503050406030204" pitchFamily="18" charset="0"/>
                        </a:rPr>
                        <m:t>𝑇</m:t>
                      </m:r>
                      <m:r>
                        <a:rPr lang="pt-BR" sz="1100" b="0" i="1" smtClean="0">
                          <a:latin typeface="Cambria Math" panose="02040503050406030204" pitchFamily="18" charset="0"/>
                        </a:rPr>
                        <m:t>=0.5</m:t>
                      </m:r>
                    </m:oMath>
                  </a14:m>
                  <a:r>
                    <a:rPr lang="pt-BR" sz="1100" dirty="0"/>
                    <a:t> (Classificação perfeita)</a:t>
                  </a:r>
                </a:p>
              </p:txBody>
            </p:sp>
          </mc:Choice>
          <mc:Fallback xmlns="">
            <p:sp>
              <p:nvSpPr>
                <p:cNvPr id="41" name="TextBox 31"/>
                <p:cNvSpPr txBox="1">
                  <a:spLocks noRot="1" noChangeAspect="1" noMove="1" noResize="1" noEditPoints="1" noAdjustHandles="1" noChangeArrowheads="1" noChangeShapeType="1" noTextEdit="1"/>
                </p:cNvSpPr>
                <p:nvPr/>
              </p:nvSpPr>
              <p:spPr>
                <a:xfrm>
                  <a:off x="4695204" y="2168421"/>
                  <a:ext cx="2067261" cy="261610"/>
                </a:xfrm>
                <a:prstGeom prst="rect">
                  <a:avLst/>
                </a:prstGeom>
                <a:blipFill rotWithShape="0">
                  <a:blip r:embed="rId4"/>
                  <a:stretch>
                    <a:fillRect b="-16279"/>
                  </a:stretch>
                </a:blipFill>
              </p:spPr>
              <p:txBody>
                <a:bodyPr/>
                <a:lstStyle/>
                <a:p>
                  <a:r>
                    <a:rPr lang="pt-BR">
                      <a:noFill/>
                    </a:rPr>
                    <a:t> </a:t>
                  </a:r>
                </a:p>
              </p:txBody>
            </p:sp>
          </mc:Fallback>
        </mc:AlternateContent>
        <p:cxnSp>
          <p:nvCxnSpPr>
            <p:cNvPr id="42" name="Straight Arrow Connector 33"/>
            <p:cNvCxnSpPr/>
            <p:nvPr/>
          </p:nvCxnSpPr>
          <p:spPr>
            <a:xfrm flipH="1">
              <a:off x="4610407" y="2395967"/>
              <a:ext cx="190333" cy="3948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4519390" y="2800358"/>
              <a:ext cx="108000" cy="108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Oval 30"/>
            <p:cNvSpPr/>
            <p:nvPr/>
          </p:nvSpPr>
          <p:spPr>
            <a:xfrm>
              <a:off x="5506733" y="2795595"/>
              <a:ext cx="108000" cy="108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 name="Conector reto 6"/>
            <p:cNvCxnSpPr/>
            <p:nvPr/>
          </p:nvCxnSpPr>
          <p:spPr>
            <a:xfrm>
              <a:off x="5555549" y="4755409"/>
              <a:ext cx="0" cy="14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17"/>
            <p:cNvSpPr txBox="1"/>
            <p:nvPr/>
          </p:nvSpPr>
          <p:spPr>
            <a:xfrm>
              <a:off x="5293229" y="4823889"/>
              <a:ext cx="571373" cy="369332"/>
            </a:xfrm>
            <a:prstGeom prst="rect">
              <a:avLst/>
            </a:prstGeom>
            <a:noFill/>
          </p:spPr>
          <p:txBody>
            <a:bodyPr wrap="square" rtlCol="0">
              <a:spAutoFit/>
            </a:bodyPr>
            <a:lstStyle/>
            <a:p>
              <a:pPr algn="ctr"/>
              <a:r>
                <a:rPr lang="pt-BR" dirty="0"/>
                <a:t>0.5</a:t>
              </a:r>
            </a:p>
          </p:txBody>
        </p:sp>
        <p:sp>
          <p:nvSpPr>
            <p:cNvPr id="50" name="Oval 30"/>
            <p:cNvSpPr/>
            <p:nvPr/>
          </p:nvSpPr>
          <p:spPr>
            <a:xfrm>
              <a:off x="6503251" y="2779438"/>
              <a:ext cx="108000" cy="108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1" name="Oval 30"/>
            <p:cNvSpPr/>
            <p:nvPr/>
          </p:nvSpPr>
          <p:spPr>
            <a:xfrm>
              <a:off x="4508086" y="3731415"/>
              <a:ext cx="108000" cy="108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3" name="Oval 30"/>
            <p:cNvSpPr/>
            <p:nvPr/>
          </p:nvSpPr>
          <p:spPr>
            <a:xfrm>
              <a:off x="4503966" y="4774510"/>
              <a:ext cx="108000" cy="108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TextBox 17"/>
            <p:cNvSpPr txBox="1"/>
            <p:nvPr/>
          </p:nvSpPr>
          <p:spPr>
            <a:xfrm>
              <a:off x="4044713" y="3594521"/>
              <a:ext cx="571373" cy="369332"/>
            </a:xfrm>
            <a:prstGeom prst="rect">
              <a:avLst/>
            </a:prstGeom>
            <a:noFill/>
          </p:spPr>
          <p:txBody>
            <a:bodyPr wrap="square" rtlCol="0">
              <a:spAutoFit/>
            </a:bodyPr>
            <a:lstStyle/>
            <a:p>
              <a:pPr algn="ctr"/>
              <a:r>
                <a:rPr lang="pt-BR" dirty="0"/>
                <a:t>0.5</a:t>
              </a:r>
            </a:p>
          </p:txBody>
        </p:sp>
        <mc:AlternateContent xmlns:mc="http://schemas.openxmlformats.org/markup-compatibility/2006" xmlns:a14="http://schemas.microsoft.com/office/drawing/2010/main">
          <mc:Choice Requires="a14">
            <p:sp>
              <p:nvSpPr>
                <p:cNvPr id="20" name="Retângulo 19"/>
                <p:cNvSpPr/>
                <p:nvPr/>
              </p:nvSpPr>
              <p:spPr>
                <a:xfrm>
                  <a:off x="3824542" y="3308172"/>
                  <a:ext cx="751809" cy="2616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1100" i="1" smtClean="0">
                            <a:latin typeface="Cambria Math" panose="02040503050406030204" pitchFamily="18" charset="0"/>
                          </a:rPr>
                          <m:t>𝑇</m:t>
                        </m:r>
                        <m:r>
                          <a:rPr lang="pt-BR" sz="1100" i="1" smtClean="0">
                            <a:latin typeface="Cambria Math" panose="02040503050406030204" pitchFamily="18" charset="0"/>
                          </a:rPr>
                          <m:t>=0.75</m:t>
                        </m:r>
                      </m:oMath>
                    </m:oMathPara>
                  </a14:m>
                  <a:endParaRPr lang="pt-BR" sz="1100" dirty="0"/>
                </a:p>
              </p:txBody>
            </p:sp>
          </mc:Choice>
          <mc:Fallback xmlns="">
            <p:sp>
              <p:nvSpPr>
                <p:cNvPr id="20" name="Retângulo 19"/>
                <p:cNvSpPr>
                  <a:spLocks noRot="1" noChangeAspect="1" noMove="1" noResize="1" noEditPoints="1" noAdjustHandles="1" noChangeArrowheads="1" noChangeShapeType="1" noTextEdit="1"/>
                </p:cNvSpPr>
                <p:nvPr/>
              </p:nvSpPr>
              <p:spPr>
                <a:xfrm>
                  <a:off x="3824542" y="3308172"/>
                  <a:ext cx="751809" cy="261610"/>
                </a:xfrm>
                <a:prstGeom prst="rect">
                  <a:avLst/>
                </a:prstGeom>
                <a:blipFill rotWithShape="0">
                  <a:blip r:embed="rId5"/>
                  <a:stretch>
                    <a:fillRect/>
                  </a:stretch>
                </a:blipFill>
              </p:spPr>
              <p:txBody>
                <a:bodyPr/>
                <a:lstStyle/>
                <a:p>
                  <a:r>
                    <a:rPr lang="pt-BR">
                      <a:noFill/>
                    </a:rPr>
                    <a:t> </a:t>
                  </a:r>
                </a:p>
              </p:txBody>
            </p:sp>
          </mc:Fallback>
        </mc:AlternateContent>
        <p:cxnSp>
          <p:nvCxnSpPr>
            <p:cNvPr id="55" name="Straight Arrow Connector 33"/>
            <p:cNvCxnSpPr/>
            <p:nvPr/>
          </p:nvCxnSpPr>
          <p:spPr>
            <a:xfrm>
              <a:off x="5339165" y="2672151"/>
              <a:ext cx="167568" cy="1372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Retângulo 55"/>
                <p:cNvSpPr/>
                <p:nvPr/>
              </p:nvSpPr>
              <p:spPr>
                <a:xfrm>
                  <a:off x="4028322" y="4336127"/>
                  <a:ext cx="488211" cy="261610"/>
                </a:xfrm>
                <a:prstGeom prst="rect">
                  <a:avLst/>
                </a:prstGeom>
              </p:spPr>
              <p:txBody>
                <a:bodyPr wrap="none">
                  <a:spAutoFit/>
                </a:bodyPr>
                <a:lstStyle/>
                <a:p>
                  <a14:m>
                    <m:oMath xmlns:m="http://schemas.openxmlformats.org/officeDocument/2006/math">
                      <m:r>
                        <a:rPr lang="pt-BR" sz="1100" i="1" smtClean="0">
                          <a:latin typeface="Cambria Math" panose="02040503050406030204" pitchFamily="18" charset="0"/>
                        </a:rPr>
                        <m:t>𝑇</m:t>
                      </m:r>
                      <m:r>
                        <a:rPr lang="pt-BR" sz="1100" i="1" smtClean="0">
                          <a:latin typeface="Cambria Math" panose="02040503050406030204" pitchFamily="18" charset="0"/>
                        </a:rPr>
                        <m:t>=</m:t>
                      </m:r>
                    </m:oMath>
                  </a14:m>
                  <a:r>
                    <a:rPr lang="pt-BR" sz="1100" dirty="0"/>
                    <a:t>1</a:t>
                  </a:r>
                </a:p>
              </p:txBody>
            </p:sp>
          </mc:Choice>
          <mc:Fallback xmlns="">
            <p:sp>
              <p:nvSpPr>
                <p:cNvPr id="56" name="Retângulo 55"/>
                <p:cNvSpPr>
                  <a:spLocks noRot="1" noChangeAspect="1" noMove="1" noResize="1" noEditPoints="1" noAdjustHandles="1" noChangeArrowheads="1" noChangeShapeType="1" noTextEdit="1"/>
                </p:cNvSpPr>
                <p:nvPr/>
              </p:nvSpPr>
              <p:spPr>
                <a:xfrm>
                  <a:off x="4028322" y="4336127"/>
                  <a:ext cx="488211" cy="261610"/>
                </a:xfrm>
                <a:prstGeom prst="rect">
                  <a:avLst/>
                </a:prstGeom>
                <a:blipFill rotWithShape="0">
                  <a:blip r:embed="rId6"/>
                  <a:stretch>
                    <a:fillRect b="-16279"/>
                  </a:stretch>
                </a:blipFill>
              </p:spPr>
              <p:txBody>
                <a:bodyPr/>
                <a:lstStyle/>
                <a:p>
                  <a:r>
                    <a:rPr lang="pt-BR">
                      <a:noFill/>
                    </a:rPr>
                    <a:t> </a:t>
                  </a:r>
                </a:p>
              </p:txBody>
            </p:sp>
          </mc:Fallback>
        </mc:AlternateContent>
        <p:cxnSp>
          <p:nvCxnSpPr>
            <p:cNvPr id="57" name="Straight Arrow Connector 33"/>
            <p:cNvCxnSpPr/>
            <p:nvPr/>
          </p:nvCxnSpPr>
          <p:spPr>
            <a:xfrm>
              <a:off x="4386205" y="4566364"/>
              <a:ext cx="114261" cy="1881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33"/>
            <p:cNvCxnSpPr/>
            <p:nvPr/>
          </p:nvCxnSpPr>
          <p:spPr>
            <a:xfrm>
              <a:off x="4387290" y="3525185"/>
              <a:ext cx="133676" cy="1700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Retângulo 58"/>
                <p:cNvSpPr/>
                <p:nvPr/>
              </p:nvSpPr>
              <p:spPr>
                <a:xfrm>
                  <a:off x="4833824" y="2431836"/>
                  <a:ext cx="751809" cy="2616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1100" i="1" smtClean="0">
                            <a:latin typeface="Cambria Math" panose="02040503050406030204" pitchFamily="18" charset="0"/>
                          </a:rPr>
                          <m:t>𝑇</m:t>
                        </m:r>
                        <m:r>
                          <a:rPr lang="pt-BR" sz="1100" i="1" smtClean="0">
                            <a:latin typeface="Cambria Math" panose="02040503050406030204" pitchFamily="18" charset="0"/>
                          </a:rPr>
                          <m:t>=0.25</m:t>
                        </m:r>
                      </m:oMath>
                    </m:oMathPara>
                  </a14:m>
                  <a:endParaRPr lang="pt-BR" sz="1100" dirty="0"/>
                </a:p>
              </p:txBody>
            </p:sp>
          </mc:Choice>
          <mc:Fallback xmlns="">
            <p:sp>
              <p:nvSpPr>
                <p:cNvPr id="59" name="Retângulo 58"/>
                <p:cNvSpPr>
                  <a:spLocks noRot="1" noChangeAspect="1" noMove="1" noResize="1" noEditPoints="1" noAdjustHandles="1" noChangeArrowheads="1" noChangeShapeType="1" noTextEdit="1"/>
                </p:cNvSpPr>
                <p:nvPr/>
              </p:nvSpPr>
              <p:spPr>
                <a:xfrm>
                  <a:off x="4833824" y="2431836"/>
                  <a:ext cx="751809" cy="261610"/>
                </a:xfrm>
                <a:prstGeom prst="rect">
                  <a:avLst/>
                </a:prstGeom>
                <a:blipFill rotWithShape="0">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0" name="Retângulo 59"/>
                <p:cNvSpPr/>
                <p:nvPr/>
              </p:nvSpPr>
              <p:spPr>
                <a:xfrm>
                  <a:off x="5994622" y="2392394"/>
                  <a:ext cx="565861" cy="2616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1100" i="1" smtClean="0">
                            <a:latin typeface="Cambria Math" panose="02040503050406030204" pitchFamily="18" charset="0"/>
                          </a:rPr>
                          <m:t>𝑇</m:t>
                        </m:r>
                        <m:r>
                          <a:rPr lang="pt-BR" sz="1100" i="1" smtClean="0">
                            <a:latin typeface="Cambria Math" panose="02040503050406030204" pitchFamily="18" charset="0"/>
                          </a:rPr>
                          <m:t>=0</m:t>
                        </m:r>
                      </m:oMath>
                    </m:oMathPara>
                  </a14:m>
                  <a:endParaRPr lang="pt-BR" sz="1100" dirty="0"/>
                </a:p>
              </p:txBody>
            </p:sp>
          </mc:Choice>
          <mc:Fallback xmlns="">
            <p:sp>
              <p:nvSpPr>
                <p:cNvPr id="60" name="Retângulo 59"/>
                <p:cNvSpPr>
                  <a:spLocks noRot="1" noChangeAspect="1" noMove="1" noResize="1" noEditPoints="1" noAdjustHandles="1" noChangeArrowheads="1" noChangeShapeType="1" noTextEdit="1"/>
                </p:cNvSpPr>
                <p:nvPr/>
              </p:nvSpPr>
              <p:spPr>
                <a:xfrm>
                  <a:off x="5994622" y="2392394"/>
                  <a:ext cx="565861" cy="261610"/>
                </a:xfrm>
                <a:prstGeom prst="rect">
                  <a:avLst/>
                </a:prstGeom>
                <a:blipFill rotWithShape="0">
                  <a:blip r:embed="rId8"/>
                  <a:stretch>
                    <a:fillRect/>
                  </a:stretch>
                </a:blipFill>
              </p:spPr>
              <p:txBody>
                <a:bodyPr/>
                <a:lstStyle/>
                <a:p>
                  <a:r>
                    <a:rPr lang="pt-BR">
                      <a:noFill/>
                    </a:rPr>
                    <a:t> </a:t>
                  </a:r>
                </a:p>
              </p:txBody>
            </p:sp>
          </mc:Fallback>
        </mc:AlternateContent>
        <p:cxnSp>
          <p:nvCxnSpPr>
            <p:cNvPr id="61" name="Straight Arrow Connector 33"/>
            <p:cNvCxnSpPr/>
            <p:nvPr/>
          </p:nvCxnSpPr>
          <p:spPr>
            <a:xfrm>
              <a:off x="6395251" y="2646186"/>
              <a:ext cx="118764" cy="1312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511017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4351433" y="1668241"/>
            <a:ext cx="4887817" cy="5194490"/>
            <a:chOff x="4351433" y="1668241"/>
            <a:chExt cx="4887817" cy="5194490"/>
          </a:xfrm>
        </p:grpSpPr>
        <p:cxnSp>
          <p:nvCxnSpPr>
            <p:cNvPr id="14" name="Straight Connector 13"/>
            <p:cNvCxnSpPr/>
            <p:nvPr/>
          </p:nvCxnSpPr>
          <p:spPr>
            <a:xfrm>
              <a:off x="4560982" y="2045689"/>
              <a:ext cx="0" cy="2786742"/>
            </a:xfrm>
            <a:prstGeom prst="line">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6200000">
              <a:off x="5948003" y="3432710"/>
              <a:ext cx="0" cy="278674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402417" y="4741685"/>
              <a:ext cx="165100" cy="369332"/>
            </a:xfrm>
            <a:prstGeom prst="rect">
              <a:avLst/>
            </a:prstGeom>
            <a:noFill/>
          </p:spPr>
          <p:txBody>
            <a:bodyPr wrap="square" rtlCol="0">
              <a:spAutoFit/>
            </a:bodyPr>
            <a:lstStyle/>
            <a:p>
              <a:pPr algn="ctr"/>
              <a:r>
                <a:rPr lang="pt-BR" dirty="0"/>
                <a:t>0</a:t>
              </a:r>
            </a:p>
          </p:txBody>
        </p:sp>
        <p:sp>
          <p:nvSpPr>
            <p:cNvPr id="18" name="TextBox 17"/>
            <p:cNvSpPr txBox="1"/>
            <p:nvPr/>
          </p:nvSpPr>
          <p:spPr>
            <a:xfrm>
              <a:off x="6456885" y="4832431"/>
              <a:ext cx="194129" cy="369332"/>
            </a:xfrm>
            <a:prstGeom prst="rect">
              <a:avLst/>
            </a:prstGeom>
            <a:noFill/>
          </p:spPr>
          <p:txBody>
            <a:bodyPr wrap="square" rtlCol="0">
              <a:spAutoFit/>
            </a:bodyPr>
            <a:lstStyle/>
            <a:p>
              <a:pPr algn="ctr"/>
              <a:r>
                <a:rPr lang="pt-BR" dirty="0"/>
                <a:t>1</a:t>
              </a:r>
            </a:p>
          </p:txBody>
        </p:sp>
        <p:sp>
          <p:nvSpPr>
            <p:cNvPr id="19" name="TextBox 18"/>
            <p:cNvSpPr txBox="1"/>
            <p:nvPr/>
          </p:nvSpPr>
          <p:spPr>
            <a:xfrm>
              <a:off x="4351433" y="2661414"/>
              <a:ext cx="165100" cy="369332"/>
            </a:xfrm>
            <a:prstGeom prst="rect">
              <a:avLst/>
            </a:prstGeom>
            <a:noFill/>
          </p:spPr>
          <p:txBody>
            <a:bodyPr wrap="square" rtlCol="0">
              <a:spAutoFit/>
            </a:bodyPr>
            <a:lstStyle/>
            <a:p>
              <a:pPr algn="ctr"/>
              <a:r>
                <a:rPr lang="pt-BR" dirty="0"/>
                <a:t>1</a:t>
              </a:r>
            </a:p>
          </p:txBody>
        </p:sp>
        <mc:AlternateContent xmlns:mc="http://schemas.openxmlformats.org/markup-compatibility/2006" xmlns:a14="http://schemas.microsoft.com/office/drawing/2010/main">
          <mc:Choice Requires="a14">
            <p:sp>
              <p:nvSpPr>
                <p:cNvPr id="24" name="TextBox 23"/>
                <p:cNvSpPr txBox="1"/>
                <p:nvPr/>
              </p:nvSpPr>
              <p:spPr>
                <a:xfrm>
                  <a:off x="4433983" y="1668241"/>
                  <a:ext cx="1335894"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pt-BR">
                            <a:latin typeface="Cambria Math" panose="02040503050406030204" pitchFamily="18" charset="0"/>
                          </a:rPr>
                          <m:t>recall</m:t>
                        </m:r>
                      </m:oMath>
                    </m:oMathPara>
                  </a14:m>
                  <a:endParaRPr lang="pt-BR" dirty="0"/>
                </a:p>
              </p:txBody>
            </p:sp>
          </mc:Choice>
          <mc:Fallback xmlns="">
            <p:sp>
              <p:nvSpPr>
                <p:cNvPr id="24" name="TextBox 23"/>
                <p:cNvSpPr txBox="1">
                  <a:spLocks noRot="1" noChangeAspect="1" noMove="1" noResize="1" noEditPoints="1" noAdjustHandles="1" noChangeArrowheads="1" noChangeShapeType="1" noTextEdit="1"/>
                </p:cNvSpPr>
                <p:nvPr/>
              </p:nvSpPr>
              <p:spPr>
                <a:xfrm>
                  <a:off x="4433983" y="1668241"/>
                  <a:ext cx="1335894" cy="369332"/>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6718864" y="4857690"/>
                  <a:ext cx="106792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𝑇</m:t>
                        </m:r>
                        <m:r>
                          <a:rPr lang="pt-BR" b="0" i="1" smtClean="0">
                            <a:latin typeface="Cambria Math" panose="02040503050406030204" pitchFamily="18" charset="0"/>
                          </a:rPr>
                          <m:t>𝐹𝑃</m:t>
                        </m:r>
                      </m:oMath>
                    </m:oMathPara>
                  </a14:m>
                  <a:endParaRPr lang="pt-BR" dirty="0"/>
                </a:p>
              </p:txBody>
            </p:sp>
          </mc:Choice>
          <mc:Fallback xmlns="">
            <p:sp>
              <p:nvSpPr>
                <p:cNvPr id="25" name="TextBox 24"/>
                <p:cNvSpPr txBox="1">
                  <a:spLocks noRot="1" noChangeAspect="1" noMove="1" noResize="1" noEditPoints="1" noAdjustHandles="1" noChangeArrowheads="1" noChangeShapeType="1" noTextEdit="1"/>
                </p:cNvSpPr>
                <p:nvPr/>
              </p:nvSpPr>
              <p:spPr>
                <a:xfrm>
                  <a:off x="6718864" y="4857690"/>
                  <a:ext cx="1067923" cy="369332"/>
                </a:xfrm>
                <a:prstGeom prst="rect">
                  <a:avLst/>
                </a:prstGeom>
                <a:blipFill>
                  <a:blip r:embed="rId3"/>
                  <a:stretch>
                    <a:fillRect/>
                  </a:stretch>
                </a:blipFill>
              </p:spPr>
              <p:txBody>
                <a:bodyPr/>
                <a:lstStyle/>
                <a:p>
                  <a:r>
                    <a:rPr lang="pt-BR">
                      <a:noFill/>
                    </a:rPr>
                    <a:t> </a:t>
                  </a:r>
                </a:p>
              </p:txBody>
            </p:sp>
          </mc:Fallback>
        </mc:AlternateContent>
        <p:cxnSp>
          <p:nvCxnSpPr>
            <p:cNvPr id="27" name="Straight Connector 26"/>
            <p:cNvCxnSpPr/>
            <p:nvPr/>
          </p:nvCxnSpPr>
          <p:spPr>
            <a:xfrm flipV="1">
              <a:off x="4564367" y="2846079"/>
              <a:ext cx="1980000" cy="8279"/>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flipV="1">
              <a:off x="5559810" y="3829917"/>
              <a:ext cx="1980000" cy="8279"/>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4567517" y="2844056"/>
              <a:ext cx="1986432" cy="198000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2" name="Arc 11"/>
            <p:cNvSpPr/>
            <p:nvPr/>
          </p:nvSpPr>
          <p:spPr>
            <a:xfrm rot="16200000">
              <a:off x="4527235" y="2892937"/>
              <a:ext cx="4010076" cy="3929511"/>
            </a:xfrm>
            <a:prstGeom prst="arc">
              <a:avLst>
                <a:gd name="adj1" fmla="val 16222790"/>
                <a:gd name="adj2" fmla="val 44143"/>
              </a:avLst>
            </a:prstGeom>
            <a:noFill/>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35" name="Arc 34"/>
            <p:cNvSpPr/>
            <p:nvPr/>
          </p:nvSpPr>
          <p:spPr>
            <a:xfrm rot="16200000">
              <a:off x="4909208" y="2521732"/>
              <a:ext cx="3988167" cy="4671917"/>
            </a:xfrm>
            <a:prstGeom prst="arc">
              <a:avLst>
                <a:gd name="adj1" fmla="val 16222790"/>
                <a:gd name="adj2" fmla="val 44143"/>
              </a:avLst>
            </a:prstGeom>
            <a:noFill/>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1" name="Rectangle 10"/>
            <p:cNvSpPr/>
            <p:nvPr/>
          </p:nvSpPr>
          <p:spPr>
            <a:xfrm>
              <a:off x="6568396" y="2655145"/>
              <a:ext cx="604390" cy="46007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Straight Connector 16"/>
            <p:cNvCxnSpPr/>
            <p:nvPr/>
          </p:nvCxnSpPr>
          <p:spPr>
            <a:xfrm>
              <a:off x="4624533" y="5201763"/>
              <a:ext cx="296717" cy="0"/>
            </a:xfrm>
            <a:prstGeom prst="line">
              <a:avLst/>
            </a:prstGeom>
            <a:noFill/>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624532" y="5478761"/>
              <a:ext cx="296717" cy="0"/>
            </a:xfrm>
            <a:prstGeom prst="line">
              <a:avLst/>
            </a:prstGeom>
            <a:noFill/>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978266" y="5063263"/>
              <a:ext cx="1705482" cy="276999"/>
            </a:xfrm>
            <a:prstGeom prst="rect">
              <a:avLst/>
            </a:prstGeom>
            <a:noFill/>
          </p:spPr>
          <p:txBody>
            <a:bodyPr wrap="square" rtlCol="0">
              <a:spAutoFit/>
            </a:bodyPr>
            <a:lstStyle/>
            <a:p>
              <a:r>
                <a:rPr lang="pt-BR" sz="1200" dirty="0"/>
                <a:t>Classificador A</a:t>
              </a:r>
            </a:p>
          </p:txBody>
        </p:sp>
        <p:sp>
          <p:nvSpPr>
            <p:cNvPr id="40" name="TextBox 39"/>
            <p:cNvSpPr txBox="1"/>
            <p:nvPr/>
          </p:nvSpPr>
          <p:spPr>
            <a:xfrm>
              <a:off x="4975148" y="5340262"/>
              <a:ext cx="1705482" cy="276999"/>
            </a:xfrm>
            <a:prstGeom prst="rect">
              <a:avLst/>
            </a:prstGeom>
            <a:noFill/>
          </p:spPr>
          <p:txBody>
            <a:bodyPr wrap="square" rtlCol="0">
              <a:spAutoFit/>
            </a:bodyPr>
            <a:lstStyle/>
            <a:p>
              <a:r>
                <a:rPr lang="pt-BR" sz="1200" dirty="0"/>
                <a:t>Classificador B</a:t>
              </a:r>
            </a:p>
          </p:txBody>
        </p:sp>
      </p:grpSp>
    </p:spTree>
    <p:extLst>
      <p:ext uri="{BB962C8B-B14F-4D97-AF65-F5344CB8AC3E}">
        <p14:creationId xmlns:p14="http://schemas.microsoft.com/office/powerpoint/2010/main" val="1000651530"/>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12257</TotalTime>
  <Words>4412</Words>
  <Application>Microsoft Office PowerPoint</Application>
  <PresentationFormat>Widescreen</PresentationFormat>
  <Paragraphs>498</Paragraphs>
  <Slides>41</Slides>
  <Notes>18</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41</vt:i4>
      </vt:variant>
    </vt:vector>
  </HeadingPairs>
  <TitlesOfParts>
    <vt:vector size="48" baseType="lpstr">
      <vt:lpstr>Arial</vt:lpstr>
      <vt:lpstr>Calibri</vt:lpstr>
      <vt:lpstr>Calibri Light</vt:lpstr>
      <vt:lpstr>Cambria Math</vt:lpstr>
      <vt:lpstr>Courier New</vt:lpstr>
      <vt:lpstr>Wingdings</vt:lpstr>
      <vt:lpstr>Tema do Office</vt:lpstr>
      <vt:lpstr>T320 - Introdução ao Aprendizado de Máquina II: Classificação (Parte V)</vt:lpstr>
      <vt:lpstr>Recapitulando</vt:lpstr>
      <vt:lpstr>Métricas para avaliação de classificadores</vt:lpstr>
      <vt:lpstr>Matriz de confusão</vt:lpstr>
      <vt:lpstr>Matriz de confusão</vt:lpstr>
      <vt:lpstr>Matriz de confusão</vt:lpstr>
      <vt:lpstr>Matriz de confusão</vt:lpstr>
      <vt:lpstr>Matriz de confusão para caso binário (Q=2)</vt:lpstr>
      <vt:lpstr>Apresentação do PowerPoint</vt:lpstr>
      <vt:lpstr>Acurácia</vt:lpstr>
      <vt:lpstr>Acurácia</vt:lpstr>
      <vt:lpstr>Acurácia</vt:lpstr>
      <vt:lpstr>Apresentação do PowerPoint</vt:lpstr>
      <vt:lpstr>Precisão</vt:lpstr>
      <vt:lpstr>Precisão</vt:lpstr>
      <vt:lpstr>Recall</vt:lpstr>
      <vt:lpstr>Recall</vt:lpstr>
      <vt:lpstr>Especificidade</vt:lpstr>
      <vt:lpstr>Taxas de falso positivo e negativo</vt:lpstr>
      <vt:lpstr>Precisão versus recall</vt:lpstr>
      <vt:lpstr>F1-score</vt:lpstr>
      <vt:lpstr>Apresentação do PowerPoint</vt:lpstr>
      <vt:lpstr>Matriz de confusão para caso multiclasses</vt:lpstr>
      <vt:lpstr>Matriz de confusão para caso multiclasses (Q=3)</vt:lpstr>
      <vt:lpstr>Matriz de confusão para caso multiclasses (Q=3)</vt:lpstr>
      <vt:lpstr>Matriz de confusão para caso multiclasses (Q=3)</vt:lpstr>
      <vt:lpstr>Acurácia para o caso multiclasses</vt:lpstr>
      <vt:lpstr>Curva característica de operação do receptor</vt:lpstr>
      <vt:lpstr>Curva característica de operação do receptor</vt:lpstr>
      <vt:lpstr>Curva característica de operação do receptor</vt:lpstr>
      <vt:lpstr>Curva característica de operação do receptor</vt:lpstr>
      <vt:lpstr>Como as curvas ROC são obtidas?</vt:lpstr>
      <vt:lpstr>Como as curvas ROC são obtidas?</vt:lpstr>
      <vt:lpstr>Comparando classificadores com a curva ROC</vt:lpstr>
      <vt:lpstr>Apresentação do PowerPoint</vt:lpstr>
      <vt:lpstr>Comparando classificadores com a curva ROC</vt:lpstr>
      <vt:lpstr>Tarefas</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1841</cp:revision>
  <dcterms:created xsi:type="dcterms:W3CDTF">2020-01-20T13:50:05Z</dcterms:created>
  <dcterms:modified xsi:type="dcterms:W3CDTF">2026-09-19T01:28:23Z</dcterms:modified>
</cp:coreProperties>
</file>