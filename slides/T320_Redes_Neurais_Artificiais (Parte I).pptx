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300" r:id="rId2"/>
    <p:sldId id="292" r:id="rId3"/>
    <p:sldId id="290" r:id="rId4"/>
    <p:sldId id="325" r:id="rId5"/>
    <p:sldId id="277" r:id="rId6"/>
    <p:sldId id="308" r:id="rId7"/>
    <p:sldId id="327" r:id="rId8"/>
    <p:sldId id="309" r:id="rId9"/>
    <p:sldId id="338" r:id="rId10"/>
    <p:sldId id="328" r:id="rId11"/>
    <p:sldId id="320" r:id="rId12"/>
    <p:sldId id="329" r:id="rId13"/>
    <p:sldId id="273" r:id="rId14"/>
    <p:sldId id="330" r:id="rId15"/>
    <p:sldId id="294" r:id="rId16"/>
    <p:sldId id="331" r:id="rId17"/>
    <p:sldId id="332" r:id="rId18"/>
    <p:sldId id="333" r:id="rId19"/>
    <p:sldId id="284" r:id="rId20"/>
    <p:sldId id="339" r:id="rId21"/>
    <p:sldId id="313" r:id="rId22"/>
    <p:sldId id="303" r:id="rId23"/>
    <p:sldId id="285" r:id="rId24"/>
    <p:sldId id="295" r:id="rId25"/>
    <p:sldId id="334" r:id="rId26"/>
    <p:sldId id="314" r:id="rId27"/>
    <p:sldId id="335" r:id="rId28"/>
    <p:sldId id="336" r:id="rId29"/>
    <p:sldId id="304" r:id="rId30"/>
    <p:sldId id="337" r:id="rId31"/>
    <p:sldId id="321" r:id="rId32"/>
    <p:sldId id="340" r:id="rId33"/>
    <p:sldId id="323" r:id="rId34"/>
    <p:sldId id="317" r:id="rId35"/>
    <p:sldId id="324" r:id="rId36"/>
    <p:sldId id="301" r:id="rId37"/>
    <p:sldId id="269" r:id="rId38"/>
    <p:sldId id="265" r:id="rId39"/>
    <p:sldId id="271" r:id="rId40"/>
    <p:sldId id="312" r:id="rId41"/>
    <p:sldId id="281" r:id="rId42"/>
    <p:sldId id="280" r:id="rId43"/>
    <p:sldId id="274" r:id="rId44"/>
    <p:sldId id="287" r:id="rId45"/>
    <p:sldId id="278" r:id="rId46"/>
    <p:sldId id="291" r:id="rId47"/>
    <p:sldId id="298" r:id="rId48"/>
    <p:sldId id="316" r:id="rId49"/>
    <p:sldId id="305" r:id="rId50"/>
    <p:sldId id="306" r:id="rId51"/>
    <p:sldId id="307" r:id="rId52"/>
    <p:sldId id="311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03B23-3076-49E1-A7F6-EF54F478ED00}" v="22" dt="2021-05-31T18:22:44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9" autoAdjust="0"/>
    <p:restoredTop sz="83662" autoAdjust="0"/>
  </p:normalViewPr>
  <p:slideViewPr>
    <p:cSldViewPr snapToGrid="0">
      <p:cViewPr varScale="1">
        <p:scale>
          <a:sx n="92" d="100"/>
          <a:sy n="92" d="100"/>
        </p:scale>
        <p:origin x="13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AA003B23-3076-49E1-A7F6-EF54F478ED00}"/>
    <pc:docChg chg="modSld">
      <pc:chgData name="Felipe Augusto Pereira de Figueiredo" userId="e1771b70d906f94b" providerId="Windows Live" clId="Web-{AA003B23-3076-49E1-A7F6-EF54F478ED00}" dt="2021-05-31T18:22:41.788" v="7" actId="20577"/>
      <pc:docMkLst>
        <pc:docMk/>
      </pc:docMkLst>
      <pc:sldChg chg="modSp">
        <pc:chgData name="Felipe Augusto Pereira de Figueiredo" userId="e1771b70d906f94b" providerId="Windows Live" clId="Web-{AA003B23-3076-49E1-A7F6-EF54F478ED00}" dt="2021-05-31T18:22:41.788" v="7" actId="20577"/>
        <pc:sldMkLst>
          <pc:docMk/>
          <pc:sldMk cId="29378494" sldId="289"/>
        </pc:sldMkLst>
        <pc:spChg chg="mod">
          <ac:chgData name="Felipe Augusto Pereira de Figueiredo" userId="e1771b70d906f94b" providerId="Windows Live" clId="Web-{AA003B23-3076-49E1-A7F6-EF54F478ED00}" dt="2021-05-31T18:22:41.788" v="7" actId="20577"/>
          <ac:spMkLst>
            <pc:docMk/>
            <pc:sldMk cId="29378494" sldId="2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2C08-3EFC-4473-8294-F0E229C19EFF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0A2A4-8C14-4B1A-AD48-7B6401078B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3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tivation_function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292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estímulos de entrada</a:t>
            </a:r>
            <a:r>
              <a:rPr lang="pt-BR" baseline="0" dirty="0"/>
              <a:t> são recebidos por um neurônio,</a:t>
            </a:r>
            <a:r>
              <a:rPr lang="pt-BR" dirty="0"/>
              <a:t> na sequência, os estímulos são integrados e se o</a:t>
            </a:r>
            <a:r>
              <a:rPr lang="pt-BR" baseline="0" dirty="0"/>
              <a:t> resultado da integração deles for maior do que um limiar de ativação, um impulso é propagado até os próximos neurônios.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02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estímulos de entrada</a:t>
            </a:r>
            <a:r>
              <a:rPr lang="pt-BR" baseline="0" dirty="0"/>
              <a:t> são recebidos por um neurônio,</a:t>
            </a:r>
            <a:r>
              <a:rPr lang="pt-BR" dirty="0"/>
              <a:t> na sequência, os estímulos são integrados e se o</a:t>
            </a:r>
            <a:r>
              <a:rPr lang="pt-BR" baseline="0" dirty="0"/>
              <a:t> resultado da integração deles for maior do que um limiar de ativação, um impulso é propagado até os próximos neurônios.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6735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RNAs são versáteis, poderosas e escalonáveis, tornando-as ideais para realizar tarefas grandes e altamente complexas de Machine Learning, como classificar bilhões de imagens (por exemplo, Google Images), ativar serviços de reconhecimento de fala (por exemplo, o Siri da Apple), recomendar os melhores vídeos assistir a centenas de milhões de usuários todos os dias (por exemplo, YouTube) ou aprender a vencer o campeão mundial no jogo Go examinando milhões de jogos anteriores e depois jogando contra si mesmo (AlphaGo do </a:t>
            </a:r>
            <a:r>
              <a:rPr lang="pt-BR" dirty="0" err="1"/>
              <a:t>DeepMind</a:t>
            </a:r>
            <a:r>
              <a:rPr lang="pt-BR" dirty="0"/>
              <a:t>).</a:t>
            </a:r>
          </a:p>
          <a:p>
            <a:endParaRPr lang="pt-BR" dirty="0"/>
          </a:p>
          <a:p>
            <a:r>
              <a:rPr lang="pt-BR" b="1" dirty="0"/>
              <a:t>Referências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[1] https://www.techtarget.com/searchenterpriseai/news/450420189/How-Facebook-uses-deep-learning-models-to-engage-users</a:t>
            </a:r>
          </a:p>
          <a:p>
            <a:r>
              <a:rPr lang="pt-BR" dirty="0"/>
              <a:t>[2]</a:t>
            </a:r>
            <a:r>
              <a:rPr lang="pt-BR" baseline="0" dirty="0"/>
              <a:t> </a:t>
            </a:r>
            <a:r>
              <a:rPr lang="pt-BR" dirty="0"/>
              <a:t>https://www.geeksforgeeks.org/5-mind-blowing-ways-facebook-uses-machine-learning/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55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seres eucariotas são os organismos vivos unicelulares ou pluricelulares constituídos por células dotadas de núcleo, distinguindo-se dos procariotas (grupo parafilético), cujas células são desprovidas de um núcleo bem diferenciado.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Plantas, animais, fungos, protozoários, e algas são todos eucariontes.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4606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seres eucariotas são os organismos vivos unicelulares ou pluricelulares constituídos por células dotadas de núcleo, distinguindo-se dos procariotas (grupo parafilético), cujas células são desprovidas de um núcleo bem diferenciado.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Plantas, animais, fungos, protozoários, e algas são todos eucariontes.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15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seres eucariotas são os organismos vivos unicelulares ou pluricelulares constituídos por células dotadas de núcleo, distinguindo-se dos procariotas (grupo parafilético), cujas células são desprovidas de um núcleo bem diferenciado.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Plantas, animais, fungos, protozoários, e algas são todos eucariontes.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211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seres eucariotas são os organismos vivos unicelulares ou pluricelulares constituídos por células dotadas de núcleo, distinguindo-se dos procariotas (grupo parafilético), cujas células são desprovidas de um núcleo bem diferenciado.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Plantas, animais, fungos, protozoários, e algas são todos eucariontes.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597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Os seres eucariotas são os organismos vivos unicelulares ou pluricelulares constituídos por células dotadas de núcleo, distinguindo-se dos procariotas (grupo parafilético), cujas células são desprovidas de um núcleo bem diferenciado.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Plantas, animais, fungos, protozoários, e algas são todos eucariontes.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6530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sinapses são conexões entre a terminação do axônio de um neurônio e 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dendritos de outo neurônio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São elas que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 a conexão entre células vizinhas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dando continuidade à propagação do impulso nervoso por toda a rede neuronal.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445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sinapses são conexões entre a terminação do axônio de um neurônio e os</a:t>
            </a:r>
            <a:r>
              <a:rPr lang="pt-BR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dendritos de outo neurônio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São elas que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fazem a conexão entre células vizinhas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dando continuidade à propagação do impulso nervoso por toda a rede neuronal.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5370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final do século XIX e o início do século XX foram períodos fundamentais para o estabelecimento da visão atual do sistema nervoso. Quando Warren McCulloch e Walter Pitts apresentaram o primeiro modelo “computacional” de neurônio em 1943, já haviam sido identificados vários elementos considerados centrais até hoje.</a:t>
            </a:r>
          </a:p>
          <a:p>
            <a:endParaRPr lang="pt-BR" dirty="0"/>
          </a:p>
          <a:p>
            <a:r>
              <a:rPr lang="pt-BR" dirty="0"/>
              <a:t>O modelo de McCulloch e Pitts parece “simples” quando</a:t>
            </a:r>
            <a:r>
              <a:rPr lang="pt-BR" baseline="0" dirty="0"/>
              <a:t> comparado à</a:t>
            </a:r>
            <a:r>
              <a:rPr lang="pt-BR" dirty="0"/>
              <a:t> alguns modelos empregados hoje em dia, mas sua importância foi enorme. A partir desse modelo, foi possível estabelecer uma conexão entre o funcionamento de um neurônio e a lógica proposicional. A partir daí, a relação com a computação digital foi natural.</a:t>
            </a:r>
          </a:p>
          <a:p>
            <a:endParaRPr lang="pt-BR" dirty="0"/>
          </a:p>
          <a:p>
            <a:r>
              <a:rPr lang="pt-BR" dirty="0"/>
              <a:t>Artigo seminal de McCulloch e Pitts:</a:t>
            </a:r>
            <a:r>
              <a:rPr lang="pt-BR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Logical Calculus of Ideas Immanent in Nervous Activity,” W. McCulloch and W. Pitts (1943)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Lógica Proposicional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como o próprio nome já diz se baseia em proposições onde uma proposição é uma sentença declarativa, ou seja, é uma sentença que declara um fato podendo este ser verdeiro ou falso.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proposição lógica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definida como toda oração que declare algo, podendo ser avaliada como verdadeira ou falsa.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Referências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https://materialpublic.imd.ufrn.br/curso/disciplina/5/15/7/3#:~: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=A%20base%20da%20L%C3%B3gica%20Proposicional,um%20valor%2C%20verdadeiro%20ou%20falso.</a:t>
            </a:r>
            <a:br>
              <a:rPr lang="en-US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53763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final do século XIX e o início do século XX foram períodos fundamentais para o estabelecimento da visão atual do sistema nervoso. Quando Warren McCulloch e Walter Pitts apresentaram o primeiro modelo “computacional” de neurônio em 1943, já haviam sido identificados vários elementos considerados centrais até hoje.</a:t>
            </a:r>
          </a:p>
          <a:p>
            <a:endParaRPr lang="pt-BR" dirty="0"/>
          </a:p>
          <a:p>
            <a:r>
              <a:rPr lang="pt-BR" dirty="0"/>
              <a:t>O modelo de McCulloch e Pitts parece “simples” quando</a:t>
            </a:r>
            <a:r>
              <a:rPr lang="pt-BR" baseline="0" dirty="0"/>
              <a:t> comparado à</a:t>
            </a:r>
            <a:r>
              <a:rPr lang="pt-BR" dirty="0"/>
              <a:t> alguns modelos empregados hoje em dia, mas sua importância foi enorme. A partir desse modelo, foi possível estabelecer uma conexão entre o funcionamento de um neurônio e a lógica proposicional. A partir daí, a relação com a computação digital foi natural.</a:t>
            </a:r>
          </a:p>
          <a:p>
            <a:endParaRPr lang="pt-BR" dirty="0"/>
          </a:p>
          <a:p>
            <a:r>
              <a:rPr lang="pt-BR" dirty="0"/>
              <a:t>Artigo seminal de McCulloch e Pitts:</a:t>
            </a:r>
            <a:r>
              <a:rPr lang="pt-BR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Logical Calculus of Ideas Immanent in Nervous Activity,” W. McCulloch and W. Pitts (1943)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Lógica Proposicional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como o próprio nome já diz se baseia em proposições onde uma proposição é uma sentença declarativa, ou seja, é uma sentença que declara um fato podendo este ser verdeiro ou falso.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proposição lógica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é definida como toda oração que declare algo, podendo ser avaliada como verdadeira ou falsa.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Referências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[1] https://materialpublic.imd.ufrn.br/curso/disciplina/5/15/7/3#:~: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=A%20base%20da%20L%C3%B3gica%20Proposicional,um%20valor%2C%20verdadeiro%20ou%20falso.</a:t>
            </a:r>
            <a:br>
              <a:rPr lang="en-US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4722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final do século XIX e o início do século XX foram períodos fundamentais para o estabelecimento da visão atual do sistema nervoso. Quando Warren McCulloch e Walter Pitts apresentaram o primeiro modelo “computacional” de neurônio em 1943, já haviam sido identificados vários elementos considerados centrais até hoje.</a:t>
            </a:r>
          </a:p>
          <a:p>
            <a:endParaRPr lang="pt-BR" dirty="0"/>
          </a:p>
          <a:p>
            <a:r>
              <a:rPr lang="pt-BR" dirty="0"/>
              <a:t>O modelo de McCulloch e Pitts parece “simples” quando</a:t>
            </a:r>
            <a:r>
              <a:rPr lang="pt-BR" baseline="0" dirty="0"/>
              <a:t> comparado à</a:t>
            </a:r>
            <a:r>
              <a:rPr lang="pt-BR" dirty="0"/>
              <a:t> alguns modelos empregados hoje em dia, mas sua importância foi enorme. A partir desse modelo, foi possível estabelecer uma conexão entre o funcionamento de um neurônio e a lógica proposicional. A partir daí, a relação com a computação digital foi natural.</a:t>
            </a:r>
          </a:p>
          <a:p>
            <a:endParaRPr lang="pt-BR" dirty="0"/>
          </a:p>
          <a:p>
            <a:r>
              <a:rPr lang="pt-BR" dirty="0"/>
              <a:t>Artigo seminal de McCulloch e Pitts:</a:t>
            </a:r>
            <a:r>
              <a:rPr lang="pt-BR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Logical Calculus of Ideas Immanent in Nervous Activity,” W. McCulloch and W. Pitts (1943)</a:t>
            </a:r>
            <a:r>
              <a:rPr lang="en-US" dirty="0"/>
              <a:t> </a:t>
            </a:r>
            <a:br>
              <a:rPr lang="en-US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38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final do século XIX e o início do século XX foram períodos fundamentais para o estabelecimento da visão atual do sistema nervoso. Quando Warren McCulloch e Walter Pitts apresentaram o primeiro modelo “computacional” de neurônio em 1943, já haviam sido identificados vários elementos considerados centrais até hoje.</a:t>
            </a:r>
          </a:p>
          <a:p>
            <a:endParaRPr lang="pt-BR" dirty="0"/>
          </a:p>
          <a:p>
            <a:r>
              <a:rPr lang="pt-BR" dirty="0"/>
              <a:t>O modelo de McCulloch e Pitts parece “simples” quando</a:t>
            </a:r>
            <a:r>
              <a:rPr lang="pt-BR" baseline="0" dirty="0"/>
              <a:t> comparado à</a:t>
            </a:r>
            <a:r>
              <a:rPr lang="pt-BR" dirty="0"/>
              <a:t> alguns modelos empregados hoje em dia, mas sua importância foi enorme. A partir desse modelo, foi possível estabelecer uma conexão entre o funcionamento de um neurônio e a lógica proposicional. A partir daí, a relação com a computação digital foi natural.</a:t>
            </a:r>
          </a:p>
          <a:p>
            <a:endParaRPr lang="pt-BR" dirty="0"/>
          </a:p>
          <a:p>
            <a:r>
              <a:rPr lang="pt-BR" dirty="0"/>
              <a:t>Artigo seminal de McCulloch e Pitts:</a:t>
            </a:r>
            <a:r>
              <a:rPr lang="pt-BR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Logical Calculus of Ideas Immanent in Nervous Activity,” W. McCulloch and W. Pitts (1943)</a:t>
            </a:r>
            <a:r>
              <a:rPr lang="en-US" dirty="0"/>
              <a:t> </a:t>
            </a:r>
            <a:br>
              <a:rPr lang="en-US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892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final do século XIX e o início do século XX foram períodos fundamentais para o estabelecimento da visão atual do sistema nervoso. Quando Warren McCulloch e Walter Pitts apresentaram o primeiro modelo “computacional” de neurônio em 1943, já haviam sido identificados vários elementos considerados centrais até hoje.</a:t>
            </a:r>
          </a:p>
          <a:p>
            <a:endParaRPr lang="pt-BR" dirty="0"/>
          </a:p>
          <a:p>
            <a:r>
              <a:rPr lang="pt-BR" dirty="0"/>
              <a:t>O modelo de McCulloch e Pitts parece “simples” quando</a:t>
            </a:r>
            <a:r>
              <a:rPr lang="pt-BR" baseline="0" dirty="0"/>
              <a:t> comparado à</a:t>
            </a:r>
            <a:r>
              <a:rPr lang="pt-BR" dirty="0"/>
              <a:t> alguns modelos empregados hoje em dia, mas sua importância foi enorme. A partir desse modelo, foi possível estabelecer uma conexão entre o funcionamento de um neurônio e a lógica proposicional. A partir daí, a relação com a computação digital foi natural.</a:t>
            </a:r>
          </a:p>
          <a:p>
            <a:endParaRPr lang="pt-BR" dirty="0"/>
          </a:p>
          <a:p>
            <a:r>
              <a:rPr lang="pt-BR" dirty="0"/>
              <a:t>Artigo seminal de McCulloch e Pitts:</a:t>
            </a:r>
            <a:r>
              <a:rPr lang="pt-BR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 Logical Calculus of Ideas Immanent in Nervous Activity,” W. McCulloch and W. Pitts (1943)</a:t>
            </a:r>
            <a:r>
              <a:rPr lang="en-US" dirty="0"/>
              <a:t> </a:t>
            </a:r>
            <a:br>
              <a:rPr lang="en-US" dirty="0"/>
            </a:b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911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Entradas inibitórias são entradas que tem seus valores </a:t>
            </a:r>
            <a:r>
              <a:rPr lang="pt-BR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‘negados’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47721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#6:</a:t>
            </a:r>
            <a:r>
              <a:rPr lang="pt-BR" sz="1200" dirty="0"/>
              <a:t> https://mybinder.org/v2/gh/zz4fap/t320_aprendizado_de_maquina/main?filepath=labs%2FLaboratorio6.ipynb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387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Nós podemos dizer que o perceptron é uma rede neural</a:t>
                </a:r>
                <a:r>
                  <a:rPr lang="pt-BR" baseline="0" dirty="0"/>
                  <a:t> com um único neurônio.</a:t>
                </a:r>
              </a:p>
              <a:p>
                <a:r>
                  <a:rPr lang="pt-BR" dirty="0"/>
                  <a:t>O Perceptron é um modelo computacional mais geral que o neurônio de Mcculloch Pitts.</a:t>
                </a:r>
              </a:p>
              <a:p>
                <a:r>
                  <a:rPr lang="pt-BR" dirty="0"/>
                  <a:t>A principal diferença entre o neurônio de Mcculloch Pitts e o Perceptron é a introdução de pesos sinápticos</a:t>
                </a:r>
                <a:r>
                  <a:rPr lang="pt-BR" baseline="0" dirty="0"/>
                  <a:t> </a:t>
                </a:r>
                <a:r>
                  <a:rPr lang="pt-BR" dirty="0"/>
                  <a:t>para entradas e um método para aprender os valores desses pesos.</a:t>
                </a:r>
              </a:p>
              <a:p>
                <a:endParaRPr lang="pt-BR" dirty="0"/>
              </a:p>
              <a:p>
                <a:r>
                  <a:rPr lang="pt-BR" dirty="0"/>
                  <a:t>Relembrando como o modelo de M-P é ativado (i.e., disparado):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Reescrevendo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Passando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 para o lado esquerdo da desigualdade,</a:t>
                </a:r>
                <a:r>
                  <a:rPr lang="pt-BR" baseline="0" dirty="0"/>
                  <a:t> tem-se</a:t>
                </a: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/>
                  <a:t>Se considerarmos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b="0" i="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b="0" i="0" dirty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Desta forma, o limiar de ativação é absorvido pelo somatório e podemos usar a</a:t>
                </a:r>
                <a:r>
                  <a:rPr lang="pt-BR" baseline="0" dirty="0"/>
                  <a:t> função de ativação centrada em zero, pois agora, ajusta-se o limiar de ativação indiretamente, através da atualização do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que é normalmente</a:t>
                </a:r>
                <a:r>
                  <a:rPr lang="pt-BR" baseline="0" dirty="0"/>
                  <a:t> chamado de bias</a:t>
                </a:r>
                <a:r>
                  <a:rPr lang="pt-BR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/>
                  <a:t> 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Nós podemos dizer que o perceptron é uma rede neural</a:t>
                </a:r>
                <a:r>
                  <a:rPr lang="pt-BR" baseline="0" dirty="0" smtClean="0"/>
                  <a:t> com um único neurônio.</a:t>
                </a:r>
              </a:p>
              <a:p>
                <a:r>
                  <a:rPr lang="pt-BR" dirty="0" smtClean="0"/>
                  <a:t>O Perceptron é um modelo computacional mais geral que o neurônio de Mcculloch Pitts.</a:t>
                </a:r>
              </a:p>
              <a:p>
                <a:r>
                  <a:rPr lang="pt-BR" dirty="0" smtClean="0"/>
                  <a:t>A principal diferença entre o neurônio de Mcculloch Pitts e o Perceptron é uma introdução de pesos sinápticos</a:t>
                </a:r>
                <a:r>
                  <a:rPr lang="pt-BR" baseline="0" dirty="0" smtClean="0"/>
                  <a:t> </a:t>
                </a:r>
                <a:r>
                  <a:rPr lang="pt-BR" dirty="0" smtClean="0"/>
                  <a:t>para entradas e um método para aprender os valores desses pesos</a:t>
                </a:r>
                <a:r>
                  <a:rPr lang="pt-BR" dirty="0" smtClean="0"/>
                  <a:t>.</a:t>
                </a:r>
              </a:p>
              <a:p>
                <a:endParaRPr lang="pt-BR" dirty="0" smtClean="0"/>
              </a:p>
              <a:p>
                <a:r>
                  <a:rPr lang="pt-BR" dirty="0" smtClean="0"/>
                  <a:t>Relembrando como o modelo de M-P é ativado (i.e., disparado):</a:t>
                </a:r>
              </a:p>
              <a:p>
                <a:pPr/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r>
                  <a:rPr lang="pt-BR" dirty="0" smtClean="0"/>
                  <a:t>Reescrevendo </a:t>
                </a:r>
                <a:r>
                  <a:rPr lang="pt-BR" i="0" smtClean="0">
                    <a:latin typeface="Cambria Math" panose="02040503050406030204" pitchFamily="18" charset="0"/>
                  </a:rPr>
                  <a:t>𝑔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𝑁▒𝑥_𝑖 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𝑤_𝑖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𝑥〗_𝑖 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Passando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dirty="0" smtClean="0"/>
                  <a:t> para o lado esquerdo da desigualdade,</a:t>
                </a:r>
                <a:r>
                  <a:rPr lang="pt-BR" baseline="0" dirty="0" smtClean="0"/>
                  <a:t> tem-se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∑_(𝑖=1)^𝑁▒〖〖𝑤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𝑥〗_𝑖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pt-BR" i="0" dirty="0" smtClean="0"/>
                  <a:t>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" 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 smtClean="0"/>
                  <a:t>Se considerarmos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_0=1</a:t>
                </a:r>
                <a:r>
                  <a:rPr lang="pt-BR" b="0" i="0" dirty="0" smtClean="0"/>
                  <a:t> e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▒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𝑥_𝑖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 "</a:t>
                </a:r>
                <a:r>
                  <a:rPr lang="pt-BR" i="0" dirty="0" smtClean="0"/>
                  <a:t> </a:t>
                </a:r>
                <a:r>
                  <a:rPr lang="pt-BR" i="0" dirty="0" smtClean="0">
                    <a:latin typeface="Cambria Math" panose="02040503050406030204" pitchFamily="18" charset="0"/>
                  </a:rPr>
                  <a:t>"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Desta forma, o limiar de ativação é absorvido pelo somatório e podemos usar a</a:t>
                </a:r>
                <a:r>
                  <a:rPr lang="pt-BR" baseline="0" dirty="0" smtClean="0"/>
                  <a:t> função de ativação centrada em zero, pois agora, ajusta-se o limiar de ativação indiretamente, através da atualização do peso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</a:t>
                </a:r>
                <a:r>
                  <a:rPr lang="pt-BR" dirty="0" smtClean="0"/>
                  <a:t>, que é normalmente</a:t>
                </a:r>
                <a:r>
                  <a:rPr lang="pt-BR" baseline="0" dirty="0" smtClean="0"/>
                  <a:t> chamado de bias</a:t>
                </a:r>
                <a:r>
                  <a:rPr lang="pt-BR" dirty="0" smtClean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 smtClean="0"/>
                  <a:t> 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endParaRPr lang="pt-BR" dirty="0" smtClean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4705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Nós podemos dizer que o perceptron é uma rede neural</a:t>
                </a:r>
                <a:r>
                  <a:rPr lang="pt-BR" baseline="0" dirty="0"/>
                  <a:t> com um único neurônio.</a:t>
                </a:r>
              </a:p>
              <a:p>
                <a:r>
                  <a:rPr lang="pt-BR" dirty="0"/>
                  <a:t>O Perceptron é um modelo computacional mais geral que o neurônio de Mcculloch Pitts.</a:t>
                </a:r>
              </a:p>
              <a:p>
                <a:r>
                  <a:rPr lang="pt-BR" dirty="0"/>
                  <a:t>A principal diferença entre o neurônio de Mcculloch Pitts e o Perceptron é uma introdução de pesos sinápticos</a:t>
                </a:r>
                <a:r>
                  <a:rPr lang="pt-BR" baseline="0" dirty="0"/>
                  <a:t> </a:t>
                </a:r>
                <a:r>
                  <a:rPr lang="pt-BR" dirty="0"/>
                  <a:t>para entradas e um método para aprender os valores desses pesos.</a:t>
                </a:r>
              </a:p>
              <a:p>
                <a:endParaRPr lang="pt-BR" dirty="0"/>
              </a:p>
              <a:p>
                <a:r>
                  <a:rPr lang="pt-BR" dirty="0"/>
                  <a:t>Relembrando como o modelo de M-P é ativado (i.e., disparado):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Reescrevendo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Passando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 para o lado esquerdo da desigualdade,</a:t>
                </a:r>
                <a:r>
                  <a:rPr lang="pt-BR" baseline="0" dirty="0"/>
                  <a:t> tem-se</a:t>
                </a: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/>
                  <a:t>Se considerarmos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b="0" i="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b="0" i="0" dirty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Desta forma, o limiar de ativação é absorvido pelo somatório e podemos usar a</a:t>
                </a:r>
                <a:r>
                  <a:rPr lang="pt-BR" baseline="0" dirty="0"/>
                  <a:t> função de ativação centrada em zero, pois agora, ajusta-se o limiar de ativação indiretamente, através da atualização do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que é normalmente</a:t>
                </a:r>
                <a:r>
                  <a:rPr lang="pt-BR" baseline="0" dirty="0"/>
                  <a:t> chamado de bias</a:t>
                </a:r>
                <a:r>
                  <a:rPr lang="pt-BR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/>
                  <a:t> 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Nós podemos dizer que o perceptron é uma rede neural</a:t>
                </a:r>
                <a:r>
                  <a:rPr lang="pt-BR" baseline="0" dirty="0" smtClean="0"/>
                  <a:t> com um único neurônio.</a:t>
                </a:r>
              </a:p>
              <a:p>
                <a:r>
                  <a:rPr lang="pt-BR" dirty="0" smtClean="0"/>
                  <a:t>O Perceptron é um modelo computacional mais geral que o neurônio de Mcculloch Pitts.</a:t>
                </a:r>
              </a:p>
              <a:p>
                <a:r>
                  <a:rPr lang="pt-BR" dirty="0" smtClean="0"/>
                  <a:t>A principal diferença entre o neurônio de Mcculloch Pitts e o Perceptron é uma introdução de pesos sinápticos</a:t>
                </a:r>
                <a:r>
                  <a:rPr lang="pt-BR" baseline="0" dirty="0" smtClean="0"/>
                  <a:t> </a:t>
                </a:r>
                <a:r>
                  <a:rPr lang="pt-BR" dirty="0" smtClean="0"/>
                  <a:t>para entradas e um método para aprender os valores desses pesos</a:t>
                </a:r>
                <a:r>
                  <a:rPr lang="pt-BR" dirty="0" smtClean="0"/>
                  <a:t>.</a:t>
                </a:r>
              </a:p>
              <a:p>
                <a:endParaRPr lang="pt-BR" dirty="0" smtClean="0"/>
              </a:p>
              <a:p>
                <a:r>
                  <a:rPr lang="pt-BR" dirty="0" smtClean="0"/>
                  <a:t>Relembrando como o modelo de M-P é ativado (i.e., disparado):</a:t>
                </a:r>
              </a:p>
              <a:p>
                <a:pPr/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r>
                  <a:rPr lang="pt-BR" dirty="0" smtClean="0"/>
                  <a:t>Reescrevendo </a:t>
                </a:r>
                <a:r>
                  <a:rPr lang="pt-BR" i="0" smtClean="0">
                    <a:latin typeface="Cambria Math" panose="02040503050406030204" pitchFamily="18" charset="0"/>
                  </a:rPr>
                  <a:t>𝑔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𝑁▒𝑥_𝑖 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𝑤_𝑖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𝑥〗_𝑖 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Passando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dirty="0" smtClean="0"/>
                  <a:t> para o lado esquerdo da desigualdade,</a:t>
                </a:r>
                <a:r>
                  <a:rPr lang="pt-BR" baseline="0" dirty="0" smtClean="0"/>
                  <a:t> tem-se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∑_(𝑖=1)^𝑁▒〖〖𝑤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𝑥〗_𝑖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pt-BR" i="0" dirty="0" smtClean="0"/>
                  <a:t>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" 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 smtClean="0"/>
                  <a:t>Se considerarmos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_0=1</a:t>
                </a:r>
                <a:r>
                  <a:rPr lang="pt-BR" b="0" i="0" dirty="0" smtClean="0"/>
                  <a:t> e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▒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𝑥_𝑖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 "</a:t>
                </a:r>
                <a:r>
                  <a:rPr lang="pt-BR" i="0" dirty="0" smtClean="0"/>
                  <a:t> </a:t>
                </a:r>
                <a:r>
                  <a:rPr lang="pt-BR" i="0" dirty="0" smtClean="0">
                    <a:latin typeface="Cambria Math" panose="02040503050406030204" pitchFamily="18" charset="0"/>
                  </a:rPr>
                  <a:t>"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Desta forma, o limiar de ativação é absorvido pelo somatório e podemos usar a</a:t>
                </a:r>
                <a:r>
                  <a:rPr lang="pt-BR" baseline="0" dirty="0" smtClean="0"/>
                  <a:t> função de ativação centrada em zero, pois agora, ajusta-se o limiar de ativação indiretamente, através da atualização do peso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</a:t>
                </a:r>
                <a:r>
                  <a:rPr lang="pt-BR" dirty="0" smtClean="0"/>
                  <a:t>, que é normalmente</a:t>
                </a:r>
                <a:r>
                  <a:rPr lang="pt-BR" baseline="0" dirty="0" smtClean="0"/>
                  <a:t> chamado de bias</a:t>
                </a:r>
                <a:r>
                  <a:rPr lang="pt-BR" dirty="0" smtClean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 smtClean="0"/>
                  <a:t> 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endParaRPr lang="pt-BR" dirty="0" smtClean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190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Nós podemos dizer que o perceptron é uma rede neural</a:t>
                </a:r>
                <a:r>
                  <a:rPr lang="pt-BR" baseline="0" dirty="0"/>
                  <a:t> com um único neurônio.</a:t>
                </a:r>
              </a:p>
              <a:p>
                <a:r>
                  <a:rPr lang="pt-BR" dirty="0"/>
                  <a:t>O Perceptron é um modelo computacional mais geral que o neurônio de Mcculloch Pitts.</a:t>
                </a:r>
              </a:p>
              <a:p>
                <a:r>
                  <a:rPr lang="pt-BR" dirty="0"/>
                  <a:t>A principal diferença entre o neurônio de Mcculloch Pitts e o Perceptron é uma introdução de pesos sinápticos</a:t>
                </a:r>
                <a:r>
                  <a:rPr lang="pt-BR" baseline="0" dirty="0"/>
                  <a:t> </a:t>
                </a:r>
                <a:r>
                  <a:rPr lang="pt-BR" dirty="0"/>
                  <a:t>para entradas e um método para aprender os valores desses pesos.</a:t>
                </a:r>
              </a:p>
              <a:p>
                <a:endParaRPr lang="pt-BR" dirty="0"/>
              </a:p>
              <a:p>
                <a:r>
                  <a:rPr lang="pt-BR" dirty="0"/>
                  <a:t>Relembrando como o modelo de M-P é ativado (i.e., disparado):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Reescrevendo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Passando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 para o lado esquerdo da desigualdade,</a:t>
                </a:r>
                <a:r>
                  <a:rPr lang="pt-BR" baseline="0" dirty="0"/>
                  <a:t> tem-se</a:t>
                </a: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/>
                  <a:t>Se considerarmos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b="0" i="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b="0" i="0" dirty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1, 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pt-BR" i="0" dirty="0" smtClean="0"/>
                            <m:t> </m:t>
                          </m:r>
                        </m:e>
                      </m:nary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pt-BR" b="0" i="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Desta forma, o limiar de ativação é absorvido pelo somatório e podemos usar a</a:t>
                </a:r>
                <a:r>
                  <a:rPr lang="pt-BR" baseline="0" dirty="0"/>
                  <a:t> função de ativação centrada em zero, pois agora, ajusta-se o limiar de ativação indiretamente, através da atualização do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que é normalmente</a:t>
                </a:r>
                <a:r>
                  <a:rPr lang="pt-BR" baseline="0" dirty="0"/>
                  <a:t> chamado de bias</a:t>
                </a:r>
                <a:r>
                  <a:rPr lang="pt-BR" dirty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/>
                  <a:t> </a:t>
                </a:r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Nós podemos dizer que o perceptron é uma rede neural</a:t>
                </a:r>
                <a:r>
                  <a:rPr lang="pt-BR" baseline="0" dirty="0" smtClean="0"/>
                  <a:t> com um único neurônio.</a:t>
                </a:r>
              </a:p>
              <a:p>
                <a:r>
                  <a:rPr lang="pt-BR" dirty="0" smtClean="0"/>
                  <a:t>O Perceptron é um modelo computacional mais geral que o neurônio de Mcculloch Pitts.</a:t>
                </a:r>
              </a:p>
              <a:p>
                <a:r>
                  <a:rPr lang="pt-BR" dirty="0" smtClean="0"/>
                  <a:t>A principal diferença entre o neurônio de Mcculloch Pitts e o Perceptron é uma introdução de pesos sinápticos</a:t>
                </a:r>
                <a:r>
                  <a:rPr lang="pt-BR" baseline="0" dirty="0" smtClean="0"/>
                  <a:t> </a:t>
                </a:r>
                <a:r>
                  <a:rPr lang="pt-BR" dirty="0" smtClean="0"/>
                  <a:t>para entradas e um método para aprender os valores desses pesos</a:t>
                </a:r>
                <a:r>
                  <a:rPr lang="pt-BR" dirty="0" smtClean="0"/>
                  <a:t>.</a:t>
                </a:r>
              </a:p>
              <a:p>
                <a:endParaRPr lang="pt-BR" dirty="0" smtClean="0"/>
              </a:p>
              <a:p>
                <a:r>
                  <a:rPr lang="pt-BR" dirty="0" smtClean="0"/>
                  <a:t>Relembrando como o modelo de M-P é ativado (i.e., disparado):</a:t>
                </a:r>
              </a:p>
              <a:p>
                <a:pPr/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r>
                  <a:rPr lang="pt-BR" dirty="0" smtClean="0"/>
                  <a:t>Reescrevendo </a:t>
                </a:r>
                <a:r>
                  <a:rPr lang="pt-BR" i="0" smtClean="0">
                    <a:latin typeface="Cambria Math" panose="02040503050406030204" pitchFamily="18" charset="0"/>
                  </a:rPr>
                  <a:t>𝑔</a:t>
                </a:r>
                <a:r>
                  <a:rPr lang="pt-BR" i="0">
                    <a:latin typeface="Cambria Math" panose="02040503050406030204" pitchFamily="18" charset="0"/>
                  </a:rPr>
                  <a:t>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𝑁▒𝑥_𝑖 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𝑖=1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𝑁▒〖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𝑤_𝑖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𝑥〗_𝑖 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Passando 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dirty="0" smtClean="0"/>
                  <a:t> para o lado esquerdo da desigualdade,</a:t>
                </a:r>
                <a:r>
                  <a:rPr lang="pt-BR" baseline="0" dirty="0" smtClean="0"/>
                  <a:t> tem-se</a:t>
                </a: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∑_(𝑖=1)^𝑁▒〖〖𝑤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𝑥〗_𝑖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pt-BR" i="0" dirty="0" smtClean="0"/>
                  <a:t>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" 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dirty="0" smtClean="0"/>
                  <a:t>Se considerarmos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𝑥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_0=1</a:t>
                </a:r>
                <a:r>
                  <a:rPr lang="pt-BR" b="0" i="0" dirty="0" smtClean="0"/>
                  <a:t> e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_0=−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pt-BR" b="0" i="0" dirty="0" smtClean="0"/>
                  <a:t>, etão podemos reescrever a equação acima como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𝑦=</a:t>
                </a:r>
                <a:r>
                  <a:rPr lang="pt-BR" i="0">
                    <a:latin typeface="Cambria Math" panose="02040503050406030204" pitchFamily="18" charset="0"/>
                  </a:rPr>
                  <a:t>𝑓(𝑔(</a:t>
                </a:r>
                <a:r>
                  <a:rPr lang="pt-BR" b="1" i="0">
                    <a:latin typeface="Cambria Math" panose="02040503050406030204" pitchFamily="18" charset="0"/>
                  </a:rPr>
                  <a:t>𝒙))</a:t>
                </a:r>
                <a:r>
                  <a:rPr lang="pt-BR" b="0" i="0" smtClean="0">
                    <a:latin typeface="Cambria Math" panose="02040503050406030204" pitchFamily="18" charset="0"/>
                  </a:rPr>
                  <a:t>=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1, se </a:t>
                </a:r>
                <a:r>
                  <a:rPr lang="pt-BR" i="0">
                    <a:latin typeface="Cambria Math" panose="02040503050406030204" pitchFamily="18" charset="0"/>
                  </a:rPr>
                  <a:t>𝑔(</a:t>
                </a:r>
                <a:r>
                  <a:rPr lang="pt-BR" b="1" i="0">
                    <a:latin typeface="Cambria Math" panose="02040503050406030204" pitchFamily="18" charset="0"/>
                  </a:rPr>
                  <a:t>𝒙)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∑_(𝑖=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0)^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𝑁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▒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〖𝑤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𝑖 𝑥_𝑖</a:t>
                </a:r>
                <a:r>
                  <a:rPr lang="pt-BR" sz="1200" b="0" i="0" dirty="0" smtClean="0">
                    <a:latin typeface="Cambria Math" panose="02040503050406030204" pitchFamily="18" charset="0"/>
                  </a:rPr>
                  <a:t> "</a:t>
                </a:r>
                <a:r>
                  <a:rPr lang="pt-BR" i="0" dirty="0" smtClean="0"/>
                  <a:t> </a:t>
                </a:r>
                <a:r>
                  <a:rPr lang="pt-BR" i="0" dirty="0" smtClean="0">
                    <a:latin typeface="Cambria Math" panose="02040503050406030204" pitchFamily="18" charset="0"/>
                  </a:rPr>
                  <a:t>"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〗</a:t>
                </a:r>
                <a:r>
                  <a:rPr lang="pt-BR" b="1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pt-BR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pt-BR" b="0" i="0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Desta forma, o limiar de ativação é absorvido pelo somatório e podemos usar a</a:t>
                </a:r>
                <a:r>
                  <a:rPr lang="pt-BR" baseline="0" dirty="0" smtClean="0"/>
                  <a:t> função de ativação centrada em zero, pois agora, ajusta-se o limiar de ativação indiretamente, através da atualização do peso 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𝑤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_</a:t>
                </a:r>
                <a:r>
                  <a:rPr lang="pt-BR" sz="1200" b="0" i="0" smtClean="0">
                    <a:latin typeface="Cambria Math" panose="02040503050406030204" pitchFamily="18" charset="0"/>
                  </a:rPr>
                  <a:t>0</a:t>
                </a:r>
                <a:r>
                  <a:rPr lang="pt-BR" dirty="0" smtClean="0"/>
                  <a:t>, que é normalmente</a:t>
                </a:r>
                <a:r>
                  <a:rPr lang="pt-BR" baseline="0" dirty="0" smtClean="0"/>
                  <a:t> chamado de bias</a:t>
                </a:r>
                <a:r>
                  <a:rPr lang="pt-BR" dirty="0" smtClean="0"/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pt-BR" dirty="0" smtClean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dirty="0" smtClean="0"/>
                  <a:t>A partir da equação acima, deve ficar claro que mesmo um Perceptron separa o espaço de entrada em duas metades. Todas as entradas que produzem 1 ficam em um lado e todas as entradas que produzem 0 ficam em outro lado.</a:t>
                </a:r>
                <a:r>
                  <a:rPr lang="pt-BR" baseline="0" dirty="0" smtClean="0"/>
                  <a:t> </a:t>
                </a:r>
                <a:endParaRPr lang="pt-BR" dirty="0" smtClean="0"/>
              </a:p>
              <a:p>
                <a:pPr/>
                <a:endParaRPr lang="pt-BR" dirty="0" smtClean="0"/>
              </a:p>
              <a:p>
                <a:pPr/>
                <a:endParaRPr lang="pt-BR" dirty="0" smtClean="0"/>
              </a:p>
              <a:p>
                <a:endParaRPr lang="pt-BR" dirty="0" smtClean="0"/>
              </a:p>
              <a:p>
                <a:endParaRPr lang="pt-BR" dirty="0" smtClean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1009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6492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3636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137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Perceba que a </a:t>
                </a:r>
                <a:r>
                  <a:rPr lang="pt-BR" b="1" i="1" dirty="0"/>
                  <a:t>equação de adaptação dos</a:t>
                </a:r>
                <a:r>
                  <a:rPr lang="pt-BR" dirty="0"/>
                  <a:t> </a:t>
                </a:r>
                <a:r>
                  <a:rPr lang="pt-BR" b="1" i="1" dirty="0"/>
                  <a:t>pesos sinápticos </a:t>
                </a:r>
                <a:r>
                  <a:rPr lang="pt-BR" b="0" i="0" dirty="0"/>
                  <a:t>é idêntica à equação de atualização que encontramos para regressores lineares.</a:t>
                </a:r>
              </a:p>
              <a:p>
                <a:endParaRPr lang="pt-BR" b="0" i="0" dirty="0"/>
              </a:p>
              <a:p>
                <a:r>
                  <a:rPr lang="pt-BR" b="0" i="0" dirty="0"/>
                  <a:t>Como ambos, o rótulo d e o valor de saída do perceptron y, assumes</a:t>
                </a:r>
                <a:r>
                  <a:rPr lang="pt-BR" b="0" i="0" baseline="0" dirty="0"/>
                  <a:t> apenas 2 valores, 0 ou 1, existem apenas 3 possibilidades para a equação de atualização dos pesos: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a saída for correta, i.e.,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b="0" i="0" baseline="0" dirty="0"/>
                  <a:t>=y, então os pesos não são atualizados.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b="0" i="0" baseline="0" dirty="0"/>
                  <a:t>= 1 mas y = 0, então o valor do peso é aumentado caso a entrada correspondente, xi, seja positiva e diminuído caso xi seja negativo. Isso faz sentido pois nós queremos que o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aumente tal</a:t>
                </a:r>
                <a:r>
                  <a:rPr lang="pt-BR" baseline="0" dirty="0"/>
                  <a:t> que y se torne 1.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pt-BR" b="0" i="0" baseline="0" dirty="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b="0" i="0" baseline="0" dirty="0"/>
                  <a:t> = 0 mas y = 1, então o valor do peso é diminuido caso a entrada correspondente, xi, seja positiva e aumentado caso xi seja negativo. Isso faz sentido pois nós queremos que o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diminua tal</a:t>
                </a:r>
                <a:r>
                  <a:rPr lang="pt-BR" baseline="0" dirty="0"/>
                  <a:t> que y se torne 0.</a:t>
                </a:r>
              </a:p>
              <a:p>
                <a:pPr marL="457200" lvl="1" indent="0">
                  <a:buFont typeface="+mj-lt"/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Perceba que a </a:t>
                </a:r>
                <a:r>
                  <a:rPr lang="pt-BR" b="1" i="1" dirty="0"/>
                  <a:t>equação de adaptação dos</a:t>
                </a:r>
                <a:r>
                  <a:rPr lang="pt-BR" dirty="0"/>
                  <a:t> </a:t>
                </a:r>
                <a:r>
                  <a:rPr lang="pt-BR" b="1" i="1" dirty="0"/>
                  <a:t>pesos sinápticos </a:t>
                </a:r>
                <a:r>
                  <a:rPr lang="pt-BR" b="0" i="0" dirty="0"/>
                  <a:t>é idêntica à equação de atualização que encontramos para regressores lineares.</a:t>
                </a:r>
              </a:p>
              <a:p>
                <a:endParaRPr lang="pt-BR" b="0" i="0" dirty="0"/>
              </a:p>
              <a:p>
                <a:r>
                  <a:rPr lang="pt-BR" b="0" i="0" dirty="0"/>
                  <a:t>Como ambos, o rótulo d e o valor de saída do perceptron y, assumes</a:t>
                </a:r>
                <a:r>
                  <a:rPr lang="pt-BR" b="0" i="0" baseline="0" dirty="0"/>
                  <a:t> apenas 2 valores, 0 ou 1, existem apenas 3 possibilidades para a equação de atualização dos pesos: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a saída for correta, i.e., d=y, então os pesos não são atualizados.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d = 1 mas y=0, então o valor do peso é aumentado caso a entrada correspondente, xi, seja positiva e diminuído caso xi seja negativo. Isso faz sentido pois nós queremos que o valor de </a:t>
                </a:r>
                <a:r>
                  <a:rPr lang="pt-BR" b="1" i="0">
                    <a:latin typeface="Cambria Math" panose="02040503050406030204" pitchFamily="18" charset="0"/>
                  </a:rPr>
                  <a:t>𝒘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^</a:t>
                </a:r>
                <a:r>
                  <a:rPr lang="pt-BR" i="0">
                    <a:latin typeface="Cambria Math" panose="02040503050406030204" pitchFamily="18" charset="0"/>
                  </a:rPr>
                  <a:t>𝑇</a:t>
                </a:r>
                <a:r>
                  <a:rPr lang="pt-BR" b="1" i="0">
                    <a:latin typeface="Cambria Math" panose="02040503050406030204" pitchFamily="18" charset="0"/>
                  </a:rPr>
                  <a:t> 𝒙</a:t>
                </a:r>
                <a:r>
                  <a:rPr lang="pt-BR" dirty="0"/>
                  <a:t> aumente tal</a:t>
                </a:r>
                <a:r>
                  <a:rPr lang="pt-BR" baseline="0" dirty="0"/>
                  <a:t> que y se torne 1.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pt-BR" b="0" i="0" baseline="0" dirty="0"/>
                  <a:t>Se d = 0 mas y=1, então o valor do peso é diminuido caso a entrada correspondente, xi, seja positiva e aumentado caso xi seja negativo. Isso faz sentido pois nós queremos que o valor de </a:t>
                </a:r>
                <a:r>
                  <a:rPr lang="pt-BR" b="1" i="0">
                    <a:latin typeface="Cambria Math" panose="02040503050406030204" pitchFamily="18" charset="0"/>
                  </a:rPr>
                  <a:t>𝒘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^</a:t>
                </a:r>
                <a:r>
                  <a:rPr lang="pt-BR" i="0">
                    <a:latin typeface="Cambria Math" panose="02040503050406030204" pitchFamily="18" charset="0"/>
                  </a:rPr>
                  <a:t>𝑇</a:t>
                </a:r>
                <a:r>
                  <a:rPr lang="pt-BR" b="1" i="0">
                    <a:latin typeface="Cambria Math" panose="02040503050406030204" pitchFamily="18" charset="0"/>
                  </a:rPr>
                  <a:t> 𝒙</a:t>
                </a:r>
                <a:r>
                  <a:rPr lang="pt-BR" dirty="0"/>
                  <a:t> diminua tal</a:t>
                </a:r>
                <a:r>
                  <a:rPr lang="pt-BR" baseline="0" dirty="0"/>
                  <a:t> que y se torne 0.</a:t>
                </a:r>
              </a:p>
              <a:p>
                <a:pPr marL="457200" lvl="1" indent="0">
                  <a:buFont typeface="+mj-lt"/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2480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Perceba que a </a:t>
                </a:r>
                <a:r>
                  <a:rPr lang="pt-BR" b="1" i="1" dirty="0"/>
                  <a:t>equação de adaptação dos</a:t>
                </a:r>
                <a:r>
                  <a:rPr lang="pt-BR" dirty="0"/>
                  <a:t> </a:t>
                </a:r>
                <a:r>
                  <a:rPr lang="pt-BR" b="1" i="1" dirty="0"/>
                  <a:t>pesos sinápticos </a:t>
                </a:r>
                <a:r>
                  <a:rPr lang="pt-BR" b="0" i="0" dirty="0"/>
                  <a:t>é idêntica à equação de atualização que encontramos para regressores lineares.</a:t>
                </a:r>
              </a:p>
              <a:p>
                <a:endParaRPr lang="pt-BR" b="0" i="0" dirty="0"/>
              </a:p>
              <a:p>
                <a:r>
                  <a:rPr lang="pt-BR" b="0" i="0" dirty="0"/>
                  <a:t>Como ambos, o rótulo d e o valor de saída do perceptron y, assumes</a:t>
                </a:r>
                <a:r>
                  <a:rPr lang="pt-BR" b="0" i="0" baseline="0" dirty="0"/>
                  <a:t> apenas 2 valores, 0 ou 1, existem apenas 3 possibilidades para a equação de atualização dos pesos: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a saída for correta, i.e.,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b="0" i="0" baseline="0" dirty="0"/>
                  <a:t>=y, então os pesos não são atualizados.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b="0" i="0" baseline="0" dirty="0"/>
                  <a:t>= 1 mas y = 0, então o valor do peso é aumentado caso a entrada correspondente, xi, seja positiva e diminuído caso xi seja negativo. Isso faz sentido pois nós queremos que o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aumente tal</a:t>
                </a:r>
                <a:r>
                  <a:rPr lang="pt-BR" baseline="0" dirty="0"/>
                  <a:t> que y se torne 1.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pt-BR" b="0" i="0" baseline="0" dirty="0"/>
                  <a:t>Se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b="0" i="0" baseline="0" dirty="0"/>
                  <a:t> = 0 mas y = 1, então o valor do peso é diminuido caso a entrada correspondente, xi, seja positiva e aumentado caso xi seja negativo. Isso faz sentido pois nós queremos que o valor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diminua tal</a:t>
                </a:r>
                <a:r>
                  <a:rPr lang="pt-BR" baseline="0" dirty="0"/>
                  <a:t> que y se torne 0.</a:t>
                </a:r>
              </a:p>
              <a:p>
                <a:pPr marL="457200" lvl="1" indent="0">
                  <a:buFont typeface="+mj-lt"/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Perceba que a </a:t>
                </a:r>
                <a:r>
                  <a:rPr lang="pt-BR" b="1" i="1" dirty="0"/>
                  <a:t>equação de adaptação dos</a:t>
                </a:r>
                <a:r>
                  <a:rPr lang="pt-BR" dirty="0"/>
                  <a:t> </a:t>
                </a:r>
                <a:r>
                  <a:rPr lang="pt-BR" b="1" i="1" dirty="0"/>
                  <a:t>pesos sinápticos </a:t>
                </a:r>
                <a:r>
                  <a:rPr lang="pt-BR" b="0" i="0" dirty="0"/>
                  <a:t>é idêntica à equação de atualização que encontramos para regressores lineares.</a:t>
                </a:r>
              </a:p>
              <a:p>
                <a:endParaRPr lang="pt-BR" b="0" i="0" dirty="0"/>
              </a:p>
              <a:p>
                <a:r>
                  <a:rPr lang="pt-BR" b="0" i="0" dirty="0"/>
                  <a:t>Como ambos, o rótulo d e o valor de saída do perceptron y, assumes</a:t>
                </a:r>
                <a:r>
                  <a:rPr lang="pt-BR" b="0" i="0" baseline="0" dirty="0"/>
                  <a:t> apenas 2 valores, 0 ou 1, existem apenas 3 possibilidades para a equação de atualização dos pesos: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a saída for correta, i.e., d=y, então os pesos não são atualizados.</a:t>
                </a:r>
              </a:p>
              <a:p>
                <a:pPr marL="685800" lvl="1" indent="-228600">
                  <a:buFont typeface="+mj-lt"/>
                  <a:buAutoNum type="arabicPeriod"/>
                </a:pPr>
                <a:r>
                  <a:rPr lang="pt-BR" b="0" i="0" baseline="0" dirty="0"/>
                  <a:t>Se d = 1 mas y=0, então o valor do peso é aumentado caso a entrada correspondente, xi, seja positiva e diminuído caso xi seja negativo. Isso faz sentido pois nós queremos que o valor de </a:t>
                </a:r>
                <a:r>
                  <a:rPr lang="pt-BR" b="1" i="0">
                    <a:latin typeface="Cambria Math" panose="02040503050406030204" pitchFamily="18" charset="0"/>
                  </a:rPr>
                  <a:t>𝒘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^</a:t>
                </a:r>
                <a:r>
                  <a:rPr lang="pt-BR" i="0">
                    <a:latin typeface="Cambria Math" panose="02040503050406030204" pitchFamily="18" charset="0"/>
                  </a:rPr>
                  <a:t>𝑇</a:t>
                </a:r>
                <a:r>
                  <a:rPr lang="pt-BR" b="1" i="0">
                    <a:latin typeface="Cambria Math" panose="02040503050406030204" pitchFamily="18" charset="0"/>
                  </a:rPr>
                  <a:t> 𝒙</a:t>
                </a:r>
                <a:r>
                  <a:rPr lang="pt-BR" dirty="0"/>
                  <a:t> aumente tal</a:t>
                </a:r>
                <a:r>
                  <a:rPr lang="pt-BR" baseline="0" dirty="0"/>
                  <a:t> que y se torne 1.</a:t>
                </a:r>
              </a:p>
              <a:p>
                <a:pPr marL="685800" marR="0" lvl="1" indent="-2286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lang="pt-BR" b="0" i="0" baseline="0" dirty="0"/>
                  <a:t>Se d = 0 mas y=1, então o valor do peso é diminuido caso a entrada correspondente, xi, seja positiva e aumentado caso xi seja negativo. Isso faz sentido pois nós queremos que o valor de </a:t>
                </a:r>
                <a:r>
                  <a:rPr lang="pt-BR" b="1" i="0">
                    <a:latin typeface="Cambria Math" panose="02040503050406030204" pitchFamily="18" charset="0"/>
                  </a:rPr>
                  <a:t>𝒘</a:t>
                </a:r>
                <a:r>
                  <a:rPr lang="pt-BR" b="1" i="0" smtClean="0">
                    <a:latin typeface="Cambria Math" panose="02040503050406030204" pitchFamily="18" charset="0"/>
                  </a:rPr>
                  <a:t>^</a:t>
                </a:r>
                <a:r>
                  <a:rPr lang="pt-BR" i="0">
                    <a:latin typeface="Cambria Math" panose="02040503050406030204" pitchFamily="18" charset="0"/>
                  </a:rPr>
                  <a:t>𝑇</a:t>
                </a:r>
                <a:r>
                  <a:rPr lang="pt-BR" b="1" i="0">
                    <a:latin typeface="Cambria Math" panose="02040503050406030204" pitchFamily="18" charset="0"/>
                  </a:rPr>
                  <a:t> 𝒙</a:t>
                </a:r>
                <a:r>
                  <a:rPr lang="pt-BR" dirty="0"/>
                  <a:t> diminua tal</a:t>
                </a:r>
                <a:r>
                  <a:rPr lang="pt-BR" baseline="0" dirty="0"/>
                  <a:t> que y se torne 0.</a:t>
                </a:r>
              </a:p>
              <a:p>
                <a:pPr marL="457200" lvl="1" indent="0">
                  <a:buFont typeface="+mj-lt"/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5676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que um </a:t>
            </a:r>
            <a:r>
              <a:rPr lang="pt-BR" b="1" i="1" dirty="0"/>
              <a:t>classificador linear </a:t>
            </a:r>
            <a:r>
              <a:rPr lang="pt-BR" dirty="0"/>
              <a:t>funcione corretamente, as duas classes devem ser </a:t>
            </a:r>
            <a:r>
              <a:rPr lang="pt-BR" b="1" i="1" dirty="0"/>
              <a:t>linearmente separáveis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Isso significa que as classes devem ser </a:t>
            </a:r>
            <a:r>
              <a:rPr lang="pt-BR" b="1" i="1" dirty="0"/>
              <a:t>suficientemente separadas </a:t>
            </a:r>
            <a:r>
              <a:rPr lang="pt-BR" dirty="0"/>
              <a:t>umas das outras para garantir que a </a:t>
            </a:r>
            <a:r>
              <a:rPr lang="pt-BR" b="1" i="1" dirty="0"/>
              <a:t>superfície de decisão </a:t>
            </a:r>
            <a:r>
              <a:rPr lang="pt-BR" dirty="0"/>
              <a:t>consista de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307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AE61-799F-7291-5261-763AFD665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87529-57EE-4B90-2865-9BFE3DA14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A8F49-ECB2-8356-8B4A-4515F5DDD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que um </a:t>
            </a:r>
            <a:r>
              <a:rPr lang="pt-BR" b="1" i="1" dirty="0"/>
              <a:t>classificador linear </a:t>
            </a:r>
            <a:r>
              <a:rPr lang="pt-BR" dirty="0"/>
              <a:t>funcione corretamente, as duas classes devem ser </a:t>
            </a:r>
            <a:r>
              <a:rPr lang="pt-BR" b="1" i="1" dirty="0"/>
              <a:t>linearmente separáveis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Isso significa que as classes devem ser </a:t>
            </a:r>
            <a:r>
              <a:rPr lang="pt-BR" b="1" i="1" dirty="0"/>
              <a:t>suficientemente separadas </a:t>
            </a:r>
            <a:r>
              <a:rPr lang="pt-BR" dirty="0"/>
              <a:t>umas das outras para garantir que a </a:t>
            </a:r>
            <a:r>
              <a:rPr lang="pt-BR" b="1" i="1" dirty="0"/>
              <a:t>superfície de decisão </a:t>
            </a:r>
            <a:r>
              <a:rPr lang="pt-BR" dirty="0"/>
              <a:t>consista de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AF9DA-A4D5-62E2-7AB1-7816FD4815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6078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que um </a:t>
            </a:r>
            <a:r>
              <a:rPr lang="pt-BR" b="1" i="1" dirty="0"/>
              <a:t>classificador linear </a:t>
            </a:r>
            <a:r>
              <a:rPr lang="pt-BR" dirty="0"/>
              <a:t>funcione corretamente, as duas classes devem ser </a:t>
            </a:r>
            <a:r>
              <a:rPr lang="pt-BR" b="1" i="1" dirty="0"/>
              <a:t>linearmente separáveis</a:t>
            </a:r>
            <a:r>
              <a:rPr lang="pt-BR" dirty="0"/>
              <a:t>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Isso significa que as classes devem ser </a:t>
            </a:r>
            <a:r>
              <a:rPr lang="pt-BR" b="1" i="1" dirty="0"/>
              <a:t>suficientemente separadas </a:t>
            </a:r>
            <a:r>
              <a:rPr lang="pt-BR" dirty="0"/>
              <a:t>umas das outras para garantir que a </a:t>
            </a:r>
            <a:r>
              <a:rPr lang="pt-BR" b="1" i="1" dirty="0"/>
              <a:t>superfície de decisão </a:t>
            </a:r>
            <a:r>
              <a:rPr lang="pt-BR" dirty="0"/>
              <a:t>consista de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Existem várias</a:t>
            </a:r>
            <a:r>
              <a:rPr lang="pt-BR" baseline="0" dirty="0"/>
              <a:t> outras funções de ativação: </a:t>
            </a:r>
            <a:r>
              <a:rPr lang="pt-BR" dirty="0">
                <a:hlinkClick r:id="rId3"/>
              </a:rPr>
              <a:t>https://en.wikipedia.org/wiki/Activation_function</a:t>
            </a:r>
            <a:endParaRPr lang="pt-BR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525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Exemplo:</a:t>
            </a:r>
            <a:r>
              <a:rPr lang="pt-BR" baseline="0" dirty="0"/>
              <a:t> </a:t>
            </a:r>
            <a:r>
              <a:rPr lang="pt-BR" dirty="0"/>
              <a:t>https://colab.research.google.com/github/zz4fap/t320_aprendizado_de_maquina/blob/main/notebooks/perceptron/perceptron_xor_problem.ipynb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4900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Exemplo:</a:t>
            </a:r>
            <a:r>
              <a:rPr lang="pt-BR" baseline="0" dirty="0"/>
              <a:t> </a:t>
            </a:r>
            <a:r>
              <a:rPr lang="pt-BR" dirty="0"/>
              <a:t>https://colab.research.google.com/github/zz4fap/t320_aprendizado_de_maquina/blob/main/notebooks/perceptron/perceptron_xor_problem.ipynb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09670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Laboratório #6:</a:t>
            </a:r>
            <a:r>
              <a:rPr lang="pt-BR" sz="1200" dirty="0"/>
              <a:t> https://mybinder.org/v2/gh/zz4fap/t320_aprendizado_de_maquina/main?filepath=labs%2FLaboratorio6.ipynb</a:t>
            </a:r>
          </a:p>
          <a:p>
            <a:endParaRPr lang="pt-BR" sz="1200" dirty="0"/>
          </a:p>
          <a:p>
            <a:r>
              <a:rPr lang="pt-BR" sz="1200" b="1" dirty="0"/>
              <a:t>Laboratório #6:</a:t>
            </a:r>
            <a:r>
              <a:rPr lang="pt-BR" sz="1200" dirty="0"/>
              <a:t> https://colab.research.google.com/github/zz4fap/t320_aprendizado_de_maquina/blob/main/labs/Laboratorio6.ipynb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84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14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2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6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96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4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5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6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9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8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464-8C8A-49C0-859F-777E51766A35}" type="datetimeFigureOut">
              <a:rPr lang="pt-BR" smtClean="0"/>
              <a:t>03/10/2026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3" Type="http://schemas.openxmlformats.org/officeDocument/2006/relationships/image" Target="../media/image192.png"/><Relationship Id="rId34" Type="http://schemas.openxmlformats.org/officeDocument/2006/relationships/image" Target="../media/image29.png"/><Relationship Id="rId7" Type="http://schemas.openxmlformats.org/officeDocument/2006/relationships/image" Target="../media/image171.png"/><Relationship Id="rId12" Type="http://schemas.openxmlformats.org/officeDocument/2006/relationships/image" Target="../media/image20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6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37" Type="http://schemas.openxmlformats.org/officeDocument/2006/relationships/image" Target="../media/image30.png"/><Relationship Id="rId5" Type="http://schemas.openxmlformats.org/officeDocument/2006/relationships/image" Target="../media/image150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10" Type="http://schemas.openxmlformats.org/officeDocument/2006/relationships/image" Target="../media/image201.png"/><Relationship Id="rId31" Type="http://schemas.openxmlformats.org/officeDocument/2006/relationships/image" Target="../media/image41.png"/><Relationship Id="rId4" Type="http://schemas.openxmlformats.org/officeDocument/2006/relationships/image" Target="../media/image172.png"/><Relationship Id="rId9" Type="http://schemas.openxmlformats.org/officeDocument/2006/relationships/image" Target="../media/image191.png"/><Relationship Id="rId14" Type="http://schemas.openxmlformats.org/officeDocument/2006/relationships/image" Target="../media/image24.png"/><Relationship Id="rId27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32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1.png"/><Relationship Id="rId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40.png"/><Relationship Id="rId9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5.png"/><Relationship Id="rId7" Type="http://schemas.openxmlformats.org/officeDocument/2006/relationships/image" Target="../media/image5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0" Type="http://schemas.openxmlformats.org/officeDocument/2006/relationships/image" Target="../media/image22.png"/><Relationship Id="rId4" Type="http://schemas.openxmlformats.org/officeDocument/2006/relationships/image" Target="../media/image570.png"/><Relationship Id="rId9" Type="http://schemas.openxmlformats.org/officeDocument/2006/relationships/image" Target="../media/image19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8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9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0" Type="http://schemas.openxmlformats.org/officeDocument/2006/relationships/image" Target="../media/image60.png"/><Relationship Id="rId9" Type="http://schemas.openxmlformats.org/officeDocument/2006/relationships/image" Target="../media/image19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6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1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9" Type="http://schemas.openxmlformats.org/officeDocument/2006/relationships/image" Target="../media/image19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1.png"/><Relationship Id="rId4" Type="http://schemas.openxmlformats.org/officeDocument/2006/relationships/image" Target="../media/image6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2.png"/><Relationship Id="rId4" Type="http://schemas.openxmlformats.org/officeDocument/2006/relationships/image" Target="../media/image6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notebooks/perceptron/perceptron_xor_problem.ipynb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320_aprendizado_de_maquina/blob/main/labs/Laboratorio6.ipynb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zz4fap/t320_aprendizado_de_maquina/blob/main/docs/Resolu%C3%A7%C3%A3o%20e%20entrega%20dos%20laborat%C3%B3rios.pdf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6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13" Type="http://schemas.openxmlformats.org/officeDocument/2006/relationships/image" Target="../media/image690.png"/><Relationship Id="rId18" Type="http://schemas.openxmlformats.org/officeDocument/2006/relationships/image" Target="../media/image730.png"/><Relationship Id="rId26" Type="http://schemas.openxmlformats.org/officeDocument/2006/relationships/image" Target="../media/image77.png"/><Relationship Id="rId3" Type="http://schemas.openxmlformats.org/officeDocument/2006/relationships/image" Target="../media/image300.png"/><Relationship Id="rId21" Type="http://schemas.openxmlformats.org/officeDocument/2006/relationships/image" Target="../media/image75.png"/><Relationship Id="rId7" Type="http://schemas.openxmlformats.org/officeDocument/2006/relationships/image" Target="../media/image640.png"/><Relationship Id="rId12" Type="http://schemas.openxmlformats.org/officeDocument/2006/relationships/image" Target="../media/image23.png"/><Relationship Id="rId17" Type="http://schemas.openxmlformats.org/officeDocument/2006/relationships/image" Target="../media/image720.png"/><Relationship Id="rId25" Type="http://schemas.openxmlformats.org/officeDocument/2006/relationships/image" Target="../media/image450.png"/><Relationship Id="rId2" Type="http://schemas.openxmlformats.org/officeDocument/2006/relationships/image" Target="../media/image290.png"/><Relationship Id="rId16" Type="http://schemas.openxmlformats.org/officeDocument/2006/relationships/image" Target="../media/image71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0.png"/><Relationship Id="rId11" Type="http://schemas.openxmlformats.org/officeDocument/2006/relationships/image" Target="../media/image680.png"/><Relationship Id="rId24" Type="http://schemas.openxmlformats.org/officeDocument/2006/relationships/image" Target="../media/image440.png"/><Relationship Id="rId5" Type="http://schemas.openxmlformats.org/officeDocument/2006/relationships/image" Target="../media/image320.png"/><Relationship Id="rId15" Type="http://schemas.openxmlformats.org/officeDocument/2006/relationships/image" Target="../media/image191.png"/><Relationship Id="rId23" Type="http://schemas.openxmlformats.org/officeDocument/2006/relationships/image" Target="../media/image76.png"/><Relationship Id="rId10" Type="http://schemas.openxmlformats.org/officeDocument/2006/relationships/image" Target="../media/image670.png"/><Relationship Id="rId19" Type="http://schemas.openxmlformats.org/officeDocument/2006/relationships/image" Target="../media/image37.png"/><Relationship Id="rId4" Type="http://schemas.openxmlformats.org/officeDocument/2006/relationships/image" Target="../media/image310.png"/><Relationship Id="rId9" Type="http://schemas.openxmlformats.org/officeDocument/2006/relationships/image" Target="../media/image660.png"/><Relationship Id="rId14" Type="http://schemas.openxmlformats.org/officeDocument/2006/relationships/image" Target="../media/image700.png"/><Relationship Id="rId22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11.png"/><Relationship Id="rId7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11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280.png"/><Relationship Id="rId4" Type="http://schemas.openxmlformats.org/officeDocument/2006/relationships/image" Target="../media/image78.png"/><Relationship Id="rId9" Type="http://schemas.openxmlformats.org/officeDocument/2006/relationships/image" Target="../media/image27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190.png"/><Relationship Id="rId9" Type="http://schemas.openxmlformats.org/officeDocument/2006/relationships/image" Target="../media/image24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23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6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3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0.png"/><Relationship Id="rId7" Type="http://schemas.openxmlformats.org/officeDocument/2006/relationships/image" Target="../media/image105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0.png"/><Relationship Id="rId4" Type="http://schemas.openxmlformats.org/officeDocument/2006/relationships/image" Target="../media/image102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0.png"/><Relationship Id="rId7" Type="http://schemas.openxmlformats.org/officeDocument/2006/relationships/image" Target="../media/image105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T320 - Introdução ao Aprendizado de Máquina II:</a:t>
            </a:r>
            <a:br>
              <a:rPr lang="pt-BR" dirty="0"/>
            </a:br>
            <a:r>
              <a:rPr lang="pt-BR" b="1" i="1" dirty="0"/>
              <a:t>Redes Neurais Artificiais (Parte 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7602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04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080532" cy="5032376"/>
          </a:xfrm>
        </p:spPr>
        <p:txBody>
          <a:bodyPr>
            <a:normAutofit/>
          </a:bodyPr>
          <a:lstStyle/>
          <a:p>
            <a:r>
              <a:rPr lang="pt-BR" dirty="0"/>
              <a:t>A partir desta aula, entenderemos como as ideias que discutimos até agora serão úteis na construção de </a:t>
            </a:r>
            <a:r>
              <a:rPr lang="pt-BR" b="1" i="1" dirty="0"/>
              <a:t>modelos matemáticos que </a:t>
            </a:r>
            <a:r>
              <a:rPr lang="pt-BR" b="1" i="1" dirty="0">
                <a:solidFill>
                  <a:srgbClr val="7030A0"/>
                </a:solidFill>
              </a:rPr>
              <a:t>aproximam</a:t>
            </a:r>
            <a:r>
              <a:rPr lang="pt-BR" b="1" i="1" dirty="0"/>
              <a:t> a atividade de aprendizagem do cérebro</a:t>
            </a:r>
            <a:r>
              <a:rPr lang="pt-BR" dirty="0"/>
              <a:t>. </a:t>
            </a:r>
          </a:p>
          <a:p>
            <a:r>
              <a:rPr lang="pt-BR" dirty="0"/>
              <a:t>Essas ideias, que já discutimos, nos ajudarão a entender o funcionamento das </a:t>
            </a:r>
            <a:r>
              <a:rPr lang="pt-BR" b="1" i="1" dirty="0"/>
              <a:t>redes neurais artificiais </a:t>
            </a:r>
            <a:r>
              <a:rPr lang="pt-BR" dirty="0"/>
              <a:t>(RNAs).</a:t>
            </a:r>
          </a:p>
          <a:p>
            <a:r>
              <a:rPr lang="pt-BR" dirty="0"/>
              <a:t>Redes neurais artificiais são os modelos de aprendizado de máquina mais populares e efetivos e mereceriam por sí só uma disciplina em separado.</a:t>
            </a:r>
          </a:p>
          <a:p>
            <a:r>
              <a:rPr lang="pt-BR" dirty="0"/>
              <a:t>Portanto, neste tópico, veremos uma breve visão geral sobre as RNAs. </a:t>
            </a:r>
          </a:p>
        </p:txBody>
      </p:sp>
    </p:spTree>
    <p:extLst>
      <p:ext uri="{BB962C8B-B14F-4D97-AF65-F5344CB8AC3E}">
        <p14:creationId xmlns:p14="http://schemas.microsoft.com/office/powerpoint/2010/main" val="394620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neurais artificiais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7170" y="1825624"/>
            <a:ext cx="6664329" cy="5032376"/>
          </a:xfrm>
        </p:spPr>
        <p:txBody>
          <a:bodyPr>
            <a:normAutofit/>
          </a:bodyPr>
          <a:lstStyle/>
          <a:p>
            <a:r>
              <a:rPr lang="pt-BR" b="1" i="1" dirty="0"/>
              <a:t>Redes neurais artificiais </a:t>
            </a:r>
            <a:r>
              <a:rPr lang="pt-BR" dirty="0"/>
              <a:t>são modelos computacionais </a:t>
            </a:r>
            <a:r>
              <a:rPr lang="pt-BR" b="1" i="1" dirty="0">
                <a:solidFill>
                  <a:srgbClr val="7030A0"/>
                </a:solidFill>
              </a:rPr>
              <a:t>inspirados</a:t>
            </a:r>
            <a:r>
              <a:rPr lang="pt-BR" dirty="0"/>
              <a:t> pelo funcionamento do cérebro dos animais.</a:t>
            </a:r>
          </a:p>
          <a:p>
            <a:r>
              <a:rPr lang="pt-BR" dirty="0"/>
              <a:t>Elas são capazes de realizar tarefas de aprendizado de máquina (e.g., regressão e classificação) com grande eficácia.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6B025606-6130-364B-352B-AFD97404E716}"/>
              </a:ext>
            </a:extLst>
          </p:cNvPr>
          <p:cNvGrpSpPr/>
          <p:nvPr/>
        </p:nvGrpSpPr>
        <p:grpSpPr>
          <a:xfrm>
            <a:off x="1243446" y="1939924"/>
            <a:ext cx="3548180" cy="4096280"/>
            <a:chOff x="8643820" y="1380761"/>
            <a:chExt cx="3548180" cy="409628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3820" y="2380005"/>
              <a:ext cx="3548180" cy="3097036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9837880" y="1380761"/>
              <a:ext cx="1160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neurônios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flipH="1">
              <a:off x="10295080" y="1750093"/>
              <a:ext cx="122830" cy="5543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0417910" y="1758156"/>
              <a:ext cx="935890" cy="16401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9021947" y="2347391"/>
              <a:ext cx="895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sinápticos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9444966" y="2804287"/>
              <a:ext cx="281817" cy="17878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Oval 28"/>
            <p:cNvSpPr/>
            <p:nvPr/>
          </p:nvSpPr>
          <p:spPr>
            <a:xfrm>
              <a:off x="10677574" y="2804286"/>
              <a:ext cx="281817" cy="17878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649141" y="4436839"/>
              <a:ext cx="895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sinápticos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136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Neurais Artificiais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4564" y="1825624"/>
            <a:ext cx="6917326" cy="5032376"/>
          </a:xfrm>
        </p:spPr>
        <p:txBody>
          <a:bodyPr>
            <a:normAutofit/>
          </a:bodyPr>
          <a:lstStyle/>
          <a:p>
            <a:r>
              <a:rPr lang="pt-BR" dirty="0" err="1"/>
              <a:t>RNAs</a:t>
            </a:r>
            <a:r>
              <a:rPr lang="pt-BR" dirty="0"/>
              <a:t> são geralmente apresentadas como </a:t>
            </a:r>
            <a:r>
              <a:rPr lang="pt-BR" b="1" i="1" dirty="0"/>
              <a:t>sistemas de</a:t>
            </a:r>
            <a:r>
              <a:rPr lang="pt-BR" dirty="0"/>
              <a:t> </a:t>
            </a:r>
            <a:r>
              <a:rPr lang="pt-BR" b="1" i="1" dirty="0"/>
              <a:t>nós (unidades ou neurônios) interconectados</a:t>
            </a:r>
            <a:r>
              <a:rPr lang="pt-BR" dirty="0"/>
              <a:t>, que geram valores de saída quando ativados, simulando o comportamento de </a:t>
            </a:r>
            <a:r>
              <a:rPr lang="pt-BR" b="1" i="1" dirty="0"/>
              <a:t>redes neurais biológicas</a:t>
            </a:r>
            <a:r>
              <a:rPr lang="pt-BR" dirty="0"/>
              <a:t>.</a:t>
            </a:r>
          </a:p>
          <a:p>
            <a:r>
              <a:rPr lang="pt-BR" dirty="0"/>
              <a:t>Esta primeira parte deste tópico, </a:t>
            </a:r>
            <a:r>
              <a:rPr lang="pt-BR" b="1" i="1" dirty="0">
                <a:solidFill>
                  <a:srgbClr val="00B050"/>
                </a:solidFill>
              </a:rPr>
              <a:t>foca nos elementos básicos de construção de uma rede neural</a:t>
            </a:r>
            <a:r>
              <a:rPr lang="pt-BR" dirty="0"/>
              <a:t>, os </a:t>
            </a:r>
            <a:r>
              <a:rPr lang="pt-BR" b="1" i="1" dirty="0"/>
              <a:t>neurônios</a:t>
            </a:r>
            <a:r>
              <a:rPr lang="pt-BR" dirty="0"/>
              <a:t>.</a:t>
            </a:r>
            <a:endParaRPr lang="pt-BR" b="1" i="1" dirty="0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4B527D05-263C-D5DC-E562-E1635134CC07}"/>
              </a:ext>
            </a:extLst>
          </p:cNvPr>
          <p:cNvGrpSpPr/>
          <p:nvPr/>
        </p:nvGrpSpPr>
        <p:grpSpPr>
          <a:xfrm>
            <a:off x="1243446" y="1939924"/>
            <a:ext cx="3548180" cy="4096280"/>
            <a:chOff x="8643820" y="1380761"/>
            <a:chExt cx="3548180" cy="4096280"/>
          </a:xfrm>
        </p:grpSpPr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A7F8A936-0DA5-6FB5-6B17-7FC9B781C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43820" y="2380005"/>
              <a:ext cx="3548180" cy="3097036"/>
            </a:xfrm>
            <a:prstGeom prst="rect">
              <a:avLst/>
            </a:prstGeom>
          </p:spPr>
        </p:pic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E131A444-C88C-20F4-9B81-233C104DE05B}"/>
                </a:ext>
              </a:extLst>
            </p:cNvPr>
            <p:cNvSpPr txBox="1"/>
            <p:nvPr/>
          </p:nvSpPr>
          <p:spPr>
            <a:xfrm>
              <a:off x="9837880" y="1380761"/>
              <a:ext cx="1160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neurônios</a:t>
              </a:r>
            </a:p>
          </p:txBody>
        </p:sp>
        <p:cxnSp>
          <p:nvCxnSpPr>
            <p:cNvPr id="13" name="Straight Arrow Connector 6">
              <a:extLst>
                <a:ext uri="{FF2B5EF4-FFF2-40B4-BE49-F238E27FC236}">
                  <a16:creationId xmlns:a16="http://schemas.microsoft.com/office/drawing/2014/main" id="{A03DC86B-0AED-C59D-6FFC-2725AF09C97B}"/>
                </a:ext>
              </a:extLst>
            </p:cNvPr>
            <p:cNvCxnSpPr/>
            <p:nvPr/>
          </p:nvCxnSpPr>
          <p:spPr>
            <a:xfrm flipH="1">
              <a:off x="10295080" y="1750093"/>
              <a:ext cx="122830" cy="55438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7">
              <a:extLst>
                <a:ext uri="{FF2B5EF4-FFF2-40B4-BE49-F238E27FC236}">
                  <a16:creationId xmlns:a16="http://schemas.microsoft.com/office/drawing/2014/main" id="{EC491009-B520-DD16-7AB9-B3E0DDA30A31}"/>
                </a:ext>
              </a:extLst>
            </p:cNvPr>
            <p:cNvCxnSpPr/>
            <p:nvPr/>
          </p:nvCxnSpPr>
          <p:spPr>
            <a:xfrm>
              <a:off x="10417910" y="1758156"/>
              <a:ext cx="935890" cy="164013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DD50BC27-1F58-7461-9E68-E50687528D0C}"/>
                </a:ext>
              </a:extLst>
            </p:cNvPr>
            <p:cNvSpPr txBox="1"/>
            <p:nvPr/>
          </p:nvSpPr>
          <p:spPr>
            <a:xfrm>
              <a:off x="9021947" y="2347391"/>
              <a:ext cx="895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sinápticos</a:t>
              </a:r>
            </a:p>
          </p:txBody>
        </p:sp>
        <p:sp>
          <p:nvSpPr>
            <p:cNvPr id="16" name="Oval 27">
              <a:extLst>
                <a:ext uri="{FF2B5EF4-FFF2-40B4-BE49-F238E27FC236}">
                  <a16:creationId xmlns:a16="http://schemas.microsoft.com/office/drawing/2014/main" id="{9C292488-3215-3672-7DDF-8B7EE3B0274C}"/>
                </a:ext>
              </a:extLst>
            </p:cNvPr>
            <p:cNvSpPr/>
            <p:nvPr/>
          </p:nvSpPr>
          <p:spPr>
            <a:xfrm>
              <a:off x="9444966" y="2804287"/>
              <a:ext cx="281817" cy="17878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Oval 28">
              <a:extLst>
                <a:ext uri="{FF2B5EF4-FFF2-40B4-BE49-F238E27FC236}">
                  <a16:creationId xmlns:a16="http://schemas.microsoft.com/office/drawing/2014/main" id="{8C7D954D-E686-9B71-3325-C59BE7E2F1FA}"/>
                </a:ext>
              </a:extLst>
            </p:cNvPr>
            <p:cNvSpPr/>
            <p:nvPr/>
          </p:nvSpPr>
          <p:spPr>
            <a:xfrm>
              <a:off x="10677574" y="2804286"/>
              <a:ext cx="281817" cy="178785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TextBox 29">
              <a:extLst>
                <a:ext uri="{FF2B5EF4-FFF2-40B4-BE49-F238E27FC236}">
                  <a16:creationId xmlns:a16="http://schemas.microsoft.com/office/drawing/2014/main" id="{F785B0CD-5C99-A76C-1D50-FFA783C6F597}"/>
                </a:ext>
              </a:extLst>
            </p:cNvPr>
            <p:cNvSpPr txBox="1"/>
            <p:nvPr/>
          </p:nvSpPr>
          <p:spPr>
            <a:xfrm>
              <a:off x="10649141" y="4436839"/>
              <a:ext cx="895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pesos sinápticos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0673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aplicações famosas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90688"/>
            <a:ext cx="7779875" cy="5167312"/>
          </a:xfrm>
        </p:spPr>
        <p:txBody>
          <a:bodyPr>
            <a:normAutofit/>
          </a:bodyPr>
          <a:lstStyle/>
          <a:p>
            <a:r>
              <a:rPr lang="pt-BR" dirty="0"/>
              <a:t>RNAs são versáteis, poderosas e escalonáveis, tornando-as ideais para realizar tarefas altamente complexas de </a:t>
            </a:r>
            <a:r>
              <a:rPr lang="pt-BR" b="1" i="1" dirty="0"/>
              <a:t>aprendizado de máquina</a:t>
            </a:r>
            <a:r>
              <a:rPr lang="pt-BR" dirty="0"/>
              <a:t>, como por exemplo: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Classificar bilhões de imagens (e.g., como o Google Images, Facebook, etc.),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Serviços de reconhecimento de fala (e.g., a Siri da Apple, Alexa da Amazon e Google </a:t>
            </a:r>
            <a:r>
              <a:rPr lang="pt-BR" dirty="0" err="1"/>
              <a:t>Assistant</a:t>
            </a:r>
            <a:r>
              <a:rPr lang="pt-BR" dirty="0"/>
              <a:t>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Recomendar vídeos que melhor se adequam ao comportamento dos usuários (e.g., YouTube, Netflix),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Dirigir um veículo sem intervenção humana,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Responder perguntas (e.g., </a:t>
            </a:r>
            <a:r>
              <a:rPr lang="pt-BR" dirty="0" err="1"/>
              <a:t>ChatGPT</a:t>
            </a:r>
            <a:r>
              <a:rPr lang="pt-BR" dirty="0"/>
              <a:t>, </a:t>
            </a:r>
            <a:r>
              <a:rPr lang="pt-BR" dirty="0" err="1"/>
              <a:t>Gemini</a:t>
            </a:r>
            <a:r>
              <a:rPr lang="pt-BR" dirty="0"/>
              <a:t>, </a:t>
            </a:r>
            <a:r>
              <a:rPr lang="pt-BR" dirty="0" err="1"/>
              <a:t>DeepSeek</a:t>
            </a:r>
            <a:r>
              <a:rPr lang="pt-BR" dirty="0"/>
              <a:t>).</a:t>
            </a:r>
          </a:p>
        </p:txBody>
      </p:sp>
      <p:pic>
        <p:nvPicPr>
          <p:cNvPr id="2052" name="Picture 4" descr="É possível resgatar o botão &quot;visualizar imagem&quot; da pesquisa do ...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0" t="20505" r="7042" b="22052"/>
          <a:stretch/>
        </p:blipFill>
        <p:spPr bwMode="auto">
          <a:xfrm>
            <a:off x="8237921" y="747458"/>
            <a:ext cx="2466908" cy="94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ow to get your local business listed in Alexa, Google Assistant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0" t="12063" r="8631" b="16190"/>
          <a:stretch/>
        </p:blipFill>
        <p:spPr bwMode="auto">
          <a:xfrm>
            <a:off x="9204291" y="1891816"/>
            <a:ext cx="2771803" cy="1373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YouTube apresenta novo logo | Exame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3" b="25663"/>
          <a:stretch/>
        </p:blipFill>
        <p:spPr bwMode="auto">
          <a:xfrm>
            <a:off x="8762889" y="3539269"/>
            <a:ext cx="2446095" cy="59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aymo Stock IPO - Economagic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3" t="6126" r="5537" b="7636"/>
          <a:stretch/>
        </p:blipFill>
        <p:spPr bwMode="auto">
          <a:xfrm>
            <a:off x="8738656" y="5012730"/>
            <a:ext cx="3332640" cy="167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etflix existia nos anos 90 – e era bem diferente; conheça históri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9" t="27680" r="5735" b="23835"/>
          <a:stretch/>
        </p:blipFill>
        <p:spPr bwMode="auto">
          <a:xfrm>
            <a:off x="10105092" y="4274344"/>
            <a:ext cx="1829971" cy="562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30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39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pic>
        <p:nvPicPr>
          <p:cNvPr id="1030" name="Picture 6" descr="Explainer: What is a neuron? | Science News for Studen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158" r="3204" b="4941"/>
          <a:stretch/>
        </p:blipFill>
        <p:spPr bwMode="auto">
          <a:xfrm>
            <a:off x="397453" y="2244438"/>
            <a:ext cx="5495229" cy="315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9" y="1485901"/>
            <a:ext cx="5948855" cy="5372100"/>
          </a:xfrm>
        </p:spPr>
        <p:txBody>
          <a:bodyPr>
            <a:normAutofit/>
          </a:bodyPr>
          <a:lstStyle/>
          <a:p>
            <a:r>
              <a:rPr lang="pt-BR" dirty="0"/>
              <a:t>Os </a:t>
            </a:r>
            <a:r>
              <a:rPr lang="pt-BR" b="1" i="1" dirty="0"/>
              <a:t>neurônios</a:t>
            </a:r>
            <a:r>
              <a:rPr lang="pt-BR" dirty="0"/>
              <a:t> são células que possuem </a:t>
            </a:r>
            <a:r>
              <a:rPr lang="pt-BR" b="1" i="1" dirty="0"/>
              <a:t>mecanismos eletroquímicos</a:t>
            </a:r>
            <a:r>
              <a:rPr lang="pt-BR" dirty="0"/>
              <a:t> para transferência de informações entre eles. </a:t>
            </a:r>
          </a:p>
          <a:p>
            <a:r>
              <a:rPr lang="pt-BR" dirty="0"/>
              <a:t>Eles apresentam três partes principais:</a:t>
            </a:r>
            <a:r>
              <a:rPr lang="pt-BR" b="1" dirty="0"/>
              <a:t>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os </a:t>
            </a:r>
            <a:r>
              <a:rPr lang="pt-BR" b="1" i="1" dirty="0"/>
              <a:t>dendritos</a:t>
            </a:r>
            <a:r>
              <a:rPr lang="pt-BR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</a:t>
            </a:r>
            <a:r>
              <a:rPr lang="pt-BR" b="1" i="1" dirty="0"/>
              <a:t>corpo celular (soma)</a:t>
            </a:r>
            <a:r>
              <a:rPr lang="pt-BR" dirty="0"/>
              <a:t> 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</a:t>
            </a:r>
            <a:r>
              <a:rPr lang="pt-BR" b="1" i="1" dirty="0"/>
              <a:t>axônio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2402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39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18" y="1485901"/>
            <a:ext cx="5995554" cy="5372100"/>
          </a:xfrm>
        </p:spPr>
        <p:txBody>
          <a:bodyPr>
            <a:normAutofit/>
          </a:bodyPr>
          <a:lstStyle/>
          <a:p>
            <a:r>
              <a:rPr lang="pt-BR" dirty="0"/>
              <a:t>Os </a:t>
            </a:r>
            <a:r>
              <a:rPr lang="pt-BR" b="1" i="1" dirty="0"/>
              <a:t>dendritos</a:t>
            </a:r>
            <a:r>
              <a:rPr lang="pt-BR" dirty="0"/>
              <a:t> são prolongamentos do neurônio que garantem a </a:t>
            </a:r>
            <a:r>
              <a:rPr lang="pt-BR" b="1" i="1" dirty="0"/>
              <a:t>recepção de estímulos </a:t>
            </a:r>
            <a:r>
              <a:rPr lang="pt-BR" dirty="0"/>
              <a:t>de outros neurônios, levando impulsos nervosos em direção ao </a:t>
            </a:r>
            <a:r>
              <a:rPr lang="pt-BR" b="1" i="1" dirty="0"/>
              <a:t>corpo celular</a:t>
            </a:r>
            <a:r>
              <a:rPr lang="pt-BR" dirty="0"/>
              <a:t>.</a:t>
            </a:r>
          </a:p>
        </p:txBody>
      </p:sp>
      <p:pic>
        <p:nvPicPr>
          <p:cNvPr id="4" name="Picture 6" descr="Explainer: What is a neuron? | Science News for Students">
            <a:extLst>
              <a:ext uri="{FF2B5EF4-FFF2-40B4-BE49-F238E27FC236}">
                <a16:creationId xmlns:a16="http://schemas.microsoft.com/office/drawing/2014/main" id="{30ADA234-BCC4-9884-D4E8-ACE27EA5AD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158" r="3204" b="4941"/>
          <a:stretch/>
        </p:blipFill>
        <p:spPr bwMode="auto">
          <a:xfrm>
            <a:off x="273628" y="2421083"/>
            <a:ext cx="5495229" cy="315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71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39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pic>
        <p:nvPicPr>
          <p:cNvPr id="1030" name="Picture 6" descr="Explainer: What is a neuron? | Science News for Studen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158" r="3204" b="4941"/>
          <a:stretch/>
        </p:blipFill>
        <p:spPr bwMode="auto">
          <a:xfrm>
            <a:off x="6403833" y="2564622"/>
            <a:ext cx="5606239" cy="3214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485901"/>
            <a:ext cx="6154881" cy="5372100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i="1" dirty="0"/>
              <a:t>corpo celular</a:t>
            </a:r>
            <a:r>
              <a:rPr lang="pt-BR" dirty="0"/>
              <a:t> (também conhecido como </a:t>
            </a:r>
            <a:r>
              <a:rPr lang="pt-BR" b="1" i="1" dirty="0"/>
              <a:t>soma</a:t>
            </a:r>
            <a:r>
              <a:rPr lang="pt-BR" dirty="0"/>
              <a:t>) contém o núcleo do neurônio e é responsável por realizar a </a:t>
            </a:r>
            <a:r>
              <a:rPr lang="pt-BR" b="1" i="1" dirty="0"/>
              <a:t>integração</a:t>
            </a:r>
            <a:r>
              <a:rPr lang="pt-BR" dirty="0"/>
              <a:t> dos estímulos recebidos pelo neurônio através de seus dendritos.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4169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39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2818" y="1485901"/>
            <a:ext cx="5995554" cy="5372100"/>
          </a:xfrm>
        </p:spPr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b="1" i="1" dirty="0"/>
              <a:t>axônio</a:t>
            </a:r>
            <a:r>
              <a:rPr lang="pt-BR" dirty="0"/>
              <a:t> é um prolongamento que garante o envio de informação (estímulos) a outros neurônios através de seus </a:t>
            </a:r>
            <a:r>
              <a:rPr lang="pt-BR" b="1" i="1" dirty="0"/>
              <a:t>terminais</a:t>
            </a:r>
            <a:r>
              <a:rPr lang="pt-BR" dirty="0"/>
              <a:t>. </a:t>
            </a:r>
          </a:p>
          <a:p>
            <a:r>
              <a:rPr lang="pt-BR" dirty="0"/>
              <a:t>Cada neurônio possui apenas um axônio, o qual é, geralmente, mais longo que os dendritos. </a:t>
            </a:r>
          </a:p>
        </p:txBody>
      </p:sp>
      <p:pic>
        <p:nvPicPr>
          <p:cNvPr id="4" name="Picture 6" descr="Explainer: What is a neuron? | Science News for Students">
            <a:extLst>
              <a:ext uri="{FF2B5EF4-FFF2-40B4-BE49-F238E27FC236}">
                <a16:creationId xmlns:a16="http://schemas.microsoft.com/office/drawing/2014/main" id="{30ADA234-BCC4-9884-D4E8-ACE27EA5AD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158" r="3204" b="4941"/>
          <a:stretch/>
        </p:blipFill>
        <p:spPr bwMode="auto">
          <a:xfrm>
            <a:off x="273628" y="2421083"/>
            <a:ext cx="5495229" cy="3151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361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39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1709" y="1485901"/>
            <a:ext cx="6258911" cy="5372100"/>
          </a:xfrm>
        </p:spPr>
        <p:txBody>
          <a:bodyPr>
            <a:normAutofit/>
          </a:bodyPr>
          <a:lstStyle/>
          <a:p>
            <a:r>
              <a:rPr lang="pt-BR" dirty="0"/>
              <a:t>Os pontos de contato entre os dendritos de um neurônio e os terminais do axônio de outro neurônio são chamados de </a:t>
            </a:r>
            <a:r>
              <a:rPr lang="pt-BR" b="1" i="1" dirty="0"/>
              <a:t>sinapses</a:t>
            </a:r>
            <a:r>
              <a:rPr lang="pt-BR" dirty="0"/>
              <a:t>.</a:t>
            </a:r>
          </a:p>
          <a:p>
            <a:r>
              <a:rPr lang="pt-BR" dirty="0"/>
              <a:t>A comunicação entre neurônios se dá através das </a:t>
            </a:r>
            <a:r>
              <a:rPr lang="pt-BR" b="1" i="1" dirty="0"/>
              <a:t>sinapses</a:t>
            </a:r>
            <a:r>
              <a:rPr lang="pt-BR" dirty="0"/>
              <a:t>.</a:t>
            </a:r>
          </a:p>
          <a:p>
            <a:r>
              <a:rPr lang="pt-BR" dirty="0"/>
              <a:t>As sinapses podem ser fortes ou fracas: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Forte</a:t>
            </a:r>
            <a:r>
              <a:rPr lang="pt-BR" dirty="0"/>
              <a:t>: informação daquele neurônio é importante para o próximo.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Fraca</a:t>
            </a:r>
            <a:r>
              <a:rPr lang="pt-BR" dirty="0"/>
              <a:t>: informação daquele neurônio não é tão importante para o próximo.</a:t>
            </a:r>
          </a:p>
        </p:txBody>
      </p:sp>
      <p:pic>
        <p:nvPicPr>
          <p:cNvPr id="4" name="Picture 6" descr="Explainer: What is a neuron? | Science News for Students">
            <a:extLst>
              <a:ext uri="{FF2B5EF4-FFF2-40B4-BE49-F238E27FC236}">
                <a16:creationId xmlns:a16="http://schemas.microsoft.com/office/drawing/2014/main" id="{9D5AAAE5-865B-B63A-445B-6BDB4F7C78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5158" r="3204" b="4941"/>
          <a:stretch/>
        </p:blipFill>
        <p:spPr bwMode="auto">
          <a:xfrm>
            <a:off x="838200" y="1476848"/>
            <a:ext cx="4700155" cy="2695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Sinapses: Partes, Funções e Tipos de sinapses - Psicoativo ⋆ Universo da  Psicologia">
            <a:extLst>
              <a:ext uri="{FF2B5EF4-FFF2-40B4-BE49-F238E27FC236}">
                <a16:creationId xmlns:a16="http://schemas.microsoft.com/office/drawing/2014/main" id="{E1BA6783-881D-8410-8939-14EE1C23B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38" y="4348444"/>
            <a:ext cx="4005768" cy="2383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51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03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pic>
        <p:nvPicPr>
          <p:cNvPr id="2052" name="Picture 4" descr="4 -Potencial de ação em um membrana celular neuronal. | Download ..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" t="7550" r="2824"/>
          <a:stretch/>
        </p:blipFill>
        <p:spPr bwMode="auto">
          <a:xfrm>
            <a:off x="606167" y="1918933"/>
            <a:ext cx="4558115" cy="433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0700" y="1714500"/>
            <a:ext cx="6411191" cy="5143499"/>
          </a:xfrm>
        </p:spPr>
        <p:txBody>
          <a:bodyPr>
            <a:normAutofit/>
          </a:bodyPr>
          <a:lstStyle/>
          <a:p>
            <a:r>
              <a:rPr lang="pt-BR" dirty="0"/>
              <a:t>Em termos bem simples, mas lembrando de que existem exceções, nós podemos simplificar o funcionamento do </a:t>
            </a:r>
            <a:r>
              <a:rPr lang="pt-BR" b="1" i="1" dirty="0"/>
              <a:t>neurônio</a:t>
            </a:r>
            <a:r>
              <a:rPr lang="pt-BR" dirty="0"/>
              <a:t> como: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neurônio recebe estímulos elétricos, através dos </a:t>
            </a:r>
            <a:r>
              <a:rPr lang="pt-BR" b="1" i="1" dirty="0">
                <a:solidFill>
                  <a:srgbClr val="00B050"/>
                </a:solidFill>
              </a:rPr>
              <a:t>dendritos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Esses estímulos são somados no </a:t>
            </a:r>
            <a:r>
              <a:rPr lang="pt-BR" b="1" i="1" dirty="0">
                <a:solidFill>
                  <a:srgbClr val="00B050"/>
                </a:solidFill>
              </a:rPr>
              <a:t>corpo celular</a:t>
            </a:r>
            <a:r>
              <a:rPr lang="pt-BR" dirty="0"/>
              <a:t> (i.e., </a:t>
            </a:r>
            <a:r>
              <a:rPr lang="pt-BR" i="1" dirty="0"/>
              <a:t>soma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Se a soma dos estímulos exceder um certo </a:t>
            </a:r>
            <a:r>
              <a:rPr lang="pt-BR" b="1" i="1" dirty="0"/>
              <a:t>limiar de ativação</a:t>
            </a:r>
            <a:r>
              <a:rPr lang="pt-BR" dirty="0"/>
              <a:t>, o </a:t>
            </a:r>
            <a:r>
              <a:rPr lang="pt-BR" b="1" i="1" dirty="0"/>
              <a:t>neurônio</a:t>
            </a:r>
            <a:r>
              <a:rPr lang="pt-BR" dirty="0"/>
              <a:t> gera um pulso (ou </a:t>
            </a:r>
            <a:r>
              <a:rPr lang="pt-BR" b="1" i="1" dirty="0"/>
              <a:t>potencial de ação</a:t>
            </a:r>
            <a:r>
              <a:rPr lang="pt-BR" dirty="0"/>
              <a:t>) que é enviado pelos </a:t>
            </a:r>
            <a:r>
              <a:rPr lang="pt-BR" b="1" i="1" dirty="0">
                <a:solidFill>
                  <a:srgbClr val="00B050"/>
                </a:solidFill>
              </a:rPr>
              <a:t>terminais do axônio</a:t>
            </a:r>
            <a:r>
              <a:rPr lang="pt-BR" dirty="0"/>
              <a:t> a outros neurônios.</a:t>
            </a:r>
          </a:p>
        </p:txBody>
      </p:sp>
    </p:spTree>
    <p:extLst>
      <p:ext uri="{BB962C8B-B14F-4D97-AF65-F5344CB8AC3E}">
        <p14:creationId xmlns:p14="http://schemas.microsoft.com/office/powerpoint/2010/main" val="230147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103"/>
            <a:ext cx="10515600" cy="1325563"/>
          </a:xfrm>
        </p:spPr>
        <p:txBody>
          <a:bodyPr/>
          <a:lstStyle/>
          <a:p>
            <a:r>
              <a:rPr lang="pt-BR" dirty="0"/>
              <a:t>Um pouco de contexto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79918" y="1643486"/>
            <a:ext cx="6421582" cy="5214513"/>
          </a:xfrm>
        </p:spPr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i="1" dirty="0"/>
              <a:t>neurônio</a:t>
            </a:r>
            <a:r>
              <a:rPr lang="pt-BR" dirty="0"/>
              <a:t> pode se conectar a até 20.000 outros </a:t>
            </a:r>
            <a:r>
              <a:rPr lang="pt-BR" b="1" i="1" dirty="0"/>
              <a:t>neurônios</a:t>
            </a:r>
            <a:r>
              <a:rPr lang="pt-BR" dirty="0"/>
              <a:t> através das </a:t>
            </a:r>
            <a:r>
              <a:rPr lang="pt-BR" b="1" i="1" dirty="0"/>
              <a:t>sinapses</a:t>
            </a:r>
            <a:r>
              <a:rPr lang="pt-BR" dirty="0"/>
              <a:t>.</a:t>
            </a:r>
          </a:p>
          <a:p>
            <a:r>
              <a:rPr lang="pt-BR" dirty="0"/>
              <a:t>Os sinais são passados de </a:t>
            </a:r>
            <a:r>
              <a:rPr lang="pt-BR" b="1" i="1" dirty="0"/>
              <a:t>neurônio</a:t>
            </a:r>
            <a:r>
              <a:rPr lang="pt-BR" dirty="0"/>
              <a:t> para </a:t>
            </a:r>
            <a:r>
              <a:rPr lang="pt-BR" b="1" i="1" dirty="0"/>
              <a:t>neurônio</a:t>
            </a:r>
            <a:r>
              <a:rPr lang="pt-BR" dirty="0"/>
              <a:t> através de </a:t>
            </a:r>
            <a:r>
              <a:rPr lang="pt-BR" b="1" i="1" dirty="0"/>
              <a:t>reações eletroquímicas</a:t>
            </a:r>
            <a:r>
              <a:rPr lang="pt-BR" dirty="0"/>
              <a:t>.</a:t>
            </a:r>
          </a:p>
          <a:p>
            <a:r>
              <a:rPr lang="pt-BR" dirty="0"/>
              <a:t>Do ponto de vista do nosso curso, o </a:t>
            </a:r>
            <a:r>
              <a:rPr lang="pt-BR" b="1" i="1" dirty="0">
                <a:solidFill>
                  <a:srgbClr val="00B050"/>
                </a:solidFill>
              </a:rPr>
              <a:t>neurônio</a:t>
            </a:r>
            <a:r>
              <a:rPr lang="pt-BR" dirty="0"/>
              <a:t> será considerado como um </a:t>
            </a:r>
            <a:r>
              <a:rPr lang="pt-BR" b="1" i="1" dirty="0">
                <a:solidFill>
                  <a:srgbClr val="00B050"/>
                </a:solidFill>
              </a:rPr>
              <a:t>sistema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b="1" i="1" dirty="0">
                <a:solidFill>
                  <a:srgbClr val="00B050"/>
                </a:solidFill>
              </a:rPr>
              <a:t>com várias entradas e uma ou mais saídas</a:t>
            </a:r>
            <a:r>
              <a:rPr lang="pt-BR" dirty="0"/>
              <a:t> onde a comunicação entre neurônios é feita através de </a:t>
            </a:r>
            <a:r>
              <a:rPr lang="pt-BR" b="1" i="1" dirty="0">
                <a:solidFill>
                  <a:srgbClr val="7030A0"/>
                </a:solidFill>
              </a:rPr>
              <a:t>sinais elétricos</a:t>
            </a:r>
            <a:r>
              <a:rPr lang="pt-BR" dirty="0"/>
              <a:t>. 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9F91D743-9F6A-D1CA-0A3C-90258E6AFA71}"/>
              </a:ext>
            </a:extLst>
          </p:cNvPr>
          <p:cNvGrpSpPr/>
          <p:nvPr/>
        </p:nvGrpSpPr>
        <p:grpSpPr>
          <a:xfrm>
            <a:off x="742499" y="1643486"/>
            <a:ext cx="4837419" cy="4435195"/>
            <a:chOff x="8813801" y="3399551"/>
            <a:chExt cx="3661965" cy="3299957"/>
          </a:xfrm>
        </p:grpSpPr>
        <p:pic>
          <p:nvPicPr>
            <p:cNvPr id="6" name="Picture 2" descr="Qual a função da bainha de mielina dos neurônios? - Anatomia I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3801" y="3399551"/>
              <a:ext cx="3270174" cy="2129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Imagem 3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65"/>
            <a:stretch/>
          </p:blipFill>
          <p:spPr>
            <a:xfrm>
              <a:off x="8908503" y="5849066"/>
              <a:ext cx="3175472" cy="850442"/>
            </a:xfrm>
            <a:prstGeom prst="rect">
              <a:avLst/>
            </a:prstGeom>
          </p:spPr>
        </p:pic>
        <p:sp>
          <p:nvSpPr>
            <p:cNvPr id="7" name="Seta para a direita 6"/>
            <p:cNvSpPr/>
            <p:nvPr/>
          </p:nvSpPr>
          <p:spPr>
            <a:xfrm rot="5400000">
              <a:off x="10386616" y="5336179"/>
              <a:ext cx="381000" cy="571500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10735866" y="5394792"/>
              <a:ext cx="1739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100" dirty="0"/>
                <a:t>Modelo Matemático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5031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11"/>
            <a:ext cx="10515600" cy="1325563"/>
          </a:xfrm>
        </p:spPr>
        <p:txBody>
          <a:bodyPr/>
          <a:lstStyle/>
          <a:p>
            <a:r>
              <a:rPr lang="pt-BR" dirty="0"/>
              <a:t>O modelo de McCulloch e Pitts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00600" y="1572087"/>
            <a:ext cx="7187084" cy="5285913"/>
          </a:xfrm>
        </p:spPr>
        <p:txBody>
          <a:bodyPr>
            <a:normAutofit/>
          </a:bodyPr>
          <a:lstStyle/>
          <a:p>
            <a:r>
              <a:rPr lang="pt-BR" dirty="0"/>
              <a:t>O final do século XIX e o início do século XX foram períodos fundamentais para o estabelecimento do conhecimento atual do sistema nervoso. </a:t>
            </a:r>
          </a:p>
          <a:p>
            <a:r>
              <a:rPr lang="pt-BR" dirty="0"/>
              <a:t>De posse desse entendimento, em 1943, dois neurocientistas, Warren McCulloch e Walter </a:t>
            </a:r>
            <a:r>
              <a:rPr lang="pt-BR" dirty="0" err="1"/>
              <a:t>Pitts</a:t>
            </a:r>
            <a:r>
              <a:rPr lang="pt-BR" dirty="0"/>
              <a:t> apresentam em um artigo científico o primeiro </a:t>
            </a:r>
            <a:r>
              <a:rPr lang="pt-BR" b="1" i="1" dirty="0">
                <a:solidFill>
                  <a:srgbClr val="00B050"/>
                </a:solidFill>
              </a:rPr>
              <a:t>modelo computacional de um neurônio</a:t>
            </a:r>
            <a:r>
              <a:rPr lang="pt-BR" dirty="0"/>
              <a:t>.</a:t>
            </a:r>
          </a:p>
          <a:p>
            <a:r>
              <a:rPr lang="pt-BR" dirty="0"/>
              <a:t>A partir desse modelo, foi possível estabelecer uma conexão entre o funcionamento de um neurônio e a </a:t>
            </a:r>
            <a:r>
              <a:rPr lang="pt-BR" b="1" i="1" dirty="0"/>
              <a:t>lógica proposicional</a:t>
            </a:r>
            <a:r>
              <a:rPr lang="pt-BR" dirty="0"/>
              <a:t>.</a:t>
            </a:r>
          </a:p>
        </p:txBody>
      </p:sp>
      <p:pic>
        <p:nvPicPr>
          <p:cNvPr id="2050" name="Picture 2" descr="McCulloch (right) and Pitts (left) in 19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858" y="2272855"/>
            <a:ext cx="3133942" cy="330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40701" y="5610427"/>
            <a:ext cx="32142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dirty="0"/>
              <a:t>Walter Pitts e Warren McCulloch</a:t>
            </a:r>
          </a:p>
        </p:txBody>
      </p:sp>
    </p:spTree>
    <p:extLst>
      <p:ext uri="{BB962C8B-B14F-4D97-AF65-F5344CB8AC3E}">
        <p14:creationId xmlns:p14="http://schemas.microsoft.com/office/powerpoint/2010/main" val="80253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11"/>
            <a:ext cx="10515600" cy="1325563"/>
          </a:xfrm>
        </p:spPr>
        <p:txBody>
          <a:bodyPr/>
          <a:lstStyle/>
          <a:p>
            <a:r>
              <a:rPr lang="pt-BR" dirty="0"/>
              <a:t>O modelo de McCulloch e Pitts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572087"/>
            <a:ext cx="11149484" cy="5285913"/>
          </a:xfrm>
        </p:spPr>
        <p:txBody>
          <a:bodyPr>
            <a:normAutofit lnSpcReduction="10000"/>
          </a:bodyPr>
          <a:lstStyle/>
          <a:p>
            <a:r>
              <a:rPr lang="pt-BR" b="1" i="1" dirty="0"/>
              <a:t>Lógica proposicional </a:t>
            </a:r>
            <a:r>
              <a:rPr lang="pt-BR" dirty="0"/>
              <a:t>se baseia em </a:t>
            </a:r>
            <a:r>
              <a:rPr lang="pt-BR" b="1" i="1" dirty="0"/>
              <a:t>proposições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Uma </a:t>
            </a:r>
            <a:r>
              <a:rPr lang="pt-BR" b="1" i="1" dirty="0"/>
              <a:t>proposição</a:t>
            </a:r>
            <a:r>
              <a:rPr lang="pt-BR" dirty="0"/>
              <a:t> é uma </a:t>
            </a:r>
            <a:r>
              <a:rPr lang="pt-BR" b="1" i="1" dirty="0"/>
              <a:t>sentença declarativa</a:t>
            </a:r>
            <a:r>
              <a:rPr lang="pt-BR" dirty="0"/>
              <a:t> ou </a:t>
            </a:r>
            <a:r>
              <a:rPr lang="pt-BR" b="1" i="1" dirty="0"/>
              <a:t>afirmação</a:t>
            </a:r>
            <a:r>
              <a:rPr lang="pt-BR" dirty="0"/>
              <a:t>, ou seja, é uma sentença que faz uma </a:t>
            </a:r>
            <a:r>
              <a:rPr lang="pt-BR" b="1" i="1" dirty="0">
                <a:solidFill>
                  <a:srgbClr val="00B050"/>
                </a:solidFill>
              </a:rPr>
              <a:t>afirmação sobre um fato</a:t>
            </a:r>
            <a:r>
              <a:rPr lang="pt-BR" dirty="0"/>
              <a:t>, podendo este ser verdadeiro ou falso.</a:t>
            </a:r>
          </a:p>
          <a:p>
            <a:r>
              <a:rPr lang="pt-BR" dirty="0"/>
              <a:t>O artigo de </a:t>
            </a:r>
            <a:r>
              <a:rPr lang="pt-BR" dirty="0" err="1"/>
              <a:t>McCulloch</a:t>
            </a:r>
            <a:r>
              <a:rPr lang="pt-BR" dirty="0"/>
              <a:t> e </a:t>
            </a:r>
            <a:r>
              <a:rPr lang="pt-BR" dirty="0" err="1"/>
              <a:t>Pitts</a:t>
            </a:r>
            <a:r>
              <a:rPr lang="pt-BR" dirty="0"/>
              <a:t> fornece </a:t>
            </a:r>
            <a:r>
              <a:rPr lang="pt-BR" i="1" dirty="0"/>
              <a:t>insights</a:t>
            </a:r>
            <a:r>
              <a:rPr lang="pt-BR" dirty="0"/>
              <a:t> fundamentais sobre como a </a:t>
            </a:r>
            <a:r>
              <a:rPr lang="pt-BR" b="1" i="1" dirty="0">
                <a:solidFill>
                  <a:srgbClr val="7030A0"/>
                </a:solidFill>
              </a:rPr>
              <a:t>lógica proposicional pode ser processada por um neurônio</a:t>
            </a:r>
            <a:r>
              <a:rPr lang="pt-BR" dirty="0"/>
              <a:t>.</a:t>
            </a:r>
          </a:p>
          <a:p>
            <a:r>
              <a:rPr lang="pt-BR" dirty="0"/>
              <a:t>Existe uma correspondência direta entre a lógica proposicional e a lógica Booleana.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Podemos pensar em uma </a:t>
            </a:r>
            <a:r>
              <a:rPr lang="pt-BR" b="1" i="1" dirty="0"/>
              <a:t>sentença declarativa</a:t>
            </a:r>
            <a:r>
              <a:rPr lang="pt-BR" dirty="0"/>
              <a:t> como sendo uma </a:t>
            </a:r>
            <a:r>
              <a:rPr lang="pt-BR" b="1" i="1" dirty="0"/>
              <a:t>expressão Booleana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1 ou 1 = 1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1 e 0   = 0</a:t>
            </a:r>
          </a:p>
          <a:p>
            <a:r>
              <a:rPr lang="pt-BR" dirty="0"/>
              <a:t>A partir desta correspondência, a relação com a computação foi direta e natural.</a:t>
            </a:r>
          </a:p>
        </p:txBody>
      </p:sp>
    </p:spTree>
    <p:extLst>
      <p:ext uri="{BB962C8B-B14F-4D97-AF65-F5344CB8AC3E}">
        <p14:creationId xmlns:p14="http://schemas.microsoft.com/office/powerpoint/2010/main" val="3698238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11"/>
            <a:ext cx="10515600" cy="1465090"/>
          </a:xfrm>
        </p:spPr>
        <p:txBody>
          <a:bodyPr/>
          <a:lstStyle/>
          <a:p>
            <a:r>
              <a:rPr lang="pt-BR" dirty="0"/>
              <a:t>O modelo de McCulloch e Pitts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5694218" y="1787236"/>
                <a:ext cx="6382168" cy="5070764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figura ao lado apresenta o modelo matemático do </a:t>
                </a:r>
                <a:r>
                  <a:rPr lang="pt-BR" b="1" i="1" dirty="0"/>
                  <a:t>neurônio</a:t>
                </a:r>
                <a:r>
                  <a:rPr lang="pt-BR" dirty="0"/>
                  <a:t> proposto por McCulloch e </a:t>
                </a:r>
                <a:r>
                  <a:rPr lang="pt-BR" dirty="0" err="1"/>
                  <a:t>Pitts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Grosso modo, o </a:t>
                </a:r>
                <a:r>
                  <a:rPr lang="pt-BR" b="1" i="1" dirty="0"/>
                  <a:t>neurônio</a:t>
                </a:r>
                <a:r>
                  <a:rPr lang="pt-BR" dirty="0"/>
                  <a:t> de MP é ativado (ou disparado) quando a </a:t>
                </a:r>
                <a:r>
                  <a:rPr lang="pt-BR" b="1" i="1" dirty="0"/>
                  <a:t>soma </a:t>
                </a:r>
                <a:r>
                  <a:rPr lang="pt-BR" dirty="0"/>
                  <a:t>de suas entradas,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excede o </a:t>
                </a:r>
                <a:r>
                  <a:rPr lang="pt-BR" b="1" i="1" dirty="0"/>
                  <a:t>limiar de ativação</a:t>
                </a:r>
                <a:r>
                  <a:rPr lang="pt-BR" i="1" dirty="0"/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, da função de ativação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Nesse contexto,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é chamada ativação.</a:t>
                </a:r>
              </a:p>
              <a:p>
                <a:r>
                  <a:rPr lang="pt-BR" dirty="0"/>
                  <a:t>O modelo estabelece algumas premissas apresentadas a seguir.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4218" y="1787236"/>
                <a:ext cx="6382168" cy="5070764"/>
              </a:xfrm>
              <a:blipFill rotWithShape="0">
                <a:blip r:embed="rId3"/>
                <a:stretch>
                  <a:fillRect l="-1719" t="-1923" r="-13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95021" y="4466022"/>
                <a:ext cx="3877116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 é 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021" y="4466022"/>
                <a:ext cx="3877116" cy="987193"/>
              </a:xfrm>
              <a:prstGeom prst="rect">
                <a:avLst/>
              </a:prstGeom>
              <a:blipFill>
                <a:blip r:embed="rId4"/>
                <a:stretch>
                  <a:fillRect l="-1258" b="-92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75" y="2427811"/>
            <a:ext cx="4433322" cy="151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36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11"/>
            <a:ext cx="10515600" cy="1465090"/>
          </a:xfrm>
        </p:spPr>
        <p:txBody>
          <a:bodyPr/>
          <a:lstStyle/>
          <a:p>
            <a:r>
              <a:rPr lang="pt-BR" dirty="0"/>
              <a:t>O modelo de McCulloch e Pitts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918841" y="1514901"/>
                <a:ext cx="7273159" cy="534309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As premissas desse modelo são: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Os valores das entradas,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pt-BR" dirty="0"/>
                  <a:t>, ou também chamados de </a:t>
                </a:r>
                <a:r>
                  <a:rPr lang="pt-BR" b="1" i="1" dirty="0"/>
                  <a:t>sinapses</a:t>
                </a:r>
                <a:r>
                  <a:rPr lang="pt-BR" dirty="0"/>
                  <a:t>, são sempre valores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booleanos</a:t>
                </a:r>
                <a:r>
                  <a:rPr lang="pt-BR" dirty="0"/>
                  <a:t>, i.e., ‘0’, ou ‘1’.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As entradas são multiplicadas por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pesos com magnitudes unitárias </a:t>
                </a:r>
                <a:r>
                  <a:rPr lang="pt-BR" dirty="0"/>
                  <a:t>(+/- 1, excitatórias ou inibitórias) e somadas.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A atividade do </a:t>
                </a:r>
                <a:r>
                  <a:rPr lang="pt-BR" b="1" i="1" dirty="0"/>
                  <a:t>neurônio</a:t>
                </a:r>
                <a:r>
                  <a:rPr lang="pt-BR" dirty="0"/>
                  <a:t> é um processo do tipo “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tudo ou nada</a:t>
                </a:r>
                <a:r>
                  <a:rPr lang="pt-BR" dirty="0"/>
                  <a:t>”, ou seja, um processo binário (0 ou 1).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Portanto, a </a:t>
                </a:r>
                <a:r>
                  <a:rPr lang="pt-BR" b="1" i="1" dirty="0"/>
                  <a:t>função de ativação </a:t>
                </a:r>
                <a:r>
                  <a:rPr lang="pt-BR" dirty="0"/>
                  <a:t>do neurônio é uma </a:t>
                </a:r>
                <a:r>
                  <a:rPr lang="pt-BR" b="1" i="1" dirty="0"/>
                  <a:t>função degrau </a:t>
                </a:r>
                <a:r>
                  <a:rPr lang="pt-BR" dirty="0"/>
                  <a:t>com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ponto de disparo variável</a:t>
                </a:r>
                <a:r>
                  <a:rPr lang="pt-BR" dirty="0"/>
                  <a:t>,</a:t>
                </a:r>
                <a:r>
                  <a:rPr lang="pt-BR" i="1" dirty="0"/>
                  <a:t> </a:t>
                </a:r>
                <a:r>
                  <a:rPr lang="pt-BR" dirty="0"/>
                  <a:t>dependente do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Um certo número de </a:t>
                </a:r>
                <a:r>
                  <a:rPr lang="pt-BR" b="1" i="1" dirty="0"/>
                  <a:t>sinapses</a:t>
                </a:r>
                <a:r>
                  <a:rPr lang="pt-BR" dirty="0"/>
                  <a:t> deve ser excitado para que o neurônio “dispare”.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8841" y="1514901"/>
                <a:ext cx="7273159" cy="5343099"/>
              </a:xfrm>
              <a:blipFill rotWithShape="0">
                <a:blip r:embed="rId3"/>
                <a:stretch>
                  <a:fillRect l="-1509" t="-2626" r="-7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Agrupar 7">
            <a:extLst>
              <a:ext uri="{FF2B5EF4-FFF2-40B4-BE49-F238E27FC236}">
                <a16:creationId xmlns:a16="http://schemas.microsoft.com/office/drawing/2014/main" id="{1052E406-5293-9AAD-A1FC-9CA592045A4D}"/>
              </a:ext>
            </a:extLst>
          </p:cNvPr>
          <p:cNvGrpSpPr/>
          <p:nvPr/>
        </p:nvGrpSpPr>
        <p:grpSpPr>
          <a:xfrm>
            <a:off x="509814" y="2973499"/>
            <a:ext cx="3993932" cy="1969823"/>
            <a:chOff x="7978373" y="4760736"/>
            <a:chExt cx="3993932" cy="196982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8373" y="4760736"/>
              <a:ext cx="3993932" cy="1969823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9914113" y="5209611"/>
              <a:ext cx="2058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b="1" i="1" dirty="0"/>
                <a:t>função de ativação 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65935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811"/>
            <a:ext cx="10515600" cy="1465090"/>
          </a:xfrm>
        </p:spPr>
        <p:txBody>
          <a:bodyPr/>
          <a:lstStyle/>
          <a:p>
            <a:r>
              <a:rPr lang="pt-BR" dirty="0"/>
              <a:t>O modelo de McCulloch e Pitts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09755" y="1514901"/>
            <a:ext cx="6722917" cy="5343099"/>
          </a:xfrm>
        </p:spPr>
        <p:txBody>
          <a:bodyPr>
            <a:normAutofit/>
          </a:bodyPr>
          <a:lstStyle/>
          <a:p>
            <a:r>
              <a:rPr lang="pt-BR" dirty="0"/>
              <a:t>Portanto, o modelo do </a:t>
            </a:r>
            <a:r>
              <a:rPr lang="pt-BR" b="1" i="1" dirty="0"/>
              <a:t>neurônio</a:t>
            </a:r>
            <a:r>
              <a:rPr lang="pt-BR" dirty="0"/>
              <a:t> de McCulloch e Pitts nada mais é do que um </a:t>
            </a:r>
            <a:r>
              <a:rPr lang="pt-BR" b="1" i="1" dirty="0">
                <a:solidFill>
                  <a:srgbClr val="00B050"/>
                </a:solidFill>
              </a:rPr>
              <a:t>classificador linear </a:t>
            </a:r>
            <a:r>
              <a:rPr lang="pt-BR" dirty="0"/>
              <a:t>com</a:t>
            </a:r>
            <a:r>
              <a:rPr lang="pt-BR" b="1" i="1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limiar de decisão rígido,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ponto de disparo variável,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pesos com magnitudes unitárias</a:t>
            </a:r>
            <a:r>
              <a:rPr lang="pt-BR" dirty="0"/>
              <a:t> 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atributos booleanos</a:t>
            </a:r>
            <a:r>
              <a:rPr lang="pt-BR" dirty="0"/>
              <a:t>.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052E406-5293-9AAD-A1FC-9CA592045A4D}"/>
              </a:ext>
            </a:extLst>
          </p:cNvPr>
          <p:cNvGrpSpPr/>
          <p:nvPr/>
        </p:nvGrpSpPr>
        <p:grpSpPr>
          <a:xfrm>
            <a:off x="580046" y="2807245"/>
            <a:ext cx="3993932" cy="1969823"/>
            <a:chOff x="7978373" y="4760736"/>
            <a:chExt cx="3993932" cy="196982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8373" y="4760736"/>
              <a:ext cx="3993932" cy="1969823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9914113" y="5209611"/>
              <a:ext cx="20581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b="1" i="1" dirty="0"/>
                <a:t>função de ativação 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224517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1E98C-0745-D718-F290-558E233A7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6358"/>
            <a:ext cx="10515600" cy="18610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Vamos usar este modelo para implementar portas lógicas</a:t>
            </a:r>
          </a:p>
        </p:txBody>
      </p:sp>
    </p:spTree>
    <p:extLst>
      <p:ext uri="{BB962C8B-B14F-4D97-AF65-F5344CB8AC3E}">
        <p14:creationId xmlns:p14="http://schemas.microsoft.com/office/powerpoint/2010/main" val="18678285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87326"/>
            <a:ext cx="10930835" cy="1120960"/>
          </a:xfrm>
        </p:spPr>
        <p:txBody>
          <a:bodyPr>
            <a:normAutofit/>
          </a:bodyPr>
          <a:lstStyle/>
          <a:p>
            <a:r>
              <a:rPr lang="pt-BR" dirty="0"/>
              <a:t>Exemplos de portas lógicas com o modelo M-P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89517754"/>
                  </p:ext>
                </p:extLst>
              </p:nvPr>
            </p:nvGraphicFramePr>
            <p:xfrm>
              <a:off x="1513025" y="1354171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89517754"/>
                  </p:ext>
                </p:extLst>
              </p:nvPr>
            </p:nvGraphicFramePr>
            <p:xfrm>
              <a:off x="1513025" y="1354171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9" t="-117308" r="-300000" b="-43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2222" t="-117308" r="-203333" b="-43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117308" r="-101099" b="-432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3333" t="-117308" r="-2222" b="-432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199" y="3238195"/>
                <a:ext cx="35814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Qual é o valor do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Analisando-se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vemos que o disparo deve ocorrer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portanto,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238195"/>
                <a:ext cx="3581400" cy="1477328"/>
              </a:xfrm>
              <a:prstGeom prst="rect">
                <a:avLst/>
              </a:prstGeom>
              <a:blipFill>
                <a:blip r:embed="rId4"/>
                <a:stretch>
                  <a:fillRect l="-102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1040299" y="4655885"/>
            <a:ext cx="3142324" cy="1550303"/>
            <a:chOff x="114755" y="4638765"/>
            <a:chExt cx="3142324" cy="1550303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641229" y="4808439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114755" y="5888439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886701" y="5881291"/>
                  <a:ext cx="47205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pt-BR" sz="1400" dirty="0"/>
                    <a:t>=1</a:t>
                  </a: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701" y="5881291"/>
                  <a:ext cx="472052" cy="30777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t="-4000" r="-1282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/>
            <p:cNvCxnSpPr/>
            <p:nvPr/>
          </p:nvCxnSpPr>
          <p:spPr>
            <a:xfrm>
              <a:off x="1052195" y="5413385"/>
              <a:ext cx="0" cy="475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052195" y="5413385"/>
              <a:ext cx="15825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/>
            <p:cNvCxnSpPr/>
            <p:nvPr/>
          </p:nvCxnSpPr>
          <p:spPr>
            <a:xfrm flipH="1">
              <a:off x="641228" y="5413385"/>
              <a:ext cx="41096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596715"/>
                  </p:ext>
                </p:extLst>
              </p:nvPr>
            </p:nvGraphicFramePr>
            <p:xfrm>
              <a:off x="5115789" y="1364016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AND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Content Placeholder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09596715"/>
                  </p:ext>
                </p:extLst>
              </p:nvPr>
            </p:nvGraphicFramePr>
            <p:xfrm>
              <a:off x="5115789" y="1364016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AND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0"/>
                          <a:stretch>
                            <a:fillRect l="-1099" t="-119608" r="-3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0"/>
                          <a:stretch>
                            <a:fillRect l="-102222" t="-119608" r="-203333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0"/>
                          <a:stretch>
                            <a:fillRect l="-200000" t="-119608" r="-101099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0"/>
                          <a:stretch>
                            <a:fillRect l="-303333" t="-119608" r="-2222" b="-44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528790" y="3254860"/>
                <a:ext cx="3549651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Qual é o valor do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Analisando-se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vemos que o disparo deve ocorrer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pt-BR" dirty="0"/>
                  <a:t>, portanto,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790" y="3254860"/>
                <a:ext cx="3549651" cy="1477328"/>
              </a:xfrm>
              <a:prstGeom prst="rect">
                <a:avLst/>
              </a:prstGeom>
              <a:blipFill>
                <a:blip r:embed="rId11"/>
                <a:stretch>
                  <a:fillRect l="-1203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4751380" y="4704793"/>
            <a:ext cx="3142324" cy="1550303"/>
            <a:chOff x="114755" y="4638765"/>
            <a:chExt cx="3142324" cy="1550303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641229" y="4808439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114755" y="5888439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320652" y="5881291"/>
                  <a:ext cx="47205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pt-BR" sz="1400" dirty="0"/>
                    <a:t>=2</a:t>
                  </a: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652" y="5881291"/>
                  <a:ext cx="472052" cy="30777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t="-4000" r="-1282" b="-2000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/>
            <p:cNvCxnSpPr/>
            <p:nvPr/>
          </p:nvCxnSpPr>
          <p:spPr>
            <a:xfrm>
              <a:off x="1532641" y="5413385"/>
              <a:ext cx="0" cy="475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532641" y="5413385"/>
              <a:ext cx="108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/>
            <p:cNvCxnSpPr/>
            <p:nvPr/>
          </p:nvCxnSpPr>
          <p:spPr>
            <a:xfrm flipH="1">
              <a:off x="641227" y="5413385"/>
              <a:ext cx="936000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ectangle 29"/>
          <p:cNvSpPr/>
          <p:nvPr/>
        </p:nvSpPr>
        <p:spPr>
          <a:xfrm>
            <a:off x="2371038" y="5036689"/>
            <a:ext cx="1597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i="1" dirty="0"/>
              <a:t>função de ativação</a:t>
            </a:r>
            <a:endParaRPr lang="pt-BR" sz="1400" dirty="0"/>
          </a:p>
        </p:txBody>
      </p:sp>
      <p:sp>
        <p:nvSpPr>
          <p:cNvPr id="31" name="Rectangle 30"/>
          <p:cNvSpPr/>
          <p:nvPr/>
        </p:nvSpPr>
        <p:spPr>
          <a:xfrm>
            <a:off x="6074584" y="5084391"/>
            <a:ext cx="1597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i="1" dirty="0"/>
              <a:t>função de ativação</a:t>
            </a:r>
            <a:endParaRPr lang="pt-B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219383" y="2619776"/>
                <a:ext cx="380849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Qual é o valor do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Analisando-se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dirty="0"/>
                  <a:t>, vemos que para o disparo ocorrer, seu valor deve ser </a:t>
                </a:r>
                <a:r>
                  <a:rPr lang="pt-BR" b="1" i="1" dirty="0"/>
                  <a:t>negado</a:t>
                </a:r>
                <a:r>
                  <a:rPr lang="pt-BR" dirty="0"/>
                  <a:t> (i.e., multiplicado por -1), e assim, o disparo ocorre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t-BR" dirty="0"/>
                  <a:t>, portanto,</a:t>
                </a:r>
                <a:r>
                  <a:rPr lang="pt-BR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9383" y="2619776"/>
                <a:ext cx="3808494" cy="2031325"/>
              </a:xfrm>
              <a:prstGeom prst="rect">
                <a:avLst/>
              </a:prstGeom>
              <a:blipFill rotWithShape="0">
                <a:blip r:embed="rId17"/>
                <a:stretch>
                  <a:fillRect l="-960" t="-1802" r="-2720" b="-39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5" name="Table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891971"/>
                  </p:ext>
                </p:extLst>
              </p:nvPr>
            </p:nvGraphicFramePr>
            <p:xfrm>
              <a:off x="8966969" y="1364016"/>
              <a:ext cx="2148376" cy="1249680"/>
            </p:xfrm>
            <a:graphic>
              <a:graphicData uri="http://schemas.openxmlformats.org/drawingml/2006/table">
                <a:tbl>
                  <a:tblPr/>
                  <a:tblGrid>
                    <a:gridCol w="5370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00025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NOT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 fontAlgn="b"/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00025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/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5" name="Table 3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0891971"/>
                  </p:ext>
                </p:extLst>
              </p:nvPr>
            </p:nvGraphicFramePr>
            <p:xfrm>
              <a:off x="8966969" y="1364016"/>
              <a:ext cx="2148376" cy="1249680"/>
            </p:xfrm>
            <a:graphic>
              <a:graphicData uri="http://schemas.openxmlformats.org/drawingml/2006/table">
                <a:tbl>
                  <a:tblPr/>
                  <a:tblGrid>
                    <a:gridCol w="53709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3709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NOT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rtl="0" fontAlgn="b"/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8"/>
                          <a:stretch>
                            <a:fillRect t="-119608" r="-298876" b="-2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8"/>
                          <a:stretch>
                            <a:fillRect l="-101136" t="-119608" r="-202273" b="-2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8"/>
                          <a:stretch>
                            <a:fillRect l="-198876" t="-119608" r="-100000" b="-241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18"/>
                          <a:stretch>
                            <a:fillRect l="-302273" t="-119608" r="-1136" b="-241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-1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dirty="0" smtClean="0"/>
                            <a:t>0</a:t>
                          </a:r>
                          <a:endParaRPr lang="pt-BR" dirty="0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2" name="Group 81"/>
          <p:cNvGrpSpPr/>
          <p:nvPr/>
        </p:nvGrpSpPr>
        <p:grpSpPr>
          <a:xfrm>
            <a:off x="5465375" y="6194213"/>
            <a:ext cx="1853866" cy="607797"/>
            <a:chOff x="5465375" y="6194213"/>
            <a:chExt cx="1853866" cy="6077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5465375" y="6194213"/>
                  <a:ext cx="36875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8" name="Rectangle 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5375" y="6194213"/>
                  <a:ext cx="368754" cy="276999"/>
                </a:xfrm>
                <a:prstGeom prst="rect">
                  <a:avLst/>
                </a:prstGeom>
                <a:blipFill rotWithShape="0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Oval 70"/>
                <p:cNvSpPr/>
                <p:nvPr/>
              </p:nvSpPr>
              <p:spPr>
                <a:xfrm>
                  <a:off x="5941529" y="6282511"/>
                  <a:ext cx="952310" cy="381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1" name="Oval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1529" y="6282511"/>
                  <a:ext cx="952310" cy="381000"/>
                </a:xfrm>
                <a:prstGeom prst="ellipse">
                  <a:avLst/>
                </a:prstGeom>
                <a:blipFill rotWithShape="0">
                  <a:blip r:embed="rId24"/>
                  <a:stretch>
                    <a:fillRect b="-312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Connector 71"/>
            <p:cNvCxnSpPr>
              <a:stCxn id="71" idx="0"/>
              <a:endCxn id="71" idx="4"/>
            </p:cNvCxnSpPr>
            <p:nvPr/>
          </p:nvCxnSpPr>
          <p:spPr>
            <a:xfrm>
              <a:off x="6417684" y="6282511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5970105" y="6334509"/>
                  <a:ext cx="476154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105" y="6334509"/>
                  <a:ext cx="476154" cy="276999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 r="-1282"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/>
                <p:cNvSpPr/>
                <p:nvPr/>
              </p:nvSpPr>
              <p:spPr>
                <a:xfrm>
                  <a:off x="6309634" y="6332055"/>
                  <a:ext cx="62885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pt-BR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4" name="Rectangle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9634" y="6332055"/>
                  <a:ext cx="628853" cy="276999"/>
                </a:xfrm>
                <a:prstGeom prst="rect">
                  <a:avLst/>
                </a:prstGeom>
                <a:blipFill rotWithShape="0">
                  <a:blip r:embed="rId2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>
              <a:stCxn id="71" idx="6"/>
            </p:cNvCxnSpPr>
            <p:nvPr/>
          </p:nvCxnSpPr>
          <p:spPr>
            <a:xfrm flipV="1">
              <a:off x="6893839" y="6470555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/>
                <p:cNvSpPr/>
                <p:nvPr/>
              </p:nvSpPr>
              <p:spPr>
                <a:xfrm>
                  <a:off x="6944591" y="6295021"/>
                  <a:ext cx="374650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6" name="Rect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591" y="6295021"/>
                  <a:ext cx="374650" cy="276999"/>
                </a:xfrm>
                <a:prstGeom prst="rect">
                  <a:avLst/>
                </a:prstGeom>
                <a:blipFill rotWithShape="0"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Arrow Connector 76"/>
            <p:cNvCxnSpPr/>
            <p:nvPr/>
          </p:nvCxnSpPr>
          <p:spPr>
            <a:xfrm>
              <a:off x="5751825" y="6334508"/>
              <a:ext cx="223042" cy="571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 flipV="1">
              <a:off x="5759765" y="6561438"/>
              <a:ext cx="215102" cy="1199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5477924" y="6525011"/>
                  <a:ext cx="37234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924" y="6525011"/>
                  <a:ext cx="372345" cy="276999"/>
                </a:xfrm>
                <a:prstGeom prst="rect">
                  <a:avLst/>
                </a:prstGeom>
                <a:blipFill rotWithShape="0"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1728836" y="6206800"/>
            <a:ext cx="1853866" cy="607797"/>
            <a:chOff x="5465375" y="6194213"/>
            <a:chExt cx="1853866" cy="6077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5465375" y="6194213"/>
                  <a:ext cx="36875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5375" y="6194213"/>
                  <a:ext cx="368754" cy="276999"/>
                </a:xfrm>
                <a:prstGeom prst="rect">
                  <a:avLst/>
                </a:prstGeom>
                <a:blipFill rotWithShape="0"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val 85"/>
                <p:cNvSpPr/>
                <p:nvPr/>
              </p:nvSpPr>
              <p:spPr>
                <a:xfrm>
                  <a:off x="5941529" y="6282511"/>
                  <a:ext cx="952310" cy="381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86" name="Oval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1529" y="6282511"/>
                  <a:ext cx="952310" cy="381000"/>
                </a:xfrm>
                <a:prstGeom prst="ellipse">
                  <a:avLst/>
                </a:prstGeom>
                <a:blipFill rotWithShape="0">
                  <a:blip r:embed="rId29"/>
                  <a:stretch>
                    <a:fillRect b="-312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Connector 86"/>
            <p:cNvCxnSpPr>
              <a:stCxn id="86" idx="0"/>
              <a:endCxn id="86" idx="4"/>
            </p:cNvCxnSpPr>
            <p:nvPr/>
          </p:nvCxnSpPr>
          <p:spPr>
            <a:xfrm>
              <a:off x="6417684" y="6282511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Rectangle 87"/>
                <p:cNvSpPr/>
                <p:nvPr/>
              </p:nvSpPr>
              <p:spPr>
                <a:xfrm>
                  <a:off x="5970105" y="6334509"/>
                  <a:ext cx="476154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88" name="Rectangle 8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105" y="6334509"/>
                  <a:ext cx="476154" cy="276999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Rectangle 88"/>
                <p:cNvSpPr/>
                <p:nvPr/>
              </p:nvSpPr>
              <p:spPr>
                <a:xfrm>
                  <a:off x="6366784" y="6332055"/>
                  <a:ext cx="62885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2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pt-BR" sz="1200" dirty="0"/>
                    <a:t>1</a:t>
                  </a:r>
                </a:p>
              </p:txBody>
            </p:sp>
          </mc:Choice>
          <mc:Fallback xmlns="">
            <p:sp>
              <p:nvSpPr>
                <p:cNvPr id="89" name="Rectangle 8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6784" y="6332055"/>
                  <a:ext cx="628853" cy="276999"/>
                </a:xfrm>
                <a:prstGeom prst="rect">
                  <a:avLst/>
                </a:prstGeom>
                <a:blipFill rotWithShape="0">
                  <a:blip r:embed="rId31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Straight Arrow Connector 89"/>
            <p:cNvCxnSpPr>
              <a:stCxn id="86" idx="6"/>
            </p:cNvCxnSpPr>
            <p:nvPr/>
          </p:nvCxnSpPr>
          <p:spPr>
            <a:xfrm flipV="1">
              <a:off x="6893839" y="6470555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90"/>
                <p:cNvSpPr/>
                <p:nvPr/>
              </p:nvSpPr>
              <p:spPr>
                <a:xfrm>
                  <a:off x="6944591" y="6295021"/>
                  <a:ext cx="374650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91" name="Rectangle 9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591" y="6295021"/>
                  <a:ext cx="374650" cy="276999"/>
                </a:xfrm>
                <a:prstGeom prst="rect">
                  <a:avLst/>
                </a:prstGeom>
                <a:blipFill rotWithShape="0"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Arrow Connector 91"/>
            <p:cNvCxnSpPr/>
            <p:nvPr/>
          </p:nvCxnSpPr>
          <p:spPr>
            <a:xfrm>
              <a:off x="5751825" y="6334508"/>
              <a:ext cx="223042" cy="571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V="1">
              <a:off x="5759765" y="6561438"/>
              <a:ext cx="215102" cy="1199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Rectangle 93"/>
                <p:cNvSpPr/>
                <p:nvPr/>
              </p:nvSpPr>
              <p:spPr>
                <a:xfrm>
                  <a:off x="5477924" y="6525011"/>
                  <a:ext cx="37234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94" name="Rectangle 9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7924" y="6525011"/>
                  <a:ext cx="372345" cy="276999"/>
                </a:xfrm>
                <a:prstGeom prst="rect">
                  <a:avLst/>
                </a:prstGeom>
                <a:blipFill rotWithShape="0"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/>
          <p:cNvGrpSpPr/>
          <p:nvPr/>
        </p:nvGrpSpPr>
        <p:grpSpPr>
          <a:xfrm>
            <a:off x="8284645" y="6216402"/>
            <a:ext cx="2150193" cy="638143"/>
            <a:chOff x="9378133" y="3482400"/>
            <a:chExt cx="2150193" cy="6381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/>
                <p:cNvSpPr/>
                <p:nvPr/>
              </p:nvSpPr>
              <p:spPr>
                <a:xfrm>
                  <a:off x="9378133" y="3494910"/>
                  <a:ext cx="36875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07" name="Rectangle 10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8133" y="3494910"/>
                  <a:ext cx="368754" cy="276999"/>
                </a:xfrm>
                <a:prstGeom prst="rect">
                  <a:avLst/>
                </a:prstGeom>
                <a:blipFill rotWithShape="0"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Oval 107"/>
                <p:cNvSpPr/>
                <p:nvPr/>
              </p:nvSpPr>
              <p:spPr>
                <a:xfrm>
                  <a:off x="9851929" y="3482400"/>
                  <a:ext cx="952310" cy="381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8" name="Oval 10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929" y="3482400"/>
                  <a:ext cx="952310" cy="381000"/>
                </a:xfrm>
                <a:prstGeom prst="ellipse">
                  <a:avLst/>
                </a:prstGeom>
                <a:blipFill rotWithShape="0">
                  <a:blip r:embed="rId3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/>
            <p:cNvCxnSpPr>
              <a:stCxn id="108" idx="0"/>
              <a:endCxn id="108" idx="4"/>
            </p:cNvCxnSpPr>
            <p:nvPr/>
          </p:nvCxnSpPr>
          <p:spPr>
            <a:xfrm>
              <a:off x="10328084" y="348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Rectangle 109"/>
                <p:cNvSpPr/>
                <p:nvPr/>
              </p:nvSpPr>
              <p:spPr>
                <a:xfrm>
                  <a:off x="9880505" y="3534398"/>
                  <a:ext cx="476154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10" name="Rectangle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0505" y="3534398"/>
                  <a:ext cx="476154" cy="276999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/>
                <p:cNvSpPr/>
                <p:nvPr/>
              </p:nvSpPr>
              <p:spPr>
                <a:xfrm>
                  <a:off x="10231675" y="3543523"/>
                  <a:ext cx="62885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2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pt-B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11" name="Rectangle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1675" y="3543523"/>
                  <a:ext cx="628853" cy="276999"/>
                </a:xfrm>
                <a:prstGeom prst="rect">
                  <a:avLst/>
                </a:prstGeom>
                <a:blipFill rotWithShape="0">
                  <a:blip r:embed="rId34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Arrow Connector 111"/>
            <p:cNvCxnSpPr>
              <a:stCxn id="108" idx="6"/>
            </p:cNvCxnSpPr>
            <p:nvPr/>
          </p:nvCxnSpPr>
          <p:spPr>
            <a:xfrm flipV="1">
              <a:off x="10804239" y="3670444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Rectangle 112"/>
                <p:cNvSpPr/>
                <p:nvPr/>
              </p:nvSpPr>
              <p:spPr>
                <a:xfrm>
                  <a:off x="10854991" y="3494910"/>
                  <a:ext cx="374650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13" name="Rectangle 1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4991" y="3494910"/>
                  <a:ext cx="374650" cy="276999"/>
                </a:xfrm>
                <a:prstGeom prst="rect">
                  <a:avLst/>
                </a:prstGeom>
                <a:blipFill rotWithShape="0"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/>
            <p:cNvCxnSpPr/>
            <p:nvPr/>
          </p:nvCxnSpPr>
          <p:spPr>
            <a:xfrm flipV="1">
              <a:off x="9625049" y="3667646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Oval 114"/>
            <p:cNvSpPr/>
            <p:nvPr/>
          </p:nvSpPr>
          <p:spPr>
            <a:xfrm>
              <a:off x="9797639" y="3642463"/>
              <a:ext cx="45719" cy="457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9827653" y="3733181"/>
              <a:ext cx="133504" cy="174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/>
            <p:cNvSpPr txBox="1"/>
            <p:nvPr/>
          </p:nvSpPr>
          <p:spPr>
            <a:xfrm>
              <a:off x="9851267" y="3843544"/>
              <a:ext cx="16770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Entrada inibitória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0328277" y="6167312"/>
            <a:ext cx="184292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/>
              <a:t>OBS</a:t>
            </a:r>
            <a:r>
              <a:rPr lang="pt-BR" sz="1100" dirty="0"/>
              <a:t>.: Entradas inibitórias são entradas que têm seus valores multiplicados por -1.</a:t>
            </a:r>
          </a:p>
        </p:txBody>
      </p:sp>
      <p:grpSp>
        <p:nvGrpSpPr>
          <p:cNvPr id="96" name="Group 5">
            <a:extLst>
              <a:ext uri="{FF2B5EF4-FFF2-40B4-BE49-F238E27FC236}">
                <a16:creationId xmlns:a16="http://schemas.microsoft.com/office/drawing/2014/main" id="{37E1DC95-DB90-4128-8BFC-BA6EF820FF03}"/>
              </a:ext>
            </a:extLst>
          </p:cNvPr>
          <p:cNvGrpSpPr/>
          <p:nvPr/>
        </p:nvGrpSpPr>
        <p:grpSpPr>
          <a:xfrm>
            <a:off x="8554892" y="4715523"/>
            <a:ext cx="3142324" cy="1530207"/>
            <a:chOff x="114755" y="4638765"/>
            <a:chExt cx="3142324" cy="1530207"/>
          </a:xfrm>
        </p:grpSpPr>
        <p:cxnSp>
          <p:nvCxnSpPr>
            <p:cNvPr id="97" name="Straight Arrow Connector 6">
              <a:extLst>
                <a:ext uri="{FF2B5EF4-FFF2-40B4-BE49-F238E27FC236}">
                  <a16:creationId xmlns:a16="http://schemas.microsoft.com/office/drawing/2014/main" id="{46367342-3D00-4DC2-97F8-A4C48A0FF487}"/>
                </a:ext>
              </a:extLst>
            </p:cNvPr>
            <p:cNvCxnSpPr/>
            <p:nvPr/>
          </p:nvCxnSpPr>
          <p:spPr>
            <a:xfrm flipV="1">
              <a:off x="641229" y="4808439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7">
              <a:extLst>
                <a:ext uri="{FF2B5EF4-FFF2-40B4-BE49-F238E27FC236}">
                  <a16:creationId xmlns:a16="http://schemas.microsoft.com/office/drawing/2014/main" id="{75736E90-2D6B-4961-B25D-570A62BDCB47}"/>
                </a:ext>
              </a:extLst>
            </p:cNvPr>
            <p:cNvCxnSpPr/>
            <p:nvPr/>
          </p:nvCxnSpPr>
          <p:spPr>
            <a:xfrm>
              <a:off x="114755" y="5888439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8">
                  <a:extLst>
                    <a:ext uri="{FF2B5EF4-FFF2-40B4-BE49-F238E27FC236}">
                      <a16:creationId xmlns:a16="http://schemas.microsoft.com/office/drawing/2014/main" id="{3487FCC0-1721-4A90-ADCC-BA759BEBA2F5}"/>
                    </a:ext>
                  </a:extLst>
                </p:cNvPr>
                <p:cNvSpPr/>
                <p:nvPr/>
              </p:nvSpPr>
              <p:spPr>
                <a:xfrm>
                  <a:off x="404384" y="5861195"/>
                  <a:ext cx="512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a14:m>
                  <a:r>
                    <a:rPr lang="pt-BR" sz="1400" dirty="0"/>
                    <a:t>= 0</a:t>
                  </a:r>
                </a:p>
              </p:txBody>
            </p:sp>
          </mc:Choice>
          <mc:Fallback xmlns="">
            <p:sp>
              <p:nvSpPr>
                <p:cNvPr id="99" name="Rectangle 8">
                  <a:extLst>
                    <a:ext uri="{FF2B5EF4-FFF2-40B4-BE49-F238E27FC236}">
                      <a16:creationId xmlns:a16="http://schemas.microsoft.com/office/drawing/2014/main" xmlns="" xmlns:a14="http://schemas.microsoft.com/office/drawing/2010/main" id="{3487FCC0-1721-4A90-ADCC-BA759BEBA2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384" y="5861195"/>
                  <a:ext cx="512128" cy="307777"/>
                </a:xfrm>
                <a:prstGeom prst="rect">
                  <a:avLst/>
                </a:prstGeom>
                <a:blipFill rotWithShape="0">
                  <a:blip r:embed="rId37"/>
                  <a:stretch>
                    <a:fillRect t="-3922" r="-2381" b="-1960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Straight Connector 10">
              <a:extLst>
                <a:ext uri="{FF2B5EF4-FFF2-40B4-BE49-F238E27FC236}">
                  <a16:creationId xmlns:a16="http://schemas.microsoft.com/office/drawing/2014/main" id="{0039D694-FDBD-4E37-84A8-15AA7DF0700A}"/>
                </a:ext>
              </a:extLst>
            </p:cNvPr>
            <p:cNvCxnSpPr/>
            <p:nvPr/>
          </p:nvCxnSpPr>
          <p:spPr>
            <a:xfrm>
              <a:off x="642607" y="5413385"/>
              <a:ext cx="198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Rectangle 12">
                  <a:extLst>
                    <a:ext uri="{FF2B5EF4-FFF2-40B4-BE49-F238E27FC236}">
                      <a16:creationId xmlns:a16="http://schemas.microsoft.com/office/drawing/2014/main" id="{A6211B07-9433-40C9-8FAD-6D6FABD675A8}"/>
                    </a:ext>
                  </a:extLst>
                </p:cNvPr>
                <p:cNvSpPr/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3">
                  <a:extLst>
                    <a:ext uri="{FF2B5EF4-FFF2-40B4-BE49-F238E27FC236}">
                      <a16:creationId xmlns:a16="http://schemas.microsoft.com/office/drawing/2014/main" id="{98598CD3-6DB1-47BE-9BF0-B048427C74E3}"/>
                    </a:ext>
                  </a:extLst>
                </p:cNvPr>
                <p:cNvSpPr/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5">
                  <a:extLst>
                    <a:ext uri="{FF2B5EF4-FFF2-40B4-BE49-F238E27FC236}">
                      <a16:creationId xmlns:a16="http://schemas.microsoft.com/office/drawing/2014/main" id="{3864A534-FEF0-4BD5-9101-1EAD35FBFF1F}"/>
                    </a:ext>
                  </a:extLst>
                </p:cNvPr>
                <p:cNvSpPr/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9" name="Rectangle 29">
            <a:extLst>
              <a:ext uri="{FF2B5EF4-FFF2-40B4-BE49-F238E27FC236}">
                <a16:creationId xmlns:a16="http://schemas.microsoft.com/office/drawing/2014/main" id="{7A9422C4-74C4-49FF-B9DA-F9D11E115A00}"/>
              </a:ext>
            </a:extLst>
          </p:cNvPr>
          <p:cNvSpPr/>
          <p:nvPr/>
        </p:nvSpPr>
        <p:spPr>
          <a:xfrm>
            <a:off x="9885631" y="5096327"/>
            <a:ext cx="15972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b="1" i="1" dirty="0"/>
              <a:t>função de ativação</a:t>
            </a:r>
            <a:endParaRPr lang="pt-BR" sz="1400" dirty="0"/>
          </a:p>
        </p:txBody>
      </p:sp>
      <p:sp>
        <p:nvSpPr>
          <p:cNvPr id="33" name="Retângulo 32"/>
          <p:cNvSpPr/>
          <p:nvPr/>
        </p:nvSpPr>
        <p:spPr>
          <a:xfrm>
            <a:off x="8562064" y="6170917"/>
            <a:ext cx="30008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/>
              <a:t>-1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16A133EE-F8C6-AF10-EC78-12A1F25F8443}"/>
              </a:ext>
            </a:extLst>
          </p:cNvPr>
          <p:cNvSpPr/>
          <p:nvPr/>
        </p:nvSpPr>
        <p:spPr>
          <a:xfrm>
            <a:off x="4555181" y="6423658"/>
            <a:ext cx="9014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/>
              <a:t>OBS</a:t>
            </a:r>
            <a:r>
              <a:rPr lang="pt-BR" sz="1100" dirty="0"/>
              <a:t>.: pesos iguais a +1.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C5B21D73-3F1C-E531-190B-689079CF6F9E}"/>
              </a:ext>
            </a:extLst>
          </p:cNvPr>
          <p:cNvSpPr/>
          <p:nvPr/>
        </p:nvSpPr>
        <p:spPr>
          <a:xfrm>
            <a:off x="863819" y="6434533"/>
            <a:ext cx="90143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/>
              <a:t>OBS</a:t>
            </a:r>
            <a:r>
              <a:rPr lang="pt-BR" sz="1100" dirty="0"/>
              <a:t>.: pesos iguais a +1.</a:t>
            </a:r>
          </a:p>
        </p:txBody>
      </p:sp>
    </p:spTree>
    <p:extLst>
      <p:ext uri="{BB962C8B-B14F-4D97-AF65-F5344CB8AC3E}">
        <p14:creationId xmlns:p14="http://schemas.microsoft.com/office/powerpoint/2010/main" val="2000941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1E98C-0745-D718-F290-558E233A7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931"/>
            <a:ext cx="10515600" cy="496301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400" dirty="0"/>
              <a:t>Todos esses exemplos podem ser interpretados como problemas de classificação.</a:t>
            </a:r>
          </a:p>
          <a:p>
            <a:pPr marL="0" indent="0" algn="ctr">
              <a:buNone/>
            </a:pPr>
            <a:endParaRPr lang="pt-BR" sz="5400" dirty="0"/>
          </a:p>
          <a:p>
            <a:pPr marL="0" indent="0" algn="ctr">
              <a:buNone/>
            </a:pPr>
            <a:r>
              <a:rPr lang="pt-BR" sz="5400" dirty="0"/>
              <a:t>Como veremos, eles são linearmente separáveis.</a:t>
            </a:r>
          </a:p>
        </p:txBody>
      </p:sp>
    </p:spTree>
    <p:extLst>
      <p:ext uri="{BB962C8B-B14F-4D97-AF65-F5344CB8AC3E}">
        <p14:creationId xmlns:p14="http://schemas.microsoft.com/office/powerpoint/2010/main" val="1022822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68BD5-7520-4B01-9739-3D7A1FED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00424" cy="1325563"/>
          </a:xfrm>
        </p:spPr>
        <p:txBody>
          <a:bodyPr/>
          <a:lstStyle/>
          <a:p>
            <a:r>
              <a:rPr lang="pt-BR" dirty="0"/>
              <a:t>Exemplos de portas lógicas com o modelo M-P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F767FFAE-F941-4E83-9E11-74EA97962CE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2289730"/>
                  </p:ext>
                </p:extLst>
              </p:nvPr>
            </p:nvGraphicFramePr>
            <p:xfrm>
              <a:off x="1071236" y="2595935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767FFAE-F941-4E83-9E11-74EA97962CE7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2289730"/>
                  </p:ext>
                </p:extLst>
              </p:nvPr>
            </p:nvGraphicFramePr>
            <p:xfrm>
              <a:off x="1071236" y="2595935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99" t="-119608" r="-3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101099" t="-119608" r="-2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203333" t="-119608" r="-102222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300000" t="-119608" r="-1099" b="-44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id="{DD965F77-D910-4681-8D94-F0562B360E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72461681"/>
                  </p:ext>
                </p:extLst>
              </p:nvPr>
            </p:nvGraphicFramePr>
            <p:xfrm>
              <a:off x="3892548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DD965F77-D910-4681-8D94-F0562B360EC1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72461681"/>
                  </p:ext>
                </p:extLst>
              </p:nvPr>
            </p:nvGraphicFramePr>
            <p:xfrm>
              <a:off x="3892548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99" t="-119608" r="-3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2222" t="-119608" r="-203333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119608" r="-101099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3333" t="-119608" r="-2222" b="-44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id="{938A066A-22FB-471F-B1F4-AB6F2A138E8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7401916"/>
                  </p:ext>
                </p:extLst>
              </p:nvPr>
            </p:nvGraphicFramePr>
            <p:xfrm>
              <a:off x="6713860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38A066A-22FB-471F-B1F4-AB6F2A138E83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667401916"/>
                  </p:ext>
                </p:extLst>
              </p:nvPr>
            </p:nvGraphicFramePr>
            <p:xfrm>
              <a:off x="6713860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99" t="-119608" r="-3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102222" t="-119608" r="-203333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200000" t="-119608" r="-101099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4"/>
                          <a:stretch>
                            <a:fillRect l="-303333" t="-119608" r="-2222" b="-44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3">
                <a:extLst>
                  <a:ext uri="{FF2B5EF4-FFF2-40B4-BE49-F238E27FC236}">
                    <a16:creationId xmlns:a16="http://schemas.microsoft.com/office/drawing/2014/main" id="{AAC4E0B4-0AB9-41D9-8412-E8273B9213C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4744729"/>
                  </p:ext>
                </p:extLst>
              </p:nvPr>
            </p:nvGraphicFramePr>
            <p:xfrm>
              <a:off x="9535172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3971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1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14:m>
                            <m:oMathPara xmlns:m="http://schemas.openxmlformats.org/officeDocument/2006/math">
                              <m:oMath>
                                <m:r>
                                  <a:rPr lang="pt-BR" b="0" i="1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33971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-2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3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AC4E0B4-0AB9-41D9-8412-E8273B9213CE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94744729"/>
                  </p:ext>
                </p:extLst>
              </p:nvPr>
            </p:nvGraphicFramePr>
            <p:xfrm>
              <a:off x="9535172" y="2595934"/>
              <a:ext cx="2203452" cy="1874520"/>
            </p:xfrm>
            <a:graphic>
              <a:graphicData uri="http://schemas.openxmlformats.org/drawingml/2006/table">
                <a:tbl>
                  <a:tblPr/>
                  <a:tblGrid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55086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12420">
                    <a:tc gridSpan="4"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XOR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99" t="-119608" r="-300000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102222" t="-119608" r="-203333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200000" t="-119608" r="-101099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303333" t="-119608" r="-2222" b="-4431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2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3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0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1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4"/>
                      </a:ext>
                    </a:extLst>
                  </a:tr>
                  <a:tr h="312420"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-1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 smtClean="0">
                              <a:effectLst/>
                            </a:rPr>
                            <a:t>-2</a:t>
                          </a:r>
                          <a:endParaRPr lang="pt-BR" dirty="0">
                            <a:effectLst/>
                          </a:endParaRP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pt-BR" dirty="0">
                              <a:effectLst/>
                            </a:rPr>
                            <a:t>0</a:t>
                          </a:r>
                        </a:p>
                      </a:txBody>
                      <a:tcPr marL="28575" marR="28575" marT="19050" marB="19050" anchor="b">
                        <a:lnL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CCCCCC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Retângulo 10">
            <a:extLst>
              <a:ext uri="{FF2B5EF4-FFF2-40B4-BE49-F238E27FC236}">
                <a16:creationId xmlns:a16="http://schemas.microsoft.com/office/drawing/2014/main" id="{221061E5-F31D-4ACA-AD05-D82AEF033C76}"/>
              </a:ext>
            </a:extLst>
          </p:cNvPr>
          <p:cNvSpPr/>
          <p:nvPr/>
        </p:nvSpPr>
        <p:spPr>
          <a:xfrm>
            <a:off x="2172963" y="3534305"/>
            <a:ext cx="1101726" cy="593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15C0F0D-A722-474D-8471-199D461D83E9}"/>
              </a:ext>
            </a:extLst>
          </p:cNvPr>
          <p:cNvSpPr/>
          <p:nvPr/>
        </p:nvSpPr>
        <p:spPr>
          <a:xfrm>
            <a:off x="4994274" y="3533194"/>
            <a:ext cx="1101726" cy="593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727754-13EE-4E28-8054-B4248241CFC0}"/>
              </a:ext>
            </a:extLst>
          </p:cNvPr>
          <p:cNvSpPr/>
          <p:nvPr/>
        </p:nvSpPr>
        <p:spPr>
          <a:xfrm>
            <a:off x="7815586" y="3533194"/>
            <a:ext cx="1101726" cy="593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280CE2A-46AD-4072-8519-D378A5B43FC6}"/>
              </a:ext>
            </a:extLst>
          </p:cNvPr>
          <p:cNvSpPr/>
          <p:nvPr/>
        </p:nvSpPr>
        <p:spPr>
          <a:xfrm>
            <a:off x="10636898" y="3533194"/>
            <a:ext cx="1101726" cy="593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91A94ADF-EE00-43ED-B853-366E5336E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28937"/>
            <a:ext cx="10900423" cy="1676882"/>
          </a:xfrm>
        </p:spPr>
        <p:txBody>
          <a:bodyPr>
            <a:normAutofit lnSpcReduction="10000"/>
          </a:bodyPr>
          <a:lstStyle/>
          <a:p>
            <a:r>
              <a:rPr lang="en-US" b="1" dirty="0" err="1"/>
              <a:t>Resposta</a:t>
            </a:r>
            <a:r>
              <a:rPr lang="en-US" dirty="0"/>
              <a:t>: com um </a:t>
            </a:r>
            <a:r>
              <a:rPr lang="en-US" dirty="0" err="1"/>
              <a:t>único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de M-P, </a:t>
            </a:r>
            <a:r>
              <a:rPr lang="en-US" dirty="0" err="1"/>
              <a:t>não</a:t>
            </a:r>
            <a:r>
              <a:rPr lang="en-US" dirty="0"/>
              <a:t> é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encontrar</a:t>
            </a:r>
            <a:r>
              <a:rPr lang="en-US" dirty="0"/>
              <a:t> um </a:t>
            </a:r>
            <a:r>
              <a:rPr lang="en-US" b="1" i="1" dirty="0" err="1"/>
              <a:t>limiar</a:t>
            </a:r>
            <a:r>
              <a:rPr lang="en-US" b="1" i="1" dirty="0"/>
              <a:t> de </a:t>
            </a:r>
            <a:r>
              <a:rPr lang="en-US" b="1" i="1" dirty="0" err="1"/>
              <a:t>ativação</a:t>
            </a:r>
            <a:r>
              <a:rPr lang="en-US" b="1" i="1" dirty="0"/>
              <a:t> </a:t>
            </a:r>
            <a:r>
              <a:rPr lang="en-US" dirty="0"/>
              <a:t>que </a:t>
            </a:r>
            <a:r>
              <a:rPr lang="en-US" dirty="0" err="1"/>
              <a:t>resolva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, </a:t>
            </a:r>
            <a:r>
              <a:rPr lang="en-US" dirty="0" err="1"/>
              <a:t>pois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veremos</a:t>
            </a:r>
            <a:r>
              <a:rPr lang="en-US" dirty="0"/>
              <a:t> </a:t>
            </a:r>
            <a:r>
              <a:rPr lang="en-US" dirty="0" err="1"/>
              <a:t>adiante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 é </a:t>
            </a:r>
            <a:r>
              <a:rPr lang="en-US" b="1" i="1" dirty="0" err="1"/>
              <a:t>linearmente</a:t>
            </a:r>
            <a:r>
              <a:rPr lang="en-US" b="1" i="1" dirty="0"/>
              <a:t> </a:t>
            </a:r>
            <a:r>
              <a:rPr lang="en-US" b="1" i="1" dirty="0" err="1"/>
              <a:t>separável</a:t>
            </a:r>
            <a:r>
              <a:rPr lang="en-US" dirty="0"/>
              <a:t>.</a:t>
            </a:r>
          </a:p>
          <a:p>
            <a:r>
              <a:rPr lang="en-US" dirty="0"/>
              <a:t>O </a:t>
            </a:r>
            <a:r>
              <a:rPr lang="en-US" dirty="0" err="1"/>
              <a:t>modelo</a:t>
            </a:r>
            <a:r>
              <a:rPr lang="en-US" dirty="0"/>
              <a:t> de M-P </a:t>
            </a:r>
            <a:r>
              <a:rPr lang="en-US" dirty="0" err="1"/>
              <a:t>só</a:t>
            </a:r>
            <a:r>
              <a:rPr lang="en-US" dirty="0"/>
              <a:t> resolve </a:t>
            </a:r>
            <a:r>
              <a:rPr lang="en-US" dirty="0" err="1"/>
              <a:t>problemas</a:t>
            </a:r>
            <a:r>
              <a:rPr lang="en-US" dirty="0"/>
              <a:t> </a:t>
            </a:r>
            <a:r>
              <a:rPr lang="en-US" b="1" i="1" dirty="0" err="1"/>
              <a:t>linearmente</a:t>
            </a:r>
            <a:r>
              <a:rPr lang="en-US" b="1" i="1" dirty="0"/>
              <a:t> </a:t>
            </a:r>
            <a:r>
              <a:rPr lang="en-US" b="1" i="1" dirty="0" err="1"/>
              <a:t>separáveis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spaço Reservado para Conteúdo 2">
                <a:extLst>
                  <a:ext uri="{FF2B5EF4-FFF2-40B4-BE49-F238E27FC236}">
                    <a16:creationId xmlns:a16="http://schemas.microsoft.com/office/drawing/2014/main" id="{A3CD3263-05E9-4C2C-AC8D-0917EC55F4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782612"/>
                <a:ext cx="10900424" cy="167688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/>
                <a:r>
                  <a:rPr lang="pt-BR" dirty="0"/>
                  <a:t>Qual deve ser o valor do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, para a porta lógica XOR? </a:t>
                </a:r>
              </a:p>
            </p:txBody>
          </p:sp>
        </mc:Choice>
        <mc:Fallback xmlns="">
          <p:sp>
            <p:nvSpPr>
              <p:cNvPr id="16" name="Espaço Reservado para Conteúdo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3CD3263-05E9-4C2C-AC8D-0917EC55F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782612"/>
                <a:ext cx="10900424" cy="1676882"/>
              </a:xfrm>
              <a:prstGeom prst="rect">
                <a:avLst/>
              </a:prstGeom>
              <a:blipFill rotWithShape="0">
                <a:blip r:embed="rId6"/>
                <a:stretch>
                  <a:fillRect l="-1007" t="-5797" r="-12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/>
              <p:cNvSpPr txBox="1"/>
              <p:nvPr/>
            </p:nvSpPr>
            <p:spPr>
              <a:xfrm>
                <a:off x="3892548" y="2290312"/>
                <a:ext cx="2203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400" dirty="0"/>
                  <a:t> como entrada inibitória.</a:t>
                </a:r>
              </a:p>
            </p:txBody>
          </p:sp>
        </mc:Choice>
        <mc:Fallback xmlns="">
          <p:sp>
            <p:nvSpPr>
              <p:cNvPr id="3" name="CaixaDeTexto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2548" y="2290312"/>
                <a:ext cx="2203452" cy="307777"/>
              </a:xfrm>
              <a:prstGeom prst="rect">
                <a:avLst/>
              </a:prstGeom>
              <a:blipFill rotWithShape="0">
                <a:blip r:embed="rId7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ixaDeTexto 16"/>
          <p:cNvSpPr txBox="1"/>
          <p:nvPr/>
        </p:nvSpPr>
        <p:spPr>
          <a:xfrm>
            <a:off x="1071236" y="2288157"/>
            <a:ext cx="2203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Sem entradas inibitórias.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6713859" y="2288156"/>
                <a:ext cx="2203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400" dirty="0"/>
                  <a:t> como entrada inibitória.</a:t>
                </a:r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859" y="2288156"/>
                <a:ext cx="2203452" cy="307777"/>
              </a:xfrm>
              <a:prstGeom prst="rect">
                <a:avLst/>
              </a:prstGeom>
              <a:blipFill rotWithShape="0">
                <a:blip r:embed="rId8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/>
              <p:cNvSpPr txBox="1"/>
              <p:nvPr/>
            </p:nvSpPr>
            <p:spPr>
              <a:xfrm>
                <a:off x="9293407" y="2288156"/>
                <a:ext cx="26869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4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400" dirty="0"/>
                  <a:t> como entradas inibitórias.</a:t>
                </a:r>
              </a:p>
            </p:txBody>
          </p:sp>
        </mc:Choice>
        <mc:Fallback xmlns="">
          <p:sp>
            <p:nvSpPr>
              <p:cNvPr id="19" name="CaixaDe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407" y="2288156"/>
                <a:ext cx="2686981" cy="307777"/>
              </a:xfrm>
              <a:prstGeom prst="rect">
                <a:avLst/>
              </a:prstGeom>
              <a:blipFill rotWithShape="0">
                <a:blip r:embed="rId9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1071235" y="4486219"/>
                <a:ext cx="220345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0&lt;</m:t>
                      </m:r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&lt;2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35" y="4486219"/>
                <a:ext cx="2203453" cy="338554"/>
              </a:xfrm>
              <a:prstGeom prst="rect">
                <a:avLst/>
              </a:prstGeom>
              <a:blipFill rotWithShape="0">
                <a:blip r:embed="rId1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ângulo 6"/>
              <p:cNvSpPr/>
              <p:nvPr/>
            </p:nvSpPr>
            <p:spPr>
              <a:xfrm>
                <a:off x="3850064" y="4478034"/>
                <a:ext cx="224593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6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1600" dirty="0"/>
                  <a:t> ou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endParaRPr lang="pt-BR" sz="1600" dirty="0"/>
              </a:p>
            </p:txBody>
          </p:sp>
        </mc:Choice>
        <mc:Fallback xmlns="">
          <p:sp>
            <p:nvSpPr>
              <p:cNvPr id="7" name="Retângulo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064" y="4478034"/>
                <a:ext cx="2245936" cy="338554"/>
              </a:xfrm>
              <a:prstGeom prst="rect">
                <a:avLst/>
              </a:prstGeom>
              <a:blipFill rotWithShape="0">
                <a:blip r:embed="rId11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tângulo 19"/>
              <p:cNvSpPr/>
              <p:nvPr/>
            </p:nvSpPr>
            <p:spPr>
              <a:xfrm>
                <a:off x="6697650" y="4500542"/>
                <a:ext cx="224593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160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pt-BR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1600" dirty="0"/>
                  <a:t> ou </a:t>
                </a:r>
                <a14:m>
                  <m:oMath xmlns:m="http://schemas.openxmlformats.org/officeDocument/2006/math">
                    <m:r>
                      <a:rPr lang="pt-BR" sz="16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1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pt-BR" sz="16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endParaRPr lang="pt-BR" sz="1600" dirty="0"/>
              </a:p>
            </p:txBody>
          </p:sp>
        </mc:Choice>
        <mc:Fallback xmlns="">
          <p:sp>
            <p:nvSpPr>
              <p:cNvPr id="20" name="Retângulo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650" y="4500542"/>
                <a:ext cx="2245936" cy="338554"/>
              </a:xfrm>
              <a:prstGeom prst="rect">
                <a:avLst/>
              </a:prstGeom>
              <a:blipFill rotWithShape="0">
                <a:blip r:embed="rId12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tângulo 20"/>
              <p:cNvSpPr/>
              <p:nvPr/>
            </p:nvSpPr>
            <p:spPr>
              <a:xfrm>
                <a:off x="9535170" y="4478034"/>
                <a:ext cx="220345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2&lt;</m:t>
                      </m:r>
                      <m:r>
                        <a:rPr lang="pt-BR" sz="160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sz="1600" b="0" i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21" name="Retâ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5170" y="4478034"/>
                <a:ext cx="2203453" cy="338554"/>
              </a:xfrm>
              <a:prstGeom prst="rect">
                <a:avLst/>
              </a:prstGeom>
              <a:blipFill rotWithShape="0">
                <a:blip r:embed="rId13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2972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94409" cy="4547879"/>
          </a:xfrm>
        </p:spPr>
        <p:txBody>
          <a:bodyPr/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– Redes Neurais Artificiais (Parte I)</a:t>
            </a:r>
            <a:r>
              <a:rPr lang="pt-BR" dirty="0"/>
              <a:t>” que se encontra no MS Teams.</a:t>
            </a:r>
          </a:p>
        </p:txBody>
      </p:sp>
    </p:spTree>
    <p:extLst>
      <p:ext uri="{BB962C8B-B14F-4D97-AF65-F5344CB8AC3E}">
        <p14:creationId xmlns:p14="http://schemas.microsoft.com/office/powerpoint/2010/main" val="35115113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8896"/>
            <a:ext cx="6865565" cy="500910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Em 1958, Frank Rosenblatt, propôs um novo </a:t>
            </a:r>
            <a:r>
              <a:rPr lang="pt-BR" b="1" i="1" dirty="0"/>
              <a:t>modelo computacional </a:t>
            </a:r>
            <a:r>
              <a:rPr lang="pt-BR" b="1" i="1" dirty="0">
                <a:solidFill>
                  <a:srgbClr val="00B050"/>
                </a:solidFill>
              </a:rPr>
              <a:t>mais geral</a:t>
            </a:r>
            <a:r>
              <a:rPr lang="pt-BR" dirty="0">
                <a:solidFill>
                  <a:srgbClr val="00B050"/>
                </a:solidFill>
              </a:rPr>
              <a:t> </a:t>
            </a:r>
            <a:r>
              <a:rPr lang="pt-BR" dirty="0"/>
              <a:t>que o modelo do </a:t>
            </a:r>
            <a:r>
              <a:rPr lang="pt-BR" b="1" i="1" dirty="0"/>
              <a:t>neurônio</a:t>
            </a:r>
            <a:r>
              <a:rPr lang="pt-BR" dirty="0"/>
              <a:t> de </a:t>
            </a:r>
            <a:r>
              <a:rPr lang="pt-BR" dirty="0" err="1"/>
              <a:t>McCulloch</a:t>
            </a:r>
            <a:r>
              <a:rPr lang="pt-BR" dirty="0"/>
              <a:t> e </a:t>
            </a:r>
            <a:r>
              <a:rPr lang="pt-BR" dirty="0" err="1"/>
              <a:t>Pitts</a:t>
            </a:r>
            <a:r>
              <a:rPr lang="pt-BR" dirty="0"/>
              <a:t>.</a:t>
            </a:r>
          </a:p>
          <a:p>
            <a:r>
              <a:rPr lang="pt-BR" dirty="0"/>
              <a:t>O modelo criado por ele foi chamado de </a:t>
            </a:r>
            <a:r>
              <a:rPr lang="pt-BR" b="1" i="1" dirty="0">
                <a:solidFill>
                  <a:srgbClr val="00B050"/>
                </a:solidFill>
              </a:rPr>
              <a:t>perceptron</a:t>
            </a:r>
            <a:r>
              <a:rPr lang="pt-BR" dirty="0"/>
              <a:t> e é mostrado na figura ao lado.</a:t>
            </a:r>
          </a:p>
          <a:p>
            <a:r>
              <a:rPr lang="pt-BR" dirty="0"/>
              <a:t>O </a:t>
            </a:r>
            <a:r>
              <a:rPr lang="pt-BR" b="1" i="1" dirty="0"/>
              <a:t>perceptron</a:t>
            </a:r>
            <a:r>
              <a:rPr lang="pt-BR" dirty="0"/>
              <a:t> é um modelo para </a:t>
            </a:r>
            <a:r>
              <a:rPr lang="pt-BR" b="1" i="1" dirty="0">
                <a:solidFill>
                  <a:srgbClr val="7030A0"/>
                </a:solidFill>
              </a:rPr>
              <a:t>aprendizado supervisionado</a:t>
            </a:r>
            <a:r>
              <a:rPr lang="pt-BR" dirty="0"/>
              <a:t> de </a:t>
            </a:r>
            <a:r>
              <a:rPr lang="pt-BR" b="1" i="1" dirty="0">
                <a:solidFill>
                  <a:srgbClr val="0070C0"/>
                </a:solidFill>
              </a:rPr>
              <a:t>classificadores binários</a:t>
            </a:r>
            <a:r>
              <a:rPr lang="pt-BR" dirty="0"/>
              <a:t>,</a:t>
            </a:r>
            <a:r>
              <a:rPr lang="pt-BR" b="1" i="1" dirty="0"/>
              <a:t> </a:t>
            </a:r>
            <a:r>
              <a:rPr lang="pt-BR" dirty="0"/>
              <a:t>ou seja </a:t>
            </a:r>
            <a:r>
              <a:rPr lang="pt-BR" b="1" i="1" dirty="0"/>
              <a:t>problemas com duas classes</a:t>
            </a:r>
            <a:r>
              <a:rPr lang="pt-BR" dirty="0"/>
              <a:t>.</a:t>
            </a:r>
          </a:p>
          <a:p>
            <a:r>
              <a:rPr lang="pt-BR" dirty="0"/>
              <a:t>Assim como o modelo de M-P, o </a:t>
            </a:r>
            <a:r>
              <a:rPr lang="pt-BR" b="1" i="1" dirty="0"/>
              <a:t>perceptron</a:t>
            </a:r>
            <a:r>
              <a:rPr lang="pt-BR" dirty="0"/>
              <a:t> só é capaz de classificar padrões </a:t>
            </a:r>
            <a:r>
              <a:rPr lang="pt-BR" b="1" i="1" dirty="0"/>
              <a:t>linearmente separáveis</a:t>
            </a:r>
            <a:r>
              <a:rPr lang="pt-BR" dirty="0"/>
              <a:t>.</a:t>
            </a:r>
          </a:p>
          <a:p>
            <a:r>
              <a:rPr lang="pt-BR" dirty="0"/>
              <a:t>Ou seja, um </a:t>
            </a:r>
            <a:r>
              <a:rPr lang="pt-BR" b="1" i="1" dirty="0"/>
              <a:t>perceptron</a:t>
            </a:r>
            <a:r>
              <a:rPr lang="pt-BR" dirty="0"/>
              <a:t> também não resolve o problema da classificação XOR.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3765" y="4336529"/>
            <a:ext cx="4488235" cy="1879826"/>
          </a:xfrm>
          <a:prstGeom prst="rect">
            <a:avLst/>
          </a:prstGeom>
        </p:spPr>
      </p:pic>
      <p:pic>
        <p:nvPicPr>
          <p:cNvPr id="3074" name="Picture 2" descr="Wikimedia Commons 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339" y="357736"/>
            <a:ext cx="2231461" cy="291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9537609" y="3210718"/>
            <a:ext cx="15836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/>
              <a:t>Frank </a:t>
            </a:r>
            <a:r>
              <a:rPr lang="pt-BR" sz="1600" dirty="0" err="1"/>
              <a:t>Rosenblatt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53852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9007" y="1555752"/>
            <a:ext cx="6246011" cy="5302247"/>
          </a:xfrm>
        </p:spPr>
        <p:txBody>
          <a:bodyPr>
            <a:normAutofit/>
          </a:bodyPr>
          <a:lstStyle/>
          <a:p>
            <a:r>
              <a:rPr lang="pt-BR" dirty="0"/>
              <a:t>Esse novo modelo supera algumas das limitações do modelo de M-P: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Introdução do conceito de </a:t>
            </a:r>
            <a:r>
              <a:rPr lang="pt-BR" b="1" i="1" dirty="0"/>
              <a:t>pesos sinápticos com valores reais </a:t>
            </a:r>
            <a:r>
              <a:rPr lang="pt-BR" dirty="0"/>
              <a:t>para as entradas (ou </a:t>
            </a:r>
            <a:r>
              <a:rPr lang="pt-BR" b="1" i="1" dirty="0"/>
              <a:t>sinapses</a:t>
            </a:r>
            <a:r>
              <a:rPr lang="pt-BR" dirty="0"/>
              <a:t>).</a:t>
            </a:r>
            <a:endParaRPr lang="pt-BR" b="1" i="1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pt-BR" dirty="0"/>
              <a:t>Pesos dão uma medida de importância das sinapses (i.e., atributos).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um método para que o modelo </a:t>
            </a:r>
            <a:r>
              <a:rPr lang="pt-BR" b="1" i="1" dirty="0">
                <a:solidFill>
                  <a:srgbClr val="7030A0"/>
                </a:solidFill>
              </a:rPr>
              <a:t>aprenda automaticamente os pesos e o ponto de ativação</a:t>
            </a:r>
            <a:r>
              <a:rPr lang="pt-BR" dirty="0"/>
              <a:t>, que passa a ser um peso também. </a:t>
            </a:r>
          </a:p>
        </p:txBody>
      </p:sp>
      <p:pic>
        <p:nvPicPr>
          <p:cNvPr id="17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56" y="2934022"/>
            <a:ext cx="5393604" cy="225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863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1" y="1690688"/>
                <a:ext cx="6645827" cy="516731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Além disso, as entradas não são mais limitadas a valores booleanos, como no caso do modelo de M-P,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suportando entradas com valores reais</a:t>
                </a:r>
                <a:r>
                  <a:rPr lang="pt-BR" dirty="0"/>
                  <a:t>, o que torna este modelo mais útil e generalizado.</a:t>
                </a:r>
              </a:p>
              <a:p>
                <a:r>
                  <a:rPr lang="pt-BR" dirty="0"/>
                  <a:t>Assim como no modelo de M-P, a </a:t>
                </a:r>
                <a:r>
                  <a:rPr lang="pt-BR" b="1" i="1" dirty="0"/>
                  <a:t>função de ativação</a:t>
                </a:r>
                <a:r>
                  <a:rPr lang="pt-BR" dirty="0"/>
                  <a:t> utilizada pelo </a:t>
                </a:r>
                <a:r>
                  <a:rPr lang="pt-BR" b="1" i="1" dirty="0"/>
                  <a:t>perceptron</a:t>
                </a:r>
                <a:r>
                  <a:rPr lang="pt-BR" dirty="0"/>
                  <a:t> também é a </a:t>
                </a:r>
                <a:r>
                  <a:rPr lang="pt-BR" b="1" i="1" dirty="0"/>
                  <a:t>função degrau</a:t>
                </a:r>
                <a:r>
                  <a:rPr lang="pt-BR" dirty="0"/>
                  <a:t> com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diferença que a transição não mais depende do 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Ou seja, a transição ou ativação sempre ocorre em 0.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690688"/>
                <a:ext cx="6645827" cy="5167311"/>
              </a:xfrm>
              <a:blipFill rotWithShape="0">
                <a:blip r:embed="rId3"/>
                <a:stretch>
                  <a:fillRect l="-1651" t="-188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12691" y="3045723"/>
                <a:ext cx="3877116" cy="1818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endParaRPr lang="pt-BR" dirty="0">
                  <a:ea typeface="Cambria Math" panose="02040503050406030204" pitchFamily="18" charset="0"/>
                </a:endParaRPr>
              </a:p>
              <a:p>
                <a:r>
                  <a:rPr lang="pt-BR" dirty="0">
                    <a:ea typeface="Cambria Math" panose="02040503050406030204" pitchFamily="18" charset="0"/>
                  </a:rPr>
                  <a:t>Percebam que 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, agora faz parte das entradas e é chamado de </a:t>
                </a:r>
                <a:r>
                  <a:rPr lang="pt-BR" b="1" i="1" dirty="0"/>
                  <a:t>bias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691" y="3045723"/>
                <a:ext cx="3877116" cy="1818190"/>
              </a:xfrm>
              <a:prstGeom prst="rect">
                <a:avLst/>
              </a:prstGeom>
              <a:blipFill rotWithShape="0">
                <a:blip r:embed="rId4"/>
                <a:stretch>
                  <a:fillRect l="-1415" b="-43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8585491" y="4929313"/>
            <a:ext cx="3142324" cy="1550303"/>
            <a:chOff x="511819" y="4987108"/>
            <a:chExt cx="3142324" cy="1550303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1038292" y="4987108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047979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/>
          <p:cNvSpPr/>
          <p:nvPr/>
        </p:nvSpPr>
        <p:spPr>
          <a:xfrm>
            <a:off x="10121493" y="5281655"/>
            <a:ext cx="2058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i="1" dirty="0"/>
              <a:t>função de ativação </a:t>
            </a:r>
            <a:endParaRPr lang="pt-BR" dirty="0"/>
          </a:p>
        </p:txBody>
      </p:sp>
      <p:pic>
        <p:nvPicPr>
          <p:cNvPr id="17" name="Picture 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229" y="1114245"/>
            <a:ext cx="3869771" cy="162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352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ativação do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86655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 ativação do </a:t>
                </a:r>
                <a:r>
                  <a:rPr lang="pt-BR" b="1" i="1" dirty="0"/>
                  <a:t>perceptron</a:t>
                </a:r>
                <a:r>
                  <a:rPr lang="pt-BR" dirty="0"/>
                  <a:t> é causada pela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combinação linear </a:t>
                </a:r>
                <a:r>
                  <a:rPr lang="pt-BR" dirty="0"/>
                  <a:t>dos </a:t>
                </a:r>
                <a:r>
                  <a:rPr lang="pt-BR" b="1" i="1" dirty="0"/>
                  <a:t>estímulos de entrada </a:t>
                </a:r>
                <a:r>
                  <a:rPr lang="pt-BR" dirty="0"/>
                  <a:t>em relação aos </a:t>
                </a:r>
                <a:r>
                  <a:rPr lang="pt-BR" b="1" i="1" dirty="0"/>
                  <a:t>pesos sinápticos</a:t>
                </a:r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Se a </a:t>
                </a:r>
                <a:r>
                  <a:rPr lang="pt-BR" b="1" i="1" dirty="0"/>
                  <a:t>combinação linear </a:t>
                </a:r>
                <a:r>
                  <a:rPr lang="pt-BR" dirty="0"/>
                  <a:t>exceder o </a:t>
                </a:r>
                <a:r>
                  <a:rPr lang="pt-BR" b="1" i="1" dirty="0"/>
                  <a:t>limiar de ativação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, o </a:t>
                </a:r>
                <a:r>
                  <a:rPr lang="pt-BR" b="1" i="1" dirty="0"/>
                  <a:t>disparo</a:t>
                </a:r>
                <a:r>
                  <a:rPr lang="pt-BR" dirty="0"/>
                  <a:t> ocorre.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Isso é expresso por uma </a:t>
                </a:r>
                <a:r>
                  <a:rPr lang="pt-BR" b="1" i="1" dirty="0"/>
                  <a:t>função de ativação </a:t>
                </a:r>
                <a:r>
                  <a:rPr lang="pt-BR" dirty="0"/>
                  <a:t>do tipo </a:t>
                </a:r>
                <a:r>
                  <a:rPr lang="pt-BR" b="1" i="1" dirty="0"/>
                  <a:t>degrau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86655" cy="5032376"/>
              </a:xfrm>
              <a:blipFill>
                <a:blip r:embed="rId3"/>
                <a:stretch>
                  <a:fillRect l="-999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992" y="3960994"/>
            <a:ext cx="5816287" cy="2436061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590468" y="4576353"/>
            <a:ext cx="3142324" cy="1550303"/>
            <a:chOff x="511819" y="4987108"/>
            <a:chExt cx="3142324" cy="1550303"/>
          </a:xfrm>
        </p:grpSpPr>
        <p:cxnSp>
          <p:nvCxnSpPr>
            <p:cNvPr id="6" name="Straight Arrow Connector 6"/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7"/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8"/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9"/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0"/>
                <p:cNvSpPr/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1"/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2"/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53585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ativação do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222422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Notem que a </a:t>
                </a:r>
                <a:r>
                  <a:rPr lang="pt-BR" b="1" i="1" dirty="0"/>
                  <a:t>função de ativação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(.)</m:t>
                    </m:r>
                  </m:oMath>
                </a14:m>
                <a:r>
                  <a:rPr lang="pt-BR" dirty="0"/>
                  <a:t>, abaixo tem a transição para o valor 1 quando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 e o </a:t>
                </a:r>
                <a:r>
                  <a:rPr lang="pt-BR" b="1" i="1" dirty="0"/>
                  <a:t>limiar de ativação </a:t>
                </a:r>
                <a:r>
                  <a:rPr lang="pt-BR" dirty="0"/>
                  <a:t>é controlado, indiretamente, pelo valor do </a:t>
                </a:r>
                <a:r>
                  <a:rPr lang="pt-BR" b="1" i="1" dirty="0"/>
                  <a:t>peso de bias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</a:t>
                </a:r>
                <a:r>
                  <a:rPr lang="pt-BR" b="1" i="1" dirty="0"/>
                  <a:t>limiar de ativação </a:t>
                </a:r>
                <a:r>
                  <a:rPr lang="pt-BR" dirty="0"/>
                  <a:t>foi absorvido pela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ativação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e, portanto, podemos usar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função de ativação com transição fixa em zero</a:t>
                </a:r>
                <a:r>
                  <a:rPr lang="pt-BR" dirty="0"/>
                  <a:t>, pois, agora, ajusta-se o limiar de ativação indiretamente através da atualização do peso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222422" cy="5032376"/>
              </a:xfrm>
              <a:blipFill rotWithShape="0">
                <a:blip r:embed="rId3"/>
                <a:stretch>
                  <a:fillRect l="-923" t="-1937" r="-15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/>
          <p:cNvGrpSpPr/>
          <p:nvPr/>
        </p:nvGrpSpPr>
        <p:grpSpPr>
          <a:xfrm>
            <a:off x="1491004" y="4815342"/>
            <a:ext cx="3142324" cy="1550303"/>
            <a:chOff x="511819" y="4987108"/>
            <a:chExt cx="3142324" cy="1550303"/>
          </a:xfrm>
        </p:grpSpPr>
        <p:cxnSp>
          <p:nvCxnSpPr>
            <p:cNvPr id="6" name="Straight Arrow Connector 6"/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7"/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8"/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9"/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0"/>
                <p:cNvSpPr/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1"/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2"/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6"/>
              <p:cNvSpPr txBox="1"/>
              <p:nvPr/>
            </p:nvSpPr>
            <p:spPr>
              <a:xfrm>
                <a:off x="5247181" y="4483351"/>
                <a:ext cx="6702361" cy="20095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/>
                  <a:t>Para que tenhamos a saída do perceptron,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, igual a 1, então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0 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Por exemplo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13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7181" y="4483351"/>
                <a:ext cx="6702361" cy="2009524"/>
              </a:xfrm>
              <a:prstGeom prst="rect">
                <a:avLst/>
              </a:prstGeom>
              <a:blipFill rotWithShape="0">
                <a:blip r:embed="rId10"/>
                <a:stretch>
                  <a:fillRect l="-819" t="-1515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018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ativação do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42518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podemos ver, a </a:t>
                </a:r>
                <a:r>
                  <a:rPr lang="pt-BR" b="1" i="1" dirty="0"/>
                  <a:t>função discriminante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do </a:t>
                </a:r>
                <a:r>
                  <a:rPr lang="pt-BR" b="1" i="1" dirty="0"/>
                  <a:t>perceptron</a:t>
                </a:r>
                <a:r>
                  <a:rPr lang="pt-BR" dirty="0"/>
                  <a:t> tem a forma de um </a:t>
                </a:r>
                <a:r>
                  <a:rPr lang="pt-BR" b="1" i="1" dirty="0"/>
                  <a:t>hiperplano</a:t>
                </a: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pt-BR" dirty="0"/>
                  <a:t>,</a:t>
                </a:r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é o atributo de bias com valor constante igual a 1.</a:t>
                </a:r>
              </a:p>
              <a:p>
                <a:r>
                  <a:rPr lang="pt-BR" dirty="0"/>
                  <a:t>Portanto, como já sabemos, este tipo de função</a:t>
                </a:r>
                <a:r>
                  <a:rPr lang="pt-BR" b="1" i="1" dirty="0"/>
                  <a:t> </a:t>
                </a:r>
                <a:r>
                  <a:rPr lang="pt-BR" dirty="0"/>
                  <a:t>dá origem a um </a:t>
                </a:r>
                <a:r>
                  <a:rPr lang="pt-BR" b="1" i="1" dirty="0"/>
                  <a:t>classificador</a:t>
                </a:r>
                <a:r>
                  <a:rPr lang="pt-BR" dirty="0"/>
                  <a:t> </a:t>
                </a:r>
                <a:r>
                  <a:rPr lang="pt-BR" b="1" i="1" dirty="0"/>
                  <a:t>binário </a:t>
                </a:r>
                <a:r>
                  <a:rPr lang="pt-BR" dirty="0"/>
                  <a:t>onde as classes são separadas por uma </a:t>
                </a:r>
                <a:r>
                  <a:rPr lang="pt-BR" b="1" i="1" dirty="0"/>
                  <a:t>superfície de separação linear</a:t>
                </a:r>
                <a:r>
                  <a:rPr lang="pt-BR" dirty="0"/>
                  <a:t>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42518" cy="5032376"/>
              </a:xfrm>
              <a:blipFill>
                <a:blip r:embed="rId3"/>
                <a:stretch>
                  <a:fillRect l="-1149" t="-1937" r="-71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594" y="4754693"/>
            <a:ext cx="4895085" cy="205023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879751" y="5203372"/>
            <a:ext cx="3142324" cy="1550303"/>
            <a:chOff x="511819" y="4987108"/>
            <a:chExt cx="3142324" cy="1550303"/>
          </a:xfrm>
        </p:grpSpPr>
        <p:cxnSp>
          <p:nvCxnSpPr>
            <p:cNvPr id="6" name="Straight Arrow Connector 6"/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7"/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8"/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9"/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10"/>
                <p:cNvSpPr/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1"/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2"/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tângulo 13"/>
          <p:cNvSpPr/>
          <p:nvPr/>
        </p:nvSpPr>
        <p:spPr>
          <a:xfrm>
            <a:off x="7958174" y="2858023"/>
            <a:ext cx="35389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/>
              <a:t>combinação linear das entradas em relação aos pesos</a:t>
            </a:r>
          </a:p>
        </p:txBody>
      </p:sp>
    </p:spTree>
    <p:extLst>
      <p:ext uri="{BB962C8B-B14F-4D97-AF65-F5344CB8AC3E}">
        <p14:creationId xmlns:p14="http://schemas.microsoft.com/office/powerpoint/2010/main" val="632183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1123"/>
            <a:ext cx="10515600" cy="1325563"/>
          </a:xfrm>
        </p:spPr>
        <p:txBody>
          <a:bodyPr/>
          <a:lstStyle/>
          <a:p>
            <a:r>
              <a:rPr lang="pt-BR" dirty="0"/>
              <a:t>Regra de aprendizado do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77244" y="1828800"/>
                <a:ext cx="7117771" cy="50292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Devido ao fato da </a:t>
                </a:r>
                <a:r>
                  <a:rPr lang="pt-BR" b="1" i="1" dirty="0"/>
                  <a:t>função degrau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, ter derivada igual a zero em todos os pontos, exceto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dirty="0"/>
                  <a:t>, onde ela é indefinida, nós não podemos utilizar o </a:t>
                </a:r>
                <a:r>
                  <a:rPr lang="pt-BR" b="1" i="1" dirty="0"/>
                  <a:t>gradiente descendente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Entretanto, como aprendemos anteriormente, podemos usar a </a:t>
                </a:r>
                <a:r>
                  <a:rPr lang="pt-BR" b="1" i="1" dirty="0"/>
                  <a:t>regra de aprendizado do perceptron</a:t>
                </a:r>
                <a:r>
                  <a:rPr lang="pt-BR" dirty="0"/>
                  <a:t> para treinar o modelo.</a:t>
                </a:r>
              </a:p>
              <a:p>
                <a:r>
                  <a:rPr lang="pt-BR" dirty="0"/>
                  <a:t>É uma regra </a:t>
                </a:r>
                <a:r>
                  <a:rPr lang="pt-BR" b="1" i="1" dirty="0"/>
                  <a:t>simples e intuitiva </a:t>
                </a:r>
                <a:r>
                  <a:rPr lang="pt-BR" dirty="0"/>
                  <a:t>para atualização dos pesos do modelo proposta por Frank </a:t>
                </a:r>
                <a:r>
                  <a:rPr lang="pt-BR" dirty="0" err="1"/>
                  <a:t>Rosenblatt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77244" y="1828800"/>
                <a:ext cx="7117771" cy="5029200"/>
              </a:xfrm>
              <a:blipFill>
                <a:blip r:embed="rId3"/>
                <a:stretch>
                  <a:fillRect l="-1541" t="-1939" r="-2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5">
            <a:extLst>
              <a:ext uri="{FF2B5EF4-FFF2-40B4-BE49-F238E27FC236}">
                <a16:creationId xmlns:a16="http://schemas.microsoft.com/office/drawing/2014/main" id="{3015D60B-A9A8-B47C-EC59-E420297DA671}"/>
              </a:ext>
            </a:extLst>
          </p:cNvPr>
          <p:cNvGrpSpPr/>
          <p:nvPr/>
        </p:nvGrpSpPr>
        <p:grpSpPr>
          <a:xfrm>
            <a:off x="838200" y="3013363"/>
            <a:ext cx="3666662" cy="1891145"/>
            <a:chOff x="511819" y="4987108"/>
            <a:chExt cx="3142324" cy="1550303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8EDAE7C-9117-2BCE-4FF6-4072C41540E3}"/>
                </a:ext>
              </a:extLst>
            </p:cNvPr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DC52D8C-8156-8629-91FE-6190A3A784E7}"/>
                </a:ext>
              </a:extLst>
            </p:cNvPr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0D90C9-4FB6-86DD-19D0-4B61D8B74219}"/>
                </a:ext>
              </a:extLst>
            </p:cNvPr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FAB809A-F3C6-DBA6-A5FE-76B922FF44D8}"/>
                    </a:ext>
                  </a:extLst>
                </p:cNvPr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EAD2F44B-D8A8-08C2-3DAD-9959FD8B5794}"/>
                    </a:ext>
                  </a:extLst>
                </p:cNvPr>
                <p:cNvSpPr/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483163" cy="404983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41CEFF1-6186-EC70-931C-CED50CE16180}"/>
                    </a:ext>
                  </a:extLst>
                </p:cNvPr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4F72519-E71A-A2D8-C367-6FFDDAE6445D}"/>
                    </a:ext>
                  </a:extLst>
                </p:cNvPr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0645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1123"/>
            <a:ext cx="10515600" cy="1325563"/>
          </a:xfrm>
        </p:spPr>
        <p:txBody>
          <a:bodyPr/>
          <a:lstStyle/>
          <a:p>
            <a:r>
              <a:rPr lang="pt-BR" dirty="0"/>
              <a:t>Regra de aprendizado do 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8800"/>
                <a:ext cx="11267209" cy="5029200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 caso do perceptron, 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</a:t>
                </a:r>
                <a:r>
                  <a:rPr lang="pt-BR" b="1" i="1" dirty="0"/>
                  <a:t>por definição</a:t>
                </a:r>
                <a:r>
                  <a:rPr lang="pt-BR" dirty="0"/>
                  <a:t>, é um </a:t>
                </a:r>
                <a:r>
                  <a:rPr lang="pt-BR" b="1" i="1" dirty="0"/>
                  <a:t>hiperplano</a:t>
                </a:r>
                <a:r>
                  <a:rPr lang="pt-BR" dirty="0"/>
                  <a:t>, a regra converge para uma solução perfeita se as classes forem </a:t>
                </a:r>
                <a:r>
                  <a:rPr lang="pt-BR" b="1" i="1" dirty="0"/>
                  <a:t>linearmente separáveis</a:t>
                </a:r>
                <a:r>
                  <a:rPr lang="pt-BR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Classes </a:t>
                </a:r>
                <a:r>
                  <a:rPr lang="pt-BR" b="1" i="1" dirty="0"/>
                  <a:t>suficientemente espaçadas </a:t>
                </a:r>
                <a:r>
                  <a:rPr lang="pt-BR" dirty="0"/>
                  <a:t>e que podem ser separadas por um </a:t>
                </a:r>
                <a:r>
                  <a:rPr lang="pt-BR" b="1" i="1" dirty="0"/>
                  <a:t>hiperplano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/>
                  <a:t>equação de atualização dos</a:t>
                </a:r>
                <a:r>
                  <a:rPr lang="pt-BR" dirty="0"/>
                  <a:t> </a:t>
                </a:r>
                <a:r>
                  <a:rPr lang="pt-BR" b="1" i="1" dirty="0"/>
                  <a:t>pesos </a:t>
                </a:r>
                <a:r>
                  <a:rPr lang="pt-BR" dirty="0"/>
                  <a:t>é definida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pt-B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pt-BR" dirty="0"/>
                  <a:t> é o vetor de pesos,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é o passo de aprendizagem,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é o valor de saída esperado,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pt-BR" dirty="0"/>
                  <a:t> é a saída do modelo, i.e.,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, 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é o vetor de atributos.</a:t>
                </a:r>
              </a:p>
              <a:p>
                <a:r>
                  <a:rPr lang="pt-BR" dirty="0"/>
                  <a:t>Notem que a equação é idêntica a da atualização do gradiente descendente estocástico.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8800"/>
                <a:ext cx="11267209" cy="5029200"/>
              </a:xfrm>
              <a:blipFill>
                <a:blip r:embed="rId3"/>
                <a:stretch>
                  <a:fillRect l="-1082" t="-1939" r="-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6596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46073" y="1838725"/>
                <a:ext cx="7107381" cy="503292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Como percebemos, o </a:t>
                </a:r>
                <a:r>
                  <a:rPr lang="pt-BR" b="1" i="1" dirty="0"/>
                  <a:t>perceptron</a:t>
                </a:r>
                <a:r>
                  <a:rPr lang="pt-BR" dirty="0"/>
                  <a:t> é idêntico ao </a:t>
                </a:r>
                <a:r>
                  <a:rPr lang="pt-BR" b="1" i="1" dirty="0"/>
                  <a:t>classificador binário com limiar de decisão rígido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 definição, o </a:t>
                </a:r>
                <a:r>
                  <a:rPr lang="pt-BR" b="1" i="1" dirty="0"/>
                  <a:t>perceptron</a:t>
                </a:r>
                <a:r>
                  <a:rPr lang="pt-BR" dirty="0"/>
                  <a:t> sempre utiliza </a:t>
                </a:r>
                <a:r>
                  <a:rPr lang="pt-BR" b="1" i="1" dirty="0"/>
                  <a:t>superfícies de separação lineares</a:t>
                </a:r>
                <a:r>
                  <a:rPr lang="pt-BR" dirty="0"/>
                  <a:t>, ou seja, sempre teremos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 como sendo a equação de um </a:t>
                </a:r>
                <a:r>
                  <a:rPr lang="pt-BR" b="1" i="1" dirty="0"/>
                  <a:t>hiperplano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46073" y="1838725"/>
                <a:ext cx="7107381" cy="5032923"/>
              </a:xfrm>
              <a:blipFill>
                <a:blip r:embed="rId3"/>
                <a:stretch>
                  <a:fillRect l="-1544" t="-2061" r="-2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" r="4031"/>
          <a:stretch/>
        </p:blipFill>
        <p:spPr>
          <a:xfrm>
            <a:off x="1253837" y="2202644"/>
            <a:ext cx="2916422" cy="2994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567736" y="5280693"/>
                <a:ext cx="23022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A separação das duas classes ocorre onde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736" y="5280693"/>
                <a:ext cx="2302283" cy="523220"/>
              </a:xfrm>
              <a:prstGeom prst="rect">
                <a:avLst/>
              </a:prstGeom>
              <a:blipFill>
                <a:blip r:embed="rId5"/>
                <a:stretch>
                  <a:fillRect t="-1163" r="-1852" b="-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3475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A9F8-1F3F-CC96-2A55-782E8E66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7762-ACD7-AB59-3C18-8EDF4008E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CD6CB-14A5-6C17-7BAE-FB95ACF72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073" y="1838725"/>
            <a:ext cx="7245927" cy="5032923"/>
          </a:xfrm>
        </p:spPr>
        <p:txBody>
          <a:bodyPr>
            <a:normAutofit/>
          </a:bodyPr>
          <a:lstStyle/>
          <a:p>
            <a:r>
              <a:rPr lang="pt-BR" dirty="0"/>
              <a:t>Portanto, </a:t>
            </a:r>
            <a:r>
              <a:rPr lang="pt-BR" b="1" dirty="0">
                <a:solidFill>
                  <a:srgbClr val="7030A0"/>
                </a:solidFill>
              </a:rPr>
              <a:t>teoricamente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sem transformação dos atributos</a:t>
            </a:r>
            <a:r>
              <a:rPr lang="pt-BR" dirty="0"/>
              <a:t>, um </a:t>
            </a:r>
            <a:r>
              <a:rPr lang="pt-BR" b="1" i="1" dirty="0">
                <a:solidFill>
                  <a:srgbClr val="FF0000"/>
                </a:solidFill>
              </a:rPr>
              <a:t>único</a:t>
            </a:r>
            <a:r>
              <a:rPr lang="pt-BR" dirty="0"/>
              <a:t> </a:t>
            </a:r>
            <a:r>
              <a:rPr lang="pt-BR" b="1" i="1" dirty="0"/>
              <a:t>perceptron</a:t>
            </a:r>
            <a:r>
              <a:rPr lang="pt-BR" dirty="0"/>
              <a:t> só é capaz de </a:t>
            </a:r>
            <a:r>
              <a:rPr lang="pt-BR" b="1" i="1" dirty="0"/>
              <a:t>classificar</a:t>
            </a:r>
            <a:r>
              <a:rPr lang="pt-BR" dirty="0"/>
              <a:t> dados que sejam </a:t>
            </a:r>
            <a:r>
              <a:rPr lang="pt-BR" b="1" i="1" dirty="0"/>
              <a:t>linearmente separáveis </a:t>
            </a:r>
          </a:p>
          <a:p>
            <a:r>
              <a:rPr lang="pt-BR" dirty="0"/>
              <a:t>Ou seja, só classifica dados separáveis por um </a:t>
            </a:r>
            <a:r>
              <a:rPr lang="pt-BR" b="1" i="1" dirty="0"/>
              <a:t>hiperplano</a:t>
            </a:r>
            <a:r>
              <a:rPr lang="pt-BR" dirty="0"/>
              <a:t>.</a:t>
            </a:r>
          </a:p>
          <a:p>
            <a:r>
              <a:rPr lang="pt-BR" dirty="0"/>
              <a:t>A figura ao lado ilustra isso para um caso bidimensional.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5F72A9-DD3E-BBF5-8C17-3873EFB2677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" r="4031"/>
          <a:stretch/>
        </p:blipFill>
        <p:spPr>
          <a:xfrm>
            <a:off x="1253837" y="2202644"/>
            <a:ext cx="2916422" cy="2994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DBA5D674-8483-B8F5-1337-9A605D632F3A}"/>
                  </a:ext>
                </a:extLst>
              </p:cNvPr>
              <p:cNvSpPr txBox="1"/>
              <p:nvPr/>
            </p:nvSpPr>
            <p:spPr>
              <a:xfrm>
                <a:off x="1567736" y="5280693"/>
                <a:ext cx="23022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A separação das duas classes ocorre onde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736" y="5280693"/>
                <a:ext cx="2302283" cy="523220"/>
              </a:xfrm>
              <a:prstGeom prst="rect">
                <a:avLst/>
              </a:prstGeom>
              <a:blipFill>
                <a:blip r:embed="rId5"/>
                <a:stretch>
                  <a:fillRect t="-1163" r="-1852" b="-1162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091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56465" y="1838725"/>
                <a:ext cx="7148944" cy="503292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Entretanto, como veremos na sequência, podemos </a:t>
                </a:r>
                <a:r>
                  <a:rPr lang="pt-BR" b="1" i="1" dirty="0">
                    <a:solidFill>
                      <a:schemeClr val="accent5"/>
                    </a:solidFill>
                  </a:rPr>
                  <a:t>combinar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 os resultados de vários perceptrons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para criar </a:t>
                </a:r>
                <a:r>
                  <a:rPr lang="pt-BR" b="1" i="1" dirty="0"/>
                  <a:t>superfícies de separação </a:t>
                </a:r>
                <a:r>
                  <a:rPr lang="pt-BR" dirty="0"/>
                  <a:t>que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separem dados que não sejam linearmente separáveis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sem a necessidade de transformar os atributos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Ou seja, não precisaremos usar funções discriminantes,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pt-BR" dirty="0"/>
                  <a:t>, com outros formatos (e.g., polinômios) que não sejam o de um hiperplano.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6465" y="1838725"/>
                <a:ext cx="7148944" cy="5032923"/>
              </a:xfrm>
              <a:blipFill>
                <a:blip r:embed="rId3"/>
                <a:stretch>
                  <a:fillRect l="-1535" t="-2061" r="-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" r="4031"/>
          <a:stretch/>
        </p:blipFill>
        <p:spPr>
          <a:xfrm>
            <a:off x="1419784" y="2223426"/>
            <a:ext cx="2916422" cy="29944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733683" y="5301475"/>
                <a:ext cx="23022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/>
                  <a:t>A separação das duas classes ocorre onde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t-BR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pt-BR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pt-BR" sz="1400" dirty="0"/>
                  <a:t>.</a:t>
                </a: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683" y="5301475"/>
                <a:ext cx="2302283" cy="523220"/>
              </a:xfrm>
              <a:prstGeom prst="rect">
                <a:avLst/>
              </a:prstGeom>
              <a:blipFill>
                <a:blip r:embed="rId5"/>
                <a:stretch>
                  <a:fillRect t="-2353" r="-1852" b="-117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5256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57524" cy="5032376"/>
          </a:xfrm>
        </p:spPr>
        <p:txBody>
          <a:bodyPr>
            <a:normAutofit/>
          </a:bodyPr>
          <a:lstStyle/>
          <a:p>
            <a:r>
              <a:rPr lang="pt-BR" dirty="0"/>
              <a:t>Por serem </a:t>
            </a:r>
            <a:r>
              <a:rPr lang="pt-BR" b="1" i="1" dirty="0"/>
              <a:t>linearmente separáveis</a:t>
            </a:r>
            <a:r>
              <a:rPr lang="pt-BR" dirty="0"/>
              <a:t>, as lógicas AND e OR podem ser separadas por um único perceptron.</a:t>
            </a:r>
          </a:p>
          <a:p>
            <a:r>
              <a:rPr lang="pt-BR" dirty="0"/>
              <a:t>As figuras abaixo demonstram que uma simples reta consegue separar os dados das duas lógicas.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" t="2973" r="5273" b="4593"/>
          <a:stretch/>
        </p:blipFill>
        <p:spPr>
          <a:xfrm>
            <a:off x="1514759" y="3894999"/>
            <a:ext cx="2278719" cy="2192854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0" t="3493" r="5345" b="4909"/>
          <a:stretch/>
        </p:blipFill>
        <p:spPr>
          <a:xfrm>
            <a:off x="6052754" y="4034420"/>
            <a:ext cx="2075616" cy="1973635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294" y="6228914"/>
            <a:ext cx="1714919" cy="591480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062639"/>
              </p:ext>
            </p:extLst>
          </p:nvPr>
        </p:nvGraphicFramePr>
        <p:xfrm>
          <a:off x="131612" y="4209325"/>
          <a:ext cx="125952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3461"/>
              </p:ext>
            </p:extLst>
          </p:nvPr>
        </p:nvGraphicFramePr>
        <p:xfrm>
          <a:off x="4444676" y="4259238"/>
          <a:ext cx="1259529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1F602F12-4CB7-4147-47F7-89E0ABAD60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548" y="5093654"/>
            <a:ext cx="2101176" cy="914401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C05C679E-8742-35C7-8752-C8FF728AA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486057"/>
              </p:ext>
            </p:extLst>
          </p:nvPr>
        </p:nvGraphicFramePr>
        <p:xfrm>
          <a:off x="8701568" y="4818925"/>
          <a:ext cx="83968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28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705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9364" y="1825624"/>
            <a:ext cx="6785263" cy="5032376"/>
          </a:xfrm>
        </p:spPr>
        <p:txBody>
          <a:bodyPr>
            <a:normAutofit/>
          </a:bodyPr>
          <a:lstStyle/>
          <a:p>
            <a:r>
              <a:rPr lang="pt-BR" dirty="0"/>
              <a:t>Porém, a lógica XOR </a:t>
            </a:r>
            <a:r>
              <a:rPr lang="pt-BR" b="1" i="1" dirty="0">
                <a:solidFill>
                  <a:srgbClr val="00B050"/>
                </a:solidFill>
              </a:rPr>
              <a:t>não é linearmente separável </a:t>
            </a:r>
            <a:r>
              <a:rPr lang="pt-BR" dirty="0"/>
              <a:t>e necessita de uma </a:t>
            </a:r>
            <a:r>
              <a:rPr lang="pt-BR" b="1" i="1" dirty="0">
                <a:solidFill>
                  <a:srgbClr val="7030A0"/>
                </a:solidFill>
              </a:rPr>
              <a:t>superfície de separação não-linear</a:t>
            </a:r>
            <a:r>
              <a:rPr lang="pt-BR" dirty="0"/>
              <a:t>. </a:t>
            </a:r>
          </a:p>
          <a:p>
            <a:r>
              <a:rPr lang="pt-BR" dirty="0"/>
              <a:t>Vejam na figura que são necessárias </a:t>
            </a:r>
            <a:r>
              <a:rPr lang="pt-BR" b="1" i="1" dirty="0">
                <a:solidFill>
                  <a:schemeClr val="accent2"/>
                </a:solidFill>
              </a:rPr>
              <a:t>no mínimo</a:t>
            </a:r>
            <a:r>
              <a:rPr lang="pt-BR" b="1" i="1" dirty="0">
                <a:solidFill>
                  <a:srgbClr val="7030A0"/>
                </a:solidFill>
              </a:rPr>
              <a:t> duas retas paralelas</a:t>
            </a:r>
            <a:r>
              <a:rPr lang="pt-BR" dirty="0"/>
              <a:t>.</a:t>
            </a:r>
          </a:p>
          <a:p>
            <a:r>
              <a:rPr lang="pt-BR" dirty="0"/>
              <a:t>Como veremos, a </a:t>
            </a:r>
            <a:r>
              <a:rPr lang="pt-BR" b="1" i="1" dirty="0">
                <a:solidFill>
                  <a:srgbClr val="00B0F0"/>
                </a:solidFill>
              </a:rPr>
              <a:t>separação da lógica XOR pode ser obtida </a:t>
            </a:r>
            <a:r>
              <a:rPr lang="pt-BR" b="1" i="1" dirty="0">
                <a:solidFill>
                  <a:schemeClr val="accent2"/>
                </a:solidFill>
              </a:rPr>
              <a:t>combinando-se</a:t>
            </a:r>
            <a:r>
              <a:rPr lang="pt-BR" b="1" i="1" dirty="0">
                <a:solidFill>
                  <a:srgbClr val="00B0F0"/>
                </a:solidFill>
              </a:rPr>
              <a:t> o resultado de no mínimo dois perceptrons </a:t>
            </a:r>
            <a:r>
              <a:rPr lang="pt-BR" dirty="0"/>
              <a:t>(i.e., dois classificadores lineares), </a:t>
            </a:r>
          </a:p>
          <a:p>
            <a:r>
              <a:rPr lang="pt-BR" dirty="0"/>
              <a:t>Essa combinação resultará em uma </a:t>
            </a:r>
            <a:r>
              <a:rPr lang="pt-BR" b="1" i="1" dirty="0">
                <a:solidFill>
                  <a:schemeClr val="accent5"/>
                </a:solidFill>
              </a:rPr>
              <a:t>superfície de separação não linear</a:t>
            </a:r>
            <a:r>
              <a:rPr lang="pt-BR" dirty="0"/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426747" y="6581001"/>
            <a:ext cx="274993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hlinkClick r:id="rId3"/>
              </a:rPr>
              <a:t>Exemplo: perceptron_xor_problem.ipynb</a:t>
            </a:r>
            <a:endParaRPr lang="pt-BR" sz="1200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737" y="3563296"/>
            <a:ext cx="1714919" cy="59148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" t="2218" r="5361" b="4081"/>
          <a:stretch/>
        </p:blipFill>
        <p:spPr>
          <a:xfrm>
            <a:off x="659493" y="2798341"/>
            <a:ext cx="2485244" cy="240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644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994409" cy="4547879"/>
          </a:xfrm>
        </p:spPr>
        <p:txBody>
          <a:bodyPr/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– Redes Neurais Artificiais (Parte II)</a:t>
            </a:r>
            <a:r>
              <a:rPr lang="pt-BR" dirty="0"/>
              <a:t>” que se encontra no MS Teams.</a:t>
            </a:r>
          </a:p>
          <a:p>
            <a:r>
              <a:rPr lang="pt-BR" b="1" dirty="0"/>
              <a:t>Exercício Prático</a:t>
            </a:r>
            <a:r>
              <a:rPr lang="pt-BR" dirty="0"/>
              <a:t>: </a:t>
            </a:r>
            <a:r>
              <a:rPr lang="pt-BR" b="1" dirty="0">
                <a:hlinkClick r:id="rId3"/>
              </a:rPr>
              <a:t>Laboratório #6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Pode ser baixado do MS </a:t>
            </a:r>
            <a:r>
              <a:rPr lang="pt-BR" dirty="0" err="1"/>
              <a:t>Teams</a:t>
            </a:r>
            <a:r>
              <a:rPr lang="pt-BR" dirty="0"/>
              <a:t> ou do GitHub.</a:t>
            </a:r>
          </a:p>
          <a:p>
            <a:pPr lvl="1"/>
            <a:r>
              <a:rPr lang="pt-BR" dirty="0"/>
              <a:t>Pode ser respondido através do link acima (na nuvem) ou localmente.</a:t>
            </a:r>
          </a:p>
          <a:p>
            <a:pPr lvl="1"/>
            <a:r>
              <a:rPr lang="pt-BR" dirty="0">
                <a:hlinkClick r:id="rId4"/>
              </a:rPr>
              <a:t>Instruções para resolução e entrega dos laboratórios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49316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668771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0" y="245624"/>
            <a:ext cx="3933825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5" y="655693"/>
            <a:ext cx="2619375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l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749" y="245624"/>
            <a:ext cx="2020066" cy="369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ptimizing Neural Networks Tutorial using Keras (Image recognition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20" y="3851986"/>
            <a:ext cx="2466975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uilding a Deep Learning Introduction Machine under 1000 dolla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928" y="4185362"/>
            <a:ext cx="19050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7904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7128192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upo 39"/>
          <p:cNvGrpSpPr/>
          <p:nvPr/>
        </p:nvGrpSpPr>
        <p:grpSpPr>
          <a:xfrm>
            <a:off x="3038674" y="4552950"/>
            <a:ext cx="5860651" cy="1517650"/>
            <a:chOff x="2774553" y="3625850"/>
            <a:chExt cx="5860651" cy="1517650"/>
          </a:xfrm>
        </p:grpSpPr>
        <p:sp>
          <p:nvSpPr>
            <p:cNvPr id="5" name="Elipse 4"/>
            <p:cNvSpPr/>
            <p:nvPr/>
          </p:nvSpPr>
          <p:spPr>
            <a:xfrm>
              <a:off x="5029200" y="3800475"/>
              <a:ext cx="1295400" cy="10382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Conector de seta reta 6"/>
            <p:cNvCxnSpPr>
              <a:endCxn id="5" idx="1"/>
            </p:cNvCxnSpPr>
            <p:nvPr/>
          </p:nvCxnSpPr>
          <p:spPr>
            <a:xfrm>
              <a:off x="4410075" y="3733800"/>
              <a:ext cx="808832" cy="2187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de seta reta 7"/>
            <p:cNvCxnSpPr>
              <a:endCxn id="5" idx="2"/>
            </p:cNvCxnSpPr>
            <p:nvPr/>
          </p:nvCxnSpPr>
          <p:spPr>
            <a:xfrm>
              <a:off x="4162425" y="4319588"/>
              <a:ext cx="8667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/>
            <p:cNvCxnSpPr>
              <a:endCxn id="5" idx="3"/>
            </p:cNvCxnSpPr>
            <p:nvPr/>
          </p:nvCxnSpPr>
          <p:spPr>
            <a:xfrm flipV="1">
              <a:off x="4410075" y="4686655"/>
              <a:ext cx="808832" cy="38064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/>
            <p:nvPr/>
          </p:nvCxnSpPr>
          <p:spPr>
            <a:xfrm>
              <a:off x="4248547" y="3979424"/>
              <a:ext cx="813991" cy="156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de seta reta 14"/>
            <p:cNvCxnSpPr/>
            <p:nvPr/>
          </p:nvCxnSpPr>
          <p:spPr>
            <a:xfrm flipV="1">
              <a:off x="4261247" y="4519743"/>
              <a:ext cx="813991" cy="2487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de seta reta 19"/>
            <p:cNvCxnSpPr>
              <a:stCxn id="5" idx="6"/>
            </p:cNvCxnSpPr>
            <p:nvPr/>
          </p:nvCxnSpPr>
          <p:spPr>
            <a:xfrm flipV="1">
              <a:off x="6324600" y="4319586"/>
              <a:ext cx="866775" cy="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>
              <a:stCxn id="5" idx="0"/>
              <a:endCxn id="5" idx="4"/>
            </p:cNvCxnSpPr>
            <p:nvPr/>
          </p:nvCxnSpPr>
          <p:spPr>
            <a:xfrm>
              <a:off x="5676900" y="3800475"/>
              <a:ext cx="0" cy="10382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/>
                <p:cNvSpPr txBox="1"/>
                <p:nvPr/>
              </p:nvSpPr>
              <p:spPr>
                <a:xfrm>
                  <a:off x="5146675" y="3938040"/>
                  <a:ext cx="349250" cy="7630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/>
                        </m:nary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CaixaDeTexto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6675" y="3938040"/>
                  <a:ext cx="349250" cy="763094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877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Elbow Connector 31"/>
            <p:cNvCxnSpPr/>
            <p:nvPr/>
          </p:nvCxnSpPr>
          <p:spPr>
            <a:xfrm flipV="1">
              <a:off x="5754772" y="4128814"/>
              <a:ext cx="360278" cy="337008"/>
            </a:xfrm>
            <a:prstGeom prst="bent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/>
            <p:cNvCxnSpPr>
              <a:stCxn id="5" idx="6"/>
            </p:cNvCxnSpPr>
            <p:nvPr/>
          </p:nvCxnSpPr>
          <p:spPr>
            <a:xfrm flipV="1">
              <a:off x="6324600" y="3938040"/>
              <a:ext cx="767953" cy="3815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de seta reta 29"/>
            <p:cNvCxnSpPr>
              <a:stCxn id="5" idx="6"/>
            </p:cNvCxnSpPr>
            <p:nvPr/>
          </p:nvCxnSpPr>
          <p:spPr>
            <a:xfrm>
              <a:off x="6324600" y="4319588"/>
              <a:ext cx="780653" cy="4150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/>
            <p:cNvCxnSpPr/>
            <p:nvPr/>
          </p:nvCxnSpPr>
          <p:spPr>
            <a:xfrm>
              <a:off x="5792005" y="4297318"/>
              <a:ext cx="288000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Chave esquerda 35"/>
            <p:cNvSpPr/>
            <p:nvPr/>
          </p:nvSpPr>
          <p:spPr>
            <a:xfrm>
              <a:off x="3862015" y="3625850"/>
              <a:ext cx="215900" cy="151765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CaixaDeTexto 36"/>
            <p:cNvSpPr txBox="1"/>
            <p:nvPr/>
          </p:nvSpPr>
          <p:spPr>
            <a:xfrm>
              <a:off x="2774553" y="4183180"/>
              <a:ext cx="1158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Estímulos</a:t>
              </a:r>
            </a:p>
          </p:txBody>
        </p:sp>
        <p:sp>
          <p:nvSpPr>
            <p:cNvPr id="38" name="Chave esquerda 37"/>
            <p:cNvSpPr/>
            <p:nvPr/>
          </p:nvSpPr>
          <p:spPr>
            <a:xfrm rot="10800000">
              <a:off x="7206853" y="3800475"/>
              <a:ext cx="215900" cy="1118103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7476328" y="4169461"/>
              <a:ext cx="11588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Impulsos</a:t>
              </a:r>
            </a:p>
          </p:txBody>
        </p:sp>
      </p:grpSp>
      <p:pic>
        <p:nvPicPr>
          <p:cNvPr id="41" name="Picture 6" descr="Explainer: What is a neuron? | Science News for Studen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t="18251" r="43954" b="57010"/>
          <a:stretch/>
        </p:blipFill>
        <p:spPr bwMode="auto">
          <a:xfrm>
            <a:off x="8714220" y="733424"/>
            <a:ext cx="1598985" cy="61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Qual a função da bainha de mielina dos neurônios? - Anatomia 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277" y="1258940"/>
            <a:ext cx="3067446" cy="199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569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821238" y="2474701"/>
            <a:ext cx="5761726" cy="1974852"/>
            <a:chOff x="2821238" y="2474701"/>
            <a:chExt cx="5761726" cy="1974852"/>
          </a:xfrm>
        </p:grpSpPr>
        <p:sp>
          <p:nvSpPr>
            <p:cNvPr id="5" name="Oval 4"/>
            <p:cNvSpPr/>
            <p:nvPr/>
          </p:nvSpPr>
          <p:spPr>
            <a:xfrm>
              <a:off x="4065000" y="2659367"/>
              <a:ext cx="3326525" cy="14188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709212" y="2684815"/>
              <a:ext cx="0" cy="136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3515702" y="2764022"/>
              <a:ext cx="762385" cy="252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3248807" y="3426061"/>
              <a:ext cx="815783" cy="1394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3392699" y="3625529"/>
              <a:ext cx="767389" cy="37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2821238" y="3303454"/>
                  <a:ext cx="52764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238" y="3303454"/>
                  <a:ext cx="527644" cy="461665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>
              <a:off x="7391525" y="3384038"/>
              <a:ext cx="324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3028617" y="2474701"/>
                  <a:ext cx="54957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8617" y="2474701"/>
                  <a:ext cx="549574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857167" y="3716601"/>
                  <a:ext cx="61420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57167" y="3716601"/>
                  <a:ext cx="614207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/>
            <p:cNvCxnSpPr/>
            <p:nvPr/>
          </p:nvCxnSpPr>
          <p:spPr>
            <a:xfrm>
              <a:off x="3347657" y="3144781"/>
              <a:ext cx="735518" cy="1221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2874782" y="2872819"/>
                  <a:ext cx="556691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2400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4782" y="2872819"/>
                  <a:ext cx="556691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5733488" y="3166488"/>
                  <a:ext cx="1682313" cy="439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33488" y="3166488"/>
                  <a:ext cx="1682313" cy="439736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821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3515702" y="4049443"/>
                  <a:ext cx="164602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pt-B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t-B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∀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5702" y="4049443"/>
                  <a:ext cx="1646027" cy="400110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384617" y="2991721"/>
                  <a:ext cx="11983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4617" y="2991721"/>
                  <a:ext cx="1198347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107451" y="2856049"/>
                  <a:ext cx="1728042" cy="9578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pt-BR" sz="20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7451" y="2856049"/>
                  <a:ext cx="1728042" cy="95782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095684" y="5413385"/>
                <a:ext cx="3877116" cy="98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pt-BR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 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se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lang="pt-BR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pt-B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pt-BR" dirty="0"/>
                  <a:t> é o limiar de decisão.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684" y="5413385"/>
                <a:ext cx="3877116" cy="987193"/>
              </a:xfrm>
              <a:prstGeom prst="rect">
                <a:avLst/>
              </a:prstGeom>
              <a:blipFill rotWithShape="0">
                <a:blip r:embed="rId10"/>
                <a:stretch>
                  <a:fillRect l="-1415" b="-92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/>
          <p:cNvGrpSpPr/>
          <p:nvPr/>
        </p:nvGrpSpPr>
        <p:grpSpPr>
          <a:xfrm>
            <a:off x="114755" y="4638765"/>
            <a:ext cx="3142324" cy="1550303"/>
            <a:chOff x="114755" y="4638765"/>
            <a:chExt cx="3142324" cy="1550303"/>
          </a:xfrm>
        </p:grpSpPr>
        <p:cxnSp>
          <p:nvCxnSpPr>
            <p:cNvPr id="22" name="Straight Arrow Connector 21"/>
            <p:cNvCxnSpPr/>
            <p:nvPr/>
          </p:nvCxnSpPr>
          <p:spPr>
            <a:xfrm flipV="1">
              <a:off x="641229" y="4808439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114755" y="5888439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886701" y="5881291"/>
                  <a:ext cx="33098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701" y="5881291"/>
                  <a:ext cx="330988" cy="307777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/>
            <p:cNvCxnSpPr/>
            <p:nvPr/>
          </p:nvCxnSpPr>
          <p:spPr>
            <a:xfrm>
              <a:off x="1052195" y="5413385"/>
              <a:ext cx="0" cy="475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1052195" y="5413385"/>
              <a:ext cx="158256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64" y="5881291"/>
                  <a:ext cx="324128" cy="307777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228" y="4638765"/>
                  <a:ext cx="1047979" cy="404983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9834" y="5696625"/>
                  <a:ext cx="707245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 flipH="1">
              <a:off x="641228" y="5413385"/>
              <a:ext cx="410967" cy="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768" y="5259496"/>
                  <a:ext cx="324128" cy="307777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/>
              <p:cNvSpPr/>
              <p:nvPr/>
            </p:nvSpPr>
            <p:spPr>
              <a:xfrm>
                <a:off x="8813800" y="1257300"/>
                <a:ext cx="749300" cy="381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1" name="Oval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1257300"/>
                <a:ext cx="749300" cy="381000"/>
              </a:xfrm>
              <a:prstGeom prst="ellipse">
                <a:avLst/>
              </a:prstGeom>
              <a:blipFill rotWithShape="0">
                <a:blip r:embed="rId16"/>
                <a:stretch>
                  <a:fillRect b="-307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>
            <a:stCxn id="41" idx="0"/>
            <a:endCxn id="41" idx="4"/>
          </p:cNvCxnSpPr>
          <p:nvPr/>
        </p:nvCxnSpPr>
        <p:spPr>
          <a:xfrm>
            <a:off x="9188450" y="1257300"/>
            <a:ext cx="0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8813800" y="1309298"/>
                <a:ext cx="3746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2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800" y="1309298"/>
                <a:ext cx="374650" cy="276999"/>
              </a:xfrm>
              <a:prstGeom prst="rect">
                <a:avLst/>
              </a:prstGeom>
              <a:blipFill rotWithShape="0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9188450" y="1309299"/>
                <a:ext cx="3746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20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8450" y="1309299"/>
                <a:ext cx="374650" cy="276999"/>
              </a:xfrm>
              <a:prstGeom prst="rect">
                <a:avLst/>
              </a:prstGeom>
              <a:blipFill rotWithShape="0">
                <a:blip r:embed="rId18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>
            <a:stCxn id="41" idx="6"/>
          </p:cNvCxnSpPr>
          <p:nvPr/>
        </p:nvCxnSpPr>
        <p:spPr>
          <a:xfrm flipV="1">
            <a:off x="9563100" y="1445419"/>
            <a:ext cx="173831" cy="23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9609931" y="1278343"/>
                <a:ext cx="374650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931" y="1278343"/>
                <a:ext cx="374650" cy="276999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>
            <a:off x="8624095" y="1309297"/>
            <a:ext cx="223042" cy="571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8632035" y="1536227"/>
            <a:ext cx="215102" cy="119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8350194" y="1118800"/>
                <a:ext cx="36875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194" y="1118800"/>
                <a:ext cx="368754" cy="276999"/>
              </a:xfrm>
              <a:prstGeom prst="rect">
                <a:avLst/>
              </a:prstGeom>
              <a:blipFill rotWithShape="0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8350194" y="1499800"/>
                <a:ext cx="37234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194" y="1499800"/>
                <a:ext cx="372345" cy="276999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Group 86"/>
          <p:cNvGrpSpPr/>
          <p:nvPr/>
        </p:nvGrpSpPr>
        <p:grpSpPr>
          <a:xfrm>
            <a:off x="9378133" y="3482400"/>
            <a:ext cx="1979007" cy="666279"/>
            <a:chOff x="9378133" y="3482400"/>
            <a:chExt cx="1979007" cy="6662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/>
                <p:cNvSpPr/>
                <p:nvPr/>
              </p:nvSpPr>
              <p:spPr>
                <a:xfrm>
                  <a:off x="9378133" y="3494910"/>
                  <a:ext cx="36875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8133" y="3494910"/>
                  <a:ext cx="368754" cy="276999"/>
                </a:xfrm>
                <a:prstGeom prst="rect">
                  <a:avLst/>
                </a:prstGeom>
                <a:blipFill rotWithShape="0"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Oval 70"/>
                <p:cNvSpPr/>
                <p:nvPr/>
              </p:nvSpPr>
              <p:spPr>
                <a:xfrm>
                  <a:off x="9851929" y="3482400"/>
                  <a:ext cx="952310" cy="381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71" name="Oval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1929" y="3482400"/>
                  <a:ext cx="952310" cy="381000"/>
                </a:xfrm>
                <a:prstGeom prst="ellipse">
                  <a:avLst/>
                </a:prstGeom>
                <a:blipFill rotWithShape="0">
                  <a:blip r:embed="rId23"/>
                  <a:stretch>
                    <a:fillRect b="-3077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Connector 71"/>
            <p:cNvCxnSpPr>
              <a:stCxn id="71" idx="0"/>
              <a:endCxn id="71" idx="4"/>
            </p:cNvCxnSpPr>
            <p:nvPr/>
          </p:nvCxnSpPr>
          <p:spPr>
            <a:xfrm>
              <a:off x="10328084" y="3482400"/>
              <a:ext cx="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9880505" y="3534398"/>
                  <a:ext cx="476154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𝑔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0505" y="3534398"/>
                  <a:ext cx="476154" cy="276999"/>
                </a:xfrm>
                <a:prstGeom prst="rect">
                  <a:avLst/>
                </a:prstGeom>
                <a:blipFill rotWithShape="0"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/>
                <p:cNvSpPr/>
                <p:nvPr/>
              </p:nvSpPr>
              <p:spPr>
                <a:xfrm>
                  <a:off x="10288825" y="3543523"/>
                  <a:ext cx="628853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sz="120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pt-BR" sz="1200" dirty="0"/>
                    <a:t>1</a:t>
                  </a:r>
                </a:p>
              </p:txBody>
            </p:sp>
          </mc:Choice>
          <mc:Fallback xmlns="">
            <p:sp>
              <p:nvSpPr>
                <p:cNvPr id="74" name="Rectangle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8825" y="3543523"/>
                  <a:ext cx="628853" cy="276999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Straight Arrow Connector 74"/>
            <p:cNvCxnSpPr>
              <a:stCxn id="71" idx="6"/>
            </p:cNvCxnSpPr>
            <p:nvPr/>
          </p:nvCxnSpPr>
          <p:spPr>
            <a:xfrm flipV="1">
              <a:off x="10804239" y="3670444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/>
                <p:cNvSpPr/>
                <p:nvPr/>
              </p:nvSpPr>
              <p:spPr>
                <a:xfrm>
                  <a:off x="10854991" y="3494910"/>
                  <a:ext cx="374650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76" name="Rect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4991" y="3494910"/>
                  <a:ext cx="374650" cy="276999"/>
                </a:xfrm>
                <a:prstGeom prst="rect">
                  <a:avLst/>
                </a:prstGeom>
                <a:blipFill rotWithShape="0"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Arrow Connector 80"/>
            <p:cNvCxnSpPr/>
            <p:nvPr/>
          </p:nvCxnSpPr>
          <p:spPr>
            <a:xfrm flipV="1">
              <a:off x="9625049" y="3667646"/>
              <a:ext cx="169946" cy="24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81"/>
            <p:cNvSpPr/>
            <p:nvPr/>
          </p:nvSpPr>
          <p:spPr>
            <a:xfrm>
              <a:off x="9797639" y="3642463"/>
              <a:ext cx="45719" cy="457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>
              <a:off x="9827653" y="3733181"/>
              <a:ext cx="133504" cy="174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9794995" y="3871680"/>
              <a:ext cx="15621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Entrada inibitória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19932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065000" y="2659367"/>
            <a:ext cx="3326525" cy="141889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Straight Connector 5"/>
          <p:cNvCxnSpPr/>
          <p:nvPr/>
        </p:nvCxnSpPr>
        <p:spPr>
          <a:xfrm>
            <a:off x="6286249" y="2716517"/>
            <a:ext cx="0" cy="1296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328105" y="2682525"/>
            <a:ext cx="0" cy="136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443950" y="2753619"/>
                <a:ext cx="5103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(.)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950" y="2753619"/>
                <a:ext cx="510351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3571" r="-19048"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93795" y="3049807"/>
                <a:ext cx="897048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3795" y="3049807"/>
                <a:ext cx="897048" cy="63998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47143" y="2140008"/>
                <a:ext cx="1536701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143" y="2140008"/>
                <a:ext cx="1536701" cy="391646"/>
              </a:xfrm>
              <a:prstGeom prst="rect">
                <a:avLst/>
              </a:prstGeom>
              <a:blipFill rotWithShape="0"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083175" y="4048030"/>
            <a:ext cx="1060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Função de entrada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6325" y="4048030"/>
            <a:ext cx="10604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Função de ativação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6775" y="4171140"/>
            <a:ext cx="1060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Saída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449601" y="2394627"/>
            <a:ext cx="793750" cy="6514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359604" y="2949168"/>
            <a:ext cx="762385" cy="2522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248807" y="3426061"/>
            <a:ext cx="815783" cy="139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3392699" y="3625529"/>
            <a:ext cx="767389" cy="3766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94280" y="4167280"/>
            <a:ext cx="1152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sinapses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095081" y="2105438"/>
                <a:ext cx="3676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081" y="2105438"/>
                <a:ext cx="367665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878388" y="3303454"/>
                <a:ext cx="4333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388" y="3303454"/>
                <a:ext cx="433387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7391525" y="3384038"/>
            <a:ext cx="64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90843" y="4048029"/>
            <a:ext cx="114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/>
              <a:t>Ligações de saída</a:t>
            </a:r>
          </a:p>
        </p:txBody>
      </p:sp>
      <p:cxnSp>
        <p:nvCxnSpPr>
          <p:cNvPr id="32" name="Elbow Connector 31"/>
          <p:cNvCxnSpPr/>
          <p:nvPr/>
        </p:nvCxnSpPr>
        <p:spPr>
          <a:xfrm flipV="1">
            <a:off x="5431009" y="3199723"/>
            <a:ext cx="741362" cy="483646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875456" y="3297586"/>
                <a:ext cx="4333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456" y="3297586"/>
                <a:ext cx="433387" cy="36933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990230" y="2706710"/>
                <a:ext cx="4607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0230" y="2706710"/>
                <a:ext cx="460767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028617" y="3716601"/>
                <a:ext cx="4988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617" y="3716601"/>
                <a:ext cx="498855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160989" y="2860219"/>
                <a:ext cx="1225039" cy="95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𝑖𝑛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989" y="2860219"/>
                <a:ext cx="1225039" cy="950068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5201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/>
          <p:cNvGrpSpPr/>
          <p:nvPr/>
        </p:nvGrpSpPr>
        <p:grpSpPr>
          <a:xfrm>
            <a:off x="2694280" y="1855246"/>
            <a:ext cx="6012023" cy="2900669"/>
            <a:chOff x="2694280" y="1855246"/>
            <a:chExt cx="6012023" cy="2900669"/>
          </a:xfrm>
        </p:grpSpPr>
        <p:sp>
          <p:nvSpPr>
            <p:cNvPr id="4" name="Oval 3"/>
            <p:cNvSpPr/>
            <p:nvPr/>
          </p:nvSpPr>
          <p:spPr>
            <a:xfrm>
              <a:off x="4065000" y="2659367"/>
              <a:ext cx="3326525" cy="14188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6286249" y="2716517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328105" y="2682525"/>
              <a:ext cx="0" cy="1368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03065" y="2918197"/>
                  <a:ext cx="1225039" cy="9500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sSubPr>
                            <m:ctrlPr>
                              <a:rPr lang="pt-B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3065" y="2918197"/>
                  <a:ext cx="1225039" cy="950068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Curved Connector 15"/>
            <p:cNvCxnSpPr/>
            <p:nvPr/>
          </p:nvCxnSpPr>
          <p:spPr>
            <a:xfrm rot="10800000" flipV="1">
              <a:off x="5398853" y="3051565"/>
              <a:ext cx="824076" cy="661164"/>
            </a:xfrm>
            <a:prstGeom prst="curved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443950" y="2753619"/>
                  <a:ext cx="5103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(.)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43950" y="2753619"/>
                  <a:ext cx="510351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3571" r="-19048" b="-13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543257" y="3173853"/>
                  <a:ext cx="225533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3257" y="3173853"/>
                  <a:ext cx="225533" cy="391646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59459" b="-781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4847143" y="2140008"/>
                  <a:ext cx="1536701" cy="3916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47143" y="2140008"/>
                  <a:ext cx="1536701" cy="391646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/>
            <p:cNvSpPr txBox="1"/>
            <p:nvPr/>
          </p:nvSpPr>
          <p:spPr>
            <a:xfrm>
              <a:off x="4083175" y="4048030"/>
              <a:ext cx="10604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de entrada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156325" y="4048030"/>
              <a:ext cx="106045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de ativação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16775" y="4171140"/>
              <a:ext cx="1060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Saída</a:t>
              </a:r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3449601" y="2394627"/>
              <a:ext cx="793750" cy="6514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3359604" y="2949168"/>
              <a:ext cx="762385" cy="252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3248807" y="3426061"/>
              <a:ext cx="815783" cy="1394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 flipV="1">
              <a:off x="3392699" y="3625529"/>
              <a:ext cx="767389" cy="3766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2694280" y="4048030"/>
              <a:ext cx="1152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Ligações de entrada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881670" y="2070251"/>
                  <a:ext cx="8956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670" y="2070251"/>
                  <a:ext cx="895694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3726179" y="2348819"/>
                  <a:ext cx="591444" cy="3916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179" y="2348819"/>
                  <a:ext cx="591444" cy="391646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878388" y="3303454"/>
                  <a:ext cx="4333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388" y="3303454"/>
                  <a:ext cx="433387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3270378" y="3122951"/>
                  <a:ext cx="552972" cy="39164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378" y="3122951"/>
                  <a:ext cx="552972" cy="391646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/>
            <p:cNvSpPr txBox="1"/>
            <p:nvPr/>
          </p:nvSpPr>
          <p:spPr>
            <a:xfrm>
              <a:off x="3530451" y="1855246"/>
              <a:ext cx="11521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Peso do bias</a:t>
              </a:r>
            </a:p>
          </p:txBody>
        </p:sp>
        <p:cxnSp>
          <p:nvCxnSpPr>
            <p:cNvPr id="42" name="Straight Connector 41"/>
            <p:cNvCxnSpPr>
              <a:stCxn id="4" idx="6"/>
            </p:cNvCxnSpPr>
            <p:nvPr/>
          </p:nvCxnSpPr>
          <p:spPr>
            <a:xfrm flipV="1">
              <a:off x="7391525" y="3364517"/>
              <a:ext cx="486103" cy="42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 flipV="1">
              <a:off x="7858249" y="2832249"/>
              <a:ext cx="638175" cy="53656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>
              <a:off x="7877628" y="3364517"/>
              <a:ext cx="82867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>
              <a:off x="7863173" y="3364517"/>
              <a:ext cx="638175" cy="63770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7445171" y="4171140"/>
              <a:ext cx="114683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Ligações de saída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938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2827529" y="1933136"/>
            <a:ext cx="6801100" cy="2743924"/>
            <a:chOff x="2827529" y="1933136"/>
            <a:chExt cx="6801100" cy="2743924"/>
          </a:xfrm>
        </p:grpSpPr>
        <p:sp>
          <p:nvSpPr>
            <p:cNvPr id="5" name="Oval 4"/>
            <p:cNvSpPr/>
            <p:nvPr/>
          </p:nvSpPr>
          <p:spPr>
            <a:xfrm>
              <a:off x="4065000" y="2659367"/>
              <a:ext cx="3326525" cy="14188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Straight Connector 6"/>
            <p:cNvCxnSpPr>
              <a:stCxn id="5" idx="0"/>
              <a:endCxn id="5" idx="4"/>
            </p:cNvCxnSpPr>
            <p:nvPr/>
          </p:nvCxnSpPr>
          <p:spPr>
            <a:xfrm>
              <a:off x="5728263" y="2659367"/>
              <a:ext cx="0" cy="14188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980297" y="2898035"/>
                  <a:ext cx="510351" cy="4049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0297" y="2898035"/>
                  <a:ext cx="510351" cy="404983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l="-3571" r="-72619" b="-895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7391525" y="2928954"/>
                  <a:ext cx="223710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1525" y="2928954"/>
                  <a:ext cx="2237104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/>
            <p:cNvSpPr txBox="1"/>
            <p:nvPr/>
          </p:nvSpPr>
          <p:spPr>
            <a:xfrm>
              <a:off x="3979725" y="4092285"/>
              <a:ext cx="15773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de entrada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728263" y="4092285"/>
              <a:ext cx="16632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Função de ativação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185300" y="4212809"/>
              <a:ext cx="10604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Saída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>
              <a:off x="3449601" y="2394627"/>
              <a:ext cx="793750" cy="65143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>
              <a:off x="3359604" y="2949168"/>
              <a:ext cx="762385" cy="252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V="1">
              <a:off x="3248807" y="3426061"/>
              <a:ext cx="815783" cy="13943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flipV="1">
              <a:off x="3478719" y="3625530"/>
              <a:ext cx="681369" cy="3809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827529" y="4216475"/>
              <a:ext cx="11521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sinapses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/>
                <p:cNvSpPr/>
                <p:nvPr/>
              </p:nvSpPr>
              <p:spPr>
                <a:xfrm>
                  <a:off x="2878388" y="3303454"/>
                  <a:ext cx="43338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3" name="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8388" y="3303454"/>
                  <a:ext cx="433387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>
              <a:off x="7391525" y="3384038"/>
              <a:ext cx="648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/>
            <p:nvPr/>
          </p:nvCxnSpPr>
          <p:spPr>
            <a:xfrm flipV="1">
              <a:off x="5991611" y="3358255"/>
              <a:ext cx="741362" cy="483646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2990230" y="2706710"/>
                  <a:ext cx="46076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0230" y="2706710"/>
                  <a:ext cx="460767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3087073" y="3774441"/>
                  <a:ext cx="49885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7073" y="3774441"/>
                  <a:ext cx="49885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2889556" y="1988417"/>
                  <a:ext cx="89569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556" y="1988417"/>
                  <a:ext cx="895694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060563" y="2928954"/>
                  <a:ext cx="1729126" cy="8714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0563" y="2928954"/>
                  <a:ext cx="1729126" cy="87145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3726179" y="2348819"/>
                  <a:ext cx="11181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179" y="2348819"/>
                  <a:ext cx="1118191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3403241" y="2692339"/>
                  <a:ext cx="5018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3241" y="2692339"/>
                  <a:ext cx="501804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3258893" y="3157022"/>
                  <a:ext cx="47442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8893" y="3157022"/>
                  <a:ext cx="474424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3318750" y="3548199"/>
                  <a:ext cx="5398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8750" y="3548199"/>
                  <a:ext cx="539891" cy="369332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>
            <a:xfrm flipV="1">
              <a:off x="4060432" y="2148115"/>
              <a:ext cx="783938" cy="3628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4768387" y="1933136"/>
              <a:ext cx="7126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bias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11819" y="4987108"/>
            <a:ext cx="3142324" cy="1550303"/>
            <a:chOff x="511819" y="4987108"/>
            <a:chExt cx="3142324" cy="1550303"/>
          </a:xfrm>
        </p:grpSpPr>
        <p:cxnSp>
          <p:nvCxnSpPr>
            <p:cNvPr id="44" name="Straight Arrow Connector 43"/>
            <p:cNvCxnSpPr/>
            <p:nvPr/>
          </p:nvCxnSpPr>
          <p:spPr>
            <a:xfrm flipV="1">
              <a:off x="1038293" y="5156782"/>
              <a:ext cx="0" cy="10800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511819" y="6236782"/>
              <a:ext cx="252000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39821" y="5761728"/>
              <a:ext cx="201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228" y="6229634"/>
                  <a:ext cx="324128" cy="307777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1038292" y="4987108"/>
                  <a:ext cx="1047979" cy="4049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pt-BR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8292" y="4987108"/>
                  <a:ext cx="1047979" cy="404983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/>
                <p:cNvSpPr/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1" name="Rectangle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6898" y="6044968"/>
                  <a:ext cx="707245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/>
                <p:cNvSpPr/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53" name="Rectangle 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832" y="5607839"/>
                  <a:ext cx="324128" cy="307777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20057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/>
          <p:cNvCxnSpPr/>
          <p:nvPr/>
        </p:nvCxnSpPr>
        <p:spPr>
          <a:xfrm flipV="1">
            <a:off x="3099661" y="3110424"/>
            <a:ext cx="0" cy="237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363061" y="4773478"/>
            <a:ext cx="2844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ultiply 15"/>
          <p:cNvSpPr/>
          <p:nvPr/>
        </p:nvSpPr>
        <p:spPr>
          <a:xfrm>
            <a:off x="3178974" y="4870001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Multiply 16"/>
          <p:cNvSpPr/>
          <p:nvPr/>
        </p:nvSpPr>
        <p:spPr>
          <a:xfrm>
            <a:off x="3331374" y="5022401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Multiply 17"/>
          <p:cNvSpPr/>
          <p:nvPr/>
        </p:nvSpPr>
        <p:spPr>
          <a:xfrm>
            <a:off x="3483774" y="5174801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Multiply 18"/>
          <p:cNvSpPr/>
          <p:nvPr/>
        </p:nvSpPr>
        <p:spPr>
          <a:xfrm>
            <a:off x="2616179" y="4297992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Multiply 19"/>
          <p:cNvSpPr/>
          <p:nvPr/>
        </p:nvSpPr>
        <p:spPr>
          <a:xfrm>
            <a:off x="2715549" y="4038507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Multiply 20"/>
          <p:cNvSpPr/>
          <p:nvPr/>
        </p:nvSpPr>
        <p:spPr>
          <a:xfrm>
            <a:off x="3182748" y="4254507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Multiply 21"/>
          <p:cNvSpPr/>
          <p:nvPr/>
        </p:nvSpPr>
        <p:spPr>
          <a:xfrm>
            <a:off x="3375774" y="4470507"/>
            <a:ext cx="216000" cy="2160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Oval 22"/>
          <p:cNvSpPr/>
          <p:nvPr/>
        </p:nvSpPr>
        <p:spPr>
          <a:xfrm>
            <a:off x="3591774" y="38039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/>
          <p:cNvSpPr/>
          <p:nvPr/>
        </p:nvSpPr>
        <p:spPr>
          <a:xfrm>
            <a:off x="3774414" y="35414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/>
          <p:cNvSpPr/>
          <p:nvPr/>
        </p:nvSpPr>
        <p:spPr>
          <a:xfrm>
            <a:off x="3918414" y="3753323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Oval 25"/>
          <p:cNvSpPr/>
          <p:nvPr/>
        </p:nvSpPr>
        <p:spPr>
          <a:xfrm>
            <a:off x="4138844" y="407522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Oval 26"/>
          <p:cNvSpPr/>
          <p:nvPr/>
        </p:nvSpPr>
        <p:spPr>
          <a:xfrm>
            <a:off x="4074352" y="3502875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Oval 27"/>
          <p:cNvSpPr/>
          <p:nvPr/>
        </p:nvSpPr>
        <p:spPr>
          <a:xfrm>
            <a:off x="4291773" y="3793767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Oval 28"/>
          <p:cNvSpPr/>
          <p:nvPr/>
        </p:nvSpPr>
        <p:spPr>
          <a:xfrm>
            <a:off x="4422311" y="3606282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Oval 29"/>
          <p:cNvSpPr/>
          <p:nvPr/>
        </p:nvSpPr>
        <p:spPr>
          <a:xfrm>
            <a:off x="4450957" y="4032596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2" name="Straight Connector 31"/>
          <p:cNvCxnSpPr/>
          <p:nvPr/>
        </p:nvCxnSpPr>
        <p:spPr>
          <a:xfrm>
            <a:off x="2715549" y="3502875"/>
            <a:ext cx="2021551" cy="17355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24379" y="2932882"/>
                <a:ext cx="399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379" y="2932882"/>
                <a:ext cx="399825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905212" y="4370638"/>
                <a:ext cx="3998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212" y="4370638"/>
                <a:ext cx="399825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183444" y="5174801"/>
                <a:ext cx="2297039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444" y="5174801"/>
                <a:ext cx="2297039" cy="391646"/>
              </a:xfrm>
              <a:prstGeom prst="rect">
                <a:avLst/>
              </a:prstGeom>
              <a:blipFill rotWithShape="0">
                <a:blip r:embed="rId4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upo 13"/>
          <p:cNvGrpSpPr/>
          <p:nvPr/>
        </p:nvGrpSpPr>
        <p:grpSpPr>
          <a:xfrm>
            <a:off x="7764764" y="2932882"/>
            <a:ext cx="3244734" cy="3067686"/>
            <a:chOff x="7764764" y="2932882"/>
            <a:chExt cx="3244734" cy="3067686"/>
          </a:xfrm>
        </p:grpSpPr>
        <p:cxnSp>
          <p:nvCxnSpPr>
            <p:cNvPr id="31" name="Straight Arrow Connector 30"/>
            <p:cNvCxnSpPr/>
            <p:nvPr/>
          </p:nvCxnSpPr>
          <p:spPr>
            <a:xfrm flipV="1">
              <a:off x="8568378" y="3110424"/>
              <a:ext cx="0" cy="2376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7831778" y="4773478"/>
              <a:ext cx="28440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Multiply 36"/>
            <p:cNvSpPr/>
            <p:nvPr/>
          </p:nvSpPr>
          <p:spPr>
            <a:xfrm>
              <a:off x="8647691" y="4870001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Multiply 37"/>
            <p:cNvSpPr/>
            <p:nvPr/>
          </p:nvSpPr>
          <p:spPr>
            <a:xfrm>
              <a:off x="8800091" y="5022401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Multiply 38"/>
            <p:cNvSpPr/>
            <p:nvPr/>
          </p:nvSpPr>
          <p:spPr>
            <a:xfrm>
              <a:off x="8952491" y="5174801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Multiply 39"/>
            <p:cNvSpPr/>
            <p:nvPr/>
          </p:nvSpPr>
          <p:spPr>
            <a:xfrm>
              <a:off x="8084896" y="4297992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Multiply 40"/>
            <p:cNvSpPr/>
            <p:nvPr/>
          </p:nvSpPr>
          <p:spPr>
            <a:xfrm>
              <a:off x="8184266" y="4038507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2" name="Multiply 41"/>
            <p:cNvSpPr/>
            <p:nvPr/>
          </p:nvSpPr>
          <p:spPr>
            <a:xfrm>
              <a:off x="8651465" y="4254507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Multiply 42"/>
            <p:cNvSpPr/>
            <p:nvPr/>
          </p:nvSpPr>
          <p:spPr>
            <a:xfrm>
              <a:off x="8844491" y="4470507"/>
              <a:ext cx="216000" cy="216000"/>
            </a:xfrm>
            <a:prstGeom prst="mathMultiply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Oval 43"/>
            <p:cNvSpPr/>
            <p:nvPr/>
          </p:nvSpPr>
          <p:spPr>
            <a:xfrm>
              <a:off x="9060491" y="3803996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Oval 44"/>
            <p:cNvSpPr/>
            <p:nvPr/>
          </p:nvSpPr>
          <p:spPr>
            <a:xfrm>
              <a:off x="9243131" y="3541496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Oval 45"/>
            <p:cNvSpPr/>
            <p:nvPr/>
          </p:nvSpPr>
          <p:spPr>
            <a:xfrm>
              <a:off x="9387131" y="3753323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7" name="Oval 46"/>
            <p:cNvSpPr/>
            <p:nvPr/>
          </p:nvSpPr>
          <p:spPr>
            <a:xfrm>
              <a:off x="9607561" y="4075225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Oval 47"/>
            <p:cNvSpPr/>
            <p:nvPr/>
          </p:nvSpPr>
          <p:spPr>
            <a:xfrm>
              <a:off x="9543069" y="3502875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Oval 48"/>
            <p:cNvSpPr/>
            <p:nvPr/>
          </p:nvSpPr>
          <p:spPr>
            <a:xfrm>
              <a:off x="9760490" y="3793767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Oval 49"/>
            <p:cNvSpPr/>
            <p:nvPr/>
          </p:nvSpPr>
          <p:spPr>
            <a:xfrm>
              <a:off x="9891028" y="3606282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Oval 50"/>
            <p:cNvSpPr/>
            <p:nvPr/>
          </p:nvSpPr>
          <p:spPr>
            <a:xfrm>
              <a:off x="9919674" y="4032596"/>
              <a:ext cx="144000" cy="14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2" name="Straight Connector 51"/>
            <p:cNvCxnSpPr/>
            <p:nvPr/>
          </p:nvCxnSpPr>
          <p:spPr>
            <a:xfrm>
              <a:off x="8184266" y="3420987"/>
              <a:ext cx="2021551" cy="173552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8593096" y="2932882"/>
                  <a:ext cx="3998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3096" y="2932882"/>
                  <a:ext cx="399825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10373929" y="4370638"/>
                  <a:ext cx="3998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73929" y="4370638"/>
                  <a:ext cx="39982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7764764" y="5631236"/>
                  <a:ext cx="324473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4764" y="5631236"/>
                  <a:ext cx="3244734" cy="369332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Conector de seta reta 8"/>
            <p:cNvCxnSpPr/>
            <p:nvPr/>
          </p:nvCxnSpPr>
          <p:spPr>
            <a:xfrm flipH="1">
              <a:off x="8400266" y="5086001"/>
              <a:ext cx="1663410" cy="64085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838585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/>
          <p:cNvGrpSpPr/>
          <p:nvPr/>
        </p:nvGrpSpPr>
        <p:grpSpPr>
          <a:xfrm>
            <a:off x="1798696" y="1840320"/>
            <a:ext cx="3410759" cy="3044340"/>
            <a:chOff x="1798696" y="1840320"/>
            <a:chExt cx="3410759" cy="3044340"/>
          </a:xfrm>
        </p:grpSpPr>
        <p:sp>
          <p:nvSpPr>
            <p:cNvPr id="4" name="Oval 3"/>
            <p:cNvSpPr/>
            <p:nvPr/>
          </p:nvSpPr>
          <p:spPr>
            <a:xfrm>
              <a:off x="2082019" y="2704320"/>
              <a:ext cx="288000" cy="288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00" dirty="0">
                <a:solidFill>
                  <a:schemeClr val="tx1"/>
                </a:solidFill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3261360" y="1840320"/>
              <a:ext cx="288000" cy="28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Oval 5"/>
            <p:cNvSpPr/>
            <p:nvPr/>
          </p:nvSpPr>
          <p:spPr>
            <a:xfrm>
              <a:off x="3261360" y="2416320"/>
              <a:ext cx="288000" cy="28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Oval 6"/>
            <p:cNvSpPr/>
            <p:nvPr/>
          </p:nvSpPr>
          <p:spPr>
            <a:xfrm>
              <a:off x="3261360" y="2992320"/>
              <a:ext cx="288000" cy="28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Oval 7"/>
            <p:cNvSpPr/>
            <p:nvPr/>
          </p:nvSpPr>
          <p:spPr>
            <a:xfrm>
              <a:off x="3261360" y="3568320"/>
              <a:ext cx="288000" cy="28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Oval 8"/>
            <p:cNvSpPr/>
            <p:nvPr/>
          </p:nvSpPr>
          <p:spPr>
            <a:xfrm>
              <a:off x="3262338" y="4144320"/>
              <a:ext cx="288000" cy="288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Oval 9"/>
            <p:cNvSpPr/>
            <p:nvPr/>
          </p:nvSpPr>
          <p:spPr>
            <a:xfrm>
              <a:off x="2082019" y="3280320"/>
              <a:ext cx="288000" cy="288000"/>
            </a:xfrm>
            <a:prstGeom prst="ellipse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Straight Connector 11"/>
            <p:cNvCxnSpPr>
              <a:stCxn id="4" idx="6"/>
              <a:endCxn id="5" idx="2"/>
            </p:cNvCxnSpPr>
            <p:nvPr/>
          </p:nvCxnSpPr>
          <p:spPr>
            <a:xfrm flipV="1">
              <a:off x="2370019" y="1984320"/>
              <a:ext cx="891341" cy="8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" idx="6"/>
              <a:endCxn id="6" idx="2"/>
            </p:cNvCxnSpPr>
            <p:nvPr/>
          </p:nvCxnSpPr>
          <p:spPr>
            <a:xfrm flipV="1">
              <a:off x="2370019" y="2560320"/>
              <a:ext cx="891341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" idx="6"/>
              <a:endCxn id="7" idx="2"/>
            </p:cNvCxnSpPr>
            <p:nvPr/>
          </p:nvCxnSpPr>
          <p:spPr>
            <a:xfrm>
              <a:off x="2370019" y="2848320"/>
              <a:ext cx="891341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" idx="6"/>
              <a:endCxn id="8" idx="2"/>
            </p:cNvCxnSpPr>
            <p:nvPr/>
          </p:nvCxnSpPr>
          <p:spPr>
            <a:xfrm>
              <a:off x="2370019" y="2848320"/>
              <a:ext cx="891341" cy="8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4" idx="6"/>
              <a:endCxn id="9" idx="2"/>
            </p:cNvCxnSpPr>
            <p:nvPr/>
          </p:nvCxnSpPr>
          <p:spPr>
            <a:xfrm>
              <a:off x="2370019" y="2848320"/>
              <a:ext cx="892319" cy="144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0" idx="6"/>
              <a:endCxn id="5" idx="2"/>
            </p:cNvCxnSpPr>
            <p:nvPr/>
          </p:nvCxnSpPr>
          <p:spPr>
            <a:xfrm flipV="1">
              <a:off x="2370019" y="1984320"/>
              <a:ext cx="891341" cy="144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0" idx="6"/>
              <a:endCxn id="6" idx="2"/>
            </p:cNvCxnSpPr>
            <p:nvPr/>
          </p:nvCxnSpPr>
          <p:spPr>
            <a:xfrm flipV="1">
              <a:off x="2370019" y="2560320"/>
              <a:ext cx="891341" cy="8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0" idx="6"/>
              <a:endCxn id="7" idx="2"/>
            </p:cNvCxnSpPr>
            <p:nvPr/>
          </p:nvCxnSpPr>
          <p:spPr>
            <a:xfrm flipV="1">
              <a:off x="2370019" y="3136320"/>
              <a:ext cx="891341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0" idx="6"/>
              <a:endCxn id="8" idx="2"/>
            </p:cNvCxnSpPr>
            <p:nvPr/>
          </p:nvCxnSpPr>
          <p:spPr>
            <a:xfrm>
              <a:off x="2370019" y="3424320"/>
              <a:ext cx="891341" cy="28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10" idx="6"/>
              <a:endCxn id="9" idx="2"/>
            </p:cNvCxnSpPr>
            <p:nvPr/>
          </p:nvCxnSpPr>
          <p:spPr>
            <a:xfrm>
              <a:off x="2370019" y="3424320"/>
              <a:ext cx="892319" cy="864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4440701" y="2992320"/>
              <a:ext cx="288000" cy="288000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5" name="Straight Connector 34"/>
            <p:cNvCxnSpPr>
              <a:stCxn id="5" idx="6"/>
              <a:endCxn id="33" idx="2"/>
            </p:cNvCxnSpPr>
            <p:nvPr/>
          </p:nvCxnSpPr>
          <p:spPr>
            <a:xfrm>
              <a:off x="3549360" y="1984320"/>
              <a:ext cx="891341" cy="115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6" idx="6"/>
              <a:endCxn id="33" idx="2"/>
            </p:cNvCxnSpPr>
            <p:nvPr/>
          </p:nvCxnSpPr>
          <p:spPr>
            <a:xfrm>
              <a:off x="3549360" y="2560320"/>
              <a:ext cx="891341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7" idx="6"/>
              <a:endCxn id="33" idx="2"/>
            </p:cNvCxnSpPr>
            <p:nvPr/>
          </p:nvCxnSpPr>
          <p:spPr>
            <a:xfrm>
              <a:off x="3549360" y="3136320"/>
              <a:ext cx="89134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8" idx="6"/>
              <a:endCxn id="33" idx="2"/>
            </p:cNvCxnSpPr>
            <p:nvPr/>
          </p:nvCxnSpPr>
          <p:spPr>
            <a:xfrm flipV="1">
              <a:off x="3549360" y="3136320"/>
              <a:ext cx="891341" cy="576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9" idx="6"/>
              <a:endCxn id="33" idx="2"/>
            </p:cNvCxnSpPr>
            <p:nvPr/>
          </p:nvCxnSpPr>
          <p:spPr>
            <a:xfrm flipV="1">
              <a:off x="3550338" y="3136320"/>
              <a:ext cx="890363" cy="1152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33" idx="6"/>
            </p:cNvCxnSpPr>
            <p:nvPr/>
          </p:nvCxnSpPr>
          <p:spPr>
            <a:xfrm>
              <a:off x="4728701" y="3136320"/>
              <a:ext cx="35129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/>
            <p:cNvSpPr/>
            <p:nvPr/>
          </p:nvSpPr>
          <p:spPr>
            <a:xfrm>
              <a:off x="2048727" y="2684543"/>
              <a:ext cx="3545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1400" dirty="0"/>
                <a:t>x1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2048727" y="3270431"/>
              <a:ext cx="3545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sz="1400" dirty="0"/>
                <a:t>x2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1798696" y="3548543"/>
              <a:ext cx="8546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Entrada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974227" y="4422995"/>
              <a:ext cx="8622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</a:t>
              </a:r>
            </a:p>
            <a:p>
              <a:pPr algn="ctr"/>
              <a:r>
                <a:rPr lang="pt-BR" sz="1200" dirty="0"/>
                <a:t>Escondida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152701" y="3280320"/>
              <a:ext cx="85863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Camada de Saída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011335" y="2910988"/>
              <a:ext cx="198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20129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471553" y="529061"/>
            <a:ext cx="3800094" cy="4620187"/>
            <a:chOff x="3707123" y="629544"/>
            <a:chExt cx="3800094" cy="462018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101437" y="3865889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4101437" y="993509"/>
              <a:ext cx="0" cy="288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4101437" y="1338270"/>
              <a:ext cx="2520000" cy="252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81437" y="3673604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01437" y="842316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029047" y="3782070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49047" y="1269690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4023454" y="125589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6531437" y="377208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23454" y="629544"/>
              <a:ext cx="2957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XNOR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29998" y="3959699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22015" y="3934470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07123" y="1161224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28712" y="4988865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21"/>
            <p:cNvSpPr/>
            <p:nvPr/>
          </p:nvSpPr>
          <p:spPr>
            <a:xfrm>
              <a:off x="4014988" y="455086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77293" y="4456202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0 (nível lógico 0)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77292" y="4880399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1 (nível lógico 1)</a:t>
              </a: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FCCD84F6-2437-4763-04CF-F9249C67ACCE}"/>
              </a:ext>
            </a:extLst>
          </p:cNvPr>
          <p:cNvGrpSpPr/>
          <p:nvPr/>
        </p:nvGrpSpPr>
        <p:grpSpPr>
          <a:xfrm>
            <a:off x="7163084" y="3005554"/>
            <a:ext cx="3585202" cy="1527241"/>
            <a:chOff x="7163084" y="3005554"/>
            <a:chExt cx="3585202" cy="1527241"/>
          </a:xfrm>
        </p:grpSpPr>
        <p:cxnSp>
          <p:nvCxnSpPr>
            <p:cNvPr id="3" name="Straight Arrow Connector 5">
              <a:extLst>
                <a:ext uri="{FF2B5EF4-FFF2-40B4-BE49-F238E27FC236}">
                  <a16:creationId xmlns:a16="http://schemas.microsoft.com/office/drawing/2014/main" id="{FCF424AD-1E9A-C1FF-29D2-B686F51C452A}"/>
                </a:ext>
              </a:extLst>
            </p:cNvPr>
            <p:cNvCxnSpPr/>
            <p:nvPr/>
          </p:nvCxnSpPr>
          <p:spPr>
            <a:xfrm>
              <a:off x="7342506" y="3978178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2416E278-F60C-5E9D-8419-674EC75B1990}"/>
                </a:ext>
              </a:extLst>
            </p:cNvPr>
            <p:cNvSpPr txBox="1"/>
            <p:nvPr/>
          </p:nvSpPr>
          <p:spPr>
            <a:xfrm>
              <a:off x="10222506" y="3785893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26" name="Rectangle 11">
              <a:extLst>
                <a:ext uri="{FF2B5EF4-FFF2-40B4-BE49-F238E27FC236}">
                  <a16:creationId xmlns:a16="http://schemas.microsoft.com/office/drawing/2014/main" id="{C825C6A9-79DA-9E4F-4517-55F7D99BA785}"/>
                </a:ext>
              </a:extLst>
            </p:cNvPr>
            <p:cNvSpPr/>
            <p:nvPr/>
          </p:nvSpPr>
          <p:spPr>
            <a:xfrm>
              <a:off x="7270116" y="3894359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Oval 14">
              <a:extLst>
                <a:ext uri="{FF2B5EF4-FFF2-40B4-BE49-F238E27FC236}">
                  <a16:creationId xmlns:a16="http://schemas.microsoft.com/office/drawing/2014/main" id="{26FC64A9-9733-1150-D714-8D46367E7655}"/>
                </a:ext>
              </a:extLst>
            </p:cNvPr>
            <p:cNvSpPr/>
            <p:nvPr/>
          </p:nvSpPr>
          <p:spPr>
            <a:xfrm>
              <a:off x="9772506" y="3884369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TextBox 15">
              <a:extLst>
                <a:ext uri="{FF2B5EF4-FFF2-40B4-BE49-F238E27FC236}">
                  <a16:creationId xmlns:a16="http://schemas.microsoft.com/office/drawing/2014/main" id="{E183F8F4-CE43-7979-364D-0E275C36E77B}"/>
                </a:ext>
              </a:extLst>
            </p:cNvPr>
            <p:cNvSpPr txBox="1"/>
            <p:nvPr/>
          </p:nvSpPr>
          <p:spPr>
            <a:xfrm>
              <a:off x="7169646" y="3005554"/>
              <a:ext cx="2957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NOT</a:t>
              </a:r>
            </a:p>
          </p:txBody>
        </p:sp>
        <p:sp>
          <p:nvSpPr>
            <p:cNvPr id="31" name="TextBox 16">
              <a:extLst>
                <a:ext uri="{FF2B5EF4-FFF2-40B4-BE49-F238E27FC236}">
                  <a16:creationId xmlns:a16="http://schemas.microsoft.com/office/drawing/2014/main" id="{0ADC8897-CF7A-3FEF-83EA-15E4285056E5}"/>
                </a:ext>
              </a:extLst>
            </p:cNvPr>
            <p:cNvSpPr txBox="1"/>
            <p:nvPr/>
          </p:nvSpPr>
          <p:spPr>
            <a:xfrm>
              <a:off x="9671067" y="4071988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32" name="TextBox 17">
              <a:extLst>
                <a:ext uri="{FF2B5EF4-FFF2-40B4-BE49-F238E27FC236}">
                  <a16:creationId xmlns:a16="http://schemas.microsoft.com/office/drawing/2014/main" id="{56CB98E8-ECE2-BDA7-A070-7D7D1995F7AF}"/>
                </a:ext>
              </a:extLst>
            </p:cNvPr>
            <p:cNvSpPr txBox="1"/>
            <p:nvPr/>
          </p:nvSpPr>
          <p:spPr>
            <a:xfrm>
              <a:off x="7163084" y="4046759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09BF4476-628B-D354-0A43-7D871106CD96}"/>
                </a:ext>
              </a:extLst>
            </p:cNvPr>
            <p:cNvCxnSpPr>
              <a:cxnSpLocks/>
            </p:cNvCxnSpPr>
            <p:nvPr/>
          </p:nvCxnSpPr>
          <p:spPr>
            <a:xfrm>
              <a:off x="8648638" y="3416795"/>
              <a:ext cx="16380" cy="1116000"/>
            </a:xfrm>
            <a:prstGeom prst="line">
              <a:avLst/>
            </a:prstGeom>
            <a:ln w="19050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tângulo 38">
                  <a:extLst>
                    <a:ext uri="{FF2B5EF4-FFF2-40B4-BE49-F238E27FC236}">
                      <a16:creationId xmlns:a16="http://schemas.microsoft.com/office/drawing/2014/main" id="{C0A93B33-29B5-D444-9BAE-9ADF9CCD06E5}"/>
                    </a:ext>
                  </a:extLst>
                </p:cNvPr>
                <p:cNvSpPr/>
                <p:nvPr/>
              </p:nvSpPr>
              <p:spPr>
                <a:xfrm>
                  <a:off x="9025018" y="3416795"/>
                  <a:ext cx="12410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dirty="0"/>
                    <a:t> linear</a:t>
                  </a:r>
                </a:p>
              </p:txBody>
            </p:sp>
          </mc:Choice>
          <mc:Fallback>
            <p:sp>
              <p:nvSpPr>
                <p:cNvPr id="39" name="Retângulo 38">
                  <a:extLst>
                    <a:ext uri="{FF2B5EF4-FFF2-40B4-BE49-F238E27FC236}">
                      <a16:creationId xmlns:a16="http://schemas.microsoft.com/office/drawing/2014/main" id="{C0A93B33-29B5-D444-9BAE-9ADF9CCD0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5018" y="3416795"/>
                  <a:ext cx="1241045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8197" r="-39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Forma livre 77">
              <a:extLst>
                <a:ext uri="{FF2B5EF4-FFF2-40B4-BE49-F238E27FC236}">
                  <a16:creationId xmlns:a16="http://schemas.microsoft.com/office/drawing/2014/main" id="{A8B50421-DF94-8AAB-FA5E-E9A80E1FA1BE}"/>
                </a:ext>
              </a:extLst>
            </p:cNvPr>
            <p:cNvSpPr/>
            <p:nvPr/>
          </p:nvSpPr>
          <p:spPr>
            <a:xfrm>
              <a:off x="8665018" y="3456314"/>
              <a:ext cx="508000" cy="365530"/>
            </a:xfrm>
            <a:custGeom>
              <a:avLst/>
              <a:gdLst>
                <a:gd name="connsiteX0" fmla="*/ 0 w 508000"/>
                <a:gd name="connsiteY0" fmla="*/ 365530 h 365530"/>
                <a:gd name="connsiteX1" fmla="*/ 127000 w 508000"/>
                <a:gd name="connsiteY1" fmla="*/ 22630 h 365530"/>
                <a:gd name="connsiteX2" fmla="*/ 508000 w 508000"/>
                <a:gd name="connsiteY2" fmla="*/ 60730 h 36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0" h="365530">
                  <a:moveTo>
                    <a:pt x="0" y="365530"/>
                  </a:moveTo>
                  <a:cubicBezTo>
                    <a:pt x="21166" y="219480"/>
                    <a:pt x="42333" y="73430"/>
                    <a:pt x="127000" y="22630"/>
                  </a:cubicBezTo>
                  <a:cubicBezTo>
                    <a:pt x="211667" y="-28170"/>
                    <a:pt x="359833" y="16280"/>
                    <a:pt x="508000" y="607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658199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/>
          <p:cNvGrpSpPr/>
          <p:nvPr/>
        </p:nvGrpSpPr>
        <p:grpSpPr>
          <a:xfrm>
            <a:off x="7868557" y="5921164"/>
            <a:ext cx="2804259" cy="846036"/>
            <a:chOff x="7868557" y="5921164"/>
            <a:chExt cx="2804259" cy="846036"/>
          </a:xfrm>
        </p:grpSpPr>
        <p:sp>
          <p:nvSpPr>
            <p:cNvPr id="21" name="Rectangle 20"/>
            <p:cNvSpPr/>
            <p:nvPr/>
          </p:nvSpPr>
          <p:spPr>
            <a:xfrm>
              <a:off x="7888653" y="6506334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21"/>
            <p:cNvSpPr/>
            <p:nvPr/>
          </p:nvSpPr>
          <p:spPr>
            <a:xfrm>
              <a:off x="7868557" y="601583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130862" y="5921164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0 (nível lógico 0)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137233" y="6397868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1 (nível lógico 1)</a:t>
              </a:r>
            </a:p>
          </p:txBody>
        </p:sp>
      </p:grpSp>
      <p:grpSp>
        <p:nvGrpSpPr>
          <p:cNvPr id="2" name="Grupo 1"/>
          <p:cNvGrpSpPr/>
          <p:nvPr/>
        </p:nvGrpSpPr>
        <p:grpSpPr>
          <a:xfrm>
            <a:off x="29218" y="1708743"/>
            <a:ext cx="3800094" cy="3486715"/>
            <a:chOff x="29218" y="1708743"/>
            <a:chExt cx="3800094" cy="3486715"/>
          </a:xfrm>
        </p:grpSpPr>
        <p:cxnSp>
          <p:nvCxnSpPr>
            <p:cNvPr id="26" name="Straight Arrow Connector 5"/>
            <p:cNvCxnSpPr/>
            <p:nvPr/>
          </p:nvCxnSpPr>
          <p:spPr>
            <a:xfrm>
              <a:off x="423532" y="4732316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7"/>
            <p:cNvCxnSpPr/>
            <p:nvPr/>
          </p:nvCxnSpPr>
          <p:spPr>
            <a:xfrm flipV="1">
              <a:off x="423532" y="1859936"/>
              <a:ext cx="0" cy="288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8"/>
            <p:cNvSpPr/>
            <p:nvPr/>
          </p:nvSpPr>
          <p:spPr>
            <a:xfrm>
              <a:off x="423532" y="2204697"/>
              <a:ext cx="2520000" cy="252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TextBox 9"/>
            <p:cNvSpPr txBox="1"/>
            <p:nvPr/>
          </p:nvSpPr>
          <p:spPr>
            <a:xfrm>
              <a:off x="3303532" y="4540031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30" name="TextBox 10"/>
            <p:cNvSpPr txBox="1"/>
            <p:nvPr/>
          </p:nvSpPr>
          <p:spPr>
            <a:xfrm>
              <a:off x="423532" y="1708743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x2</a:t>
              </a:r>
            </a:p>
          </p:txBody>
        </p:sp>
        <p:sp>
          <p:nvSpPr>
            <p:cNvPr id="32" name="Rectangle 12"/>
            <p:cNvSpPr/>
            <p:nvPr/>
          </p:nvSpPr>
          <p:spPr>
            <a:xfrm>
              <a:off x="2871142" y="2136117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Oval 13"/>
            <p:cNvSpPr/>
            <p:nvPr/>
          </p:nvSpPr>
          <p:spPr>
            <a:xfrm>
              <a:off x="345549" y="2122317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Oval 14"/>
            <p:cNvSpPr/>
            <p:nvPr/>
          </p:nvSpPr>
          <p:spPr>
            <a:xfrm>
              <a:off x="2853532" y="4638507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TextBox 15"/>
            <p:cNvSpPr txBox="1"/>
            <p:nvPr/>
          </p:nvSpPr>
          <p:spPr>
            <a:xfrm>
              <a:off x="423531" y="1827073"/>
              <a:ext cx="25264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AND</a:t>
              </a:r>
            </a:p>
          </p:txBody>
        </p:sp>
        <p:sp>
          <p:nvSpPr>
            <p:cNvPr id="36" name="TextBox 16"/>
            <p:cNvSpPr txBox="1"/>
            <p:nvPr/>
          </p:nvSpPr>
          <p:spPr>
            <a:xfrm>
              <a:off x="2752093" y="4826126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37" name="TextBox 17"/>
            <p:cNvSpPr txBox="1"/>
            <p:nvPr/>
          </p:nvSpPr>
          <p:spPr>
            <a:xfrm>
              <a:off x="244110" y="4800897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38" name="TextBox 18"/>
            <p:cNvSpPr txBox="1"/>
            <p:nvPr/>
          </p:nvSpPr>
          <p:spPr>
            <a:xfrm>
              <a:off x="29218" y="2027651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43" name="Oval 14"/>
            <p:cNvSpPr/>
            <p:nvPr/>
          </p:nvSpPr>
          <p:spPr>
            <a:xfrm>
              <a:off x="338130" y="4646126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4" name="Conector reto 3"/>
            <p:cNvCxnSpPr/>
            <p:nvPr/>
          </p:nvCxnSpPr>
          <p:spPr>
            <a:xfrm>
              <a:off x="1128645" y="1991925"/>
              <a:ext cx="1980000" cy="2268000"/>
            </a:xfrm>
            <a:prstGeom prst="line">
              <a:avLst/>
            </a:prstGeom>
            <a:ln w="1905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tângulo 4"/>
                <p:cNvSpPr/>
                <p:nvPr/>
              </p:nvSpPr>
              <p:spPr>
                <a:xfrm>
                  <a:off x="888459" y="3097907"/>
                  <a:ext cx="12410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dirty="0"/>
                    <a:t> linear</a:t>
                  </a:r>
                </a:p>
              </p:txBody>
            </p:sp>
          </mc:Choice>
          <mc:Fallback xmlns="">
            <p:sp>
              <p:nvSpPr>
                <p:cNvPr id="5" name="Retângulo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459" y="3097907"/>
                  <a:ext cx="1241045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t="-8197" r="-3941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orma livre 19"/>
            <p:cNvSpPr/>
            <p:nvPr/>
          </p:nvSpPr>
          <p:spPr>
            <a:xfrm>
              <a:off x="1342068" y="2745969"/>
              <a:ext cx="508000" cy="365530"/>
            </a:xfrm>
            <a:custGeom>
              <a:avLst/>
              <a:gdLst>
                <a:gd name="connsiteX0" fmla="*/ 0 w 508000"/>
                <a:gd name="connsiteY0" fmla="*/ 365530 h 365530"/>
                <a:gd name="connsiteX1" fmla="*/ 127000 w 508000"/>
                <a:gd name="connsiteY1" fmla="*/ 22630 h 365530"/>
                <a:gd name="connsiteX2" fmla="*/ 508000 w 508000"/>
                <a:gd name="connsiteY2" fmla="*/ 60730 h 36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0" h="365530">
                  <a:moveTo>
                    <a:pt x="0" y="365530"/>
                  </a:moveTo>
                  <a:cubicBezTo>
                    <a:pt x="21166" y="219480"/>
                    <a:pt x="42333" y="73430"/>
                    <a:pt x="127000" y="22630"/>
                  </a:cubicBezTo>
                  <a:cubicBezTo>
                    <a:pt x="211667" y="-28170"/>
                    <a:pt x="359833" y="16280"/>
                    <a:pt x="508000" y="607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" name="Grupo 2"/>
          <p:cNvGrpSpPr/>
          <p:nvPr/>
        </p:nvGrpSpPr>
        <p:grpSpPr>
          <a:xfrm>
            <a:off x="3783077" y="1723982"/>
            <a:ext cx="3800094" cy="3486715"/>
            <a:chOff x="3783077" y="1723982"/>
            <a:chExt cx="3800094" cy="3486715"/>
          </a:xfrm>
        </p:grpSpPr>
        <p:cxnSp>
          <p:nvCxnSpPr>
            <p:cNvPr id="56" name="Straight Arrow Connector 5"/>
            <p:cNvCxnSpPr/>
            <p:nvPr/>
          </p:nvCxnSpPr>
          <p:spPr>
            <a:xfrm>
              <a:off x="4177391" y="4747555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7"/>
            <p:cNvCxnSpPr/>
            <p:nvPr/>
          </p:nvCxnSpPr>
          <p:spPr>
            <a:xfrm flipV="1">
              <a:off x="4177391" y="1875175"/>
              <a:ext cx="0" cy="288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ectangle 8"/>
            <p:cNvSpPr/>
            <p:nvPr/>
          </p:nvSpPr>
          <p:spPr>
            <a:xfrm>
              <a:off x="4177391" y="2219936"/>
              <a:ext cx="2520000" cy="252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9" name="TextBox 9"/>
            <p:cNvSpPr txBox="1"/>
            <p:nvPr/>
          </p:nvSpPr>
          <p:spPr>
            <a:xfrm>
              <a:off x="7057391" y="4555270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60" name="TextBox 10"/>
            <p:cNvSpPr txBox="1"/>
            <p:nvPr/>
          </p:nvSpPr>
          <p:spPr>
            <a:xfrm>
              <a:off x="4177391" y="1723982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x2</a:t>
              </a:r>
            </a:p>
          </p:txBody>
        </p:sp>
        <p:sp>
          <p:nvSpPr>
            <p:cNvPr id="62" name="Rectangle 12"/>
            <p:cNvSpPr/>
            <p:nvPr/>
          </p:nvSpPr>
          <p:spPr>
            <a:xfrm>
              <a:off x="6625001" y="2151356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5" name="TextBox 15"/>
            <p:cNvSpPr txBox="1"/>
            <p:nvPr/>
          </p:nvSpPr>
          <p:spPr>
            <a:xfrm>
              <a:off x="4165954" y="1852850"/>
              <a:ext cx="2531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/>
                <a:t>OR</a:t>
              </a:r>
            </a:p>
          </p:txBody>
        </p:sp>
        <p:sp>
          <p:nvSpPr>
            <p:cNvPr id="66" name="TextBox 16"/>
            <p:cNvSpPr txBox="1"/>
            <p:nvPr/>
          </p:nvSpPr>
          <p:spPr>
            <a:xfrm>
              <a:off x="6505952" y="4841365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67" name="TextBox 17"/>
            <p:cNvSpPr txBox="1"/>
            <p:nvPr/>
          </p:nvSpPr>
          <p:spPr>
            <a:xfrm>
              <a:off x="3997969" y="4816136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68" name="TextBox 18"/>
            <p:cNvSpPr txBox="1"/>
            <p:nvPr/>
          </p:nvSpPr>
          <p:spPr>
            <a:xfrm>
              <a:off x="3783077" y="2042890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73" name="Oval 14"/>
            <p:cNvSpPr/>
            <p:nvPr/>
          </p:nvSpPr>
          <p:spPr>
            <a:xfrm>
              <a:off x="4075954" y="4643755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ctangle 12"/>
            <p:cNvSpPr/>
            <p:nvPr/>
          </p:nvSpPr>
          <p:spPr>
            <a:xfrm>
              <a:off x="6625001" y="4667546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5" name="Rectangle 12"/>
            <p:cNvSpPr/>
            <p:nvPr/>
          </p:nvSpPr>
          <p:spPr>
            <a:xfrm>
              <a:off x="4099117" y="2151356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6" name="Conector reto 75"/>
            <p:cNvCxnSpPr/>
            <p:nvPr/>
          </p:nvCxnSpPr>
          <p:spPr>
            <a:xfrm>
              <a:off x="3969734" y="2664222"/>
              <a:ext cx="1980000" cy="2268000"/>
            </a:xfrm>
            <a:prstGeom prst="line">
              <a:avLst/>
            </a:prstGeom>
            <a:ln w="19050">
              <a:solidFill>
                <a:srgbClr val="92D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tângulo 76"/>
                <p:cNvSpPr/>
                <p:nvPr/>
              </p:nvSpPr>
              <p:spPr>
                <a:xfrm>
                  <a:off x="5047574" y="3033217"/>
                  <a:ext cx="124104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dirty="0"/>
                    <a:t> linear</a:t>
                  </a:r>
                </a:p>
              </p:txBody>
            </p:sp>
          </mc:Choice>
          <mc:Fallback xmlns="">
            <p:sp>
              <p:nvSpPr>
                <p:cNvPr id="77" name="Retângulo 7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7574" y="3033217"/>
                  <a:ext cx="1241045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10000" r="-3922" b="-2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Forma livre 77"/>
            <p:cNvSpPr/>
            <p:nvPr/>
          </p:nvSpPr>
          <p:spPr>
            <a:xfrm>
              <a:off x="4687574" y="3072736"/>
              <a:ext cx="508000" cy="365530"/>
            </a:xfrm>
            <a:custGeom>
              <a:avLst/>
              <a:gdLst>
                <a:gd name="connsiteX0" fmla="*/ 0 w 508000"/>
                <a:gd name="connsiteY0" fmla="*/ 365530 h 365530"/>
                <a:gd name="connsiteX1" fmla="*/ 127000 w 508000"/>
                <a:gd name="connsiteY1" fmla="*/ 22630 h 365530"/>
                <a:gd name="connsiteX2" fmla="*/ 508000 w 508000"/>
                <a:gd name="connsiteY2" fmla="*/ 60730 h 365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8000" h="365530">
                  <a:moveTo>
                    <a:pt x="0" y="365530"/>
                  </a:moveTo>
                  <a:cubicBezTo>
                    <a:pt x="21166" y="219480"/>
                    <a:pt x="42333" y="73430"/>
                    <a:pt x="127000" y="22630"/>
                  </a:cubicBezTo>
                  <a:cubicBezTo>
                    <a:pt x="211667" y="-28170"/>
                    <a:pt x="359833" y="16280"/>
                    <a:pt x="508000" y="607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8240569" y="1189925"/>
            <a:ext cx="3800094" cy="4434115"/>
            <a:chOff x="8240569" y="1189925"/>
            <a:chExt cx="3800094" cy="4434115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8634883" y="4646126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8634883" y="1773746"/>
              <a:ext cx="0" cy="288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8634883" y="2118507"/>
              <a:ext cx="2520000" cy="252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514883" y="4453841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34883" y="1622553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562492" y="2039936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089347" y="4562307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11064882" y="2039936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8551706" y="4552317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34883" y="1751115"/>
              <a:ext cx="252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/>
                <a:t>XOR</a:t>
              </a:r>
              <a:endParaRPr lang="pt-BR" b="1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963444" y="4739936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55461" y="4714707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40569" y="1941461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31" name="Elipse 30"/>
            <p:cNvSpPr/>
            <p:nvPr/>
          </p:nvSpPr>
          <p:spPr>
            <a:xfrm rot="18937290">
              <a:off x="9661933" y="1189925"/>
              <a:ext cx="571405" cy="4434115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tângulo 81"/>
                <p:cNvSpPr/>
                <p:nvPr/>
              </p:nvSpPr>
              <p:spPr>
                <a:xfrm>
                  <a:off x="9495896" y="2203672"/>
                  <a:ext cx="16658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a14:m>
                  <a:r>
                    <a:rPr lang="pt-BR" dirty="0"/>
                    <a:t> não-linear</a:t>
                  </a:r>
                </a:p>
              </p:txBody>
            </p:sp>
          </mc:Choice>
          <mc:Fallback xmlns="">
            <p:sp>
              <p:nvSpPr>
                <p:cNvPr id="82" name="Retângulo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5896" y="2203672"/>
                  <a:ext cx="1665841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8197" r="-2930" b="-24590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3" name="Forma livre 82"/>
            <p:cNvSpPr/>
            <p:nvPr/>
          </p:nvSpPr>
          <p:spPr>
            <a:xfrm>
              <a:off x="9896492" y="2537629"/>
              <a:ext cx="180369" cy="482600"/>
            </a:xfrm>
            <a:custGeom>
              <a:avLst/>
              <a:gdLst>
                <a:gd name="connsiteX0" fmla="*/ 88900 w 180369"/>
                <a:gd name="connsiteY0" fmla="*/ 482600 h 482600"/>
                <a:gd name="connsiteX1" fmla="*/ 177800 w 180369"/>
                <a:gd name="connsiteY1" fmla="*/ 190500 h 482600"/>
                <a:gd name="connsiteX2" fmla="*/ 0 w 180369"/>
                <a:gd name="connsiteY2" fmla="*/ 0 h 48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369" h="482600">
                  <a:moveTo>
                    <a:pt x="88900" y="482600"/>
                  </a:moveTo>
                  <a:cubicBezTo>
                    <a:pt x="140758" y="376766"/>
                    <a:pt x="192617" y="270933"/>
                    <a:pt x="177800" y="190500"/>
                  </a:cubicBezTo>
                  <a:cubicBezTo>
                    <a:pt x="162983" y="110067"/>
                    <a:pt x="81491" y="55033"/>
                    <a:pt x="0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1116737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3519378" y="1417085"/>
            <a:ext cx="6583133" cy="3198407"/>
            <a:chOff x="3519378" y="1417085"/>
            <a:chExt cx="6583133" cy="3198407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754993" y="1706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AND</a:t>
              </a:r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4754993" y="3434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AND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6246336" y="2570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OR</a:t>
              </a:r>
            </a:p>
          </p:txBody>
        </p:sp>
        <p:cxnSp>
          <p:nvCxnSpPr>
            <p:cNvPr id="10" name="Straight Arrow Connector 9"/>
            <p:cNvCxnSpPr>
              <a:stCxn id="4" idx="6"/>
              <a:endCxn id="8" idx="1"/>
            </p:cNvCxnSpPr>
            <p:nvPr/>
          </p:nvCxnSpPr>
          <p:spPr>
            <a:xfrm>
              <a:off x="5618993" y="213805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6"/>
              <a:endCxn id="8" idx="3"/>
            </p:cNvCxnSpPr>
            <p:nvPr/>
          </p:nvCxnSpPr>
          <p:spPr>
            <a:xfrm flipV="1">
              <a:off x="5618993" y="330752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054171" y="2056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54171" y="3784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Straight Arrow Connector 20"/>
            <p:cNvCxnSpPr>
              <a:stCxn id="19" idx="3"/>
              <a:endCxn id="4" idx="2"/>
            </p:cNvCxnSpPr>
            <p:nvPr/>
          </p:nvCxnSpPr>
          <p:spPr>
            <a:xfrm>
              <a:off x="4201128" y="2138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201128" y="3866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>
              <a:spLocks noChangeAspect="1"/>
            </p:cNvSpPr>
            <p:nvPr/>
          </p:nvSpPr>
          <p:spPr>
            <a:xfrm>
              <a:off x="4682993" y="2345318"/>
              <a:ext cx="144000" cy="14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7" name="Straight Arrow Connector 26"/>
            <p:cNvCxnSpPr>
              <a:stCxn id="20" idx="3"/>
              <a:endCxn id="26" idx="3"/>
            </p:cNvCxnSpPr>
            <p:nvPr/>
          </p:nvCxnSpPr>
          <p:spPr>
            <a:xfrm flipV="1">
              <a:off x="4201128" y="2468230"/>
              <a:ext cx="502953" cy="13978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4682993" y="3506053"/>
              <a:ext cx="144000" cy="14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31" name="Straight Arrow Connector 30"/>
            <p:cNvCxnSpPr>
              <a:stCxn id="19" idx="3"/>
              <a:endCxn id="30" idx="1"/>
            </p:cNvCxnSpPr>
            <p:nvPr/>
          </p:nvCxnSpPr>
          <p:spPr>
            <a:xfrm>
              <a:off x="4201128" y="2138053"/>
              <a:ext cx="502953" cy="138908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TextBox 36"/>
            <p:cNvSpPr txBox="1"/>
            <p:nvPr/>
          </p:nvSpPr>
          <p:spPr>
            <a:xfrm>
              <a:off x="4655017" y="2468229"/>
              <a:ext cx="555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not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55017" y="3229053"/>
              <a:ext cx="5553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200" dirty="0"/>
                <a:t>not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34543" y="1417085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34543" y="4338493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283108" y="2294837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#3</a:t>
              </a:r>
            </a:p>
          </p:txBody>
        </p:sp>
        <p:cxnSp>
          <p:nvCxnSpPr>
            <p:cNvPr id="43" name="Straight Arrow Connector 42"/>
            <p:cNvCxnSpPr>
              <a:stCxn id="8" idx="6"/>
            </p:cNvCxnSpPr>
            <p:nvPr/>
          </p:nvCxnSpPr>
          <p:spPr>
            <a:xfrm>
              <a:off x="7110336" y="3002053"/>
              <a:ext cx="6112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7090547" y="3018350"/>
                  <a:ext cx="30119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| 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547" y="3018350"/>
                  <a:ext cx="3011964" cy="33855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5629766" y="1876237"/>
                  <a:ext cx="1689565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766" y="1876237"/>
                  <a:ext cx="1689565" cy="33855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5669905" y="3644677"/>
                  <a:ext cx="164942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9905" y="3644677"/>
                  <a:ext cx="1649426" cy="33855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/>
            <p:cNvCxnSpPr>
              <a:endCxn id="4" idx="1"/>
            </p:cNvCxnSpPr>
            <p:nvPr/>
          </p:nvCxnSpPr>
          <p:spPr>
            <a:xfrm>
              <a:off x="4478060" y="1706053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/>
            <p:cNvCxnSpPr/>
            <p:nvPr/>
          </p:nvCxnSpPr>
          <p:spPr>
            <a:xfrm flipV="1">
              <a:off x="4423530" y="4097597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/>
            <p:cNvCxnSpPr/>
            <p:nvPr/>
          </p:nvCxnSpPr>
          <p:spPr>
            <a:xfrm flipV="1">
              <a:off x="5968664" y="3004741"/>
              <a:ext cx="269417" cy="76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62195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519378" y="1435894"/>
            <a:ext cx="5779072" cy="3137727"/>
            <a:chOff x="3519378" y="1435894"/>
            <a:chExt cx="5779072" cy="3137727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754993" y="1706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AND</a:t>
              </a:r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4754993" y="3434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AND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6246336" y="2570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OR</a:t>
              </a:r>
            </a:p>
          </p:txBody>
        </p:sp>
        <p:cxnSp>
          <p:nvCxnSpPr>
            <p:cNvPr id="10" name="Straight Arrow Connector 9"/>
            <p:cNvCxnSpPr>
              <a:stCxn id="4" idx="6"/>
              <a:endCxn id="8" idx="1"/>
            </p:cNvCxnSpPr>
            <p:nvPr/>
          </p:nvCxnSpPr>
          <p:spPr>
            <a:xfrm>
              <a:off x="5618993" y="213805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6"/>
              <a:endCxn id="8" idx="3"/>
            </p:cNvCxnSpPr>
            <p:nvPr/>
          </p:nvCxnSpPr>
          <p:spPr>
            <a:xfrm flipV="1">
              <a:off x="5618993" y="330752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054171" y="2056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54171" y="3784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Straight Arrow Connector 20"/>
            <p:cNvCxnSpPr>
              <a:stCxn id="19" idx="3"/>
              <a:endCxn id="4" idx="2"/>
            </p:cNvCxnSpPr>
            <p:nvPr/>
          </p:nvCxnSpPr>
          <p:spPr>
            <a:xfrm>
              <a:off x="4201128" y="2138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201128" y="3866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3"/>
              <a:endCxn id="4" idx="3"/>
            </p:cNvCxnSpPr>
            <p:nvPr/>
          </p:nvCxnSpPr>
          <p:spPr>
            <a:xfrm flipV="1">
              <a:off x="4201128" y="2443523"/>
              <a:ext cx="680395" cy="1422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9" idx="3"/>
              <a:endCxn id="7" idx="1"/>
            </p:cNvCxnSpPr>
            <p:nvPr/>
          </p:nvCxnSpPr>
          <p:spPr>
            <a:xfrm>
              <a:off x="4201128" y="2138053"/>
              <a:ext cx="680395" cy="1422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4634543" y="1435894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34543" y="4296622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25886" y="2294154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#3</a:t>
              </a:r>
            </a:p>
          </p:txBody>
        </p:sp>
        <p:cxnSp>
          <p:nvCxnSpPr>
            <p:cNvPr id="43" name="Straight Arrow Connector 42"/>
            <p:cNvCxnSpPr>
              <a:stCxn id="8" idx="6"/>
            </p:cNvCxnSpPr>
            <p:nvPr/>
          </p:nvCxnSpPr>
          <p:spPr>
            <a:xfrm>
              <a:off x="7110336" y="3002053"/>
              <a:ext cx="6112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5629766" y="1876237"/>
                  <a:ext cx="1689565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766" y="1876237"/>
                  <a:ext cx="1689565" cy="33855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5669905" y="3673252"/>
                  <a:ext cx="164942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9905" y="3673252"/>
                  <a:ext cx="1649426" cy="33855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/>
            <p:cNvCxnSpPr>
              <a:endCxn id="4" idx="1"/>
            </p:cNvCxnSpPr>
            <p:nvPr/>
          </p:nvCxnSpPr>
          <p:spPr>
            <a:xfrm>
              <a:off x="4478060" y="1706053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/>
            <p:cNvCxnSpPr/>
            <p:nvPr/>
          </p:nvCxnSpPr>
          <p:spPr>
            <a:xfrm flipV="1">
              <a:off x="4423530" y="4097597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/>
            <p:cNvCxnSpPr/>
            <p:nvPr/>
          </p:nvCxnSpPr>
          <p:spPr>
            <a:xfrm flipV="1">
              <a:off x="5968664" y="3004741"/>
              <a:ext cx="269417" cy="76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6286486" y="3018350"/>
                  <a:ext cx="301196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6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 =(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 &amp;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| 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86" y="3018350"/>
                  <a:ext cx="3011964" cy="5847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r="-19028" b="-520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72677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/>
          <p:cNvGrpSpPr/>
          <p:nvPr/>
        </p:nvGrpSpPr>
        <p:grpSpPr>
          <a:xfrm>
            <a:off x="3519378" y="1435894"/>
            <a:ext cx="5779072" cy="3137727"/>
            <a:chOff x="3519378" y="1435894"/>
            <a:chExt cx="5779072" cy="3137727"/>
          </a:xfrm>
        </p:grpSpPr>
        <p:sp>
          <p:nvSpPr>
            <p:cNvPr id="4" name="Oval 3"/>
            <p:cNvSpPr>
              <a:spLocks noChangeAspect="1"/>
            </p:cNvSpPr>
            <p:nvPr/>
          </p:nvSpPr>
          <p:spPr>
            <a:xfrm>
              <a:off x="4754993" y="1706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OR</a:t>
              </a:r>
            </a:p>
          </p:txBody>
        </p:sp>
        <p:sp>
          <p:nvSpPr>
            <p:cNvPr id="7" name="Oval 6"/>
            <p:cNvSpPr>
              <a:spLocks noChangeAspect="1"/>
            </p:cNvSpPr>
            <p:nvPr/>
          </p:nvSpPr>
          <p:spPr>
            <a:xfrm>
              <a:off x="4754993" y="3434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OR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6246336" y="2570053"/>
              <a:ext cx="864000" cy="864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AND</a:t>
              </a:r>
            </a:p>
          </p:txBody>
        </p:sp>
        <p:cxnSp>
          <p:nvCxnSpPr>
            <p:cNvPr id="10" name="Straight Arrow Connector 9"/>
            <p:cNvCxnSpPr>
              <a:stCxn id="4" idx="6"/>
              <a:endCxn id="8" idx="1"/>
            </p:cNvCxnSpPr>
            <p:nvPr/>
          </p:nvCxnSpPr>
          <p:spPr>
            <a:xfrm>
              <a:off x="5618993" y="213805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7" idx="6"/>
              <a:endCxn id="8" idx="3"/>
            </p:cNvCxnSpPr>
            <p:nvPr/>
          </p:nvCxnSpPr>
          <p:spPr>
            <a:xfrm flipV="1">
              <a:off x="5618993" y="3307523"/>
              <a:ext cx="753873" cy="558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4054171" y="2056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54171" y="3784410"/>
              <a:ext cx="146957" cy="16328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21" name="Straight Arrow Connector 20"/>
            <p:cNvCxnSpPr>
              <a:stCxn id="19" idx="3"/>
              <a:endCxn id="4" idx="2"/>
            </p:cNvCxnSpPr>
            <p:nvPr/>
          </p:nvCxnSpPr>
          <p:spPr>
            <a:xfrm>
              <a:off x="4201128" y="2138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4201128" y="3866053"/>
              <a:ext cx="55386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3"/>
              <a:endCxn id="4" idx="3"/>
            </p:cNvCxnSpPr>
            <p:nvPr/>
          </p:nvCxnSpPr>
          <p:spPr>
            <a:xfrm flipV="1">
              <a:off x="4201128" y="2443523"/>
              <a:ext cx="680395" cy="1422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9" idx="3"/>
              <a:endCxn id="7" idx="1"/>
            </p:cNvCxnSpPr>
            <p:nvPr/>
          </p:nvCxnSpPr>
          <p:spPr>
            <a:xfrm>
              <a:off x="4201128" y="2138053"/>
              <a:ext cx="680395" cy="1422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1953387"/>
                  <a:ext cx="571500" cy="369332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9378" y="3681387"/>
                  <a:ext cx="571500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4634543" y="1435894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634543" y="4296622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25886" y="2294154"/>
              <a:ext cx="11049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200" dirty="0"/>
                <a:t>Perceptron #3</a:t>
              </a:r>
            </a:p>
          </p:txBody>
        </p:sp>
        <p:cxnSp>
          <p:nvCxnSpPr>
            <p:cNvPr id="43" name="Straight Arrow Connector 42"/>
            <p:cNvCxnSpPr>
              <a:stCxn id="8" idx="6"/>
            </p:cNvCxnSpPr>
            <p:nvPr/>
          </p:nvCxnSpPr>
          <p:spPr>
            <a:xfrm>
              <a:off x="7110336" y="3002053"/>
              <a:ext cx="61126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286486" y="3018350"/>
                  <a:ext cx="3011964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 &amp;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sz="16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                         =(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&amp; 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486" y="3018350"/>
                  <a:ext cx="3011964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r="-14980" b="-5208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5629766" y="1876237"/>
                  <a:ext cx="1614224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9766" y="1876237"/>
                  <a:ext cx="1614224" cy="33855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5669905" y="3673252"/>
                  <a:ext cx="1574085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~</m:t>
                            </m:r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sz="16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69905" y="3673252"/>
                  <a:ext cx="1574085" cy="33855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0909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Arrow Connector 48"/>
            <p:cNvCxnSpPr>
              <a:endCxn id="4" idx="1"/>
            </p:cNvCxnSpPr>
            <p:nvPr/>
          </p:nvCxnSpPr>
          <p:spPr>
            <a:xfrm>
              <a:off x="4478060" y="1706053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0670" y="1537888"/>
                  <a:ext cx="658257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/>
            <p:cNvCxnSpPr/>
            <p:nvPr/>
          </p:nvCxnSpPr>
          <p:spPr>
            <a:xfrm flipV="1">
              <a:off x="4423530" y="4097597"/>
              <a:ext cx="403463" cy="1265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ectangle 51"/>
                <p:cNvSpPr/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2" name="Rectangle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004" y="4221264"/>
                  <a:ext cx="658257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/>
            <p:cNvCxnSpPr/>
            <p:nvPr/>
          </p:nvCxnSpPr>
          <p:spPr>
            <a:xfrm flipV="1">
              <a:off x="5968664" y="3004741"/>
              <a:ext cx="269417" cy="76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6623" y="2760390"/>
                  <a:ext cx="658257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983059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616299" y="893608"/>
            <a:ext cx="3800094" cy="4620187"/>
            <a:chOff x="3707123" y="629544"/>
            <a:chExt cx="3800094" cy="4620187"/>
          </a:xfrm>
        </p:grpSpPr>
        <p:cxnSp>
          <p:nvCxnSpPr>
            <p:cNvPr id="6" name="Straight Arrow Connector 5"/>
            <p:cNvCxnSpPr/>
            <p:nvPr/>
          </p:nvCxnSpPr>
          <p:spPr>
            <a:xfrm>
              <a:off x="4101437" y="3865889"/>
              <a:ext cx="2880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V="1">
              <a:off x="4101437" y="993509"/>
              <a:ext cx="0" cy="28800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4101437" y="1338270"/>
              <a:ext cx="2520000" cy="2520000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81437" y="3673604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x1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101437" y="842316"/>
              <a:ext cx="5257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x2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029047" y="3782070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549047" y="1269690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Oval 13"/>
            <p:cNvSpPr/>
            <p:nvPr/>
          </p:nvSpPr>
          <p:spPr>
            <a:xfrm>
              <a:off x="4023454" y="125589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Oval 14"/>
            <p:cNvSpPr/>
            <p:nvPr/>
          </p:nvSpPr>
          <p:spPr>
            <a:xfrm>
              <a:off x="6531437" y="3772080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023454" y="629544"/>
              <a:ext cx="2957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XOR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29998" y="3959699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922015" y="3934470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707123" y="1161224"/>
              <a:ext cx="3828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1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028712" y="4988865"/>
              <a:ext cx="144780" cy="152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Oval 21"/>
            <p:cNvSpPr/>
            <p:nvPr/>
          </p:nvSpPr>
          <p:spPr>
            <a:xfrm>
              <a:off x="4014988" y="4550868"/>
              <a:ext cx="180000" cy="180000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277293" y="4456202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1 (nível lógico 1)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277292" y="4880399"/>
              <a:ext cx="25355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Classe 0 (nível lógico 0)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346999" y="2697573"/>
            <a:ext cx="2314895" cy="2302576"/>
            <a:chOff x="5725052" y="620852"/>
            <a:chExt cx="2314895" cy="2302576"/>
          </a:xfrm>
        </p:grpSpPr>
        <p:grpSp>
          <p:nvGrpSpPr>
            <p:cNvPr id="61" name="Group 60"/>
            <p:cNvGrpSpPr/>
            <p:nvPr/>
          </p:nvGrpSpPr>
          <p:grpSpPr>
            <a:xfrm>
              <a:off x="5725052" y="762803"/>
              <a:ext cx="2314895" cy="2160625"/>
              <a:chOff x="5725052" y="762803"/>
              <a:chExt cx="2314895" cy="2160625"/>
            </a:xfrm>
          </p:grpSpPr>
          <p:cxnSp>
            <p:nvCxnSpPr>
              <p:cNvPr id="26" name="Straight Arrow Connector 25"/>
              <p:cNvCxnSpPr/>
              <p:nvPr/>
            </p:nvCxnSpPr>
            <p:spPr>
              <a:xfrm>
                <a:off x="5965255" y="2604672"/>
                <a:ext cx="175440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 flipV="1">
                <a:off x="5965255" y="854905"/>
                <a:ext cx="0" cy="175440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 27"/>
              <p:cNvSpPr/>
              <p:nvPr/>
            </p:nvSpPr>
            <p:spPr>
              <a:xfrm>
                <a:off x="5965255" y="1064923"/>
                <a:ext cx="1535103" cy="1535108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7719659" y="2487538"/>
                <a:ext cx="3202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x1</a:t>
                </a:r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5965255" y="762803"/>
                <a:ext cx="3202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x2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7463020" y="2555275"/>
                <a:ext cx="88195" cy="9283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910429" y="1007651"/>
                <a:ext cx="109650" cy="109651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383740" y="2661818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1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855957" y="2646450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0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725052" y="957072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1</a:t>
                </a:r>
              </a:p>
            </p:txBody>
          </p:sp>
          <p:cxnSp>
            <p:nvCxnSpPr>
              <p:cNvPr id="3" name="Straight Connector 2"/>
              <p:cNvCxnSpPr>
                <a:cxnSpLocks noChangeAspect="1"/>
              </p:cNvCxnSpPr>
              <p:nvPr/>
            </p:nvCxnSpPr>
            <p:spPr>
              <a:xfrm rot="16200000">
                <a:off x="5725054" y="818790"/>
                <a:ext cx="1425453" cy="1425457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/>
                <p:cNvSpPr txBox="1"/>
                <p:nvPr/>
              </p:nvSpPr>
              <p:spPr>
                <a:xfrm>
                  <a:off x="6089193" y="620852"/>
                  <a:ext cx="11354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62" name="TextBox 6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9193" y="620852"/>
                  <a:ext cx="1135464" cy="2769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6285543" y="1725100"/>
                  <a:ext cx="11354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5543" y="1725100"/>
                  <a:ext cx="1135464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Group 66"/>
          <p:cNvGrpSpPr/>
          <p:nvPr/>
        </p:nvGrpSpPr>
        <p:grpSpPr>
          <a:xfrm>
            <a:off x="5346999" y="369876"/>
            <a:ext cx="2314895" cy="2160625"/>
            <a:chOff x="8630975" y="522021"/>
            <a:chExt cx="2314895" cy="2160625"/>
          </a:xfrm>
        </p:grpSpPr>
        <p:grpSp>
          <p:nvGrpSpPr>
            <p:cNvPr id="60" name="Group 59"/>
            <p:cNvGrpSpPr/>
            <p:nvPr/>
          </p:nvGrpSpPr>
          <p:grpSpPr>
            <a:xfrm>
              <a:off x="8630975" y="522021"/>
              <a:ext cx="2314895" cy="2160625"/>
              <a:chOff x="5670226" y="3021786"/>
              <a:chExt cx="2314895" cy="2160625"/>
            </a:xfrm>
          </p:grpSpPr>
          <p:cxnSp>
            <p:nvCxnSpPr>
              <p:cNvPr id="44" name="Straight Arrow Connector 43"/>
              <p:cNvCxnSpPr/>
              <p:nvPr/>
            </p:nvCxnSpPr>
            <p:spPr>
              <a:xfrm>
                <a:off x="5910429" y="4863655"/>
                <a:ext cx="175440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/>
              <p:cNvCxnSpPr/>
              <p:nvPr/>
            </p:nvCxnSpPr>
            <p:spPr>
              <a:xfrm flipV="1">
                <a:off x="5910429" y="3113888"/>
                <a:ext cx="0" cy="1754409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Rectangle 45"/>
              <p:cNvSpPr/>
              <p:nvPr/>
            </p:nvSpPr>
            <p:spPr>
              <a:xfrm>
                <a:off x="5910429" y="3323906"/>
                <a:ext cx="1535103" cy="1535108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7664833" y="4746521"/>
                <a:ext cx="3202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x1</a:t>
                </a: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5910429" y="3021786"/>
                <a:ext cx="32028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100" dirty="0"/>
                  <a:t>x2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5869198" y="3278250"/>
                <a:ext cx="88195" cy="9283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7328914" y="4920801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1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5801131" y="4905433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670226" y="3216055"/>
                <a:ext cx="2332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dirty="0"/>
                  <a:t>1</a:t>
                </a:r>
              </a:p>
            </p:txBody>
          </p:sp>
          <p:cxnSp>
            <p:nvCxnSpPr>
              <p:cNvPr id="55" name="Straight Connector 54"/>
              <p:cNvCxnSpPr>
                <a:cxnSpLocks noChangeAspect="1"/>
              </p:cNvCxnSpPr>
              <p:nvPr/>
            </p:nvCxnSpPr>
            <p:spPr>
              <a:xfrm rot="16200000">
                <a:off x="6170264" y="3626151"/>
                <a:ext cx="1425453" cy="1425457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/>
              <p:cNvSpPr/>
              <p:nvPr/>
            </p:nvSpPr>
            <p:spPr>
              <a:xfrm>
                <a:off x="7392954" y="4822500"/>
                <a:ext cx="109650" cy="109651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5865330" y="4816013"/>
                <a:ext cx="88195" cy="9283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7401330" y="3272845"/>
                <a:ext cx="88195" cy="92837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9490348" y="1935768"/>
                  <a:ext cx="11354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0348" y="1935768"/>
                  <a:ext cx="1135464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/>
                <p:cNvSpPr txBox="1"/>
                <p:nvPr/>
              </p:nvSpPr>
              <p:spPr>
                <a:xfrm>
                  <a:off x="8887829" y="1276286"/>
                  <a:ext cx="113546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2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65" name="TextBox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7829" y="1276286"/>
                  <a:ext cx="1135464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Rectangle 67"/>
          <p:cNvSpPr/>
          <p:nvPr/>
        </p:nvSpPr>
        <p:spPr>
          <a:xfrm>
            <a:off x="7078102" y="3099867"/>
            <a:ext cx="88195" cy="9283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  <p:sp>
        <p:nvSpPr>
          <p:cNvPr id="69" name="Rectangle 68"/>
          <p:cNvSpPr/>
          <p:nvPr/>
        </p:nvSpPr>
        <p:spPr>
          <a:xfrm>
            <a:off x="5535184" y="4632654"/>
            <a:ext cx="88195" cy="9283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00"/>
          </a:p>
        </p:txBody>
      </p:sp>
    </p:spTree>
    <p:extLst>
      <p:ext uri="{BB962C8B-B14F-4D97-AF65-F5344CB8AC3E}">
        <p14:creationId xmlns:p14="http://schemas.microsoft.com/office/powerpoint/2010/main" val="142981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15374</TotalTime>
  <Words>6461</Words>
  <Application>Microsoft Office PowerPoint</Application>
  <PresentationFormat>Widescreen</PresentationFormat>
  <Paragraphs>823</Paragraphs>
  <Slides>52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T320 - Introdução ao Aprendizado de Máquina II: Redes Neurais Artificiais (Parte I)</vt:lpstr>
      <vt:lpstr>Introdução</vt:lpstr>
      <vt:lpstr>Redes neurais artificiais</vt:lpstr>
      <vt:lpstr>Redes Neurais Artificiais</vt:lpstr>
      <vt:lpstr>Algumas aplicações famosas</vt:lpstr>
      <vt:lpstr>Um pouco de contexto</vt:lpstr>
      <vt:lpstr>Um pouco de contexto</vt:lpstr>
      <vt:lpstr>Um pouco de contexto</vt:lpstr>
      <vt:lpstr>Um pouco de contexto</vt:lpstr>
      <vt:lpstr>Um pouco de contexto</vt:lpstr>
      <vt:lpstr>Um pouco de contexto</vt:lpstr>
      <vt:lpstr>Um pouco de contexto</vt:lpstr>
      <vt:lpstr>O modelo de McCulloch e Pitts </vt:lpstr>
      <vt:lpstr>O modelo de McCulloch e Pitts </vt:lpstr>
      <vt:lpstr>O modelo de McCulloch e Pitts </vt:lpstr>
      <vt:lpstr>O modelo de McCulloch e Pitts </vt:lpstr>
      <vt:lpstr>O modelo de McCulloch e Pitts </vt:lpstr>
      <vt:lpstr>Apresentação do PowerPoint</vt:lpstr>
      <vt:lpstr>Exemplos de portas lógicas com o modelo M-P</vt:lpstr>
      <vt:lpstr>Apresentação do PowerPoint</vt:lpstr>
      <vt:lpstr>Exemplos de portas lógicas com o modelo M-P</vt:lpstr>
      <vt:lpstr>Tarefa</vt:lpstr>
      <vt:lpstr>Perceptron</vt:lpstr>
      <vt:lpstr>Perceptron</vt:lpstr>
      <vt:lpstr>Perceptron</vt:lpstr>
      <vt:lpstr>A ativação do Perceptron</vt:lpstr>
      <vt:lpstr>A ativação do Perceptron</vt:lpstr>
      <vt:lpstr>A ativação do Perceptron</vt:lpstr>
      <vt:lpstr>Regra de aprendizado do perceptron</vt:lpstr>
      <vt:lpstr>Regra de aprendizado do perceptron</vt:lpstr>
      <vt:lpstr>Perceptron</vt:lpstr>
      <vt:lpstr>Perceptron</vt:lpstr>
      <vt:lpstr>Perceptron</vt:lpstr>
      <vt:lpstr>Perceptron</vt:lpstr>
      <vt:lpstr>Perceptron</vt:lpstr>
      <vt:lpstr>Tarefas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Felipe Augusto Pereira de Figueiredo</cp:lastModifiedBy>
  <cp:revision>1383</cp:revision>
  <dcterms:created xsi:type="dcterms:W3CDTF">2020-04-06T23:46:10Z</dcterms:created>
  <dcterms:modified xsi:type="dcterms:W3CDTF">2026-10-03T12:57:36Z</dcterms:modified>
</cp:coreProperties>
</file>