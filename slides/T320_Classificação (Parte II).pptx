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14" r:id="rId3"/>
    <p:sldId id="363" r:id="rId4"/>
    <p:sldId id="370" r:id="rId5"/>
    <p:sldId id="364" r:id="rId6"/>
    <p:sldId id="371" r:id="rId7"/>
    <p:sldId id="373" r:id="rId8"/>
    <p:sldId id="374" r:id="rId9"/>
    <p:sldId id="375" r:id="rId10"/>
    <p:sldId id="376" r:id="rId11"/>
    <p:sldId id="346" r:id="rId12"/>
    <p:sldId id="394" r:id="rId13"/>
    <p:sldId id="390" r:id="rId14"/>
    <p:sldId id="391" r:id="rId15"/>
    <p:sldId id="377" r:id="rId16"/>
    <p:sldId id="378" r:id="rId17"/>
    <p:sldId id="348" r:id="rId18"/>
    <p:sldId id="380" r:id="rId19"/>
    <p:sldId id="381" r:id="rId20"/>
    <p:sldId id="382" r:id="rId21"/>
    <p:sldId id="383" r:id="rId22"/>
    <p:sldId id="392" r:id="rId23"/>
    <p:sldId id="385" r:id="rId24"/>
    <p:sldId id="387" r:id="rId25"/>
    <p:sldId id="393" r:id="rId26"/>
    <p:sldId id="389" r:id="rId27"/>
    <p:sldId id="386" r:id="rId28"/>
    <p:sldId id="324" r:id="rId29"/>
    <p:sldId id="306" r:id="rId30"/>
    <p:sldId id="367" r:id="rId3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1" autoAdjust="0"/>
    <p:restoredTop sz="86703" autoAdjust="0"/>
  </p:normalViewPr>
  <p:slideViewPr>
    <p:cSldViewPr snapToGrid="0">
      <p:cViewPr varScale="1">
        <p:scale>
          <a:sx n="63" d="100"/>
          <a:sy n="63" d="100"/>
        </p:scale>
        <p:origin x="102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1943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198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07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06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505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expansão polinomial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 </a:t>
            </a:r>
            <a:r>
              <a:rPr lang="pt-BR" sz="1200" b="1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originais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um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espaço de dimensão superior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usando combinações polinomiais, mantendo a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linearidade nos parâmetros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 modelo.</a:t>
            </a:r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 smtClean="0">
                <a:solidFill>
                  <a:srgbClr val="374151"/>
                </a:solidFill>
                <a:effectLst/>
                <a:latin typeface="Söhne"/>
              </a:rPr>
              <a:t>Uma 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4281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267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26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79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1962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2359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4467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9656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463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97911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48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classificação_rígida.ipynb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#2</a:t>
            </a:r>
            <a:r>
              <a:rPr lang="pt-BR" sz="1200" dirty="0"/>
              <a:t>: https://mybinder.org/v2/gh/zz4fap/t320_aprendizado_de_maquina/main?filepath=labs%2FLaboratorio2.ipynb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gif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olab.research.google.com/github/zz4fap/t320_aprendizado_de_maquina/blob/main/notebooks/classifica&#231;&#227;o/classificador_linear_com_limiar_rigido.ipynb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20_aprendizado_de_maquina/blob/main/notebooks/classifica&#231;&#227;o/classifica&#231;&#227;o_r&#237;gida.ipynb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2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7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642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alguns exemplos de aplicação de algoritmos de </a:t>
            </a:r>
            <a:r>
              <a:rPr lang="pt-BR" b="1" i="1" dirty="0"/>
              <a:t>classificação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de spam.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Análise de sentimentos.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Reconhecimento de objetos, faces, letras/dígitos.</a:t>
            </a:r>
          </a:p>
          <a:p>
            <a:r>
              <a:rPr lang="pt-BR" dirty="0"/>
              <a:t>Definimos o problema da classificação e concluímos que ele também é um problema de </a:t>
            </a:r>
            <a:r>
              <a:rPr lang="pt-BR" b="1" i="1" dirty="0"/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Aprendemos que as classes são separadas através de </a:t>
            </a:r>
            <a:r>
              <a:rPr lang="pt-BR" b="1" i="1" dirty="0"/>
              <a:t>funções discriminantes </a:t>
            </a:r>
            <a:r>
              <a:rPr lang="pt-BR" dirty="0"/>
              <a:t>e que o desafio é encontrar funções adequadas e seus respectivos pesos.</a:t>
            </a:r>
          </a:p>
          <a:p>
            <a:r>
              <a:rPr lang="pt-BR" dirty="0"/>
              <a:t>A partir desta aula, começaremos a discutir como encontrar os pesos.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o objetivo da </a:t>
                </a:r>
                <a:r>
                  <a:rPr lang="pt-BR" b="1" i="1" dirty="0"/>
                  <a:t>classificação</a:t>
                </a:r>
                <a:r>
                  <a:rPr lang="pt-BR" dirty="0"/>
                  <a:t> é usar </a:t>
                </a:r>
                <a:r>
                  <a:rPr lang="pt-BR" dirty="0" smtClean="0"/>
                  <a:t>vetores </a:t>
                </a:r>
                <a:r>
                  <a:rPr lang="pt-BR" dirty="0"/>
                  <a:t>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de, por exemplo, um e-mail ou </a:t>
                </a:r>
                <a:r>
                  <a:rPr lang="pt-BR" dirty="0" smtClean="0"/>
                  <a:t>uma imagem</a:t>
                </a:r>
                <a:r>
                  <a:rPr lang="pt-BR" dirty="0"/>
                  <a:t>, para </a:t>
                </a:r>
                <a:r>
                  <a:rPr lang="pt-BR" b="1" i="1" dirty="0"/>
                  <a:t>identificar</a:t>
                </a:r>
                <a:r>
                  <a:rPr lang="pt-BR" dirty="0"/>
                  <a:t> a qual classe ele pertence.</a:t>
                </a:r>
              </a:p>
              <a:p>
                <a:r>
                  <a:rPr lang="pt-BR" dirty="0"/>
                  <a:t>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atinge esse objetivo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tomando uma decisão</a:t>
                </a:r>
                <a:r>
                  <a:rPr lang="pt-BR" dirty="0"/>
                  <a:t> </a:t>
                </a:r>
                <a:r>
                  <a:rPr lang="pt-BR" dirty="0" smtClean="0"/>
                  <a:t>(e.g., </a:t>
                </a:r>
                <a:r>
                  <a:rPr lang="pt-BR" dirty="0"/>
                  <a:t>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)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 base </a:t>
                </a:r>
                <a:r>
                  <a:rPr lang="pt-BR" dirty="0"/>
                  <a:t>no valor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combinações lineares dos atributos em relação aos pesos</a:t>
                </a:r>
                <a:r>
                  <a:rPr lang="pt-BR" dirty="0"/>
                  <a:t>, </a:t>
                </a:r>
                <a:r>
                  <a:rPr lang="pt-BR" dirty="0" smtClean="0"/>
                  <a:t>i.e., </a:t>
                </a:r>
                <a:r>
                  <a:rPr lang="pt-BR" dirty="0"/>
                  <a:t>na saída de uma ou mais </a:t>
                </a:r>
                <a:r>
                  <a:rPr lang="pt-BR" b="1" i="1" dirty="0"/>
                  <a:t>funções discriminantes</a:t>
                </a:r>
                <a:r>
                  <a:rPr lang="pt-BR" dirty="0"/>
                  <a:t> </a:t>
                </a:r>
                <a:r>
                  <a:rPr lang="pt-BR" b="1" i="1" dirty="0"/>
                  <a:t>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  <a:blipFill rotWithShape="0">
                <a:blip r:embed="rId3"/>
                <a:stretch>
                  <a:fillRect l="-1753" t="-1887" r="-1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xmlns="" id="{3ABE398D-1CE6-E437-DE7B-7C0199280699}"/>
              </a:ext>
            </a:extLst>
          </p:cNvPr>
          <p:cNvGrpSpPr/>
          <p:nvPr/>
        </p:nvGrpSpPr>
        <p:grpSpPr>
          <a:xfrm>
            <a:off x="514349" y="2605808"/>
            <a:ext cx="4090961" cy="3221628"/>
            <a:chOff x="1037630" y="2074238"/>
            <a:chExt cx="3409953" cy="2729667"/>
          </a:xfrm>
        </p:grpSpPr>
        <p:sp>
          <p:nvSpPr>
            <p:cNvPr id="5" name="TextBox 10">
              <a:extLst>
                <a:ext uri="{FF2B5EF4-FFF2-40B4-BE49-F238E27FC236}">
                  <a16:creationId xmlns:a16="http://schemas.microsoft.com/office/drawing/2014/main" xmlns="" id="{CEB8A630-173E-340A-464A-959B78DC2FE4}"/>
                </a:ext>
              </a:extLst>
            </p:cNvPr>
            <p:cNvSpPr txBox="1"/>
            <p:nvPr/>
          </p:nvSpPr>
          <p:spPr>
            <a:xfrm>
              <a:off x="1389491" y="2074238"/>
              <a:ext cx="2081975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discriminante, </a:t>
              </a:r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</a:t>
              </a:r>
            </a:p>
          </p:txBody>
        </p:sp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B3138423-D6F8-2D44-1667-917F11AD6E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0" t="9508" r="9327"/>
            <a:stretch/>
          </p:blipFill>
          <p:spPr>
            <a:xfrm>
              <a:off x="1037630" y="2449473"/>
              <a:ext cx="3409953" cy="2354432"/>
            </a:xfrm>
            <a:prstGeom prst="rect">
              <a:avLst/>
            </a:prstGeom>
          </p:spPr>
        </p:pic>
        <p:sp>
          <p:nvSpPr>
            <p:cNvPr id="8" name="TextBox 11">
              <a:extLst>
                <a:ext uri="{FF2B5EF4-FFF2-40B4-BE49-F238E27FC236}">
                  <a16:creationId xmlns:a16="http://schemas.microsoft.com/office/drawing/2014/main" xmlns="" id="{FC08E9EE-1561-4BEF-2AEE-727B2D5F8E2F}"/>
                </a:ext>
              </a:extLst>
            </p:cNvPr>
            <p:cNvSpPr txBox="1"/>
            <p:nvPr/>
          </p:nvSpPr>
          <p:spPr>
            <a:xfrm>
              <a:off x="2327395" y="4065598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&gt; 0</a:t>
              </a:r>
            </a:p>
          </p:txBody>
        </p:sp>
        <p:cxnSp>
          <p:nvCxnSpPr>
            <p:cNvPr id="9" name="Curved Connector 9">
              <a:extLst>
                <a:ext uri="{FF2B5EF4-FFF2-40B4-BE49-F238E27FC236}">
                  <a16:creationId xmlns:a16="http://schemas.microsoft.com/office/drawing/2014/main" xmlns="" id="{14E20E58-751B-FACF-872B-3CECD3A49E40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5400000" flipH="1" flipV="1">
              <a:off x="2508687" y="2350368"/>
              <a:ext cx="1095482" cy="830076"/>
            </a:xfrm>
            <a:prstGeom prst="curvedConnector4">
              <a:avLst>
                <a:gd name="adj1" fmla="val 43454"/>
                <a:gd name="adj2" fmla="val 12295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12">
              <a:extLst>
                <a:ext uri="{FF2B5EF4-FFF2-40B4-BE49-F238E27FC236}">
                  <a16:creationId xmlns:a16="http://schemas.microsoft.com/office/drawing/2014/main" xmlns="" id="{2AF0D625-C807-BD82-FA55-87271C135B34}"/>
                </a:ext>
              </a:extLst>
            </p:cNvPr>
            <p:cNvSpPr txBox="1"/>
            <p:nvPr/>
          </p:nvSpPr>
          <p:spPr>
            <a:xfrm>
              <a:off x="1920045" y="2555733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&lt; 0</a:t>
              </a:r>
            </a:p>
          </p:txBody>
        </p:sp>
      </p:grpSp>
      <p:pic>
        <p:nvPicPr>
          <p:cNvPr id="1026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:a16="http://schemas.microsoft.com/office/drawing/2014/main" xmlns="" id="{9B362008-3E26-A52F-A9E6-62106E0CB4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18116" r="68533" b="55072"/>
          <a:stretch/>
        </p:blipFill>
        <p:spPr bwMode="auto">
          <a:xfrm>
            <a:off x="664287" y="5827435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xmlns="" id="{43CEAD89-1DD5-95EC-5172-BB2EC94F5092}"/>
              </a:ext>
            </a:extLst>
          </p:cNvPr>
          <p:cNvCxnSpPr>
            <a:cxnSpLocks/>
          </p:cNvCxnSpPr>
          <p:nvPr/>
        </p:nvCxnSpPr>
        <p:spPr>
          <a:xfrm flipH="1">
            <a:off x="664287" y="5276850"/>
            <a:ext cx="831138" cy="55058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xmlns="" id="{9AAE2E5B-3772-7BF4-7C5B-C632C605DD48}"/>
              </a:ext>
            </a:extLst>
          </p:cNvPr>
          <p:cNvCxnSpPr>
            <a:cxnSpLocks/>
          </p:cNvCxnSpPr>
          <p:nvPr/>
        </p:nvCxnSpPr>
        <p:spPr>
          <a:xfrm flipH="1">
            <a:off x="1370539" y="5294619"/>
            <a:ext cx="163713" cy="12202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:a16="http://schemas.microsoft.com/office/drawing/2014/main" xmlns="" id="{EE1E65C9-48DF-4E81-A7B5-1AD012861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56298" r="68533" b="16890"/>
          <a:stretch/>
        </p:blipFill>
        <p:spPr bwMode="auto">
          <a:xfrm>
            <a:off x="4519016" y="2141426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xmlns="" id="{844E5B43-B454-78DC-3F77-FE69A5DF57CC}"/>
              </a:ext>
            </a:extLst>
          </p:cNvPr>
          <p:cNvCxnSpPr>
            <a:cxnSpLocks/>
          </p:cNvCxnSpPr>
          <p:nvPr/>
        </p:nvCxnSpPr>
        <p:spPr>
          <a:xfrm flipH="1">
            <a:off x="3753224" y="2828906"/>
            <a:ext cx="1437260" cy="56572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to 25">
            <a:extLst>
              <a:ext uri="{FF2B5EF4-FFF2-40B4-BE49-F238E27FC236}">
                <a16:creationId xmlns:a16="http://schemas.microsoft.com/office/drawing/2014/main" xmlns="" id="{F222145A-3D1B-B666-1B27-DB501E6102EC}"/>
              </a:ext>
            </a:extLst>
          </p:cNvPr>
          <p:cNvCxnSpPr>
            <a:cxnSpLocks/>
          </p:cNvCxnSpPr>
          <p:nvPr/>
        </p:nvCxnSpPr>
        <p:spPr>
          <a:xfrm flipH="1">
            <a:off x="3698268" y="2141426"/>
            <a:ext cx="820748" cy="119355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45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a saída de um </a:t>
                </a:r>
                <a:r>
                  <a:rPr lang="pt-BR" b="1" i="1" dirty="0"/>
                  <a:t>classificador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i="1" dirty="0"/>
                  <a:t> </a:t>
                </a:r>
                <a:r>
                  <a:rPr lang="pt-BR" dirty="0"/>
                  <a:t>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conhecida como </a:t>
                </a:r>
                <a:r>
                  <a:rPr lang="pt-BR" b="1" i="1" dirty="0"/>
                  <a:t>função hipótese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é o vetor de atributos com o primeiro elemento sendo o atributo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</a:t>
                </a:r>
                <a:r>
                  <a:rPr lang="pt-BR" dirty="0"/>
                  <a:t>é uma função que mapeia a saída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</a:t>
                </a:r>
                <a:r>
                  <a:rPr lang="pt-BR" b="1" i="1" dirty="0"/>
                  <a:t>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na saída desejada, ou seja, na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do objeto.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Ela é apenas uma </a:t>
                </a:r>
                <a:r>
                  <a:rPr lang="pt-BR" b="1" i="1" dirty="0"/>
                  <a:t>formalização matemática </a:t>
                </a:r>
                <a:r>
                  <a:rPr lang="pt-BR" dirty="0"/>
                  <a:t>para 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 que usamos para decidir as classes dos </a:t>
                </a:r>
                <a:r>
                  <a:rPr lang="pt-BR" dirty="0" smtClean="0"/>
                  <a:t>atributos.</a:t>
                </a:r>
                <a:endParaRPr lang="pt-BR" dirty="0"/>
              </a:p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teoria original </a:t>
                </a:r>
                <a:r>
                  <a:rPr lang="pt-BR" dirty="0"/>
                  <a:t>dos classificadores lineares, as </a:t>
                </a:r>
                <a:r>
                  <a:rPr lang="pt-BR" b="1" i="1" dirty="0"/>
                  <a:t>funções discriminantes </a:t>
                </a:r>
                <a:r>
                  <a:rPr lang="pt-BR" dirty="0"/>
                  <a:t>seguiam equações de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  <a:blipFill rotWithShape="0">
                <a:blip r:embed="rId3"/>
                <a:stretch>
                  <a:fillRect l="-1156" t="-1887" r="-55" b="-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/>
          <p:cNvSpPr/>
          <p:nvPr/>
        </p:nvSpPr>
        <p:spPr>
          <a:xfrm>
            <a:off x="9944686" y="1690688"/>
            <a:ext cx="685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produto escalar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 flipV="1">
            <a:off x="9650437" y="1921521"/>
            <a:ext cx="294249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608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 smtClean="0"/>
              <a:t>Classes linearmente separáveis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um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, a tarefa do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aprender</a:t>
                </a:r>
                <a:r>
                  <a:rPr lang="pt-BR" b="1" i="1" dirty="0"/>
                  <a:t> </a:t>
                </a:r>
                <a:r>
                  <a:rPr lang="pt-BR" dirty="0"/>
                  <a:t>uma </a:t>
                </a:r>
                <a:r>
                  <a:rPr lang="pt-BR" b="1" i="1" dirty="0"/>
                  <a:t>função</a:t>
                </a:r>
                <a:r>
                  <a:rPr lang="pt-BR" dirty="0"/>
                  <a:t> </a:t>
                </a:r>
                <a:r>
                  <a:rPr lang="pt-BR" b="1" i="1" dirty="0"/>
                  <a:t>hipótese 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receba um exemplo de entrada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 e retorne a classe do exemplo.</a:t>
                </a:r>
              </a:p>
              <a:p>
                <a:r>
                  <a:rPr lang="pt-BR" dirty="0"/>
                  <a:t>Para que 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aprenda uma boa separação, as classes devem ser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Isso significa que as classes devem ser </a:t>
                </a:r>
                <a:r>
                  <a:rPr lang="pt-BR" b="1" i="1" dirty="0"/>
                  <a:t>suficientemente separadas </a:t>
                </a:r>
                <a:r>
                  <a:rPr lang="pt-BR" dirty="0"/>
                  <a:t>umas das outras para garantir que a </a:t>
                </a:r>
                <a:r>
                  <a:rPr lang="pt-BR" b="1" i="1" dirty="0"/>
                  <a:t>superfície de decisão </a:t>
                </a:r>
                <a:r>
                  <a:rPr lang="pt-BR" dirty="0"/>
                  <a:t>seja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  <a:blipFill>
                <a:blip r:embed="rId3"/>
                <a:stretch>
                  <a:fillRect l="-1604" t="-1887" r="-25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0" name="Curved Connector 9"/>
          <p:cNvCxnSpPr>
            <a:cxnSpLocks/>
            <a:stCxn id="13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73100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/>
              <a:t>Classes linearmente separáveis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Classes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 são chamadas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primeira figura,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por </a:t>
                </a:r>
                <a:r>
                  <a:rPr lang="pt-BR" dirty="0" smtClean="0"/>
                  <a:t>um </a:t>
                </a:r>
                <a:r>
                  <a:rPr lang="pt-BR" b="1" i="1" dirty="0" smtClean="0"/>
                  <a:t>hiperplano</a:t>
                </a:r>
                <a:r>
                  <a:rPr lang="pt-BR" dirty="0" smtClean="0"/>
                  <a:t>, i.e., uma reta.</a:t>
                </a:r>
              </a:p>
              <a:p>
                <a:r>
                  <a:rPr lang="pt-BR" dirty="0" smtClean="0"/>
                  <a:t>Na </a:t>
                </a:r>
                <a:r>
                  <a:rPr lang="pt-BR" dirty="0"/>
                  <a:t>segunda figura, devido à </a:t>
                </a:r>
                <a:r>
                  <a:rPr lang="pt-BR" dirty="0" smtClean="0"/>
                  <a:t>disposição das </a:t>
                </a:r>
                <a:r>
                  <a:rPr lang="pt-BR" dirty="0"/>
                  <a:t>classes, não existe um </a:t>
                </a:r>
                <a:r>
                  <a:rPr lang="pt-BR" b="1" i="1" dirty="0"/>
                  <a:t>hiperplano</a:t>
                </a:r>
                <a:r>
                  <a:rPr lang="pt-BR" dirty="0"/>
                  <a:t> que as separe.</a:t>
                </a:r>
              </a:p>
              <a:p>
                <a:r>
                  <a:rPr lang="pt-BR" b="1" i="1" dirty="0">
                    <a:solidFill>
                      <a:schemeClr val="accent5"/>
                    </a:solidFill>
                  </a:rPr>
                  <a:t>Originalmente</a:t>
                </a:r>
                <a:r>
                  <a:rPr lang="pt-BR" dirty="0"/>
                  <a:t>, </a:t>
                </a:r>
                <a:r>
                  <a:rPr lang="pt-BR" b="1" i="1" dirty="0"/>
                  <a:t>classificação linear </a:t>
                </a:r>
                <a:r>
                  <a:rPr lang="pt-BR" dirty="0"/>
                  <a:t>é usada quando as classes podem ser separadas </a:t>
                </a:r>
                <a:r>
                  <a:rPr lang="pt-BR" dirty="0" smtClean="0"/>
                  <a:t>por </a:t>
                </a:r>
                <a:r>
                  <a:rPr lang="pt-BR" b="1" i="1" dirty="0" smtClean="0"/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  <a:blipFill rotWithShape="0">
                <a:blip r:embed="rId3"/>
                <a:stretch>
                  <a:fillRect l="-1622" t="-1947" r="-2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0">
            <a:extLst>
              <a:ext uri="{FF2B5EF4-FFF2-40B4-BE49-F238E27FC236}">
                <a16:creationId xmlns:a16="http://schemas.microsoft.com/office/drawing/2014/main" xmlns="" id="{5C4B4108-2520-8F32-7ED8-A8D5762225C0}"/>
              </a:ext>
            </a:extLst>
          </p:cNvPr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xmlns="" id="{18E14292-14A7-4B06-6830-9F831DD8A7A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xmlns="" id="{220E4A5A-F6C0-4DF4-14A9-6517D7BAD8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xmlns="" id="{8ED363EC-FFE4-8465-8950-8EFDBEE4AA97}"/>
              </a:ext>
            </a:extLst>
          </p:cNvPr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4" name="Curved Connector 9">
            <a:extLst>
              <a:ext uri="{FF2B5EF4-FFF2-40B4-BE49-F238E27FC236}">
                <a16:creationId xmlns:a16="http://schemas.microsoft.com/office/drawing/2014/main" xmlns="" id="{B8E4CCE2-8CD3-2DDD-9F9A-1C6C12E23FA9}"/>
              </a:ext>
            </a:extLst>
          </p:cNvPr>
          <p:cNvCxnSpPr>
            <a:cxnSpLocks/>
            <a:stCxn id="17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2">
            <a:extLst>
              <a:ext uri="{FF2B5EF4-FFF2-40B4-BE49-F238E27FC236}">
                <a16:creationId xmlns:a16="http://schemas.microsoft.com/office/drawing/2014/main" xmlns="" id="{E58245ED-FDF9-96AD-E6EC-2F7C94A0B7E2}"/>
              </a:ext>
            </a:extLst>
          </p:cNvPr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xmlns="" id="{EF4FE9E1-2223-5403-959C-BACE49B9C0BB}"/>
              </a:ext>
            </a:extLst>
          </p:cNvPr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xmlns="" id="{2D1AB59A-3453-53BF-02B0-2EA6510D278E}"/>
              </a:ext>
            </a:extLst>
          </p:cNvPr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881621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95A63C-0894-86C7-670B-3F429FA2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B023315-E7E6-47FE-1333-C9490AC27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Mas e se não pudermos separar as classes com um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hiperplano</a:t>
                </a:r>
                <a:r>
                  <a:rPr lang="pt-BR" dirty="0">
                    <a:solidFill>
                      <a:schemeClr val="tx1"/>
                    </a:solidFill>
                  </a:rPr>
                  <a:t>, ou seja, se elas não forem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linearmente separáveis</a:t>
                </a:r>
                <a:r>
                  <a:rPr lang="pt-BR" dirty="0">
                    <a:solidFill>
                      <a:schemeClr val="tx1"/>
                    </a:solidFill>
                  </a:rPr>
                  <a:t>?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Nestes casos, usamos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Os polinômios podem fazer </a:t>
                </a:r>
                <a:r>
                  <a:rPr lang="pt-BR" b="1" i="1" dirty="0"/>
                  <a:t>mapeamentos não lineares</a:t>
                </a:r>
                <a:r>
                  <a:rPr lang="pt-BR" dirty="0"/>
                  <a:t> dos atributos no valor de </a:t>
                </a:r>
                <a:r>
                  <a:rPr lang="pt-BR" dirty="0" smtClean="0"/>
                  <a:t>saída: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Círculo centrado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com raio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Elipse centrada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com largura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altura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Hipérbole retangular com eixos paralelos às suas assíntotas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B023315-E7E6-47FE-1333-C9490AC27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  <a:blipFill rotWithShape="0">
                <a:blip r:embed="rId3"/>
                <a:stretch>
                  <a:fillRect l="-1529" t="-1937" r="-2804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xmlns="" id="{2B9489A0-43C9-F481-C89D-B77D90514774}"/>
              </a:ext>
            </a:extLst>
          </p:cNvPr>
          <p:cNvGrpSpPr/>
          <p:nvPr/>
        </p:nvGrpSpPr>
        <p:grpSpPr>
          <a:xfrm>
            <a:off x="838200" y="4568453"/>
            <a:ext cx="3409953" cy="2232674"/>
            <a:chOff x="231733" y="2070345"/>
            <a:chExt cx="3409953" cy="2232674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4CD9C295-4EEF-10D5-87A5-FB0885539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964" r="9343"/>
            <a:stretch/>
          </p:blipFill>
          <p:spPr>
            <a:xfrm>
              <a:off x="231733" y="2070345"/>
              <a:ext cx="3409953" cy="2232674"/>
            </a:xfrm>
            <a:prstGeom prst="rect">
              <a:avLst/>
            </a:prstGeom>
          </p:spPr>
        </p:pic>
        <p:sp>
          <p:nvSpPr>
            <p:cNvPr id="12" name="Forma Livre: Forma 11">
              <a:extLst>
                <a:ext uri="{FF2B5EF4-FFF2-40B4-BE49-F238E27FC236}">
                  <a16:creationId xmlns:a16="http://schemas.microsoft.com/office/drawing/2014/main" xmlns="" id="{F0E088D9-D778-25C4-93FD-A131A99C48A0}"/>
                </a:ext>
              </a:extLst>
            </p:cNvPr>
            <p:cNvSpPr/>
            <p:nvPr/>
          </p:nvSpPr>
          <p:spPr>
            <a:xfrm>
              <a:off x="711200" y="2108200"/>
              <a:ext cx="2673350" cy="1847850"/>
            </a:xfrm>
            <a:custGeom>
              <a:avLst/>
              <a:gdLst>
                <a:gd name="connsiteX0" fmla="*/ 0 w 2673350"/>
                <a:gd name="connsiteY0" fmla="*/ 1847850 h 1847850"/>
                <a:gd name="connsiteX1" fmla="*/ 1022350 w 2673350"/>
                <a:gd name="connsiteY1" fmla="*/ 406400 h 1847850"/>
                <a:gd name="connsiteX2" fmla="*/ 1835150 w 2673350"/>
                <a:gd name="connsiteY2" fmla="*/ 1416050 h 1847850"/>
                <a:gd name="connsiteX3" fmla="*/ 2673350 w 2673350"/>
                <a:gd name="connsiteY3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3350" h="1847850">
                  <a:moveTo>
                    <a:pt x="0" y="1847850"/>
                  </a:moveTo>
                  <a:cubicBezTo>
                    <a:pt x="358246" y="1163108"/>
                    <a:pt x="716492" y="478367"/>
                    <a:pt x="1022350" y="406400"/>
                  </a:cubicBezTo>
                  <a:cubicBezTo>
                    <a:pt x="1328208" y="334433"/>
                    <a:pt x="1559983" y="1483783"/>
                    <a:pt x="1835150" y="1416050"/>
                  </a:cubicBezTo>
                  <a:cubicBezTo>
                    <a:pt x="2110317" y="1348317"/>
                    <a:pt x="2391833" y="674158"/>
                    <a:pt x="2673350" y="0"/>
                  </a:cubicBezTo>
                </a:path>
              </a:pathLst>
            </a:custGeom>
            <a:noFill/>
            <a:ln w="28575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1FF852E1-FC27-87CE-4AD8-93FE770BB70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75" t="11979" r="9531"/>
          <a:stretch/>
        </p:blipFill>
        <p:spPr>
          <a:xfrm>
            <a:off x="901740" y="1859107"/>
            <a:ext cx="3346413" cy="2493579"/>
          </a:xfrm>
          <a:prstGeom prst="rect">
            <a:avLst/>
          </a:prstGeom>
        </p:spPr>
      </p:pic>
      <p:sp>
        <p:nvSpPr>
          <p:cNvPr id="18" name="Elipse 17">
            <a:extLst>
              <a:ext uri="{FF2B5EF4-FFF2-40B4-BE49-F238E27FC236}">
                <a16:creationId xmlns:a16="http://schemas.microsoft.com/office/drawing/2014/main" xmlns="" id="{54A56F1A-7CBB-5EB0-623A-D56498CD1D25}"/>
              </a:ext>
            </a:extLst>
          </p:cNvPr>
          <p:cNvSpPr/>
          <p:nvPr/>
        </p:nvSpPr>
        <p:spPr>
          <a:xfrm>
            <a:off x="1876424" y="2219325"/>
            <a:ext cx="1857375" cy="1438275"/>
          </a:xfrm>
          <a:prstGeom prst="ellipse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B8C56CE2-655D-9F67-4479-7C25CEC7A4AD}"/>
              </a:ext>
            </a:extLst>
          </p:cNvPr>
          <p:cNvCxnSpPr>
            <a:stCxn id="18" idx="6"/>
          </p:cNvCxnSpPr>
          <p:nvPr/>
        </p:nvCxnSpPr>
        <p:spPr>
          <a:xfrm flipV="1">
            <a:off x="3733799" y="2289547"/>
            <a:ext cx="704851" cy="648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xmlns="" id="{F86B7526-8F2E-C225-228E-F0475FB39495}"/>
                  </a:ext>
                </a:extLst>
              </p:cNvPr>
              <p:cNvSpPr txBox="1"/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86B7526-8F2E-C225-228E-F0475FB39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xmlns="" id="{CB16F12A-6F3B-151C-8C84-E16F35E2EF7D}"/>
              </a:ext>
            </a:extLst>
          </p:cNvPr>
          <p:cNvCxnSpPr>
            <a:cxnSpLocks/>
          </p:cNvCxnSpPr>
          <p:nvPr/>
        </p:nvCxnSpPr>
        <p:spPr>
          <a:xfrm flipV="1">
            <a:off x="3733799" y="4819549"/>
            <a:ext cx="642938" cy="461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xmlns="" id="{D55B1080-693D-2F06-7B95-7A479C457438}"/>
                  </a:ext>
                </a:extLst>
              </p:cNvPr>
              <p:cNvSpPr txBox="1"/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D55B1080-693D-2F06-7B95-7A479C45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6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147CD5D-4047-7236-FE8C-6333CF960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05B4EB0-4924-C01B-D7F8-B7CFF96841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>
                    <a:solidFill>
                      <a:schemeClr val="tx1"/>
                    </a:solidFill>
                  </a:rPr>
                  <a:t>Os polinômios podem aplicar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transformações não-lineares aos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atributos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originais</a:t>
                </a:r>
                <a:r>
                  <a:rPr lang="pt-BR" dirty="0">
                    <a:solidFill>
                      <a:schemeClr val="tx1"/>
                    </a:solidFill>
                  </a:rPr>
                  <a:t>,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</a:t>
                </a:r>
                <a:r>
                  <a:rPr lang="pt-BR" dirty="0">
                    <a:solidFill>
                      <a:schemeClr val="tx1"/>
                    </a:solidFill>
                  </a:rPr>
                  <a:t>levando ao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aumento das dimensões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entrada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, e.g.: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dirty="0">
                    <a:solidFill>
                      <a:schemeClr val="tx1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:r>
                  <a:rPr lang="pt-BR" dirty="0"/>
                  <a:t>             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/>
                  <a:t>O polinômio </a:t>
                </a:r>
                <a:r>
                  <a:rPr lang="pt-BR" b="1" i="1" dirty="0"/>
                  <a:t>cria novas coordenadas </a:t>
                </a:r>
                <a:r>
                  <a:rPr lang="pt-BR" dirty="0"/>
                  <a:t>no espaço </a:t>
                </a:r>
                <a:r>
                  <a:rPr lang="pt-BR" dirty="0" smtClean="0"/>
                  <a:t>de atributos.</a:t>
                </a:r>
                <a:endParaRPr lang="pt-BR" dirty="0"/>
              </a:p>
              <a:p>
                <a:r>
                  <a:rPr lang="pt-BR" dirty="0" smtClean="0"/>
                  <a:t>As transformações </a:t>
                </a:r>
                <a:r>
                  <a:rPr lang="pt-BR" b="1" i="1" dirty="0" smtClean="0"/>
                  <a:t>mapeiam</a:t>
                </a:r>
                <a:r>
                  <a:rPr lang="pt-BR" dirty="0" smtClean="0"/>
                  <a:t> os atributos para </a:t>
                </a:r>
                <a:r>
                  <a:rPr lang="pt-BR" dirty="0"/>
                  <a:t>um </a:t>
                </a:r>
                <a:r>
                  <a:rPr lang="pt-BR" b="1" i="1" dirty="0"/>
                  <a:t>espaço de maior dimensão </a:t>
                </a:r>
                <a:r>
                  <a:rPr lang="pt-BR" dirty="0"/>
                  <a:t>onde a separação pode se tornar </a:t>
                </a:r>
                <a:r>
                  <a:rPr lang="pt-BR" b="1" i="1" dirty="0" smtClean="0"/>
                  <a:t>mais fácil</a:t>
                </a:r>
                <a:r>
                  <a:rPr lang="pt-BR" dirty="0" smtClean="0"/>
                  <a:t>, até linear</a:t>
                </a:r>
                <a:r>
                  <a:rPr lang="pt-BR" dirty="0"/>
                  <a:t>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5B4EB0-4924-C01B-D7F8-B7CFF96841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  <a:blipFill rotWithShape="0">
                <a:blip r:embed="rId3"/>
                <a:stretch>
                  <a:fillRect l="-1540" t="-1937" r="-2310" b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xmlns="" id="{51896EA7-CD7C-9502-0150-223B08803393}"/>
              </a:ext>
            </a:extLst>
          </p:cNvPr>
          <p:cNvGrpSpPr/>
          <p:nvPr/>
        </p:nvGrpSpPr>
        <p:grpSpPr>
          <a:xfrm>
            <a:off x="161926" y="2447671"/>
            <a:ext cx="4651376" cy="2853213"/>
            <a:chOff x="190499" y="2216310"/>
            <a:chExt cx="4651376" cy="2853213"/>
          </a:xfrm>
        </p:grpSpPr>
        <p:pic>
          <p:nvPicPr>
            <p:cNvPr id="2050" name="Picture 2" descr="Dealing with nonlinear decision boundaries | Machine Learning for OpenCV 4  - Second Edition">
              <a:extLst>
                <a:ext uri="{FF2B5EF4-FFF2-40B4-BE49-F238E27FC236}">
                  <a16:creationId xmlns:a16="http://schemas.microsoft.com/office/drawing/2014/main" xmlns="" id="{5B5605AD-E772-CE0A-0D7E-F0FFFD0685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9" t="2571" r="1492" b="16353"/>
            <a:stretch/>
          </p:blipFill>
          <p:spPr bwMode="auto">
            <a:xfrm>
              <a:off x="190499" y="2735579"/>
              <a:ext cx="4531519" cy="18173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01FEAA26-817B-85EC-AB0F-1F7C32F36C52}"/>
                </a:ext>
              </a:extLst>
            </p:cNvPr>
            <p:cNvSpPr txBox="1"/>
            <p:nvPr/>
          </p:nvSpPr>
          <p:spPr>
            <a:xfrm>
              <a:off x="1790701" y="2860536"/>
              <a:ext cx="109537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Mapeamento dos atributos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44D24527-64AE-5BB7-A595-AA5F0BB168C3}"/>
                </a:ext>
              </a:extLst>
            </p:cNvPr>
            <p:cNvSpPr txBox="1"/>
            <p:nvPr/>
          </p:nvSpPr>
          <p:spPr>
            <a:xfrm>
              <a:off x="561975" y="4607858"/>
              <a:ext cx="15525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complexa em dimensões baixas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1C16CD85-D162-F019-EC12-01B0FCBCF88C}"/>
                </a:ext>
              </a:extLst>
            </p:cNvPr>
            <p:cNvSpPr txBox="1"/>
            <p:nvPr/>
          </p:nvSpPr>
          <p:spPr>
            <a:xfrm>
              <a:off x="2886076" y="4607857"/>
              <a:ext cx="18192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simples em dimensões superiores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xmlns="" id="{5A47254A-34EE-516A-893F-46C77F281F14}"/>
                </a:ext>
              </a:extLst>
            </p:cNvPr>
            <p:cNvSpPr txBox="1"/>
            <p:nvPr/>
          </p:nvSpPr>
          <p:spPr>
            <a:xfrm>
              <a:off x="3819524" y="2216310"/>
              <a:ext cx="102235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Hiperplano </a:t>
              </a:r>
            </a:p>
            <a:p>
              <a:pPr algn="ctr"/>
              <a:r>
                <a:rPr lang="pt-BR" sz="1200" b="1" dirty="0"/>
                <a:t>de separação</a:t>
              </a:r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xmlns="" id="{8CD96EDB-E3AE-8B49-6434-0E99AC8FD86A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 flipH="1" flipV="1">
              <a:off x="4330700" y="2677975"/>
              <a:ext cx="139700" cy="5478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8463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Para o exemplo ao lado, podemos definir a </a:t>
                </a:r>
                <a:r>
                  <a:rPr lang="pt-BR" b="1" i="1" dirty="0"/>
                  <a:t>função hipótese de classificação </a:t>
                </a:r>
                <a:r>
                  <a:rPr lang="pt-BR" dirty="0"/>
                  <a:t>como duas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Percebam que a saída da </a:t>
                </a:r>
                <a:r>
                  <a:rPr lang="pt-BR" b="1" i="1" dirty="0"/>
                  <a:t>função </a:t>
                </a:r>
                <a:r>
                  <a:rPr lang="pt-BR" dirty="0" smtClean="0"/>
                  <a:t>é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binária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mapeamento entre o valor da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 a saída 0 ou 1 é feito através da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No caso acima ela é feita por uma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estrutura condicional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Como implementar essas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 através de uma função matemática?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  <a:blipFill rotWithShape="0">
                <a:blip r:embed="rId2"/>
                <a:stretch>
                  <a:fillRect l="-1390" t="-1937" r="-20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xmlns="" id="{AE4F4277-6964-0C1E-0DD3-569D7AE44CFF}"/>
              </a:ext>
            </a:extLst>
          </p:cNvPr>
          <p:cNvGrpSpPr/>
          <p:nvPr/>
        </p:nvGrpSpPr>
        <p:grpSpPr>
          <a:xfrm>
            <a:off x="590550" y="2037741"/>
            <a:ext cx="3203632" cy="335341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xmlns="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xmlns="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xmlns="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xmlns="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xmlns="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xmlns="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xmlns="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A40DACEC-8E74-41F6-973B-1B4806F9D4C4}"/>
              </a:ext>
            </a:extLst>
          </p:cNvPr>
          <p:cNvSpPr txBox="1"/>
          <p:nvPr/>
        </p:nvSpPr>
        <p:spPr>
          <a:xfrm>
            <a:off x="11496394" y="2796455"/>
            <a:ext cx="619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i="1" dirty="0" err="1"/>
              <a:t>if</a:t>
            </a:r>
            <a:r>
              <a:rPr lang="pt-BR" sz="1600" dirty="0"/>
              <a:t> e </a:t>
            </a:r>
            <a:r>
              <a:rPr lang="pt-BR" sz="1600" b="1" i="1" dirty="0" err="1"/>
              <a:t>else</a:t>
            </a:r>
            <a:endParaRPr lang="pt-BR" sz="1600" b="1" i="1" dirty="0"/>
          </a:p>
        </p:txBody>
      </p:sp>
      <p:sp>
        <p:nvSpPr>
          <p:cNvPr id="14" name="Chave direita 13">
            <a:extLst>
              <a:ext uri="{FF2B5EF4-FFF2-40B4-BE49-F238E27FC236}">
                <a16:creationId xmlns:a16="http://schemas.microsoft.com/office/drawing/2014/main" xmlns="" id="{6285E6BF-6187-7ADC-6E46-0184AE45718E}"/>
              </a:ext>
            </a:extLst>
          </p:cNvPr>
          <p:cNvSpPr/>
          <p:nvPr/>
        </p:nvSpPr>
        <p:spPr>
          <a:xfrm>
            <a:off x="11353800" y="2664981"/>
            <a:ext cx="209710" cy="84772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</p:spPr>
            <p:txBody>
              <a:bodyPr/>
              <a:lstStyle/>
              <a:p>
                <a:r>
                  <a:rPr lang="pt-BR" dirty="0"/>
                  <a:t>Uma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 simples que </a:t>
                </a:r>
                <a:r>
                  <a:rPr lang="pt-BR" dirty="0" smtClean="0"/>
                  <a:t>mapeia o valor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em 2 </a:t>
                </a:r>
                <a:r>
                  <a:rPr lang="pt-BR" dirty="0"/>
                  <a:t>valores de saída é </a:t>
                </a:r>
                <a:r>
                  <a:rPr lang="pt-BR" dirty="0" smtClean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Ela é </a:t>
                </a:r>
                <a:r>
                  <a:rPr lang="pt-BR" dirty="0"/>
                  <a:t>mostrada na figura ao lado e é definda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)&lt;0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Indeterminado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  <a:blipFill rotWithShape="0">
                <a:blip r:embed="rId2"/>
                <a:stretch>
                  <a:fillRect l="-1525" t="-1937" r="-2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9">
            <a:extLst>
              <a:ext uri="{FF2B5EF4-FFF2-40B4-BE49-F238E27FC236}">
                <a16:creationId xmlns:a16="http://schemas.microsoft.com/office/drawing/2014/main" xmlns="" id="{A1BBAE81-E3A1-6786-5F92-A8B1850689D9}"/>
              </a:ext>
            </a:extLst>
          </p:cNvPr>
          <p:cNvSpPr txBox="1"/>
          <p:nvPr/>
        </p:nvSpPr>
        <p:spPr>
          <a:xfrm>
            <a:off x="4481726" y="5297906"/>
            <a:ext cx="22764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Conhecida também como </a:t>
            </a:r>
            <a:r>
              <a:rPr lang="pt-BR" sz="1600" b="1" i="1" dirty="0"/>
              <a:t>função </a:t>
            </a:r>
            <a:r>
              <a:rPr lang="pt-BR" sz="1600" b="1" i="1" dirty="0" err="1"/>
              <a:t>heaviside</a:t>
            </a:r>
            <a:r>
              <a:rPr lang="pt-BR" sz="1600" b="1" i="1" dirty="0"/>
              <a:t> ou degrau unitário.</a:t>
            </a:r>
          </a:p>
        </p:txBody>
      </p:sp>
      <p:cxnSp>
        <p:nvCxnSpPr>
          <p:cNvPr id="7" name="Straight Arrow Connector 24">
            <a:extLst>
              <a:ext uri="{FF2B5EF4-FFF2-40B4-BE49-F238E27FC236}">
                <a16:creationId xmlns:a16="http://schemas.microsoft.com/office/drawing/2014/main" xmlns="" id="{C023577F-3BE8-777C-02F7-B6D4BA12EE9C}"/>
              </a:ext>
            </a:extLst>
          </p:cNvPr>
          <p:cNvCxnSpPr>
            <a:cxnSpLocks/>
          </p:cNvCxnSpPr>
          <p:nvPr/>
        </p:nvCxnSpPr>
        <p:spPr>
          <a:xfrm flipV="1">
            <a:off x="5619964" y="4897022"/>
            <a:ext cx="209338" cy="4004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Agrupar 15">
            <a:extLst>
              <a:ext uri="{FF2B5EF4-FFF2-40B4-BE49-F238E27FC236}">
                <a16:creationId xmlns:a16="http://schemas.microsoft.com/office/drawing/2014/main" xmlns="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xmlns="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xmlns="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 que a </a:t>
                </a:r>
                <a:r>
                  <a:rPr lang="pt-BR" b="1" i="1" dirty="0"/>
                  <a:t>função hipótese de classificação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matemática bem</a:t>
                </a:r>
                <a:r>
                  <a:rPr lang="pt-BR" dirty="0"/>
                  <a:t> definida, precisamos pensar 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como encontrar os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b="1" i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  <a:blipFill rotWithShape="0">
                <a:blip r:embed="rId3"/>
                <a:stretch>
                  <a:fillRect l="-1597" t="-2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595465" y="2147051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1630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29621" y="1898980"/>
            <a:ext cx="6838552" cy="4959020"/>
          </a:xfrm>
        </p:spPr>
        <p:txBody>
          <a:bodyPr>
            <a:normAutofit/>
          </a:bodyPr>
          <a:lstStyle/>
          <a:p>
            <a:r>
              <a:rPr lang="pt-BR" dirty="0" smtClean="0"/>
              <a:t>Queremos encontrar os pesos de </a:t>
            </a:r>
            <a:r>
              <a:rPr lang="pt-BR" dirty="0"/>
              <a:t>tal forma que </a:t>
            </a:r>
            <a:r>
              <a:rPr lang="pt-BR" b="1" i="1" dirty="0">
                <a:solidFill>
                  <a:srgbClr val="00B050"/>
                </a:solidFill>
              </a:rPr>
              <a:t>o erro de classificação seja minimizado</a:t>
            </a:r>
            <a:r>
              <a:rPr lang="pt-BR" dirty="0"/>
              <a:t>, i.e., que os exemplos sejam classificados corretamente.</a:t>
            </a:r>
          </a:p>
          <a:p>
            <a:r>
              <a:rPr lang="pt-BR" dirty="0"/>
              <a:t>No caso da </a:t>
            </a:r>
            <a:r>
              <a:rPr lang="pt-BR" b="1" i="1" dirty="0"/>
              <a:t>regressão linear</a:t>
            </a:r>
            <a:r>
              <a:rPr lang="pt-BR" dirty="0"/>
              <a:t>, nós fizemos isso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</a:t>
            </a:r>
            <a:r>
              <a:rPr lang="pt-BR" dirty="0" smtClean="0"/>
              <a:t>(com a </a:t>
            </a:r>
            <a:r>
              <a:rPr lang="pt-BR" b="1" i="1" dirty="0" smtClean="0"/>
              <a:t>equação </a:t>
            </a:r>
            <a:r>
              <a:rPr lang="pt-BR" b="1" i="1" dirty="0"/>
              <a:t>normal</a:t>
            </a:r>
            <a:r>
              <a:rPr lang="pt-BR" dirty="0"/>
              <a:t>) </a:t>
            </a:r>
            <a:r>
              <a:rPr lang="pt-BR" dirty="0" smtClean="0"/>
              <a:t>tomando a </a:t>
            </a:r>
            <a:r>
              <a:rPr lang="pt-BR" dirty="0"/>
              <a:t>derivada parcial do erro em relação aos </a:t>
            </a:r>
            <a:r>
              <a:rPr lang="pt-BR" dirty="0" smtClean="0"/>
              <a:t>pesos, igualando </a:t>
            </a:r>
            <a:r>
              <a:rPr lang="pt-BR" dirty="0"/>
              <a:t>a zero e resolvendo a equação </a:t>
            </a:r>
            <a:r>
              <a:rPr lang="pt-BR" dirty="0" smtClean="0"/>
              <a:t>em relação aos </a:t>
            </a:r>
            <a:r>
              <a:rPr lang="pt-BR" dirty="0"/>
              <a:t>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i="1" dirty="0"/>
              <a:t>gradiente </a:t>
            </a:r>
            <a:r>
              <a:rPr lang="pt-BR" b="1" i="1" dirty="0" smtClean="0"/>
              <a:t>descendente</a:t>
            </a:r>
            <a:r>
              <a:rPr lang="pt-BR" dirty="0" smtClean="0"/>
              <a:t>, com as derivadas parciais do erro em função aos pesos.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573073" y="220554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1669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Entretanto</a:t>
                </a:r>
                <a:r>
                  <a:rPr lang="pt-BR" dirty="0"/>
                  <a:t>, com a </a:t>
                </a:r>
                <a:r>
                  <a:rPr lang="pt-BR" b="1" i="1" dirty="0"/>
                  <a:t>função de limiar rígido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i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  <a:blipFill rotWithShape="0">
                <a:blip r:embed="rId3"/>
                <a:stretch>
                  <a:fillRect l="-1667" t="-2091" r="-22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838200" y="2135204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838824"/>
            <a:ext cx="11229973" cy="101917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 smtClean="0">
                <a:solidFill>
                  <a:srgbClr val="7030A0"/>
                </a:solidFill>
              </a:rPr>
              <a:t>Como encontramos </a:t>
            </a:r>
            <a:r>
              <a:rPr lang="pt-BR" sz="4000" b="1" dirty="0">
                <a:solidFill>
                  <a:srgbClr val="7030A0"/>
                </a:solidFill>
              </a:rPr>
              <a:t>os pesos </a:t>
            </a:r>
            <a:r>
              <a:rPr lang="pt-BR" sz="4000" b="1" dirty="0" smtClean="0">
                <a:solidFill>
                  <a:srgbClr val="7030A0"/>
                </a:solidFill>
              </a:rPr>
              <a:t>dada essa </a:t>
            </a:r>
            <a:r>
              <a:rPr lang="pt-BR" sz="4000" b="1" dirty="0">
                <a:solidFill>
                  <a:srgbClr val="7030A0"/>
                </a:solidFill>
              </a:rPr>
              <a:t>limitação?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9167699E-C148-E6E4-AA25-95745C8A9E72}"/>
              </a:ext>
            </a:extLst>
          </p:cNvPr>
          <p:cNvGrpSpPr/>
          <p:nvPr/>
        </p:nvGrpSpPr>
        <p:grpSpPr>
          <a:xfrm>
            <a:off x="3685174" y="1866317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2843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01249B-8A42-478D-8165-DC55BCBE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DF9D294-ED00-CA9B-F674-FE09977FC4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possível </a:t>
                </a:r>
                <a:r>
                  <a:rPr lang="pt-BR" dirty="0" smtClean="0"/>
                  <a:t>solução é utilizar </a:t>
                </a:r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regra intuitiva </a:t>
                </a:r>
                <a:r>
                  <a:rPr lang="pt-BR" dirty="0"/>
                  <a:t>de atualização dos </a:t>
                </a:r>
                <a:r>
                  <a:rPr lang="pt-BR" b="1" i="1" dirty="0"/>
                  <a:t>pesos</a:t>
                </a:r>
                <a:r>
                  <a:rPr lang="pt-BR" dirty="0"/>
                  <a:t> que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converge para uma solução dado que exista uma função discriminante adequada e que as classes não se sobreponham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</a:t>
                </a:r>
                <a:r>
                  <a:rPr lang="pt-BR" b="1" i="1" dirty="0"/>
                  <a:t>regra intuitiva de atualização</a:t>
                </a:r>
                <a:r>
                  <a:rPr lang="pt-BR" dirty="0"/>
                  <a:t> </a:t>
                </a:r>
                <a:r>
                  <a:rPr lang="pt-BR" b="1" i="1" dirty="0"/>
                  <a:t>dos</a:t>
                </a:r>
                <a:r>
                  <a:rPr lang="pt-BR" dirty="0"/>
                  <a:t> </a:t>
                </a:r>
                <a:r>
                  <a:rPr lang="pt-BR" b="1" i="1" dirty="0"/>
                  <a:t>pesos</a:t>
                </a:r>
                <a:r>
                  <a:rPr lang="pt-BR" dirty="0"/>
                  <a:t> é dada pela seguinte equação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passo de aprendizagem, o qual </a:t>
                </a:r>
                <a:r>
                  <a:rPr lang="pt-BR" dirty="0" smtClean="0"/>
                  <a:t>deve ser </a:t>
                </a:r>
                <a:r>
                  <a:rPr lang="pt-BR" dirty="0"/>
                  <a:t>sempre maior do que zero.</a:t>
                </a:r>
              </a:p>
              <a:p>
                <a:r>
                  <a:rPr lang="pt-BR" dirty="0"/>
                  <a:t>A regra é idêntica à regra de atualização </a:t>
                </a:r>
                <a:r>
                  <a:rPr lang="pt-BR" dirty="0" smtClean="0"/>
                  <a:t>dos pesos para </a:t>
                </a:r>
                <a:r>
                  <a:rPr lang="pt-BR" dirty="0"/>
                  <a:t>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 quando utilizamos o </a:t>
                </a:r>
                <a:r>
                  <a:rPr lang="pt-BR" b="1" i="1" dirty="0"/>
                  <a:t>gradiente descendente </a:t>
                </a:r>
                <a:r>
                  <a:rPr lang="pt-BR" b="1" i="1" dirty="0" smtClean="0"/>
                  <a:t>estocástico (GDE)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DF9D294-ED00-CA9B-F674-FE09977FC4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  <a:blipFill rotWithShape="0">
                <a:blip r:embed="rId3"/>
                <a:stretch>
                  <a:fillRect l="-108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929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8F62A90-2205-3D44-64BD-FF7C92AAA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09D0142-9D48-0627-42F7-9D56F2FF14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razões que discutiremos mais adiante, esta regra é chamada de </a:t>
                </a:r>
                <a:r>
                  <a:rPr lang="pt-BR" b="1" i="1" dirty="0"/>
                  <a:t>regra de aprendizagem do perceptron</a:t>
                </a:r>
                <a:r>
                  <a:rPr lang="pt-BR" dirty="0"/>
                  <a:t>.</a:t>
                </a:r>
              </a:p>
              <a:p>
                <a:r>
                  <a:rPr lang="pt-BR" sz="2800" dirty="0" smtClean="0"/>
                  <a:t>Os pesos são atualizados usando-se apenas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um exemplo por vez</a:t>
                </a:r>
                <a:r>
                  <a:rPr lang="pt-BR" sz="2800" dirty="0" smtClean="0"/>
                  <a:t>, escolhido de forma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aleatória</a:t>
                </a:r>
                <a:r>
                  <a:rPr lang="pt-BR" sz="2800" dirty="0" smtClean="0"/>
                  <a:t> do conjunto de treinamento, assim como </a:t>
                </a:r>
                <a:r>
                  <a:rPr lang="pt-BR" dirty="0"/>
                  <a:t>fizemos com o </a:t>
                </a:r>
                <a:r>
                  <a:rPr lang="pt-BR" dirty="0" smtClean="0"/>
                  <a:t>GDE</a:t>
                </a:r>
                <a:r>
                  <a:rPr lang="pt-BR" b="1" i="1" dirty="0" smtClean="0"/>
                  <a:t>.</a:t>
                </a:r>
                <a:endParaRPr lang="pt-BR" sz="2800" dirty="0" smtClean="0"/>
              </a:p>
              <a:p>
                <a:r>
                  <a:rPr lang="pt-BR" dirty="0" smtClean="0"/>
                  <a:t>Como classificadores binários têm rótulos e valores </a:t>
                </a:r>
                <a:r>
                  <a:rPr lang="pt-BR" dirty="0"/>
                  <a:t>de saída iguais a 0 ou 1, o comportamento da regra de atualização </a:t>
                </a:r>
                <a:r>
                  <a:rPr lang="pt-BR" dirty="0" smtClean="0"/>
                  <a:t>é diferente </a:t>
                </a:r>
                <a:r>
                  <a:rPr lang="pt-BR" dirty="0"/>
                  <a:t>do comportamento </a:t>
                </a:r>
                <a:r>
                  <a:rPr lang="pt-BR" dirty="0" smtClean="0"/>
                  <a:t>do GDE.</a:t>
                </a:r>
              </a:p>
              <a:p>
                <a:r>
                  <a:rPr lang="pt-BR" dirty="0"/>
                  <a:t>C</a:t>
                </a:r>
                <a:r>
                  <a:rPr lang="pt-BR" dirty="0" smtClean="0"/>
                  <a:t>omo </a:t>
                </a:r>
                <a:r>
                  <a:rPr lang="pt-BR" dirty="0"/>
                  <a:t>veremos a </a:t>
                </a:r>
                <a:r>
                  <a:rPr lang="pt-BR" dirty="0" smtClean="0"/>
                  <a:t>seguir, existem apenas 3 possibilidades para a regra.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09D0142-9D48-0627-42F7-9D56F2FF14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  <a:blipFill rotWithShape="0">
                <a:blip r:embed="rId3"/>
                <a:stretch>
                  <a:fillRect l="-984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764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Primeira </a:t>
                </a:r>
                <a:r>
                  <a:rPr lang="pt-BR" dirty="0"/>
                  <a:t>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 Se o valor de saída do classificador for igual ao esperado,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 smtClean="0"/>
                  <a:t>Observem que se na equação </a:t>
                </a:r>
                <a:r>
                  <a:rPr lang="pt-BR" dirty="0"/>
                  <a:t>de atualizaçao dos </a:t>
                </a:r>
                <a:r>
                  <a:rPr lang="pt-BR" dirty="0" smtClean="0"/>
                  <a:t>pesos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, então</a:t>
                </a:r>
                <a:r>
                  <a:rPr lang="pt-BR" dirty="0" smtClean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pesos não são atualizados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  <a:blipFill rotWithShape="0">
                <a:blip r:embed="rId2"/>
                <a:stretch>
                  <a:fillRect l="-1892" t="-1887" r="-8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290082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2424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Segunda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aumentar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1.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12806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Terceira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 </a:t>
                </a:r>
                <a:r>
                  <a:rPr lang="pt-BR" dirty="0"/>
                  <a:t>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diminuir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0.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20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xmlns="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xmlns="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54317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36B7CF-8113-56BB-B99E-8A161CD9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A545FD3-C171-8153-940B-3CC275069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7621" y="1825624"/>
            <a:ext cx="764283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/>
              <a:t>regra de aprendizagem do perceptron </a:t>
            </a:r>
            <a:r>
              <a:rPr lang="pt-BR" dirty="0"/>
              <a:t>converge para um </a:t>
            </a:r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quando: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classes são </a:t>
            </a:r>
            <a:r>
              <a:rPr lang="pt-BR" b="1" i="1" dirty="0"/>
              <a:t>suficientemente separadas </a:t>
            </a:r>
            <a:r>
              <a:rPr lang="pt-BR" dirty="0"/>
              <a:t>umas das outras, ou seja, não se sobrepõem.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existe uma </a:t>
            </a:r>
            <a:r>
              <a:rPr lang="pt-BR" b="1" i="1" dirty="0"/>
              <a:t>função discriminante adequada para o problema</a:t>
            </a:r>
            <a:r>
              <a:rPr lang="pt-BR" dirty="0"/>
              <a:t>, mesmo que não seja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pt-BR" dirty="0"/>
              <a:t>Ou seja, não precisa ser um problema linearmente separável.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b="1" i="1" dirty="0"/>
              <a:t>: </a:t>
            </a:r>
            <a:r>
              <a:rPr lang="pt-BR" dirty="0"/>
              <a:t>com erro de classificação igual a zero, ou seja, todos os exemplos são perfeitamente classificados.</a:t>
            </a:r>
          </a:p>
          <a:p>
            <a:r>
              <a:rPr lang="pt-BR" dirty="0"/>
              <a:t>Porém, na prática essa situação não é muito comum.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xmlns="" id="{54D0F914-40D4-E004-16D1-A0567AB22B0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19514" y="5225992"/>
            <a:ext cx="2329327" cy="152513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D9C2A466-55C5-046B-2430-AC3551D26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5" t="11979" r="9531"/>
          <a:stretch/>
        </p:blipFill>
        <p:spPr>
          <a:xfrm>
            <a:off x="1019512" y="3390690"/>
            <a:ext cx="2329327" cy="1735697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xmlns="" id="{39407819-FE6A-C2CA-4C72-A0623AD14F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51" t="11459" r="9375" b="1244"/>
          <a:stretch/>
        </p:blipFill>
        <p:spPr>
          <a:xfrm>
            <a:off x="1019512" y="1531004"/>
            <a:ext cx="2329327" cy="175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46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as classes se sobrepõem, a </a:t>
                </a:r>
                <a:r>
                  <a:rPr lang="pt-BR" b="1" i="1" dirty="0"/>
                  <a:t>regra de aprendizagem do perceptron </a:t>
                </a:r>
                <a:r>
                  <a:rPr lang="pt-BR" dirty="0"/>
                  <a:t>falha em convergir para uma solução perfeita. </a:t>
                </a:r>
              </a:p>
              <a:p>
                <a:r>
                  <a:rPr lang="pt-BR" dirty="0"/>
                  <a:t>Nesse caso, a regra não converge para uma solução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estável</a:t>
                </a:r>
                <a:r>
                  <a:rPr lang="pt-BR" dirty="0"/>
                  <a:t>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constantes do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assim como acontece com o GDE.</a:t>
                </a:r>
              </a:p>
              <a:p>
                <a:r>
                  <a:rPr lang="pt-BR" dirty="0"/>
                  <a:t>Não há </a:t>
                </a:r>
                <a:r>
                  <a:rPr lang="pt-BR" dirty="0" smtClean="0"/>
                  <a:t>convergência, </a:t>
                </a:r>
                <a:r>
                  <a:rPr lang="pt-BR" dirty="0"/>
                  <a:t>pois o objetivo é encontrar um erro de </a:t>
                </a:r>
                <a:r>
                  <a:rPr lang="pt-BR" dirty="0" smtClean="0"/>
                  <a:t>igual </a:t>
                </a:r>
                <a:r>
                  <a:rPr lang="pt-BR" dirty="0"/>
                  <a:t>a 0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Além disso, os pesos são ajustados para uma única amostra por vez.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  <a:blipFill rotWithShape="0">
                <a:blip r:embed="rId3"/>
                <a:stretch>
                  <a:fillRect l="-1682" t="-1937" r="-2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855" t="11854" r="9545" b="1146"/>
          <a:stretch/>
        </p:blipFill>
        <p:spPr>
          <a:xfrm>
            <a:off x="838200" y="2463692"/>
            <a:ext cx="3864840" cy="2912051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xmlns="" id="{3D8F3701-F00B-FFBD-E048-5B4BEB1063B9}"/>
              </a:ext>
            </a:extLst>
          </p:cNvPr>
          <p:cNvCxnSpPr/>
          <p:nvPr/>
        </p:nvCxnSpPr>
        <p:spPr>
          <a:xfrm>
            <a:off x="2190750" y="2482850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xmlns="" id="{379A4D02-30B5-EFB6-14C9-C0ED3378532A}"/>
              </a:ext>
            </a:extLst>
          </p:cNvPr>
          <p:cNvCxnSpPr/>
          <p:nvPr/>
        </p:nvCxnSpPr>
        <p:spPr>
          <a:xfrm>
            <a:off x="2821420" y="2476392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0A78815D-AC06-0208-4006-098B3474FB0B}"/>
              </a:ext>
            </a:extLst>
          </p:cNvPr>
          <p:cNvCxnSpPr>
            <a:cxnSpLocks/>
          </p:cNvCxnSpPr>
          <p:nvPr/>
        </p:nvCxnSpPr>
        <p:spPr>
          <a:xfrm flipH="1" flipV="1">
            <a:off x="2406650" y="2165350"/>
            <a:ext cx="298450" cy="1219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xmlns="" id="{4F8C8EB0-C19D-530A-7740-E886C3A77FCF}"/>
              </a:ext>
            </a:extLst>
          </p:cNvPr>
          <p:cNvCxnSpPr>
            <a:cxnSpLocks/>
          </p:cNvCxnSpPr>
          <p:nvPr/>
        </p:nvCxnSpPr>
        <p:spPr>
          <a:xfrm>
            <a:off x="3287135" y="3429000"/>
            <a:ext cx="185160" cy="201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D4D93B8E-F2A4-1E69-54A5-F0550E91736E}"/>
                  </a:ext>
                </a:extLst>
              </p:cNvPr>
              <p:cNvSpPr txBox="1"/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vermelha</a:t>
                </a:r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D4D93B8E-F2A4-1E69-54A5-F0550E91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blipFill>
                <a:blip r:embed="rId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941F9E29-3D5B-7F7E-565A-94F4F6591E3F}"/>
                  </a:ext>
                </a:extLst>
              </p:cNvPr>
              <p:cNvSpPr txBox="1"/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azul</a:t>
                </a:r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941F9E29-3D5B-7F7E-565A-94F4F6591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blipFill>
                <a:blip r:embed="rId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987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se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decrescer de acordo com as iterações de treinamento</a:t>
                </a:r>
                <a:r>
                  <a:rPr lang="pt-BR" dirty="0"/>
                  <a:t>, então a regra tem uma chance de convergir para uma solução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mínimo </a:t>
                </a:r>
                <a:r>
                  <a:rPr lang="pt-BR" dirty="0"/>
                  <a:t>quando os exemplos são apresentados de forma aleatória.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Abordagem similar a que usamos com </a:t>
                </a:r>
                <a:r>
                  <a:rPr lang="pt-BR" dirty="0"/>
                  <a:t>o GDE.</a:t>
                </a:r>
              </a:p>
              <a:p>
                <a:r>
                  <a:rPr lang="pt-BR" dirty="0"/>
                  <a:t>Podemos também usar o </a:t>
                </a:r>
                <a:r>
                  <a:rPr lang="pt-BR" b="1" i="1" dirty="0"/>
                  <a:t>early-stop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guardar</a:t>
                </a:r>
                <a:r>
                  <a:rPr lang="pt-BR" dirty="0"/>
                  <a:t>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pesos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que resultaram no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menor erro de validação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  <a:blipFill rotWithShape="0">
                <a:blip r:embed="rId3"/>
                <a:stretch>
                  <a:fillRect l="-1671" t="-1937" r="-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1A5A3C4-8FC4-F1E4-A1F3-D619B2FCB0C3}"/>
              </a:ext>
            </a:extLst>
          </p:cNvPr>
          <p:cNvSpPr/>
          <p:nvPr/>
        </p:nvSpPr>
        <p:spPr>
          <a:xfrm>
            <a:off x="8024449" y="6550222"/>
            <a:ext cx="4167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classificador_linear_com_limiar_rigido.ipynb</a:t>
            </a:r>
            <a:endParaRPr lang="pt-BR" sz="14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855" t="11854" r="9545" b="1146"/>
          <a:stretch/>
        </p:blipFill>
        <p:spPr>
          <a:xfrm>
            <a:off x="751689" y="2588820"/>
            <a:ext cx="3864840" cy="291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010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8878" y="1825624"/>
            <a:ext cx="736270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com classificadores que usam </a:t>
            </a:r>
            <a:r>
              <a:rPr lang="pt-BR" b="1" i="1" dirty="0"/>
              <a:t>limiar de decisão rígido </a:t>
            </a:r>
            <a:r>
              <a:rPr lang="pt-BR" dirty="0"/>
              <a:t>é a </a:t>
            </a:r>
            <a:r>
              <a:rPr lang="pt-BR" b="1" i="1" dirty="0">
                <a:solidFill>
                  <a:srgbClr val="00B050"/>
                </a:solidFill>
              </a:rPr>
              <a:t>falta de informação sobre a confiança </a:t>
            </a:r>
            <a:r>
              <a:rPr lang="pt-BR" dirty="0"/>
              <a:t>quanto a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i="1" dirty="0"/>
              <a:t>fronteira de decisão </a:t>
            </a:r>
            <a:r>
              <a:rPr lang="pt-BR" dirty="0"/>
              <a:t>enquanto outros dois estão bem distantes dela.</a:t>
            </a:r>
          </a:p>
          <a:p>
            <a:r>
              <a:rPr lang="pt-BR" dirty="0"/>
              <a:t>Como o classificador com </a:t>
            </a:r>
            <a:r>
              <a:rPr lang="pt-BR" b="1" i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percebemos que o classificador faz predições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1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o exemplo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</a:t>
                </a:r>
                <a:r>
                  <a:rPr lang="pt-BR" dirty="0" smtClean="0"/>
                  <a:t>menor o </a:t>
                </a:r>
                <a:r>
                  <a:rPr lang="pt-BR" dirty="0"/>
                  <a:t>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</a:t>
                </a:r>
                <a:r>
                  <a:rPr lang="pt-BR" dirty="0" smtClean="0"/>
                  <a:t>próximo da </a:t>
                </a:r>
                <a:r>
                  <a:rPr lang="pt-BR" dirty="0"/>
                  <a:t>fronteira está 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 rotWithShape="0"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xmlns="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xmlns="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xmlns="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xmlns="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usando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pontos azuis </a:t>
                </a:r>
                <a:r>
                  <a:rPr lang="pt-BR" dirty="0"/>
                  <a:t>são 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 negativa </a:t>
                </a:r>
                <a:r>
                  <a:rPr lang="pt-BR" dirty="0"/>
                  <a:t>(valor 0) e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triângulos vermelhos </a:t>
                </a:r>
                <a:r>
                  <a:rPr lang="pt-BR" dirty="0"/>
                  <a:t>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positiva</a:t>
                </a:r>
                <a:r>
                  <a:rPr lang="pt-BR" dirty="0"/>
                  <a:t> (valor 1), mesmo tendo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absolutos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bem diferentes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Pontos muito próximos da fronteira de decisão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próximo de zero.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Já pontos muito distantes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muito maior do que zero.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  <a:blipFill>
                <a:blip r:embed="rId3"/>
                <a:stretch>
                  <a:fillRect l="-1571" t="-1937" r="-25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6">
            <a:extLst>
              <a:ext uri="{FF2B5EF4-FFF2-40B4-BE49-F238E27FC236}">
                <a16:creationId xmlns:a16="http://schemas.microsoft.com/office/drawing/2014/main" xmlns="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xmlns="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16" name="Picture 16">
              <a:extLst>
                <a:ext uri="{FF2B5EF4-FFF2-40B4-BE49-F238E27FC236}">
                  <a16:creationId xmlns:a16="http://schemas.microsoft.com/office/drawing/2014/main" xmlns="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xmlns="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xmlns="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14">
              <a:extLst>
                <a:ext uri="{FF2B5EF4-FFF2-40B4-BE49-F238E27FC236}">
                  <a16:creationId xmlns:a16="http://schemas.microsoft.com/office/drawing/2014/main" xmlns="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529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i="1" dirty="0">
                <a:solidFill>
                  <a:schemeClr val="accent2"/>
                </a:solidFill>
              </a:rPr>
              <a:t>pontos </a:t>
            </a:r>
            <a:r>
              <a:rPr lang="pt-BR" sz="2800" b="1" i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i="1" dirty="0">
                <a:solidFill>
                  <a:srgbClr val="7030A0"/>
                </a:solidFill>
              </a:rPr>
              <a:t>deveriam</a:t>
            </a:r>
            <a:r>
              <a:rPr lang="pt-BR" sz="2800" b="1" i="1" dirty="0">
                <a:solidFill>
                  <a:srgbClr val="00B050"/>
                </a:solidFill>
              </a:rPr>
              <a:t> ter uma </a:t>
            </a:r>
            <a:r>
              <a:rPr lang="pt-BR" b="1" i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i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Porém, isso não é refletido na saída do classificador com limiar de decisão rígido.</a:t>
            </a:r>
          </a:p>
          <a:p>
            <a:pPr marL="285750" indent="-285750"/>
            <a:r>
              <a:rPr lang="pt-BR" dirty="0"/>
              <a:t>Entretanto, em muitas situações, nós precisamos de predições mais graduadas, que indiquem incertezas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8486856A-A906-F895-6B4C-453EFD40E6EF}"/>
              </a:ext>
            </a:extLst>
          </p:cNvPr>
          <p:cNvSpPr/>
          <p:nvPr/>
        </p:nvSpPr>
        <p:spPr>
          <a:xfrm>
            <a:off x="9443106" y="6525566"/>
            <a:ext cx="27488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</a:t>
            </a:r>
            <a:r>
              <a:rPr lang="pt-BR" sz="1400" dirty="0" err="1">
                <a:hlinkClick r:id="rId4"/>
              </a:rPr>
              <a:t>classificação_rígida.ipynb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2128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#2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/>
          <p:cNvGrpSpPr/>
          <p:nvPr/>
        </p:nvGrpSpPr>
        <p:grpSpPr>
          <a:xfrm>
            <a:off x="1086015" y="1802044"/>
            <a:ext cx="3740834" cy="2807647"/>
            <a:chOff x="4010190" y="1821094"/>
            <a:chExt cx="3740834" cy="2807647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Isosceles Triangle 7"/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Isosceles Triangle 21"/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/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27"/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0" name="Straight Arrow Connector 29"/>
            <p:cNvCxnSpPr>
              <a:stCxn id="28" idx="0"/>
              <a:endCxn id="31" idx="2"/>
            </p:cNvCxnSpPr>
            <p:nvPr/>
          </p:nvCxnSpPr>
          <p:spPr>
            <a:xfrm flipV="1">
              <a:off x="5800905" y="2344314"/>
              <a:ext cx="10681" cy="1008667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948806" y="1821094"/>
              <a:ext cx="17255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Qual a certeza destas classificações?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37"/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Isosceles Triangle 38"/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0" name="Straight Arrow Connector 39"/>
            <p:cNvCxnSpPr>
              <a:stCxn id="36" idx="7"/>
            </p:cNvCxnSpPr>
            <p:nvPr/>
          </p:nvCxnSpPr>
          <p:spPr>
            <a:xfrm flipV="1">
              <a:off x="4806192" y="2344314"/>
              <a:ext cx="832821" cy="1657980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Straight Arrow Connector 42"/>
            <p:cNvCxnSpPr>
              <a:stCxn id="38" idx="2"/>
            </p:cNvCxnSpPr>
            <p:nvPr/>
          </p:nvCxnSpPr>
          <p:spPr>
            <a:xfrm flipH="1" flipV="1">
              <a:off x="6051730" y="2368601"/>
              <a:ext cx="699167" cy="265313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/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49">
            <a:extLst>
              <a:ext uri="{FF2B5EF4-FFF2-40B4-BE49-F238E27FC236}">
                <a16:creationId xmlns:a16="http://schemas.microsoft.com/office/drawing/2014/main" xmlns="" id="{A01877FB-57F2-AD41-82CB-EAC3CD6BE376}"/>
              </a:ext>
            </a:extLst>
          </p:cNvPr>
          <p:cNvGrpSpPr/>
          <p:nvPr/>
        </p:nvGrpSpPr>
        <p:grpSpPr>
          <a:xfrm>
            <a:off x="5639334" y="2087246"/>
            <a:ext cx="3740834" cy="2602233"/>
            <a:chOff x="4010190" y="2026508"/>
            <a:chExt cx="3740834" cy="2602233"/>
          </a:xfrm>
        </p:grpSpPr>
        <p:cxnSp>
          <p:nvCxnSpPr>
            <p:cNvPr id="3" name="Straight Arrow Connector 4">
              <a:extLst>
                <a:ext uri="{FF2B5EF4-FFF2-40B4-BE49-F238E27FC236}">
                  <a16:creationId xmlns:a16="http://schemas.microsoft.com/office/drawing/2014/main" xmlns="" id="{559F5EC3-8BB0-7A49-4FC1-31DBAE0A5A53}"/>
                </a:ext>
              </a:extLst>
            </p:cNvPr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5">
              <a:extLst>
                <a:ext uri="{FF2B5EF4-FFF2-40B4-BE49-F238E27FC236}">
                  <a16:creationId xmlns:a16="http://schemas.microsoft.com/office/drawing/2014/main" xmlns="" id="{DE64CED1-087D-F8C1-C8DE-ED77429386B6}"/>
                </a:ext>
              </a:extLst>
            </p:cNvPr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6">
              <a:extLst>
                <a:ext uri="{FF2B5EF4-FFF2-40B4-BE49-F238E27FC236}">
                  <a16:creationId xmlns:a16="http://schemas.microsoft.com/office/drawing/2014/main" xmlns="" id="{4BAC0974-32C4-6B7D-7B84-E15EC1A4EDAD}"/>
                </a:ext>
              </a:extLst>
            </p:cNvPr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Isosceles Triangle 7">
              <a:extLst>
                <a:ext uri="{FF2B5EF4-FFF2-40B4-BE49-F238E27FC236}">
                  <a16:creationId xmlns:a16="http://schemas.microsoft.com/office/drawing/2014/main" xmlns="" id="{0591E6DC-765A-BFBB-1F8D-DDEC4152C35F}"/>
                </a:ext>
              </a:extLst>
            </p:cNvPr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Straight Connector 8">
              <a:extLst>
                <a:ext uri="{FF2B5EF4-FFF2-40B4-BE49-F238E27FC236}">
                  <a16:creationId xmlns:a16="http://schemas.microsoft.com/office/drawing/2014/main" xmlns="" id="{E1734E95-0FBF-02AF-2569-135BB7B22E05}"/>
                </a:ext>
              </a:extLst>
            </p:cNvPr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9">
              <a:extLst>
                <a:ext uri="{FF2B5EF4-FFF2-40B4-BE49-F238E27FC236}">
                  <a16:creationId xmlns:a16="http://schemas.microsoft.com/office/drawing/2014/main" xmlns="" id="{6B37EE68-5A0B-827B-8C98-DE6B17AC56E3}"/>
                </a:ext>
              </a:extLst>
            </p:cNvPr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0">
              <a:extLst>
                <a:ext uri="{FF2B5EF4-FFF2-40B4-BE49-F238E27FC236}">
                  <a16:creationId xmlns:a16="http://schemas.microsoft.com/office/drawing/2014/main" xmlns="" id="{1261DDC8-59C7-FD0B-DD60-BE3CB7FCDA62}"/>
                </a:ext>
              </a:extLst>
            </p:cNvPr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Oval 11">
              <a:extLst>
                <a:ext uri="{FF2B5EF4-FFF2-40B4-BE49-F238E27FC236}">
                  <a16:creationId xmlns:a16="http://schemas.microsoft.com/office/drawing/2014/main" xmlns="" id="{6B51829B-5A4D-3096-8DFA-23F65727F0A5}"/>
                </a:ext>
              </a:extLst>
            </p:cNvPr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12">
              <a:extLst>
                <a:ext uri="{FF2B5EF4-FFF2-40B4-BE49-F238E27FC236}">
                  <a16:creationId xmlns:a16="http://schemas.microsoft.com/office/drawing/2014/main" xmlns="" id="{1DCF8C81-BE56-28DB-0646-E7672E3BDC98}"/>
                </a:ext>
              </a:extLst>
            </p:cNvPr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Oval 13">
              <a:extLst>
                <a:ext uri="{FF2B5EF4-FFF2-40B4-BE49-F238E27FC236}">
                  <a16:creationId xmlns:a16="http://schemas.microsoft.com/office/drawing/2014/main" xmlns="" id="{D4191678-9CF5-8B2C-2FFD-5FD130B3B412}"/>
                </a:ext>
              </a:extLst>
            </p:cNvPr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Oval 14">
              <a:extLst>
                <a:ext uri="{FF2B5EF4-FFF2-40B4-BE49-F238E27FC236}">
                  <a16:creationId xmlns:a16="http://schemas.microsoft.com/office/drawing/2014/main" xmlns="" id="{15DAC9EB-F5F3-0131-4EAA-DF22D2351AB8}"/>
                </a:ext>
              </a:extLst>
            </p:cNvPr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Isosceles Triangle 15">
              <a:extLst>
                <a:ext uri="{FF2B5EF4-FFF2-40B4-BE49-F238E27FC236}">
                  <a16:creationId xmlns:a16="http://schemas.microsoft.com/office/drawing/2014/main" xmlns="" id="{17847434-848F-7030-60BF-0A6AFF31EAEE}"/>
                </a:ext>
              </a:extLst>
            </p:cNvPr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Isosceles Triangle 16">
              <a:extLst>
                <a:ext uri="{FF2B5EF4-FFF2-40B4-BE49-F238E27FC236}">
                  <a16:creationId xmlns:a16="http://schemas.microsoft.com/office/drawing/2014/main" xmlns="" id="{69F7D8A7-7BB4-29BF-6783-381784D1576B}"/>
                </a:ext>
              </a:extLst>
            </p:cNvPr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Isosceles Triangle 17">
              <a:extLst>
                <a:ext uri="{FF2B5EF4-FFF2-40B4-BE49-F238E27FC236}">
                  <a16:creationId xmlns:a16="http://schemas.microsoft.com/office/drawing/2014/main" xmlns="" id="{A7E0AD2F-77D1-2E5F-BC04-C0BD98EF8FB2}"/>
                </a:ext>
              </a:extLst>
            </p:cNvPr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Isosceles Triangle 18">
              <a:extLst>
                <a:ext uri="{FF2B5EF4-FFF2-40B4-BE49-F238E27FC236}">
                  <a16:creationId xmlns:a16="http://schemas.microsoft.com/office/drawing/2014/main" xmlns="" id="{1C15A1BA-A5A1-121A-47A2-67D01670EB8D}"/>
                </a:ext>
              </a:extLst>
            </p:cNvPr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9">
              <a:extLst>
                <a:ext uri="{FF2B5EF4-FFF2-40B4-BE49-F238E27FC236}">
                  <a16:creationId xmlns:a16="http://schemas.microsoft.com/office/drawing/2014/main" xmlns="" id="{2691A117-2238-4EA8-BA72-DD69B2537E74}"/>
                </a:ext>
              </a:extLst>
            </p:cNvPr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0">
              <a:extLst>
                <a:ext uri="{FF2B5EF4-FFF2-40B4-BE49-F238E27FC236}">
                  <a16:creationId xmlns:a16="http://schemas.microsoft.com/office/drawing/2014/main" xmlns="" id="{87886991-92AA-789B-A048-42556E41EF78}"/>
                </a:ext>
              </a:extLst>
            </p:cNvPr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1">
              <a:extLst>
                <a:ext uri="{FF2B5EF4-FFF2-40B4-BE49-F238E27FC236}">
                  <a16:creationId xmlns:a16="http://schemas.microsoft.com/office/drawing/2014/main" xmlns="" id="{FC918483-70D9-78EF-7892-9A698C58B3BE}"/>
                </a:ext>
              </a:extLst>
            </p:cNvPr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Rectangle 22">
                  <a:extLst>
                    <a:ext uri="{FF2B5EF4-FFF2-40B4-BE49-F238E27FC236}">
                      <a16:creationId xmlns:a16="http://schemas.microsoft.com/office/drawing/2014/main" xmlns="" id="{2FE86596-1D83-0567-72ED-6BE31DAD111D}"/>
                    </a:ext>
                  </a:extLst>
                </p:cNvPr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23">
                  <a:extLst>
                    <a:ext uri="{FF2B5EF4-FFF2-40B4-BE49-F238E27FC236}">
                      <a16:creationId xmlns:a16="http://schemas.microsoft.com/office/drawing/2014/main" xmlns="" id="{02397193-CB62-B516-6901-D12765FA74FD}"/>
                    </a:ext>
                  </a:extLst>
                </p:cNvPr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24">
                  <a:extLst>
                    <a:ext uri="{FF2B5EF4-FFF2-40B4-BE49-F238E27FC236}">
                      <a16:creationId xmlns:a16="http://schemas.microsoft.com/office/drawing/2014/main" xmlns="" id="{F29ADD8A-D74E-84D1-F235-CE5EA18629ED}"/>
                    </a:ext>
                  </a:extLst>
                </p:cNvPr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25">
                  <a:extLst>
                    <a:ext uri="{FF2B5EF4-FFF2-40B4-BE49-F238E27FC236}">
                      <a16:creationId xmlns:a16="http://schemas.microsoft.com/office/drawing/2014/main" xmlns="" id="{7A3F41DF-BDCB-C85B-90EB-7672C6BBB835}"/>
                    </a:ext>
                  </a:extLst>
                </p:cNvPr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Oval 27">
              <a:extLst>
                <a:ext uri="{FF2B5EF4-FFF2-40B4-BE49-F238E27FC236}">
                  <a16:creationId xmlns:a16="http://schemas.microsoft.com/office/drawing/2014/main" xmlns="" id="{847A52EB-C501-D440-8610-5419FB823317}"/>
                </a:ext>
              </a:extLst>
            </p:cNvPr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35">
              <a:extLst>
                <a:ext uri="{FF2B5EF4-FFF2-40B4-BE49-F238E27FC236}">
                  <a16:creationId xmlns:a16="http://schemas.microsoft.com/office/drawing/2014/main" xmlns="" id="{EB453B61-9506-A107-5EF7-8246E747FF1E}"/>
                </a:ext>
              </a:extLst>
            </p:cNvPr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37">
              <a:extLst>
                <a:ext uri="{FF2B5EF4-FFF2-40B4-BE49-F238E27FC236}">
                  <a16:creationId xmlns:a16="http://schemas.microsoft.com/office/drawing/2014/main" xmlns="" id="{CA70CD2A-20CC-7D7E-FBB5-315D08338E70}"/>
                </a:ext>
              </a:extLst>
            </p:cNvPr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38">
              <a:extLst>
                <a:ext uri="{FF2B5EF4-FFF2-40B4-BE49-F238E27FC236}">
                  <a16:creationId xmlns:a16="http://schemas.microsoft.com/office/drawing/2014/main" xmlns="" id="{1B63DD9A-FDD2-7248-23B2-3CB843634382}"/>
                </a:ext>
              </a:extLst>
            </p:cNvPr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47">
                  <a:extLst>
                    <a:ext uri="{FF2B5EF4-FFF2-40B4-BE49-F238E27FC236}">
                      <a16:creationId xmlns:a16="http://schemas.microsoft.com/office/drawing/2014/main" xmlns="" id="{6063CA95-FC23-6B2F-BFA4-9A9FAF88B4A6}"/>
                    </a:ext>
                  </a:extLst>
                </p:cNvPr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48">
                  <a:extLst>
                    <a:ext uri="{FF2B5EF4-FFF2-40B4-BE49-F238E27FC236}">
                      <a16:creationId xmlns:a16="http://schemas.microsoft.com/office/drawing/2014/main" xmlns="" id="{CF068210-CAED-73B7-26B0-19BA9DC8137E}"/>
                    </a:ext>
                  </a:extLst>
                </p:cNvPr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44406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9754</TotalTime>
  <Words>2221</Words>
  <Application>Microsoft Office PowerPoint</Application>
  <PresentationFormat>Widescreen</PresentationFormat>
  <Paragraphs>301</Paragraphs>
  <Slides>30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Söhne</vt:lpstr>
      <vt:lpstr>Wingdings</vt:lpstr>
      <vt:lpstr>Tema do Office</vt:lpstr>
      <vt:lpstr>T320 - Introdução ao Aprendizado de Máquina II: Classificação (Parte II)</vt:lpstr>
      <vt:lpstr>Recapitulando</vt:lpstr>
      <vt:lpstr>Classificação linear</vt:lpstr>
      <vt:lpstr>Classificação linear</vt:lpstr>
      <vt:lpstr>Classes linearmente separáveis</vt:lpstr>
      <vt:lpstr>Classes linearmente separáveis</vt:lpstr>
      <vt:lpstr>Classificação não-linear</vt:lpstr>
      <vt:lpstr>Classificação não-linear</vt:lpstr>
      <vt:lpstr>Função de limiar de decisão</vt:lpstr>
      <vt:lpstr>Função de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Tarefas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1860</cp:revision>
  <dcterms:created xsi:type="dcterms:W3CDTF">2020-01-20T13:50:05Z</dcterms:created>
  <dcterms:modified xsi:type="dcterms:W3CDTF">2026-02-21T12:12:24Z</dcterms:modified>
</cp:coreProperties>
</file>