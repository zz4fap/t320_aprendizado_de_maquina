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14" r:id="rId3"/>
    <p:sldId id="363" r:id="rId4"/>
    <p:sldId id="395" r:id="rId5"/>
    <p:sldId id="370" r:id="rId6"/>
    <p:sldId id="364" r:id="rId7"/>
    <p:sldId id="371" r:id="rId8"/>
    <p:sldId id="373" r:id="rId9"/>
    <p:sldId id="396" r:id="rId10"/>
    <p:sldId id="375" r:id="rId11"/>
    <p:sldId id="376" r:id="rId12"/>
    <p:sldId id="346" r:id="rId13"/>
    <p:sldId id="394" r:id="rId14"/>
    <p:sldId id="390" r:id="rId15"/>
    <p:sldId id="391" r:id="rId16"/>
    <p:sldId id="377" r:id="rId17"/>
    <p:sldId id="378" r:id="rId18"/>
    <p:sldId id="348" r:id="rId19"/>
    <p:sldId id="380" r:id="rId20"/>
    <p:sldId id="381" r:id="rId21"/>
    <p:sldId id="382" r:id="rId22"/>
    <p:sldId id="383" r:id="rId23"/>
    <p:sldId id="392" r:id="rId24"/>
    <p:sldId id="385" r:id="rId25"/>
    <p:sldId id="387" r:id="rId26"/>
    <p:sldId id="393" r:id="rId27"/>
    <p:sldId id="389" r:id="rId28"/>
    <p:sldId id="386" r:id="rId29"/>
    <p:sldId id="324" r:id="rId30"/>
    <p:sldId id="306" r:id="rId31"/>
    <p:sldId id="367" r:id="rId32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1" autoAdjust="0"/>
    <p:restoredTop sz="86703" autoAdjust="0"/>
  </p:normalViewPr>
  <p:slideViewPr>
    <p:cSldViewPr snapToGrid="0">
      <p:cViewPr varScale="1">
        <p:scale>
          <a:sx n="96" d="100"/>
          <a:sy n="96" d="100"/>
        </p:scale>
        <p:origin x="1164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7/08/2026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1" dirty="0"/>
              <a:t>Classificadores lineares </a:t>
            </a:r>
            <a:r>
              <a:rPr lang="pt-BR" dirty="0"/>
              <a:t>sãos frequentemente usados em situações em que a velocidade da classificação é um problema, pois ele geralmente é o classificador mais rápido. Lembre-se que a classificação envolve apenas um produto escalar e um mapeamento.</a:t>
            </a:r>
          </a:p>
          <a:p>
            <a:endParaRPr lang="pt-BR" dirty="0"/>
          </a:p>
          <a:p>
            <a:r>
              <a:rPr lang="pt-BR" dirty="0"/>
              <a:t>Além disso, os </a:t>
            </a:r>
            <a:r>
              <a:rPr lang="pt-BR" b="1" i="1" dirty="0"/>
              <a:t>classificadores lineares </a:t>
            </a:r>
            <a:r>
              <a:rPr lang="pt-BR" dirty="0"/>
              <a:t>geralmente funcionam muito bem quando o número de atributos é grande, como no caso da classificação de documentos (milhares de palavras, por exemplo).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943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EEB3-0185-5574-26B6-079FD9E0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41757-9CE1-9FEE-BFE2-7AC0C6D58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F3556-56D6-756C-F499-8E8813DEE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1" dirty="0"/>
              <a:t>Classificadores lineares </a:t>
            </a:r>
            <a:r>
              <a:rPr lang="pt-BR" dirty="0"/>
              <a:t>sãos frequentemente usados em situações em que a velocidade da classificação é um problema, pois ele geralmente é o classificador mais rápido. Lembre-se que a classificação envolve apenas um produto escalar e um mapeamento.</a:t>
            </a:r>
          </a:p>
          <a:p>
            <a:endParaRPr lang="pt-BR" dirty="0"/>
          </a:p>
          <a:p>
            <a:r>
              <a:rPr lang="pt-BR" dirty="0"/>
              <a:t>Além disso, os </a:t>
            </a:r>
            <a:r>
              <a:rPr lang="pt-BR" b="1" i="1" dirty="0"/>
              <a:t>classificadores lineares </a:t>
            </a:r>
            <a:r>
              <a:rPr lang="pt-BR" dirty="0"/>
              <a:t>geralmente funcionam muito bem quando o número de atributos é grande, como no caso da classificação de documentos (milhares de palavras, por exemplo).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A38F9-BAAA-327D-F3B1-460A2C9835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656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1" dirty="0"/>
              <a:t>Classificadores lineares </a:t>
            </a:r>
            <a:r>
              <a:rPr lang="pt-BR" dirty="0"/>
              <a:t>sãos frequentemente usados em situações em que a velocidade da classificação é um problema, pois ele geralmente é o classificador mais rápido. Lembre-se que a classificação envolve apenas um produto escalar e um mapeamento.</a:t>
            </a:r>
          </a:p>
          <a:p>
            <a:endParaRPr lang="pt-BR" dirty="0"/>
          </a:p>
          <a:p>
            <a:r>
              <a:rPr lang="pt-BR" dirty="0"/>
              <a:t>Além disso, os </a:t>
            </a:r>
            <a:r>
              <a:rPr lang="pt-BR" b="1" i="1" dirty="0"/>
              <a:t>classificadores lineares </a:t>
            </a:r>
            <a:r>
              <a:rPr lang="pt-BR" dirty="0"/>
              <a:t>geralmente funcionam muito bem quando o número de atributos é grande, como no caso da classificação de documentos (milhares de palavras, por exemplo).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8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07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06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função discriminante não-linear é uma função que é usada para separar ou classificar diferentes classes ou categorias em um problema de classificação. No contexto da aprendizagem de máquina e da teoria da classificação, as funções discriminantes são usadas para determinar a qual classe um determinado ponto de dados pertence, com base em suas características.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função discriminante não-linear é usada quando a relação entre as características dos dados e suas classes não pode ser adequadamente modelada por uma linha reta ou hiperplano. Em vez disso, ela envolve mapeamentos não-lineares das características para um espaço onde as classes possam ser mais facilmente separadas. Essa abordagem é especialmente útil quando os dados não podem ser separados linearmente em seu espaço original.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 exemplo comum de uma técnica que utiliza funções discriminantes não-lineares é o uso de máquinas de vetores de suporte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SVMs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com kernels. Os kernels são funções que realizam transformações não-lineares dos dados originais para um espaço de dimensão superior, onde as classes podem ser separadas por hiperplanos. Essa transformação permite que o SVM lide com problemas de classificação não-linear.</a:t>
            </a:r>
          </a:p>
          <a:p>
            <a:endParaRPr lang="pt-BR" dirty="0"/>
          </a:p>
          <a:p>
            <a:r>
              <a:rPr lang="pt-BR" b="1" dirty="0"/>
              <a:t>Referências</a:t>
            </a:r>
          </a:p>
          <a:p>
            <a:r>
              <a:rPr lang="pt-BR" dirty="0"/>
              <a:t>[1] https://towardsdatascience.com/logistic-regression-as-a-nonlinear-classifier-bdc6746db734</a:t>
            </a:r>
          </a:p>
          <a:p>
            <a:r>
              <a:rPr lang="pt-BR" dirty="0"/>
              <a:t>[2] https://pt.wikipedia.org/wiki/Hip%C3%A9rbole</a:t>
            </a:r>
          </a:p>
          <a:p>
            <a:r>
              <a:rPr lang="pt-BR" dirty="0"/>
              <a:t>[3] https://pt.wikipedia.org/wiki/Hip%C3%A9rbole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05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670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261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794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913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“Stochastic”, in plain terms means “random”.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aleatoriedade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ajuda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pois as chances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épocas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muito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baixas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inexistentes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houvesse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aleatória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ocorrer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sequência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que é uma regra intuitiva?</a:t>
            </a:r>
            <a:br>
              <a:rPr lang="pt-BR" dirty="0"/>
            </a:br>
            <a:br>
              <a:rPr lang="pt-BR" dirty="0"/>
            </a:br>
            <a:r>
              <a:rPr lang="pt-BR" dirty="0"/>
              <a:t>Uma regra intuitiva é um princípio ou diretriz que é baseado na intuição, no bom senso ou na compreensão natural de um assunto. É uma abordagem que não se baseia necessariamente em análises ou cálculos rigorosos, mas sim em percepções e entendimentos informais. Regras intuitivas muitas vezes são usadas para tomar decisões rápidas ou para fazer inferências com base na experiência pessoal ou conhecimento prévio.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Essas regras são frequentemente desenvolvidas ao longo do tempo, à medida que as pessoas ganham experiência e se familiarizam com um determinado domínio. Elas podem ser úteis quando não há tempo ou recursos suficientes para uma análise detalhada ou quando a complexidade de um problema torna difícil a aplicação de métodos mais formais.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No entanto, é importante notar que as regras intuitivas nem sempre são precisas ou confiáveis, e podem ser influenciadas por vieses cognitivos e percepções subjetivas. Em algumas situações, as decisões baseadas em regras intuitivas podem ser inconsistentes ou levar a resultados </a:t>
            </a:r>
            <a:r>
              <a:rPr lang="pt-BR" dirty="0" err="1"/>
              <a:t>subótimos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Portanto, enquanto as regras intuitivas podem ser úteis como guias rápidos e práticos para a tomada de decisões, é importante equilibrá-las com abordagens mais analíticas e baseadas em evidências, especialmente em situações críticas ou complexas.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962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“Stochastic”, in plain terms means “random”.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aleatoriedade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ajuda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pois as chances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épocas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muito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baixas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inexistentes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houvesse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aleatória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ocorrer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sequência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 dirty="0"/>
          </a:p>
          <a:p>
            <a:endParaRPr lang="pt-BR" dirty="0"/>
          </a:p>
          <a:p>
            <a:r>
              <a:rPr lang="pt-BR" dirty="0"/>
              <a:t>O que é uma regra intuitiva?</a:t>
            </a:r>
            <a:br>
              <a:rPr lang="pt-BR" dirty="0"/>
            </a:br>
            <a:br>
              <a:rPr lang="pt-BR" dirty="0"/>
            </a:br>
            <a:r>
              <a:rPr lang="pt-BR" dirty="0"/>
              <a:t>Uma regra intuitiva é um princípio ou diretriz que é baseado na intuição, no bom senso ou na compreensão natural de um assunto. É uma abordagem que não se baseia necessariamente em análises ou cálculos rigorosos, mas sim em percepções e entendimentos informais. Regras intuitivas muitas vezes são usadas para tomar decisões rápidas ou para fazer inferências com base na experiência pessoal ou conhecimento prévio.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Essas regras são frequentemente desenvolvidas ao longo do tempo, à medida que as pessoas ganham experiência e se familiarizam com um determinado domínio. Elas podem ser úteis quando não há tempo ou recursos suficientes para uma análise detalhada ou quando a complexidade de um problema torna difícil a aplicação de métodos mais formais.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No entanto, é importante notar que as regras intuitivas nem sempre são precisas ou confiáveis, e podem ser influenciadas por vieses cognitivos e percepções subjetivas. Em algumas situações, as decisões baseadas em regras intuitivas podem ser inconsistentes ou levar a resultados </a:t>
            </a:r>
            <a:r>
              <a:rPr lang="pt-BR" dirty="0" err="1"/>
              <a:t>subótimos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Portanto, enquanto as regras intuitivas podem ser úteis como guias rápidos e práticos para a tomada de decisões, é importante equilibrá-las com abordagens mais analíticas e baseadas em evidências, especialmente em situações críticas ou complexas.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359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  -</a:t>
                </a:r>
              </a:p>
              <a:p>
                <a:r>
                  <a:rPr lang="pt-BR" dirty="0"/>
                  <a:t>- 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  -</a:t>
                </a:r>
              </a:p>
              <a:p>
                <a:r>
                  <a:rPr lang="pt-BR" dirty="0"/>
                  <a:t>- 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+</a:t>
                </a:r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  -</a:t>
                </a:r>
              </a:p>
              <a:p>
                <a:r>
                  <a:rPr lang="pt-BR" dirty="0"/>
                  <a:t>- 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  -</a:t>
                </a:r>
              </a:p>
              <a:p>
                <a:r>
                  <a:rPr lang="pt-BR" dirty="0"/>
                  <a:t>- 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+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446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-</a:t>
                </a:r>
              </a:p>
              <a:p>
                <a:r>
                  <a:rPr lang="pt-BR" dirty="0"/>
                  <a:t>- 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-</a:t>
                </a:r>
              </a:p>
              <a:p>
                <a:r>
                  <a:rPr lang="pt-BR" dirty="0"/>
                  <a:t>- 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+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-</a:t>
                </a:r>
              </a:p>
              <a:p>
                <a:r>
                  <a:rPr lang="pt-BR" dirty="0"/>
                  <a:t>- 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-</a:t>
                </a:r>
              </a:p>
              <a:p>
                <a:r>
                  <a:rPr lang="pt-BR" dirty="0"/>
                  <a:t>- 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+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965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sz="1200" dirty="0" err="1"/>
              <a:t>classificador_linear_com_limiar_rigido.ipynb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463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sz="1200" dirty="0" err="1"/>
              <a:t>classificador_linear_com_limiar_rigido.ipynb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791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485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DC55-BB4D-2F06-71BF-76ED1A14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3FDBDE3-54FF-D34A-6455-B4D01E3B3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59710A-028C-37C9-8B04-776EB9E8B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7E3764-6735-3BB1-4FF7-5946552F4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318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48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dirty="0" err="1"/>
              <a:t>classificação_rígida.ipynb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5634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#2</a:t>
            </a:r>
            <a:r>
              <a:rPr lang="pt-BR" sz="1200" dirty="0"/>
              <a:t>: https://mybinder.org/v2/gh/zz4fap/t320_aprendizado_de_maquina/main?filepath=labs%2FLaboratorio2.ipynb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6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hyperlink" Target="https://colab.research.google.com/github/zz4fap/t320_aprendizado_de_maquina/blob/main/notebooks/classifica&#231;&#227;o/classificador_linear_com_limiar_rigido.ipynb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16.emf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8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16.emf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3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16.emf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20_aprendizado_de_maquina/blob/main/labs/Laboratorio2.ipynb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zz4fap/t319_aprendizado_de_maquina/blob/main/docs/Resolu%C3%A7%C3%A3o%20e%20entrega%20dos%20laborat%C3%B3rios.pdf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40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T320 - Introdução ao Aprendizado de Máquina II:</a:t>
            </a:r>
            <a:br>
              <a:rPr lang="pt-BR" dirty="0"/>
            </a:br>
            <a:r>
              <a:rPr lang="pt-BR" b="1" i="1" dirty="0"/>
              <a:t>Classificação (Parte II)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2690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157642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vimos alguns exemplos de aplicação de algoritmos de </a:t>
            </a:r>
            <a:r>
              <a:rPr lang="pt-BR" b="1" i="1" dirty="0"/>
              <a:t>classificação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spam.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Análise de sentimentos.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Reconhecimento de objetos, faces, letras/dígitos.</a:t>
            </a:r>
          </a:p>
          <a:p>
            <a:r>
              <a:rPr lang="pt-BR" dirty="0"/>
              <a:t>Definimos o problema da classificação e discutimos que ele também é um problema de </a:t>
            </a:r>
            <a:r>
              <a:rPr lang="pt-BR" b="1" i="1" dirty="0"/>
              <a:t>aprendizado supervisionado</a:t>
            </a:r>
            <a:r>
              <a:rPr lang="pt-BR" dirty="0"/>
              <a:t>.</a:t>
            </a:r>
          </a:p>
          <a:p>
            <a:r>
              <a:rPr lang="pt-BR" dirty="0"/>
              <a:t>Aprendemos que as classes são separadas através de </a:t>
            </a:r>
            <a:r>
              <a:rPr lang="pt-BR" b="1" i="1" dirty="0"/>
              <a:t>funções discriminantes </a:t>
            </a:r>
            <a:r>
              <a:rPr lang="pt-BR" dirty="0"/>
              <a:t>e que o desafio é encontrar funções adequadas e seus respectivos pesos.</a:t>
            </a:r>
          </a:p>
          <a:p>
            <a:r>
              <a:rPr lang="pt-BR" dirty="0"/>
              <a:t>A partir desta aula, começaremos a discutir como encontrar os pesos.</a:t>
            </a:r>
          </a:p>
        </p:txBody>
      </p:sp>
    </p:spTree>
    <p:extLst>
      <p:ext uri="{BB962C8B-B14F-4D97-AF65-F5344CB8AC3E}">
        <p14:creationId xmlns:p14="http://schemas.microsoft.com/office/powerpoint/2010/main" val="19391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30"/>
            <a:ext cx="10515600" cy="1325563"/>
          </a:xfrm>
        </p:spPr>
        <p:txBody>
          <a:bodyPr/>
          <a:lstStyle/>
          <a:p>
            <a:r>
              <a:rPr lang="pt-BR" dirty="0"/>
              <a:t>Classificação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6276" y="1690688"/>
                <a:ext cx="6139646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Como vimos, o objetivo da </a:t>
                </a:r>
                <a:r>
                  <a:rPr lang="pt-BR" b="1" i="1" dirty="0"/>
                  <a:t>classificação</a:t>
                </a:r>
                <a:r>
                  <a:rPr lang="pt-BR" dirty="0"/>
                  <a:t> é usar vetores de atributos,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de, por exemplo, um e-mail ou uma imagem, para </a:t>
                </a:r>
                <a:r>
                  <a:rPr lang="pt-BR" b="1" i="1" dirty="0"/>
                  <a:t>identificar</a:t>
                </a:r>
                <a:r>
                  <a:rPr lang="pt-BR" dirty="0"/>
                  <a:t> a qual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classe</a:t>
                </a:r>
                <a:r>
                  <a:rPr lang="pt-BR" dirty="0"/>
                  <a:t> ele pertence.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6276" y="1690688"/>
                <a:ext cx="6139646" cy="5167311"/>
              </a:xfrm>
              <a:blipFill>
                <a:blip r:embed="rId3"/>
                <a:stretch>
                  <a:fillRect l="-1787" t="-1887" r="-2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ABE398D-1CE6-E437-DE7B-7C0199280699}"/>
              </a:ext>
            </a:extLst>
          </p:cNvPr>
          <p:cNvGrpSpPr/>
          <p:nvPr/>
        </p:nvGrpSpPr>
        <p:grpSpPr>
          <a:xfrm>
            <a:off x="514349" y="2605808"/>
            <a:ext cx="4090961" cy="3221628"/>
            <a:chOff x="1037630" y="2074238"/>
            <a:chExt cx="3409953" cy="2729667"/>
          </a:xfrm>
        </p:grpSpPr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CEB8A630-173E-340A-464A-959B78DC2FE4}"/>
                </a:ext>
              </a:extLst>
            </p:cNvPr>
            <p:cNvSpPr txBox="1"/>
            <p:nvPr/>
          </p:nvSpPr>
          <p:spPr>
            <a:xfrm>
              <a:off x="1389491" y="2074238"/>
              <a:ext cx="2081975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discriminante, </a:t>
              </a:r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</a:t>
              </a: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B3138423-D6F8-2D44-1667-917F11AD6E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0" t="9508" r="9327"/>
            <a:stretch/>
          </p:blipFill>
          <p:spPr>
            <a:xfrm>
              <a:off x="1037630" y="2449473"/>
              <a:ext cx="3409953" cy="2354432"/>
            </a:xfrm>
            <a:prstGeom prst="rect">
              <a:avLst/>
            </a:prstGeom>
          </p:spPr>
        </p:pic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FC08E9EE-1561-4BEF-2AEE-727B2D5F8E2F}"/>
                </a:ext>
              </a:extLst>
            </p:cNvPr>
            <p:cNvSpPr txBox="1"/>
            <p:nvPr/>
          </p:nvSpPr>
          <p:spPr>
            <a:xfrm>
              <a:off x="2327395" y="4065598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&gt; 0</a:t>
              </a:r>
            </a:p>
          </p:txBody>
        </p:sp>
        <p:cxnSp>
          <p:nvCxnSpPr>
            <p:cNvPr id="9" name="Curved Connector 9">
              <a:extLst>
                <a:ext uri="{FF2B5EF4-FFF2-40B4-BE49-F238E27FC236}">
                  <a16:creationId xmlns:a16="http://schemas.microsoft.com/office/drawing/2014/main" id="{14E20E58-751B-FACF-872B-3CECD3A49E40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rot="5400000" flipH="1" flipV="1">
              <a:off x="2508687" y="2350368"/>
              <a:ext cx="1095482" cy="830076"/>
            </a:xfrm>
            <a:prstGeom prst="curvedConnector4">
              <a:avLst>
                <a:gd name="adj1" fmla="val 43454"/>
                <a:gd name="adj2" fmla="val 12295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2AF0D625-C807-BD82-FA55-87271C135B34}"/>
                </a:ext>
              </a:extLst>
            </p:cNvPr>
            <p:cNvSpPr txBox="1"/>
            <p:nvPr/>
          </p:nvSpPr>
          <p:spPr>
            <a:xfrm>
              <a:off x="1920045" y="2555733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&lt; 0</a:t>
              </a:r>
            </a:p>
          </p:txBody>
        </p:sp>
      </p:grpSp>
      <p:pic>
        <p:nvPicPr>
          <p:cNvPr id="1026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9B362008-3E26-A52F-A9E6-62106E0CB4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18116" r="68533" b="55072"/>
          <a:stretch/>
        </p:blipFill>
        <p:spPr bwMode="auto">
          <a:xfrm>
            <a:off x="664287" y="5827435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3CEAD89-1DD5-95EC-5172-BB2EC94F5092}"/>
              </a:ext>
            </a:extLst>
          </p:cNvPr>
          <p:cNvCxnSpPr>
            <a:cxnSpLocks/>
          </p:cNvCxnSpPr>
          <p:nvPr/>
        </p:nvCxnSpPr>
        <p:spPr>
          <a:xfrm flipH="1">
            <a:off x="664287" y="5276850"/>
            <a:ext cx="831138" cy="55058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AAE2E5B-3772-7BF4-7C5B-C632C605DD48}"/>
              </a:ext>
            </a:extLst>
          </p:cNvPr>
          <p:cNvCxnSpPr>
            <a:cxnSpLocks/>
          </p:cNvCxnSpPr>
          <p:nvPr/>
        </p:nvCxnSpPr>
        <p:spPr>
          <a:xfrm flipH="1">
            <a:off x="1370539" y="5294619"/>
            <a:ext cx="163713" cy="122029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EE1E65C9-48DF-4E81-A7B5-1AD012861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56298" r="68533" b="16890"/>
          <a:stretch/>
        </p:blipFill>
        <p:spPr bwMode="auto">
          <a:xfrm>
            <a:off x="4519016" y="2141426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44E5B43-B454-78DC-3F77-FE69A5DF57CC}"/>
              </a:ext>
            </a:extLst>
          </p:cNvPr>
          <p:cNvCxnSpPr>
            <a:cxnSpLocks/>
          </p:cNvCxnSpPr>
          <p:nvPr/>
        </p:nvCxnSpPr>
        <p:spPr>
          <a:xfrm flipH="1">
            <a:off x="3753224" y="2828906"/>
            <a:ext cx="1437260" cy="56572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222145A-3D1B-B666-1B27-DB501E6102EC}"/>
              </a:ext>
            </a:extLst>
          </p:cNvPr>
          <p:cNvCxnSpPr>
            <a:cxnSpLocks/>
          </p:cNvCxnSpPr>
          <p:nvPr/>
        </p:nvCxnSpPr>
        <p:spPr>
          <a:xfrm flipH="1">
            <a:off x="3698268" y="2141426"/>
            <a:ext cx="820748" cy="119355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45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1C98-8A98-F4B7-D0FE-6D09DF45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C18B-DB4B-683D-35E3-A3137E24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430"/>
            <a:ext cx="10515600" cy="1325563"/>
          </a:xfrm>
        </p:spPr>
        <p:txBody>
          <a:bodyPr/>
          <a:lstStyle/>
          <a:p>
            <a:r>
              <a:rPr lang="pt-BR" dirty="0"/>
              <a:t>Classificação linear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B963-F484-A805-162E-E3EDA9E8C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954" y="1690688"/>
            <a:ext cx="6431968" cy="5167311"/>
          </a:xfrm>
        </p:spPr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b="1" i="1" dirty="0"/>
              <a:t>classificador linear </a:t>
            </a:r>
            <a:r>
              <a:rPr lang="pt-BR" dirty="0"/>
              <a:t>atinge esse objetivo </a:t>
            </a:r>
            <a:r>
              <a:rPr lang="pt-BR" b="1" i="1" dirty="0">
                <a:solidFill>
                  <a:srgbClr val="00B050"/>
                </a:solidFill>
              </a:rPr>
              <a:t>tomando uma decisão</a:t>
            </a:r>
            <a:r>
              <a:rPr lang="pt-BR" dirty="0"/>
              <a:t> (e.g., os </a:t>
            </a:r>
            <a:r>
              <a:rPr lang="pt-BR" b="1" i="1" dirty="0" err="1"/>
              <a:t>if</a:t>
            </a:r>
            <a:r>
              <a:rPr lang="pt-BR" dirty="0" err="1"/>
              <a:t>s</a:t>
            </a:r>
            <a:r>
              <a:rPr lang="pt-BR" dirty="0"/>
              <a:t> e </a:t>
            </a:r>
            <a:r>
              <a:rPr lang="pt-BR" b="1" i="1" dirty="0" err="1"/>
              <a:t>else</a:t>
            </a:r>
            <a:r>
              <a:rPr lang="pt-BR" dirty="0" err="1"/>
              <a:t>s</a:t>
            </a:r>
            <a:r>
              <a:rPr lang="pt-BR" dirty="0"/>
              <a:t>)</a:t>
            </a:r>
            <a:r>
              <a:rPr lang="pt-BR" b="1" i="1" dirty="0">
                <a:solidFill>
                  <a:srgbClr val="00B050"/>
                </a:solidFill>
              </a:rPr>
              <a:t> </a:t>
            </a:r>
            <a:r>
              <a:rPr lang="pt-BR" b="1" i="1" dirty="0">
                <a:solidFill>
                  <a:schemeClr val="accent2"/>
                </a:solidFill>
              </a:rPr>
              <a:t>com base </a:t>
            </a:r>
            <a:r>
              <a:rPr lang="pt-BR" dirty="0"/>
              <a:t>no valor de </a:t>
            </a:r>
            <a:r>
              <a:rPr lang="pt-BR" b="1" i="1" dirty="0">
                <a:solidFill>
                  <a:srgbClr val="00B050"/>
                </a:solidFill>
              </a:rPr>
              <a:t>combinações lineares dos atributos em relação a alguns pesos</a:t>
            </a:r>
            <a:r>
              <a:rPr lang="pt-BR" dirty="0"/>
              <a:t>, i.e., na saída de uma ou mais </a:t>
            </a:r>
            <a:r>
              <a:rPr lang="pt-BR" b="1" i="1" dirty="0"/>
              <a:t>funções discriminantes</a:t>
            </a:r>
            <a:r>
              <a:rPr lang="pt-BR" dirty="0"/>
              <a:t> </a:t>
            </a:r>
            <a:r>
              <a:rPr lang="pt-BR" b="1" i="1" dirty="0"/>
              <a:t>lineares</a:t>
            </a:r>
            <a:r>
              <a:rPr lang="pt-BR" dirty="0"/>
              <a:t>.</a:t>
            </a:r>
          </a:p>
          <a:p>
            <a:r>
              <a:rPr lang="pt-BR" dirty="0"/>
              <a:t>Ou seja, com base nos valores das funções discriminantes, o classificador deve retornar um </a:t>
            </a:r>
            <a:r>
              <a:rPr lang="pt-BR" b="1" i="1" dirty="0">
                <a:solidFill>
                  <a:srgbClr val="7030A0"/>
                </a:solidFill>
              </a:rPr>
              <a:t>valor de um conjunto finito e discreto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7F372BF-DDCC-563F-0D72-6A36E06D5FF0}"/>
              </a:ext>
            </a:extLst>
          </p:cNvPr>
          <p:cNvGrpSpPr/>
          <p:nvPr/>
        </p:nvGrpSpPr>
        <p:grpSpPr>
          <a:xfrm>
            <a:off x="514349" y="2605808"/>
            <a:ext cx="4090961" cy="3221628"/>
            <a:chOff x="1037630" y="2074238"/>
            <a:chExt cx="3409953" cy="2729667"/>
          </a:xfrm>
        </p:grpSpPr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D6D2D5A6-AF38-0729-DE06-6AA97FF2BA2C}"/>
                </a:ext>
              </a:extLst>
            </p:cNvPr>
            <p:cNvSpPr txBox="1"/>
            <p:nvPr/>
          </p:nvSpPr>
          <p:spPr>
            <a:xfrm>
              <a:off x="1389491" y="2074238"/>
              <a:ext cx="2081975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discriminante, </a:t>
              </a:r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</a:t>
              </a: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45A90EAC-56A7-ECC9-E6B6-5166D9BE68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0" t="9508" r="9327"/>
            <a:stretch/>
          </p:blipFill>
          <p:spPr>
            <a:xfrm>
              <a:off x="1037630" y="2449473"/>
              <a:ext cx="3409953" cy="2354432"/>
            </a:xfrm>
            <a:prstGeom prst="rect">
              <a:avLst/>
            </a:prstGeom>
          </p:spPr>
        </p:pic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5713A95A-BD88-2EE5-8491-11526A1F5F50}"/>
                </a:ext>
              </a:extLst>
            </p:cNvPr>
            <p:cNvSpPr txBox="1"/>
            <p:nvPr/>
          </p:nvSpPr>
          <p:spPr>
            <a:xfrm>
              <a:off x="2327395" y="4065598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&gt; 0</a:t>
              </a:r>
            </a:p>
          </p:txBody>
        </p:sp>
        <p:cxnSp>
          <p:nvCxnSpPr>
            <p:cNvPr id="9" name="Curved Connector 9">
              <a:extLst>
                <a:ext uri="{FF2B5EF4-FFF2-40B4-BE49-F238E27FC236}">
                  <a16:creationId xmlns:a16="http://schemas.microsoft.com/office/drawing/2014/main" id="{D3B1E2CB-A4BB-3563-8ABA-2FC5209D623B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rot="5400000" flipH="1" flipV="1">
              <a:off x="2508687" y="2350368"/>
              <a:ext cx="1095482" cy="830076"/>
            </a:xfrm>
            <a:prstGeom prst="curvedConnector4">
              <a:avLst>
                <a:gd name="adj1" fmla="val 43454"/>
                <a:gd name="adj2" fmla="val 12295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D7830627-597E-9F65-65EB-CE0675DF9401}"/>
                </a:ext>
              </a:extLst>
            </p:cNvPr>
            <p:cNvSpPr txBox="1"/>
            <p:nvPr/>
          </p:nvSpPr>
          <p:spPr>
            <a:xfrm>
              <a:off x="1920045" y="2555733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&lt; 0</a:t>
              </a:r>
            </a:p>
          </p:txBody>
        </p:sp>
      </p:grpSp>
      <p:pic>
        <p:nvPicPr>
          <p:cNvPr id="1026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3D564485-09EB-08A6-09A9-3E5F20A1F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18116" r="68533" b="55072"/>
          <a:stretch/>
        </p:blipFill>
        <p:spPr bwMode="auto">
          <a:xfrm>
            <a:off x="664287" y="5827435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BFA487F-5DEB-1AD7-2554-95439D1FAF48}"/>
              </a:ext>
            </a:extLst>
          </p:cNvPr>
          <p:cNvCxnSpPr>
            <a:cxnSpLocks/>
          </p:cNvCxnSpPr>
          <p:nvPr/>
        </p:nvCxnSpPr>
        <p:spPr>
          <a:xfrm flipH="1">
            <a:off x="664287" y="5276850"/>
            <a:ext cx="831138" cy="55058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4C628A7-CA46-370C-86DD-E769AA57E450}"/>
              </a:ext>
            </a:extLst>
          </p:cNvPr>
          <p:cNvCxnSpPr>
            <a:cxnSpLocks/>
          </p:cNvCxnSpPr>
          <p:nvPr/>
        </p:nvCxnSpPr>
        <p:spPr>
          <a:xfrm flipH="1">
            <a:off x="1370539" y="5294619"/>
            <a:ext cx="163713" cy="122029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5548ECC2-0CFB-90BB-16DC-1F946DF9C3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56298" r="68533" b="16890"/>
          <a:stretch/>
        </p:blipFill>
        <p:spPr bwMode="auto">
          <a:xfrm>
            <a:off x="4519016" y="2141426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AF2B59B-C7EC-A154-2809-8FDA40F7DC78}"/>
              </a:ext>
            </a:extLst>
          </p:cNvPr>
          <p:cNvCxnSpPr>
            <a:cxnSpLocks/>
          </p:cNvCxnSpPr>
          <p:nvPr/>
        </p:nvCxnSpPr>
        <p:spPr>
          <a:xfrm flipH="1">
            <a:off x="3753224" y="2828906"/>
            <a:ext cx="1437260" cy="56572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78AF8E32-7D1F-5683-3FD4-A2594DB89BD7}"/>
              </a:ext>
            </a:extLst>
          </p:cNvPr>
          <p:cNvCxnSpPr>
            <a:cxnSpLocks/>
          </p:cNvCxnSpPr>
          <p:nvPr/>
        </p:nvCxnSpPr>
        <p:spPr>
          <a:xfrm flipH="1">
            <a:off x="3698268" y="2141426"/>
            <a:ext cx="820748" cy="119355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32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30"/>
            <a:ext cx="10515600" cy="1325563"/>
          </a:xfrm>
        </p:spPr>
        <p:txBody>
          <a:bodyPr/>
          <a:lstStyle/>
          <a:p>
            <a:r>
              <a:rPr lang="pt-BR" dirty="0"/>
              <a:t>Classificação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227904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Portanto, a saída de um </a:t>
                </a:r>
                <a:r>
                  <a:rPr lang="pt-BR" b="1" i="1" dirty="0"/>
                  <a:t>classificador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linear</a:t>
                </a:r>
                <a:r>
                  <a:rPr lang="pt-BR" b="1" i="1" dirty="0"/>
                  <a:t> </a:t>
                </a:r>
                <a:r>
                  <a:rPr lang="pt-BR" dirty="0"/>
                  <a:t>é dada pela função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chamada de </a:t>
                </a:r>
                <a:r>
                  <a:rPr lang="pt-BR" b="1" i="1" dirty="0"/>
                  <a:t>função hipótese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de classificação</a:t>
                </a:r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</a:t>
                </a:r>
              </a:p>
              <a:p>
                <a:pPr marL="0" indent="0">
                  <a:buNone/>
                </a:pPr>
                <a:r>
                  <a:rPr lang="pt-BR" dirty="0"/>
                  <a:t>onde,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pt-BR" dirty="0"/>
                  <a:t>é o vetor de atributos com o primeiro elemento sendo o atributo de </a:t>
                </a:r>
                <a:r>
                  <a:rPr lang="pt-BR" i="1" dirty="0"/>
                  <a:t>bias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, 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dirty="0"/>
                  <a:t> é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limiar de decisão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>
                    <a:solidFill>
                      <a:srgbClr val="00B050"/>
                    </a:solidFill>
                  </a:rPr>
                  <a:t>Função de limiar de decisão </a:t>
                </a:r>
                <a:r>
                  <a:rPr lang="pt-BR" dirty="0"/>
                  <a:t>é uma função que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mapeia</a:t>
                </a:r>
                <a:r>
                  <a:rPr lang="pt-BR" dirty="0"/>
                  <a:t> a saída da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 </a:t>
                </a:r>
                <a:r>
                  <a:rPr lang="pt-BR" b="1" i="1" dirty="0"/>
                  <a:t>linear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em uma das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possíveis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Ela é apenas uma </a:t>
                </a:r>
                <a:r>
                  <a:rPr lang="pt-BR" b="1" i="1" dirty="0"/>
                  <a:t>formalização matemática </a:t>
                </a:r>
                <a:r>
                  <a:rPr lang="pt-BR" dirty="0"/>
                  <a:t>para os </a:t>
                </a:r>
                <a:r>
                  <a:rPr lang="pt-BR" b="1" i="1" dirty="0" err="1"/>
                  <a:t>if</a:t>
                </a:r>
                <a:r>
                  <a:rPr lang="pt-BR" dirty="0" err="1"/>
                  <a:t>s</a:t>
                </a:r>
                <a:r>
                  <a:rPr lang="pt-BR" dirty="0"/>
                  <a:t> e </a:t>
                </a:r>
                <a:r>
                  <a:rPr lang="pt-BR" b="1" i="1" dirty="0" err="1"/>
                  <a:t>else</a:t>
                </a:r>
                <a:r>
                  <a:rPr lang="pt-BR" dirty="0" err="1"/>
                  <a:t>s</a:t>
                </a:r>
                <a:r>
                  <a:rPr lang="pt-BR" dirty="0"/>
                  <a:t> que usamos no exemplo para decidir as classes dos atributos.</a:t>
                </a:r>
              </a:p>
              <a:p>
                <a:r>
                  <a:rPr lang="pt-BR" dirty="0"/>
                  <a:t>OBS.: Na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teoria original </a:t>
                </a:r>
                <a:r>
                  <a:rPr lang="pt-BR" dirty="0"/>
                  <a:t>da classificação linear, as </a:t>
                </a:r>
                <a:r>
                  <a:rPr lang="pt-BR" b="1" i="1" dirty="0"/>
                  <a:t>funções discriminantes </a:t>
                </a:r>
                <a:r>
                  <a:rPr lang="pt-BR" dirty="0"/>
                  <a:t>seguiam equações de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hiperplanos</a:t>
                </a:r>
                <a:r>
                  <a:rPr lang="pt-BR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227904" cy="5167311"/>
              </a:xfrm>
              <a:blipFill>
                <a:blip r:embed="rId3"/>
                <a:stretch>
                  <a:fillRect l="-1141" t="-1887" r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/>
          <p:cNvSpPr/>
          <p:nvPr/>
        </p:nvSpPr>
        <p:spPr>
          <a:xfrm>
            <a:off x="10044078" y="2187644"/>
            <a:ext cx="68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produto escalar</a:t>
            </a:r>
          </a:p>
        </p:txBody>
      </p:sp>
      <p:cxnSp>
        <p:nvCxnSpPr>
          <p:cNvPr id="6" name="Conector de seta reta 5"/>
          <p:cNvCxnSpPr>
            <a:cxnSpLocks/>
          </p:cNvCxnSpPr>
          <p:nvPr/>
        </p:nvCxnSpPr>
        <p:spPr>
          <a:xfrm flipV="1">
            <a:off x="9749829" y="2418477"/>
            <a:ext cx="294249" cy="2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60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5941"/>
            <a:ext cx="10515600" cy="1325563"/>
          </a:xfrm>
        </p:spPr>
        <p:txBody>
          <a:bodyPr/>
          <a:lstStyle/>
          <a:p>
            <a:r>
              <a:rPr lang="pt-BR" dirty="0"/>
              <a:t>Classes linearmente separáveis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14230" y="1690688"/>
                <a:ext cx="6837312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Dado um </a:t>
                </a:r>
                <a:r>
                  <a:rPr lang="pt-BR" b="1" i="1" dirty="0"/>
                  <a:t>conjunto de treinamento</a:t>
                </a:r>
                <a:r>
                  <a:rPr lang="pt-BR" dirty="0"/>
                  <a:t>, a tarefa do </a:t>
                </a:r>
                <a:r>
                  <a:rPr lang="pt-BR" b="1" i="1" dirty="0"/>
                  <a:t>classificador</a:t>
                </a:r>
                <a:r>
                  <a:rPr lang="pt-BR" dirty="0"/>
                  <a:t> é a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aprender</a:t>
                </a:r>
                <a:r>
                  <a:rPr lang="pt-BR" b="1" i="1" dirty="0"/>
                  <a:t> </a:t>
                </a:r>
                <a:r>
                  <a:rPr lang="pt-BR" dirty="0"/>
                  <a:t>uma </a:t>
                </a:r>
                <a:r>
                  <a:rPr lang="pt-BR" b="1" i="1" dirty="0"/>
                  <a:t>função</a:t>
                </a:r>
                <a:r>
                  <a:rPr lang="pt-BR" dirty="0"/>
                  <a:t> </a:t>
                </a:r>
                <a:r>
                  <a:rPr lang="pt-BR" b="1" i="1" dirty="0"/>
                  <a:t>hipótese de classificação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que receba um exemplo de entrada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) e retorne a classe do exemplo.</a:t>
                </a:r>
              </a:p>
              <a:p>
                <a:r>
                  <a:rPr lang="pt-BR" dirty="0"/>
                  <a:t>Para que um </a:t>
                </a:r>
                <a:r>
                  <a:rPr lang="pt-BR" b="1" i="1" dirty="0"/>
                  <a:t>classificador linear </a:t>
                </a:r>
                <a:r>
                  <a:rPr lang="pt-BR" dirty="0"/>
                  <a:t>aprenda uma boa separação, as classes devem ser </a:t>
                </a:r>
                <a:r>
                  <a:rPr lang="pt-BR" b="1" i="1" dirty="0"/>
                  <a:t>linearmente separáveis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Isso significa que as classes devem ser </a:t>
                </a:r>
                <a:r>
                  <a:rPr lang="pt-BR" b="1" i="1" dirty="0"/>
                  <a:t>suficientemente separadas </a:t>
                </a:r>
                <a:r>
                  <a:rPr lang="pt-BR" dirty="0"/>
                  <a:t>umas das outras para garantir que a </a:t>
                </a:r>
                <a:r>
                  <a:rPr lang="pt-BR" b="1" i="1" dirty="0"/>
                  <a:t>superfície de decisão </a:t>
                </a:r>
                <a:r>
                  <a:rPr lang="pt-BR" dirty="0"/>
                  <a:t>seja um </a:t>
                </a:r>
                <a:r>
                  <a:rPr lang="pt-BR" b="1" i="1" dirty="0"/>
                  <a:t>hiperplano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4230" y="1690688"/>
                <a:ext cx="6837312" cy="5167311"/>
              </a:xfrm>
              <a:blipFill>
                <a:blip r:embed="rId3"/>
                <a:stretch>
                  <a:fillRect l="-1604" t="-1887" r="-25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32838" y="1895438"/>
            <a:ext cx="11489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Frontreira de decisão, onde </a:t>
            </a:r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= 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4" r="9343"/>
          <a:stretch/>
        </p:blipFill>
        <p:spPr>
          <a:xfrm>
            <a:off x="1082357" y="4286771"/>
            <a:ext cx="3409953" cy="22326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" t="9508" r="9327"/>
          <a:stretch/>
        </p:blipFill>
        <p:spPr>
          <a:xfrm>
            <a:off x="1105657" y="1429119"/>
            <a:ext cx="3409953" cy="2354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20116" y="3172220"/>
            <a:ext cx="1250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&gt; 0</a:t>
            </a:r>
          </a:p>
        </p:txBody>
      </p:sp>
      <p:cxnSp>
        <p:nvCxnSpPr>
          <p:cNvPr id="10" name="Curved Connector 9"/>
          <p:cNvCxnSpPr>
            <a:cxnSpLocks/>
            <a:stCxn id="13" idx="1"/>
          </p:cNvCxnSpPr>
          <p:nvPr/>
        </p:nvCxnSpPr>
        <p:spPr>
          <a:xfrm rot="10800000" flipV="1">
            <a:off x="1105666" y="1666184"/>
            <a:ext cx="944115" cy="5293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49780" y="1535379"/>
            <a:ext cx="1188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&lt;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8599" y="3779616"/>
            <a:ext cx="3040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linearmente separáveis.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2202" y="6523791"/>
            <a:ext cx="32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não-linearmente separáveis.</a:t>
            </a:r>
          </a:p>
        </p:txBody>
      </p:sp>
    </p:spTree>
    <p:extLst>
      <p:ext uri="{BB962C8B-B14F-4D97-AF65-F5344CB8AC3E}">
        <p14:creationId xmlns:p14="http://schemas.microsoft.com/office/powerpoint/2010/main" val="17310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5941"/>
            <a:ext cx="10515600" cy="1325563"/>
          </a:xfrm>
        </p:spPr>
        <p:txBody>
          <a:bodyPr/>
          <a:lstStyle/>
          <a:p>
            <a:r>
              <a:rPr lang="pt-BR" dirty="0"/>
              <a:t>Classes linearmente separáveis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89452" y="1535380"/>
                <a:ext cx="6769710" cy="532262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Classes que podem ser separadas por um </a:t>
                </a:r>
                <a:r>
                  <a:rPr lang="pt-BR" b="1" i="1" dirty="0"/>
                  <a:t>hiperplano</a:t>
                </a:r>
                <a:r>
                  <a:rPr lang="pt-BR" dirty="0"/>
                  <a:t> são chamadas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linearmente separáveis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Na primeira figura, a </a:t>
                </a:r>
                <a:r>
                  <a:rPr lang="pt-BR" b="1" i="1" dirty="0"/>
                  <a:t>fronteira de decisão</a:t>
                </a:r>
                <a:r>
                  <a:rPr lang="pt-BR" dirty="0"/>
                  <a:t> é definida por um </a:t>
                </a:r>
                <a:r>
                  <a:rPr lang="pt-BR" b="1" i="1" dirty="0"/>
                  <a:t>hiperplano</a:t>
                </a:r>
                <a:r>
                  <a:rPr lang="pt-BR" dirty="0"/>
                  <a:t>, i.e., uma reta.</a:t>
                </a:r>
              </a:p>
              <a:p>
                <a:r>
                  <a:rPr lang="pt-BR" dirty="0"/>
                  <a:t>Na segunda figura, devido à disposição das classes, não existe um </a:t>
                </a:r>
                <a:r>
                  <a:rPr lang="pt-BR" b="1" i="1" dirty="0"/>
                  <a:t>hiperplano</a:t>
                </a:r>
                <a:r>
                  <a:rPr lang="pt-BR" dirty="0"/>
                  <a:t> que as separe.</a:t>
                </a:r>
              </a:p>
              <a:p>
                <a:r>
                  <a:rPr lang="pt-BR" b="1" i="1" dirty="0">
                    <a:solidFill>
                      <a:schemeClr val="accent5"/>
                    </a:solidFill>
                  </a:rPr>
                  <a:t>Originalmente</a:t>
                </a:r>
                <a:r>
                  <a:rPr lang="pt-BR" dirty="0"/>
                  <a:t>, </a:t>
                </a:r>
                <a:r>
                  <a:rPr lang="pt-BR" b="1" i="1" dirty="0"/>
                  <a:t>classificação linear </a:t>
                </a:r>
                <a:r>
                  <a:rPr lang="pt-BR" dirty="0"/>
                  <a:t>é usada quando as classes podem ser separadas por </a:t>
                </a:r>
                <a:r>
                  <a:rPr lang="pt-BR" b="1" i="1" dirty="0"/>
                  <a:t>hiperplanos</a:t>
                </a:r>
                <a:r>
                  <a:rPr lang="pt-BR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9452" y="1535380"/>
                <a:ext cx="6769710" cy="5322620"/>
              </a:xfrm>
              <a:blipFill rotWithShape="0">
                <a:blip r:embed="rId3"/>
                <a:stretch>
                  <a:fillRect l="-1622" t="-1947" r="-24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0">
            <a:extLst>
              <a:ext uri="{FF2B5EF4-FFF2-40B4-BE49-F238E27FC236}">
                <a16:creationId xmlns:a16="http://schemas.microsoft.com/office/drawing/2014/main" id="{5C4B4108-2520-8F32-7ED8-A8D5762225C0}"/>
              </a:ext>
            </a:extLst>
          </p:cNvPr>
          <p:cNvSpPr txBox="1"/>
          <p:nvPr/>
        </p:nvSpPr>
        <p:spPr>
          <a:xfrm>
            <a:off x="132838" y="1895438"/>
            <a:ext cx="11489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Frontreira de decisão, onde </a:t>
            </a:r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= 0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18E14292-14A7-4B06-6830-9F831DD8A7A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4" r="9343"/>
          <a:stretch/>
        </p:blipFill>
        <p:spPr>
          <a:xfrm>
            <a:off x="1082357" y="4286771"/>
            <a:ext cx="3409953" cy="2232674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220E4A5A-F6C0-4DF4-14A9-6517D7BAD8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" t="9508" r="9327"/>
          <a:stretch/>
        </p:blipFill>
        <p:spPr>
          <a:xfrm>
            <a:off x="1105657" y="1429119"/>
            <a:ext cx="3409953" cy="2354432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8ED363EC-FFE4-8465-8950-8EFDBEE4AA97}"/>
              </a:ext>
            </a:extLst>
          </p:cNvPr>
          <p:cNvSpPr txBox="1"/>
          <p:nvPr/>
        </p:nvSpPr>
        <p:spPr>
          <a:xfrm>
            <a:off x="2320116" y="3172220"/>
            <a:ext cx="1250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&gt; 0</a:t>
            </a:r>
          </a:p>
        </p:txBody>
      </p:sp>
      <p:cxnSp>
        <p:nvCxnSpPr>
          <p:cNvPr id="14" name="Curved Connector 9">
            <a:extLst>
              <a:ext uri="{FF2B5EF4-FFF2-40B4-BE49-F238E27FC236}">
                <a16:creationId xmlns:a16="http://schemas.microsoft.com/office/drawing/2014/main" id="{B8E4CCE2-8CD3-2DDD-9F9A-1C6C12E23FA9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1105666" y="1666184"/>
            <a:ext cx="944115" cy="5293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2">
            <a:extLst>
              <a:ext uri="{FF2B5EF4-FFF2-40B4-BE49-F238E27FC236}">
                <a16:creationId xmlns:a16="http://schemas.microsoft.com/office/drawing/2014/main" id="{E58245ED-FDF9-96AD-E6EC-2F7C94A0B7E2}"/>
              </a:ext>
            </a:extLst>
          </p:cNvPr>
          <p:cNvSpPr txBox="1"/>
          <p:nvPr/>
        </p:nvSpPr>
        <p:spPr>
          <a:xfrm>
            <a:off x="2049780" y="1535379"/>
            <a:ext cx="1188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&lt; 0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EF4FE9E1-2223-5403-959C-BACE49B9C0BB}"/>
              </a:ext>
            </a:extLst>
          </p:cNvPr>
          <p:cNvSpPr txBox="1"/>
          <p:nvPr/>
        </p:nvSpPr>
        <p:spPr>
          <a:xfrm>
            <a:off x="1498599" y="3779616"/>
            <a:ext cx="3040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linearmente separáveis.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2D1AB59A-3453-53BF-02B0-2EA6510D278E}"/>
              </a:ext>
            </a:extLst>
          </p:cNvPr>
          <p:cNvSpPr txBox="1"/>
          <p:nvPr/>
        </p:nvSpPr>
        <p:spPr>
          <a:xfrm>
            <a:off x="1412202" y="6523791"/>
            <a:ext cx="32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não-linearmente separáveis.</a:t>
            </a:r>
          </a:p>
        </p:txBody>
      </p:sp>
    </p:spTree>
    <p:extLst>
      <p:ext uri="{BB962C8B-B14F-4D97-AF65-F5344CB8AC3E}">
        <p14:creationId xmlns:p14="http://schemas.microsoft.com/office/powerpoint/2010/main" val="188162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5A63C-0894-86C7-670B-3F429FA2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não-linear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B023315-E7E6-47FE-1333-C9490AC27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9674" y="1825624"/>
                <a:ext cx="717232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tx1"/>
                    </a:solidFill>
                  </a:rPr>
                  <a:t>Mas e se não pudermos separar as classes com um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hiperplano</a:t>
                </a:r>
                <a:r>
                  <a:rPr lang="pt-BR" dirty="0">
                    <a:solidFill>
                      <a:schemeClr val="tx1"/>
                    </a:solidFill>
                  </a:rPr>
                  <a:t>, ou seja, se elas não forem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linearmente separáveis</a:t>
                </a:r>
                <a:r>
                  <a:rPr lang="pt-BR" dirty="0">
                    <a:solidFill>
                      <a:schemeClr val="tx1"/>
                    </a:solidFill>
                  </a:rPr>
                  <a:t>?</a:t>
                </a:r>
              </a:p>
              <a:p>
                <a:r>
                  <a:rPr lang="pt-BR" dirty="0">
                    <a:solidFill>
                      <a:schemeClr val="tx1"/>
                    </a:solidFill>
                  </a:rPr>
                  <a:t>Nestes casos, usamos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polinômios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pt-BR" dirty="0"/>
                  <a:t>Os polinômios podem fazer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mapeamentos não lineares dos atributos no valor de saída</a:t>
                </a:r>
                <a:r>
                  <a:rPr lang="pt-BR" dirty="0"/>
                  <a:t>:</a:t>
                </a:r>
                <a:endParaRPr lang="pt-BR" dirty="0">
                  <a:solidFill>
                    <a:schemeClr val="tx1"/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Círculo centrado 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e com raio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−1,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Elipse centrada 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, com largura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e altura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Hipérbole retangular com eixos paralelos às suas assíntotas.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B023315-E7E6-47FE-1333-C9490AC27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9674" y="1825624"/>
                <a:ext cx="7172325" cy="5032375"/>
              </a:xfrm>
              <a:blipFill>
                <a:blip r:embed="rId3"/>
                <a:stretch>
                  <a:fillRect l="-1529" t="-1937" r="-2804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2B9489A0-43C9-F481-C89D-B77D90514774}"/>
              </a:ext>
            </a:extLst>
          </p:cNvPr>
          <p:cNvGrpSpPr/>
          <p:nvPr/>
        </p:nvGrpSpPr>
        <p:grpSpPr>
          <a:xfrm>
            <a:off x="838200" y="4568453"/>
            <a:ext cx="3409953" cy="2232674"/>
            <a:chOff x="231733" y="2070345"/>
            <a:chExt cx="3409953" cy="2232674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4CD9C295-4EEF-10D5-87A5-FB08855390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64" r="9343"/>
            <a:stretch/>
          </p:blipFill>
          <p:spPr>
            <a:xfrm>
              <a:off x="231733" y="2070345"/>
              <a:ext cx="3409953" cy="2232674"/>
            </a:xfrm>
            <a:prstGeom prst="rect">
              <a:avLst/>
            </a:prstGeom>
          </p:spPr>
        </p:pic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F0E088D9-D778-25C4-93FD-A131A99C48A0}"/>
                </a:ext>
              </a:extLst>
            </p:cNvPr>
            <p:cNvSpPr/>
            <p:nvPr/>
          </p:nvSpPr>
          <p:spPr>
            <a:xfrm>
              <a:off x="711200" y="2108200"/>
              <a:ext cx="2673350" cy="1847850"/>
            </a:xfrm>
            <a:custGeom>
              <a:avLst/>
              <a:gdLst>
                <a:gd name="connsiteX0" fmla="*/ 0 w 2673350"/>
                <a:gd name="connsiteY0" fmla="*/ 1847850 h 1847850"/>
                <a:gd name="connsiteX1" fmla="*/ 1022350 w 2673350"/>
                <a:gd name="connsiteY1" fmla="*/ 406400 h 1847850"/>
                <a:gd name="connsiteX2" fmla="*/ 1835150 w 2673350"/>
                <a:gd name="connsiteY2" fmla="*/ 1416050 h 1847850"/>
                <a:gd name="connsiteX3" fmla="*/ 2673350 w 2673350"/>
                <a:gd name="connsiteY3" fmla="*/ 0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3350" h="1847850">
                  <a:moveTo>
                    <a:pt x="0" y="1847850"/>
                  </a:moveTo>
                  <a:cubicBezTo>
                    <a:pt x="358246" y="1163108"/>
                    <a:pt x="716492" y="478367"/>
                    <a:pt x="1022350" y="406400"/>
                  </a:cubicBezTo>
                  <a:cubicBezTo>
                    <a:pt x="1328208" y="334433"/>
                    <a:pt x="1559983" y="1483783"/>
                    <a:pt x="1835150" y="1416050"/>
                  </a:cubicBezTo>
                  <a:cubicBezTo>
                    <a:pt x="2110317" y="1348317"/>
                    <a:pt x="2391833" y="674158"/>
                    <a:pt x="2673350" y="0"/>
                  </a:cubicBezTo>
                </a:path>
              </a:pathLst>
            </a:custGeom>
            <a:noFill/>
            <a:ln w="28575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7" name="Imagem 16">
            <a:extLst>
              <a:ext uri="{FF2B5EF4-FFF2-40B4-BE49-F238E27FC236}">
                <a16:creationId xmlns:a16="http://schemas.microsoft.com/office/drawing/2014/main" id="{1FF852E1-FC27-87CE-4AD8-93FE770BB7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75" t="11979" r="9531"/>
          <a:stretch/>
        </p:blipFill>
        <p:spPr>
          <a:xfrm>
            <a:off x="901740" y="1859107"/>
            <a:ext cx="3346413" cy="2493579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54A56F1A-7CBB-5EB0-623A-D56498CD1D25}"/>
              </a:ext>
            </a:extLst>
          </p:cNvPr>
          <p:cNvSpPr/>
          <p:nvPr/>
        </p:nvSpPr>
        <p:spPr>
          <a:xfrm>
            <a:off x="1876424" y="2219325"/>
            <a:ext cx="1857375" cy="1438275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8C56CE2-655D-9F67-4479-7C25CEC7A4AD}"/>
              </a:ext>
            </a:extLst>
          </p:cNvPr>
          <p:cNvCxnSpPr>
            <a:stCxn id="18" idx="6"/>
          </p:cNvCxnSpPr>
          <p:nvPr/>
        </p:nvCxnSpPr>
        <p:spPr>
          <a:xfrm flipV="1">
            <a:off x="3733799" y="2289547"/>
            <a:ext cx="704851" cy="648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F86B7526-8F2E-C225-228E-F0475FB39495}"/>
                  </a:ext>
                </a:extLst>
              </p:cNvPr>
              <p:cNvSpPr txBox="1"/>
              <p:nvPr/>
            </p:nvSpPr>
            <p:spPr>
              <a:xfrm>
                <a:off x="3986216" y="1942578"/>
                <a:ext cx="11049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F86B7526-8F2E-C225-228E-F0475FB39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216" y="1942578"/>
                <a:ext cx="11049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CB16F12A-6F3B-151C-8C84-E16F35E2EF7D}"/>
              </a:ext>
            </a:extLst>
          </p:cNvPr>
          <p:cNvCxnSpPr>
            <a:cxnSpLocks/>
          </p:cNvCxnSpPr>
          <p:nvPr/>
        </p:nvCxnSpPr>
        <p:spPr>
          <a:xfrm flipV="1">
            <a:off x="3733799" y="4819549"/>
            <a:ext cx="642938" cy="461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55B1080-693D-2F06-7B95-7A479C457438}"/>
                  </a:ext>
                </a:extLst>
              </p:cNvPr>
              <p:cNvSpPr txBox="1"/>
              <p:nvPr/>
            </p:nvSpPr>
            <p:spPr>
              <a:xfrm>
                <a:off x="4105272" y="4521105"/>
                <a:ext cx="11049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55B1080-693D-2F06-7B95-7A479C45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72" y="4521105"/>
                <a:ext cx="110490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6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5190A2-11F0-5F95-E710-A670B186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5669"/>
            <a:ext cx="10515600" cy="1066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i="1" dirty="0"/>
              <a:t>Função de limiar de decisão</a:t>
            </a:r>
            <a:endParaRPr lang="en-US" sz="6000" i="1" dirty="0"/>
          </a:p>
        </p:txBody>
      </p:sp>
    </p:spTree>
    <p:extLst>
      <p:ext uri="{BB962C8B-B14F-4D97-AF65-F5344CB8AC3E}">
        <p14:creationId xmlns:p14="http://schemas.microsoft.com/office/powerpoint/2010/main" val="3975018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F02FD-3573-18C5-6B1F-6FB93C24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limiar de decisão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A5EA8E2-9C93-A464-A824-B648FE8EC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6349" y="1825624"/>
                <a:ext cx="789917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o exemplo ao lado, podemos definir a </a:t>
                </a:r>
                <a:r>
                  <a:rPr lang="pt-BR" b="1" i="1" dirty="0"/>
                  <a:t>função hipótese de classificação </a:t>
                </a:r>
                <a:r>
                  <a:rPr lang="pt-BR" dirty="0"/>
                  <a:t>como duas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condições</a:t>
                </a:r>
                <a:r>
                  <a:rPr lang="pt-BR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Classe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−)</m:t>
                              </m:r>
                            </m:e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pt-BR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pt-BR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Classe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b="1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Percebam que a saída da </a:t>
                </a:r>
                <a:r>
                  <a:rPr lang="pt-BR" b="1" i="1" dirty="0"/>
                  <a:t>função </a:t>
                </a:r>
                <a:r>
                  <a:rPr lang="pt-BR" dirty="0"/>
                  <a:t>é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binária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mapeamento entre o valor da função discriminante,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e a saída 0 ou 1 é feito através da </a:t>
                </a:r>
                <a:r>
                  <a:rPr lang="pt-BR" b="1" i="1" dirty="0"/>
                  <a:t>função de limiar de decisão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No caso acima ela é feita por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estrutura condicional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Como implementamos essas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condições</a:t>
                </a:r>
                <a:r>
                  <a:rPr lang="pt-BR" dirty="0"/>
                  <a:t> através de uma função matemática?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A5EA8E2-9C93-A464-A824-B648FE8EC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6349" y="1825624"/>
                <a:ext cx="7899170" cy="5032375"/>
              </a:xfrm>
              <a:blipFill>
                <a:blip r:embed="rId2"/>
                <a:stretch>
                  <a:fillRect l="-1390" t="-1937" r="-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1">
            <a:extLst>
              <a:ext uri="{FF2B5EF4-FFF2-40B4-BE49-F238E27FC236}">
                <a16:creationId xmlns:a16="http://schemas.microsoft.com/office/drawing/2014/main" id="{AE4F4277-6964-0C1E-0DD3-569D7AE44CFF}"/>
              </a:ext>
            </a:extLst>
          </p:cNvPr>
          <p:cNvGrpSpPr/>
          <p:nvPr/>
        </p:nvGrpSpPr>
        <p:grpSpPr>
          <a:xfrm>
            <a:off x="590550" y="2037741"/>
            <a:ext cx="3203632" cy="3353410"/>
            <a:chOff x="8763755" y="2154390"/>
            <a:chExt cx="3428245" cy="34878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E02729-99B0-0A9C-BFBC-8A2DA40E9922}"/>
                </a:ext>
              </a:extLst>
            </p:cNvPr>
            <p:cNvSpPr txBox="1"/>
            <p:nvPr/>
          </p:nvSpPr>
          <p:spPr>
            <a:xfrm>
              <a:off x="8835105" y="2154390"/>
              <a:ext cx="1665991" cy="448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Frontreira de decisão, onde </a:t>
              </a:r>
              <a:r>
                <a:rPr lang="pt-BR" sz="1100" i="1" dirty="0"/>
                <a:t>g</a:t>
              </a:r>
              <a:r>
                <a:rPr lang="pt-BR" sz="1100" dirty="0"/>
                <a:t>(</a:t>
              </a:r>
              <a:r>
                <a:rPr lang="pt-BR" sz="1100" b="1" i="1" dirty="0"/>
                <a:t>x</a:t>
              </a:r>
              <a:r>
                <a:rPr lang="pt-BR" sz="1100" dirty="0"/>
                <a:t>) = 0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7F032D-ACF4-5F87-06B9-C7A56B4B81C1}"/>
                </a:ext>
              </a:extLst>
            </p:cNvPr>
            <p:cNvGrpSpPr/>
            <p:nvPr/>
          </p:nvGrpSpPr>
          <p:grpSpPr>
            <a:xfrm>
              <a:off x="8763755" y="2675878"/>
              <a:ext cx="3428245" cy="2966329"/>
              <a:chOff x="8763755" y="2675878"/>
              <a:chExt cx="3428245" cy="2966329"/>
            </a:xfrm>
          </p:grpSpPr>
          <p:grpSp>
            <p:nvGrpSpPr>
              <p:cNvPr id="8" name="Group 6">
                <a:extLst>
                  <a:ext uri="{FF2B5EF4-FFF2-40B4-BE49-F238E27FC236}">
                    <a16:creationId xmlns:a16="http://schemas.microsoft.com/office/drawing/2014/main" id="{1C779583-0B37-EC5B-B6F1-0D8459340FB7}"/>
                  </a:ext>
                </a:extLst>
              </p:cNvPr>
              <p:cNvGrpSpPr/>
              <p:nvPr/>
            </p:nvGrpSpPr>
            <p:grpSpPr>
              <a:xfrm>
                <a:off x="8763755" y="2675878"/>
                <a:ext cx="3289300" cy="2966329"/>
                <a:chOff x="7391400" y="1415171"/>
                <a:chExt cx="3289300" cy="2966329"/>
              </a:xfrm>
            </p:grpSpPr>
            <p:pic>
              <p:nvPicPr>
                <p:cNvPr id="11" name="Picture 9">
                  <a:extLst>
                    <a:ext uri="{FF2B5EF4-FFF2-40B4-BE49-F238E27FC236}">
                      <a16:creationId xmlns:a16="http://schemas.microsoft.com/office/drawing/2014/main" id="{5EDAFFC9-D7AA-48D9-9403-C033C61678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4242" t="5371" r="8525" b="1204"/>
                <a:stretch/>
              </p:blipFill>
              <p:spPr>
                <a:xfrm>
                  <a:off x="7391400" y="1415171"/>
                  <a:ext cx="3289300" cy="2966329"/>
                </a:xfrm>
                <a:prstGeom prst="rect">
                  <a:avLst/>
                </a:prstGeom>
              </p:spPr>
            </p:pic>
            <p:cxnSp>
              <p:nvCxnSpPr>
                <p:cNvPr id="12" name="Straight Connector 10">
                  <a:extLst>
                    <a:ext uri="{FF2B5EF4-FFF2-40B4-BE49-F238E27FC236}">
                      <a16:creationId xmlns:a16="http://schemas.microsoft.com/office/drawing/2014/main" id="{69C23BC7-60E3-3B5A-BCC8-7053B9A6F855}"/>
                    </a:ext>
                  </a:extLst>
                </p:cNvPr>
                <p:cNvCxnSpPr/>
                <p:nvPr/>
              </p:nvCxnSpPr>
              <p:spPr>
                <a:xfrm flipV="1">
                  <a:off x="7986117" y="1483242"/>
                  <a:ext cx="1703388" cy="2582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2648BF23-0635-71F0-258F-B7728EA4A750}"/>
                  </a:ext>
                </a:extLst>
              </p:cNvPr>
              <p:cNvSpPr txBox="1"/>
              <p:nvPr/>
            </p:nvSpPr>
            <p:spPr>
              <a:xfrm>
                <a:off x="10679273" y="4392529"/>
                <a:ext cx="151272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i="1" dirty="0"/>
                  <a:t>g</a:t>
                </a:r>
                <a:r>
                  <a:rPr lang="pt-BR" sz="1100" dirty="0"/>
                  <a:t>(</a:t>
                </a:r>
                <a:r>
                  <a:rPr lang="pt-BR" sz="1100" b="1" i="1" dirty="0"/>
                  <a:t>x</a:t>
                </a:r>
                <a:r>
                  <a:rPr lang="pt-BR" sz="1100" dirty="0"/>
                  <a:t>) ≥ 0</a:t>
                </a: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D97F304C-2141-D333-74F5-8CCC51F5313F}"/>
                  </a:ext>
                </a:extLst>
              </p:cNvPr>
              <p:cNvSpPr txBox="1"/>
              <p:nvPr/>
            </p:nvSpPr>
            <p:spPr>
              <a:xfrm>
                <a:off x="8767760" y="3290116"/>
                <a:ext cx="151272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i="1" dirty="0"/>
                  <a:t>g</a:t>
                </a:r>
                <a:r>
                  <a:rPr lang="pt-BR" sz="1100" dirty="0"/>
                  <a:t>(</a:t>
                </a:r>
                <a:r>
                  <a:rPr lang="pt-BR" sz="1100" b="1" i="1" dirty="0"/>
                  <a:t>x</a:t>
                </a:r>
                <a:r>
                  <a:rPr lang="pt-BR" sz="1100" dirty="0"/>
                  <a:t>) &lt; 0</a:t>
                </a:r>
              </a:p>
            </p:txBody>
          </p:sp>
        </p:grpSp>
        <p:cxnSp>
          <p:nvCxnSpPr>
            <p:cNvPr id="7" name="Curved Connector 3">
              <a:extLst>
                <a:ext uri="{FF2B5EF4-FFF2-40B4-BE49-F238E27FC236}">
                  <a16:creationId xmlns:a16="http://schemas.microsoft.com/office/drawing/2014/main" id="{5C7C173C-95FF-CFC4-3A67-7626A47D5636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rot="16200000" flipV="1">
              <a:off x="10320967" y="2558599"/>
              <a:ext cx="701656" cy="341398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40DACEC-8E74-41F6-973B-1B4806F9D4C4}"/>
              </a:ext>
            </a:extLst>
          </p:cNvPr>
          <p:cNvSpPr txBox="1"/>
          <p:nvPr/>
        </p:nvSpPr>
        <p:spPr>
          <a:xfrm>
            <a:off x="11496394" y="2796455"/>
            <a:ext cx="619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i="1" dirty="0" err="1"/>
              <a:t>if</a:t>
            </a:r>
            <a:r>
              <a:rPr lang="pt-BR" sz="1600" dirty="0"/>
              <a:t> e </a:t>
            </a:r>
            <a:r>
              <a:rPr lang="pt-BR" sz="1600" b="1" i="1" dirty="0" err="1"/>
              <a:t>else</a:t>
            </a:r>
            <a:endParaRPr lang="pt-BR" sz="1600" b="1" i="1" dirty="0"/>
          </a:p>
        </p:txBody>
      </p:sp>
      <p:sp>
        <p:nvSpPr>
          <p:cNvPr id="14" name="Chave direita 13">
            <a:extLst>
              <a:ext uri="{FF2B5EF4-FFF2-40B4-BE49-F238E27FC236}">
                <a16:creationId xmlns:a16="http://schemas.microsoft.com/office/drawing/2014/main" id="{6285E6BF-6187-7ADC-6E46-0184AE45718E}"/>
              </a:ext>
            </a:extLst>
          </p:cNvPr>
          <p:cNvSpPr/>
          <p:nvPr/>
        </p:nvSpPr>
        <p:spPr>
          <a:xfrm>
            <a:off x="11353800" y="2664981"/>
            <a:ext cx="209710" cy="84772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55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F1BE3-A387-1199-902E-AC1680BF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4A261E2-EE7B-ABC6-0440-76C231BAD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176" y="1825624"/>
                <a:ext cx="7191374" cy="5032375"/>
              </a:xfrm>
            </p:spPr>
            <p:txBody>
              <a:bodyPr/>
              <a:lstStyle/>
              <a:p>
                <a:r>
                  <a:rPr lang="pt-BR" dirty="0"/>
                  <a:t>Uma </a:t>
                </a:r>
                <a:r>
                  <a:rPr lang="pt-BR" b="1" i="1" dirty="0"/>
                  <a:t>função de limiar de decisão</a:t>
                </a:r>
                <a:r>
                  <a:rPr lang="pt-BR" dirty="0"/>
                  <a:t> simples que mapeia o valor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em 2 valores de saída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limiar de decisão rígido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Ela é mostrada na figura ao lado e é definda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)&lt;0</m:t>
                              </m:r>
                            </m:e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Indeterminado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4A261E2-EE7B-ABC6-0440-76C231BAD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176" y="1825624"/>
                <a:ext cx="7191374" cy="5032375"/>
              </a:xfrm>
              <a:blipFill rotWithShape="0">
                <a:blip r:embed="rId2"/>
                <a:stretch>
                  <a:fillRect l="-1525" t="-1937" r="-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9">
            <a:extLst>
              <a:ext uri="{FF2B5EF4-FFF2-40B4-BE49-F238E27FC236}">
                <a16:creationId xmlns:a16="http://schemas.microsoft.com/office/drawing/2014/main" id="{A1BBAE81-E3A1-6786-5F92-A8B1850689D9}"/>
              </a:ext>
            </a:extLst>
          </p:cNvPr>
          <p:cNvSpPr txBox="1"/>
          <p:nvPr/>
        </p:nvSpPr>
        <p:spPr>
          <a:xfrm>
            <a:off x="4481726" y="5297906"/>
            <a:ext cx="2276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Conhecida também como </a:t>
            </a:r>
            <a:r>
              <a:rPr lang="pt-BR" sz="1600" b="1" i="1" dirty="0"/>
              <a:t>função </a:t>
            </a:r>
            <a:r>
              <a:rPr lang="pt-BR" sz="1600" b="1" i="1" dirty="0" err="1"/>
              <a:t>heaviside</a:t>
            </a:r>
            <a:r>
              <a:rPr lang="pt-BR" sz="1600" b="1" i="1" dirty="0"/>
              <a:t> ou degrau unitário.</a:t>
            </a:r>
          </a:p>
        </p:txBody>
      </p:sp>
      <p:cxnSp>
        <p:nvCxnSpPr>
          <p:cNvPr id="7" name="Straight Arrow Connector 24">
            <a:extLst>
              <a:ext uri="{FF2B5EF4-FFF2-40B4-BE49-F238E27FC236}">
                <a16:creationId xmlns:a16="http://schemas.microsoft.com/office/drawing/2014/main" id="{C023577F-3BE8-777C-02F7-B6D4BA12EE9C}"/>
              </a:ext>
            </a:extLst>
          </p:cNvPr>
          <p:cNvCxnSpPr>
            <a:cxnSpLocks/>
          </p:cNvCxnSpPr>
          <p:nvPr/>
        </p:nvCxnSpPr>
        <p:spPr>
          <a:xfrm flipV="1">
            <a:off x="5619964" y="4897022"/>
            <a:ext cx="209338" cy="400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1BC3B28-A877-B1F8-8724-FEC92B3B8AB1}"/>
              </a:ext>
            </a:extLst>
          </p:cNvPr>
          <p:cNvGrpSpPr/>
          <p:nvPr/>
        </p:nvGrpSpPr>
        <p:grpSpPr>
          <a:xfrm>
            <a:off x="257177" y="2194676"/>
            <a:ext cx="3838573" cy="3796878"/>
            <a:chOff x="257177" y="2194676"/>
            <a:chExt cx="3838573" cy="3796878"/>
          </a:xfrm>
        </p:grpSpPr>
        <p:pic>
          <p:nvPicPr>
            <p:cNvPr id="4" name="Picture 16">
              <a:extLst>
                <a:ext uri="{FF2B5EF4-FFF2-40B4-BE49-F238E27FC236}">
                  <a16:creationId xmlns:a16="http://schemas.microsoft.com/office/drawing/2014/main" id="{7F40541D-F948-44BC-4E48-39EBFFB964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5" name="Rectangle 17">
              <a:extLst>
                <a:ext uri="{FF2B5EF4-FFF2-40B4-BE49-F238E27FC236}">
                  <a16:creationId xmlns:a16="http://schemas.microsoft.com/office/drawing/2014/main" id="{11D202E4-A9E4-6400-B6B5-08509661CB6A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618FA8DE-2726-6E85-B79D-64F78B73160C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618FA8DE-2726-6E85-B79D-64F78B731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5C2FEE03-FCD1-7E66-0281-BFC9FB634050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5C2FEE03-FCD1-7E66-0281-BFC9FB634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2918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97642" y="1898980"/>
                <a:ext cx="6870531" cy="495902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Agora que a </a:t>
                </a:r>
                <a:r>
                  <a:rPr lang="pt-BR" b="1" i="1" dirty="0"/>
                  <a:t>função hipótese de classificação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:r>
                  <a:rPr lang="pt-BR" dirty="0"/>
                  <a:t>tem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forma matemática bem</a:t>
                </a:r>
                <a:r>
                  <a:rPr lang="pt-BR" dirty="0"/>
                  <a:t> definida, precisamos pensar em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como encontrar os pesos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.</a:t>
                </a:r>
                <a:endParaRPr lang="pt-BR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7642" y="1898980"/>
                <a:ext cx="6870531" cy="4959020"/>
              </a:xfrm>
              <a:blipFill rotWithShape="0">
                <a:blip r:embed="rId3"/>
                <a:stretch>
                  <a:fillRect l="-1597" t="-2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595465" y="2147051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16301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9621" y="1898980"/>
            <a:ext cx="6838552" cy="4959020"/>
          </a:xfrm>
        </p:spPr>
        <p:txBody>
          <a:bodyPr>
            <a:normAutofit/>
          </a:bodyPr>
          <a:lstStyle/>
          <a:p>
            <a:r>
              <a:rPr lang="pt-BR" dirty="0"/>
              <a:t>Queremos encontrar os pesos de tal forma que </a:t>
            </a:r>
            <a:r>
              <a:rPr lang="pt-BR" b="1" i="1" dirty="0">
                <a:solidFill>
                  <a:srgbClr val="00B050"/>
                </a:solidFill>
              </a:rPr>
              <a:t>o erro de classificação seja minimizado</a:t>
            </a:r>
            <a:r>
              <a:rPr lang="pt-BR" dirty="0"/>
              <a:t>, i.e., que os exemplos sejam classificados corretamente.</a:t>
            </a:r>
          </a:p>
          <a:p>
            <a:r>
              <a:rPr lang="pt-BR" dirty="0"/>
              <a:t>No caso da </a:t>
            </a:r>
            <a:r>
              <a:rPr lang="pt-BR" b="1" i="1" dirty="0"/>
              <a:t>regressão linear</a:t>
            </a:r>
            <a:r>
              <a:rPr lang="pt-BR" dirty="0"/>
              <a:t>, nós fizemos isso de duas maneiras: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pt-BR" dirty="0"/>
              <a:t>de forma fechada (com a </a:t>
            </a:r>
            <a:r>
              <a:rPr lang="pt-BR" b="1" i="1" dirty="0"/>
              <a:t>equação normal</a:t>
            </a:r>
            <a:r>
              <a:rPr lang="pt-BR" dirty="0"/>
              <a:t>) tomando a derivada parcial do erro em relação aos pesos, igualando a zero e resolvendo a equação em relação aos pesos;</a:t>
            </a:r>
          </a:p>
          <a:p>
            <a:pPr marL="971550" lvl="1" indent="-514350">
              <a:buFont typeface="+mj-lt"/>
              <a:buAutoNum type="romanLcPeriod"/>
            </a:pPr>
            <a:r>
              <a:rPr lang="pt-BR" dirty="0"/>
              <a:t>e através do algoritmo do </a:t>
            </a:r>
            <a:r>
              <a:rPr lang="pt-BR" b="1" i="1" dirty="0"/>
              <a:t>gradiente descendente</a:t>
            </a:r>
            <a:r>
              <a:rPr lang="pt-BR" dirty="0"/>
              <a:t>, com as derivadas parciais do erro em função aos pesos.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573073" y="220554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1669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86400" y="1898980"/>
                <a:ext cx="6581773" cy="495902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Entretanto, com a </a:t>
                </a:r>
                <a:r>
                  <a:rPr lang="pt-BR" b="1" i="1" dirty="0"/>
                  <a:t>função de limiar rígido</a:t>
                </a:r>
                <a:r>
                  <a:rPr lang="pt-BR" dirty="0"/>
                  <a:t>,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nenhuma das duas abordagens é possível </a:t>
                </a:r>
                <a:r>
                  <a:rPr lang="pt-BR" dirty="0"/>
                  <a:t>devido à </a:t>
                </a:r>
                <a:r>
                  <a:rPr lang="pt-BR" b="1" i="1" dirty="0"/>
                  <a:t>derivada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dirty="0"/>
                  <a:t>ser igual a zero em todos os pontos exceto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onde ela é indeterminada.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6400" y="1898980"/>
                <a:ext cx="6581773" cy="4959020"/>
              </a:xfrm>
              <a:blipFill rotWithShape="0">
                <a:blip r:embed="rId3"/>
                <a:stretch>
                  <a:fillRect l="-1667" t="-2091" r="-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838200" y="2135204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5134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2852" y="2119283"/>
            <a:ext cx="7454348" cy="37050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600" b="1" dirty="0">
                <a:solidFill>
                  <a:srgbClr val="7030A0"/>
                </a:solidFill>
              </a:rPr>
              <a:t>Como encontramos os pesos dada essa limitação?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504652" y="211928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72843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1249B-8A42-478D-8165-DC55BCBE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DF9D294-ED00-CA9B-F674-FE09977F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247121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Uma possível solução é utilizar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regra intuitiva </a:t>
                </a:r>
                <a:r>
                  <a:rPr lang="pt-BR" dirty="0"/>
                  <a:t>de atualização dos </a:t>
                </a:r>
                <a:r>
                  <a:rPr lang="pt-BR" b="1" i="1" dirty="0"/>
                  <a:t>pesos</a:t>
                </a:r>
                <a:r>
                  <a:rPr lang="pt-BR" dirty="0"/>
                  <a:t> que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converge para uma solução dado que exista uma função discriminante adequada e que as classes não se sobreponham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Essa </a:t>
                </a:r>
                <a:r>
                  <a:rPr lang="pt-BR" b="1" i="1" dirty="0"/>
                  <a:t>regra intuitiva de atualização</a:t>
                </a:r>
                <a:r>
                  <a:rPr lang="pt-BR" dirty="0"/>
                  <a:t> </a:t>
                </a:r>
                <a:r>
                  <a:rPr lang="pt-BR" b="1" i="1" dirty="0"/>
                  <a:t>dos</a:t>
                </a:r>
                <a:r>
                  <a:rPr lang="pt-BR" dirty="0"/>
                  <a:t> </a:t>
                </a:r>
                <a:r>
                  <a:rPr lang="pt-BR" b="1" i="1" dirty="0"/>
                  <a:t>pesos</a:t>
                </a:r>
                <a:r>
                  <a:rPr lang="pt-BR" dirty="0"/>
                  <a:t> é dada pela seguinte equação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o passo de aprendizagem, o qual deve ser sempre maior do que zero.</a:t>
                </a:r>
              </a:p>
              <a:p>
                <a:r>
                  <a:rPr lang="en-US" dirty="0"/>
                  <a:t>A </a:t>
                </a:r>
                <a:r>
                  <a:rPr lang="en-US" dirty="0" err="1"/>
                  <a:t>regra</a:t>
                </a:r>
                <a:r>
                  <a:rPr lang="en-US" dirty="0"/>
                  <a:t> </a:t>
                </a:r>
                <a:r>
                  <a:rPr lang="en-US" dirty="0" err="1"/>
                  <a:t>possui</a:t>
                </a:r>
                <a:r>
                  <a:rPr lang="en-US" dirty="0"/>
                  <a:t> a </a:t>
                </a:r>
                <a:r>
                  <a:rPr lang="en-US" dirty="0" err="1"/>
                  <a:t>mesma</a:t>
                </a:r>
                <a:r>
                  <a:rPr lang="en-US" dirty="0"/>
                  <a:t> forma da </a:t>
                </a:r>
                <a:r>
                  <a:rPr lang="en-US" dirty="0" err="1"/>
                  <a:t>regra</a:t>
                </a:r>
                <a:r>
                  <a:rPr lang="en-US" dirty="0"/>
                  <a:t> do </a:t>
                </a:r>
                <a:r>
                  <a:rPr lang="en-US" b="1" i="1" dirty="0" err="1"/>
                  <a:t>gradiente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descendente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estocástico</a:t>
                </a:r>
                <a:r>
                  <a:rPr lang="en-US" b="1" i="1" dirty="0"/>
                  <a:t> (GDE)</a:t>
                </a:r>
                <a:r>
                  <a:rPr lang="en-US" dirty="0"/>
                  <a:t> </a:t>
                </a:r>
                <a:r>
                  <a:rPr lang="en-US" dirty="0" err="1"/>
                  <a:t>usada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b="1" i="1" dirty="0" err="1"/>
                  <a:t>regressão</a:t>
                </a:r>
                <a:r>
                  <a:rPr lang="en-US" b="1" i="1" dirty="0"/>
                  <a:t> linear</a:t>
                </a:r>
                <a:r>
                  <a:rPr lang="en-US" dirty="0"/>
                  <a:t>, mas, </a:t>
                </a:r>
                <a:r>
                  <a:rPr lang="en-US" dirty="0" err="1"/>
                  <a:t>aqui</a:t>
                </a:r>
                <a:r>
                  <a:rPr lang="en-US" dirty="0"/>
                  <a:t>, a </a:t>
                </a:r>
                <a:r>
                  <a:rPr lang="en-US" dirty="0" err="1"/>
                  <a:t>saída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é </a:t>
                </a:r>
                <a:r>
                  <a:rPr lang="en-US" dirty="0" err="1"/>
                  <a:t>discreta</a:t>
                </a:r>
                <a:r>
                  <a:rPr lang="en-US" dirty="0"/>
                  <a:t>.</a:t>
                </a: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DF9D294-ED00-CA9B-F674-FE09977F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247121" cy="5032376"/>
              </a:xfrm>
              <a:blipFill>
                <a:blip r:embed="rId3"/>
                <a:stretch>
                  <a:fillRect l="-1084" t="-1937" b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2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62A90-2205-3D44-64BD-FF7C92AA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09D0142-9D48-0627-42F7-9D56F2FF14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5587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Por razões que discutiremos mais adiante, esta regra é chamada de </a:t>
                </a:r>
                <a:r>
                  <a:rPr lang="pt-BR" b="1" i="1" dirty="0"/>
                  <a:t>regra de aprendizagem do perceptron</a:t>
                </a:r>
                <a:r>
                  <a:rPr lang="pt-BR" dirty="0"/>
                  <a:t>.</a:t>
                </a:r>
              </a:p>
              <a:p>
                <a:r>
                  <a:rPr lang="pt-BR" sz="2800" dirty="0"/>
                  <a:t>Os pesos são atualizados usando-se apenas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um exemplo por vez</a:t>
                </a:r>
                <a:r>
                  <a:rPr lang="pt-BR" sz="2800" dirty="0"/>
                  <a:t>, escolhido de forma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aleatória</a:t>
                </a:r>
                <a:r>
                  <a:rPr lang="pt-BR" sz="2800" dirty="0"/>
                  <a:t> do conjunto de treinamento, assim como </a:t>
                </a:r>
                <a:r>
                  <a:rPr lang="pt-BR" dirty="0"/>
                  <a:t>fizemos com o GDE</a:t>
                </a:r>
                <a:r>
                  <a:rPr lang="pt-BR" b="1" i="1" dirty="0"/>
                  <a:t>.</a:t>
                </a:r>
                <a:endParaRPr lang="pt-BR" sz="2800" dirty="0"/>
              </a:p>
              <a:p>
                <a:r>
                  <a:rPr lang="pt-BR" dirty="0"/>
                  <a:t>Como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classificadores binários</a:t>
                </a:r>
                <a:r>
                  <a:rPr lang="pt-BR" dirty="0"/>
                  <a:t> têm rótulos e valores de saída iguais a 0 ou 1, o comportamento da regra de atualização é diferente do comportamento do GDE.</a:t>
                </a:r>
              </a:p>
              <a:p>
                <a:r>
                  <a:rPr lang="pt-BR" dirty="0"/>
                  <a:t>Como veremos a seguir, existem apenas 3 possibilidades para a regra.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09D0142-9D48-0627-42F7-9D56F2FF14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55878" cy="5032375"/>
              </a:xfrm>
              <a:blipFill>
                <a:blip r:embed="rId3"/>
                <a:stretch>
                  <a:fillRect l="-984" r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76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18760" y="1690688"/>
                <a:ext cx="6770321" cy="516731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Primeira possibilidade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 Se o valor de saída do classificador for igual ao esperado,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então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Observem que se na equação de atualizaçao dos pesos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então,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os pesos não são atualizados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8760" y="1690688"/>
                <a:ext cx="6770321" cy="5167312"/>
              </a:xfrm>
              <a:blipFill rotWithShape="0">
                <a:blip r:embed="rId2"/>
                <a:stretch>
                  <a:fillRect l="-1892" t="-1887" r="-8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97BB793F-626C-032F-D789-595B3EF8990B}"/>
              </a:ext>
            </a:extLst>
          </p:cNvPr>
          <p:cNvGrpSpPr/>
          <p:nvPr/>
        </p:nvGrpSpPr>
        <p:grpSpPr>
          <a:xfrm>
            <a:off x="290082" y="206392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ECF46F2F-920A-D968-C9C5-DE00D5043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98EA6FC8-71BF-A9FA-24DA-9D7635294C6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24242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Equação de atualizaçao dos pesos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Segunda possibilidade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pt-BR" dirty="0"/>
                  <a:t>, 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, então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Assim, 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-ésimo peso,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, tem seu valor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aumentado</a:t>
                </a:r>
                <a:r>
                  <a:rPr lang="pt-BR" dirty="0"/>
                  <a:t> 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b="1" i="1" dirty="0"/>
                  <a:t> </a:t>
                </a:r>
                <a:r>
                  <a:rPr lang="pt-BR" dirty="0"/>
                  <a:t>é positivo e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diminuído</a:t>
                </a:r>
                <a:r>
                  <a:rPr lang="pt-BR" dirty="0"/>
                  <a:t> 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b="1" i="1" dirty="0"/>
                  <a:t> </a:t>
                </a:r>
                <a:r>
                  <a:rPr lang="pt-BR" dirty="0"/>
                  <a:t>é negativo.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Isso faz sentido, pois nós queremos </a:t>
                </a:r>
                <a:r>
                  <a:rPr lang="pt-BR" b="1" i="1" dirty="0"/>
                  <a:t>aumentar</a:t>
                </a:r>
                <a:r>
                  <a:rPr lang="pt-BR" dirty="0"/>
                  <a:t> o valor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de tal forma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dirty="0"/>
                  <a:t> e, consequentemente,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tenha como saída o valor 1.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Lembrando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  <a:blipFill>
                <a:blip r:embed="rId3"/>
                <a:stretch>
                  <a:fillRect l="-1505" t="-1887" r="-7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97BB793F-626C-032F-D789-595B3EF8990B}"/>
              </a:ext>
            </a:extLst>
          </p:cNvPr>
          <p:cNvGrpSpPr/>
          <p:nvPr/>
        </p:nvGrpSpPr>
        <p:grpSpPr>
          <a:xfrm>
            <a:off x="503838" y="206392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ECF46F2F-920A-D968-C9C5-DE00D5043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98EA6FC8-71BF-A9FA-24DA-9D7635294C6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12806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Equação de atualizaçao dos pesos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Terceira possibilidade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pt-BR" dirty="0"/>
                  <a:t>, 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então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Assim, 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-ésimo peso,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, tem seu valor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diminuído </a:t>
                </a:r>
                <a:r>
                  <a:rPr lang="pt-BR" dirty="0"/>
                  <a:t>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positivo 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aumentado</a:t>
                </a:r>
                <a:r>
                  <a:rPr lang="pt-BR" dirty="0"/>
                  <a:t> 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negativo.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Isso faz sentido, pois nós queremos </a:t>
                </a:r>
                <a:r>
                  <a:rPr lang="pt-BR" b="1" i="1" dirty="0"/>
                  <a:t>diminuir</a:t>
                </a:r>
                <a:r>
                  <a:rPr lang="pt-BR" dirty="0"/>
                  <a:t> o valor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de tal forma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pt-BR" dirty="0"/>
                  <a:t> e, consequentemente,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tenha como saída o valor 0.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Lembrando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  <a:blipFill>
                <a:blip r:embed="rId3"/>
                <a:stretch>
                  <a:fillRect l="-1505" t="-1887" r="-20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97BB793F-626C-032F-D789-595B3EF8990B}"/>
              </a:ext>
            </a:extLst>
          </p:cNvPr>
          <p:cNvGrpSpPr/>
          <p:nvPr/>
        </p:nvGrpSpPr>
        <p:grpSpPr>
          <a:xfrm>
            <a:off x="503838" y="206392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ECF46F2F-920A-D968-C9C5-DE00D5043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98EA6FC8-71BF-A9FA-24DA-9D7635294C6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54317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6B7CF-8113-56BB-B99E-8A161CD9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545FD3-C171-8153-940B-3CC275069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621" y="1825624"/>
            <a:ext cx="7642834" cy="5032375"/>
          </a:xfrm>
        </p:spPr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i="1" dirty="0"/>
              <a:t>regra de aprendizagem do perceptron </a:t>
            </a:r>
            <a:r>
              <a:rPr lang="pt-BR" dirty="0"/>
              <a:t>converge para um </a:t>
            </a:r>
            <a:r>
              <a:rPr lang="pt-BR" b="1" i="1" dirty="0">
                <a:solidFill>
                  <a:srgbClr val="7030A0"/>
                </a:solidFill>
              </a:rPr>
              <a:t>separador perfeito</a:t>
            </a:r>
            <a:r>
              <a:rPr lang="pt-BR" dirty="0">
                <a:solidFill>
                  <a:srgbClr val="7030A0"/>
                </a:solidFill>
              </a:rPr>
              <a:t> </a:t>
            </a:r>
            <a:r>
              <a:rPr lang="pt-BR" dirty="0"/>
              <a:t>quando: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As classes são </a:t>
            </a:r>
            <a:r>
              <a:rPr lang="pt-BR" b="1" i="1" dirty="0"/>
              <a:t>suficientemente separadas </a:t>
            </a:r>
            <a:r>
              <a:rPr lang="pt-BR" dirty="0"/>
              <a:t>umas das outras e, portanto, não se sobrepõem.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existe uma </a:t>
            </a:r>
            <a:r>
              <a:rPr lang="pt-BR" b="1" i="1" dirty="0"/>
              <a:t>função discriminante adequada para o problema</a:t>
            </a:r>
            <a:r>
              <a:rPr lang="pt-BR" dirty="0"/>
              <a:t>, mesmo que não seja um </a:t>
            </a:r>
            <a:r>
              <a:rPr lang="pt-BR" b="1" i="1" dirty="0"/>
              <a:t>hiperplano</a:t>
            </a:r>
            <a:r>
              <a:rPr lang="pt-BR" dirty="0"/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pt-BR" dirty="0"/>
              <a:t>Não precisa ser um problema linearmente separável.</a:t>
            </a:r>
          </a:p>
          <a:p>
            <a:r>
              <a:rPr lang="pt-BR" b="1" i="1" dirty="0">
                <a:solidFill>
                  <a:srgbClr val="7030A0"/>
                </a:solidFill>
              </a:rPr>
              <a:t>Separador perfeito</a:t>
            </a:r>
            <a:r>
              <a:rPr lang="pt-BR" b="1" i="1" dirty="0"/>
              <a:t>: </a:t>
            </a:r>
            <a:r>
              <a:rPr lang="pt-BR" dirty="0"/>
              <a:t>com </a:t>
            </a:r>
            <a:r>
              <a:rPr lang="pt-BR" b="1" i="1" dirty="0">
                <a:solidFill>
                  <a:srgbClr val="00B050"/>
                </a:solidFill>
              </a:rPr>
              <a:t>erro de classificação igual a zero</a:t>
            </a:r>
            <a:r>
              <a:rPr lang="pt-BR" dirty="0"/>
              <a:t>, ou seja, todos os exemplos são perfeitamente classificados.</a:t>
            </a:r>
          </a:p>
          <a:p>
            <a:r>
              <a:rPr lang="pt-BR" dirty="0"/>
              <a:t>Porém, na prática essa situação não é muito comum.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4D0F914-40D4-E004-16D1-A0567AB22B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4" r="9343"/>
          <a:stretch/>
        </p:blipFill>
        <p:spPr>
          <a:xfrm>
            <a:off x="1019514" y="5225992"/>
            <a:ext cx="2329327" cy="152513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9C2A466-55C5-046B-2430-AC3551D263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75" t="11979" r="9531"/>
          <a:stretch/>
        </p:blipFill>
        <p:spPr>
          <a:xfrm>
            <a:off x="1019512" y="3390690"/>
            <a:ext cx="2329327" cy="173569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9407819-FE6A-C2CA-4C72-A0623AD14F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51" t="11459" r="9375" b="1244"/>
          <a:stretch/>
        </p:blipFill>
        <p:spPr>
          <a:xfrm>
            <a:off x="1019512" y="1531004"/>
            <a:ext cx="2329327" cy="17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46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B30B4-0805-101B-C227-AD4405F0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B95DA0B-9FB2-61FE-86F8-6A65C4F51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90557" y="1825624"/>
                <a:ext cx="652727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Quando as classes se sobrepõem, a </a:t>
                </a:r>
                <a:r>
                  <a:rPr lang="pt-BR" b="1" i="1" dirty="0"/>
                  <a:t>regra de aprendizagem do perceptron </a:t>
                </a:r>
                <a:r>
                  <a:rPr lang="pt-BR" dirty="0"/>
                  <a:t>falha em convergir para uma solução perfeita. </a:t>
                </a:r>
              </a:p>
              <a:p>
                <a:r>
                  <a:rPr lang="pt-BR" dirty="0"/>
                  <a:t>Não há convergência, pois os pesos são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ajustados com uma única amostra por vez</a:t>
                </a:r>
                <a:r>
                  <a:rPr lang="pt-BR" dirty="0"/>
                  <a:t>, fazendo com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mude de posição a cada atualização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95DA0B-9FB2-61FE-86F8-6A65C4F51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0557" y="1825624"/>
                <a:ext cx="6527270" cy="5032375"/>
              </a:xfrm>
              <a:blipFill rotWithShape="0">
                <a:blip r:embed="rId3"/>
                <a:stretch>
                  <a:fillRect l="-1682" t="-1937" r="-19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51E800F4-4EF1-060E-4866-FAF7105FC9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55" t="11854" r="9545" b="1146"/>
          <a:stretch/>
        </p:blipFill>
        <p:spPr>
          <a:xfrm>
            <a:off x="838200" y="2463692"/>
            <a:ext cx="3864840" cy="2912051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D8F3701-F00B-FFBD-E048-5B4BEB1063B9}"/>
              </a:ext>
            </a:extLst>
          </p:cNvPr>
          <p:cNvCxnSpPr/>
          <p:nvPr/>
        </p:nvCxnSpPr>
        <p:spPr>
          <a:xfrm>
            <a:off x="2190750" y="2482850"/>
            <a:ext cx="1301750" cy="2565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79A4D02-30B5-EFB6-14C9-C0ED3378532A}"/>
              </a:ext>
            </a:extLst>
          </p:cNvPr>
          <p:cNvCxnSpPr/>
          <p:nvPr/>
        </p:nvCxnSpPr>
        <p:spPr>
          <a:xfrm>
            <a:off x="2821420" y="2476392"/>
            <a:ext cx="1301750" cy="2565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A78815D-AC06-0208-4006-098B3474FB0B}"/>
              </a:ext>
            </a:extLst>
          </p:cNvPr>
          <p:cNvCxnSpPr>
            <a:cxnSpLocks/>
          </p:cNvCxnSpPr>
          <p:nvPr/>
        </p:nvCxnSpPr>
        <p:spPr>
          <a:xfrm flipH="1" flipV="1">
            <a:off x="2406650" y="2165350"/>
            <a:ext cx="298450" cy="1219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4F8C8EB0-C19D-530A-7740-E886C3A77FCF}"/>
              </a:ext>
            </a:extLst>
          </p:cNvPr>
          <p:cNvCxnSpPr>
            <a:cxnSpLocks/>
          </p:cNvCxnSpPr>
          <p:nvPr/>
        </p:nvCxnSpPr>
        <p:spPr>
          <a:xfrm>
            <a:off x="3287135" y="3429000"/>
            <a:ext cx="185160" cy="201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4D93B8E-F2A4-1E69-54A5-F0550E91736E}"/>
                  </a:ext>
                </a:extLst>
              </p:cNvPr>
              <p:cNvSpPr txBox="1"/>
              <p:nvPr/>
            </p:nvSpPr>
            <p:spPr>
              <a:xfrm>
                <a:off x="1477543" y="1922106"/>
                <a:ext cx="20685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1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1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pt-BR" sz="1100" dirty="0"/>
                  <a:t>evido à amostra vermelha</a:t>
                </a: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4D93B8E-F2A4-1E69-54A5-F0550E917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543" y="1922106"/>
                <a:ext cx="2068580" cy="261610"/>
              </a:xfrm>
              <a:prstGeom prst="rect">
                <a:avLst/>
              </a:prstGeom>
              <a:blipFill>
                <a:blip r:embed="rId5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41F9E29-3D5B-7F7E-565A-94F4F6591E3F}"/>
                  </a:ext>
                </a:extLst>
              </p:cNvPr>
              <p:cNvSpPr txBox="1"/>
              <p:nvPr/>
            </p:nvSpPr>
            <p:spPr>
              <a:xfrm>
                <a:off x="2634460" y="5446462"/>
                <a:ext cx="17597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1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1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pt-BR" sz="1100" dirty="0"/>
                  <a:t>evido à amostra azul</a:t>
                </a: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41F9E29-3D5B-7F7E-565A-94F4F6591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460" y="5446462"/>
                <a:ext cx="1759712" cy="261610"/>
              </a:xfrm>
              <a:prstGeom prst="rect">
                <a:avLst/>
              </a:prstGeom>
              <a:blipFill>
                <a:blip r:embed="rId6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987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B30B4-0805-101B-C227-AD4405F0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B95DA0B-9FB2-61FE-86F8-6A65C4F51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899" y="1825624"/>
                <a:ext cx="656992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Porém, se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pt-BR" b="1" i="1" dirty="0">
                    <a:solidFill>
                      <a:srgbClr val="00B050"/>
                    </a:solidFill>
                  </a:rPr>
                  <a:t> decrescer de acordo com as iterações de treinamento</a:t>
                </a:r>
                <a:r>
                  <a:rPr lang="pt-BR" dirty="0"/>
                  <a:t>, então a regra tem uma chance de convergir para uma solução 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erro mínimo</a:t>
                </a:r>
                <a:r>
                  <a:rPr lang="pt-BR" dirty="0"/>
                  <a:t>, mas não igual a zero.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Abordagem similar à que usamos com o GDE.</a:t>
                </a:r>
              </a:p>
              <a:p>
                <a:r>
                  <a:rPr lang="pt-BR" dirty="0"/>
                  <a:t>Podemos também usar o </a:t>
                </a:r>
                <a:r>
                  <a:rPr lang="pt-BR" b="1" i="1" dirty="0" err="1"/>
                  <a:t>early-stopping</a:t>
                </a:r>
                <a:r>
                  <a:rPr lang="pt-BR" dirty="0"/>
                  <a:t> 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guardar</a:t>
                </a:r>
                <a:r>
                  <a:rPr lang="pt-BR" dirty="0"/>
                  <a:t> 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pesos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que resultaram no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menor erro de validação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95DA0B-9FB2-61FE-86F8-6A65C4F51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899" y="1825624"/>
                <a:ext cx="6569928" cy="5032375"/>
              </a:xfrm>
              <a:blipFill rotWithShape="0">
                <a:blip r:embed="rId3"/>
                <a:stretch>
                  <a:fillRect l="-1671" t="-1937" r="-1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1A5A3C4-8FC4-F1E4-A1F3-D619B2FCB0C3}"/>
              </a:ext>
            </a:extLst>
          </p:cNvPr>
          <p:cNvSpPr/>
          <p:nvPr/>
        </p:nvSpPr>
        <p:spPr>
          <a:xfrm>
            <a:off x="8024449" y="6550222"/>
            <a:ext cx="41675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hlinkClick r:id="rId4"/>
              </a:rPr>
              <a:t>Exemplo: classificador_linear_com_limiar_rigido.ipynb</a:t>
            </a:r>
            <a:endParaRPr lang="pt-BR" sz="1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E800F4-4EF1-060E-4866-FAF7105FC9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55" t="11854" r="9545" b="1146"/>
          <a:stretch/>
        </p:blipFill>
        <p:spPr>
          <a:xfrm>
            <a:off x="751689" y="2588820"/>
            <a:ext cx="3864840" cy="291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10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8878" y="1825624"/>
            <a:ext cx="7362701" cy="5032376"/>
          </a:xfrm>
        </p:spPr>
        <p:txBody>
          <a:bodyPr>
            <a:normAutofit/>
          </a:bodyPr>
          <a:lstStyle/>
          <a:p>
            <a:r>
              <a:rPr lang="pt-BR" dirty="0"/>
              <a:t>Outro problema com classificadores que usam </a:t>
            </a:r>
            <a:r>
              <a:rPr lang="pt-BR" b="1" i="1" dirty="0"/>
              <a:t>limiar de decisão rígido </a:t>
            </a:r>
            <a:r>
              <a:rPr lang="pt-BR" dirty="0"/>
              <a:t>é a </a:t>
            </a:r>
            <a:r>
              <a:rPr lang="pt-BR" b="1" i="1" dirty="0">
                <a:solidFill>
                  <a:srgbClr val="00B050"/>
                </a:solidFill>
              </a:rPr>
              <a:t>falta de informação sobre a confiança </a:t>
            </a:r>
            <a:r>
              <a:rPr lang="pt-BR" dirty="0"/>
              <a:t>quanto a uma classificação.</a:t>
            </a:r>
          </a:p>
          <a:p>
            <a:r>
              <a:rPr lang="pt-BR" dirty="0"/>
              <a:t>Na figura ao lado, dois exemplos estão bem próximos da </a:t>
            </a:r>
            <a:r>
              <a:rPr lang="pt-BR" b="1" i="1" dirty="0"/>
              <a:t>fronteira de decisão </a:t>
            </a:r>
            <a:r>
              <a:rPr lang="pt-BR" dirty="0"/>
              <a:t>enquanto outros dois estão bem distantes dela.</a:t>
            </a:r>
          </a:p>
          <a:p>
            <a:r>
              <a:rPr lang="pt-BR" dirty="0"/>
              <a:t>Como o classificador com </a:t>
            </a:r>
            <a:r>
              <a:rPr lang="pt-BR" b="1" i="1" dirty="0"/>
              <a:t>limiar de decisão rígido </a:t>
            </a:r>
            <a:r>
              <a:rPr lang="pt-BR" dirty="0"/>
              <a:t>classificaria esses exemplos?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D9BD3A-EECA-05F4-C300-1441F18AB7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9" r="7298"/>
          <a:stretch/>
        </p:blipFill>
        <p:spPr>
          <a:xfrm>
            <a:off x="315379" y="2328616"/>
            <a:ext cx="4214207" cy="368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97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38805" y="1825624"/>
                <a:ext cx="6902774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Olhando para a função de </a:t>
                </a:r>
                <a:r>
                  <a:rPr lang="pt-BR" b="1" i="1" dirty="0"/>
                  <a:t>limiar de decisão rígido</a:t>
                </a:r>
                <a:r>
                  <a:rPr lang="pt-BR" dirty="0"/>
                  <a:t>, percebemos que o classificador faz predições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muito confiantes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sempre iguais 0 para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pt-BR" dirty="0"/>
                  <a:t> e iguais a 1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dirty="0"/>
                  <a:t>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independente se o exemplo está distante ou próximo da fronteira de decisão</a:t>
                </a:r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8805" y="1825624"/>
                <a:ext cx="6902774" cy="5032376"/>
              </a:xfrm>
              <a:blipFill>
                <a:blip r:embed="rId3"/>
                <a:stretch>
                  <a:fillRect l="-1590" t="-1937" r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52A6A1D-DA43-B970-7D3B-CD86E9299F8C}"/>
              </a:ext>
            </a:extLst>
          </p:cNvPr>
          <p:cNvGrpSpPr/>
          <p:nvPr/>
        </p:nvGrpSpPr>
        <p:grpSpPr>
          <a:xfrm>
            <a:off x="858078" y="1642941"/>
            <a:ext cx="3354287" cy="5215059"/>
            <a:chOff x="453276" y="1631131"/>
            <a:chExt cx="3354287" cy="521505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B4DD64C-FB97-65B7-AD47-6491E6E5E7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7" t="5177" r="7347"/>
            <a:stretch/>
          </p:blipFill>
          <p:spPr>
            <a:xfrm>
              <a:off x="844653" y="1631131"/>
              <a:ext cx="2962910" cy="2297801"/>
            </a:xfrm>
            <a:prstGeom prst="rect">
              <a:avLst/>
            </a:prstGeom>
          </p:spPr>
        </p:pic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256166DD-0A30-8757-3512-E3DEA440F4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46" t="5896" r="8832"/>
            <a:stretch/>
          </p:blipFill>
          <p:spPr>
            <a:xfrm>
              <a:off x="638472" y="4049377"/>
              <a:ext cx="2831997" cy="26283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/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/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66842E7-77DB-DED6-551A-CFBE055B87A7}"/>
                </a:ext>
              </a:extLst>
            </p:cNvPr>
            <p:cNvSpPr/>
            <p:nvPr/>
          </p:nvSpPr>
          <p:spPr>
            <a:xfrm rot="1995663">
              <a:off x="712352" y="2785892"/>
              <a:ext cx="2971946" cy="1555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851D0E37-E94F-E50F-4120-E98CB2FF97BE}"/>
                </a:ext>
              </a:extLst>
            </p:cNvPr>
            <p:cNvCxnSpPr>
              <a:cxnSpLocks/>
            </p:cNvCxnSpPr>
            <p:nvPr/>
          </p:nvCxnSpPr>
          <p:spPr>
            <a:xfrm>
              <a:off x="2202180" y="2977599"/>
              <a:ext cx="0" cy="10572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6048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91E6-EFE7-E1D0-A05B-6A033903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D7A8-0C38-A228-6137-93F608F4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A9599-51A6-118D-65E9-1C6C3DD1B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45847" y="1825624"/>
                <a:ext cx="6795732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Exemplos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mais distantes da fronteira </a:t>
                </a:r>
                <a:r>
                  <a:rPr lang="pt-BR" dirty="0"/>
                  <a:t>têm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probabilidade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maior</a:t>
                </a:r>
                <a:r>
                  <a:rPr lang="pt-BR" dirty="0"/>
                  <a:t> 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realmente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pertencerem à classe onde estão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Quanto maior o valor absoluto de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mais distante da fronteira está o exemplo.</a:t>
                </a:r>
              </a:p>
              <a:p>
                <a:r>
                  <a:rPr lang="pt-BR" dirty="0"/>
                  <a:t>Por outro lado, exemplos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próximos da fronteira</a:t>
                </a:r>
                <a:r>
                  <a:rPr lang="pt-BR" dirty="0"/>
                  <a:t> têm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probabilidade menor </a:t>
                </a:r>
                <a:r>
                  <a:rPr lang="pt-BR" dirty="0"/>
                  <a:t>de pertencerem à classe onde estão.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Quanto menor o valor absoluto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mais próximo da fronteira está o exemplo.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01A9599-51A6-118D-65E9-1C6C3DD1B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5847" y="1825624"/>
                <a:ext cx="6795732" cy="5032376"/>
              </a:xfrm>
              <a:blipFill rotWithShape="0">
                <a:blip r:embed="rId3"/>
                <a:stretch>
                  <a:fillRect l="-161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10F2454-5C0C-EBCE-6D40-BB0B5F6AE729}"/>
              </a:ext>
            </a:extLst>
          </p:cNvPr>
          <p:cNvGrpSpPr/>
          <p:nvPr/>
        </p:nvGrpSpPr>
        <p:grpSpPr>
          <a:xfrm>
            <a:off x="858078" y="1642941"/>
            <a:ext cx="3354287" cy="5215059"/>
            <a:chOff x="453276" y="1631131"/>
            <a:chExt cx="3354287" cy="521505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33700BB8-7472-8A01-B6CF-7781352155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7" t="5177" r="7347"/>
            <a:stretch/>
          </p:blipFill>
          <p:spPr>
            <a:xfrm>
              <a:off x="844653" y="1631131"/>
              <a:ext cx="2962910" cy="2297801"/>
            </a:xfrm>
            <a:prstGeom prst="rect">
              <a:avLst/>
            </a:prstGeom>
          </p:spPr>
        </p:pic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ADF86BCB-2A4B-0998-76DA-7200757646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46" t="5896" r="8832"/>
            <a:stretch/>
          </p:blipFill>
          <p:spPr>
            <a:xfrm>
              <a:off x="638472" y="4049377"/>
              <a:ext cx="2831997" cy="26283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D6B287CA-CBF9-5090-D89E-5B46CA2AFD64}"/>
                    </a:ext>
                  </a:extLst>
                </p:cNvPr>
                <p:cNvSpPr txBox="1"/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31EAD500-6617-C59D-3E5F-E7C10E98A2F0}"/>
                    </a:ext>
                  </a:extLst>
                </p:cNvPr>
                <p:cNvSpPr txBox="1"/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BB6201C2-52AB-88DF-1039-4C291CBFE4B3}"/>
                </a:ext>
              </a:extLst>
            </p:cNvPr>
            <p:cNvSpPr/>
            <p:nvPr/>
          </p:nvSpPr>
          <p:spPr>
            <a:xfrm rot="1995663">
              <a:off x="712352" y="2785892"/>
              <a:ext cx="2971946" cy="1555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50C4842E-E5F8-047C-A23B-F98AD0098206}"/>
                </a:ext>
              </a:extLst>
            </p:cNvPr>
            <p:cNvCxnSpPr>
              <a:cxnSpLocks/>
            </p:cNvCxnSpPr>
            <p:nvPr/>
          </p:nvCxnSpPr>
          <p:spPr>
            <a:xfrm>
              <a:off x="2202180" y="2977599"/>
              <a:ext cx="0" cy="10572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364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53783" y="1825624"/>
                <a:ext cx="6987796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Assim, usando o </a:t>
                </a:r>
                <a:r>
                  <a:rPr lang="pt-BR" b="1" i="1" dirty="0"/>
                  <a:t>limiar de decisão rígido</a:t>
                </a:r>
                <a:r>
                  <a:rPr lang="pt-BR" dirty="0"/>
                  <a:t>, os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dois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pontos azuis </a:t>
                </a:r>
                <a:r>
                  <a:rPr lang="pt-BR" dirty="0"/>
                  <a:t>são classificados como pertencentes à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classe negativa </a:t>
                </a:r>
                <a:r>
                  <a:rPr lang="pt-BR" dirty="0"/>
                  <a:t>(valor 0) e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os dois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triângulos vermelhos </a:t>
                </a:r>
                <a:r>
                  <a:rPr lang="pt-BR" dirty="0"/>
                  <a:t>classificados como pertencentes à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classe</a:t>
                </a:r>
                <a:r>
                  <a:rPr lang="pt-BR" dirty="0">
                    <a:solidFill>
                      <a:srgbClr val="FF0000"/>
                    </a:solidFill>
                  </a:rPr>
                  <a:t>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positiva</a:t>
                </a:r>
                <a:r>
                  <a:rPr lang="pt-BR" dirty="0">
                    <a:solidFill>
                      <a:srgbClr val="FF0000"/>
                    </a:solidFill>
                  </a:rPr>
                  <a:t> </a:t>
                </a:r>
                <a:r>
                  <a:rPr lang="pt-BR" dirty="0"/>
                  <a:t>(valor 1), </a:t>
                </a:r>
              </a:p>
              <a:p>
                <a:pPr marL="0" indent="0">
                  <a:buNone/>
                </a:pPr>
                <a:r>
                  <a:rPr lang="pt-BR" dirty="0"/>
                  <a:t>mesmo tendo valores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absolutos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bem diferentes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53783" y="1825624"/>
                <a:ext cx="6987796" cy="5032376"/>
              </a:xfrm>
              <a:blipFill rotWithShape="0">
                <a:blip r:embed="rId3"/>
                <a:stretch>
                  <a:fillRect l="-174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Agrupar 16">
            <a:extLst>
              <a:ext uri="{FF2B5EF4-FFF2-40B4-BE49-F238E27FC236}">
                <a16:creationId xmlns:a16="http://schemas.microsoft.com/office/drawing/2014/main" id="{852A6A1D-DA43-B970-7D3B-CD86E9299F8C}"/>
              </a:ext>
            </a:extLst>
          </p:cNvPr>
          <p:cNvGrpSpPr/>
          <p:nvPr/>
        </p:nvGrpSpPr>
        <p:grpSpPr>
          <a:xfrm>
            <a:off x="858078" y="1642941"/>
            <a:ext cx="3354287" cy="5215059"/>
            <a:chOff x="453276" y="1631131"/>
            <a:chExt cx="3354287" cy="5215059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4B4DD64C-FB97-65B7-AD47-6491E6E5E7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7" t="5177" r="7347"/>
            <a:stretch/>
          </p:blipFill>
          <p:spPr>
            <a:xfrm>
              <a:off x="844653" y="1631131"/>
              <a:ext cx="2962910" cy="2297801"/>
            </a:xfrm>
            <a:prstGeom prst="rect">
              <a:avLst/>
            </a:prstGeom>
          </p:spPr>
        </p:pic>
        <p:pic>
          <p:nvPicPr>
            <p:cNvPr id="16" name="Picture 16">
              <a:extLst>
                <a:ext uri="{FF2B5EF4-FFF2-40B4-BE49-F238E27FC236}">
                  <a16:creationId xmlns:a16="http://schemas.microsoft.com/office/drawing/2014/main" id="{256166DD-0A30-8757-3512-E3DEA440F4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46" t="5896" r="8832"/>
            <a:stretch/>
          </p:blipFill>
          <p:spPr>
            <a:xfrm>
              <a:off x="638472" y="4049377"/>
              <a:ext cx="2831997" cy="26283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/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/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C66842E7-77DB-DED6-551A-CFBE055B87A7}"/>
                </a:ext>
              </a:extLst>
            </p:cNvPr>
            <p:cNvSpPr/>
            <p:nvPr/>
          </p:nvSpPr>
          <p:spPr>
            <a:xfrm rot="1995663">
              <a:off x="712352" y="2785892"/>
              <a:ext cx="2971946" cy="1555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Conector de Seta Reta 14">
              <a:extLst>
                <a:ext uri="{FF2B5EF4-FFF2-40B4-BE49-F238E27FC236}">
                  <a16:creationId xmlns:a16="http://schemas.microsoft.com/office/drawing/2014/main" id="{851D0E37-E94F-E50F-4120-E98CB2FF97BE}"/>
                </a:ext>
              </a:extLst>
            </p:cNvPr>
            <p:cNvCxnSpPr>
              <a:cxnSpLocks/>
            </p:cNvCxnSpPr>
            <p:nvPr/>
          </p:nvCxnSpPr>
          <p:spPr>
            <a:xfrm>
              <a:off x="2202180" y="2977599"/>
              <a:ext cx="0" cy="10572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5297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8F56-5724-DFC6-0D15-D186C211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770DA-BD52-05F3-F2B3-56BA4FC4C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880" y="1849376"/>
            <a:ext cx="7243949" cy="5008624"/>
          </a:xfrm>
        </p:spPr>
        <p:txBody>
          <a:bodyPr>
            <a:normAutofit/>
          </a:bodyPr>
          <a:lstStyle/>
          <a:p>
            <a:pPr marL="285750" indent="-285750"/>
            <a:r>
              <a:rPr lang="pt-BR" dirty="0"/>
              <a:t>Em resumo, </a:t>
            </a:r>
            <a:r>
              <a:rPr lang="pt-BR" b="1" i="1" dirty="0">
                <a:solidFill>
                  <a:schemeClr val="accent2"/>
                </a:solidFill>
              </a:rPr>
              <a:t>pontos </a:t>
            </a:r>
            <a:r>
              <a:rPr lang="pt-BR" sz="2800" b="1" i="1" dirty="0">
                <a:solidFill>
                  <a:schemeClr val="accent2"/>
                </a:solidFill>
              </a:rPr>
              <a:t>distantes da fronteira </a:t>
            </a:r>
            <a:r>
              <a:rPr lang="pt-BR" sz="2800" dirty="0"/>
              <a:t>de decisão </a:t>
            </a:r>
            <a:r>
              <a:rPr lang="pt-BR" sz="2800" b="1" i="1" dirty="0">
                <a:solidFill>
                  <a:srgbClr val="7030A0"/>
                </a:solidFill>
              </a:rPr>
              <a:t>deveriam</a:t>
            </a:r>
            <a:r>
              <a:rPr lang="pt-BR" sz="2800" b="1" i="1" dirty="0">
                <a:solidFill>
                  <a:srgbClr val="00B050"/>
                </a:solidFill>
              </a:rPr>
              <a:t> ter uma </a:t>
            </a:r>
            <a:r>
              <a:rPr lang="pt-BR" b="1" i="1" dirty="0">
                <a:solidFill>
                  <a:srgbClr val="00B050"/>
                </a:solidFill>
              </a:rPr>
              <a:t>confiança</a:t>
            </a:r>
            <a:r>
              <a:rPr lang="pt-BR" dirty="0"/>
              <a:t> (ou probabilidade) de </a:t>
            </a:r>
            <a:r>
              <a:rPr lang="pt-BR" b="1" i="1" dirty="0">
                <a:solidFill>
                  <a:srgbClr val="00B050"/>
                </a:solidFill>
              </a:rPr>
              <a:t>pertencerem a uma determinada classe bem maior do que pontos próximos</a:t>
            </a:r>
            <a:r>
              <a:rPr lang="pt-BR" dirty="0"/>
              <a:t>.</a:t>
            </a: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Porém, isso não é refletido na saída do classificador com limiar de decisão rígido.</a:t>
            </a:r>
          </a:p>
          <a:p>
            <a:pPr marL="285750" indent="-285750"/>
            <a:r>
              <a:rPr lang="pt-BR" dirty="0"/>
              <a:t>Entretanto, em muitas situações, nós precisamos de </a:t>
            </a:r>
            <a:r>
              <a:rPr lang="pt-BR" b="1" i="1" dirty="0">
                <a:solidFill>
                  <a:schemeClr val="accent2"/>
                </a:solidFill>
              </a:rPr>
              <a:t>predições mais graduadas</a:t>
            </a:r>
            <a:r>
              <a:rPr lang="pt-BR" dirty="0"/>
              <a:t>, que indiquem incertezas quanto à predição.</a:t>
            </a: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586BBD-40B1-F01B-4474-DE26CFC5EB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9" r="7298"/>
          <a:stretch/>
        </p:blipFill>
        <p:spPr>
          <a:xfrm>
            <a:off x="315379" y="2328616"/>
            <a:ext cx="4214207" cy="368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61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32128" cy="5032376"/>
          </a:xfrm>
        </p:spPr>
        <p:txBody>
          <a:bodyPr>
            <a:normAutofit/>
          </a:bodyPr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- Classificação (Parte II)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#2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 ser acessado através do link acima (Google </a:t>
            </a:r>
            <a:r>
              <a:rPr lang="pt-BR" dirty="0" err="1"/>
              <a:t>Colab</a:t>
            </a:r>
            <a:r>
              <a:rPr lang="pt-BR" dirty="0"/>
              <a:t>) ou no GitHub.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atentem aos prazos de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60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95178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1086015" y="1802044"/>
            <a:ext cx="3740834" cy="2807647"/>
            <a:chOff x="4010190" y="1821094"/>
            <a:chExt cx="3740834" cy="2807647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4403890" y="2415405"/>
              <a:ext cx="0" cy="20091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4391190" y="4424509"/>
              <a:ext cx="277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312521" y="3819300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4928082" y="243333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4402673" y="2616367"/>
              <a:ext cx="2664000" cy="172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076117" y="354661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0"/>
            <p:cNvSpPr/>
            <p:nvPr/>
          </p:nvSpPr>
          <p:spPr>
            <a:xfrm>
              <a:off x="4636086" y="402626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11"/>
            <p:cNvSpPr/>
            <p:nvPr/>
          </p:nvSpPr>
          <p:spPr>
            <a:xfrm>
              <a:off x="5688595" y="3846095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12"/>
            <p:cNvSpPr/>
            <p:nvPr/>
          </p:nvSpPr>
          <p:spPr>
            <a:xfrm>
              <a:off x="4728351" y="353353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4812863" y="3219326"/>
              <a:ext cx="152400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14"/>
            <p:cNvSpPr/>
            <p:nvPr/>
          </p:nvSpPr>
          <p:spPr>
            <a:xfrm>
              <a:off x="5512242" y="339364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6219587" y="2814337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5912596" y="30100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5914244" y="342424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5585624" y="287647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5889909" y="251235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5149499" y="265725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6422959" y="313960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/>
            <p:nvPr/>
          </p:nvSpPr>
          <p:spPr>
            <a:xfrm>
              <a:off x="5406766" y="3352981"/>
              <a:ext cx="788277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Straight Arrow Connector 29"/>
            <p:cNvCxnSpPr>
              <a:stCxn id="28" idx="0"/>
              <a:endCxn id="31" idx="2"/>
            </p:cNvCxnSpPr>
            <p:nvPr/>
          </p:nvCxnSpPr>
          <p:spPr>
            <a:xfrm flipV="1">
              <a:off x="5800905" y="2344314"/>
              <a:ext cx="10681" cy="1008667"/>
            </a:xfrm>
            <a:prstGeom prst="straightConnector1">
              <a:avLst/>
            </a:prstGeom>
            <a:noFill/>
            <a:ln w="28575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948806" y="1821094"/>
              <a:ext cx="1725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Qual a certeza destas classificações?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4594381" y="3962196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37"/>
            <p:cNvSpPr/>
            <p:nvPr/>
          </p:nvSpPr>
          <p:spPr>
            <a:xfrm>
              <a:off x="6750897" y="2497010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Isosceles Triangle 38"/>
            <p:cNvSpPr/>
            <p:nvPr/>
          </p:nvSpPr>
          <p:spPr>
            <a:xfrm>
              <a:off x="6808298" y="25522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Straight Arrow Connector 39"/>
            <p:cNvCxnSpPr>
              <a:stCxn id="36" idx="7"/>
            </p:cNvCxnSpPr>
            <p:nvPr/>
          </p:nvCxnSpPr>
          <p:spPr>
            <a:xfrm flipV="1">
              <a:off x="4806192" y="2344314"/>
              <a:ext cx="832821" cy="1657980"/>
            </a:xfrm>
            <a:prstGeom prst="straightConnector1">
              <a:avLst/>
            </a:prstGeom>
            <a:noFill/>
            <a:ln w="28575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Arrow Connector 42"/>
            <p:cNvCxnSpPr>
              <a:stCxn id="38" idx="2"/>
            </p:cNvCxnSpPr>
            <p:nvPr/>
          </p:nvCxnSpPr>
          <p:spPr>
            <a:xfrm flipH="1" flipV="1">
              <a:off x="6051730" y="2368601"/>
              <a:ext cx="699167" cy="265313"/>
            </a:xfrm>
            <a:prstGeom prst="straightConnector1">
              <a:avLst/>
            </a:prstGeom>
            <a:noFill/>
            <a:ln w="28575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49">
            <a:extLst>
              <a:ext uri="{FF2B5EF4-FFF2-40B4-BE49-F238E27FC236}">
                <a16:creationId xmlns:a16="http://schemas.microsoft.com/office/drawing/2014/main" id="{A01877FB-57F2-AD41-82CB-EAC3CD6BE376}"/>
              </a:ext>
            </a:extLst>
          </p:cNvPr>
          <p:cNvGrpSpPr/>
          <p:nvPr/>
        </p:nvGrpSpPr>
        <p:grpSpPr>
          <a:xfrm>
            <a:off x="5639334" y="2087246"/>
            <a:ext cx="3740834" cy="2602233"/>
            <a:chOff x="4010190" y="2026508"/>
            <a:chExt cx="3740834" cy="2602233"/>
          </a:xfrm>
        </p:grpSpPr>
        <p:cxnSp>
          <p:nvCxnSpPr>
            <p:cNvPr id="3" name="Straight Arrow Connector 4">
              <a:extLst>
                <a:ext uri="{FF2B5EF4-FFF2-40B4-BE49-F238E27FC236}">
                  <a16:creationId xmlns:a16="http://schemas.microsoft.com/office/drawing/2014/main" id="{559F5EC3-8BB0-7A49-4FC1-31DBAE0A5A53}"/>
                </a:ext>
              </a:extLst>
            </p:cNvPr>
            <p:cNvCxnSpPr/>
            <p:nvPr/>
          </p:nvCxnSpPr>
          <p:spPr>
            <a:xfrm flipV="1">
              <a:off x="4403890" y="2415405"/>
              <a:ext cx="0" cy="20091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5">
              <a:extLst>
                <a:ext uri="{FF2B5EF4-FFF2-40B4-BE49-F238E27FC236}">
                  <a16:creationId xmlns:a16="http://schemas.microsoft.com/office/drawing/2014/main" id="{DE64CED1-087D-F8C1-C8DE-ED77429386B6}"/>
                </a:ext>
              </a:extLst>
            </p:cNvPr>
            <p:cNvCxnSpPr/>
            <p:nvPr/>
          </p:nvCxnSpPr>
          <p:spPr>
            <a:xfrm>
              <a:off x="4391190" y="4424509"/>
              <a:ext cx="277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4BAC0974-32C4-6B7D-7B84-E15EC1A4EDAD}"/>
                </a:ext>
              </a:extLst>
            </p:cNvPr>
            <p:cNvSpPr/>
            <p:nvPr/>
          </p:nvSpPr>
          <p:spPr>
            <a:xfrm>
              <a:off x="5312521" y="3819300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Isosceles Triangle 7">
              <a:extLst>
                <a:ext uri="{FF2B5EF4-FFF2-40B4-BE49-F238E27FC236}">
                  <a16:creationId xmlns:a16="http://schemas.microsoft.com/office/drawing/2014/main" id="{0591E6DC-765A-BFBB-1F8D-DDEC4152C35F}"/>
                </a:ext>
              </a:extLst>
            </p:cNvPr>
            <p:cNvSpPr/>
            <p:nvPr/>
          </p:nvSpPr>
          <p:spPr>
            <a:xfrm>
              <a:off x="4928082" y="243333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2" name="Straight Connector 8">
              <a:extLst>
                <a:ext uri="{FF2B5EF4-FFF2-40B4-BE49-F238E27FC236}">
                  <a16:creationId xmlns:a16="http://schemas.microsoft.com/office/drawing/2014/main" id="{E1734E95-0FBF-02AF-2569-135BB7B22E05}"/>
                </a:ext>
              </a:extLst>
            </p:cNvPr>
            <p:cNvCxnSpPr/>
            <p:nvPr/>
          </p:nvCxnSpPr>
          <p:spPr>
            <a:xfrm>
              <a:off x="4402673" y="2616367"/>
              <a:ext cx="2664000" cy="172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9">
              <a:extLst>
                <a:ext uri="{FF2B5EF4-FFF2-40B4-BE49-F238E27FC236}">
                  <a16:creationId xmlns:a16="http://schemas.microsoft.com/office/drawing/2014/main" id="{6B37EE68-5A0B-827B-8C98-DE6B17AC56E3}"/>
                </a:ext>
              </a:extLst>
            </p:cNvPr>
            <p:cNvSpPr/>
            <p:nvPr/>
          </p:nvSpPr>
          <p:spPr>
            <a:xfrm>
              <a:off x="5076117" y="354661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Oval 10">
              <a:extLst>
                <a:ext uri="{FF2B5EF4-FFF2-40B4-BE49-F238E27FC236}">
                  <a16:creationId xmlns:a16="http://schemas.microsoft.com/office/drawing/2014/main" id="{1261DDC8-59C7-FD0B-DD60-BE3CB7FCDA62}"/>
                </a:ext>
              </a:extLst>
            </p:cNvPr>
            <p:cNvSpPr/>
            <p:nvPr/>
          </p:nvSpPr>
          <p:spPr>
            <a:xfrm>
              <a:off x="4636086" y="402626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Oval 11">
              <a:extLst>
                <a:ext uri="{FF2B5EF4-FFF2-40B4-BE49-F238E27FC236}">
                  <a16:creationId xmlns:a16="http://schemas.microsoft.com/office/drawing/2014/main" id="{6B51829B-5A4D-3096-8DFA-23F65727F0A5}"/>
                </a:ext>
              </a:extLst>
            </p:cNvPr>
            <p:cNvSpPr/>
            <p:nvPr/>
          </p:nvSpPr>
          <p:spPr>
            <a:xfrm>
              <a:off x="5688595" y="3846095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12">
              <a:extLst>
                <a:ext uri="{FF2B5EF4-FFF2-40B4-BE49-F238E27FC236}">
                  <a16:creationId xmlns:a16="http://schemas.microsoft.com/office/drawing/2014/main" id="{1DCF8C81-BE56-28DB-0646-E7672E3BDC98}"/>
                </a:ext>
              </a:extLst>
            </p:cNvPr>
            <p:cNvSpPr/>
            <p:nvPr/>
          </p:nvSpPr>
          <p:spPr>
            <a:xfrm>
              <a:off x="4728351" y="353353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Oval 13">
              <a:extLst>
                <a:ext uri="{FF2B5EF4-FFF2-40B4-BE49-F238E27FC236}">
                  <a16:creationId xmlns:a16="http://schemas.microsoft.com/office/drawing/2014/main" id="{D4191678-9CF5-8B2C-2FFD-5FD130B3B412}"/>
                </a:ext>
              </a:extLst>
            </p:cNvPr>
            <p:cNvSpPr/>
            <p:nvPr/>
          </p:nvSpPr>
          <p:spPr>
            <a:xfrm>
              <a:off x="4812863" y="3219326"/>
              <a:ext cx="152400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Oval 14">
              <a:extLst>
                <a:ext uri="{FF2B5EF4-FFF2-40B4-BE49-F238E27FC236}">
                  <a16:creationId xmlns:a16="http://schemas.microsoft.com/office/drawing/2014/main" id="{15DAC9EB-F5F3-0131-4EAA-DF22D2351AB8}"/>
                </a:ext>
              </a:extLst>
            </p:cNvPr>
            <p:cNvSpPr/>
            <p:nvPr/>
          </p:nvSpPr>
          <p:spPr>
            <a:xfrm>
              <a:off x="5512242" y="339364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Isosceles Triangle 15">
              <a:extLst>
                <a:ext uri="{FF2B5EF4-FFF2-40B4-BE49-F238E27FC236}">
                  <a16:creationId xmlns:a16="http://schemas.microsoft.com/office/drawing/2014/main" id="{17847434-848F-7030-60BF-0A6AFF31EAEE}"/>
                </a:ext>
              </a:extLst>
            </p:cNvPr>
            <p:cNvSpPr/>
            <p:nvPr/>
          </p:nvSpPr>
          <p:spPr>
            <a:xfrm>
              <a:off x="6219587" y="2814337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Isosceles Triangle 16">
              <a:extLst>
                <a:ext uri="{FF2B5EF4-FFF2-40B4-BE49-F238E27FC236}">
                  <a16:creationId xmlns:a16="http://schemas.microsoft.com/office/drawing/2014/main" id="{69F7D8A7-7BB4-29BF-6783-381784D1576B}"/>
                </a:ext>
              </a:extLst>
            </p:cNvPr>
            <p:cNvSpPr/>
            <p:nvPr/>
          </p:nvSpPr>
          <p:spPr>
            <a:xfrm>
              <a:off x="5912596" y="30100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Isosceles Triangle 17">
              <a:extLst>
                <a:ext uri="{FF2B5EF4-FFF2-40B4-BE49-F238E27FC236}">
                  <a16:creationId xmlns:a16="http://schemas.microsoft.com/office/drawing/2014/main" id="{A7E0AD2F-77D1-2E5F-BC04-C0BD98EF8FB2}"/>
                </a:ext>
              </a:extLst>
            </p:cNvPr>
            <p:cNvSpPr/>
            <p:nvPr/>
          </p:nvSpPr>
          <p:spPr>
            <a:xfrm>
              <a:off x="5914244" y="342424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Isosceles Triangle 18">
              <a:extLst>
                <a:ext uri="{FF2B5EF4-FFF2-40B4-BE49-F238E27FC236}">
                  <a16:creationId xmlns:a16="http://schemas.microsoft.com/office/drawing/2014/main" id="{1C15A1BA-A5A1-121A-47A2-67D01670EB8D}"/>
                </a:ext>
              </a:extLst>
            </p:cNvPr>
            <p:cNvSpPr/>
            <p:nvPr/>
          </p:nvSpPr>
          <p:spPr>
            <a:xfrm>
              <a:off x="5585624" y="287647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Isosceles Triangle 19">
              <a:extLst>
                <a:ext uri="{FF2B5EF4-FFF2-40B4-BE49-F238E27FC236}">
                  <a16:creationId xmlns:a16="http://schemas.microsoft.com/office/drawing/2014/main" id="{2691A117-2238-4EA8-BA72-DD69B2537E74}"/>
                </a:ext>
              </a:extLst>
            </p:cNvPr>
            <p:cNvSpPr/>
            <p:nvPr/>
          </p:nvSpPr>
          <p:spPr>
            <a:xfrm>
              <a:off x="5889909" y="251235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Isosceles Triangle 20">
              <a:extLst>
                <a:ext uri="{FF2B5EF4-FFF2-40B4-BE49-F238E27FC236}">
                  <a16:creationId xmlns:a16="http://schemas.microsoft.com/office/drawing/2014/main" id="{87886991-92AA-789B-A048-42556E41EF78}"/>
                </a:ext>
              </a:extLst>
            </p:cNvPr>
            <p:cNvSpPr/>
            <p:nvPr/>
          </p:nvSpPr>
          <p:spPr>
            <a:xfrm>
              <a:off x="5149499" y="265725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Isosceles Triangle 21">
              <a:extLst>
                <a:ext uri="{FF2B5EF4-FFF2-40B4-BE49-F238E27FC236}">
                  <a16:creationId xmlns:a16="http://schemas.microsoft.com/office/drawing/2014/main" id="{FC918483-70D9-78EF-7892-9A698C58B3BE}"/>
                </a:ext>
              </a:extLst>
            </p:cNvPr>
            <p:cNvSpPr/>
            <p:nvPr/>
          </p:nvSpPr>
          <p:spPr>
            <a:xfrm>
              <a:off x="6422959" y="313960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22">
                  <a:extLst>
                    <a:ext uri="{FF2B5EF4-FFF2-40B4-BE49-F238E27FC236}">
                      <a16:creationId xmlns:a16="http://schemas.microsoft.com/office/drawing/2014/main" id="{2FE86596-1D83-0567-72ED-6BE31DAD111D}"/>
                    </a:ext>
                  </a:extLst>
                </p:cNvPr>
                <p:cNvSpPr/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23">
                  <a:extLst>
                    <a:ext uri="{FF2B5EF4-FFF2-40B4-BE49-F238E27FC236}">
                      <a16:creationId xmlns:a16="http://schemas.microsoft.com/office/drawing/2014/main" id="{02397193-CB62-B516-6901-D12765FA74FD}"/>
                    </a:ext>
                  </a:extLst>
                </p:cNvPr>
                <p:cNvSpPr/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24">
                  <a:extLst>
                    <a:ext uri="{FF2B5EF4-FFF2-40B4-BE49-F238E27FC236}">
                      <a16:creationId xmlns:a16="http://schemas.microsoft.com/office/drawing/2014/main" id="{F29ADD8A-D74E-84D1-F235-CE5EA18629ED}"/>
                    </a:ext>
                  </a:extLst>
                </p:cNvPr>
                <p:cNvSpPr txBox="1"/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25">
                  <a:extLst>
                    <a:ext uri="{FF2B5EF4-FFF2-40B4-BE49-F238E27FC236}">
                      <a16:creationId xmlns:a16="http://schemas.microsoft.com/office/drawing/2014/main" id="{7A3F41DF-BDCB-C85B-90EB-7672C6BBB835}"/>
                    </a:ext>
                  </a:extLst>
                </p:cNvPr>
                <p:cNvSpPr txBox="1"/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Oval 27">
              <a:extLst>
                <a:ext uri="{FF2B5EF4-FFF2-40B4-BE49-F238E27FC236}">
                  <a16:creationId xmlns:a16="http://schemas.microsoft.com/office/drawing/2014/main" id="{847A52EB-C501-D440-8610-5419FB823317}"/>
                </a:ext>
              </a:extLst>
            </p:cNvPr>
            <p:cNvSpPr/>
            <p:nvPr/>
          </p:nvSpPr>
          <p:spPr>
            <a:xfrm>
              <a:off x="5406766" y="3352981"/>
              <a:ext cx="788277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35">
              <a:extLst>
                <a:ext uri="{FF2B5EF4-FFF2-40B4-BE49-F238E27FC236}">
                  <a16:creationId xmlns:a16="http://schemas.microsoft.com/office/drawing/2014/main" id="{EB453B61-9506-A107-5EF7-8246E747FF1E}"/>
                </a:ext>
              </a:extLst>
            </p:cNvPr>
            <p:cNvSpPr/>
            <p:nvPr/>
          </p:nvSpPr>
          <p:spPr>
            <a:xfrm>
              <a:off x="4594381" y="3962196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37">
              <a:extLst>
                <a:ext uri="{FF2B5EF4-FFF2-40B4-BE49-F238E27FC236}">
                  <a16:creationId xmlns:a16="http://schemas.microsoft.com/office/drawing/2014/main" id="{CA70CD2A-20CC-7D7E-FBB5-315D08338E70}"/>
                </a:ext>
              </a:extLst>
            </p:cNvPr>
            <p:cNvSpPr/>
            <p:nvPr/>
          </p:nvSpPr>
          <p:spPr>
            <a:xfrm>
              <a:off x="6750897" y="2497010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Isosceles Triangle 38">
              <a:extLst>
                <a:ext uri="{FF2B5EF4-FFF2-40B4-BE49-F238E27FC236}">
                  <a16:creationId xmlns:a16="http://schemas.microsoft.com/office/drawing/2014/main" id="{1B63DD9A-FDD2-7248-23B2-3CB843634382}"/>
                </a:ext>
              </a:extLst>
            </p:cNvPr>
            <p:cNvSpPr/>
            <p:nvPr/>
          </p:nvSpPr>
          <p:spPr>
            <a:xfrm>
              <a:off x="6808298" y="25522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47">
                  <a:extLst>
                    <a:ext uri="{FF2B5EF4-FFF2-40B4-BE49-F238E27FC236}">
                      <a16:creationId xmlns:a16="http://schemas.microsoft.com/office/drawing/2014/main" id="{6063CA95-FC23-6B2F-BFA4-9A9FAF88B4A6}"/>
                    </a:ext>
                  </a:extLst>
                </p:cNvPr>
                <p:cNvSpPr txBox="1"/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48">
                  <a:extLst>
                    <a:ext uri="{FF2B5EF4-FFF2-40B4-BE49-F238E27FC236}">
                      <a16:creationId xmlns:a16="http://schemas.microsoft.com/office/drawing/2014/main" id="{CF068210-CAED-73B7-26B0-19BA9DC8137E}"/>
                    </a:ext>
                  </a:extLst>
                </p:cNvPr>
                <p:cNvSpPr txBox="1"/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44060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9923</TotalTime>
  <Words>3829</Words>
  <Application>Microsoft Office PowerPoint</Application>
  <PresentationFormat>Widescreen</PresentationFormat>
  <Paragraphs>283</Paragraphs>
  <Slides>31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Courier New</vt:lpstr>
      <vt:lpstr>Söhne</vt:lpstr>
      <vt:lpstr>Wingdings</vt:lpstr>
      <vt:lpstr>Tema do Office</vt:lpstr>
      <vt:lpstr>T320 - Introdução ao Aprendizado de Máquina II: Classificação (Parte II)</vt:lpstr>
      <vt:lpstr>Recapitulando</vt:lpstr>
      <vt:lpstr>Classificação linear</vt:lpstr>
      <vt:lpstr>Classificação linear</vt:lpstr>
      <vt:lpstr>Classificação linear</vt:lpstr>
      <vt:lpstr>Classes linearmente separáveis</vt:lpstr>
      <vt:lpstr>Classes linearmente separáveis</vt:lpstr>
      <vt:lpstr>Classificação não-linear</vt:lpstr>
      <vt:lpstr>Apresentação do PowerPoint</vt:lpstr>
      <vt:lpstr>Função de limiar de decisão</vt:lpstr>
      <vt:lpstr>Função de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Tarefas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1902</cp:revision>
  <dcterms:created xsi:type="dcterms:W3CDTF">2020-01-20T13:50:05Z</dcterms:created>
  <dcterms:modified xsi:type="dcterms:W3CDTF">2026-08-07T20:01:10Z</dcterms:modified>
</cp:coreProperties>
</file>