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84" r:id="rId3"/>
    <p:sldId id="258" r:id="rId4"/>
    <p:sldId id="301" r:id="rId5"/>
    <p:sldId id="294" r:id="rId6"/>
    <p:sldId id="285" r:id="rId7"/>
    <p:sldId id="287" r:id="rId8"/>
    <p:sldId id="296" r:id="rId9"/>
    <p:sldId id="286" r:id="rId10"/>
    <p:sldId id="288" r:id="rId11"/>
    <p:sldId id="297" r:id="rId12"/>
    <p:sldId id="304" r:id="rId13"/>
    <p:sldId id="305" r:id="rId14"/>
    <p:sldId id="306" r:id="rId15"/>
    <p:sldId id="292" r:id="rId16"/>
    <p:sldId id="299" r:id="rId17"/>
    <p:sldId id="300" r:id="rId18"/>
    <p:sldId id="293" r:id="rId19"/>
    <p:sldId id="307" r:id="rId20"/>
    <p:sldId id="269" r:id="rId21"/>
    <p:sldId id="265" r:id="rId22"/>
    <p:sldId id="271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45" autoAdjust="0"/>
    <p:restoredTop sz="90893" autoAdjust="0"/>
  </p:normalViewPr>
  <p:slideViewPr>
    <p:cSldViewPr snapToGrid="0">
      <p:cViewPr varScale="1">
        <p:scale>
          <a:sx n="67" d="100"/>
          <a:sy n="67" d="100"/>
        </p:scale>
        <p:origin x="8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82C08-3EFC-4473-8294-F0E229C19EFF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0A2A4-8C14-4B1A-AD48-7B6401078B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813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5939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9332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174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FE637E2-97BB-CFD3-DBB7-5EC561A4F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ED7BD22-361E-0DCE-46D8-42A9C128E5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845AE5E-1008-C289-F444-04515B31A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4C5BAB2-4C6F-96F0-D4ED-0C66FFB48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8298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6858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98F69D2-AA2F-1FAB-FC58-E17B9F051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xmlns="" id="{BFA38404-D7C9-03F2-A7E5-10C0EFC8F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xmlns="" id="{5A8313F1-5D52-52B4-46D0-20D6D6D51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428A95A6-CC49-168A-C37A-1C6EB3B932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5804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Em </a:t>
            </a:r>
            <a:r>
              <a:rPr lang="pt-BR" b="1" dirty="0"/>
              <a:t>clusterização</a:t>
            </a:r>
            <a:r>
              <a:rPr lang="pt-BR" dirty="0"/>
              <a:t>, um </a:t>
            </a:r>
            <a:r>
              <a:rPr lang="pt-BR" b="1" dirty="0"/>
              <a:t>centroide</a:t>
            </a:r>
            <a:r>
              <a:rPr lang="pt-BR" dirty="0"/>
              <a:t> é o ponto central de um grupo (cluster) de dados. Ele representa a "média" das amostras dentro do cluster, sendo um ponto de referência que pode ser usado para definir a posição do cluster no espaço de características.</a:t>
            </a:r>
          </a:p>
          <a:p>
            <a:r>
              <a:rPr lang="pt-BR" b="1" dirty="0"/>
              <a:t>Características principais: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centroide é geralmente calculado como a </a:t>
            </a:r>
            <a:r>
              <a:rPr lang="pt-BR" b="1" dirty="0"/>
              <a:t>média aritmética</a:t>
            </a:r>
            <a:r>
              <a:rPr lang="pt-BR" dirty="0"/>
              <a:t> das coordenadas de todos os pontos do cluster.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No caso de algoritmos como </a:t>
            </a:r>
            <a:r>
              <a:rPr lang="pt-BR" b="1" dirty="0"/>
              <a:t>K-</a:t>
            </a:r>
            <a:r>
              <a:rPr lang="pt-BR" b="1" dirty="0" err="1"/>
              <a:t>Means</a:t>
            </a:r>
            <a:r>
              <a:rPr lang="pt-BR" dirty="0"/>
              <a:t>, os centroides são ajustados iterativamente até que os clusters se estabilizem ou atinjam um critério de parada.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centroide </a:t>
            </a:r>
            <a:r>
              <a:rPr lang="pt-BR" b="1" dirty="0"/>
              <a:t>não precisa ser um ponto real</a:t>
            </a:r>
            <a:r>
              <a:rPr lang="pt-BR" dirty="0"/>
              <a:t> no conjunto de dados; ele pode estar em uma posição intermediária entre os pontos.</a:t>
            </a:r>
          </a:p>
          <a:p>
            <a:r>
              <a:rPr lang="pt-BR" b="1" dirty="0"/>
              <a:t>Cálculo do centroide:</a:t>
            </a:r>
          </a:p>
          <a:p>
            <a:r>
              <a:rPr lang="pt-BR" dirty="0"/>
              <a:t>Se o cluster contém </a:t>
            </a:r>
            <a:r>
              <a:rPr lang="pt-BR" dirty="0" err="1"/>
              <a:t>nn</a:t>
            </a:r>
            <a:r>
              <a:rPr lang="pt-BR" dirty="0"/>
              <a:t> pontos de dimensão </a:t>
            </a:r>
            <a:r>
              <a:rPr lang="pt-BR" dirty="0" err="1"/>
              <a:t>dd</a:t>
            </a:r>
            <a:r>
              <a:rPr lang="pt-BR" dirty="0"/>
              <a:t>, as coordenadas do centroide são calculadas como:</a:t>
            </a:r>
          </a:p>
          <a:p>
            <a:r>
              <a:rPr lang="pt-BR" dirty="0"/>
              <a:t>Centroide=(1n∑i=1nxi1,1n∑i=1nxi2,…,1n∑i=1nxid)\</a:t>
            </a:r>
            <a:r>
              <a:rPr lang="pt-BR" dirty="0" err="1"/>
              <a:t>text</a:t>
            </a:r>
            <a:r>
              <a:rPr lang="pt-BR" dirty="0"/>
              <a:t>{Centroide} = \</a:t>
            </a:r>
            <a:r>
              <a:rPr lang="pt-BR" dirty="0" err="1"/>
              <a:t>left</a:t>
            </a:r>
            <a:r>
              <a:rPr lang="pt-BR" dirty="0"/>
              <a:t>( \</a:t>
            </a:r>
            <a:r>
              <a:rPr lang="pt-BR" dirty="0" err="1"/>
              <a:t>frac</a:t>
            </a:r>
            <a:r>
              <a:rPr lang="pt-BR" dirty="0"/>
              <a:t>{1}{n} \sum_{i=1}^{n} x_{i1}, \</a:t>
            </a:r>
            <a:r>
              <a:rPr lang="pt-BR" dirty="0" err="1"/>
              <a:t>frac</a:t>
            </a:r>
            <a:r>
              <a:rPr lang="pt-BR" dirty="0"/>
              <a:t>{1}{n} \sum_{i=1}^{n} x_{i2}, \</a:t>
            </a:r>
            <a:r>
              <a:rPr lang="pt-BR" dirty="0" err="1"/>
              <a:t>ldots</a:t>
            </a:r>
            <a:r>
              <a:rPr lang="pt-BR" dirty="0"/>
              <a:t>, \</a:t>
            </a:r>
            <a:r>
              <a:rPr lang="pt-BR" dirty="0" err="1"/>
              <a:t>frac</a:t>
            </a:r>
            <a:r>
              <a:rPr lang="pt-BR" dirty="0"/>
              <a:t>{1}{n} \sum_{i=1}^{n} x_{id} \</a:t>
            </a:r>
            <a:r>
              <a:rPr lang="pt-BR" dirty="0" err="1"/>
              <a:t>right</a:t>
            </a:r>
            <a:r>
              <a:rPr lang="pt-BR" dirty="0"/>
              <a:t>) </a:t>
            </a:r>
            <a:r>
              <a:rPr lang="pt-BR" b="1" dirty="0"/>
              <a:t>Aplicações: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Serve como ponto de referência para determinar quais amostras pertencem a um cluster (calculando distâncias em algoritmos como K-</a:t>
            </a:r>
            <a:r>
              <a:rPr lang="pt-BR" dirty="0" err="1"/>
              <a:t>Means</a:t>
            </a:r>
            <a:r>
              <a:rPr lang="pt-BR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Ajuda na interpretação dos clusters ao indicar a "localização média" de seus elementos.</a:t>
            </a:r>
          </a:p>
          <a:p>
            <a:r>
              <a:rPr lang="pt-BR" b="1" dirty="0"/>
              <a:t>Observação:</a:t>
            </a:r>
          </a:p>
          <a:p>
            <a:r>
              <a:rPr lang="pt-BR" dirty="0"/>
              <a:t>Em algoritmos baseados em densidade, como </a:t>
            </a:r>
            <a:r>
              <a:rPr lang="pt-BR" b="1" dirty="0"/>
              <a:t>DBSCAN</a:t>
            </a:r>
            <a:r>
              <a:rPr lang="pt-BR" dirty="0"/>
              <a:t>, o conceito de centroide pode não ser tão relevante, já que esses métodos não dependem de cálculos baseados na média dos pontos, mas na densidade local.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</a:t>
            </a:r>
            <a:r>
              <a:rPr lang="pt-BR" dirty="0" err="1"/>
              <a:t>entros</a:t>
            </a:r>
            <a:r>
              <a:rPr lang="pt-BR" dirty="0"/>
              <a:t> para redes Bayesianas ou de </a:t>
            </a:r>
            <a:r>
              <a:rPr lang="en-US" dirty="0" err="1"/>
              <a:t>Função</a:t>
            </a:r>
            <a:r>
              <a:rPr lang="en-US" dirty="0"/>
              <a:t> de base radial (</a:t>
            </a:r>
            <a:r>
              <a:rPr lang="pt-BR" dirty="0"/>
              <a:t>RBF): Os classificadores bayesianos e as redes de função de base radial operam com centros,</a:t>
            </a:r>
            <a:r>
              <a:rPr lang="pt-BR" baseline="0" dirty="0"/>
              <a:t> pois utilizam distribuições gaussianas. </a:t>
            </a:r>
            <a:r>
              <a:rPr lang="pt-BR" dirty="0"/>
              <a:t>Geralmente, os centros são identificados com os vetores de atributos dos exemplos individuais.</a:t>
            </a:r>
            <a:r>
              <a:rPr lang="pt-BR" baseline="0" dirty="0"/>
              <a:t> </a:t>
            </a:r>
            <a:r>
              <a:rPr lang="pt-BR" dirty="0"/>
              <a:t>No entanto, isso levaria a classificadores impraticavelmente grandes em domínios com milhões de exemplos. O engenheiro então prefere dividir o conjunto de treinamento em N clusters e identificar os centros gaussianos com os </a:t>
            </a:r>
            <a:r>
              <a:rPr lang="pt-BR" dirty="0" err="1"/>
              <a:t>centróides</a:t>
            </a:r>
            <a:r>
              <a:rPr lang="pt-BR" dirty="0"/>
              <a:t> dos clusters.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dirty="0"/>
              <a:t>Estimativas de valores de atributos desconhecidos 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Existem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casos onde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alguns valores de atributos às vezes são desconhecidos.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forma simples de lidar com esta questão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 usar a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estimativa do valor ausente como sendo a média ou o valor mais frequente de um determinado cluster.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Esta é uma abordagem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sólida porque usa mais informações sobre a natureza do domínio.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dirty="0"/>
              <a:t>ferramentas de visualização de dados multidimensionais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dirty="0"/>
              <a:t>Auxiliares para criação de classificadores mais simples: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conhecimento de clusters de dados pode ser útil no aprendizado supervisionado. É bastante comum que todos (ou quase todos) os exemplos em um cluster pertençam à mesma classe. Nesse caso, o desenvolvedor de um software de aprendizado supervisionado pode decidir primeiro identificar os clusters e depois rotular cada cluster (todos os exemplos que pertencem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ao cluster)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 sua classe dominante.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8288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K-</a:t>
            </a:r>
            <a:r>
              <a:rPr lang="pt-BR" dirty="0" err="1"/>
              <a:t>Means</a:t>
            </a:r>
            <a:r>
              <a:rPr lang="pt-BR" dirty="0"/>
              <a:t> encerra o treinamento com base em </a:t>
            </a:r>
            <a:r>
              <a:rPr lang="pt-BR" b="1" dirty="0"/>
              <a:t>critérios de convergência</a:t>
            </a:r>
            <a:r>
              <a:rPr lang="pt-BR" dirty="0"/>
              <a:t> que indicam quando o algoritmo atingiu um estado estável ou suficiente para parar. Esses critérios incluem:</a:t>
            </a:r>
          </a:p>
          <a:p>
            <a:r>
              <a:rPr lang="pt-BR" b="1" dirty="0"/>
              <a:t>1. Estabilização dos Centroides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algoritmo para quando os </a:t>
            </a:r>
            <a:r>
              <a:rPr lang="pt-BR" b="1" dirty="0"/>
              <a:t>centroides não se movem mais significativamente</a:t>
            </a:r>
            <a:r>
              <a:rPr lang="pt-BR" dirty="0"/>
              <a:t> entre iterações.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Concretamente, isso significa que os deslocamentos dos centroides são menores que um limite pré-definido (ϵ\</a:t>
            </a:r>
            <a:r>
              <a:rPr lang="pt-BR" dirty="0" err="1"/>
              <a:t>epsilon</a:t>
            </a:r>
            <a:r>
              <a:rPr lang="pt-BR" dirty="0"/>
              <a:t>).</a:t>
            </a:r>
          </a:p>
          <a:p>
            <a:r>
              <a:rPr lang="pt-BR" dirty="0"/>
              <a:t>∥novo centroide−antigo centroide∥&lt;ϵ\|\</a:t>
            </a:r>
            <a:r>
              <a:rPr lang="pt-BR" dirty="0" err="1"/>
              <a:t>text</a:t>
            </a:r>
            <a:r>
              <a:rPr lang="pt-BR" dirty="0"/>
              <a:t>{novo centroide} - \</a:t>
            </a:r>
            <a:r>
              <a:rPr lang="pt-BR" dirty="0" err="1"/>
              <a:t>text</a:t>
            </a:r>
            <a:r>
              <a:rPr lang="pt-BR" dirty="0"/>
              <a:t>{antigo centroide}\| &lt; \</a:t>
            </a:r>
            <a:r>
              <a:rPr lang="pt-BR" dirty="0" err="1"/>
              <a:t>epsilon</a:t>
            </a:r>
            <a:r>
              <a:rPr lang="pt-BR" dirty="0"/>
              <a:t> </a:t>
            </a:r>
            <a:r>
              <a:rPr lang="pt-BR" b="1" dirty="0"/>
              <a:t>2. Estabilização das Atribuições de Cluster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Se os pontos não mudarem de cluster entre iterações, o K-</a:t>
            </a:r>
            <a:r>
              <a:rPr lang="pt-BR" dirty="0" err="1"/>
              <a:t>Means</a:t>
            </a:r>
            <a:r>
              <a:rPr lang="pt-BR" dirty="0"/>
              <a:t> considera que atingiu a convergência.</a:t>
            </a:r>
          </a:p>
          <a:p>
            <a:r>
              <a:rPr lang="pt-BR" b="1" dirty="0"/>
              <a:t>3. Número Máximo de Iterações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Um limite máximo de iterações pode ser imposto (</a:t>
            </a:r>
            <a:r>
              <a:rPr lang="pt-BR" dirty="0" err="1"/>
              <a:t>max_itermax</a:t>
            </a:r>
            <a:r>
              <a:rPr lang="pt-BR" dirty="0"/>
              <a:t>\_iter) para evitar que o algoritmo continue indefinidamente, especialmente em casos em que a convergência é difícil de alcançar.</a:t>
            </a:r>
          </a:p>
          <a:p>
            <a:r>
              <a:rPr lang="pt-BR" b="1" dirty="0"/>
              <a:t>4. Convergência da Função Objetivo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algoritmo minimiza a </a:t>
            </a:r>
            <a:r>
              <a:rPr lang="pt-BR" b="1" dirty="0"/>
              <a:t>soma dos erros quadráticos </a:t>
            </a:r>
            <a:r>
              <a:rPr lang="pt-BR" b="1" dirty="0" err="1"/>
              <a:t>intra-cluster</a:t>
            </a:r>
            <a:r>
              <a:rPr lang="pt-BR" b="1" dirty="0"/>
              <a:t> (WSS)</a:t>
            </a:r>
            <a:r>
              <a:rPr lang="pt-BR" dirty="0"/>
              <a:t>, definida como: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WSS=∑i=1k∑x∈Ci∥x−μi∥2\</a:t>
            </a:r>
            <a:r>
              <a:rPr lang="pt-BR" dirty="0" err="1"/>
              <a:t>text</a:t>
            </a:r>
            <a:r>
              <a:rPr lang="pt-BR" dirty="0"/>
              <a:t>{WSS} = \sum_{i=1}^{k} \sum_{x \in </a:t>
            </a:r>
            <a:r>
              <a:rPr lang="pt-BR" dirty="0" err="1"/>
              <a:t>C_i</a:t>
            </a:r>
            <a:r>
              <a:rPr lang="pt-BR" dirty="0"/>
              <a:t>} \|\</a:t>
            </a:r>
            <a:r>
              <a:rPr lang="pt-BR" dirty="0" err="1"/>
              <a:t>mathbf</a:t>
            </a:r>
            <a:r>
              <a:rPr lang="pt-BR" dirty="0"/>
              <a:t>{x} - \</a:t>
            </a:r>
            <a:r>
              <a:rPr lang="pt-BR" dirty="0" err="1"/>
              <a:t>mu_i</a:t>
            </a:r>
            <a:r>
              <a:rPr lang="pt-BR" dirty="0"/>
              <a:t>\|^2 O K-</a:t>
            </a:r>
            <a:r>
              <a:rPr lang="pt-BR" dirty="0" err="1"/>
              <a:t>Means</a:t>
            </a:r>
            <a:r>
              <a:rPr lang="pt-BR" dirty="0"/>
              <a:t> para quando a redução no WSSWSS entre iterações consecutivas é menor que um limiar (Δ\Delta).</a:t>
            </a:r>
          </a:p>
          <a:p>
            <a:r>
              <a:rPr lang="pt-BR" b="1" dirty="0"/>
              <a:t>Processo Geral: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Inicialização</a:t>
            </a:r>
            <a:r>
              <a:rPr lang="pt-BR" dirty="0"/>
              <a:t>: Escolher </a:t>
            </a:r>
            <a:r>
              <a:rPr lang="pt-BR" dirty="0" err="1"/>
              <a:t>kk</a:t>
            </a:r>
            <a:r>
              <a:rPr lang="pt-BR" dirty="0"/>
              <a:t> centroides iniciais (aleatoriamente ou por métodos como K-</a:t>
            </a:r>
            <a:r>
              <a:rPr lang="pt-BR" dirty="0" err="1"/>
              <a:t>Means</a:t>
            </a:r>
            <a:r>
              <a:rPr lang="pt-BR" dirty="0"/>
              <a:t>++).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Passo de Atribuição</a:t>
            </a:r>
            <a:r>
              <a:rPr lang="pt-BR" dirty="0"/>
              <a:t>: Atribuir cada ponto ao cluster mais próximo (com base na distância, normalmente Euclidiana).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Passo de Atualização</a:t>
            </a:r>
            <a:r>
              <a:rPr lang="pt-BR" dirty="0"/>
              <a:t>: Recalcular os centroides como a média dos pontos atribuídos a cada cluster.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Verificação do Critério de Parada</a:t>
            </a:r>
            <a:r>
              <a:rPr lang="pt-BR" dirty="0"/>
              <a:t>: Verificar se algum dos critérios acima foi atendido. Caso contrário, repetir os passos 2 e 3.</a:t>
            </a:r>
          </a:p>
          <a:p>
            <a:r>
              <a:rPr lang="pt-BR" b="1" dirty="0"/>
              <a:t>Convergência e Garantias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K-</a:t>
            </a:r>
            <a:r>
              <a:rPr lang="pt-BR" dirty="0" err="1"/>
              <a:t>Means</a:t>
            </a:r>
            <a:r>
              <a:rPr lang="pt-BR" dirty="0"/>
              <a:t> </a:t>
            </a:r>
            <a:r>
              <a:rPr lang="pt-BR" b="1" dirty="0"/>
              <a:t>sempre converge</a:t>
            </a:r>
            <a:r>
              <a:rPr lang="pt-BR" dirty="0"/>
              <a:t>, mas pode parar em mínimos locais (não garante o ótimo global).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Para melhorar a convergência, pode-se: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Usar inicialização inteligente (como K-</a:t>
            </a:r>
            <a:r>
              <a:rPr lang="pt-BR" dirty="0" err="1"/>
              <a:t>Means</a:t>
            </a:r>
            <a:r>
              <a:rPr lang="pt-BR" dirty="0"/>
              <a:t>++).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Executar o algoritmo várias vezes com diferentes inicializações e escolher o melhor resultado.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7203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dirty="0">
                <a:solidFill>
                  <a:srgbClr val="00B0F0"/>
                </a:solidFill>
              </a:rPr>
              <a:t>E</a:t>
            </a:r>
            <a:r>
              <a:rPr lang="pt-BR" dirty="0"/>
              <a:t>xemplo:</a:t>
            </a:r>
            <a:r>
              <a:rPr lang="pt-BR" baseline="0" dirty="0"/>
              <a:t> </a:t>
            </a:r>
            <a:r>
              <a:rPr lang="pt-BR" dirty="0"/>
              <a:t>https://colab.research.google.com/github/zz4fap/t320_aprendizado_de_maquina/blob/main/notebooks/clustering/kmeans_example.ipynb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="0" dirty="0">
              <a:solidFill>
                <a:srgbClr val="00B0F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="0" dirty="0">
              <a:solidFill>
                <a:srgbClr val="00B0F0"/>
              </a:solidFill>
            </a:endParaRPr>
          </a:p>
          <a:p>
            <a:r>
              <a:rPr lang="pt-BR" dirty="0"/>
              <a:t>Identificar o melhor número de clusters (</a:t>
            </a:r>
            <a:r>
              <a:rPr lang="pt-BR" dirty="0" err="1"/>
              <a:t>kk</a:t>
            </a:r>
            <a:r>
              <a:rPr lang="pt-BR" dirty="0"/>
              <a:t>) no K-</a:t>
            </a:r>
            <a:r>
              <a:rPr lang="pt-BR" dirty="0" err="1"/>
              <a:t>Means</a:t>
            </a:r>
            <a:r>
              <a:rPr lang="pt-BR" dirty="0"/>
              <a:t> é um passo fundamental para garantir a eficiência e a utilidade da clusterização. Existem várias abordagens para determinar o valor ideal de </a:t>
            </a:r>
            <a:r>
              <a:rPr lang="pt-BR" dirty="0" err="1"/>
              <a:t>kk</a:t>
            </a:r>
            <a:r>
              <a:rPr lang="pt-BR" dirty="0"/>
              <a:t>. As mais comuns incluem:</a:t>
            </a:r>
          </a:p>
          <a:p>
            <a:r>
              <a:rPr lang="pt-BR" b="1" dirty="0"/>
              <a:t>1. Método do Cotovelo (</a:t>
            </a:r>
            <a:r>
              <a:rPr lang="pt-BR" b="1" dirty="0" err="1"/>
              <a:t>Elbow</a:t>
            </a:r>
            <a:r>
              <a:rPr lang="pt-BR" b="1" dirty="0"/>
              <a:t> </a:t>
            </a:r>
            <a:r>
              <a:rPr lang="pt-BR" b="1" dirty="0" err="1"/>
              <a:t>Method</a:t>
            </a:r>
            <a:r>
              <a:rPr lang="pt-BR" b="1" dirty="0"/>
              <a:t>)</a:t>
            </a:r>
          </a:p>
          <a:p>
            <a:r>
              <a:rPr lang="pt-BR" dirty="0"/>
              <a:t>Este método analisa a variação da </a:t>
            </a:r>
            <a:r>
              <a:rPr lang="pt-BR" b="1" dirty="0"/>
              <a:t>inércia </a:t>
            </a:r>
            <a:r>
              <a:rPr lang="pt-BR" b="1" dirty="0" err="1"/>
              <a:t>intra-cluster</a:t>
            </a:r>
            <a:r>
              <a:rPr lang="pt-BR" dirty="0"/>
              <a:t> (ou soma dos erros quadráticos dentro dos clusters, WSSWSS) à medida que o número de clusters aumenta.</a:t>
            </a:r>
          </a:p>
          <a:p>
            <a:r>
              <a:rPr lang="pt-BR" b="1" dirty="0"/>
              <a:t>Passos:</a:t>
            </a:r>
          </a:p>
          <a:p>
            <a:pPr>
              <a:buFont typeface="+mj-lt"/>
              <a:buAutoNum type="arabicPeriod"/>
            </a:pPr>
            <a:r>
              <a:rPr lang="pt-BR" dirty="0"/>
              <a:t>Execute o K-</a:t>
            </a:r>
            <a:r>
              <a:rPr lang="pt-BR" dirty="0" err="1"/>
              <a:t>Means</a:t>
            </a:r>
            <a:r>
              <a:rPr lang="pt-BR" dirty="0"/>
              <a:t> com diferentes valores de </a:t>
            </a:r>
            <a:r>
              <a:rPr lang="pt-BR" dirty="0" err="1"/>
              <a:t>kk</a:t>
            </a:r>
            <a:r>
              <a:rPr lang="pt-BR" dirty="0"/>
              <a:t> (por exemplo, k=1k=1 a k=10k=10).</a:t>
            </a:r>
          </a:p>
          <a:p>
            <a:pPr>
              <a:buFont typeface="+mj-lt"/>
              <a:buAutoNum type="arabicPeriod"/>
            </a:pPr>
            <a:r>
              <a:rPr lang="pt-BR" dirty="0"/>
              <a:t>Calcule o WSSWSS para cada valor de </a:t>
            </a:r>
            <a:r>
              <a:rPr lang="pt-BR" dirty="0" err="1"/>
              <a:t>kk</a:t>
            </a:r>
            <a:r>
              <a:rPr lang="pt-BR" dirty="0"/>
              <a:t>.</a:t>
            </a:r>
          </a:p>
          <a:p>
            <a:pPr>
              <a:buFont typeface="+mj-lt"/>
              <a:buAutoNum type="arabicPeriod"/>
            </a:pPr>
            <a:r>
              <a:rPr lang="pt-BR" dirty="0"/>
              <a:t>Trace um gráfico do WSSWSS em função de </a:t>
            </a:r>
            <a:r>
              <a:rPr lang="pt-BR" dirty="0" err="1"/>
              <a:t>kk</a:t>
            </a:r>
            <a:r>
              <a:rPr lang="pt-BR" dirty="0"/>
              <a:t>.</a:t>
            </a:r>
          </a:p>
          <a:p>
            <a:pPr>
              <a:buFont typeface="+mj-lt"/>
              <a:buAutoNum type="arabicPeriod"/>
            </a:pPr>
            <a:r>
              <a:rPr lang="pt-BR" dirty="0"/>
              <a:t>Identifique o "cotovelo" no gráfico — o ponto onde a redução no WSSWSS se torna menos significativa.</a:t>
            </a:r>
          </a:p>
          <a:p>
            <a:r>
              <a:rPr lang="pt-BR" b="1" dirty="0"/>
              <a:t>Observação:</a:t>
            </a:r>
          </a:p>
          <a:p>
            <a:r>
              <a:rPr lang="pt-BR" dirty="0"/>
              <a:t>O "cotovelo" indica que aumentar </a:t>
            </a:r>
            <a:r>
              <a:rPr lang="pt-BR" dirty="0" err="1"/>
              <a:t>kk</a:t>
            </a:r>
            <a:r>
              <a:rPr lang="pt-BR" dirty="0"/>
              <a:t> além desse ponto não resulta em uma melhoria substancial na compactação dos clusters.</a:t>
            </a:r>
          </a:p>
          <a:p>
            <a:r>
              <a:rPr lang="pt-BR" b="1" dirty="0"/>
              <a:t>2. Coeficiente de Silhueta (</a:t>
            </a:r>
            <a:r>
              <a:rPr lang="pt-BR" b="1" dirty="0" err="1"/>
              <a:t>Silhouette</a:t>
            </a:r>
            <a:r>
              <a:rPr lang="pt-BR" b="1" dirty="0"/>
              <a:t> Score)</a:t>
            </a:r>
          </a:p>
          <a:p>
            <a:r>
              <a:rPr lang="pt-BR" dirty="0"/>
              <a:t>O coeficiente de silhueta avalia a </a:t>
            </a:r>
            <a:r>
              <a:rPr lang="pt-BR" b="1" dirty="0"/>
              <a:t>qualidade da clusterização</a:t>
            </a:r>
            <a:r>
              <a:rPr lang="pt-BR" dirty="0"/>
              <a:t>, considerando a coesão dentro dos clusters e a separação entre eles.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s=b−</a:t>
            </a:r>
            <a:r>
              <a:rPr lang="pt-BR" dirty="0" err="1"/>
              <a:t>amax</a:t>
            </a:r>
            <a:r>
              <a:rPr lang="pt-BR" dirty="0"/>
              <a:t>⁡(</a:t>
            </a:r>
            <a:r>
              <a:rPr lang="pt-BR" dirty="0" err="1"/>
              <a:t>a,b</a:t>
            </a:r>
            <a:r>
              <a:rPr lang="pt-BR" dirty="0"/>
              <a:t>)s = \</a:t>
            </a:r>
            <a:r>
              <a:rPr lang="pt-BR" dirty="0" err="1"/>
              <a:t>frac</a:t>
            </a:r>
            <a:r>
              <a:rPr lang="pt-BR" dirty="0"/>
              <a:t>{b - a}{\</a:t>
            </a:r>
            <a:r>
              <a:rPr lang="pt-BR" dirty="0" err="1"/>
              <a:t>max</a:t>
            </a:r>
            <a:r>
              <a:rPr lang="pt-BR" dirty="0"/>
              <a:t>(a, b)} aa: distância média de um ponto para os outros pontos do mesmo cluster.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/>
              <a:t>bb</a:t>
            </a:r>
            <a:r>
              <a:rPr lang="pt-BR" dirty="0"/>
              <a:t>: distância média de um ponto para os pontos do cluster mais próximo.</a:t>
            </a:r>
          </a:p>
          <a:p>
            <a:r>
              <a:rPr lang="pt-BR" b="1" dirty="0"/>
              <a:t>Passos:</a:t>
            </a:r>
          </a:p>
          <a:p>
            <a:pPr>
              <a:buFont typeface="+mj-lt"/>
              <a:buAutoNum type="arabicPeriod"/>
            </a:pPr>
            <a:r>
              <a:rPr lang="pt-BR" dirty="0"/>
              <a:t>Execute o K-</a:t>
            </a:r>
            <a:r>
              <a:rPr lang="pt-BR" dirty="0" err="1"/>
              <a:t>Means</a:t>
            </a:r>
            <a:r>
              <a:rPr lang="pt-BR" dirty="0"/>
              <a:t> para diferentes valores de </a:t>
            </a:r>
            <a:r>
              <a:rPr lang="pt-BR" dirty="0" err="1"/>
              <a:t>kk</a:t>
            </a:r>
            <a:r>
              <a:rPr lang="pt-BR" dirty="0"/>
              <a:t>.</a:t>
            </a:r>
          </a:p>
          <a:p>
            <a:pPr>
              <a:buFont typeface="+mj-lt"/>
              <a:buAutoNum type="arabicPeriod"/>
            </a:pPr>
            <a:r>
              <a:rPr lang="pt-BR" dirty="0"/>
              <a:t>Calcule o coeficiente de silhueta para cada ponto e, em seguida, a média para o conjunto.</a:t>
            </a:r>
          </a:p>
          <a:p>
            <a:pPr>
              <a:buFont typeface="+mj-lt"/>
              <a:buAutoNum type="arabicPeriod"/>
            </a:pPr>
            <a:r>
              <a:rPr lang="pt-BR" dirty="0"/>
              <a:t>Escolha </a:t>
            </a:r>
            <a:r>
              <a:rPr lang="pt-BR" dirty="0" err="1"/>
              <a:t>kk</a:t>
            </a:r>
            <a:r>
              <a:rPr lang="pt-BR" dirty="0"/>
              <a:t> que maximize o valor médio do coeficiente de silhueta.</a:t>
            </a:r>
          </a:p>
          <a:p>
            <a:r>
              <a:rPr lang="pt-BR" b="1" dirty="0"/>
              <a:t>3. Critério Gap </a:t>
            </a:r>
            <a:r>
              <a:rPr lang="pt-BR" b="1" dirty="0" err="1"/>
              <a:t>Statistic</a:t>
            </a:r>
            <a:endParaRPr lang="pt-BR" b="1" dirty="0"/>
          </a:p>
          <a:p>
            <a:r>
              <a:rPr lang="pt-BR" dirty="0"/>
              <a:t>Este método compara a dispersão dos clusters no conjunto de dados com uma dispersão esperada de um conjunto de dados gerado aleatoriamente.</a:t>
            </a:r>
          </a:p>
          <a:p>
            <a:r>
              <a:rPr lang="pt-BR" b="1" dirty="0"/>
              <a:t>Passos:</a:t>
            </a:r>
          </a:p>
          <a:p>
            <a:pPr>
              <a:buFont typeface="+mj-lt"/>
              <a:buAutoNum type="arabicPeriod"/>
            </a:pPr>
            <a:r>
              <a:rPr lang="pt-BR" dirty="0"/>
              <a:t>Execute o K-</a:t>
            </a:r>
            <a:r>
              <a:rPr lang="pt-BR" dirty="0" err="1"/>
              <a:t>Means</a:t>
            </a:r>
            <a:r>
              <a:rPr lang="pt-BR" dirty="0"/>
              <a:t> para diferentes valores de </a:t>
            </a:r>
            <a:r>
              <a:rPr lang="pt-BR" dirty="0" err="1"/>
              <a:t>kk</a:t>
            </a:r>
            <a:r>
              <a:rPr lang="pt-BR" dirty="0"/>
              <a:t> no conjunto de dados real.</a:t>
            </a:r>
          </a:p>
          <a:p>
            <a:pPr>
              <a:buFont typeface="+mj-lt"/>
              <a:buAutoNum type="arabicPeriod"/>
            </a:pPr>
            <a:r>
              <a:rPr lang="pt-BR" dirty="0"/>
              <a:t>Gere um conjunto de dados aleatório com a mesma distribuição e calcule a dispersão dos clusters.</a:t>
            </a:r>
          </a:p>
          <a:p>
            <a:pPr>
              <a:buFont typeface="+mj-lt"/>
              <a:buAutoNum type="arabicPeriod"/>
            </a:pPr>
            <a:r>
              <a:rPr lang="pt-BR" dirty="0"/>
              <a:t>Compare as dispersões e encontre </a:t>
            </a:r>
            <a:r>
              <a:rPr lang="pt-BR" dirty="0" err="1"/>
              <a:t>kk</a:t>
            </a:r>
            <a:r>
              <a:rPr lang="pt-BR" dirty="0"/>
              <a:t> que maximize a diferença (gap) entre os dois conjuntos.</a:t>
            </a:r>
          </a:p>
          <a:p>
            <a:r>
              <a:rPr lang="pt-BR" b="1" dirty="0"/>
              <a:t>4. Validação Cruzada</a:t>
            </a:r>
          </a:p>
          <a:p>
            <a:r>
              <a:rPr lang="pt-BR" dirty="0"/>
              <a:t>Divida o conjunto de dados em subconjuntos e avalie a consistência dos clusters em diferentes amostras.</a:t>
            </a:r>
          </a:p>
          <a:p>
            <a:r>
              <a:rPr lang="pt-BR" b="1" dirty="0"/>
              <a:t>5. Métodos Automáticos, como X-</a:t>
            </a:r>
            <a:r>
              <a:rPr lang="pt-BR" b="1" dirty="0" err="1"/>
              <a:t>Means</a:t>
            </a:r>
            <a:r>
              <a:rPr lang="pt-BR" b="1" dirty="0"/>
              <a:t> e G-</a:t>
            </a:r>
            <a:r>
              <a:rPr lang="pt-BR" b="1" dirty="0" err="1"/>
              <a:t>Means</a:t>
            </a:r>
            <a:endParaRPr lang="pt-BR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X-</a:t>
            </a:r>
            <a:r>
              <a:rPr lang="pt-BR" b="1" dirty="0" err="1"/>
              <a:t>Means</a:t>
            </a:r>
            <a:r>
              <a:rPr lang="pt-BR" dirty="0"/>
              <a:t>: Extensão do K-</a:t>
            </a:r>
            <a:r>
              <a:rPr lang="pt-BR" dirty="0" err="1"/>
              <a:t>Means</a:t>
            </a:r>
            <a:r>
              <a:rPr lang="pt-BR" dirty="0"/>
              <a:t> que escolhe automaticamente </a:t>
            </a:r>
            <a:r>
              <a:rPr lang="pt-BR" dirty="0" err="1"/>
              <a:t>kk</a:t>
            </a:r>
            <a:r>
              <a:rPr lang="pt-BR" dirty="0"/>
              <a:t> otimizando o critério Bayesiano.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G-</a:t>
            </a:r>
            <a:r>
              <a:rPr lang="pt-BR" b="1" dirty="0" err="1"/>
              <a:t>Means</a:t>
            </a:r>
            <a:r>
              <a:rPr lang="pt-BR" dirty="0"/>
              <a:t>: Usa testes estatísticos para determinar se os clusters seguem uma distribuição gaussiana.</a:t>
            </a:r>
          </a:p>
          <a:p>
            <a:r>
              <a:rPr lang="pt-BR" b="1" dirty="0"/>
              <a:t>Considerações: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Dimensão dos dados</a:t>
            </a:r>
            <a:r>
              <a:rPr lang="pt-BR" dirty="0"/>
              <a:t>: Em alta dimensionalidade, os métodos podem se tornar menos claros devido à maldição da dimensionalidade.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Interpretação</a:t>
            </a:r>
            <a:r>
              <a:rPr lang="pt-BR" dirty="0"/>
              <a:t>: O número de clusters deve fazer sentido no contexto do problema, além de ser estatisticamente válido.</a:t>
            </a:r>
          </a:p>
          <a:p>
            <a:r>
              <a:rPr lang="pt-BR" dirty="0"/>
              <a:t>Combinar múltiplos métodos pode ser útil para confirmar a escolha do melhor </a:t>
            </a:r>
            <a:r>
              <a:rPr lang="pt-BR" dirty="0" err="1"/>
              <a:t>kk</a:t>
            </a:r>
            <a:r>
              <a:rPr lang="pt-BR" dirty="0"/>
              <a:t>.</a:t>
            </a:r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22941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dirty="0"/>
              <a:t>Projeto #2:</a:t>
            </a:r>
            <a:r>
              <a:rPr lang="pt-BR" sz="1200" dirty="0"/>
              <a:t> https://mybinder.org/v2/gh/zz4fap/t320_aprendizado_de_maquina/main?filepath=projeto%2Fprojeto_2_T320_1S2022.ipynb</a:t>
            </a:r>
          </a:p>
          <a:p>
            <a:endParaRPr lang="pt-BR" sz="1200" dirty="0"/>
          </a:p>
          <a:p>
            <a:r>
              <a:rPr lang="pt-BR" sz="1200" b="1" dirty="0"/>
              <a:t>Projeto #2:</a:t>
            </a:r>
            <a:r>
              <a:rPr lang="pt-BR" sz="1200" dirty="0"/>
              <a:t> https://colab.research.google.com/github/zz4fap/t320_aprendizado_de_maquina/blob/main/projeto/projeto_2_T320_1S2022.ipynb</a:t>
            </a:r>
          </a:p>
          <a:p>
            <a:endParaRPr lang="pt-BR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3546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861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5145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21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666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3967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410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259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5599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1060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950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589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D0464-8C8A-49C0-859F-777E51766A35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0889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scikit-learn.org/1.5/auto_examples/cluster/plot_kmeans_silhouette_analysis.ht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lab.research.google.com/github/zz4fap/t320_aprendizado_de_maquina/blob/main/notebooks/clustering/kmeans_example.ipynb" TargetMode="Externa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T320 - Introdução ao Aprendizado de Máquina II:</a:t>
            </a:r>
            <a:r>
              <a:rPr lang="pt-BR" dirty="0"/>
              <a:t/>
            </a:r>
            <a:br>
              <a:rPr lang="pt-BR" dirty="0"/>
            </a:br>
            <a:r>
              <a:rPr lang="pt-BR" b="1" i="1" dirty="0"/>
              <a:t>k-Médias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430EB894-B7D4-434C-9D1A-A14094D9BEEC}"/>
              </a:ext>
            </a:extLst>
          </p:cNvPr>
          <p:cNvSpPr txBox="1"/>
          <p:nvPr/>
        </p:nvSpPr>
        <p:spPr>
          <a:xfrm>
            <a:off x="7915802" y="5519955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Augusto Pereira de Figueiredo</a:t>
            </a:r>
          </a:p>
          <a:p>
            <a:r>
              <a:rPr lang="pt-BR" dirty="0"/>
              <a:t>felipe.figueiredo@inatel.br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271853" y="5528345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xmlns="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396429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446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Recapitulando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9" y="1825624"/>
            <a:ext cx="11204865" cy="5032376"/>
          </a:xfrm>
        </p:spPr>
        <p:txBody>
          <a:bodyPr>
            <a:normAutofit/>
          </a:bodyPr>
          <a:lstStyle/>
          <a:p>
            <a:r>
              <a:rPr lang="pt-BR" dirty="0"/>
              <a:t>Até o momento, todos os algoritmos que aprendemos seguiam o paradigma do aprendizado supervisionado.</a:t>
            </a:r>
          </a:p>
          <a:p>
            <a:r>
              <a:rPr lang="pt-BR" dirty="0"/>
              <a:t>Hoje, falaremos sobre </a:t>
            </a:r>
            <a:r>
              <a:rPr lang="pt-BR" b="1" i="1" dirty="0" err="1"/>
              <a:t>clustering</a:t>
            </a:r>
            <a:r>
              <a:rPr lang="pt-BR" dirty="0"/>
              <a:t>, que são algoritmos de </a:t>
            </a:r>
            <a:r>
              <a:rPr lang="pt-BR" b="1" i="1" dirty="0"/>
              <a:t>aprendizado não-supervisionado</a:t>
            </a:r>
            <a:r>
              <a:rPr lang="pt-BR" dirty="0"/>
              <a:t> que visam criar </a:t>
            </a:r>
            <a:r>
              <a:rPr lang="pt-BR" b="1" i="1" dirty="0">
                <a:solidFill>
                  <a:srgbClr val="7030A0"/>
                </a:solidFill>
              </a:rPr>
              <a:t>agrupamentos de dados</a:t>
            </a:r>
            <a:r>
              <a:rPr lang="pt-BR" dirty="0"/>
              <a:t> (chamados de </a:t>
            </a:r>
            <a:r>
              <a:rPr lang="pt-BR" b="1" i="1" dirty="0"/>
              <a:t>clusters </a:t>
            </a:r>
            <a:r>
              <a:rPr lang="pt-BR" dirty="0"/>
              <a:t>ou</a:t>
            </a:r>
            <a:r>
              <a:rPr lang="pt-BR" b="1" i="1" dirty="0"/>
              <a:t> grupos</a:t>
            </a:r>
            <a:r>
              <a:rPr lang="pt-BR" dirty="0"/>
              <a:t>) segundo seu </a:t>
            </a:r>
            <a:r>
              <a:rPr lang="pt-BR" b="1" i="1" dirty="0">
                <a:solidFill>
                  <a:srgbClr val="00B050"/>
                </a:solidFill>
              </a:rPr>
              <a:t>grau de semelhança</a:t>
            </a:r>
            <a:r>
              <a:rPr lang="pt-BR" dirty="0"/>
              <a:t>. </a:t>
            </a:r>
          </a:p>
          <a:p>
            <a:r>
              <a:rPr lang="pt-BR" dirty="0"/>
              <a:t>Em seguida, aprenderemos sobre o algoritmo chamado de </a:t>
            </a:r>
            <a:r>
              <a:rPr lang="pt-BR" b="1" i="1" dirty="0"/>
              <a:t>k-Médias</a:t>
            </a:r>
            <a:r>
              <a:rPr lang="pt-BR" dirty="0"/>
              <a:t> (ou </a:t>
            </a:r>
            <a:r>
              <a:rPr lang="pt-BR" b="1" i="1" dirty="0"/>
              <a:t>k-</a:t>
            </a:r>
            <a:r>
              <a:rPr lang="pt-BR" b="1" i="1" dirty="0" err="1"/>
              <a:t>Means</a:t>
            </a:r>
            <a:r>
              <a:rPr lang="pt-BR" dirty="0"/>
              <a:t>, em inglês) que é um dos algoritmos mais simples de </a:t>
            </a:r>
            <a:r>
              <a:rPr lang="pt-BR" b="1" i="1" dirty="0" err="1"/>
              <a:t>clustering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7415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802087" y="1690688"/>
            <a:ext cx="6240978" cy="5036683"/>
          </a:xfrm>
        </p:spPr>
        <p:txBody>
          <a:bodyPr>
            <a:normAutofit/>
          </a:bodyPr>
          <a:lstStyle/>
          <a:p>
            <a:r>
              <a:rPr lang="pt-BR" dirty="0"/>
              <a:t>O que podemos fazer </a:t>
            </a:r>
            <a:r>
              <a:rPr lang="pt-BR" dirty="0" smtClean="0"/>
              <a:t>quando não temos informações </a:t>
            </a:r>
            <a:r>
              <a:rPr lang="pt-BR" dirty="0"/>
              <a:t>sobre as classes (i.e., rótulos) a que pertencem os exemplos </a:t>
            </a:r>
            <a:r>
              <a:rPr lang="pt-BR" dirty="0" smtClean="0"/>
              <a:t>de um conjunto de dados?</a:t>
            </a:r>
            <a:endParaRPr lang="pt-BR" dirty="0"/>
          </a:p>
        </p:txBody>
      </p:sp>
      <p:pic>
        <p:nvPicPr>
          <p:cNvPr id="6" name="Picture 2" descr="K-Means Clustering using Python. Welcome back guys! Hope you had a great… |  by Luigi Fiori | Medium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" t="3709" r="55246" b="11854"/>
          <a:stretch/>
        </p:blipFill>
        <p:spPr bwMode="auto">
          <a:xfrm>
            <a:off x="1090832" y="2101933"/>
            <a:ext cx="3894188" cy="3177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1130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802087" y="1690688"/>
            <a:ext cx="6240978" cy="5036683"/>
          </a:xfrm>
        </p:spPr>
        <p:txBody>
          <a:bodyPr>
            <a:normAutofit/>
          </a:bodyPr>
          <a:lstStyle/>
          <a:p>
            <a:r>
              <a:rPr lang="pt-BR" dirty="0" smtClean="0"/>
              <a:t>Na figura ao lado, não sabemos a que classe ou classes pertencem os dados, mas podemos observar que alguns exemplos estão </a:t>
            </a:r>
            <a:r>
              <a:rPr lang="pt-BR" b="1" i="1" dirty="0" smtClean="0">
                <a:solidFill>
                  <a:srgbClr val="7030A0"/>
                </a:solidFill>
              </a:rPr>
              <a:t>próximos uns dos outros</a:t>
            </a:r>
            <a:r>
              <a:rPr lang="pt-BR" dirty="0" smtClean="0"/>
              <a:t>, formando grupos.</a:t>
            </a:r>
          </a:p>
        </p:txBody>
      </p:sp>
      <p:pic>
        <p:nvPicPr>
          <p:cNvPr id="6" name="Picture 2" descr="K-Means Clustering using Python. Welcome back guys! Hope you had a great… |  by Luigi Fiori | Medium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" t="3709" r="55246" b="11854"/>
          <a:stretch/>
        </p:blipFill>
        <p:spPr bwMode="auto">
          <a:xfrm>
            <a:off x="1090832" y="2101933"/>
            <a:ext cx="3894188" cy="3177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4313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F23F1A-965B-E657-4F46-B48EB78CF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CEC37-D651-72A5-0293-3FB911F60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B3C1A135-4B52-F54B-5BDE-7C6DA1069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572000"/>
            <a:ext cx="11204865" cy="2285999"/>
          </a:xfrm>
        </p:spPr>
        <p:txBody>
          <a:bodyPr>
            <a:normAutofit/>
          </a:bodyPr>
          <a:lstStyle/>
          <a:p>
            <a:r>
              <a:rPr lang="pt-BR" dirty="0"/>
              <a:t>A tarefa mais popular dos algoritmos de aprendizado não supervisionado é a </a:t>
            </a:r>
            <a:r>
              <a:rPr lang="pt-BR" b="1" i="1" dirty="0" smtClean="0">
                <a:solidFill>
                  <a:srgbClr val="00B050"/>
                </a:solidFill>
              </a:rPr>
              <a:t>identificação de </a:t>
            </a:r>
            <a:r>
              <a:rPr lang="pt-BR" b="1" i="1" dirty="0" smtClean="0">
                <a:solidFill>
                  <a:srgbClr val="7030A0"/>
                </a:solidFill>
              </a:rPr>
              <a:t>clusters</a:t>
            </a:r>
            <a:r>
              <a:rPr lang="pt-BR" dirty="0" smtClean="0"/>
              <a:t>. </a:t>
            </a:r>
          </a:p>
          <a:p>
            <a:r>
              <a:rPr lang="pt-BR" dirty="0" smtClean="0"/>
              <a:t>Veremos que com eles, podemos obter informações uteis de dados não rotulados usando algum critério de </a:t>
            </a:r>
            <a:r>
              <a:rPr lang="pt-BR" b="1" dirty="0" smtClean="0">
                <a:solidFill>
                  <a:schemeClr val="accent2"/>
                </a:solidFill>
              </a:rPr>
              <a:t>similaridade entre eles</a:t>
            </a:r>
            <a:r>
              <a:rPr lang="pt-BR" b="1" dirty="0" smtClean="0"/>
              <a:t> (e.g., a distância).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xmlns="" id="{FD3AFEA6-16E8-D562-210E-DDE126CC469D}"/>
              </a:ext>
            </a:extLst>
          </p:cNvPr>
          <p:cNvGrpSpPr/>
          <p:nvPr/>
        </p:nvGrpSpPr>
        <p:grpSpPr>
          <a:xfrm>
            <a:off x="2674464" y="1690688"/>
            <a:ext cx="6868547" cy="2748308"/>
            <a:chOff x="3186691" y="4631401"/>
            <a:chExt cx="5960847" cy="2029172"/>
          </a:xfrm>
        </p:grpSpPr>
        <p:pic>
          <p:nvPicPr>
            <p:cNvPr id="6" name="Picture 2" descr="K-Means Clustering using Python. Welcome back guys! Hope you had a great… |  by Luigi Fiori | Medium">
              <a:extLst>
                <a:ext uri="{FF2B5EF4-FFF2-40B4-BE49-F238E27FC236}">
                  <a16:creationId xmlns:a16="http://schemas.microsoft.com/office/drawing/2014/main" xmlns="" id="{5EE61C46-3856-780A-E6BB-BC8EBB4234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39" t="3709" r="55246" b="11854"/>
            <a:stretch/>
          </p:blipFill>
          <p:spPr bwMode="auto">
            <a:xfrm>
              <a:off x="3186691" y="4631401"/>
              <a:ext cx="2486746" cy="2029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843AD3E7-A8FE-599D-36F8-EA8BA9682F1B}"/>
                </a:ext>
              </a:extLst>
            </p:cNvPr>
            <p:cNvSpPr txBox="1"/>
            <p:nvPr/>
          </p:nvSpPr>
          <p:spPr>
            <a:xfrm>
              <a:off x="5584396" y="5199404"/>
              <a:ext cx="11308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i="1" dirty="0" err="1"/>
                <a:t>clustering</a:t>
              </a:r>
              <a:endParaRPr lang="en-US" sz="1400" b="1" i="1" dirty="0"/>
            </a:p>
          </p:txBody>
        </p:sp>
        <p:pic>
          <p:nvPicPr>
            <p:cNvPr id="9" name="Picture 2" descr="K-Means Clustering using Python. Welcome back guys! Hope you had a great… |  by Luigi Fiori | Medium">
              <a:extLst>
                <a:ext uri="{FF2B5EF4-FFF2-40B4-BE49-F238E27FC236}">
                  <a16:creationId xmlns:a16="http://schemas.microsoft.com/office/drawing/2014/main" xmlns="" id="{E7C74A0F-F2DD-912F-E092-3530D068D4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284" t="3709" b="11854"/>
            <a:stretch/>
          </p:blipFill>
          <p:spPr bwMode="auto">
            <a:xfrm>
              <a:off x="6626158" y="4631401"/>
              <a:ext cx="2521380" cy="2029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Seta para a direita 9">
              <a:extLst>
                <a:ext uri="{FF2B5EF4-FFF2-40B4-BE49-F238E27FC236}">
                  <a16:creationId xmlns:a16="http://schemas.microsoft.com/office/drawing/2014/main" xmlns="" id="{88A77E2D-B8CF-1AE8-8196-DD8F94371FF0}"/>
                </a:ext>
              </a:extLst>
            </p:cNvPr>
            <p:cNvSpPr/>
            <p:nvPr/>
          </p:nvSpPr>
          <p:spPr>
            <a:xfrm>
              <a:off x="5802135" y="5507181"/>
              <a:ext cx="695325" cy="581891"/>
            </a:xfrm>
            <a:prstGeom prst="right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5167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Identificação</a:t>
            </a:r>
            <a:r>
              <a:rPr lang="en-US" dirty="0"/>
              <a:t> de clusters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4921135"/>
            <a:ext cx="11353800" cy="1936866"/>
          </a:xfrm>
        </p:spPr>
        <p:txBody>
          <a:bodyPr/>
          <a:lstStyle/>
          <a:p>
            <a:r>
              <a:rPr lang="pt-BR" dirty="0" smtClean="0"/>
              <a:t>Na tarefa de </a:t>
            </a:r>
            <a:r>
              <a:rPr lang="pt-BR" b="1" i="1" dirty="0" smtClean="0">
                <a:solidFill>
                  <a:schemeClr val="accent2"/>
                </a:solidFill>
              </a:rPr>
              <a:t>identificação de clusters</a:t>
            </a:r>
            <a:r>
              <a:rPr lang="pt-BR" dirty="0" smtClean="0"/>
              <a:t>, </a:t>
            </a:r>
            <a:r>
              <a:rPr lang="pt-BR" dirty="0"/>
              <a:t>a </a:t>
            </a:r>
            <a:r>
              <a:rPr lang="pt-BR" b="1" i="1" dirty="0">
                <a:solidFill>
                  <a:srgbClr val="00B050"/>
                </a:solidFill>
              </a:rPr>
              <a:t>entrada</a:t>
            </a:r>
            <a:r>
              <a:rPr lang="pt-BR" dirty="0"/>
              <a:t> é um conjunto de </a:t>
            </a:r>
            <a:r>
              <a:rPr lang="pt-BR" b="1" i="1" dirty="0">
                <a:solidFill>
                  <a:srgbClr val="00B050"/>
                </a:solidFill>
              </a:rPr>
              <a:t>vetores de atributo </a:t>
            </a:r>
            <a:r>
              <a:rPr lang="pt-BR" dirty="0"/>
              <a:t>(i.e., </a:t>
            </a:r>
            <a:r>
              <a:rPr lang="pt-BR" dirty="0" smtClean="0"/>
              <a:t>exemplos) </a:t>
            </a:r>
            <a:r>
              <a:rPr lang="pt-BR" b="1" i="1" dirty="0" smtClean="0">
                <a:solidFill>
                  <a:srgbClr val="FF0000"/>
                </a:solidFill>
              </a:rPr>
              <a:t>sem </a:t>
            </a:r>
            <a:r>
              <a:rPr lang="pt-BR" b="1" i="1" dirty="0">
                <a:solidFill>
                  <a:srgbClr val="FF0000"/>
                </a:solidFill>
              </a:rPr>
              <a:t>rótulos</a:t>
            </a:r>
            <a:r>
              <a:rPr lang="pt-BR" dirty="0"/>
              <a:t>. </a:t>
            </a:r>
          </a:p>
          <a:p>
            <a:r>
              <a:rPr lang="pt-BR" dirty="0"/>
              <a:t>A </a:t>
            </a:r>
            <a:r>
              <a:rPr lang="pt-BR" b="1" i="1" dirty="0">
                <a:solidFill>
                  <a:srgbClr val="00B050"/>
                </a:solidFill>
              </a:rPr>
              <a:t>saída</a:t>
            </a:r>
            <a:r>
              <a:rPr lang="pt-BR" dirty="0"/>
              <a:t> </a:t>
            </a:r>
            <a:r>
              <a:rPr lang="pt-BR" dirty="0" smtClean="0"/>
              <a:t>são valores indicando os </a:t>
            </a:r>
            <a:r>
              <a:rPr lang="pt-BR" b="1" i="1" dirty="0">
                <a:solidFill>
                  <a:srgbClr val="00B050"/>
                </a:solidFill>
              </a:rPr>
              <a:t>clusters</a:t>
            </a:r>
            <a:r>
              <a:rPr lang="pt-BR" dirty="0"/>
              <a:t> a que pertencem cada um dos exemplos.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838200" y="2074134"/>
            <a:ext cx="6718380" cy="2463555"/>
            <a:chOff x="3186691" y="4631401"/>
            <a:chExt cx="5960847" cy="2029172"/>
          </a:xfrm>
        </p:grpSpPr>
        <p:pic>
          <p:nvPicPr>
            <p:cNvPr id="4" name="Picture 2" descr="K-Means Clustering using Python. Welcome back guys! Hope you had a great… |  by Luigi Fiori | Medium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39" t="3709" r="55246" b="11854"/>
            <a:stretch/>
          </p:blipFill>
          <p:spPr bwMode="auto">
            <a:xfrm>
              <a:off x="3186691" y="4631401"/>
              <a:ext cx="2486746" cy="2029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CaixaDeTexto 4"/>
            <p:cNvSpPr txBox="1"/>
            <p:nvPr/>
          </p:nvSpPr>
          <p:spPr>
            <a:xfrm>
              <a:off x="5584396" y="5199404"/>
              <a:ext cx="1130804" cy="2535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i="1" dirty="0" err="1"/>
                <a:t>clustering</a:t>
              </a:r>
              <a:endParaRPr lang="en-US" sz="1400" b="1" i="1" dirty="0"/>
            </a:p>
          </p:txBody>
        </p:sp>
        <p:pic>
          <p:nvPicPr>
            <p:cNvPr id="6" name="Picture 2" descr="K-Means Clustering using Python. Welcome back guys! Hope you had a great… |  by Luigi Fiori | Medium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284" t="3709" b="11854"/>
            <a:stretch/>
          </p:blipFill>
          <p:spPr bwMode="auto">
            <a:xfrm>
              <a:off x="6626158" y="4631401"/>
              <a:ext cx="2521380" cy="2029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Seta para a direita 6"/>
            <p:cNvSpPr/>
            <p:nvPr/>
          </p:nvSpPr>
          <p:spPr>
            <a:xfrm>
              <a:off x="5802135" y="5507181"/>
              <a:ext cx="695325" cy="581891"/>
            </a:xfrm>
            <a:prstGeom prst="right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tângulo 8"/>
          <p:cNvSpPr/>
          <p:nvPr/>
        </p:nvSpPr>
        <p:spPr>
          <a:xfrm>
            <a:off x="7912411" y="2743740"/>
            <a:ext cx="389166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 dirty="0"/>
              <a:t>OBS</a:t>
            </a:r>
            <a:r>
              <a:rPr lang="pt-BR" sz="1400" dirty="0"/>
              <a:t>.: A identificação visual de </a:t>
            </a:r>
            <a:r>
              <a:rPr lang="pt-BR" sz="1400" i="1" dirty="0"/>
              <a:t>clusters</a:t>
            </a:r>
            <a:r>
              <a:rPr lang="pt-BR" sz="1400" dirty="0"/>
              <a:t> em um espaço </a:t>
            </a:r>
            <a:r>
              <a:rPr lang="pt-BR" sz="1400" dirty="0" smtClean="0"/>
              <a:t>bi ou tridimensional </a:t>
            </a:r>
            <a:r>
              <a:rPr lang="pt-BR" sz="1400" dirty="0"/>
              <a:t>é fácil, mas em quatro ou mais dimensões isso já não é mais possível. Nesses casos, apenas algoritmos de identificação de </a:t>
            </a:r>
            <a:r>
              <a:rPr lang="pt-BR" sz="1400" i="1" dirty="0"/>
              <a:t>clusters</a:t>
            </a:r>
            <a:r>
              <a:rPr lang="pt-BR" sz="1400" dirty="0"/>
              <a:t> conseguem agrupar os dados. </a:t>
            </a:r>
          </a:p>
        </p:txBody>
      </p:sp>
    </p:spTree>
    <p:extLst>
      <p:ext uri="{BB962C8B-B14F-4D97-AF65-F5344CB8AC3E}">
        <p14:creationId xmlns:p14="http://schemas.microsoft.com/office/powerpoint/2010/main" val="1498689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Como </a:t>
            </a:r>
            <a:r>
              <a:rPr lang="en-US" dirty="0" err="1"/>
              <a:t>representar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clusters?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014913" y="1825624"/>
            <a:ext cx="7038541" cy="503237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Para realizar a </a:t>
            </a:r>
            <a:r>
              <a:rPr lang="pt-BR" dirty="0" smtClean="0"/>
              <a:t>clusterização, </a:t>
            </a:r>
            <a:r>
              <a:rPr lang="pt-BR" dirty="0"/>
              <a:t>temos que </a:t>
            </a:r>
            <a:r>
              <a:rPr lang="pt-BR" b="1" i="1" dirty="0">
                <a:solidFill>
                  <a:srgbClr val="00B050"/>
                </a:solidFill>
              </a:rPr>
              <a:t>decidir como os clusters serão representados</a:t>
            </a:r>
            <a:r>
              <a:rPr lang="pt-BR" dirty="0"/>
              <a:t>.</a:t>
            </a:r>
          </a:p>
          <a:p>
            <a:r>
              <a:rPr lang="pt-BR" dirty="0"/>
              <a:t>Existem algumas opções como a </a:t>
            </a:r>
            <a:r>
              <a:rPr lang="pt-BR" dirty="0" smtClean="0"/>
              <a:t>densidade, a distribuição</a:t>
            </a:r>
            <a:r>
              <a:rPr lang="pt-BR" dirty="0"/>
              <a:t> </a:t>
            </a:r>
            <a:r>
              <a:rPr lang="pt-BR" dirty="0" smtClean="0"/>
              <a:t>e a hierarquia </a:t>
            </a:r>
            <a:r>
              <a:rPr lang="pt-BR" dirty="0"/>
              <a:t>dos </a:t>
            </a:r>
            <a:r>
              <a:rPr lang="pt-BR" dirty="0" smtClean="0"/>
              <a:t>dados.</a:t>
            </a:r>
            <a:endParaRPr lang="pt-BR" dirty="0"/>
          </a:p>
          <a:p>
            <a:r>
              <a:rPr lang="pt-BR" dirty="0"/>
              <a:t>Porém, a abordagem mais simples usa os </a:t>
            </a:r>
            <a:r>
              <a:rPr lang="pt-BR" b="1" i="1" dirty="0"/>
              <a:t>centroides </a:t>
            </a:r>
            <a:r>
              <a:rPr lang="pt-BR" dirty="0"/>
              <a:t>(i.e., </a:t>
            </a:r>
            <a:r>
              <a:rPr lang="pt-BR" b="1" i="1" dirty="0" smtClean="0">
                <a:solidFill>
                  <a:schemeClr val="accent2"/>
                </a:solidFill>
              </a:rPr>
              <a:t>centros geométricos</a:t>
            </a:r>
            <a:r>
              <a:rPr lang="pt-BR" dirty="0" smtClean="0"/>
              <a:t>) </a:t>
            </a:r>
            <a:r>
              <a:rPr lang="pt-BR" dirty="0"/>
              <a:t>dos </a:t>
            </a:r>
            <a:r>
              <a:rPr lang="pt-BR" i="1" dirty="0"/>
              <a:t>clusters</a:t>
            </a:r>
            <a:r>
              <a:rPr lang="pt-BR" dirty="0" smtClean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smtClean="0"/>
              <a:t>O algoritmo que usa centroides é conhecido como k-</a:t>
            </a:r>
            <a:r>
              <a:rPr lang="pt-BR" dirty="0" err="1" smtClean="0"/>
              <a:t>means</a:t>
            </a:r>
            <a:r>
              <a:rPr lang="pt-BR" dirty="0" smtClean="0"/>
              <a:t>.</a:t>
            </a:r>
            <a:endParaRPr lang="pt-BR" dirty="0" smtClean="0"/>
          </a:p>
          <a:p>
            <a:r>
              <a:rPr lang="pt-BR" dirty="0"/>
              <a:t>Os </a:t>
            </a:r>
            <a:r>
              <a:rPr lang="pt-BR" b="1" i="1" dirty="0">
                <a:solidFill>
                  <a:srgbClr val="7030A0"/>
                </a:solidFill>
              </a:rPr>
              <a:t>centroides</a:t>
            </a:r>
            <a:r>
              <a:rPr lang="pt-BR" dirty="0"/>
              <a:t> são obtidos através da </a:t>
            </a:r>
            <a:r>
              <a:rPr lang="pt-BR" b="1" i="1" dirty="0">
                <a:solidFill>
                  <a:srgbClr val="00B050"/>
                </a:solidFill>
              </a:rPr>
              <a:t>média individual de cada atributo </a:t>
            </a:r>
            <a:r>
              <a:rPr lang="pt-BR" b="1" i="1" dirty="0">
                <a:solidFill>
                  <a:srgbClr val="7030A0"/>
                </a:solidFill>
              </a:rPr>
              <a:t>das amostras que pertencem ao cluster</a:t>
            </a: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1028" name="Picture 4" descr="K Means Clustering no Aprendizado de Máquinas — Aprendizado de Máquina —  DATA SCIENCE">
            <a:extLst>
              <a:ext uri="{FF2B5EF4-FFF2-40B4-BE49-F238E27FC236}">
                <a16:creationId xmlns:a16="http://schemas.microsoft.com/office/drawing/2014/main" xmlns="" id="{D99905E1-3749-BAAD-E01A-C9B3686C47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89" r="58743" b="36825"/>
          <a:stretch/>
        </p:blipFill>
        <p:spPr bwMode="auto">
          <a:xfrm>
            <a:off x="538162" y="2467655"/>
            <a:ext cx="3951287" cy="303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545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B00F73A-8390-7530-E708-9D3EBFB35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7779880-5E02-1DB8-EA94-C86330794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Como </a:t>
            </a:r>
            <a:r>
              <a:rPr lang="en-US" dirty="0" err="1" smtClean="0"/>
              <a:t>calcular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centroides</a:t>
            </a:r>
            <a:r>
              <a:rPr lang="en-US" dirty="0" smtClean="0"/>
              <a:t>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A72472E5-6211-3EFD-BA89-06782640C9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72743" y="1825624"/>
                <a:ext cx="6897583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Por exemplo, suponhamos os seguintes </a:t>
                </a:r>
                <a:r>
                  <a:rPr lang="pt-BR" b="1" i="1" dirty="0"/>
                  <a:t>vetores de atributos </a:t>
                </a:r>
                <a:r>
                  <a:rPr lang="pt-BR" dirty="0"/>
                  <a:t>em um espaço bidimensional,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: (2, 5), (1, 4), (3, 6).</a:t>
                </a:r>
              </a:p>
              <a:p>
                <a:r>
                  <a:rPr lang="pt-BR" dirty="0"/>
                  <a:t>Nesse caso, o </a:t>
                </a:r>
                <a:r>
                  <a:rPr lang="pt-BR" b="1" i="1" dirty="0"/>
                  <a:t>centroide</a:t>
                </a:r>
                <a:r>
                  <a:rPr lang="pt-BR" dirty="0"/>
                  <a:t> é representado pelo vetor (2, 5), pois</a:t>
                </a:r>
                <a:endParaRPr lang="en-US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 média do primeiro atributo é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2+1+3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b="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 média do segundo atributo é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O</a:t>
                </a:r>
                <a:r>
                  <a:rPr lang="pt-BR" dirty="0" smtClean="0"/>
                  <a:t>s </a:t>
                </a:r>
                <a:r>
                  <a:rPr lang="pt-BR" dirty="0"/>
                  <a:t>atributos </a:t>
                </a:r>
                <a:r>
                  <a:rPr lang="pt-BR" b="1" i="1" dirty="0" smtClean="0">
                    <a:solidFill>
                      <a:srgbClr val="7030A0"/>
                    </a:solidFill>
                  </a:rPr>
                  <a:t>devem ser numéricos</a:t>
                </a:r>
                <a:r>
                  <a:rPr lang="pt-BR" dirty="0"/>
                  <a:t> </a:t>
                </a:r>
                <a:r>
                  <a:rPr lang="pt-BR" dirty="0" smtClean="0"/>
                  <a:t>p</a:t>
                </a:r>
                <a:r>
                  <a:rPr lang="pt-BR" dirty="0" smtClean="0"/>
                  <a:t>ara o cálculo do centroide e da métrica de similaridade.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72472E5-6211-3EFD-BA89-06782640C9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72743" y="1825624"/>
                <a:ext cx="6897583" cy="5032375"/>
              </a:xfrm>
              <a:blipFill rotWithShape="0">
                <a:blip r:embed="rId3"/>
                <a:stretch>
                  <a:fillRect l="-1590" t="-1937" r="-16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K Means Clustering no Aprendizado de Máquinas — Aprendizado de Máquina —  DATA SCIENCE">
            <a:extLst>
              <a:ext uri="{FF2B5EF4-FFF2-40B4-BE49-F238E27FC236}">
                <a16:creationId xmlns:a16="http://schemas.microsoft.com/office/drawing/2014/main" xmlns="" id="{1340B874-C37C-46C8-FA71-6364C1463C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03" t="18889" r="3388" b="36825"/>
          <a:stretch/>
        </p:blipFill>
        <p:spPr bwMode="auto">
          <a:xfrm>
            <a:off x="723900" y="2340429"/>
            <a:ext cx="3831771" cy="303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3578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podemos usar os centroides?</a:t>
            </a:r>
            <a:endParaRPr lang="pt-BR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996543" y="1690688"/>
            <a:ext cx="7195457" cy="5167311"/>
          </a:xfrm>
        </p:spPr>
        <p:txBody>
          <a:bodyPr>
            <a:normAutofit/>
          </a:bodyPr>
          <a:lstStyle/>
          <a:p>
            <a:r>
              <a:rPr lang="pt-BR" dirty="0" smtClean="0"/>
              <a:t>Os </a:t>
            </a:r>
            <a:r>
              <a:rPr lang="pt-BR" b="1" i="1" dirty="0" smtClean="0">
                <a:solidFill>
                  <a:schemeClr val="accent2"/>
                </a:solidFill>
              </a:rPr>
              <a:t>centroides</a:t>
            </a:r>
            <a:r>
              <a:rPr lang="pt-BR" dirty="0" smtClean="0"/>
              <a:t> podem ser usados ​​como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smtClean="0"/>
              <a:t>forma de comprimir ou sumarizar os dados,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 smtClean="0"/>
              <a:t>Usa-se o centroide para representar todo o </a:t>
            </a:r>
            <a:r>
              <a:rPr lang="pt-BR" i="1" dirty="0" smtClean="0"/>
              <a:t>cluster</a:t>
            </a:r>
            <a:r>
              <a:rPr lang="pt-BR" dirty="0" smtClean="0"/>
              <a:t>.</a:t>
            </a:r>
            <a:endParaRPr lang="pt-BR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smtClean="0"/>
              <a:t>f</a:t>
            </a:r>
            <a:r>
              <a:rPr lang="pt-BR" dirty="0" smtClean="0"/>
              <a:t>orma de detectar anomalias,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 smtClean="0"/>
              <a:t>A distancia até o centroide pode indicar uma anomalia.</a:t>
            </a:r>
            <a:endParaRPr lang="pt-BR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smtClean="0"/>
              <a:t>centros para inicialização de modelos de misturas Gaussianas ou de redes de </a:t>
            </a:r>
            <a:r>
              <a:rPr lang="pt-BR" dirty="0" smtClean="0"/>
              <a:t>f</a:t>
            </a:r>
            <a:r>
              <a:rPr lang="pt-BR" dirty="0" smtClean="0"/>
              <a:t>unção de base radial,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smtClean="0"/>
              <a:t>estimativas de valores de atributos ausentes,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 smtClean="0"/>
              <a:t>Usa-se o valor de centroide para preencher o valor.</a:t>
            </a:r>
            <a:endParaRPr lang="pt-BR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smtClean="0"/>
              <a:t>protótipos </a:t>
            </a:r>
            <a:r>
              <a:rPr lang="pt-BR" dirty="0"/>
              <a:t>para classificadores baseados em </a:t>
            </a:r>
            <a:r>
              <a:rPr lang="pt-BR" dirty="0" smtClean="0"/>
              <a:t>distância.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 smtClean="0"/>
              <a:t>Classificadores mais simples do que os baseados em modelos supervisionados (e.g., redes neurais)</a:t>
            </a:r>
            <a:endParaRPr lang="pt-BR" dirty="0"/>
          </a:p>
        </p:txBody>
      </p:sp>
      <p:pic>
        <p:nvPicPr>
          <p:cNvPr id="2050" name="Picture 2" descr="K-means clustering on the digits dataset (PCA-reduced data) Centroids are marked with white cros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8" t="11622" r="9484" b="10196"/>
          <a:stretch/>
        </p:blipFill>
        <p:spPr bwMode="auto">
          <a:xfrm>
            <a:off x="838200" y="2471058"/>
            <a:ext cx="3780793" cy="2833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8983938C-72D4-9E58-2CE8-D43E36E7012F}"/>
              </a:ext>
            </a:extLst>
          </p:cNvPr>
          <p:cNvSpPr txBox="1"/>
          <p:nvPr/>
        </p:nvSpPr>
        <p:spPr>
          <a:xfrm>
            <a:off x="838200" y="5292546"/>
            <a:ext cx="37807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centroide</a:t>
            </a:r>
            <a:r>
              <a:rPr lang="pt-BR" dirty="0"/>
              <a:t> é o ponto central de um cluster de dados. Representa a </a:t>
            </a:r>
            <a:r>
              <a:rPr lang="pt-BR" dirty="0" smtClean="0"/>
              <a:t>média geométrica </a:t>
            </a:r>
            <a:r>
              <a:rPr lang="pt-BR" dirty="0"/>
              <a:t>das amostras dentro do </a:t>
            </a:r>
            <a:r>
              <a:rPr lang="pt-BR" i="1" dirty="0"/>
              <a:t>cluster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4970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Quantos devem ser os clusters?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34000" y="1690688"/>
            <a:ext cx="6729845" cy="5167311"/>
          </a:xfrm>
        </p:spPr>
        <p:txBody>
          <a:bodyPr>
            <a:normAutofit/>
          </a:bodyPr>
          <a:lstStyle/>
          <a:p>
            <a:r>
              <a:rPr lang="pt-BR" dirty="0"/>
              <a:t>Os clusters </a:t>
            </a:r>
            <a:r>
              <a:rPr lang="pt-BR" b="1" i="1" dirty="0"/>
              <a:t>não devem se sobrepor</a:t>
            </a:r>
            <a:r>
              <a:rPr lang="pt-BR" dirty="0"/>
              <a:t>: </a:t>
            </a:r>
            <a:r>
              <a:rPr lang="pt-BR" b="1" i="1" dirty="0">
                <a:solidFill>
                  <a:srgbClr val="00B050"/>
                </a:solidFill>
              </a:rPr>
              <a:t>cada exemplo</a:t>
            </a:r>
            <a:r>
              <a:rPr lang="pt-BR" dirty="0"/>
              <a:t> deve </a:t>
            </a:r>
            <a:r>
              <a:rPr lang="pt-BR" b="1" i="1" dirty="0">
                <a:solidFill>
                  <a:srgbClr val="00B050"/>
                </a:solidFill>
              </a:rPr>
              <a:t>pertencer</a:t>
            </a:r>
            <a:r>
              <a:rPr lang="pt-BR" dirty="0"/>
              <a:t> a </a:t>
            </a:r>
            <a:r>
              <a:rPr lang="pt-BR" b="1" i="1" dirty="0">
                <a:solidFill>
                  <a:srgbClr val="00B050"/>
                </a:solidFill>
              </a:rPr>
              <a:t>um e apenas a um cluster</a:t>
            </a:r>
            <a:r>
              <a:rPr lang="pt-BR" dirty="0"/>
              <a:t>. </a:t>
            </a:r>
          </a:p>
          <a:p>
            <a:r>
              <a:rPr lang="pt-BR" dirty="0"/>
              <a:t>Porém, </a:t>
            </a:r>
            <a:r>
              <a:rPr lang="pt-BR" b="1" i="1" dirty="0">
                <a:solidFill>
                  <a:srgbClr val="0070C0"/>
                </a:solidFill>
              </a:rPr>
              <a:t>dentro do mesmo cluster</a:t>
            </a:r>
            <a:r>
              <a:rPr lang="pt-BR" dirty="0"/>
              <a:t>, os </a:t>
            </a:r>
            <a:r>
              <a:rPr lang="pt-BR" b="1" i="1" dirty="0">
                <a:solidFill>
                  <a:srgbClr val="0070C0"/>
                </a:solidFill>
              </a:rPr>
              <a:t>exemplos</a:t>
            </a:r>
            <a:r>
              <a:rPr lang="pt-BR" dirty="0"/>
              <a:t> devem estar relativamente </a:t>
            </a:r>
            <a:r>
              <a:rPr lang="pt-BR" b="1" i="1" dirty="0">
                <a:solidFill>
                  <a:srgbClr val="0070C0"/>
                </a:solidFill>
              </a:rPr>
              <a:t>próximos</a:t>
            </a:r>
            <a:r>
              <a:rPr lang="pt-BR" dirty="0"/>
              <a:t> uns dos outros e </a:t>
            </a:r>
            <a:r>
              <a:rPr lang="pt-BR" b="1" i="1" dirty="0">
                <a:solidFill>
                  <a:srgbClr val="7030A0"/>
                </a:solidFill>
              </a:rPr>
              <a:t>distantes</a:t>
            </a:r>
            <a:r>
              <a:rPr lang="pt-BR" dirty="0"/>
              <a:t> dos </a:t>
            </a:r>
            <a:r>
              <a:rPr lang="pt-BR" b="1" i="1" dirty="0">
                <a:solidFill>
                  <a:srgbClr val="7030A0"/>
                </a:solidFill>
              </a:rPr>
              <a:t>exemplos dos outros clusters</a:t>
            </a:r>
            <a:r>
              <a:rPr lang="pt-BR" dirty="0"/>
              <a:t>.</a:t>
            </a:r>
          </a:p>
          <a:p>
            <a:r>
              <a:rPr lang="pt-BR" dirty="0"/>
              <a:t>Aí surge uma dúvida. </a:t>
            </a:r>
          </a:p>
          <a:p>
            <a:r>
              <a:rPr lang="pt-BR" dirty="0"/>
              <a:t>Quantos </a:t>
            </a:r>
            <a:r>
              <a:rPr lang="pt-BR" i="1" dirty="0"/>
              <a:t>clusters</a:t>
            </a:r>
            <a:r>
              <a:rPr lang="pt-BR" dirty="0"/>
              <a:t> um conjunto de exemplos contém?</a:t>
            </a:r>
          </a:p>
        </p:txBody>
      </p:sp>
      <p:pic>
        <p:nvPicPr>
          <p:cNvPr id="5" name="Picture 2" descr="K-Means Clustering using Python. Welcome back guys! Hope you had a great… |  by Luigi Fiori | Mediu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" t="12047" r="55246" b="11854"/>
          <a:stretch/>
        </p:blipFill>
        <p:spPr bwMode="auto">
          <a:xfrm>
            <a:off x="1045029" y="2388412"/>
            <a:ext cx="3798090" cy="279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141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6D1FDFF-84F9-A395-CDB0-AC77470C2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A82907A-6417-D3C2-265A-0FFD53046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Quantos devem ser os clusters?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C767761-7363-3966-1F66-B32029649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2114" y="1690688"/>
            <a:ext cx="7121731" cy="5167311"/>
          </a:xfrm>
        </p:spPr>
        <p:txBody>
          <a:bodyPr>
            <a:normAutofit/>
          </a:bodyPr>
          <a:lstStyle/>
          <a:p>
            <a:r>
              <a:rPr lang="pt-BR" dirty="0"/>
              <a:t>Na figura conseguimos identificar visualmente três clusters. </a:t>
            </a:r>
          </a:p>
          <a:p>
            <a:r>
              <a:rPr lang="pt-BR" dirty="0"/>
              <a:t>No entanto, o número de opções existentes não se limita a essa única possibilidade: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em um extremo, todo o conjunto de dados pode ser pensado como formando um grande </a:t>
            </a:r>
            <a:r>
              <a:rPr lang="pt-BR" i="1" dirty="0"/>
              <a:t>cluster</a:t>
            </a:r>
            <a:r>
              <a:rPr lang="pt-BR" dirty="0"/>
              <a:t>;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no outro, cada exemplo pode ser visto como representando seu próprio </a:t>
            </a:r>
            <a:r>
              <a:rPr lang="pt-BR" i="1" dirty="0"/>
              <a:t>cluster</a:t>
            </a:r>
            <a:r>
              <a:rPr lang="pt-BR" dirty="0"/>
              <a:t> de um único exemplo.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b="1" i="1" dirty="0">
                <a:solidFill>
                  <a:srgbClr val="7030A0"/>
                </a:solidFill>
              </a:rPr>
              <a:t>Implementações</a:t>
            </a:r>
            <a:r>
              <a:rPr lang="pt-BR" dirty="0"/>
              <a:t> práticas geralmente evitam esse problema pedindo ao </a:t>
            </a:r>
            <a:r>
              <a:rPr lang="pt-BR" b="1" i="1" dirty="0">
                <a:solidFill>
                  <a:srgbClr val="7030A0"/>
                </a:solidFill>
              </a:rPr>
              <a:t>usuário que forneça o número de clusters</a:t>
            </a:r>
            <a:r>
              <a:rPr lang="pt-BR" dirty="0"/>
              <a:t>.</a:t>
            </a:r>
          </a:p>
        </p:txBody>
      </p:sp>
      <p:pic>
        <p:nvPicPr>
          <p:cNvPr id="5" name="Picture 2" descr="K-Means Clustering using Python. Welcome back guys! Hope you had a great… |  by Luigi Fiori | Medium">
            <a:extLst>
              <a:ext uri="{FF2B5EF4-FFF2-40B4-BE49-F238E27FC236}">
                <a16:creationId xmlns:a16="http://schemas.microsoft.com/office/drawing/2014/main" xmlns="" id="{079377DD-55D2-BED3-3BB3-D573A6F139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" t="12047" r="55246" b="11854"/>
          <a:stretch/>
        </p:blipFill>
        <p:spPr bwMode="auto">
          <a:xfrm>
            <a:off x="838200" y="2562584"/>
            <a:ext cx="3694477" cy="271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4730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54994D8-D711-9C2A-C202-7BAD7B93F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FA636E4B-196C-922B-890C-6917F63A0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Medindo</a:t>
            </a:r>
            <a:r>
              <a:rPr lang="en-US" dirty="0"/>
              <a:t> </a:t>
            </a:r>
            <a:r>
              <a:rPr lang="en-US" dirty="0" err="1"/>
              <a:t>distâncias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1FCDFA83-D279-17E3-E2CD-6E304EAF63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799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Algoritmos para identificação de </a:t>
                </a:r>
                <a:r>
                  <a:rPr lang="pt-BR" i="1" dirty="0"/>
                  <a:t>clusters</a:t>
                </a:r>
                <a:r>
                  <a:rPr lang="pt-BR" dirty="0"/>
                  <a:t> precisam de uma </a:t>
                </a:r>
                <a:r>
                  <a:rPr lang="pt-BR" b="1" dirty="0">
                    <a:solidFill>
                      <a:srgbClr val="7030A0"/>
                    </a:solidFill>
                  </a:rPr>
                  <a:t>métrica para avaliar a </a:t>
                </a:r>
                <a:r>
                  <a:rPr lang="pt-BR" b="1" dirty="0">
                    <a:solidFill>
                      <a:srgbClr val="00B050"/>
                    </a:solidFill>
                  </a:rPr>
                  <a:t>distância</a:t>
                </a:r>
                <a:r>
                  <a:rPr lang="pt-BR" b="1" dirty="0">
                    <a:solidFill>
                      <a:srgbClr val="7030A0"/>
                    </a:solidFill>
                  </a:rPr>
                  <a:t> entre uma amostra e o centroide</a:t>
                </a:r>
                <a:r>
                  <a:rPr lang="pt-BR" dirty="0"/>
                  <a:t> de um </a:t>
                </a:r>
                <a:r>
                  <a:rPr lang="pt-BR" i="1" dirty="0"/>
                  <a:t>cluster</a:t>
                </a:r>
                <a:r>
                  <a:rPr lang="pt-BR" dirty="0"/>
                  <a:t>. </a:t>
                </a:r>
              </a:p>
              <a:p>
                <a:r>
                  <a:rPr lang="pt-BR" dirty="0"/>
                  <a:t>Uma forma de fazer isso é usar a </a:t>
                </a:r>
                <a:r>
                  <a:rPr lang="pt-BR" b="1" dirty="0">
                    <a:solidFill>
                      <a:srgbClr val="00B050"/>
                    </a:solidFill>
                  </a:rPr>
                  <a:t>distância euclidiana </a:t>
                </a:r>
                <a:r>
                  <a:rPr lang="pt-BR" dirty="0"/>
                  <a:t>entre os dois </a:t>
                </a:r>
                <a:r>
                  <a:rPr lang="pt-BR" dirty="0" smtClean="0"/>
                  <a:t>vetores (de atributos e do centroide)</a:t>
                </a:r>
                <a:endParaRPr lang="pt-BR" dirty="0"/>
              </a:p>
              <a:p>
                <a:pPr marL="0" indent="0">
                  <a:buNone/>
                </a:pPr>
                <a:endParaRPr lang="pt-BR" sz="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a:rPr lang="pt-BR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pt-BR" dirty="0"/>
                  <a:t> é o número de atributos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são os </a:t>
                </a:r>
                <a:r>
                  <a:rPr lang="pt-BR" dirty="0" smtClean="0"/>
                  <a:t>elementos </a:t>
                </a:r>
                <a:r>
                  <a:rPr lang="pt-BR" dirty="0"/>
                  <a:t>dos </a:t>
                </a:r>
                <a:r>
                  <a:rPr lang="pt-BR" dirty="0" smtClean="0"/>
                  <a:t>vetores.</a:t>
                </a:r>
              </a:p>
              <a:p>
                <a:r>
                  <a:rPr lang="pt-BR" dirty="0" smtClean="0"/>
                  <a:t>Outras </a:t>
                </a:r>
                <a:r>
                  <a:rPr lang="pt-BR" dirty="0"/>
                  <a:t>medidas de distância: </a:t>
                </a:r>
                <a:r>
                  <a:rPr lang="pt-BR" dirty="0" err="1"/>
                  <a:t>Minkowski</a:t>
                </a:r>
                <a:r>
                  <a:rPr lang="pt-BR" dirty="0"/>
                  <a:t>, cosseno, Manhattan e </a:t>
                </a:r>
                <a:r>
                  <a:rPr lang="pt-BR" dirty="0" err="1"/>
                  <a:t>Mahalanobis</a:t>
                </a:r>
                <a:r>
                  <a:rPr lang="pt-BR" dirty="0"/>
                  <a:t>.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FCDFA83-D279-17E3-E2CD-6E304EAF63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799" cy="5032375"/>
              </a:xfrm>
              <a:blipFill rotWithShape="0">
                <a:blip r:embed="rId2"/>
                <a:stretch>
                  <a:fillRect l="-1128" t="-1937" r="-376" b="-1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985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qual </a:t>
            </a:r>
            <a:r>
              <a:rPr lang="pt-BR" i="1" dirty="0"/>
              <a:t>cluster</a:t>
            </a:r>
            <a:r>
              <a:rPr lang="pt-BR" dirty="0"/>
              <a:t> um exemplo deve pertencer?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353801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 smtClean="0"/>
                  <a:t>Vamos supor que existam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dirty="0"/>
                  <a:t> </a:t>
                </a:r>
                <a:r>
                  <a:rPr lang="pt-BR" i="1" dirty="0"/>
                  <a:t>clusters</a:t>
                </a:r>
                <a:r>
                  <a:rPr lang="pt-BR" dirty="0"/>
                  <a:t> cujos centroides são denotados pelo vetor,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Uma amostra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 tem uma certa distância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dirty="0"/>
                  <a:t> para cada centroide.</a:t>
                </a:r>
              </a:p>
              <a:p>
                <a:r>
                  <a:rPr lang="pt-BR" dirty="0"/>
                  <a:t>Se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é a menor dessas distâncias, então, </a:t>
                </a:r>
                <a:r>
                  <a:rPr lang="pt-BR" dirty="0" smtClean="0"/>
                  <a:t>definimos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 como pertencente ao centroide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pt-BR" dirty="0"/>
                  <a:t>, ou seja, 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/>
                  <a:t>-ésimo </a:t>
                </a:r>
                <a:r>
                  <a:rPr lang="pt-BR" i="1" dirty="0"/>
                  <a:t>cluster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Portanto, escolhemos a </a:t>
                </a:r>
                <a:r>
                  <a:rPr lang="pt-BR" b="1" dirty="0">
                    <a:solidFill>
                      <a:schemeClr val="accent5"/>
                    </a:solidFill>
                  </a:rPr>
                  <a:t>menor distância </a:t>
                </a:r>
                <a:r>
                  <a:rPr lang="pt-BR" dirty="0"/>
                  <a:t>para </a:t>
                </a:r>
                <a:r>
                  <a:rPr lang="pt-BR" b="1" dirty="0">
                    <a:solidFill>
                      <a:schemeClr val="accent5"/>
                    </a:solidFill>
                  </a:rPr>
                  <a:t>definir a qual </a:t>
                </a:r>
                <a:r>
                  <a:rPr lang="pt-BR" b="1" i="1" dirty="0">
                    <a:solidFill>
                      <a:schemeClr val="accent5"/>
                    </a:solidFill>
                  </a:rPr>
                  <a:t>cluster</a:t>
                </a:r>
                <a:r>
                  <a:rPr lang="pt-BR" b="1" dirty="0">
                    <a:solidFill>
                      <a:schemeClr val="accent5"/>
                    </a:solidFill>
                  </a:rPr>
                  <a:t> um exemplo pertence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Agora, veremos como funciona o </a:t>
                </a:r>
                <a:r>
                  <a:rPr lang="pt-BR" dirty="0" smtClean="0"/>
                  <a:t>algoritmo </a:t>
                </a:r>
                <a:r>
                  <a:rPr lang="pt-BR" i="1" dirty="0"/>
                  <a:t>k-</a:t>
                </a:r>
                <a:r>
                  <a:rPr lang="pt-BR" i="1" dirty="0" err="1"/>
                  <a:t>Means</a:t>
                </a:r>
                <a:r>
                  <a:rPr lang="pt-BR" dirty="0"/>
                  <a:t>.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353801" cy="5032376"/>
              </a:xfrm>
              <a:blipFill rotWithShape="0">
                <a:blip r:embed="rId2"/>
                <a:stretch>
                  <a:fillRect l="-913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7880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k-</a:t>
            </a:r>
            <a:r>
              <a:rPr lang="pt-BR" i="1" dirty="0" err="1"/>
              <a:t>Means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353801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"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"</m:t>
                    </m:r>
                  </m:oMath>
                </a14:m>
                <a:r>
                  <a:rPr lang="pt-BR" dirty="0"/>
                  <a:t> é um </a:t>
                </a:r>
                <a:r>
                  <a:rPr lang="pt-BR" dirty="0" err="1"/>
                  <a:t>hiperparâmetro</a:t>
                </a:r>
                <a:r>
                  <a:rPr lang="pt-BR" dirty="0"/>
                  <a:t> que define o número de </a:t>
                </a:r>
                <a:r>
                  <a:rPr lang="pt-BR" i="1" dirty="0"/>
                  <a:t>clusters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O pseudocódigo do algoritmo é mostrado abaixo.</a:t>
                </a:r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r>
                  <a:rPr lang="pt-BR" dirty="0"/>
                  <a:t>O algoritmo garantidamente chega a uma situação em que cada exemplo se encontra no </a:t>
                </a:r>
                <a:r>
                  <a:rPr lang="pt-BR" i="1" dirty="0"/>
                  <a:t>cluster</a:t>
                </a:r>
                <a:r>
                  <a:rPr lang="pt-BR" dirty="0"/>
                  <a:t> mais próximo, de modo que, a partir deste momento, os centroides não mudem mais.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353801" cy="5032375"/>
              </a:xfrm>
              <a:blipFill rotWithShape="0">
                <a:blip r:embed="rId3"/>
                <a:stretch>
                  <a:fillRect l="-913" t="-1937" r="-1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4"/>
              <p:cNvSpPr txBox="1"/>
              <p:nvPr/>
            </p:nvSpPr>
            <p:spPr>
              <a:xfrm>
                <a:off x="1698214" y="2989982"/>
                <a:ext cx="9167906" cy="203132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pt-BR" b="1" dirty="0"/>
                  <a:t>Entradas</a:t>
                </a:r>
                <a:r>
                  <a:rPr lang="pt-BR" dirty="0"/>
                  <a:t>: conjunto de exemplos e número de </a:t>
                </a:r>
                <a:r>
                  <a:rPr lang="pt-BR" i="1" dirty="0"/>
                  <a:t>clusters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. </a:t>
                </a:r>
                <a:endParaRPr lang="pt-BR" b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pt-BR" b="1" dirty="0"/>
                  <a:t>Defina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 centroides </a:t>
                </a:r>
                <a:r>
                  <a:rPr lang="pt-BR" dirty="0" smtClean="0"/>
                  <a:t>iniciais.</a:t>
                </a:r>
                <a:endParaRPr lang="pt-BR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pt-BR" b="1" dirty="0"/>
                  <a:t>Repita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pt-BR" dirty="0"/>
                  <a:t>Calcule a distância de cada exemplo,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para cada um dos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 centroides.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pt-BR" dirty="0"/>
                  <a:t>Atribua cada exemplo,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dirty="0"/>
                  <a:t> ao </a:t>
                </a:r>
                <a:r>
                  <a:rPr lang="pt-BR" i="1" dirty="0"/>
                  <a:t>cluster</a:t>
                </a:r>
                <a:r>
                  <a:rPr lang="pt-BR" dirty="0"/>
                  <a:t> mais próximo (menor distância).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pt-BR" dirty="0"/>
                  <a:t>Calcule o novo centroide de cada </a:t>
                </a:r>
                <a:r>
                  <a:rPr lang="pt-BR" i="1" dirty="0"/>
                  <a:t>cluster</a:t>
                </a:r>
                <a:r>
                  <a:rPr lang="pt-BR" dirty="0"/>
                  <a:t>*.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pt-BR" b="1" dirty="0"/>
                  <a:t>Enquanto </a:t>
                </a:r>
                <a:r>
                  <a:rPr lang="pt-BR" dirty="0"/>
                  <a:t>as posições dos centroides continuarem mudando.</a:t>
                </a:r>
              </a:p>
            </p:txBody>
          </p:sp>
        </mc:Choice>
        <mc:Fallback>
          <p:sp>
            <p:nvSpPr>
              <p:cNvPr id="4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214" y="2989982"/>
                <a:ext cx="9167906" cy="2031325"/>
              </a:xfrm>
              <a:prstGeom prst="rect">
                <a:avLst/>
              </a:prstGeom>
              <a:blipFill rotWithShape="0">
                <a:blip r:embed="rId4"/>
                <a:stretch>
                  <a:fillRect l="-531" t="-1190" b="-327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/>
          <p:cNvSpPr/>
          <p:nvPr/>
        </p:nvSpPr>
        <p:spPr>
          <a:xfrm>
            <a:off x="1698214" y="5021307"/>
            <a:ext cx="91679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000000"/>
                </a:solidFill>
                <a:latin typeface="Calibri" panose="020F0502020204030204" pitchFamily="34" charset="0"/>
              </a:rPr>
              <a:t>*os novos centroides são calculados como a média aritmética (centro geométrico) das amostras pertencentes a cada </a:t>
            </a:r>
            <a:r>
              <a:rPr lang="pt-BR" sz="1400" i="1" dirty="0">
                <a:solidFill>
                  <a:srgbClr val="000000"/>
                </a:solidFill>
                <a:latin typeface="Calibri" panose="020F0502020204030204" pitchFamily="34" charset="0"/>
              </a:rPr>
              <a:t>cluster</a:t>
            </a:r>
            <a:r>
              <a:rPr lang="pt-BR" sz="140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663814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inicializar os centroides?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5043489" y="1825624"/>
                <a:ext cx="702945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 smtClean="0"/>
                  <a:t>Os procedimentos </a:t>
                </a:r>
                <a:r>
                  <a:rPr lang="pt-BR" dirty="0"/>
                  <a:t>mais simples para inicializar os centroides </a:t>
                </a:r>
                <a:r>
                  <a:rPr lang="pt-BR" dirty="0" smtClean="0"/>
                  <a:t>são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i="1" dirty="0" smtClean="0">
                    <a:solidFill>
                      <a:schemeClr val="accent5"/>
                    </a:solidFill>
                  </a:rPr>
                  <a:t>escolher </a:t>
                </a:r>
                <a14:m>
                  <m:oMath xmlns:m="http://schemas.openxmlformats.org/officeDocument/2006/math">
                    <m:r>
                      <a:rPr lang="pt-BR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pt-BR" b="1" i="1" dirty="0">
                    <a:solidFill>
                      <a:schemeClr val="accent5"/>
                    </a:solidFill>
                  </a:rPr>
                  <a:t> exemplos de treinamento aleatórios</a:t>
                </a:r>
                <a:r>
                  <a:rPr lang="pt-BR" dirty="0"/>
                  <a:t> e os considerar como os centroides iniciais</a:t>
                </a:r>
                <a:r>
                  <a:rPr lang="pt-BR" dirty="0" smtClean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 smtClean="0">
                    <a:solidFill>
                      <a:srgbClr val="7030A0"/>
                    </a:solidFill>
                  </a:rPr>
                  <a:t>inicializar </a:t>
                </a:r>
                <a14:m>
                  <m:oMath xmlns:m="http://schemas.openxmlformats.org/officeDocument/2006/math">
                    <m:r>
                      <a:rPr lang="pt-BR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pt-BR" b="1" dirty="0" smtClean="0">
                    <a:solidFill>
                      <a:srgbClr val="7030A0"/>
                    </a:solidFill>
                  </a:rPr>
                  <a:t> vetores com valores aleatórios </a:t>
                </a:r>
                <a:r>
                  <a:rPr lang="pt-BR" dirty="0" smtClean="0"/>
                  <a:t>retirados de alguma distribuição.</a:t>
                </a:r>
                <a:endParaRPr lang="pt-BR" dirty="0"/>
              </a:p>
              <a:p>
                <a:r>
                  <a:rPr lang="pt-BR" dirty="0"/>
                  <a:t>Os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clusters iniciais </a:t>
                </a:r>
                <a:r>
                  <a:rPr lang="pt-BR" dirty="0"/>
                  <a:t>são então criados associando cada um dos exemplos ao seu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centroide mais próximo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O número de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transferências</a:t>
                </a:r>
                <a:r>
                  <a:rPr lang="pt-BR" dirty="0"/>
                  <a:t> </a:t>
                </a:r>
                <a:r>
                  <a:rPr lang="pt-BR" dirty="0" smtClean="0"/>
                  <a:t>(i.e., </a:t>
                </a:r>
                <a:r>
                  <a:rPr lang="pt-BR" b="1" dirty="0" smtClean="0"/>
                  <a:t>tempo de treinamento</a:t>
                </a:r>
                <a:r>
                  <a:rPr lang="pt-BR" dirty="0" smtClean="0"/>
                  <a:t>) de </a:t>
                </a:r>
                <a:r>
                  <a:rPr lang="pt-BR" dirty="0"/>
                  <a:t>um exemplo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de um cluster para outro depende dos centroides iniciais</a:t>
                </a:r>
                <a:r>
                  <a:rPr lang="pt-BR" dirty="0"/>
                  <a:t>.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43489" y="1825624"/>
                <a:ext cx="7029450" cy="5032375"/>
              </a:xfrm>
              <a:blipFill rotWithShape="0">
                <a:blip r:embed="rId2"/>
                <a:stretch>
                  <a:fillRect l="-1561" t="-1937" r="-19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Quantum machine learning: distance estimation for k-means clustering | by  Sashwat Anagolum | Towards Data Science">
            <a:extLst>
              <a:ext uri="{FF2B5EF4-FFF2-40B4-BE49-F238E27FC236}">
                <a16:creationId xmlns:a16="http://schemas.microsoft.com/office/drawing/2014/main" xmlns="" id="{3663CA52-EDD8-4A35-5A6A-3A247A7891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11979" r="8929"/>
          <a:stretch/>
        </p:blipFill>
        <p:spPr bwMode="auto">
          <a:xfrm>
            <a:off x="311604" y="2516754"/>
            <a:ext cx="4487974" cy="339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627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7B1A926-A8C8-946A-0DCB-7DA6EAEC8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02E24AF-FE6E-7B0A-D179-EB49A1DEB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inicializar os centroides? 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E35406F-F929-EFBE-0B16-7CF919C6F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086" y="1825624"/>
            <a:ext cx="6770914" cy="5032375"/>
          </a:xfrm>
        </p:spPr>
        <p:txBody>
          <a:bodyPr>
            <a:normAutofit/>
          </a:bodyPr>
          <a:lstStyle/>
          <a:p>
            <a:r>
              <a:rPr lang="pt-BR" dirty="0"/>
              <a:t>Se os </a:t>
            </a:r>
            <a:r>
              <a:rPr lang="pt-BR" b="1" i="1" dirty="0">
                <a:solidFill>
                  <a:srgbClr val="7030A0"/>
                </a:solidFill>
              </a:rPr>
              <a:t>centroides iniciais </a:t>
            </a:r>
            <a:r>
              <a:rPr lang="pt-BR" dirty="0"/>
              <a:t>já forem </a:t>
            </a:r>
            <a:r>
              <a:rPr lang="pt-BR" b="1" i="1" dirty="0">
                <a:solidFill>
                  <a:srgbClr val="7030A0"/>
                </a:solidFill>
              </a:rPr>
              <a:t>perfeitos</a:t>
            </a:r>
            <a:r>
              <a:rPr lang="pt-BR" dirty="0"/>
              <a:t>, </a:t>
            </a:r>
            <a:r>
              <a:rPr lang="pt-BR" b="1" i="1" dirty="0">
                <a:solidFill>
                  <a:srgbClr val="7030A0"/>
                </a:solidFill>
              </a:rPr>
              <a:t>nenhum exemplo precisa ser atribuído a outro cluster</a:t>
            </a:r>
            <a:r>
              <a:rPr lang="pt-BR" dirty="0"/>
              <a:t> e o algoritmo é encerado</a:t>
            </a:r>
            <a:r>
              <a:rPr lang="pt-BR" dirty="0" smtClean="0"/>
              <a:t>.</a:t>
            </a:r>
          </a:p>
          <a:p>
            <a:r>
              <a:rPr lang="pt-BR" dirty="0" smtClean="0"/>
              <a:t>Se eles forem </a:t>
            </a:r>
            <a:r>
              <a:rPr lang="pt-BR" b="1" i="1" dirty="0" smtClean="0">
                <a:solidFill>
                  <a:schemeClr val="accent2"/>
                </a:solidFill>
              </a:rPr>
              <a:t>muito próximos</a:t>
            </a:r>
            <a:r>
              <a:rPr lang="pt-BR" dirty="0" smtClean="0"/>
              <a:t>, o tempo de </a:t>
            </a:r>
            <a:r>
              <a:rPr lang="pt-BR" b="1" dirty="0" smtClean="0">
                <a:solidFill>
                  <a:schemeClr val="accent2"/>
                </a:solidFill>
              </a:rPr>
              <a:t>treinamento pode ser longo</a:t>
            </a:r>
            <a:r>
              <a:rPr lang="pt-BR" dirty="0" smtClean="0"/>
              <a:t>. </a:t>
            </a:r>
            <a:endParaRPr lang="pt-BR" dirty="0"/>
          </a:p>
          <a:p>
            <a:r>
              <a:rPr lang="pt-BR" dirty="0"/>
              <a:t>Portanto, a </a:t>
            </a:r>
            <a:r>
              <a:rPr lang="pt-BR" b="1" i="1" dirty="0">
                <a:solidFill>
                  <a:srgbClr val="00B050"/>
                </a:solidFill>
              </a:rPr>
              <a:t>inicialização é importante </a:t>
            </a:r>
            <a:r>
              <a:rPr lang="pt-BR" dirty="0"/>
              <a:t>no sentido de que </a:t>
            </a:r>
            <a:r>
              <a:rPr lang="pt-BR" b="1" i="1" dirty="0">
                <a:solidFill>
                  <a:srgbClr val="00B050"/>
                </a:solidFill>
              </a:rPr>
              <a:t>um ponto de partida melhor</a:t>
            </a:r>
            <a:r>
              <a:rPr lang="pt-BR" dirty="0"/>
              <a:t> garante que a </a:t>
            </a:r>
            <a:r>
              <a:rPr lang="pt-BR" b="1" i="1" dirty="0">
                <a:solidFill>
                  <a:srgbClr val="00B050"/>
                </a:solidFill>
              </a:rPr>
              <a:t>solução seja encontrada mais rápido</a:t>
            </a:r>
            <a:r>
              <a:rPr lang="pt-BR" dirty="0"/>
              <a:t>.</a:t>
            </a:r>
          </a:p>
          <a:p>
            <a:r>
              <a:rPr lang="pt-BR" dirty="0"/>
              <a:t>Ou seja, o </a:t>
            </a:r>
            <a:r>
              <a:rPr lang="pt-BR" b="1" i="1" dirty="0">
                <a:solidFill>
                  <a:srgbClr val="FF0000"/>
                </a:solidFill>
              </a:rPr>
              <a:t>tempo de convergência </a:t>
            </a:r>
            <a:r>
              <a:rPr lang="pt-BR" dirty="0"/>
              <a:t>do algoritmo </a:t>
            </a:r>
            <a:r>
              <a:rPr lang="pt-BR" b="1" i="1" dirty="0">
                <a:solidFill>
                  <a:srgbClr val="FF0000"/>
                </a:solidFill>
              </a:rPr>
              <a:t>depende da inicialização</a:t>
            </a:r>
            <a:r>
              <a:rPr lang="pt-BR" dirty="0"/>
              <a:t>.</a:t>
            </a:r>
          </a:p>
        </p:txBody>
      </p:sp>
      <p:pic>
        <p:nvPicPr>
          <p:cNvPr id="4" name="Picture 2" descr="Quantum machine learning: distance estimation for k-means clustering | by  Sashwat Anagolum | Towards Data Science">
            <a:extLst>
              <a:ext uri="{FF2B5EF4-FFF2-40B4-BE49-F238E27FC236}">
                <a16:creationId xmlns:a16="http://schemas.microsoft.com/office/drawing/2014/main" xmlns="" id="{375C1022-A6C8-5B17-2FC3-13794270B2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11979" r="8929"/>
          <a:stretch/>
        </p:blipFill>
        <p:spPr bwMode="auto">
          <a:xfrm>
            <a:off x="511629" y="2202317"/>
            <a:ext cx="4487974" cy="339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2848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54EC41E-A91F-2BE6-4481-EFFD64DC2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escolher o número ideal de clusters?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7C91871B-A0D0-6F26-D59B-6230818E62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206163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Existem várias abordagens para determinar o valor ideal de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. </a:t>
                </a:r>
              </a:p>
              <a:p>
                <a:r>
                  <a:rPr lang="pt-BR" dirty="0"/>
                  <a:t>A mais </a:t>
                </a:r>
                <a:r>
                  <a:rPr lang="pt-BR" dirty="0" smtClean="0"/>
                  <a:t>comum </a:t>
                </a:r>
                <a:r>
                  <a:rPr lang="pt-BR" dirty="0"/>
                  <a:t>é o método da silhueta.</a:t>
                </a:r>
              </a:p>
              <a:p>
                <a:r>
                  <a:rPr lang="pt-BR" dirty="0"/>
                  <a:t>O coeficiente de silhueta avalia a </a:t>
                </a:r>
                <a:r>
                  <a:rPr lang="pt-BR" b="1" dirty="0"/>
                  <a:t>qualidade da clusterização</a:t>
                </a:r>
                <a:r>
                  <a:rPr lang="pt-BR" dirty="0"/>
                  <a:t>, considerando a </a:t>
                </a:r>
                <a:r>
                  <a:rPr lang="pt-BR" b="1" i="1" dirty="0">
                    <a:solidFill>
                      <a:schemeClr val="accent5"/>
                    </a:solidFill>
                  </a:rPr>
                  <a:t>coesão dentro dos clusters e a separação entre eles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Escolhemos o número de </a:t>
                </a:r>
                <a:r>
                  <a:rPr lang="pt-BR" i="1" dirty="0"/>
                  <a:t>clusters</a:t>
                </a:r>
                <a:r>
                  <a:rPr lang="pt-BR" dirty="0"/>
                  <a:t> que </a:t>
                </a:r>
                <a:r>
                  <a:rPr lang="pt-BR" b="1" dirty="0">
                    <a:solidFill>
                      <a:schemeClr val="accent2"/>
                    </a:solidFill>
                  </a:rPr>
                  <a:t>maximiza</a:t>
                </a:r>
                <a:r>
                  <a:rPr lang="pt-BR" dirty="0"/>
                  <a:t> o coeficiente</a:t>
                </a:r>
                <a:r>
                  <a:rPr lang="pt-BR" dirty="0" smtClean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 smtClean="0"/>
                  <a:t>Quanto mais próximas forem as amostras de um </a:t>
                </a:r>
                <a:r>
                  <a:rPr lang="pt-BR" i="1" dirty="0" smtClean="0"/>
                  <a:t>cluster</a:t>
                </a:r>
                <a:r>
                  <a:rPr lang="pt-BR" dirty="0" smtClean="0"/>
                  <a:t> e mais distantes das amostras de outro </a:t>
                </a:r>
                <a:r>
                  <a:rPr lang="pt-BR" i="1" dirty="0" smtClean="0"/>
                  <a:t>cluster</a:t>
                </a:r>
                <a:r>
                  <a:rPr lang="pt-BR" dirty="0" smtClean="0"/>
                  <a:t>, maior o coeficiente.</a:t>
                </a:r>
                <a:endParaRPr lang="pt-BR" dirty="0"/>
              </a:p>
              <a:p>
                <a:r>
                  <a:rPr lang="pt-BR" dirty="0"/>
                  <a:t>A documentação da biblioteca </a:t>
                </a:r>
                <a:r>
                  <a:rPr lang="pt-BR" dirty="0" err="1"/>
                  <a:t>SciKit-Learn</a:t>
                </a:r>
                <a:r>
                  <a:rPr lang="pt-BR" dirty="0"/>
                  <a:t> contém um exemplo de como usar a coeficiente de silhueta para definir o melhor número de clusters.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>
                    <a:hlinkClick r:id="rId2"/>
                  </a:rPr>
                  <a:t>https://scikit-learn.org/1.5/auto_examples/cluster/plot_kmeans_silhouette_analysis.html</a:t>
                </a:r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C91871B-A0D0-6F26-D59B-6230818E62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206163" cy="5032375"/>
              </a:xfrm>
              <a:blipFill rotWithShape="0">
                <a:blip r:embed="rId3"/>
                <a:stretch>
                  <a:fillRect l="-924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5590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SciKit-Learn</a:t>
            </a:r>
            <a:r>
              <a:rPr lang="pt-BR" dirty="0"/>
              <a:t>: k-</a:t>
            </a:r>
            <a:r>
              <a:rPr lang="pt-BR" dirty="0" err="1"/>
              <a:t>Means</a:t>
            </a:r>
            <a:endParaRPr lang="en-US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75" r="9212"/>
          <a:stretch/>
        </p:blipFill>
        <p:spPr>
          <a:xfrm>
            <a:off x="645742" y="2410691"/>
            <a:ext cx="4248376" cy="2774144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9" r="9402"/>
          <a:stretch/>
        </p:blipFill>
        <p:spPr>
          <a:xfrm>
            <a:off x="6722898" y="2410691"/>
            <a:ext cx="4239511" cy="2765280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5091120" y="2905640"/>
            <a:ext cx="1573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k-</a:t>
            </a:r>
            <a:r>
              <a:rPr lang="pt-BR" sz="2000" b="1" dirty="0" err="1"/>
              <a:t>Means</a:t>
            </a:r>
            <a:endParaRPr lang="en-US" sz="2000" b="1" dirty="0"/>
          </a:p>
        </p:txBody>
      </p:sp>
      <p:sp>
        <p:nvSpPr>
          <p:cNvPr id="9" name="Seta para a direita 8"/>
          <p:cNvSpPr/>
          <p:nvPr/>
        </p:nvSpPr>
        <p:spPr>
          <a:xfrm>
            <a:off x="5416920" y="3305750"/>
            <a:ext cx="921721" cy="623453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ângulo 9"/>
          <p:cNvSpPr/>
          <p:nvPr/>
        </p:nvSpPr>
        <p:spPr>
          <a:xfrm>
            <a:off x="4312228" y="5711308"/>
            <a:ext cx="33148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pt-BR" dirty="0">
                <a:hlinkClick r:id="rId5"/>
              </a:rPr>
              <a:t>Exemplo: </a:t>
            </a:r>
            <a:r>
              <a:rPr lang="pt-BR" dirty="0" err="1">
                <a:hlinkClick r:id="rId5"/>
              </a:rPr>
              <a:t>kmeans_example.ipynb</a:t>
            </a:r>
            <a:endParaRPr lang="pt-BR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467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Avisos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1154879" cy="5032376"/>
          </a:xfrm>
        </p:spPr>
        <p:txBody>
          <a:bodyPr>
            <a:normAutofit/>
          </a:bodyPr>
          <a:lstStyle/>
          <a:p>
            <a:r>
              <a:rPr lang="pt-BR" dirty="0" smtClean="0"/>
              <a:t>Terminamos o conteúdo da disciplina.</a:t>
            </a:r>
          </a:p>
          <a:p>
            <a:r>
              <a:rPr lang="pt-BR" dirty="0" smtClean="0"/>
              <a:t>As próximas aulas serão para duvidas e conclusão do projeto.</a:t>
            </a:r>
            <a:endParaRPr lang="pt-BR" dirty="0" smtClean="0"/>
          </a:p>
          <a:p>
            <a:r>
              <a:rPr lang="pt-BR" b="1" dirty="0" smtClean="0"/>
              <a:t>Projeto</a:t>
            </a:r>
            <a:r>
              <a:rPr lang="pt-BR" dirty="0"/>
              <a:t>: Projeto #2.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Projeto está no </a:t>
            </a:r>
            <a:r>
              <a:rPr lang="pt-BR" dirty="0" err="1"/>
              <a:t>github</a:t>
            </a:r>
            <a:r>
              <a:rPr lang="pt-BR" dirty="0"/>
              <a:t> e pode ser feito em grupos de no máximo 3 alunos</a:t>
            </a:r>
            <a:r>
              <a:rPr lang="pt-BR" dirty="0" smtClean="0"/>
              <a:t>.</a:t>
            </a:r>
            <a:endParaRPr lang="pt-BR" b="1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 smtClean="0"/>
              <a:t>Entrega</a:t>
            </a:r>
            <a:r>
              <a:rPr lang="pt-BR" dirty="0"/>
              <a:t>: </a:t>
            </a:r>
            <a:r>
              <a:rPr lang="pt-BR" b="1" dirty="0" smtClean="0">
                <a:solidFill>
                  <a:srgbClr val="00B050"/>
                </a:solidFill>
              </a:rPr>
              <a:t>28/06/2026 </a:t>
            </a:r>
            <a:r>
              <a:rPr lang="pt-BR" b="1" dirty="0">
                <a:solidFill>
                  <a:srgbClr val="00B050"/>
                </a:solidFill>
              </a:rPr>
              <a:t>até às 23:59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Leiam os enunciados atentamente.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Apenas um integrante do grupo precisa fazer a entrega.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>
                <a:solidFill>
                  <a:srgbClr val="FF0000"/>
                </a:solidFill>
              </a:rPr>
              <a:t>Mas não se esqueçam de colocar os nomes de todos os integrantes do grupo.</a:t>
            </a:r>
          </a:p>
        </p:txBody>
      </p:sp>
    </p:spTree>
    <p:extLst>
      <p:ext uri="{BB962C8B-B14F-4D97-AF65-F5344CB8AC3E}">
        <p14:creationId xmlns:p14="http://schemas.microsoft.com/office/powerpoint/2010/main" val="86867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668771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FREE DIVING INTO K-MEANS. Content Contributors: Shray Khanna… | by Honghui  wang | SFU Professional Computer Science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47" y="415635"/>
            <a:ext cx="2656609" cy="2656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openAlchemy no Twitter: &quot;Sunday Funday! Pool day with some mean algorithms,  K? #machinelearning #deeplearning #kmeans #sundayfunday #ml #ai  #artificialintelligence #memes #meme #memesdaily #openalchemy #nlp #cv  #aimemes #funny #math #statistics https ..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8" r="22192"/>
          <a:stretch/>
        </p:blipFill>
        <p:spPr bwMode="auto">
          <a:xfrm>
            <a:off x="4732121" y="1225261"/>
            <a:ext cx="2358736" cy="421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Meme Creator - Funny K-Means Cluster All the things Meme Generator at  MemeCreator.org!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045" y="186170"/>
            <a:ext cx="3239366" cy="323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Brace yourself K-Means is coming - Brace Yourself - Game of Thrones Meme |  Make a Mem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0319" y="3805080"/>
            <a:ext cx="3166340" cy="289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Still running... first K-means iteration - Skeleton computer | Meme  Generato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462" y="3425536"/>
            <a:ext cx="3108471" cy="310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67904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Figuras</a:t>
            </a:r>
          </a:p>
        </p:txBody>
      </p:sp>
    </p:spTree>
    <p:extLst>
      <p:ext uri="{BB962C8B-B14F-4D97-AF65-F5344CB8AC3E}">
        <p14:creationId xmlns:p14="http://schemas.microsoft.com/office/powerpoint/2010/main" val="712819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9265</TotalTime>
  <Words>2307</Words>
  <Application>Microsoft Office PowerPoint</Application>
  <PresentationFormat>Widescreen</PresentationFormat>
  <Paragraphs>208</Paragraphs>
  <Slides>22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T320 - Introdução ao Aprendizado de Máquina II: k-Médias</vt:lpstr>
      <vt:lpstr>Recapitulando</vt:lpstr>
      <vt:lpstr>Motivação</vt:lpstr>
      <vt:lpstr>Motivação</vt:lpstr>
      <vt:lpstr>Motivação</vt:lpstr>
      <vt:lpstr>Identificação de clusters</vt:lpstr>
      <vt:lpstr>Como representar os clusters?</vt:lpstr>
      <vt:lpstr>Como calcular os centroides?</vt:lpstr>
      <vt:lpstr>Como podemos usar os centroides?</vt:lpstr>
      <vt:lpstr>Quantos devem ser os clusters?</vt:lpstr>
      <vt:lpstr>Quantos devem ser os clusters?</vt:lpstr>
      <vt:lpstr>Medindo distâncias</vt:lpstr>
      <vt:lpstr>A qual cluster um exemplo deve pertencer?</vt:lpstr>
      <vt:lpstr>k-Means</vt:lpstr>
      <vt:lpstr>Como inicializar os centroides? </vt:lpstr>
      <vt:lpstr>Como inicializar os centroides? </vt:lpstr>
      <vt:lpstr>Como escolher o número ideal de clusters?</vt:lpstr>
      <vt:lpstr>SciKit-Learn: k-Means</vt:lpstr>
      <vt:lpstr>Avisos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Learning: Classificadores Lineares</dc:title>
  <dc:creator>Felipe Augusto Pereira de Figueiredo</dc:creator>
  <cp:lastModifiedBy>Felipe Augusto Pereira de Figueiredo</cp:lastModifiedBy>
  <cp:revision>837</cp:revision>
  <dcterms:created xsi:type="dcterms:W3CDTF">2020-04-06T23:46:10Z</dcterms:created>
  <dcterms:modified xsi:type="dcterms:W3CDTF">2026-06-13T12:52:03Z</dcterms:modified>
</cp:coreProperties>
</file>