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84" r:id="rId3"/>
    <p:sldId id="258" r:id="rId4"/>
    <p:sldId id="301" r:id="rId5"/>
    <p:sldId id="294" r:id="rId6"/>
    <p:sldId id="285" r:id="rId7"/>
    <p:sldId id="287" r:id="rId8"/>
    <p:sldId id="296" r:id="rId9"/>
    <p:sldId id="286" r:id="rId10"/>
    <p:sldId id="288" r:id="rId11"/>
    <p:sldId id="297" r:id="rId12"/>
    <p:sldId id="304" r:id="rId13"/>
    <p:sldId id="305" r:id="rId14"/>
    <p:sldId id="306" r:id="rId15"/>
    <p:sldId id="292" r:id="rId16"/>
    <p:sldId id="299" r:id="rId17"/>
    <p:sldId id="300" r:id="rId18"/>
    <p:sldId id="293" r:id="rId19"/>
    <p:sldId id="307" r:id="rId20"/>
    <p:sldId id="269" r:id="rId21"/>
    <p:sldId id="265" r:id="rId22"/>
    <p:sldId id="271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5" autoAdjust="0"/>
    <p:restoredTop sz="90893" autoAdjust="0"/>
  </p:normalViewPr>
  <p:slideViewPr>
    <p:cSldViewPr snapToGrid="0">
      <p:cViewPr varScale="1">
        <p:scale>
          <a:sx n="100" d="100"/>
          <a:sy n="100" d="100"/>
        </p:scale>
        <p:origin x="100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59398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174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7203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Projeto #2:</a:t>
            </a:r>
            <a:r>
              <a:rPr lang="pt-BR" sz="1200" dirty="0"/>
              <a:t> https://mybinder.org/v2/gh/zz4fap/t320_aprendizado_de_maquina/main?filepath=projeto%2Fprojeto_2_T320_1S2022.ipynb</a:t>
            </a:r>
          </a:p>
          <a:p>
            <a:endParaRPr lang="pt-BR" sz="1200" dirty="0"/>
          </a:p>
          <a:p>
            <a:r>
              <a:rPr lang="pt-BR" sz="1200" b="1" dirty="0"/>
              <a:t>Projeto #2:</a:t>
            </a:r>
            <a:r>
              <a:rPr lang="pt-BR" sz="1200" dirty="0"/>
              <a:t> https://colab.research.google.com/github/zz4fap/t320_aprendizado_de_maquina/blob/main/projeto/projeto_2_T320_1S2022.ipynb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3546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k-Médias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446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04865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 err="1"/>
              <a:t>clustering</a:t>
            </a:r>
            <a:r>
              <a:rPr lang="pt-BR" dirty="0"/>
              <a:t>, que são algoritmos de </a:t>
            </a:r>
            <a:r>
              <a:rPr lang="pt-BR" b="1" i="1" dirty="0"/>
              <a:t>aprendizado não-supervisionado</a:t>
            </a:r>
            <a:r>
              <a:rPr lang="pt-BR" dirty="0"/>
              <a:t> que visam criar </a:t>
            </a:r>
            <a:r>
              <a:rPr lang="pt-BR" b="1" i="1" dirty="0">
                <a:solidFill>
                  <a:srgbClr val="7030A0"/>
                </a:solidFill>
              </a:rPr>
              <a:t>agrupamentos de dados</a:t>
            </a:r>
            <a:r>
              <a:rPr lang="pt-BR" dirty="0"/>
              <a:t> (chamados de </a:t>
            </a:r>
            <a:r>
              <a:rPr lang="pt-BR" b="1" i="1" dirty="0"/>
              <a:t>clusters </a:t>
            </a:r>
            <a:r>
              <a:rPr lang="pt-BR" dirty="0"/>
              <a:t>ou</a:t>
            </a:r>
            <a:r>
              <a:rPr lang="pt-BR" b="1" i="1" dirty="0"/>
              <a:t> grupos</a:t>
            </a:r>
            <a:r>
              <a:rPr lang="pt-BR" dirty="0"/>
              <a:t>) segundo seu </a:t>
            </a:r>
            <a:r>
              <a:rPr lang="pt-BR" b="1" i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Em seguida, aprenderemos sobre o algoritmo chamado de </a:t>
            </a:r>
            <a:r>
              <a:rPr lang="pt-BR" b="1" i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 err="1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quando não temos informações sobre as classes (i.e., rótulos) a que pertencem os exemplos de um conjunto de dados?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Na figura ao lado, não sabemos a que classe ou classes pertencem os dados, mas podemos observar que alguns exemplos estão </a:t>
            </a:r>
            <a:r>
              <a:rPr lang="pt-BR" b="1" i="1" dirty="0">
                <a:solidFill>
                  <a:srgbClr val="7030A0"/>
                </a:solidFill>
              </a:rPr>
              <a:t>próximos uns dos outros</a:t>
            </a:r>
            <a:r>
              <a:rPr lang="pt-BR" dirty="0"/>
              <a:t>, formando grupos.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313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572000"/>
            <a:ext cx="11204865" cy="2285999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 aprendizado não supervisionado é a </a:t>
            </a:r>
            <a:r>
              <a:rPr lang="pt-BR" b="1" i="1" dirty="0">
                <a:solidFill>
                  <a:srgbClr val="00B05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Veremos que com eles, podemos obter informações uteis de dados não rotulados usando algum critério de </a:t>
            </a:r>
            <a:r>
              <a:rPr lang="pt-BR" b="1" dirty="0">
                <a:solidFill>
                  <a:schemeClr val="accent2"/>
                </a:solidFill>
              </a:rPr>
              <a:t>similaridade entre eles</a:t>
            </a:r>
            <a:r>
              <a:rPr lang="pt-BR" b="1" dirty="0"/>
              <a:t> (e.g., a distância).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2674464" y="1690688"/>
            <a:ext cx="6868547" cy="2748308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4921135"/>
            <a:ext cx="11353800" cy="1936866"/>
          </a:xfrm>
        </p:spPr>
        <p:txBody>
          <a:bodyPr/>
          <a:lstStyle/>
          <a:p>
            <a:r>
              <a:rPr lang="pt-BR" dirty="0"/>
              <a:t>Na tarefa de </a:t>
            </a:r>
            <a:r>
              <a:rPr lang="pt-BR" b="1" i="1" dirty="0">
                <a:solidFill>
                  <a:schemeClr val="accent2"/>
                </a:solidFill>
              </a:rPr>
              <a:t>identificação de clusters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 </a:t>
            </a:r>
            <a:r>
              <a:rPr lang="pt-BR" b="1" i="1" dirty="0">
                <a:solidFill>
                  <a:srgbClr val="FF0000"/>
                </a:solidFill>
              </a:rPr>
              <a:t>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saída</a:t>
            </a:r>
            <a:r>
              <a:rPr lang="pt-BR" dirty="0"/>
              <a:t> são valores indicando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838200" y="2074134"/>
            <a:ext cx="6718380" cy="2463555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2535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912411" y="2743740"/>
            <a:ext cx="389166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/>
              <a:t>OBS</a:t>
            </a:r>
            <a:r>
              <a:rPr lang="pt-BR" sz="1400" dirty="0"/>
              <a:t>.: A identificação visual de </a:t>
            </a:r>
            <a:r>
              <a:rPr lang="pt-BR" sz="1400" i="1" dirty="0"/>
              <a:t>clusters</a:t>
            </a:r>
            <a:r>
              <a:rPr lang="pt-BR" sz="1400" dirty="0"/>
              <a:t> em um espaço bi ou tridimensional é fácil, mas em quatro ou mais dimensões isso já não é mais possível. Nesses casos, apenas algoritmos de identificação de </a:t>
            </a:r>
            <a:r>
              <a:rPr lang="pt-BR" sz="1400" i="1" dirty="0"/>
              <a:t>clusters</a:t>
            </a:r>
            <a:r>
              <a:rPr lang="pt-BR" sz="1400" dirty="0"/>
              <a:t>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clusters?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14913" y="1825624"/>
            <a:ext cx="703854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Para realizar a clusterização, temos que </a:t>
            </a:r>
            <a:r>
              <a:rPr lang="pt-BR" b="1" i="1" dirty="0">
                <a:solidFill>
                  <a:srgbClr val="00B050"/>
                </a:solidFill>
              </a:rPr>
              <a:t>decidir como os clusters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a distribuição e a hierarquia dos dados.</a:t>
            </a:r>
          </a:p>
          <a:p>
            <a:r>
              <a:rPr lang="pt-BR" dirty="0"/>
              <a:t>Porém, a abordagem mais simples usa os </a:t>
            </a:r>
            <a:r>
              <a:rPr lang="pt-BR" b="1" i="1" dirty="0"/>
              <a:t>centroides </a:t>
            </a:r>
            <a:r>
              <a:rPr lang="pt-BR" dirty="0"/>
              <a:t>(i.e., </a:t>
            </a:r>
            <a:r>
              <a:rPr lang="pt-BR" b="1" i="1" dirty="0">
                <a:solidFill>
                  <a:schemeClr val="accent2"/>
                </a:solidFill>
              </a:rPr>
              <a:t>centros geométricos</a:t>
            </a:r>
            <a:r>
              <a:rPr lang="pt-BR" dirty="0"/>
              <a:t>) dos </a:t>
            </a:r>
            <a:r>
              <a:rPr lang="pt-BR" i="1" dirty="0"/>
              <a:t>clusters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algoritmo que usa centroides é conhecido como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i="1" dirty="0">
                <a:solidFill>
                  <a:srgbClr val="7030A0"/>
                </a:solidFill>
              </a:rPr>
              <a:t>centroides</a:t>
            </a:r>
            <a:r>
              <a:rPr lang="pt-BR" dirty="0"/>
              <a:t> são obtidos através da </a:t>
            </a:r>
            <a:r>
              <a:rPr lang="pt-BR" b="1" i="1" dirty="0">
                <a:solidFill>
                  <a:srgbClr val="00B050"/>
                </a:solidFill>
              </a:rPr>
              <a:t>média individual de cada atributo </a:t>
            </a:r>
            <a:r>
              <a:rPr lang="pt-BR" b="1" i="1" dirty="0">
                <a:solidFill>
                  <a:srgbClr val="7030A0"/>
                </a:solidFill>
              </a:rPr>
              <a:t>das amostras que pertencem ao cluster</a:t>
            </a:r>
            <a:r>
              <a:rPr lang="pt-BR" dirty="0"/>
              <a:t>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538162" y="2467655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calcular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i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o </a:t>
                </a:r>
                <a:r>
                  <a:rPr lang="pt-BR" b="1" i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atributos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devem ser numéricos</a:t>
                </a:r>
                <a:r>
                  <a:rPr lang="pt-BR" dirty="0"/>
                  <a:t> para o cálculo do centroide e da métrica de similaridade.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  <a:blipFill rotWithShape="0">
                <a:blip r:embed="rId3"/>
                <a:stretch>
                  <a:fillRect l="-1590" t="-1937" r="-1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1340B874-C37C-46C8-FA71-6364C1463C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723900" y="234042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podemos usar os centroides?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95457" cy="5167311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b="1" i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ou sumarizar os dados,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Usa-se o centroide para representar todo o </a:t>
            </a:r>
            <a:r>
              <a:rPr lang="pt-BR" i="1" dirty="0"/>
              <a:t>cluster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anomalias,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distancia até o centroide pode indicar uma anomalia.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inicialização de modelos de misturas Gaussianas ou de redes de função de base radial,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ausentes,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Usa-se o valor de centroide para preencher o valor.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protótipos para classificadores baseados em distância.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mais simples do que os baseados em modelos supervisionados (e.g., redes neurais)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983938C-72D4-9E58-2CE8-D43E36E7012F}"/>
              </a:ext>
            </a:extLst>
          </p:cNvPr>
          <p:cNvSpPr txBox="1"/>
          <p:nvPr/>
        </p:nvSpPr>
        <p:spPr>
          <a:xfrm>
            <a:off x="838200" y="5292546"/>
            <a:ext cx="37807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centroide</a:t>
            </a:r>
            <a:r>
              <a:rPr lang="pt-BR" dirty="0"/>
              <a:t> é o ponto central de um cluster de dados. Representa a média geométrica das amostras dentro do </a:t>
            </a:r>
            <a:r>
              <a:rPr lang="pt-BR" i="1" dirty="0"/>
              <a:t>cluster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729845" cy="5167311"/>
          </a:xfrm>
        </p:spPr>
        <p:txBody>
          <a:bodyPr>
            <a:normAutofit/>
          </a:bodyPr>
          <a:lstStyle/>
          <a:p>
            <a:r>
              <a:rPr lang="pt-BR" dirty="0"/>
              <a:t>Os clusters </a:t>
            </a:r>
            <a:r>
              <a:rPr lang="pt-BR" b="1" i="1" dirty="0"/>
              <a:t>não devem se sobrepor</a:t>
            </a:r>
            <a:r>
              <a:rPr lang="pt-BR" dirty="0"/>
              <a:t>: </a:t>
            </a:r>
            <a:r>
              <a:rPr lang="pt-BR" b="1" i="1" dirty="0">
                <a:solidFill>
                  <a:srgbClr val="00B050"/>
                </a:solidFill>
              </a:rPr>
              <a:t>cada exemplo</a:t>
            </a:r>
            <a:r>
              <a:rPr lang="pt-BR" dirty="0"/>
              <a:t> deve </a:t>
            </a:r>
            <a:r>
              <a:rPr lang="pt-BR" b="1" i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i="1" dirty="0">
                <a:solidFill>
                  <a:srgbClr val="00B050"/>
                </a:solidFill>
              </a:rPr>
              <a:t>um e apenas a um 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i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os </a:t>
            </a:r>
            <a:r>
              <a:rPr lang="pt-BR" b="1" i="1" dirty="0">
                <a:solidFill>
                  <a:srgbClr val="0070C0"/>
                </a:solidFill>
              </a:rPr>
              <a:t>exemplos</a:t>
            </a:r>
            <a:r>
              <a:rPr lang="pt-BR" dirty="0"/>
              <a:t> devem estar relativamente </a:t>
            </a:r>
            <a:r>
              <a:rPr lang="pt-BR" b="1" i="1" dirty="0">
                <a:solidFill>
                  <a:srgbClr val="0070C0"/>
                </a:solidFill>
              </a:rPr>
              <a:t>próximos</a:t>
            </a:r>
            <a:r>
              <a:rPr lang="pt-BR" dirty="0"/>
              <a:t> uns dos outros e </a:t>
            </a:r>
            <a:r>
              <a:rPr lang="pt-BR" b="1" i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dos </a:t>
            </a:r>
            <a:r>
              <a:rPr lang="pt-BR" b="1" i="1" dirty="0">
                <a:solidFill>
                  <a:srgbClr val="7030A0"/>
                </a:solidFill>
              </a:rPr>
              <a:t>exemplos dos outros 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</a:t>
            </a:r>
            <a:r>
              <a:rPr lang="pt-BR" i="1" dirty="0"/>
              <a:t>clusters</a:t>
            </a:r>
            <a:r>
              <a:rPr lang="pt-BR" dirty="0"/>
              <a:t> um conjunto de exemplos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</a:t>
            </a:r>
            <a:r>
              <a:rPr lang="pt-BR" i="1" dirty="0"/>
              <a:t>cluster</a:t>
            </a:r>
            <a:r>
              <a:rPr lang="pt-BR" dirty="0"/>
              <a:t>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</a:t>
            </a:r>
            <a:r>
              <a:rPr lang="pt-BR" i="1" dirty="0"/>
              <a:t>cluster</a:t>
            </a:r>
            <a:r>
              <a:rPr lang="pt-BR" dirty="0"/>
              <a:t> de um único exemplo.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i="1" dirty="0">
                <a:solidFill>
                  <a:srgbClr val="7030A0"/>
                </a:solidFill>
              </a:rPr>
              <a:t>usuário que forneça o número de clusters</a:t>
            </a:r>
            <a:r>
              <a:rPr lang="pt-BR" dirty="0"/>
              <a:t>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FCDFA83-D279-17E3-E2CD-6E304EAF63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Algoritmos para identificação de </a:t>
                </a:r>
                <a:r>
                  <a:rPr lang="pt-BR" i="1" dirty="0"/>
                  <a:t>clusters</a:t>
                </a:r>
                <a:r>
                  <a:rPr lang="pt-BR" dirty="0"/>
                  <a:t> precisam de uma </a:t>
                </a:r>
                <a:r>
                  <a:rPr lang="pt-BR" b="1" dirty="0">
                    <a:solidFill>
                      <a:srgbClr val="7030A0"/>
                    </a:solidFill>
                  </a:rPr>
                  <a:t>métrica para avaliar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</a:t>
                </a:r>
                <a:r>
                  <a:rPr lang="pt-BR" b="1" dirty="0">
                    <a:solidFill>
                      <a:srgbClr val="7030A0"/>
                    </a:solidFill>
                  </a:rPr>
                  <a:t> entre uma amostra e o centroide</a:t>
                </a:r>
                <a:r>
                  <a:rPr lang="pt-BR" dirty="0"/>
                  <a:t> de um </a:t>
                </a:r>
                <a:r>
                  <a:rPr lang="pt-BR" i="1" dirty="0"/>
                  <a:t>cluster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Uma forma de fazer isso é usar a </a:t>
                </a:r>
                <a:r>
                  <a:rPr lang="pt-BR" b="1" dirty="0">
                    <a:solidFill>
                      <a:srgbClr val="00B050"/>
                    </a:solidFill>
                  </a:rPr>
                  <a:t>distância euclidiana </a:t>
                </a:r>
                <a:r>
                  <a:rPr lang="pt-BR" dirty="0"/>
                  <a:t>entre os dois vetores (de atributos e do centroide)</a:t>
                </a:r>
              </a:p>
              <a:p>
                <a:pPr marL="0" indent="0">
                  <a:buNone/>
                </a:pPr>
                <a:endParaRPr lang="pt-BR" sz="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são os elementos dos vetores.</a:t>
                </a:r>
              </a:p>
              <a:p>
                <a:r>
                  <a:rPr lang="pt-BR" dirty="0"/>
                  <a:t>Outras medidas de distância: </a:t>
                </a:r>
                <a:r>
                  <a:rPr lang="pt-BR" dirty="0" err="1"/>
                  <a:t>Minkowski</a:t>
                </a:r>
                <a:r>
                  <a:rPr lang="pt-BR" dirty="0"/>
                  <a:t>, cosseno, Manhattan e </a:t>
                </a:r>
                <a:r>
                  <a:rPr lang="pt-BR" dirty="0" err="1"/>
                  <a:t>Mahalanobis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FCDFA83-D279-17E3-E2CD-6E304EAF6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799" cy="5032375"/>
              </a:xfrm>
              <a:blipFill rotWithShape="0">
                <a:blip r:embed="rId2"/>
                <a:stretch>
                  <a:fillRect l="-1128" t="-1937" r="-376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3985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</a:t>
            </a:r>
            <a:r>
              <a:rPr lang="pt-BR" i="1" dirty="0"/>
              <a:t>cluster</a:t>
            </a:r>
            <a:r>
              <a:rPr lang="pt-BR" dirty="0"/>
              <a:t>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</a:t>
                </a:r>
                <a:r>
                  <a:rPr lang="pt-BR" i="1" dirty="0"/>
                  <a:t>clusters</a:t>
                </a:r>
                <a:r>
                  <a:rPr lang="pt-BR" dirty="0"/>
                  <a:t>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Uma amostra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definimos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i="1" dirty="0"/>
                  <a:t>cluster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cluster</a:t>
                </a:r>
                <a:r>
                  <a:rPr lang="pt-BR" b="1" dirty="0">
                    <a:solidFill>
                      <a:schemeClr val="accent5"/>
                    </a:solidFill>
                  </a:rPr>
                  <a:t>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algoritmo </a:t>
                </a:r>
                <a:r>
                  <a:rPr lang="pt-BR" i="1" dirty="0"/>
                  <a:t>k-</a:t>
                </a:r>
                <a:r>
                  <a:rPr lang="pt-BR" i="1" dirty="0" err="1"/>
                  <a:t>Means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 rotWithShape="0"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78800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k-</a:t>
            </a:r>
            <a:r>
              <a:rPr lang="pt-BR" i="1" dirty="0" err="1"/>
              <a:t>Means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que define o número de </a:t>
                </a:r>
                <a:r>
                  <a:rPr lang="pt-BR" i="1" dirty="0"/>
                  <a:t>clusters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</a:t>
                </a:r>
                <a:r>
                  <a:rPr lang="pt-BR" i="1" dirty="0"/>
                  <a:t>cluster</a:t>
                </a:r>
                <a:r>
                  <a:rPr lang="pt-BR" dirty="0"/>
                  <a:t>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 r="-1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b="1" dirty="0"/>
                  <a:t>Entradas</a:t>
                </a:r>
                <a:r>
                  <a:rPr lang="pt-BR" dirty="0"/>
                  <a:t>: conjunto de exemplos e número de </a:t>
                </a:r>
                <a:r>
                  <a:rPr lang="pt-BR" i="1" dirty="0"/>
                  <a:t>clusters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  <a:endParaRPr lang="pt-BR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Defina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 iniciais.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para cada um dos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centroides.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Atribua cada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/>
                  <a:t> ao </a:t>
                </a:r>
                <a:r>
                  <a:rPr lang="pt-BR" i="1" dirty="0"/>
                  <a:t>cluster</a:t>
                </a:r>
                <a:r>
                  <a:rPr lang="pt-BR" dirty="0"/>
                  <a:t> mais próximo (menor distância).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dirty="0"/>
                  <a:t>Calcule o novo centroide de cada </a:t>
                </a:r>
                <a:r>
                  <a:rPr lang="pt-BR" i="1" dirty="0"/>
                  <a:t>cluster</a:t>
                </a:r>
                <a:r>
                  <a:rPr lang="pt-BR" dirty="0"/>
                  <a:t>*.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b="1" dirty="0"/>
                  <a:t>Enquanto </a:t>
                </a:r>
                <a:r>
                  <a:rPr lang="pt-BR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214" y="2989982"/>
                <a:ext cx="9167906" cy="2031325"/>
              </a:xfrm>
              <a:prstGeom prst="rect">
                <a:avLst/>
              </a:prstGeom>
              <a:blipFill rotWithShape="0">
                <a:blip r:embed="rId4"/>
                <a:stretch>
                  <a:fillRect l="-531" t="-1190" b="-32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/>
          <p:cNvSpPr/>
          <p:nvPr/>
        </p:nvSpPr>
        <p:spPr>
          <a:xfrm>
            <a:off x="1698214" y="5021307"/>
            <a:ext cx="91679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*os novos centroides são calculados como a média aritmética (centro geométrico) das amostras pertencentes a cada </a:t>
            </a:r>
            <a:r>
              <a:rPr lang="pt-BR" sz="1400" i="1" dirty="0">
                <a:solidFill>
                  <a:srgbClr val="000000"/>
                </a:solidFill>
                <a:latin typeface="Calibri" panose="020F0502020204030204" pitchFamily="34" charset="0"/>
              </a:rPr>
              <a:t>cluster</a:t>
            </a:r>
            <a:r>
              <a:rPr lang="pt-BR" sz="1400" dirty="0">
                <a:solidFill>
                  <a:srgbClr val="000000"/>
                </a:solidFill>
                <a:latin typeface="Calibri" panose="020F0502020204030204" pitchFamily="34" charset="0"/>
              </a:rPr>
              <a:t>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663814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043489" y="1825624"/>
                <a:ext cx="70294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procedimentos mais simples para inicializar os centroides são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7030A0"/>
                    </a:solidFill>
                  </a:rPr>
                  <a:t>inicializar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vetores com valores aleatórios </a:t>
                </a:r>
                <a:r>
                  <a:rPr lang="pt-BR" dirty="0"/>
                  <a:t>retirados de alguma distribuição.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(i.e., </a:t>
                </a:r>
                <a:r>
                  <a:rPr lang="pt-BR" b="1" dirty="0"/>
                  <a:t>tempo de treinamento</a:t>
                </a:r>
                <a:r>
                  <a:rPr lang="pt-BR" dirty="0"/>
                  <a:t>) de um exemplo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43489" y="1825624"/>
                <a:ext cx="7029450" cy="5032375"/>
              </a:xfrm>
              <a:blipFill rotWithShape="0">
                <a:blip r:embed="rId2"/>
                <a:stretch>
                  <a:fillRect l="-1561" t="-1937" r="-19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311604" y="2516754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770914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i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i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i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Se eles forem </a:t>
            </a:r>
            <a:r>
              <a:rPr lang="pt-BR" b="1" i="1" dirty="0">
                <a:solidFill>
                  <a:schemeClr val="accent2"/>
                </a:solidFill>
              </a:rPr>
              <a:t>muito próximos</a:t>
            </a:r>
            <a:r>
              <a:rPr lang="pt-BR" dirty="0"/>
              <a:t>, o tempo de </a:t>
            </a:r>
            <a:r>
              <a:rPr lang="pt-BR" b="1" dirty="0">
                <a:solidFill>
                  <a:schemeClr val="accent2"/>
                </a:solidFill>
              </a:rPr>
              <a:t>treinamento pode ser longo</a:t>
            </a:r>
            <a:r>
              <a:rPr lang="pt-BR" dirty="0"/>
              <a:t>. </a:t>
            </a:r>
          </a:p>
          <a:p>
            <a:r>
              <a:rPr lang="pt-BR" dirty="0"/>
              <a:t>Portanto, a </a:t>
            </a:r>
            <a:r>
              <a:rPr lang="pt-BR" b="1" i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i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i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i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61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</a:t>
                </a:r>
                <a:r>
                  <a:rPr lang="pt-BR" i="1" dirty="0"/>
                  <a:t>clusters</a:t>
                </a:r>
                <a:r>
                  <a:rPr lang="pt-BR" dirty="0"/>
                  <a:t>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maximiza</a:t>
                </a:r>
                <a:r>
                  <a:rPr lang="pt-BR" dirty="0"/>
                  <a:t> o coeficiente.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próximas forem as amostras de um </a:t>
                </a:r>
                <a:r>
                  <a:rPr lang="pt-BR" i="1" dirty="0"/>
                  <a:t>cluster</a:t>
                </a:r>
                <a:r>
                  <a:rPr lang="pt-BR" dirty="0"/>
                  <a:t> e mais distantes das amostras de outro </a:t>
                </a:r>
                <a:r>
                  <a:rPr lang="pt-BR" i="1" dirty="0"/>
                  <a:t>cluster</a:t>
                </a:r>
                <a:r>
                  <a:rPr lang="pt-BR" dirty="0"/>
                  <a:t>, maior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6163" cy="5032375"/>
              </a:xfrm>
              <a:blipFill rotWithShape="0"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4879" cy="5032376"/>
          </a:xfrm>
        </p:spPr>
        <p:txBody>
          <a:bodyPr>
            <a:normAutofit/>
          </a:bodyPr>
          <a:lstStyle/>
          <a:p>
            <a:r>
              <a:rPr lang="pt-BR" dirty="0"/>
              <a:t>Terminamos o conteúdo da disciplina.</a:t>
            </a:r>
          </a:p>
          <a:p>
            <a:r>
              <a:rPr lang="pt-BR" dirty="0"/>
              <a:t>As próximas aulas serão para dúvidas e conclusão do projeto.</a:t>
            </a:r>
          </a:p>
          <a:p>
            <a:r>
              <a:rPr lang="pt-BR" b="1" dirty="0"/>
              <a:t>Projeto</a:t>
            </a:r>
            <a:r>
              <a:rPr lang="pt-BR" dirty="0"/>
              <a:t>: Projeto #2.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está no </a:t>
            </a:r>
            <a:r>
              <a:rPr lang="pt-BR" dirty="0" err="1"/>
              <a:t>github</a:t>
            </a:r>
            <a:r>
              <a:rPr lang="pt-BR" dirty="0"/>
              <a:t> e pode ser feito em grupos de no máximo 3 alunos.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Entrega</a:t>
            </a:r>
            <a:r>
              <a:rPr lang="pt-BR" dirty="0"/>
              <a:t>: </a:t>
            </a:r>
            <a:r>
              <a:rPr lang="pt-BR" b="1" dirty="0">
                <a:solidFill>
                  <a:srgbClr val="00B050"/>
                </a:solidFill>
              </a:rPr>
              <a:t>28/06/2026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atentamente.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Apenas um integrante do grupo precisa fazer a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FF0000"/>
                </a:solidFill>
              </a:rPr>
              <a:t>Mas não se esqueçam de colocar os nomes de todos os integrantes do grupo.</a:t>
            </a:r>
          </a:p>
        </p:txBody>
      </p:sp>
    </p:spTree>
    <p:extLst>
      <p:ext uri="{BB962C8B-B14F-4D97-AF65-F5344CB8AC3E}">
        <p14:creationId xmlns:p14="http://schemas.microsoft.com/office/powerpoint/2010/main" val="86867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9265</TotalTime>
  <Words>2973</Words>
  <Application>Microsoft Office PowerPoint</Application>
  <PresentationFormat>Widescreen</PresentationFormat>
  <Paragraphs>208</Paragraphs>
  <Slides>22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T320 - Introdução ao Aprendizado de Máquina II: k-Médias</vt:lpstr>
      <vt:lpstr>Recapitulando</vt:lpstr>
      <vt:lpstr>Motivação</vt:lpstr>
      <vt:lpstr>Motivação</vt:lpstr>
      <vt:lpstr>Motivação</vt:lpstr>
      <vt:lpstr>Identificação de clusters</vt:lpstr>
      <vt:lpstr>Como representar os clusters?</vt:lpstr>
      <vt:lpstr>Como calcular os centroides?</vt:lpstr>
      <vt:lpstr>Como podemos usar os centroides?</vt:lpstr>
      <vt:lpstr>Quantos devem ser os clusters?</vt:lpstr>
      <vt:lpstr>Quantos devem ser os clusters?</vt:lpstr>
      <vt:lpstr>Medindo distâncias</vt:lpstr>
      <vt:lpstr>A qual cluster um exemplo deve pertencer?</vt:lpstr>
      <vt:lpstr>k-Means</vt:lpstr>
      <vt:lpstr>Como inicializar os centroides? </vt:lpstr>
      <vt:lpstr>Como inicializar os centroides? </vt:lpstr>
      <vt:lpstr>Como escolher o número ideal de clusters?</vt:lpstr>
      <vt:lpstr>SciKit-Learn: k-Means</vt:lpstr>
      <vt:lpstr>Avisos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838</cp:revision>
  <dcterms:created xsi:type="dcterms:W3CDTF">2020-04-06T23:46:10Z</dcterms:created>
  <dcterms:modified xsi:type="dcterms:W3CDTF">2026-06-13T13:58:37Z</dcterms:modified>
</cp:coreProperties>
</file>