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36" r:id="rId3"/>
    <p:sldId id="325" r:id="rId4"/>
    <p:sldId id="474" r:id="rId5"/>
    <p:sldId id="475" r:id="rId6"/>
    <p:sldId id="476" r:id="rId7"/>
    <p:sldId id="472" r:id="rId8"/>
    <p:sldId id="478" r:id="rId9"/>
    <p:sldId id="479" r:id="rId10"/>
    <p:sldId id="473" r:id="rId11"/>
    <p:sldId id="480" r:id="rId12"/>
    <p:sldId id="481" r:id="rId13"/>
    <p:sldId id="482" r:id="rId14"/>
    <p:sldId id="483" r:id="rId15"/>
    <p:sldId id="484" r:id="rId16"/>
    <p:sldId id="486" r:id="rId17"/>
    <p:sldId id="485" r:id="rId18"/>
    <p:sldId id="487" r:id="rId19"/>
    <p:sldId id="489" r:id="rId20"/>
    <p:sldId id="488" r:id="rId21"/>
    <p:sldId id="495" r:id="rId22"/>
    <p:sldId id="491" r:id="rId23"/>
    <p:sldId id="492" r:id="rId24"/>
    <p:sldId id="494" r:id="rId25"/>
    <p:sldId id="324" r:id="rId26"/>
    <p:sldId id="30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71" autoAdjust="0"/>
    <p:restoredTop sz="85817" autoAdjust="0"/>
  </p:normalViewPr>
  <p:slideViewPr>
    <p:cSldViewPr snapToGrid="0">
      <p:cViewPr varScale="1">
        <p:scale>
          <a:sx n="63" d="100"/>
          <a:sy n="63" d="100"/>
        </p:scale>
        <p:origin x="1026"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multiclasse,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31936593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multiclasse,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3243422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multiclasse,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0890692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multiclasse,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895662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multiclasse,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589513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multiclasse,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740219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multiclasse,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836892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9005946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14617738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5427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1293056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1923452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multiclasse,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2809259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1506439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hyperlink" Target="https://colab.research.google.com/github/zz4fap/t320_aprendizado_de_maquina/blob/main/notebooks/classifica&#231;&#227;o/softmax_regressor_with_scikit_learn.ipynb"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xmlns=""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xmlns=""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xmlns=""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xmlns=""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xmlns=""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xmlns=""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a:t>
                </a:r>
                <a:r>
                  <a:rPr lang="pt-BR" dirty="0" smtClean="0"/>
                  <a:t>indicar a</a:t>
                </a:r>
                <a:r>
                  <a:rPr lang="pt-BR" dirty="0" smtClean="0"/>
                  <a:t>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a16="http://schemas.microsoft.com/office/drawing/2014/main" xmlns=""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a:t>
                </a:r>
                <a:r>
                  <a:rPr lang="pt-BR" dirty="0" smtClean="0"/>
                  <a: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a16="http://schemas.microsoft.com/office/drawing/2014/main" xmlns=""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022D379-CAA0-9DC9-CDBD-6E0EBE1BFF31}"/>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68F0D74-8673-A432-A1D7-BDEF7725851A}"/>
                  </a:ext>
                </a:extLst>
              </p:cNvPr>
              <p:cNvSpPr>
                <a:spLocks noGrp="1"/>
              </p:cNvSpPr>
              <p:nvPr>
                <p:ph idx="1"/>
              </p:nvPr>
            </p:nvSpPr>
            <p:spPr>
              <a:xfrm>
                <a:off x="838199" y="1825624"/>
                <a:ext cx="11059391" cy="5032375"/>
              </a:xfrm>
            </p:spPr>
            <p:txBody>
              <a:bodyPr>
                <a:normAutofit lnSpcReduction="10000"/>
              </a:bodyPr>
              <a:lstStyle/>
              <a:p>
                <a:r>
                  <a:rPr lang="pt-BR" dirty="0"/>
                  <a:t>Também conhecida como </a:t>
                </a:r>
                <a:r>
                  <a:rPr lang="pt-BR" b="1" i="1" dirty="0"/>
                  <a:t>regressão logística multinomial</a:t>
                </a:r>
                <a:r>
                  <a:rPr lang="pt-BR" dirty="0"/>
                  <a:t>.</a:t>
                </a:r>
              </a:p>
              <a:p>
                <a:pPr lvl="1">
                  <a:buFont typeface="Wingdings" panose="05000000000000000000" pitchFamily="2" charset="2"/>
                  <a:buChar char="§"/>
                </a:pPr>
                <a:r>
                  <a:rPr lang="pt-BR" dirty="0"/>
                  <a:t>Pois as saídas deste regressor podem ser interpretadas como as </a:t>
                </a:r>
                <a:r>
                  <a:rPr lang="pt-BR" b="1" i="1" dirty="0">
                    <a:solidFill>
                      <a:srgbClr val="00B050"/>
                    </a:solidFill>
                  </a:rPr>
                  <a:t>probabilidades de uma variável categoricamente distribuída </a:t>
                </a:r>
                <a:r>
                  <a:rPr lang="pt-BR" dirty="0"/>
                  <a:t>(as classes) </a:t>
                </a:r>
                <a:r>
                  <a:rPr lang="pt-BR" b="1" i="1" dirty="0">
                    <a:solidFill>
                      <a:srgbClr val="00B050"/>
                    </a:solidFill>
                  </a:rPr>
                  <a:t>dado um conjunto de variáveis </a:t>
                </a:r>
                <a:r>
                  <a:rPr lang="pt-BR" dirty="0"/>
                  <a:t>(atributos e pesos).</a:t>
                </a:r>
              </a:p>
              <a:p>
                <a:pPr lvl="1">
                  <a:buFont typeface="Wingdings" panose="05000000000000000000" pitchFamily="2" charset="2"/>
                  <a:buChar char="§"/>
                </a:pPr>
                <a:r>
                  <a:rPr lang="pt-BR" dirty="0"/>
                  <a:t>Em outras palavras, a regressão </a:t>
                </a:r>
                <a:r>
                  <a:rPr lang="pt-BR" b="1" i="1" dirty="0">
                    <a:solidFill>
                      <a:srgbClr val="00B050"/>
                    </a:solidFill>
                  </a:rPr>
                  <a:t>softmax estima a probabilidade de um exemplo de entrada pertencer a cada uma das Q possíveis classes</a:t>
                </a:r>
                <a:r>
                  <a:rPr lang="pt-BR" dirty="0"/>
                  <a:t>.</a:t>
                </a:r>
              </a:p>
              <a:p>
                <a:r>
                  <a:rPr lang="pt-BR" dirty="0"/>
                  <a:t>É uma generalização do regressor logístico para problemas com </a:t>
                </a:r>
                <a:r>
                  <a:rPr lang="pt-BR" b="1" i="1" dirty="0"/>
                  <a:t>múltiplas classes</a:t>
                </a:r>
                <a:r>
                  <a:rPr lang="pt-BR" dirty="0"/>
                  <a:t>, em geral,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ea typeface="Cambria Math" panose="02040503050406030204" pitchFamily="18" charset="0"/>
                      </a:rPr>
                      <m:t>&gt;2</m:t>
                    </m:r>
                  </m:oMath>
                </a14:m>
                <a:r>
                  <a:rPr lang="pt-BR" dirty="0"/>
                  <a:t>.</a:t>
                </a:r>
              </a:p>
              <a:p>
                <a:r>
                  <a:rPr lang="pt-BR" dirty="0"/>
                  <a:t>A ideia é treinar um </a:t>
                </a:r>
                <a:r>
                  <a:rPr lang="pt-BR" b="1" i="1" dirty="0">
                    <a:solidFill>
                      <a:srgbClr val="00B050"/>
                    </a:solidFill>
                  </a:rPr>
                  <a:t>único</a:t>
                </a:r>
                <a:r>
                  <a:rPr lang="pt-BR" dirty="0"/>
                  <a:t> classificador com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i="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único classificador, mas com 4 saídas.</a:t>
                </a:r>
              </a:p>
            </p:txBody>
          </p:sp>
        </mc:Choice>
        <mc:Fallback xmlns="">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059391" cy="5032375"/>
              </a:xfrm>
              <a:blipFill>
                <a:blip r:embed="rId3"/>
                <a:stretch>
                  <a:fillRect l="-937" t="-2663" r="-1433"/>
                </a:stretch>
              </a:blipFill>
            </p:spPr>
            <p:txBody>
              <a:bodyPr/>
              <a:lstStyle/>
              <a:p>
                <a:r>
                  <a:rPr lang="pt-BR">
                    <a:noFill/>
                  </a:rPr>
                  <a:t> </a:t>
                </a:r>
              </a:p>
            </p:txBody>
          </p:sp>
        </mc:Fallback>
      </mc:AlternateContent>
    </p:spTree>
    <p:extLst>
      <p:ext uri="{BB962C8B-B14F-4D97-AF65-F5344CB8AC3E}">
        <p14:creationId xmlns:p14="http://schemas.microsoft.com/office/powerpoint/2010/main" val="310767353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19F0958-530D-D942-BA01-15C1583DD1E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16F72-28FB-E27C-D129-16A944A87C67}"/>
                  </a:ext>
                </a:extLst>
              </p:cNvPr>
              <p:cNvSpPr>
                <a:spLocks noGrp="1"/>
              </p:cNvSpPr>
              <p:nvPr>
                <p:ph idx="1"/>
              </p:nvPr>
            </p:nvSpPr>
            <p:spPr>
              <a:xfrm>
                <a:off x="838199" y="1825624"/>
                <a:ext cx="11132127" cy="5032375"/>
              </a:xfrm>
            </p:spPr>
            <p:txBody>
              <a:bodyPr/>
              <a:lstStyle/>
              <a:p>
                <a:r>
                  <a:rPr lang="pt-BR" dirty="0"/>
                  <a:t>Prediz </a:t>
                </a:r>
                <a:r>
                  <a:rPr lang="pt-BR" b="1" i="1" dirty="0"/>
                  <a:t>apenas </a:t>
                </a:r>
                <a:r>
                  <a:rPr lang="pt-BR" b="1" i="1" dirty="0">
                    <a:solidFill>
                      <a:srgbClr val="FF0000"/>
                    </a:solidFill>
                  </a:rPr>
                  <a:t>uma</a:t>
                </a:r>
                <a:r>
                  <a:rPr lang="pt-BR" b="1" i="1" dirty="0"/>
                  <a:t> classe por classificação</a:t>
                </a:r>
                <a:r>
                  <a:rPr lang="pt-BR" dirty="0"/>
                  <a:t>, portanto, ele deve ser usado apenas com </a:t>
                </a:r>
                <a:r>
                  <a:rPr lang="pt-BR" b="1" i="1" dirty="0"/>
                  <a:t>classes mutuamente exclusivas </a:t>
                </a:r>
                <a:r>
                  <a:rPr lang="pt-BR" dirty="0"/>
                  <a:t>como por exemplo diferentes tipos de plantas, dígitos, carros, etc.</a:t>
                </a:r>
              </a:p>
              <a:p>
                <a:pPr lvl="1">
                  <a:buFont typeface="Wingdings" panose="05000000000000000000" pitchFamily="2" charset="2"/>
                  <a:buChar char="§"/>
                </a:pPr>
                <a:r>
                  <a:rPr lang="pt-BR" b="1" i="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Já notícias, músicas e imagens, por exemplo, podem pertencer a várias ou conter várias classes ao mesmo tempo.</a:t>
                </a:r>
              </a:p>
              <a:p>
                <a:r>
                  <a:rPr lang="pt-BR" dirty="0"/>
                  <a:t>Para termos um </a:t>
                </a:r>
                <a:r>
                  <a:rPr lang="pt-BR" b="1" i="1" dirty="0">
                    <a:solidFill>
                      <a:srgbClr val="00B050"/>
                    </a:solidFill>
                  </a:rPr>
                  <a:t>único</a:t>
                </a:r>
                <a:r>
                  <a:rPr lang="pt-BR" dirty="0"/>
                  <a:t> classificador, o </a:t>
                </a:r>
                <a:r>
                  <a:rPr lang="pt-BR" b="1" i="1" dirty="0"/>
                  <a:t>regressor softmax </a:t>
                </a:r>
                <a:r>
                  <a:rPr lang="pt-BR" b="1" i="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dirty="0"/>
                  <a:t>, e, consequentemente, </a:t>
                </a:r>
                <a:r>
                  <a:rPr lang="pt-BR" b="1" i="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i="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p:txBody>
          </p:sp>
        </mc:Choice>
        <mc:Fallback xmlns="">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930" t="-1937" r="-1478"/>
                </a:stretch>
              </a:blipFill>
            </p:spPr>
            <p:txBody>
              <a:bodyPr/>
              <a:lstStyle/>
              <a:p>
                <a:r>
                  <a:rPr lang="en-US">
                    <a:noFill/>
                  </a:rPr>
                  <a:t> </a:t>
                </a:r>
              </a:p>
            </p:txBody>
          </p:sp>
        </mc:Fallback>
      </mc:AlternateContent>
    </p:spTree>
    <p:extLst>
      <p:ext uri="{BB962C8B-B14F-4D97-AF65-F5344CB8AC3E}">
        <p14:creationId xmlns:p14="http://schemas.microsoft.com/office/powerpoint/2010/main" val="36439784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CD47F25-5DD1-794E-8733-BFD771A2DE49}"/>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79BB7DC-99E7-8958-EC77-566B7E3C2BBB}"/>
                  </a:ext>
                </a:extLst>
              </p:cNvPr>
              <p:cNvSpPr>
                <a:spLocks noGrp="1"/>
              </p:cNvSpPr>
              <p:nvPr>
                <p:ph idx="1"/>
              </p:nvPr>
            </p:nvSpPr>
            <p:spPr>
              <a:xfrm>
                <a:off x="838200" y="1825624"/>
                <a:ext cx="11080174" cy="5032375"/>
              </a:xfrm>
            </p:spPr>
            <p:txBody>
              <a:bodyPr/>
              <a:lstStyle/>
              <a:p>
                <a:r>
                  <a:rPr lang="pt-BR" dirty="0"/>
                  <a:t>A </a:t>
                </a:r>
                <a:r>
                  <a:rPr lang="pt-BR" b="1" i="1" dirty="0"/>
                  <a:t>função hipótese de classificação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oMath>
                </a14:m>
                <a:r>
                  <a:rPr lang="pt-BR" dirty="0"/>
                  <a:t> é obtida passando-se a </a:t>
                </a:r>
                <a:r>
                  <a:rPr lang="pt-BR" b="1" i="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i="1" dirty="0"/>
                  <a:t>função 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i="1">
                                  <a:latin typeface="Cambria Math" panose="02040503050406030204" pitchFamily="18" charset="0"/>
                                </a:rPr>
                                <m:t>𝑖</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i="1">
                                      <a:latin typeface="Cambria Math" panose="02040503050406030204" pitchFamily="18" charset="0"/>
                                    </a:rPr>
                                    <m:t>𝑖</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p>
                                <m:sSupPr>
                                  <m:ctrlPr>
                                    <a:rPr lang="pt-BR" sz="2400" i="1">
                                      <a:latin typeface="Cambria Math" panose="02040503050406030204" pitchFamily="18" charset="0"/>
                                    </a:rPr>
                                  </m:ctrlPr>
                                </m:sSup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sup>
                                  <m:r>
                                    <a:rPr lang="pt-BR" sz="2400" i="1">
                                      <a:latin typeface="Cambria Math" panose="02040503050406030204" pitchFamily="18" charset="0"/>
                                    </a:rPr>
                                    <m:t>𝑇</m:t>
                                  </m:r>
                                </m:sup>
                              </m:sSup>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p>
                                    <m:sSupPr>
                                      <m:ctrlPr>
                                        <a:rPr lang="pt-BR" sz="2400" i="1">
                                          <a:latin typeface="Cambria Math" panose="02040503050406030204" pitchFamily="18" charset="0"/>
                                        </a:rPr>
                                      </m:ctrlPr>
                                    </m:sSup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sup>
                                      <m:r>
                                        <a:rPr lang="pt-BR" sz="2400" i="1">
                                          <a:latin typeface="Cambria Math" panose="02040503050406030204" pitchFamily="18" charset="0"/>
                                        </a:rPr>
                                        <m:t>𝑇</m:t>
                                      </m:r>
                                    </m:sup>
                                  </m:sSup>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𝑗</m:t>
                                      </m:r>
                                    </m:sub>
                                  </m:sSub>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i="1" dirty="0"/>
                  <a:t>vetor (coluna) de pesos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i="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i="1">
                        <a:latin typeface="Cambria Math" panose="02040503050406030204" pitchFamily="18" charset="0"/>
                      </a:rPr>
                      <m:t>𝑖</m:t>
                    </m:r>
                  </m:oMath>
                </a14:m>
                <a:r>
                  <a:rPr lang="pt-BR" dirty="0"/>
                  <a:t> indica o número da amostra.</a:t>
                </a:r>
              </a:p>
              <a:p>
                <a:r>
                  <a:rPr lang="pt-BR" sz="2800" dirty="0"/>
                  <a:t>O somatório de termos exponenciais no denominador </a:t>
                </a:r>
                <a:r>
                  <a:rPr lang="pt-BR" sz="2800" b="1" i="1" dirty="0">
                    <a:solidFill>
                      <a:srgbClr val="00B050"/>
                    </a:solidFill>
                  </a:rPr>
                  <a:t>normaliza</a:t>
                </a:r>
                <a:r>
                  <a:rPr lang="pt-BR" sz="2800" dirty="0"/>
                  <a:t> o valor da </a:t>
                </a:r>
                <a:r>
                  <a:rPr lang="pt-BR" sz="2800" i="1" dirty="0"/>
                  <a:t>q</a:t>
                </a:r>
                <a:r>
                  <a:rPr lang="pt-BR" sz="2800" dirty="0"/>
                  <a:t>-ésima saída de tal forma que o somatório das </a:t>
                </a:r>
                <a14:m>
                  <m:oMath xmlns:m="http://schemas.openxmlformats.org/officeDocument/2006/math">
                    <m:r>
                      <a:rPr lang="pt-BR" sz="2800" b="0" i="1" smtClean="0">
                        <a:latin typeface="Cambria Math" panose="02040503050406030204" pitchFamily="18" charset="0"/>
                      </a:rPr>
                      <m:t>𝑄</m:t>
                    </m:r>
                  </m:oMath>
                </a14:m>
                <a:r>
                  <a:rPr lang="pt-BR" sz="2800" dirty="0"/>
                  <a:t> saídas seja igual a 1.</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r="-1816"/>
                </a:stretch>
              </a:blipFill>
            </p:spPr>
            <p:txBody>
              <a:bodyPr/>
              <a:lstStyle/>
              <a:p>
                <a:r>
                  <a:rPr lang="pt-BR">
                    <a:noFill/>
                  </a:rPr>
                  <a:t> </a:t>
                </a:r>
              </a:p>
            </p:txBody>
          </p:sp>
        </mc:Fallback>
      </mc:AlternateContent>
      <p:sp>
        <p:nvSpPr>
          <p:cNvPr id="4" name="Rectangle 11">
            <a:extLst>
              <a:ext uri="{FF2B5EF4-FFF2-40B4-BE49-F238E27FC236}">
                <a16:creationId xmlns:a16="http://schemas.microsoft.com/office/drawing/2014/main" xmlns="" id="{66F09A24-9061-8EA4-420D-13EC84B7C649}"/>
              </a:ext>
            </a:extLst>
          </p:cNvPr>
          <p:cNvSpPr/>
          <p:nvPr/>
        </p:nvSpPr>
        <p:spPr>
          <a:xfrm>
            <a:off x="7861300" y="3546793"/>
            <a:ext cx="1695450" cy="5048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8915452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28A152F-93D8-11FA-9B7A-B62AE5BB648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3535727-BB24-BB15-5C03-3DA9A3F9A09A}"/>
                  </a:ext>
                </a:extLst>
              </p:cNvPr>
              <p:cNvSpPr>
                <a:spLocks noGrp="1"/>
              </p:cNvSpPr>
              <p:nvPr>
                <p:ph idx="1"/>
              </p:nvPr>
            </p:nvSpPr>
            <p:spPr>
              <a:xfrm>
                <a:off x="838200" y="1825624"/>
                <a:ext cx="11125200" cy="5032375"/>
              </a:xfrm>
            </p:spPr>
            <p:txBody>
              <a:bodyPr/>
              <a:lstStyle/>
              <a:p>
                <a:r>
                  <a:rPr lang="pt-BR" dirty="0"/>
                  <a:t>Assim como com o regressor logístico, podemos usar equações de </a:t>
                </a:r>
                <a:r>
                  <a:rPr lang="pt-BR" b="1" i="1" dirty="0"/>
                  <a:t>hiperplanos</a:t>
                </a:r>
                <a:r>
                  <a:rPr lang="pt-BR" dirty="0"/>
                  <a:t> ou </a:t>
                </a:r>
                <a:r>
                  <a:rPr lang="pt-BR" b="1" i="1" dirty="0"/>
                  <a:t>polinomiais</a:t>
                </a:r>
                <a:r>
                  <a:rPr lang="pt-BR" dirty="0"/>
                  <a:t> como </a:t>
                </a:r>
                <a:r>
                  <a:rPr lang="pt-BR" b="1" i="1" dirty="0"/>
                  <a:t>funções discriminantes</a:t>
                </a:r>
                <a:r>
                  <a:rPr lang="pt-BR" dirty="0"/>
                  <a:t>.</a:t>
                </a:r>
              </a:p>
              <a:p>
                <a:r>
                  <a:rPr lang="pt-BR" dirty="0"/>
                  <a:t>A </a:t>
                </a:r>
                <a:r>
                  <a:rPr lang="pt-BR" b="1" i="1" dirty="0"/>
                  <a:t>função softmax</a:t>
                </a:r>
                <a:r>
                  <a:rPr lang="pt-BR" dirty="0"/>
                  <a:t> estende a ideia do </a:t>
                </a:r>
                <a:r>
                  <a:rPr lang="pt-BR" b="1" i="1" dirty="0"/>
                  <a:t>regressor logístico </a:t>
                </a:r>
                <a:r>
                  <a:rPr lang="pt-BR" dirty="0"/>
                  <a:t>ao mundo multi-classes.</a:t>
                </a:r>
              </a:p>
              <a:p>
                <a:r>
                  <a:rPr lang="pt-BR" dirty="0"/>
                  <a:t>Ou seja, a </a:t>
                </a:r>
                <a:r>
                  <a:rPr lang="pt-BR" b="1" i="1" dirty="0"/>
                  <a:t>função softmax </a:t>
                </a:r>
                <a:r>
                  <a:rPr lang="pt-BR" dirty="0"/>
                  <a:t>atribui uma </a:t>
                </a:r>
                <a:r>
                  <a:rPr lang="pt-BR" b="1" i="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em um problema com múltiplas classes, onde </a:t>
                </a:r>
                <a:r>
                  <a:rPr lang="pt-BR" b="1" i="1" dirty="0">
                    <a:solidFill>
                      <a:srgbClr val="00B050"/>
                    </a:solidFill>
                  </a:rPr>
                  <a:t>a soma destas </a:t>
                </a:r>
                <a14:m>
                  <m:oMath xmlns:m="http://schemas.openxmlformats.org/officeDocument/2006/math">
                    <m:r>
                      <a:rPr lang="pt-BR" b="1" i="1">
                        <a:solidFill>
                          <a:srgbClr val="00B050"/>
                        </a:solidFill>
                        <a:latin typeface="Cambria Math" panose="02040503050406030204" pitchFamily="18" charset="0"/>
                      </a:rPr>
                      <m:t>𝑸</m:t>
                    </m:r>
                  </m:oMath>
                </a14:m>
                <a:r>
                  <a:rPr lang="pt-BR" b="1" i="1" dirty="0">
                    <a:solidFill>
                      <a:srgbClr val="00B050"/>
                    </a:solidFill>
                  </a:rPr>
                  <a:t> probabilidades deve </a:t>
                </a:r>
                <a:r>
                  <a:rPr lang="pt-BR" b="1" i="1">
                    <a:solidFill>
                      <a:srgbClr val="00B050"/>
                    </a:solidFill>
                  </a:rPr>
                  <a:t>ser sempre igual </a:t>
                </a:r>
                <a:r>
                  <a:rPr lang="pt-BR" b="1" i="1" dirty="0">
                    <a:solidFill>
                      <a:srgbClr val="00B050"/>
                    </a:solidFill>
                  </a:rPr>
                  <a:t>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0</m:t>
                            </m:r>
                          </m:sub>
                        </m:sSub>
                        <m:r>
                          <a:rPr lang="pt-BR" i="1">
                            <a:latin typeface="Cambria Math" panose="02040503050406030204" pitchFamily="18" charset="0"/>
                          </a:rPr>
                          <m:t> |</m:t>
                        </m:r>
                        <m:r>
                          <a:rPr lang="pt-BR" b="1"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0</m:t>
                            </m:r>
                          </m:sub>
                        </m:sSub>
                      </m:e>
                    </m:d>
                    <m:r>
                      <a:rPr lang="pt-BR" b="0" i="1" smtClean="0">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1</m:t>
                            </m:r>
                          </m:sub>
                        </m:sSub>
                        <m:r>
                          <a:rPr lang="pt-BR" i="1">
                            <a:latin typeface="Cambria Math" panose="02040503050406030204" pitchFamily="18" charset="0"/>
                          </a:rPr>
                          <m:t> |</m:t>
                        </m:r>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smtClean="0">
                                <a:latin typeface="Cambria Math" panose="02040503050406030204" pitchFamily="18" charset="0"/>
                              </a:rPr>
                              <m:t>,</m:t>
                            </m:r>
                            <m:r>
                              <a:rPr lang="pt-BR" b="1" i="1">
                                <a:latin typeface="Cambria Math" panose="02040503050406030204" pitchFamily="18" charset="0"/>
                              </a:rPr>
                              <m:t>𝒂</m:t>
                            </m:r>
                          </m:e>
                          <m:sub>
                            <m:r>
                              <a:rPr lang="pt-BR" b="0" i="1" smtClean="0">
                                <a:latin typeface="Cambria Math" panose="02040503050406030204" pitchFamily="18" charset="0"/>
                              </a:rPr>
                              <m:t>1</m:t>
                            </m:r>
                          </m:sub>
                        </m:sSub>
                      </m:e>
                    </m:d>
                    <m:r>
                      <a:rPr lang="pt-BR" b="0" i="0"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 |</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𝑄</m:t>
                            </m:r>
                            <m:r>
                              <a:rPr lang="pt-BR" b="0" i="1" smtClean="0">
                                <a:latin typeface="Cambria Math" panose="02040503050406030204" pitchFamily="18" charset="0"/>
                              </a:rPr>
                              <m:t>−1</m:t>
                            </m:r>
                          </m:sub>
                        </m:sSub>
                      </m:e>
                    </m:d>
                    <m:r>
                      <a:rPr lang="pt-BR" b="0" i="1" smtClean="0">
                        <a:latin typeface="Cambria Math" panose="02040503050406030204" pitchFamily="18" charset="0"/>
                      </a:rPr>
                      <m:t>=1</m:t>
                    </m:r>
                  </m:oMath>
                </a14:m>
                <a:r>
                  <a:rPr lang="pt-BR" dirty="0"/>
                  <a:t>.</a:t>
                </a:r>
              </a:p>
              <a:p>
                <a:r>
                  <a:rPr lang="pt-BR" dirty="0"/>
                  <a:t>Portanto, o objetivo é encontrar um </a:t>
                </a:r>
                <a:r>
                  <a:rPr lang="pt-BR" b="1" i="1" dirty="0"/>
                  <a:t>modelo</a:t>
                </a:r>
                <a:r>
                  <a:rPr lang="pt-BR" dirty="0"/>
                  <a:t> (i.e.,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i="1" dirty="0">
                    <a:solidFill>
                      <a:srgbClr val="00B050"/>
                    </a:solidFill>
                  </a:rPr>
                  <a:t>atribua uma alta probabilidade para a classe alvo </a:t>
                </a:r>
                <a:r>
                  <a:rPr lang="pt-BR" dirty="0"/>
                  <a:t>e, consequentemente, </a:t>
                </a:r>
                <a:r>
                  <a:rPr lang="pt-BR" b="1" i="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838200" y="1825624"/>
                <a:ext cx="11125200" cy="5032375"/>
              </a:xfrm>
              <a:blipFill>
                <a:blip r:embed="rId3"/>
                <a:stretch>
                  <a:fillRect l="-986" t="-1937" r="-1534" b="-1453"/>
                </a:stretch>
              </a:blipFill>
            </p:spPr>
            <p:txBody>
              <a:bodyPr/>
              <a:lstStyle/>
              <a:p>
                <a:r>
                  <a:rPr lang="en-US">
                    <a:noFill/>
                  </a:rPr>
                  <a:t> </a:t>
                </a:r>
              </a:p>
            </p:txBody>
          </p:sp>
        </mc:Fallback>
      </mc:AlternateContent>
    </p:spTree>
    <p:extLst>
      <p:ext uri="{BB962C8B-B14F-4D97-AF65-F5344CB8AC3E}">
        <p14:creationId xmlns:p14="http://schemas.microsoft.com/office/powerpoint/2010/main" val="40867176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AEBCFD6-83A6-222F-09EA-9F68DDF7B617}"/>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33AC492-69A5-87DD-C4AF-2FEA6B38E4C8}"/>
                  </a:ext>
                </a:extLst>
              </p:cNvPr>
              <p:cNvSpPr>
                <a:spLocks noGrp="1"/>
              </p:cNvSpPr>
              <p:nvPr>
                <p:ph idx="1"/>
              </p:nvPr>
            </p:nvSpPr>
            <p:spPr>
              <a:xfrm>
                <a:off x="838200" y="1825624"/>
                <a:ext cx="11201400" cy="5032375"/>
              </a:xfrm>
            </p:spPr>
            <p:txBody>
              <a:bodyPr>
                <a:normAutofit lnSpcReduction="10000"/>
              </a:bodyPr>
              <a:lstStyle/>
              <a:p>
                <a:r>
                  <a:rPr lang="pt-BR" dirty="0"/>
                  <a:t>Assim como fizemos anteriormente, precisamos definir uma </a:t>
                </a:r>
                <a:r>
                  <a:rPr lang="pt-BR" b="1" i="1" dirty="0"/>
                  <a:t>função de erro</a:t>
                </a:r>
                <a:r>
                  <a:rPr lang="pt-BR" dirty="0"/>
                  <a:t> e </a:t>
                </a:r>
                <a:r>
                  <a:rPr lang="pt-BR" b="1" i="1" dirty="0"/>
                  <a:t>minimizá-la</a:t>
                </a:r>
                <a:r>
                  <a:rPr lang="pt-BR" dirty="0"/>
                  <a:t> para encontrarmos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a:t>
                </a:r>
                <a:r>
                  <a:rPr lang="pt-BR" b="1" i="1" dirty="0"/>
                  <a:t>funções hipótese</a:t>
                </a:r>
                <a:r>
                  <a:rPr lang="pt-BR" dirty="0"/>
                  <a:t> do classificador softmax.</a:t>
                </a:r>
              </a:p>
              <a:p>
                <a:r>
                  <a:rPr lang="pt-BR" dirty="0"/>
                  <a:t>A </a:t>
                </a:r>
                <a:r>
                  <a:rPr lang="pt-BR" b="1" i="1" dirty="0"/>
                  <a:t>função de erro médio </a:t>
                </a:r>
                <a:r>
                  <a:rPr lang="pt-BR" dirty="0"/>
                  <a:t>para a </a:t>
                </a:r>
                <a:r>
                  <a:rPr lang="pt-BR" b="1" i="1" dirty="0"/>
                  <a:t>regressão softmax </a:t>
                </a:r>
                <a:r>
                  <a:rPr lang="pt-BR" dirty="0"/>
                  <a:t>é dada por</a:t>
                </a:r>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m:t>
                            </m:r>
                            <m:r>
                              <a:rPr lang="pt-BR" b="0" i="1" smtClean="0">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e>
                    </m:nary>
                  </m:oMath>
                </a14:m>
                <a:r>
                  <a:rPr lang="pt-BR" i="1" dirty="0"/>
                  <a:t>,</a:t>
                </a:r>
              </a:p>
              <a:p>
                <a:pPr marL="0" indent="0">
                  <a:buNone/>
                </a:pPr>
                <a:r>
                  <a:rPr lang="pt-BR" dirty="0"/>
                  <a:t>onde 1{⋅} é a </a:t>
                </a:r>
                <a:r>
                  <a:rPr lang="pt-BR" b="1" i="1" dirty="0"/>
                  <a:t>função indicadora</a:t>
                </a:r>
                <a:r>
                  <a:rPr lang="pt-BR" dirty="0"/>
                  <a:t>, de modo que 1{uma condição verdadeira} = 1 e 1{uma condição falsa} = 0, </a:t>
                </a:r>
                <a14:m>
                  <m:oMath xmlns:m="http://schemas.openxmlformats.org/officeDocument/2006/math">
                    <m:r>
                      <a:rPr lang="pt-BR" b="1" i="1">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funções hipótese</a:t>
                </a:r>
                <a:r>
                  <a:rPr lang="pt-BR" dirty="0"/>
                  <a:t> e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dirty="0"/>
                  <a:t> é o </a:t>
                </a:r>
                <a14:m>
                  <m:oMath xmlns:m="http://schemas.openxmlformats.org/officeDocument/2006/math">
                    <m:r>
                      <a:rPr lang="pt-BR" i="1">
                        <a:latin typeface="Cambria Math" panose="02040503050406030204" pitchFamily="18" charset="0"/>
                      </a:rPr>
                      <m:t>𝑖</m:t>
                    </m:r>
                  </m:oMath>
                </a14:m>
                <a:r>
                  <a:rPr lang="pt-BR" dirty="0"/>
                  <a:t>-ésimo valor esperado.</a:t>
                </a:r>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b="0" i="1" smtClean="0">
                        <a:latin typeface="Cambria Math" panose="02040503050406030204" pitchFamily="18" charset="0"/>
                      </a:rPr>
                      <m:t>𝑄</m:t>
                    </m:r>
                  </m:oMath>
                </a14:m>
                <a:r>
                  <a:rPr lang="pt-BR" dirty="0"/>
                  <a:t> </a:t>
                </a:r>
                <a:r>
                  <a:rPr lang="pt-BR" b="1" i="1" dirty="0"/>
                  <a:t>funções discriminantes</a:t>
                </a:r>
                <a:r>
                  <a:rPr lang="pt-BR" dirty="0"/>
                  <a:t>.</a:t>
                </a:r>
              </a:p>
              <a:p>
                <a:r>
                  <a:rPr lang="pt-BR" dirty="0"/>
                  <a:t>Essa função também é conhecida como </a:t>
                </a:r>
                <a:r>
                  <a:rPr lang="pt-BR" b="1" i="1" dirty="0">
                    <a:solidFill>
                      <a:srgbClr val="00B050"/>
                    </a:solidFill>
                  </a:rPr>
                  <a:t>função da entropia cruzada</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33AC492-69A5-87DD-C4AF-2FEA6B38E4C8}"/>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1143" t="-2663" r="-14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430AF08B-1D1C-CB3B-78DF-2FB94BE83C39}"/>
                  </a:ext>
                </a:extLst>
              </p:cNvPr>
              <p:cNvSpPr txBox="1"/>
              <p:nvPr/>
            </p:nvSpPr>
            <p:spPr>
              <a:xfrm>
                <a:off x="10255826" y="2737491"/>
                <a:ext cx="1840348" cy="656975"/>
              </a:xfrm>
              <a:prstGeom prst="rect">
                <a:avLst/>
              </a:prstGeom>
              <a:noFill/>
            </p:spPr>
            <p:txBody>
              <a:bodyPr wrap="square" rtlCol="0">
                <a:spAutoFit/>
              </a:bodyPr>
              <a:lstStyle/>
              <a:p>
                <a:pPr algn="ctr"/>
                <a:r>
                  <a:rPr lang="pt-BR" sz="1200" dirty="0"/>
                  <a:t>O erro tende a 0 quando </a:t>
                </a:r>
                <a14:m>
                  <m:oMath xmlns:m="http://schemas.openxmlformats.org/officeDocument/2006/math">
                    <m:sSubSup>
                      <m:sSubSupPr>
                        <m:ctrlPr>
                          <a:rPr lang="pt-BR" sz="1200" b="1" i="1">
                            <a:latin typeface="Cambria Math" panose="02040503050406030204" pitchFamily="18" charset="0"/>
                          </a:rPr>
                        </m:ctrlPr>
                      </m:sSubSupPr>
                      <m:e>
                        <m:r>
                          <a:rPr lang="pt-BR" sz="1200" i="1">
                            <a:latin typeface="Cambria Math" panose="02040503050406030204" pitchFamily="18" charset="0"/>
                          </a:rPr>
                          <m:t>h</m:t>
                        </m:r>
                      </m:e>
                      <m:sub>
                        <m:r>
                          <a:rPr lang="pt-BR" sz="1200" b="1" i="1">
                            <a:latin typeface="Cambria Math" panose="02040503050406030204" pitchFamily="18" charset="0"/>
                          </a:rPr>
                          <m:t>𝒂</m:t>
                        </m:r>
                      </m:sub>
                      <m:sup>
                        <m:r>
                          <a:rPr lang="pt-BR" sz="1200" i="1">
                            <a:latin typeface="Cambria Math" panose="02040503050406030204" pitchFamily="18" charset="0"/>
                          </a:rPr>
                          <m:t>𝑞</m:t>
                        </m:r>
                      </m:sup>
                    </m:sSubSup>
                    <m:d>
                      <m:dPr>
                        <m:ctrlPr>
                          <a:rPr lang="pt-BR" sz="1200" i="1">
                            <a:latin typeface="Cambria Math" panose="02040503050406030204" pitchFamily="18" charset="0"/>
                          </a:rPr>
                        </m:ctrlPr>
                      </m:dPr>
                      <m:e>
                        <m:r>
                          <a:rPr lang="pt-BR" sz="1200" b="1" i="1">
                            <a:latin typeface="Cambria Math" panose="02040503050406030204" pitchFamily="18" charset="0"/>
                          </a:rPr>
                          <m:t>𝒙</m:t>
                        </m:r>
                      </m:e>
                    </m:d>
                  </m:oMath>
                </a14:m>
                <a:r>
                  <a:rPr lang="pt-BR" sz="1200" dirty="0"/>
                  <a:t> tende a 1, caso contrário, o erro aumenta.</a:t>
                </a:r>
              </a:p>
            </p:txBody>
          </p:sp>
        </mc:Choice>
        <mc:Fallback xmlns="">
          <p:sp>
            <p:nvSpPr>
              <p:cNvPr id="4" name="TextBox 3">
                <a:extLst>
                  <a:ext uri="{FF2B5EF4-FFF2-40B4-BE49-F238E27FC236}">
                    <a16:creationId xmlns:a16="http://schemas.microsoft.com/office/drawing/2014/main" id="{430AF08B-1D1C-CB3B-78DF-2FB94BE83C39}"/>
                  </a:ext>
                </a:extLst>
              </p:cNvPr>
              <p:cNvSpPr txBox="1">
                <a:spLocks noRot="1" noChangeAspect="1" noMove="1" noResize="1" noEditPoints="1" noAdjustHandles="1" noChangeArrowheads="1" noChangeShapeType="1" noTextEdit="1"/>
              </p:cNvSpPr>
              <p:nvPr/>
            </p:nvSpPr>
            <p:spPr>
              <a:xfrm>
                <a:off x="10255826" y="2737491"/>
                <a:ext cx="1840348" cy="656975"/>
              </a:xfrm>
              <a:prstGeom prst="rect">
                <a:avLst/>
              </a:prstGeom>
              <a:blipFill>
                <a:blip r:embed="rId4"/>
                <a:stretch>
                  <a:fillRect b="-6481"/>
                </a:stretch>
              </a:blipFill>
            </p:spPr>
            <p:txBody>
              <a:bodyPr/>
              <a:lstStyle/>
              <a:p>
                <a:r>
                  <a:rPr lang="pt-BR">
                    <a:noFill/>
                  </a:rPr>
                  <a:t> </a:t>
                </a:r>
              </a:p>
            </p:txBody>
          </p:sp>
        </mc:Fallback>
      </mc:AlternateContent>
      <p:cxnSp>
        <p:nvCxnSpPr>
          <p:cNvPr id="5" name="Straight Arrow Connector 4">
            <a:extLst>
              <a:ext uri="{FF2B5EF4-FFF2-40B4-BE49-F238E27FC236}">
                <a16:creationId xmlns:a16="http://schemas.microsoft.com/office/drawing/2014/main" xmlns="" id="{7ADFCDFC-42ED-2E95-5F43-DF8574CF6A71}"/>
              </a:ext>
            </a:extLst>
          </p:cNvPr>
          <p:cNvCxnSpPr>
            <a:cxnSpLocks/>
          </p:cNvCxnSpPr>
          <p:nvPr/>
        </p:nvCxnSpPr>
        <p:spPr>
          <a:xfrm flipH="1">
            <a:off x="9824720" y="3065979"/>
            <a:ext cx="487680" cy="42164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7712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CEE090-DD33-6575-4FA7-70E4DD8E6119}"/>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9835C31-F047-4C77-EE04-457C9679811A}"/>
                  </a:ext>
                </a:extLst>
              </p:cNvPr>
              <p:cNvSpPr>
                <a:spLocks noGrp="1"/>
              </p:cNvSpPr>
              <p:nvPr>
                <p:ph idx="1"/>
              </p:nvPr>
            </p:nvSpPr>
            <p:spPr>
              <a:xfrm>
                <a:off x="838200" y="1825624"/>
                <a:ext cx="11144250" cy="5032375"/>
              </a:xfrm>
            </p:spPr>
            <p:txBody>
              <a:bodyPr/>
              <a:lstStyle/>
              <a:p>
                <a:r>
                  <a:rPr lang="pt-BR" dirty="0"/>
                  <a:t>Usando-se a codificação </a:t>
                </a:r>
                <a:r>
                  <a:rPr lang="pt-BR" b="1" i="1" dirty="0"/>
                  <a:t>one-hot</a:t>
                </a:r>
                <a:r>
                  <a:rPr lang="pt-BR" dirty="0"/>
                  <a:t>, a equação de erro médio pode ser reescrita como</a:t>
                </a:r>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oMath>
                </a14:m>
                <a:r>
                  <a:rPr lang="pt-BR" i="1" dirty="0"/>
                  <a:t>,</a:t>
                </a: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m>
                              <m:mPr>
                                <m:mcs>
                                  <m:mc>
                                    <m:mcPr>
                                      <m:count m:val="3"/>
                                      <m:mcJc m:val="center"/>
                                    </m:mcPr>
                                  </m:mc>
                                </m:mcs>
                                <m:ctrlPr>
                                  <a:rPr lang="pt-BR" i="1">
                                    <a:latin typeface="Cambria Math" panose="02040503050406030204" pitchFamily="18" charset="0"/>
                                  </a:rPr>
                                </m:ctrlPr>
                              </m:mPr>
                              <m:m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b="0" i="1" smtClean="0">
                                          <a:latin typeface="Cambria Math" panose="02040503050406030204" pitchFamily="18" charset="0"/>
                                        </a:rPr>
                                        <m:t>0</m:t>
                                      </m:r>
                                    </m:e>
                                  </m:d>
                                  <m:r>
                                    <a:rPr lang="pt-BR" i="1">
                                      <a:latin typeface="Cambria Math" panose="02040503050406030204" pitchFamily="18" charset="0"/>
                                    </a:rPr>
                                    <m:t>,</m:t>
                                  </m:r>
                                </m:e>
                                <m:e>
                                  <m:r>
                                    <a:rPr lang="pt-BR" i="1">
                                      <a:latin typeface="Cambria Math" panose="02040503050406030204" pitchFamily="18" charset="0"/>
                                      <a:ea typeface="Cambria Math" panose="02040503050406030204" pitchFamily="18" charset="0"/>
                                    </a:rPr>
                                    <m:t>⋯,</m:t>
                                  </m:r>
                                </m:e>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rPr>
                                        <m:t>𝑄</m:t>
                                      </m:r>
                                      <m:r>
                                        <a:rPr lang="pt-BR" b="0" i="1" smtClean="0">
                                          <a:latin typeface="Cambria Math" panose="02040503050406030204" pitchFamily="18" charset="0"/>
                                        </a:rPr>
                                        <m:t>−1</m:t>
                                      </m:r>
                                    </m:e>
                                  </m:d>
                                </m:e>
                              </m:mr>
                            </m:m>
                          </m:e>
                        </m:d>
                      </m:e>
                      <m:sup>
                        <m:r>
                          <a:rPr lang="pt-BR" i="1">
                            <a:latin typeface="Cambria Math" panose="02040503050406030204" pitchFamily="18" charset="0"/>
                          </a:rPr>
                          <m:t>𝑇</m:t>
                        </m:r>
                      </m:sup>
                    </m:sSup>
                  </m:oMath>
                </a14:m>
                <a:r>
                  <a:rPr lang="pt-BR" dirty="0"/>
                  <a:t> </a:t>
                </a:r>
                <a14:m>
                  <m:oMath xmlns:m="http://schemas.openxmlformats.org/officeDocument/2006/math">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coluna utilizando a codificação </a:t>
                </a:r>
                <a:r>
                  <a:rPr lang="pt-BR" b="1" i="1" dirty="0"/>
                  <a:t>one-hot</a:t>
                </a:r>
                <a:r>
                  <a:rPr lang="pt-BR" dirty="0"/>
                  <a:t> 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dirty="0"/>
                  <a:t> </a:t>
                </a:r>
                <a14:m>
                  <m:oMath xmlns:m="http://schemas.openxmlformats.org/officeDocument/2006/math">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coluna com as saídas das </a:t>
                </a:r>
                <a14:m>
                  <m:oMath xmlns:m="http://schemas.openxmlformats.org/officeDocument/2006/math">
                    <m:r>
                      <a:rPr lang="pt-BR" b="0" i="1" smtClean="0">
                        <a:latin typeface="Cambria Math" panose="02040503050406030204" pitchFamily="18" charset="0"/>
                      </a:rPr>
                      <m:t>𝑄</m:t>
                    </m:r>
                  </m:oMath>
                </a14:m>
                <a:r>
                  <a:rPr lang="pt-BR" dirty="0"/>
                  <a:t> </a:t>
                </a:r>
                <a:r>
                  <a:rPr lang="pt-BR" b="1" i="1" dirty="0"/>
                  <a:t>funções hipóteses de classificação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b="0" i="1" smtClean="0">
                                            <a:latin typeface="Cambria Math" panose="02040503050406030204" pitchFamily="18" charset="0"/>
                                          </a:rPr>
                                          <m:t>0</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e>
                                    <m:r>
                                      <a:rPr lang="pt-BR" b="1" i="1">
                                        <a:latin typeface="Cambria Math" panose="02040503050406030204" pitchFamily="18" charset="0"/>
                                      </a:rPr>
                                      <m:t>⋯</m:t>
                                    </m:r>
                                  </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𝑄</m:t>
                                        </m:r>
                                        <m:r>
                                          <a:rPr lang="pt-BR" b="0" i="1" smtClean="0">
                                            <a:latin typeface="Cambria Math" panose="02040503050406030204" pitchFamily="18" charset="0"/>
                                          </a:rPr>
                                          <m:t>−1</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mr>
                              </m:m>
                            </m:e>
                          </m:d>
                        </m:e>
                        <m:sup>
                          <m:r>
                            <a:rPr lang="pt-BR" i="1">
                              <a:latin typeface="Cambria Math" panose="02040503050406030204" pitchFamily="18" charset="0"/>
                            </a:rPr>
                            <m:t>𝑇</m:t>
                          </m:r>
                        </m:sup>
                      </m:sSup>
                    </m:oMath>
                  </m:oMathPara>
                </a14:m>
                <a:endParaRPr lang="pt-BR" b="1" i="1" dirty="0">
                  <a:latin typeface="Cambria Math" panose="02040503050406030204" pitchFamily="18" charset="0"/>
                </a:endParaRPr>
              </a:p>
              <a:p>
                <a:pPr marL="0" indent="0" algn="ctr">
                  <a:buNone/>
                </a:pPr>
                <a14:m>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smtClean="0">
                            <a:latin typeface="Cambria Math" panose="02040503050406030204" pitchFamily="18" charset="0"/>
                          </a:rPr>
                          <m:t>             =</m:t>
                        </m:r>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0</m:t>
                                          </m:r>
                                        </m:sub>
                                      </m:sSub>
                                      <m:r>
                                        <a:rPr lang="pt-BR" i="1">
                                          <a:latin typeface="Cambria Math" panose="02040503050406030204" pitchFamily="18" charset="0"/>
                                        </a:rPr>
                                        <m:t> </m:t>
                                      </m:r>
                                    </m:e>
                                  </m:d>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0</m:t>
                                      </m:r>
                                    </m:sub>
                                  </m:sSub>
                                  <m:r>
                                    <a:rPr lang="pt-BR" i="1">
                                      <a:latin typeface="Cambria Math" panose="02040503050406030204" pitchFamily="18" charset="0"/>
                                    </a:rPr>
                                    <m:t>)</m:t>
                                  </m:r>
                                </m:e>
                                <m:e>
                                  <m:r>
                                    <a:rPr lang="pt-BR" b="1" i="1">
                                      <a:latin typeface="Cambria Math" panose="02040503050406030204" pitchFamily="18" charset="0"/>
                                    </a:rPr>
                                    <m:t>⋯</m:t>
                                  </m:r>
                                </m:e>
                                <m:e>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 </m:t>
                                      </m:r>
                                    </m:e>
                                  </m:d>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m:t>
                                  </m:r>
                                </m:e>
                              </m:mr>
                            </m:m>
                          </m:e>
                        </m:d>
                      </m:e>
                      <m:sup>
                        <m:r>
                          <a:rPr lang="pt-BR" i="1">
                            <a:latin typeface="Cambria Math" panose="02040503050406030204" pitchFamily="18" charset="0"/>
                          </a:rPr>
                          <m:t>𝑇</m:t>
                        </m:r>
                      </m:sup>
                    </m:sSup>
                  </m:oMath>
                </a14:m>
                <a:r>
                  <a:rPr lang="pt-BR" dirty="0"/>
                  <a:t>.</a:t>
                </a:r>
              </a:p>
            </p:txBody>
          </p:sp>
        </mc:Choice>
        <mc:Fallback xmlns="">
          <p:sp>
            <p:nvSpPr>
              <p:cNvPr id="3" name="Espaço Reservado para Conteúdo 2">
                <a:extLst>
                  <a:ext uri="{FF2B5EF4-FFF2-40B4-BE49-F238E27FC236}">
                    <a16:creationId xmlns:a16="http://schemas.microsoft.com/office/drawing/2014/main" id="{59835C31-F047-4C77-EE04-457C9679811A}"/>
                  </a:ext>
                </a:extLst>
              </p:cNvPr>
              <p:cNvSpPr>
                <a:spLocks noGrp="1" noRot="1" noChangeAspect="1" noMove="1" noResize="1" noEditPoints="1" noAdjustHandles="1" noChangeArrowheads="1" noChangeShapeType="1" noTextEdit="1"/>
              </p:cNvSpPr>
              <p:nvPr>
                <p:ph idx="1"/>
              </p:nvPr>
            </p:nvSpPr>
            <p:spPr>
              <a:xfrm>
                <a:off x="838200" y="1825624"/>
                <a:ext cx="11144250" cy="5032375"/>
              </a:xfrm>
              <a:blipFill>
                <a:blip r:embed="rId3"/>
                <a:stretch>
                  <a:fillRect l="-1149" t="-1937" r="-164"/>
                </a:stretch>
              </a:blipFill>
            </p:spPr>
            <p:txBody>
              <a:bodyPr/>
              <a:lstStyle/>
              <a:p>
                <a:r>
                  <a:rPr lang="pt-BR">
                    <a:noFill/>
                  </a:rPr>
                  <a:t> </a:t>
                </a:r>
              </a:p>
            </p:txBody>
          </p:sp>
        </mc:Fallback>
      </mc:AlternateContent>
    </p:spTree>
    <p:extLst>
      <p:ext uri="{BB962C8B-B14F-4D97-AF65-F5344CB8AC3E}">
        <p14:creationId xmlns:p14="http://schemas.microsoft.com/office/powerpoint/2010/main" val="19806755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4598F11-6F65-0753-89FE-F5ABED77B46A}"/>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EF4E6DC-E916-D97A-4D18-D469285C4F2C}"/>
                  </a:ext>
                </a:extLst>
              </p:cNvPr>
              <p:cNvSpPr>
                <a:spLocks noGrp="1"/>
              </p:cNvSpPr>
              <p:nvPr>
                <p:ph idx="1"/>
              </p:nvPr>
            </p:nvSpPr>
            <p:spPr>
              <a:xfrm>
                <a:off x="838200" y="1825624"/>
                <a:ext cx="1110615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i="1">
                                      <a:latin typeface="Cambria Math" panose="02040503050406030204" pitchFamily="18" charset="0"/>
                                    </a:rPr>
                                    <m:t>𝑖</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i="1" dirty="0"/>
                  <a:t>função de erro médio </a:t>
                </a:r>
                <a:r>
                  <a:rPr lang="pt-BR" dirty="0"/>
                  <a:t>é equivalente à </a:t>
                </a:r>
                <a:r>
                  <a:rPr lang="pt-BR" b="1" i="1" dirty="0"/>
                  <a:t>função de erro médio </a:t>
                </a:r>
                <a:r>
                  <a:rPr lang="pt-BR" dirty="0"/>
                  <a:t>do </a:t>
                </a:r>
                <a:r>
                  <a:rPr lang="pt-BR" b="1" i="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softmax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 médio.</a:t>
                </a:r>
              </a:p>
              <a:p>
                <a:r>
                  <a:rPr lang="pt-BR" dirty="0"/>
                  <a:t>A </a:t>
                </a:r>
                <a:r>
                  <a:rPr lang="pt-BR" b="1" i="1" dirty="0"/>
                  <a:t>função de erro médio </a:t>
                </a:r>
                <a:r>
                  <a:rPr lang="pt-BR" b="1" i="1" dirty="0">
                    <a:solidFill>
                      <a:srgbClr val="7030A0"/>
                    </a:solidFill>
                  </a:rPr>
                  <a:t>não é linear </a:t>
                </a:r>
                <a:r>
                  <a:rPr lang="pt-BR" dirty="0"/>
                  <a:t>e, portanto, </a:t>
                </a:r>
                <a:r>
                  <a:rPr lang="pt-BR" b="1" i="1" dirty="0">
                    <a:solidFill>
                      <a:srgbClr val="7030A0"/>
                    </a:solidFill>
                  </a:rPr>
                  <a:t>não existe uma forma fechada</a:t>
                </a:r>
                <a:r>
                  <a:rPr lang="pt-BR" b="1" i="1" dirty="0"/>
                  <a:t> </a:t>
                </a:r>
                <a:r>
                  <a:rPr lang="pt-BR" dirty="0"/>
                  <a:t>para encontramos os pesos.</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106150" cy="5032375"/>
              </a:xfrm>
              <a:blipFill>
                <a:blip r:embed="rId3"/>
                <a:stretch>
                  <a:fillRect l="-988" r="-659"/>
                </a:stretch>
              </a:blipFill>
            </p:spPr>
            <p:txBody>
              <a:bodyPr/>
              <a:lstStyle/>
              <a:p>
                <a:r>
                  <a:rPr lang="pt-BR">
                    <a:noFill/>
                  </a:rPr>
                  <a:t> </a:t>
                </a:r>
              </a:p>
            </p:txBody>
          </p:sp>
        </mc:Fallback>
      </mc:AlternateContent>
    </p:spTree>
    <p:extLst>
      <p:ext uri="{BB962C8B-B14F-4D97-AF65-F5344CB8AC3E}">
        <p14:creationId xmlns:p14="http://schemas.microsoft.com/office/powerpoint/2010/main" val="1239912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807923-28D2-8150-E304-526DA460D220}"/>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FACD180-C529-EB91-BD2D-B5F491B1E35C}"/>
                  </a:ext>
                </a:extLst>
              </p:cNvPr>
              <p:cNvSpPr>
                <a:spLocks noGrp="1"/>
              </p:cNvSpPr>
              <p:nvPr>
                <p:ph idx="1"/>
              </p:nvPr>
            </p:nvSpPr>
            <p:spPr>
              <a:xfrm>
                <a:off x="5867400" y="1825624"/>
                <a:ext cx="6162676" cy="5032375"/>
              </a:xfrm>
            </p:spPr>
            <p:txBody>
              <a:bodyPr/>
              <a:lstStyle/>
              <a:p>
                <a:r>
                  <a:rPr lang="pt-BR" dirty="0"/>
                  <a:t>Porém, ela é </a:t>
                </a:r>
                <a:r>
                  <a:rPr lang="pt-BR" b="1" i="1" dirty="0">
                    <a:solidFill>
                      <a:srgbClr val="00B050"/>
                    </a:solidFill>
                  </a:rPr>
                  <a:t>convexa</a:t>
                </a:r>
                <a:r>
                  <a:rPr lang="pt-BR" dirty="0"/>
                  <a:t> e </a:t>
                </a:r>
                <a:r>
                  <a:rPr lang="pt-BR" b="1" i="1" dirty="0">
                    <a:solidFill>
                      <a:srgbClr val="00B050"/>
                    </a:solidFill>
                  </a:rPr>
                  <a:t>contínua</a:t>
                </a:r>
                <a:r>
                  <a:rPr lang="pt-BR" dirty="0"/>
                  <a:t>. </a:t>
                </a:r>
              </a:p>
              <a:p>
                <a:r>
                  <a:rPr lang="pt-BR" dirty="0"/>
                  <a:t>Portanto,</a:t>
                </a:r>
                <a:r>
                  <a:rPr lang="pt-BR" b="1" i="1" dirty="0">
                    <a:solidFill>
                      <a:srgbClr val="00B050"/>
                    </a:solidFill>
                  </a:rPr>
                  <a:t> o algoritmo do gradiente descendente (qualquer versão) pode ser usado para encontrar o mínimo global</a:t>
                </a:r>
                <a:r>
                  <a:rPr lang="pt-BR" dirty="0"/>
                  <a:t>.</a:t>
                </a:r>
              </a:p>
              <a:p>
                <a:r>
                  <a:rPr lang="pt-BR" dirty="0"/>
                  <a:t>Sendo assim, usaremos o algoritmo do </a:t>
                </a:r>
                <a:r>
                  <a:rPr lang="pt-BR" b="1" i="1" dirty="0">
                    <a:solidFill>
                      <a:srgbClr val="7030A0"/>
                    </a:solidFill>
                  </a:rPr>
                  <a:t>gradiente descendente </a:t>
                </a:r>
                <a:r>
                  <a:rPr lang="pt-BR" dirty="0"/>
                  <a:t>para encontrar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discriminantes que </a:t>
                </a:r>
                <a:r>
                  <a:rPr lang="pt-BR" b="1" i="1" dirty="0"/>
                  <a:t>minimizam </a:t>
                </a:r>
                <a:r>
                  <a:rPr lang="pt-BR" dirty="0"/>
                  <a:t>a </a:t>
                </a:r>
                <a:r>
                  <a:rPr lang="pt-BR" b="1" i="1" dirty="0"/>
                  <a:t>função de erro médio</a:t>
                </a:r>
                <a:r>
                  <a:rPr lang="pt-BR" dirty="0"/>
                  <a:t>.</a:t>
                </a:r>
              </a:p>
              <a:p>
                <a:pPr marL="0" indent="0">
                  <a:buNone/>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FACD180-C529-EB91-BD2D-B5F491B1E35C}"/>
                  </a:ext>
                </a:extLst>
              </p:cNvPr>
              <p:cNvSpPr>
                <a:spLocks noGrp="1" noRot="1" noChangeAspect="1" noMove="1" noResize="1" noEditPoints="1" noAdjustHandles="1" noChangeArrowheads="1" noChangeShapeType="1" noTextEdit="1"/>
              </p:cNvSpPr>
              <p:nvPr>
                <p:ph idx="1"/>
              </p:nvPr>
            </p:nvSpPr>
            <p:spPr>
              <a:xfrm>
                <a:off x="5867400" y="1825624"/>
                <a:ext cx="6162676" cy="5032375"/>
              </a:xfrm>
              <a:blipFill rotWithShape="0">
                <a:blip r:embed="rId3"/>
                <a:stretch>
                  <a:fillRect l="-1782" t="-1937" r="-594"/>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xmlns="" id="{6FC2BDE8-91E0-6379-9BA3-76511C6153D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xmlns="" id="{2771BE1F-7B74-36A4-AA69-9171B025A4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79146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D929962-9BFC-4174-AB35-CC23FA013168}"/>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D38055D-E355-F780-9CA0-0337EA0BE4FD}"/>
                  </a:ext>
                </a:extLst>
              </p:cNvPr>
              <p:cNvSpPr>
                <a:spLocks noGrp="1"/>
              </p:cNvSpPr>
              <p:nvPr>
                <p:ph idx="1"/>
              </p:nvPr>
            </p:nvSpPr>
            <p:spPr>
              <a:xfrm>
                <a:off x="838200" y="1825625"/>
                <a:ext cx="11163300" cy="5032375"/>
              </a:xfrm>
            </p:spPr>
            <p:txBody>
              <a:bodyPr>
                <a:normAutofit lnSpcReduction="10000"/>
              </a:bodyPr>
              <a:lstStyle/>
              <a:p>
                <a:r>
                  <a:rPr lang="pt-BR" dirty="0"/>
                  <a:t>A atualização dos </a:t>
                </a:r>
                <a:r>
                  <a:rPr lang="pt-BR" b="1" i="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i="1" dirty="0"/>
                  <a:t>hiperplano</a:t>
                </a:r>
                <a:r>
                  <a:rPr lang="pt-BR" dirty="0"/>
                  <a:t> como </a:t>
                </a:r>
                <a:r>
                  <a:rPr lang="pt-BR" b="1" i="1" dirty="0"/>
                  <a:t>função discriminante</a:t>
                </a:r>
                <a:r>
                  <a:rPr lang="pt-BR" dirty="0"/>
                  <a:t>, a derivada da </a:t>
                </a:r>
                <a:r>
                  <a:rPr lang="pt-BR" b="1" i="1" dirty="0"/>
                  <a:t>função de erro médio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m:rPr>
                              <m:brk m:alnAt="23"/>
                            </m:rPr>
                            <a:rPr lang="pt-BR" sz="2400" i="1">
                              <a:latin typeface="Cambria Math" panose="02040503050406030204" pitchFamily="18" charset="0"/>
                            </a:rPr>
                            <m:t>𝑖</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𝑖</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oMath>
                </a14:m>
                <a:r>
                  <a:rPr lang="pt-BR" sz="2800" b="0" i="0" dirty="0">
                    <a:solidFill>
                      <a:srgbClr val="000000"/>
                    </a:solidFill>
                    <a:effectLst/>
                    <a:latin typeface="Calibri" panose="020F0502020204030204" pitchFamily="34" charset="0"/>
                  </a:rPr>
                  <a:t> são vetores coluna ambos com dimensão </a:t>
                </a:r>
                <a14:m>
                  <m:oMath xmlns:m="http://schemas.openxmlformats.org/officeDocument/2006/math">
                    <m:r>
                      <a:rPr lang="pt-BR" sz="2400" b="0" i="1" dirty="0" smtClean="0">
                        <a:latin typeface="Cambria Math" panose="02040503050406030204" pitchFamily="18" charset="0"/>
                        <a:ea typeface="Cambria Math" panose="02040503050406030204" pitchFamily="18" charset="0"/>
                      </a:rPr>
                      <m:t>𝑁</m:t>
                    </m:r>
                    <m:r>
                      <a:rPr lang="pt-BR" sz="2400" i="1" dirty="0">
                        <a:latin typeface="Cambria Math" panose="02040503050406030204" pitchFamily="18" charset="0"/>
                        <a:ea typeface="Cambria Math" panose="02040503050406030204" pitchFamily="18" charset="0"/>
                      </a:rPr>
                      <m:t>×1</m:t>
                    </m:r>
                  </m:oMath>
                </a14:m>
                <a:r>
                  <a:rPr lang="pt-BR" dirty="0"/>
                  <a:t> 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softmax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2421"/>
                </a:stretch>
              </a:blipFill>
            </p:spPr>
            <p:txBody>
              <a:bodyPr/>
              <a:lstStyle/>
              <a:p>
                <a:r>
                  <a:rPr lang="pt-BR">
                    <a:noFill/>
                  </a:rPr>
                  <a:t> </a:t>
                </a:r>
              </a:p>
            </p:txBody>
          </p:sp>
        </mc:Fallback>
      </mc:AlternateContent>
      <p:sp>
        <p:nvSpPr>
          <p:cNvPr id="4" name="TextBox 3">
            <a:extLst>
              <a:ext uri="{FF2B5EF4-FFF2-40B4-BE49-F238E27FC236}">
                <a16:creationId xmlns:a16="http://schemas.microsoft.com/office/drawing/2014/main" xmlns="" id="{39A1F0A7-6FE4-5915-6E73-B4358D34F953}"/>
              </a:ext>
            </a:extLst>
          </p:cNvPr>
          <p:cNvSpPr txBox="1"/>
          <p:nvPr/>
        </p:nvSpPr>
        <p:spPr>
          <a:xfrm>
            <a:off x="10762472" y="4184205"/>
            <a:ext cx="700548" cy="430887"/>
          </a:xfrm>
          <a:prstGeom prst="rect">
            <a:avLst/>
          </a:prstGeom>
          <a:noFill/>
        </p:spPr>
        <p:txBody>
          <a:bodyPr wrap="square" rtlCol="0">
            <a:spAutoFit/>
          </a:bodyPr>
          <a:lstStyle/>
          <a:p>
            <a:pPr algn="ctr"/>
            <a:r>
              <a:rPr lang="pt-BR" sz="1100" dirty="0"/>
              <a:t>Forma matricial</a:t>
            </a:r>
          </a:p>
        </p:txBody>
      </p:sp>
      <p:cxnSp>
        <p:nvCxnSpPr>
          <p:cNvPr id="5" name="Straight Arrow Connector 5">
            <a:extLst>
              <a:ext uri="{FF2B5EF4-FFF2-40B4-BE49-F238E27FC236}">
                <a16:creationId xmlns:a16="http://schemas.microsoft.com/office/drawing/2014/main" xmlns="" id="{C9B616E8-B74F-0DC6-87F9-63CCB1AB4FE1}"/>
              </a:ext>
            </a:extLst>
          </p:cNvPr>
          <p:cNvCxnSpPr>
            <a:stCxn id="4" idx="1"/>
          </p:cNvCxnSpPr>
          <p:nvPr/>
        </p:nvCxnSpPr>
        <p:spPr>
          <a:xfrm flipH="1">
            <a:off x="10342144" y="4399649"/>
            <a:ext cx="420328" cy="3228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587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i="1" dirty="0">
                    <a:solidFill>
                      <a:srgbClr val="00B050"/>
                    </a:solidFill>
                  </a:rPr>
                  <a:t>idêntica</a:t>
                </a:r>
                <a:r>
                  <a:rPr lang="pt-BR" dirty="0"/>
                  <a:t> àquela obtida para o caso da </a:t>
                </a:r>
                <a:r>
                  <a:rPr lang="pt-BR" b="1" i="1" dirty="0">
                    <a:solidFill>
                      <a:srgbClr val="00B050"/>
                    </a:solidFill>
                  </a:rPr>
                  <a:t>regressão logística</a:t>
                </a:r>
                <a:r>
                  <a:rPr lang="pt-BR" b="1" i="1" dirty="0"/>
                  <a:t>.</a:t>
                </a:r>
              </a:p>
              <a:p>
                <a:r>
                  <a:rPr lang="pt-BR" dirty="0"/>
                  <a:t>O vetor gradiente pode ser reescrito levando-se em consideração todos os </a:t>
                </a:r>
                <a14:m>
                  <m:oMath xmlns:m="http://schemas.openxmlformats.org/officeDocument/2006/math">
                    <m:r>
                      <a:rPr lang="pt-BR" i="1" smtClean="0">
                        <a:latin typeface="Cambria Math" panose="02040503050406030204" pitchFamily="18" charset="0"/>
                      </a:rPr>
                      <m:t>𝑄</m:t>
                    </m:r>
                    <m:r>
                      <a:rPr lang="pt-BR" i="1" smtClean="0">
                        <a:latin typeface="Cambria Math" panose="02040503050406030204" pitchFamily="18" charset="0"/>
                      </a:rPr>
                      <m:t> </m:t>
                    </m:r>
                  </m:oMath>
                </a14:m>
                <a:r>
                  <a:rPr lang="pt-BR" dirty="0"/>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oMath>
                </a14:m>
                <a:r>
                  <a:rPr lang="pt-BR" dirty="0"/>
                  <a:t> são matrizes com dimensão </a:t>
                </a:r>
                <a14:m>
                  <m:oMath xmlns:m="http://schemas.openxmlformats.org/officeDocument/2006/math">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oMath>
                </a14:m>
                <a:r>
                  <a:rPr lang="pt-BR" dirty="0"/>
                  <a:t>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rotWithShape="0">
                <a:blip r:embed="rId3"/>
                <a:stretch>
                  <a:fillRect l="-1151" r="-1754"/>
                </a:stretch>
              </a:blipFill>
            </p:spPr>
            <p:txBody>
              <a:bodyPr/>
              <a:lstStyle/>
              <a:p>
                <a:r>
                  <a:rPr lang="pt-BR">
                    <a:noFill/>
                  </a:rPr>
                  <a:t> </a:t>
                </a:r>
              </a:p>
            </p:txBody>
          </p:sp>
        </mc:Fallback>
      </mc:AlternateContent>
    </p:spTree>
    <p:extLst>
      <p:ext uri="{BB962C8B-B14F-4D97-AF65-F5344CB8AC3E}">
        <p14:creationId xmlns:p14="http://schemas.microsoft.com/office/powerpoint/2010/main" val="2914302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𝒀</m:t>
                              </m:r>
                            </m:e>
                          </m:acc>
                        </m:e>
                      </m:d>
                    </m:oMath>
                  </m:oMathPara>
                </a14:m>
                <a:endParaRPr lang="pt-BR" dirty="0"/>
              </a:p>
              <a:p>
                <a:r>
                  <a:rPr lang="pt-BR" dirty="0"/>
                  <a:t>Como aconteceu com a regressão logística, notem que o </a:t>
                </a:r>
                <a:r>
                  <a:rPr lang="pt-BR" b="1" i="1" dirty="0"/>
                  <a:t>vetor gradiente </a:t>
                </a:r>
                <a:r>
                  <a:rPr lang="pt-BR" dirty="0"/>
                  <a:t>da</a:t>
                </a:r>
                <a:r>
                  <a:rPr lang="pt-BR" b="1" i="1" dirty="0"/>
                  <a:t> função de erro </a:t>
                </a:r>
                <a:r>
                  <a:rPr lang="pt-BR" b="1" i="1" dirty="0">
                    <a:solidFill>
                      <a:srgbClr val="00B050"/>
                    </a:solidFill>
                  </a:rPr>
                  <a:t>depende do formato da função discriminante </a:t>
                </a:r>
                <a:r>
                  <a:rPr lang="pt-BR" dirty="0"/>
                  <a:t>adotada.</a:t>
                </a:r>
              </a:p>
              <a:p>
                <a:r>
                  <a:rPr lang="pt-BR" dirty="0"/>
                  <a:t>Entretanto, como vimos antes, essa </a:t>
                </a:r>
                <a:r>
                  <a:rPr lang="pt-BR" b="1" i="1" dirty="0">
                    <a:solidFill>
                      <a:srgbClr val="00B050"/>
                    </a:solidFill>
                  </a:rPr>
                  <a:t>dependência afeta apenas a matriz de atributos</a:t>
                </a:r>
                <a:r>
                  <a:rPr lang="pt-BR" dirty="0"/>
                  <a:t>, </a:t>
                </a:r>
                <a14:m>
                  <m:oMath xmlns:m="http://schemas.openxmlformats.org/officeDocument/2006/math">
                    <m:r>
                      <a:rPr lang="pt-BR" b="1" i="1">
                        <a:latin typeface="Cambria Math" panose="02040503050406030204" pitchFamily="18" charset="0"/>
                      </a:rPr>
                      <m:t>𝑿</m:t>
                    </m:r>
                  </m:oMath>
                </a14:m>
                <a:r>
                  <a:rPr lang="pt-BR" dirty="0"/>
                  <a:t>.</a:t>
                </a:r>
              </a:p>
              <a:p>
                <a:r>
                  <a:rPr lang="pt-BR" sz="2800" b="0" i="0" dirty="0">
                    <a:solidFill>
                      <a:srgbClr val="000000"/>
                    </a:solidFill>
                    <a:effectLst/>
                    <a:latin typeface="Calibri" panose="020F0502020204030204" pitchFamily="34" charset="0"/>
                  </a:rPr>
                  <a:t>Portanto, </a:t>
                </a:r>
                <a:r>
                  <a:rPr lang="pt-BR" sz="2800" b="1" i="1" dirty="0">
                    <a:solidFill>
                      <a:srgbClr val="00B050"/>
                    </a:solidFill>
                    <a:effectLst/>
                    <a:latin typeface="Calibri" panose="020F0502020204030204" pitchFamily="34" charset="0"/>
                  </a:rPr>
                  <a:t>para formatos </a:t>
                </a:r>
                <a:r>
                  <a:rPr lang="pt-BR" dirty="0"/>
                  <a:t>de função discriminante diferentes de um hiperplano, </a:t>
                </a:r>
                <a:r>
                  <a:rPr lang="pt-BR" sz="2800" b="0" i="0" dirty="0">
                    <a:solidFill>
                      <a:srgbClr val="000000"/>
                    </a:solidFill>
                    <a:effectLst/>
                    <a:latin typeface="Calibri" panose="020F0502020204030204" pitchFamily="34" charset="0"/>
                  </a:rPr>
                  <a:t>basta </a:t>
                </a:r>
                <a:r>
                  <a:rPr lang="pt-BR" sz="2800" b="1" i="1" dirty="0">
                    <a:solidFill>
                      <a:srgbClr val="00B050"/>
                    </a:solidFill>
                    <a:effectLst/>
                    <a:latin typeface="Calibri" panose="020F0502020204030204" pitchFamily="34" charset="0"/>
                  </a:rPr>
                  <a:t>criar a matriz de atributos</a:t>
                </a:r>
                <a:r>
                  <a:rPr lang="pt-BR" b="0" i="0" dirty="0">
                    <a:solidFill>
                      <a:srgbClr val="000000"/>
                    </a:solidFill>
                    <a:effectLst/>
                    <a:latin typeface="Calibri" panose="020F0502020204030204" pitchFamily="34" charset="0"/>
                  </a:rPr>
                  <a:t>, </a:t>
                </a:r>
                <a14:m>
                  <m:oMath xmlns:m="http://schemas.openxmlformats.org/officeDocument/2006/math">
                    <m:r>
                      <a:rPr lang="pt-BR" b="1" i="1" smtClean="0">
                        <a:latin typeface="Cambria Math" panose="02040503050406030204" pitchFamily="18" charset="0"/>
                      </a:rPr>
                      <m:t>𝑿</m:t>
                    </m:r>
                  </m:oMath>
                </a14:m>
                <a:r>
                  <a:rPr lang="pt-BR" i="0" dirty="0">
                    <a:latin typeface="Calibri" panose="020F0502020204030204" pitchFamily="34" charset="0"/>
                  </a:rPr>
                  <a:t>, </a:t>
                </a:r>
                <a:r>
                  <a:rPr lang="pt-BR" b="1" i="1" dirty="0">
                    <a:solidFill>
                      <a:srgbClr val="00B050"/>
                    </a:solidFill>
                    <a:latin typeface="Calibri" panose="020F0502020204030204" pitchFamily="34" charset="0"/>
                  </a:rPr>
                  <a:t>seguindo o formato da função</a:t>
                </a:r>
                <a:r>
                  <a:rPr lang="pt-BR" i="0" dirty="0">
                    <a:latin typeface="Calibri" panose="020F0502020204030204" pitchFamily="34" charset="0"/>
                  </a:rPr>
                  <a:t>.</a:t>
                </a:r>
                <a:endParaRPr lang="pt-BR" dirty="0"/>
              </a:p>
              <a:p>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rotWithShape="0">
                <a:blip r:embed="rId3"/>
                <a:stretch>
                  <a:fillRect l="-987" r="-548"/>
                </a:stretch>
              </a:blipFill>
            </p:spPr>
            <p:txBody>
              <a:bodyPr/>
              <a:lstStyle/>
              <a:p>
                <a:r>
                  <a:rPr lang="pt-BR">
                    <a:noFill/>
                  </a:rPr>
                  <a:t> </a:t>
                </a:r>
              </a:p>
            </p:txBody>
          </p:sp>
        </mc:Fallback>
      </mc:AlternateContent>
    </p:spTree>
    <p:extLst>
      <p:ext uri="{BB962C8B-B14F-4D97-AF65-F5344CB8AC3E}">
        <p14:creationId xmlns:p14="http://schemas.microsoft.com/office/powerpoint/2010/main" val="27517979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7289C7-E211-F0FB-5D03-01DCF930ACAE}"/>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9224D24-6597-F88C-6310-B2A8EEA5142E}"/>
                  </a:ext>
                </a:extLst>
              </p:cNvPr>
              <p:cNvSpPr>
                <a:spLocks noGrp="1"/>
              </p:cNvSpPr>
              <p:nvPr>
                <p:ph idx="1"/>
              </p:nvPr>
            </p:nvSpPr>
            <p:spPr>
              <a:xfrm>
                <a:off x="838200" y="1825624"/>
                <a:ext cx="11109290" cy="5032375"/>
              </a:xfrm>
            </p:spPr>
            <p:txBody>
              <a:bodyPr/>
              <a:lstStyle/>
              <a:p>
                <a:r>
                  <a:rPr lang="pt-BR" dirty="0"/>
                  <a:t>O regressor softmax apresenta duas propriedades:</a:t>
                </a:r>
              </a:p>
              <a:p>
                <a:pPr lvl="1">
                  <a:buFont typeface="Wingdings" panose="05000000000000000000" pitchFamily="2" charset="2"/>
                  <a:buChar char="§"/>
                </a:pPr>
                <a14:m>
                  <m:oMath xmlns:m="http://schemas.openxmlformats.org/officeDocument/2006/math">
                    <m:r>
                      <a:rPr lang="pt-BR" sz="2200">
                        <a:latin typeface="Cambria Math" panose="02040503050406030204" pitchFamily="18" charset="0"/>
                        <a:ea typeface="Cambria Math" panose="02040503050406030204" pitchFamily="18" charset="0"/>
                      </a:rPr>
                      <m:t>0</m:t>
                    </m:r>
                    <m:r>
                      <a:rPr lang="pt-BR" sz="2200" b="1" i="1">
                        <a:latin typeface="Cambria Math" panose="02040503050406030204" pitchFamily="18" charset="0"/>
                        <a:ea typeface="Cambria Math" panose="02040503050406030204" pitchFamily="18" charset="0"/>
                      </a:rPr>
                      <m:t>≤</m:t>
                    </m:r>
                    <m:sSubSup>
                      <m:sSubSupPr>
                        <m:ctrlPr>
                          <a:rPr lang="pt-BR" sz="2200" b="1" i="1">
                            <a:latin typeface="Cambria Math" panose="02040503050406030204" pitchFamily="18" charset="0"/>
                          </a:rPr>
                        </m:ctrlPr>
                      </m:sSubSupPr>
                      <m:e>
                        <m:r>
                          <a:rPr lang="pt-BR" sz="2200" i="1">
                            <a:latin typeface="Cambria Math" panose="02040503050406030204" pitchFamily="18" charset="0"/>
                          </a:rPr>
                          <m:t>h</m:t>
                        </m:r>
                      </m:e>
                      <m:sub>
                        <m:r>
                          <a:rPr lang="pt-BR" sz="2200" b="1" i="1">
                            <a:latin typeface="Cambria Math" panose="02040503050406030204" pitchFamily="18" charset="0"/>
                          </a:rPr>
                          <m:t>𝒂</m:t>
                        </m:r>
                      </m:sub>
                      <m:sup>
                        <m:r>
                          <a:rPr lang="pt-BR" sz="2200" i="1">
                            <a:latin typeface="Cambria Math" panose="02040503050406030204" pitchFamily="18" charset="0"/>
                          </a:rPr>
                          <m:t>𝑞</m:t>
                        </m:r>
                      </m:sup>
                    </m:sSubSup>
                    <m:d>
                      <m:dPr>
                        <m:ctrlPr>
                          <a:rPr lang="pt-BR" sz="2200" i="1">
                            <a:latin typeface="Cambria Math" panose="02040503050406030204" pitchFamily="18" charset="0"/>
                          </a:rPr>
                        </m:ctrlPr>
                      </m:dPr>
                      <m:e>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e>
                    </m:d>
                    <m:r>
                      <a:rPr lang="pt-BR" sz="2200" b="1" i="1">
                        <a:latin typeface="Cambria Math" panose="02040503050406030204" pitchFamily="18" charset="0"/>
                        <a:ea typeface="Cambria Math" panose="02040503050406030204" pitchFamily="18" charset="0"/>
                      </a:rPr>
                      <m:t>≤</m:t>
                    </m:r>
                    <m:r>
                      <a:rPr lang="pt-BR" sz="2200" i="1">
                        <a:latin typeface="Cambria Math" panose="02040503050406030204" pitchFamily="18" charset="0"/>
                        <a:ea typeface="Cambria Math" panose="02040503050406030204" pitchFamily="18" charset="0"/>
                      </a:rPr>
                      <m:t>1</m:t>
                    </m:r>
                  </m:oMath>
                </a14:m>
                <a:r>
                  <a:rPr lang="pt-BR" dirty="0"/>
                  <a:t>, ou seja, a saída 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função hipótese sempre será um valor dentro do intervalo [0, 1],</a:t>
                </a:r>
              </a:p>
              <a:p>
                <a:pPr lvl="1">
                  <a:buFont typeface="Wingdings" panose="05000000000000000000" pitchFamily="2" charset="2"/>
                  <a:buChar char="§"/>
                </a:pPr>
                <a14:m>
                  <m:oMath xmlns:m="http://schemas.openxmlformats.org/officeDocument/2006/math">
                    <m:nary>
                      <m:naryPr>
                        <m:chr m:val="∑"/>
                        <m:ctrlPr>
                          <a:rPr lang="pt-BR" sz="2200" i="1">
                            <a:latin typeface="Cambria Math" panose="02040503050406030204" pitchFamily="18" charset="0"/>
                          </a:rPr>
                        </m:ctrlPr>
                      </m:naryPr>
                      <m:sub>
                        <m:r>
                          <m:rPr>
                            <m:brk m:alnAt="23"/>
                          </m:rPr>
                          <a:rPr lang="pt-BR" sz="2200" i="1">
                            <a:latin typeface="Cambria Math" panose="02040503050406030204" pitchFamily="18" charset="0"/>
                          </a:rPr>
                          <m:t>𝑞</m:t>
                        </m:r>
                        <m:r>
                          <a:rPr lang="pt-BR" sz="2200" i="1">
                            <a:latin typeface="Cambria Math" panose="02040503050406030204" pitchFamily="18" charset="0"/>
                          </a:rPr>
                          <m:t>=</m:t>
                        </m:r>
                        <m:r>
                          <a:rPr lang="pt-BR" sz="2200" b="0" i="1" smtClean="0">
                            <a:latin typeface="Cambria Math" panose="02040503050406030204" pitchFamily="18" charset="0"/>
                          </a:rPr>
                          <m:t>0</m:t>
                        </m:r>
                      </m:sub>
                      <m:sup>
                        <m:r>
                          <a:rPr lang="pt-BR" sz="2200" i="1">
                            <a:latin typeface="Cambria Math" panose="02040503050406030204" pitchFamily="18" charset="0"/>
                          </a:rPr>
                          <m:t>𝑄</m:t>
                        </m:r>
                        <m:r>
                          <a:rPr lang="pt-BR" sz="2200" b="0" i="1" smtClean="0">
                            <a:latin typeface="Cambria Math" panose="02040503050406030204" pitchFamily="18" charset="0"/>
                          </a:rPr>
                          <m:t>−1</m:t>
                        </m:r>
                      </m:sup>
                      <m:e>
                        <m:sSubSup>
                          <m:sSubSupPr>
                            <m:ctrlPr>
                              <a:rPr lang="pt-BR" sz="2200" b="1" i="1">
                                <a:latin typeface="Cambria Math" panose="02040503050406030204" pitchFamily="18" charset="0"/>
                              </a:rPr>
                            </m:ctrlPr>
                          </m:sSubSupPr>
                          <m:e>
                            <m:r>
                              <a:rPr lang="pt-BR" sz="2200" i="1">
                                <a:latin typeface="Cambria Math" panose="02040503050406030204" pitchFamily="18" charset="0"/>
                              </a:rPr>
                              <m:t>h</m:t>
                            </m:r>
                          </m:e>
                          <m:sub>
                            <m:r>
                              <a:rPr lang="pt-BR" sz="2200" b="1" i="1">
                                <a:latin typeface="Cambria Math" panose="02040503050406030204" pitchFamily="18" charset="0"/>
                              </a:rPr>
                              <m:t>𝒂</m:t>
                            </m:r>
                          </m:sub>
                          <m:sup>
                            <m:r>
                              <a:rPr lang="pt-BR" sz="2200" i="1">
                                <a:latin typeface="Cambria Math" panose="02040503050406030204" pitchFamily="18" charset="0"/>
                              </a:rPr>
                              <m:t>𝑞</m:t>
                            </m:r>
                          </m:sup>
                        </m:sSubSup>
                        <m:d>
                          <m:dPr>
                            <m:ctrlPr>
                              <a:rPr lang="pt-BR" sz="2200" i="1">
                                <a:latin typeface="Cambria Math" panose="02040503050406030204" pitchFamily="18" charset="0"/>
                              </a:rPr>
                            </m:ctrlPr>
                          </m:dPr>
                          <m:e>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e>
                        </m:d>
                        <m:r>
                          <a:rPr lang="pt-BR" sz="2200" b="1" i="1">
                            <a:latin typeface="Cambria Math" panose="02040503050406030204" pitchFamily="18" charset="0"/>
                          </a:rPr>
                          <m:t>=</m:t>
                        </m:r>
                        <m:nary>
                          <m:naryPr>
                            <m:chr m:val="∑"/>
                            <m:ctrlPr>
                              <a:rPr lang="pt-BR" sz="2200" i="1">
                                <a:latin typeface="Cambria Math" panose="02040503050406030204" pitchFamily="18" charset="0"/>
                              </a:rPr>
                            </m:ctrlPr>
                          </m:naryPr>
                          <m:sub>
                            <m:r>
                              <m:rPr>
                                <m:brk m:alnAt="23"/>
                              </m:rPr>
                              <a:rPr lang="pt-BR" sz="2200" i="1">
                                <a:latin typeface="Cambria Math" panose="02040503050406030204" pitchFamily="18" charset="0"/>
                              </a:rPr>
                              <m:t>𝑞</m:t>
                            </m:r>
                            <m:r>
                              <a:rPr lang="pt-BR" sz="2200" i="1">
                                <a:latin typeface="Cambria Math" panose="02040503050406030204" pitchFamily="18" charset="0"/>
                              </a:rPr>
                              <m:t>=</m:t>
                            </m:r>
                            <m:r>
                              <a:rPr lang="pt-BR" sz="2200" b="0" i="1" smtClean="0">
                                <a:latin typeface="Cambria Math" panose="02040503050406030204" pitchFamily="18" charset="0"/>
                              </a:rPr>
                              <m:t>0</m:t>
                            </m:r>
                          </m:sub>
                          <m:sup>
                            <m:r>
                              <a:rPr lang="pt-BR" sz="2200" i="1">
                                <a:latin typeface="Cambria Math" panose="02040503050406030204" pitchFamily="18" charset="0"/>
                              </a:rPr>
                              <m:t>𝑄</m:t>
                            </m:r>
                            <m:r>
                              <a:rPr lang="pt-BR" sz="2200" b="0" i="1" smtClean="0">
                                <a:latin typeface="Cambria Math" panose="02040503050406030204" pitchFamily="18" charset="0"/>
                              </a:rPr>
                              <m:t>−1</m:t>
                            </m:r>
                          </m:sup>
                          <m:e>
                            <m:r>
                              <a:rPr lang="pt-BR" sz="2200" i="1">
                                <a:latin typeface="Cambria Math" panose="02040503050406030204" pitchFamily="18" charset="0"/>
                              </a:rPr>
                              <m:t>𝑃</m:t>
                            </m:r>
                            <m:d>
                              <m:dPr>
                                <m:endChr m:val="|"/>
                                <m:ctrlPr>
                                  <a:rPr lang="pt-BR" sz="2200" i="1">
                                    <a:latin typeface="Cambria Math" panose="02040503050406030204" pitchFamily="18" charset="0"/>
                                  </a:rPr>
                                </m:ctrlPr>
                              </m:dPr>
                              <m:e>
                                <m:sSub>
                                  <m:sSubPr>
                                    <m:ctrlPr>
                                      <a:rPr lang="pt-BR" sz="2200" i="1">
                                        <a:latin typeface="Cambria Math" panose="02040503050406030204" pitchFamily="18" charset="0"/>
                                      </a:rPr>
                                    </m:ctrlPr>
                                  </m:sSubPr>
                                  <m:e>
                                    <m:r>
                                      <a:rPr lang="pt-BR" sz="2200" i="1">
                                        <a:latin typeface="Cambria Math" panose="02040503050406030204" pitchFamily="18" charset="0"/>
                                      </a:rPr>
                                      <m:t>𝐶</m:t>
                                    </m:r>
                                  </m:e>
                                  <m:sub>
                                    <m:r>
                                      <a:rPr lang="pt-BR" sz="2200" i="1">
                                        <a:latin typeface="Cambria Math" panose="02040503050406030204" pitchFamily="18" charset="0"/>
                                      </a:rPr>
                                      <m:t>𝑞</m:t>
                                    </m:r>
                                  </m:sub>
                                </m:sSub>
                                <m:r>
                                  <a:rPr lang="pt-BR" sz="2200" i="1">
                                    <a:latin typeface="Cambria Math" panose="02040503050406030204" pitchFamily="18" charset="0"/>
                                  </a:rPr>
                                  <m:t> </m:t>
                                </m:r>
                              </m:e>
                            </m:d>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r>
                              <a:rPr lang="pt-BR" sz="2200" b="0" i="1" smtClean="0">
                                <a:latin typeface="Cambria Math" panose="02040503050406030204" pitchFamily="18" charset="0"/>
                              </a:rPr>
                              <m:t>;</m:t>
                            </m:r>
                            <m:sSub>
                              <m:sSubPr>
                                <m:ctrlPr>
                                  <a:rPr lang="pt-BR" sz="2200" i="1">
                                    <a:latin typeface="Cambria Math" panose="02040503050406030204" pitchFamily="18" charset="0"/>
                                  </a:rPr>
                                </m:ctrlPr>
                              </m:sSubPr>
                              <m:e>
                                <m:r>
                                  <a:rPr lang="pt-BR" sz="2200" b="1" i="1">
                                    <a:latin typeface="Cambria Math" panose="02040503050406030204" pitchFamily="18" charset="0"/>
                                  </a:rPr>
                                  <m:t>𝒂</m:t>
                                </m:r>
                              </m:e>
                              <m:sub>
                                <m:r>
                                  <a:rPr lang="pt-BR" sz="2200" i="1">
                                    <a:latin typeface="Cambria Math" panose="02040503050406030204" pitchFamily="18" charset="0"/>
                                  </a:rPr>
                                  <m:t>𝑞</m:t>
                                </m:r>
                              </m:sub>
                            </m:sSub>
                            <m:r>
                              <a:rPr lang="pt-BR" sz="2200" i="1">
                                <a:latin typeface="Cambria Math" panose="02040503050406030204" pitchFamily="18" charset="0"/>
                              </a:rPr>
                              <m:t>)</m:t>
                            </m:r>
                          </m:e>
                        </m:nary>
                        <m:r>
                          <a:rPr lang="pt-BR" sz="2200" i="1">
                            <a:latin typeface="Cambria Math" panose="02040503050406030204" pitchFamily="18" charset="0"/>
                          </a:rPr>
                          <m:t>=1</m:t>
                        </m:r>
                      </m:e>
                    </m:nary>
                  </m:oMath>
                </a14:m>
                <a:r>
                  <a:rPr lang="pt-BR" dirty="0"/>
                  <a:t>, ou seja, o somatório das </a:t>
                </a:r>
                <a:r>
                  <a:rPr lang="pt-BR" b="1" i="1" dirty="0"/>
                  <a:t>probabilidades condicionais</a:t>
                </a:r>
                <a:r>
                  <a:rPr lang="pt-BR" dirty="0"/>
                  <a:t> de todas 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 é igual a 1.</a:t>
                </a:r>
              </a:p>
              <a:p>
                <a:r>
                  <a:rPr lang="pt-BR" dirty="0"/>
                  <a:t>Estas duas propriedades fazem com que o vetor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b="0" i="1" smtClean="0">
                                            <a:latin typeface="Cambria Math" panose="02040503050406030204" pitchFamily="18" charset="0"/>
                                          </a:rPr>
                                          <m:t>0</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e>
                                    <m:r>
                                      <a:rPr lang="pt-BR" b="1" i="1">
                                        <a:latin typeface="Cambria Math" panose="02040503050406030204" pitchFamily="18" charset="0"/>
                                      </a:rPr>
                                      <m:t>⋯</m:t>
                                    </m:r>
                                  </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𝑄</m:t>
                                        </m:r>
                                        <m:r>
                                          <a:rPr lang="pt-BR" b="0" i="1" smtClean="0">
                                            <a:latin typeface="Cambria Math" panose="02040503050406030204" pitchFamily="18" charset="0"/>
                                          </a:rPr>
                                          <m:t>−1</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mr>
                              </m:m>
                            </m:e>
                          </m:d>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×1</m:t>
                          </m:r>
                        </m:sup>
                      </m:sSup>
                      <m:r>
                        <a:rPr lang="pt-BR" b="1"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que contém todas as saídas do regressor softmax, atenda os requisitos de uma </a:t>
                </a:r>
                <a:r>
                  <a:rPr lang="pt-BR" b="1" i="1" dirty="0"/>
                  <a:t>função massa de probabilidade multinomial.</a:t>
                </a: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89224D24-6597-F88C-6310-B2A8EEA5142E}"/>
                  </a:ext>
                </a:extLst>
              </p:cNvPr>
              <p:cNvSpPr>
                <a:spLocks noGrp="1" noRot="1" noChangeAspect="1" noMove="1" noResize="1" noEditPoints="1" noAdjustHandles="1" noChangeArrowheads="1" noChangeShapeType="1" noTextEdit="1"/>
              </p:cNvSpPr>
              <p:nvPr>
                <p:ph idx="1"/>
              </p:nvPr>
            </p:nvSpPr>
            <p:spPr>
              <a:xfrm>
                <a:off x="838200" y="1825624"/>
                <a:ext cx="11109290" cy="5032375"/>
              </a:xfrm>
              <a:blipFill rotWithShape="0">
                <a:blip r:embed="rId3"/>
                <a:stretch>
                  <a:fillRect l="-1153" t="-1937" r="-494"/>
                </a:stretch>
              </a:blipFill>
            </p:spPr>
            <p:txBody>
              <a:bodyPr/>
              <a:lstStyle/>
              <a:p>
                <a:r>
                  <a:rPr lang="pt-BR">
                    <a:noFill/>
                  </a:rPr>
                  <a:t> </a:t>
                </a:r>
              </a:p>
            </p:txBody>
          </p:sp>
        </mc:Fallback>
      </mc:AlternateContent>
    </p:spTree>
    <p:extLst>
      <p:ext uri="{BB962C8B-B14F-4D97-AF65-F5344CB8AC3E}">
        <p14:creationId xmlns:p14="http://schemas.microsoft.com/office/powerpoint/2010/main" val="10183406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F1FD81-6095-2AF0-8691-34E55B8A93B5}"/>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B734B24-DA50-860B-5D55-C33F6F451B6F}"/>
                  </a:ext>
                </a:extLst>
              </p:cNvPr>
              <p:cNvSpPr>
                <a:spLocks noGrp="1"/>
              </p:cNvSpPr>
              <p:nvPr>
                <p:ph idx="1"/>
              </p:nvPr>
            </p:nvSpPr>
            <p:spPr>
              <a:xfrm>
                <a:off x="838200" y="1825624"/>
                <a:ext cx="11188700" cy="5032375"/>
              </a:xfrm>
            </p:spPr>
            <p:txBody>
              <a:bodyPr>
                <a:normAutofit/>
              </a:bodyPr>
              <a:lstStyle/>
              <a:p>
                <a:r>
                  <a:rPr lang="pt-BR" dirty="0">
                    <a:solidFill>
                      <a:schemeClr val="tx1"/>
                    </a:solidFill>
                  </a:rPr>
                  <a:t>Após o treinamento, durante a </a:t>
                </a:r>
                <a:r>
                  <a:rPr lang="pt-BR" b="1" i="1" dirty="0">
                    <a:solidFill>
                      <a:srgbClr val="00B050"/>
                    </a:solidFill>
                  </a:rPr>
                  <a:t>fase de predição</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i="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e>
                      </m:func>
                      <m:r>
                        <a:rPr lang="pt-BR" b="1" i="1" smtClean="0">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r>
                            <a:rPr lang="pt-BR" i="1">
                              <a:solidFill>
                                <a:schemeClr val="tx1"/>
                              </a:solidFill>
                              <a:latin typeface="Cambria Math" panose="02040503050406030204" pitchFamily="18" charset="0"/>
                            </a:rPr>
                            <m:t>𝑃</m:t>
                          </m:r>
                          <m:d>
                            <m:dPr>
                              <m:endChr m:val="|"/>
                              <m:ctrlPr>
                                <a:rPr lang="pt-BR" i="1">
                                  <a:solidFill>
                                    <a:schemeClr val="tx1"/>
                                  </a:solidFill>
                                  <a:latin typeface="Cambria Math" panose="02040503050406030204" pitchFamily="18" charset="0"/>
                                </a:rPr>
                              </m:ctrlPr>
                            </m:dPr>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b="0" i="1" smtClean="0">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 </m:t>
                              </m:r>
                            </m:e>
                          </m:d>
                          <m:r>
                            <a:rPr lang="pt-BR" b="1" i="1">
                              <a:solidFill>
                                <a:schemeClr val="tx1"/>
                              </a:solidFill>
                              <a:latin typeface="Cambria Math" panose="02040503050406030204" pitchFamily="18" charset="0"/>
                            </a:rPr>
                            <m:t> </m:t>
                          </m:r>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𝑖</m:t>
                              </m:r>
                            </m:e>
                          </m:d>
                          <m:r>
                            <a:rPr lang="pt-BR" b="0" i="1"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b="0" i="1" smtClean="0">
                                  <a:solidFill>
                                    <a:schemeClr val="tx1"/>
                                  </a:solidFill>
                                  <a:latin typeface="Cambria Math" panose="02040503050406030204" pitchFamily="18" charset="0"/>
                                </a:rPr>
                                <m:t>𝑞</m:t>
                              </m:r>
                            </m:sub>
                          </m:sSub>
                          <m:r>
                            <a:rPr lang="pt-BR" b="0" i="1" smtClean="0">
                              <a:solidFill>
                                <a:schemeClr val="tx1"/>
                              </a:solidFill>
                              <a:latin typeface="Cambria Math" panose="02040503050406030204" pitchFamily="18" charset="0"/>
                            </a:rPr>
                            <m:t>)</m:t>
                          </m:r>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solidFill>
                      <a:schemeClr val="tx1"/>
                    </a:solidFill>
                  </a:rPr>
                  <a:t>Uma outra forma de reescrevermos o problema de maximização acima é lembrarmos que a </a:t>
                </a:r>
                <a:r>
                  <a:rPr lang="pt-BR" b="1" i="1" dirty="0">
                    <a:solidFill>
                      <a:srgbClr val="00B050"/>
                    </a:solidFill>
                  </a:rPr>
                  <a:t>classe com maior probabilidade </a:t>
                </a:r>
                <a:r>
                  <a:rPr lang="pt-BR" dirty="0">
                    <a:solidFill>
                      <a:schemeClr val="tx1"/>
                    </a:solidFill>
                  </a:rPr>
                  <a:t>é simplesmente a </a:t>
                </a:r>
                <a:r>
                  <a:rPr lang="pt-BR" b="1" i="1" dirty="0">
                    <a:solidFill>
                      <a:srgbClr val="00B050"/>
                    </a:solidFill>
                  </a:rPr>
                  <a:t>classe com maior valor de função discriminante</a:t>
                </a:r>
                <a:r>
                  <a:rPr lang="pt-BR" dirty="0">
                    <a:solidFill>
                      <a:schemeClr val="tx1"/>
                    </a:solidFill>
                  </a:rPr>
                  <a:t>, </a:t>
                </a:r>
                <a14:m>
                  <m:oMath xmlns:m="http://schemas.openxmlformats.org/officeDocument/2006/math">
                    <m:sSup>
                      <m:sSupPr>
                        <m:ctrlPr>
                          <a:rPr lang="pt-BR" i="1">
                            <a:solidFill>
                              <a:schemeClr val="tx1"/>
                            </a:solidFill>
                            <a:latin typeface="Cambria Math" panose="02040503050406030204" pitchFamily="18" charset="0"/>
                          </a:rPr>
                        </m:ctrlPr>
                      </m:sSupPr>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𝑞</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r>
                          <a:rPr lang="pt-BR" b="1"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sup>
                        <m:r>
                          <a:rPr lang="pt-BR" i="1">
                            <a:solidFill>
                              <a:schemeClr val="tx1"/>
                            </a:solidFill>
                            <a:latin typeface="Cambria Math" panose="02040503050406030204" pitchFamily="18" charset="0"/>
                          </a:rPr>
                          <m:t>𝑇</m:t>
                        </m:r>
                      </m:sup>
                    </m:sSup>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i="1">
                            <a:solidFill>
                              <a:schemeClr val="tx1"/>
                            </a:solidFill>
                            <a:latin typeface="Cambria Math" panose="02040503050406030204" pitchFamily="18" charset="0"/>
                          </a:rPr>
                          <m:t>𝑞</m:t>
                        </m:r>
                      </m:sub>
                    </m:sSub>
                  </m:oMath>
                </a14:m>
                <a:endParaRPr lang="pt-BR" sz="1600" dirty="0">
                  <a:solidFill>
                    <a:schemeClr val="tx1"/>
                  </a:solidFill>
                </a:endParaRPr>
              </a:p>
              <a:p>
                <a:pPr marL="0" indent="0" algn="ctr">
                  <a:buNone/>
                </a:pPr>
                <a14:m>
                  <m:oMathPara xmlns:m="http://schemas.openxmlformats.org/officeDocument/2006/math">
                    <m:oMathParaPr>
                      <m:jc m:val="centerGroup"/>
                    </m:oMathParaPr>
                    <m:oMath xmlns:m="http://schemas.openxmlformats.org/officeDocument/2006/math">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𝑞</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e>
                      </m:func>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p>
                            <m:sSupPr>
                              <m:ctrlPr>
                                <a:rPr lang="pt-BR" i="1">
                                  <a:solidFill>
                                    <a:schemeClr val="tx1"/>
                                  </a:solidFill>
                                  <a:latin typeface="Cambria Math" panose="02040503050406030204" pitchFamily="18" charset="0"/>
                                </a:rPr>
                              </m:ctrlPr>
                            </m:sSupPr>
                            <m:e>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r>
                                <a:rPr lang="pt-BR" i="1">
                                  <a:solidFill>
                                    <a:schemeClr val="tx1"/>
                                  </a:solidFill>
                                  <a:latin typeface="Cambria Math" panose="02040503050406030204" pitchFamily="18" charset="0"/>
                                </a:rPr>
                                <m:t>𝑖</m:t>
                              </m:r>
                              <m:r>
                                <a:rPr lang="pt-BR" i="1">
                                  <a:solidFill>
                                    <a:schemeClr val="tx1"/>
                                  </a:solidFill>
                                  <a:latin typeface="Cambria Math" panose="02040503050406030204" pitchFamily="18" charset="0"/>
                                </a:rPr>
                                <m:t>)</m:t>
                              </m:r>
                            </m:e>
                            <m:sup>
                              <m:r>
                                <a:rPr lang="pt-BR" i="1">
                                  <a:solidFill>
                                    <a:schemeClr val="tx1"/>
                                  </a:solidFill>
                                  <a:latin typeface="Cambria Math" panose="02040503050406030204" pitchFamily="18" charset="0"/>
                                </a:rPr>
                                <m:t>𝑇</m:t>
                              </m:r>
                            </m:sup>
                          </m:sSup>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i="1">
                                  <a:solidFill>
                                    <a:schemeClr val="tx1"/>
                                  </a:solidFill>
                                  <a:latin typeface="Cambria Math" panose="02040503050406030204" pitchFamily="18" charset="0"/>
                                </a:rPr>
                                <m:t>𝑞</m:t>
                              </m:r>
                            </m:sub>
                          </m:sSub>
                        </m:e>
                      </m:func>
                      <m:r>
                        <a:rPr lang="pt-BR" b="0" i="0" smtClean="0">
                          <a:solidFill>
                            <a:schemeClr val="tx1"/>
                          </a:solidFill>
                          <a:latin typeface="Cambria Math" panose="02040503050406030204" pitchFamily="18" charset="0"/>
                        </a:rPr>
                        <m:t>.</m:t>
                      </m:r>
                    </m:oMath>
                  </m:oMathPara>
                </a14:m>
                <a:endParaRPr lang="pt-BR" dirty="0">
                  <a:solidFill>
                    <a:schemeClr val="tx1"/>
                  </a:solidFill>
                </a:endParaRPr>
              </a:p>
              <a:p>
                <a:r>
                  <a:rPr lang="pt-BR" b="1" dirty="0">
                    <a:solidFill>
                      <a:schemeClr val="tx1"/>
                    </a:solidFill>
                  </a:rPr>
                  <a:t>OBS</a:t>
                </a:r>
                <a:r>
                  <a:rPr lang="pt-BR" dirty="0">
                    <a:solidFill>
                      <a:schemeClr val="tx1"/>
                    </a:solidFill>
                  </a:rPr>
                  <a:t>.: A </a:t>
                </a:r>
                <a:r>
                  <a:rPr lang="pt-BR" b="1" i="1" dirty="0">
                    <a:solidFill>
                      <a:srgbClr val="00B050"/>
                    </a:solidFill>
                  </a:rPr>
                  <a:t>normalização</a:t>
                </a:r>
                <a:r>
                  <a:rPr lang="pt-BR" dirty="0">
                    <a:solidFill>
                      <a:schemeClr val="tx1"/>
                    </a:solidFill>
                  </a:rPr>
                  <a:t> faz com que </a:t>
                </a:r>
                <a:r>
                  <a:rPr lang="pt-BR" b="0" i="0" dirty="0">
                    <a:solidFill>
                      <a:schemeClr val="tx1"/>
                    </a:solidFill>
                    <a:effectLst/>
                  </a:rPr>
                  <a:t>as saídas do modelo sejam </a:t>
                </a:r>
                <a:r>
                  <a:rPr lang="pt-BR" b="1" i="1" dirty="0">
                    <a:solidFill>
                      <a:srgbClr val="00B050"/>
                    </a:solidFill>
                    <a:effectLst/>
                  </a:rPr>
                  <a:t>interpretáveis como probabilidades </a:t>
                </a:r>
                <a:r>
                  <a:rPr lang="pt-BR" b="0" i="0" dirty="0">
                    <a:solidFill>
                      <a:schemeClr val="tx1"/>
                    </a:solidFill>
                    <a:effectLst/>
                  </a:rPr>
                  <a:t>e </a:t>
                </a:r>
                <a:r>
                  <a:rPr lang="pt-BR" b="1" i="1" dirty="0">
                    <a:solidFill>
                      <a:srgbClr val="00B050"/>
                    </a:solidFill>
                    <a:effectLst/>
                  </a:rPr>
                  <a:t>garante um treinamento estável</a:t>
                </a:r>
                <a:r>
                  <a:rPr lang="pt-BR" b="0" i="0" dirty="0">
                    <a:effectLst/>
                  </a:rPr>
                  <a:t>.</a:t>
                </a:r>
                <a:endParaRPr lang="pt-BR" dirty="0">
                  <a:solidFill>
                    <a:schemeClr val="tx1"/>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838200" y="1825624"/>
                <a:ext cx="11188700" cy="5032375"/>
              </a:xfrm>
              <a:blipFill rotWithShape="0">
                <a:blip r:embed="rId3"/>
                <a:stretch>
                  <a:fillRect l="-981" t="-1937" r="-327"/>
                </a:stretch>
              </a:blipFill>
            </p:spPr>
            <p:txBody>
              <a:bodyPr/>
              <a:lstStyle/>
              <a:p>
                <a:r>
                  <a:rPr lang="pt-BR">
                    <a:noFill/>
                  </a:rPr>
                  <a:t> </a:t>
                </a:r>
              </a:p>
            </p:txBody>
          </p:sp>
        </mc:Fallback>
      </mc:AlternateContent>
    </p:spTree>
    <p:extLst>
      <p:ext uri="{BB962C8B-B14F-4D97-AF65-F5344CB8AC3E}">
        <p14:creationId xmlns:p14="http://schemas.microsoft.com/office/powerpoint/2010/main" val="20969095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C175046-E9DF-FCC8-C62B-B00332089713}"/>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721BB7-DBA3-D8BF-7F98-ED91BD59DAEC}"/>
                  </a:ext>
                </a:extLst>
              </p:cNvPr>
              <p:cNvSpPr>
                <a:spLocks noGrp="1"/>
              </p:cNvSpPr>
              <p:nvPr>
                <p:ph idx="1"/>
              </p:nvPr>
            </p:nvSpPr>
            <p:spPr>
              <a:xfrm>
                <a:off x="5951050" y="1825624"/>
                <a:ext cx="6124686" cy="5032375"/>
              </a:xfrm>
            </p:spPr>
            <p:txBody>
              <a:bodyPr>
                <a:normAutofit lnSpcReduction="10000"/>
              </a:bodyPr>
              <a:lstStyle/>
              <a:p>
                <a:r>
                  <a:rPr lang="pt-BR" dirty="0"/>
                  <a:t>A arquitetura de um </a:t>
                </a:r>
                <a:r>
                  <a:rPr lang="pt-BR" b="1" i="1" dirty="0"/>
                  <a:t>regressor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=3</m:t>
                    </m:r>
                  </m:oMath>
                </a14:m>
                <a:r>
                  <a:rPr lang="pt-BR" dirty="0"/>
                  <a:t>) e dois atributos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oMath>
                </a14:m>
                <a:r>
                  <a:rPr lang="pt-BR" dirty="0"/>
                  <a:t>) é mostrada ao lado.</a:t>
                </a:r>
              </a:p>
              <a:p>
                <a:r>
                  <a:rPr lang="pt-BR" dirty="0"/>
                  <a:t>Em resumo, a ideia por trás da </a:t>
                </a:r>
                <a:r>
                  <a:rPr lang="pt-BR" b="1" i="1" dirty="0"/>
                  <a:t>regressão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softmax calcula uma “</a:t>
                </a:r>
                <a:r>
                  <a:rPr lang="pt-BR" b="1" i="1" dirty="0"/>
                  <a:t>pontuação</a:t>
                </a:r>
                <a:r>
                  <a:rPr lang="pt-BR" i="1" dirty="0"/>
                  <a:t>”</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i="1">
                                <a:latin typeface="Cambria Math" panose="02040503050406030204" pitchFamily="18" charset="0"/>
                              </a:rPr>
                              <m:t>𝑖</m:t>
                            </m:r>
                            <m:r>
                              <a:rPr lang="pt-BR">
                                <a:latin typeface="Cambria Math" panose="02040503050406030204" pitchFamily="18" charset="0"/>
                              </a:rPr>
                              <m:t>)</m:t>
                            </m:r>
                          </m:e>
                        </m:d>
                        <m:r>
                          <a:rPr lang="pt-BR" b="1" i="1">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i="1">
                            <a:latin typeface="Cambria Math" panose="02040503050406030204" pitchFamily="18" charset="0"/>
                          </a:rPr>
                          <m:t>𝑖</m:t>
                        </m:r>
                        <m:r>
                          <a:rPr lang="pt-BR">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0" i="0"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softmax às “</a:t>
                </a:r>
                <a:r>
                  <a:rPr lang="pt-BR" b="1" i="1" dirty="0"/>
                  <a:t>pontuações</a:t>
                </a:r>
                <a:r>
                  <a:rPr lang="pt-BR" i="1" dirty="0"/>
                  <a:t>”</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rotWithShape="0">
                <a:blip r:embed="rId3"/>
                <a:stretch>
                  <a:fillRect l="-1791" t="-2663" r="-2488"/>
                </a:stretch>
              </a:blipFill>
            </p:spPr>
            <p:txBody>
              <a:bodyPr/>
              <a:lstStyle/>
              <a:p>
                <a:r>
                  <a:rPr lang="pt-BR">
                    <a:noFill/>
                  </a:rPr>
                  <a:t> </a:t>
                </a:r>
              </a:p>
            </p:txBody>
          </p:sp>
        </mc:Fallback>
      </mc:AlternateContent>
      <p:sp>
        <p:nvSpPr>
          <p:cNvPr id="5" name="Rectangle 2">
            <a:extLst>
              <a:ext uri="{FF2B5EF4-FFF2-40B4-BE49-F238E27FC236}">
                <a16:creationId xmlns:a16="http://schemas.microsoft.com/office/drawing/2014/main" xmlns=""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4"/>
              </a:rPr>
              <a:t>Exemplo: </a:t>
            </a:r>
            <a:r>
              <a:rPr lang="pt-BR" sz="1200" dirty="0" err="1">
                <a:hlinkClick r:id="rId4"/>
              </a:rPr>
              <a:t>softmax_regressor_with_scikit_learn.ipynb</a:t>
            </a:r>
            <a:endParaRPr lang="pt-BR" sz="1200" b="1" dirty="0"/>
          </a:p>
        </p:txBody>
      </p:sp>
      <p:pic>
        <p:nvPicPr>
          <p:cNvPr id="6" name="Imagem 5">
            <a:extLst>
              <a:ext uri="{FF2B5EF4-FFF2-40B4-BE49-F238E27FC236}">
                <a16:creationId xmlns:a16="http://schemas.microsoft.com/office/drawing/2014/main" xmlns="" id="{FF78CF76-EB26-3FAE-0391-E452288FA28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382940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12508</TotalTime>
  <Words>3040</Words>
  <Application>Microsoft Office PowerPoint</Application>
  <PresentationFormat>Widescreen</PresentationFormat>
  <Paragraphs>317</Paragraphs>
  <Slides>26</Slides>
  <Notes>21</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26</vt:i4>
      </vt:variant>
    </vt:vector>
  </HeadingPairs>
  <TitlesOfParts>
    <vt:vector size="35"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1855</cp:revision>
  <dcterms:created xsi:type="dcterms:W3CDTF">2020-01-20T13:50:05Z</dcterms:created>
  <dcterms:modified xsi:type="dcterms:W3CDTF">2026-03-21T01:36:23Z</dcterms:modified>
</cp:coreProperties>
</file>