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handoutMasterIdLst>
    <p:handoutMasterId r:id="rId31"/>
  </p:handoutMasterIdLst>
  <p:sldIdLst>
    <p:sldId id="256" r:id="rId2"/>
    <p:sldId id="336" r:id="rId3"/>
    <p:sldId id="325" r:id="rId4"/>
    <p:sldId id="474" r:id="rId5"/>
    <p:sldId id="475" r:id="rId6"/>
    <p:sldId id="476" r:id="rId7"/>
    <p:sldId id="472" r:id="rId8"/>
    <p:sldId id="478" r:id="rId9"/>
    <p:sldId id="479" r:id="rId10"/>
    <p:sldId id="473" r:id="rId11"/>
    <p:sldId id="498" r:id="rId12"/>
    <p:sldId id="499" r:id="rId13"/>
    <p:sldId id="500" r:id="rId14"/>
    <p:sldId id="501" r:id="rId15"/>
    <p:sldId id="502" r:id="rId16"/>
    <p:sldId id="503" r:id="rId17"/>
    <p:sldId id="504" r:id="rId18"/>
    <p:sldId id="505" r:id="rId19"/>
    <p:sldId id="506" r:id="rId20"/>
    <p:sldId id="507" r:id="rId21"/>
    <p:sldId id="508" r:id="rId22"/>
    <p:sldId id="509" r:id="rId23"/>
    <p:sldId id="510" r:id="rId24"/>
    <p:sldId id="511" r:id="rId25"/>
    <p:sldId id="512" r:id="rId26"/>
    <p:sldId id="513" r:id="rId27"/>
    <p:sldId id="324" r:id="rId28"/>
    <p:sldId id="306" r:id="rId29"/>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71" autoAdjust="0"/>
    <p:restoredTop sz="85817" autoAdjust="0"/>
  </p:normalViewPr>
  <p:slideViewPr>
    <p:cSldViewPr snapToGrid="0">
      <p:cViewPr varScale="1">
        <p:scale>
          <a:sx n="63" d="100"/>
          <a:sy n="63" d="100"/>
        </p:scale>
        <p:origin x="1026" y="6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21/03/2026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21/03/2026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scielo.br/j/ca/a/pXMZjzHJcJtkLVYLLDHHTxw/" TargetMode="External"/><Relationship Id="rId2" Type="http://schemas.openxmlformats.org/officeDocument/2006/relationships/slide" Target="../slides/slide6.xml"/><Relationship Id="rId1" Type="http://schemas.openxmlformats.org/officeDocument/2006/relationships/notesMaster" Target="../notesMasters/notesMaster1.xml"/><Relationship Id="rId5" Type="http://schemas.openxmlformats.org/officeDocument/2006/relationships/hyperlink" Target="https://maquinasqueaprendem.com/2020/04/02/aprendizagem-em-conjuntos-de-dados-com-classes-desbalanceadas/" TargetMode="External"/><Relationship Id="rId4" Type="http://schemas.openxmlformats.org/officeDocument/2006/relationships/hyperlink" Target="https://tatianaesc.medium.com/trabalhando-com-classes-desbalanceadas-em-problemas-machine-learning-29ee8db4a049"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 </a:t>
            </a:r>
            <a:r>
              <a:rPr lang="pt-BR" dirty="0" err="1"/>
              <a:t>ClassificationOfFourClassesWithOvAandOvO.ipynb</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6562837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dirty="0">
                <a:solidFill>
                  <a:srgbClr val="1F1F1F"/>
                </a:solidFill>
                <a:effectLst/>
                <a:latin typeface="Google Sans"/>
              </a:rPr>
              <a:t>O problema do treinamento de classificadores com classes desbalanceadas é que a maioria dos algoritmos de aprendizado de máquina assumem que as classes são distribuídas de forma relativamente equilibrada. Isso significa que, quando a classe minoritária é muito menor que a classe majoritária, o classificador tende a se concentrar em prever a classe majoritária com alta precisão, ignorando a classe minoritária.</a:t>
            </a:r>
          </a:p>
          <a:p>
            <a:pPr rtl="0"/>
            <a:r>
              <a:rPr lang="pt-BR" dirty="0">
                <a:solidFill>
                  <a:srgbClr val="1F1F1F"/>
                </a:solidFill>
                <a:effectLst/>
                <a:latin typeface="Google Sans"/>
              </a:rPr>
              <a:t>Isso pode levar a vários problemas:</a:t>
            </a:r>
          </a:p>
          <a:p>
            <a:pPr rtl="0">
              <a:buFont typeface="Arial" panose="020B0604020202020204" pitchFamily="34" charset="0"/>
              <a:buChar char="•"/>
            </a:pPr>
            <a:r>
              <a:rPr lang="pt-BR" b="1" dirty="0">
                <a:solidFill>
                  <a:srgbClr val="1F1F1F"/>
                </a:solidFill>
                <a:effectLst/>
                <a:latin typeface="Google Sans"/>
              </a:rPr>
              <a:t>Baixa acurácia na classificação da classe minoritária:</a:t>
            </a:r>
            <a:r>
              <a:rPr lang="pt-BR" dirty="0">
                <a:solidFill>
                  <a:srgbClr val="1F1F1F"/>
                </a:solidFill>
                <a:effectLst/>
                <a:latin typeface="Google Sans"/>
              </a:rPr>
              <a:t> O classificador pode ter uma alta acurácia geral, mas isso pode ser enganoso porque a maioria das previsões são para a classe majoritária. A acurácia para a classe minoritária pode ser muito baixa, o que pode ser um problema sério em aplicações onde a detecção da classe minoritária é crucial.</a:t>
            </a:r>
          </a:p>
          <a:p>
            <a:pPr rtl="0">
              <a:buFont typeface="Arial" panose="020B0604020202020204" pitchFamily="34" charset="0"/>
              <a:buChar char="•"/>
            </a:pPr>
            <a:r>
              <a:rPr lang="pt-BR" b="1" dirty="0">
                <a:solidFill>
                  <a:srgbClr val="1F1F1F"/>
                </a:solidFill>
                <a:effectLst/>
                <a:latin typeface="Google Sans"/>
              </a:rPr>
              <a:t>Dificuldade em identificar exemplos da classe minoritária:</a:t>
            </a:r>
            <a:r>
              <a:rPr lang="pt-BR" dirty="0">
                <a:solidFill>
                  <a:srgbClr val="1F1F1F"/>
                </a:solidFill>
                <a:effectLst/>
                <a:latin typeface="Google Sans"/>
              </a:rPr>
              <a:t> O classificador pode ter dificuldade em aprender as características da classe minoritária, pois há muito poucos exemplos para aprender. Isso pode levar a um alto número de falsos negativos, ou seja, exemplos da classe minoritária que são erroneamente classificados como classe majoritária.</a:t>
            </a:r>
          </a:p>
          <a:p>
            <a:pPr rtl="0">
              <a:buFont typeface="Arial" panose="020B0604020202020204" pitchFamily="34" charset="0"/>
              <a:buChar char="•"/>
            </a:pPr>
            <a:r>
              <a:rPr lang="pt-BR" b="1" dirty="0">
                <a:solidFill>
                  <a:srgbClr val="1F1F1F"/>
                </a:solidFill>
                <a:effectLst/>
                <a:latin typeface="Google Sans"/>
              </a:rPr>
              <a:t>Viés na seleção de características:</a:t>
            </a:r>
            <a:r>
              <a:rPr lang="pt-BR" dirty="0">
                <a:solidFill>
                  <a:srgbClr val="1F1F1F"/>
                </a:solidFill>
                <a:effectLst/>
                <a:latin typeface="Google Sans"/>
              </a:rPr>
              <a:t> O classificador pode selecionar características que são mais relevantes para a classe majoritária, ignorando características que são importantes para a classe minoritária. Isso pode levar a um modelo que é menos preciso na classificação da classe minoritária.</a:t>
            </a:r>
          </a:p>
          <a:p>
            <a:pPr rtl="0"/>
            <a:r>
              <a:rPr lang="pt-BR" dirty="0">
                <a:solidFill>
                  <a:srgbClr val="1F1F1F"/>
                </a:solidFill>
                <a:effectLst/>
                <a:latin typeface="Google Sans"/>
              </a:rPr>
              <a:t>Existem várias técnicas para lidar com o problema de classes desbalanceadas, como:</a:t>
            </a:r>
          </a:p>
          <a:p>
            <a:pPr rtl="0">
              <a:buFont typeface="Arial" panose="020B0604020202020204" pitchFamily="34" charset="0"/>
              <a:buChar char="•"/>
            </a:pPr>
            <a:r>
              <a:rPr lang="pt-BR" b="1" dirty="0" err="1">
                <a:solidFill>
                  <a:srgbClr val="1F1F1F"/>
                </a:solidFill>
                <a:effectLst/>
                <a:latin typeface="Google Sans"/>
              </a:rPr>
              <a:t>Reamostragem</a:t>
            </a:r>
            <a:r>
              <a:rPr lang="pt-BR" b="1" dirty="0">
                <a:solidFill>
                  <a:srgbClr val="1F1F1F"/>
                </a:solidFill>
                <a:effectLst/>
                <a:latin typeface="Google Sans"/>
              </a:rPr>
              <a:t>:</a:t>
            </a:r>
            <a:r>
              <a:rPr lang="pt-BR" dirty="0">
                <a:solidFill>
                  <a:srgbClr val="1F1F1F"/>
                </a:solidFill>
                <a:effectLst/>
                <a:latin typeface="Google Sans"/>
              </a:rPr>
              <a:t> Aumentar o número de exemplos da classe minoritária por meio de técnicas como </a:t>
            </a:r>
            <a:r>
              <a:rPr lang="pt-BR" dirty="0" err="1">
                <a:solidFill>
                  <a:srgbClr val="1F1F1F"/>
                </a:solidFill>
                <a:effectLst/>
                <a:latin typeface="Google Sans"/>
              </a:rPr>
              <a:t>sobreamostragem</a:t>
            </a:r>
            <a:r>
              <a:rPr lang="pt-BR" dirty="0">
                <a:solidFill>
                  <a:srgbClr val="1F1F1F"/>
                </a:solidFill>
                <a:effectLst/>
                <a:latin typeface="Google Sans"/>
              </a:rPr>
              <a:t> (gerando exemplos sintéticos da classe minoritária) ou </a:t>
            </a:r>
            <a:r>
              <a:rPr lang="pt-BR" dirty="0" err="1">
                <a:solidFill>
                  <a:srgbClr val="1F1F1F"/>
                </a:solidFill>
                <a:effectLst/>
                <a:latin typeface="Google Sans"/>
              </a:rPr>
              <a:t>subamostragem</a:t>
            </a:r>
            <a:r>
              <a:rPr lang="pt-BR" dirty="0">
                <a:solidFill>
                  <a:srgbClr val="1F1F1F"/>
                </a:solidFill>
                <a:effectLst/>
                <a:latin typeface="Google Sans"/>
              </a:rPr>
              <a:t> (removendo exemplos da classe majoritária).</a:t>
            </a:r>
          </a:p>
          <a:p>
            <a:pPr rtl="0">
              <a:buFont typeface="Arial" panose="020B0604020202020204" pitchFamily="34" charset="0"/>
              <a:buChar char="•"/>
            </a:pPr>
            <a:r>
              <a:rPr lang="pt-BR" b="1" dirty="0">
                <a:solidFill>
                  <a:srgbClr val="1F1F1F"/>
                </a:solidFill>
                <a:effectLst/>
                <a:latin typeface="Google Sans"/>
              </a:rPr>
              <a:t>Ponderação de classes:</a:t>
            </a:r>
            <a:r>
              <a:rPr lang="pt-BR" dirty="0">
                <a:solidFill>
                  <a:srgbClr val="1F1F1F"/>
                </a:solidFill>
                <a:effectLst/>
                <a:latin typeface="Google Sans"/>
              </a:rPr>
              <a:t> Atribuir pesos diferentes às classes durante o treinamento, dando mais importância à classe minoritária.</a:t>
            </a:r>
          </a:p>
          <a:p>
            <a:pPr rtl="0">
              <a:buFont typeface="Arial" panose="020B0604020202020204" pitchFamily="34" charset="0"/>
              <a:buChar char="•"/>
            </a:pPr>
            <a:r>
              <a:rPr lang="pt-BR" b="1" dirty="0">
                <a:solidFill>
                  <a:srgbClr val="1F1F1F"/>
                </a:solidFill>
                <a:effectLst/>
                <a:latin typeface="Google Sans"/>
              </a:rPr>
              <a:t>Algoritmos específicos para classes desbalanceadas:</a:t>
            </a:r>
            <a:r>
              <a:rPr lang="pt-BR" dirty="0">
                <a:solidFill>
                  <a:srgbClr val="1F1F1F"/>
                </a:solidFill>
                <a:effectLst/>
                <a:latin typeface="Google Sans"/>
              </a:rPr>
              <a:t> Existem algoritmos de aprendizado de máquina que foram </a:t>
            </a:r>
            <a:r>
              <a:rPr lang="pt-BR" dirty="0" err="1">
                <a:solidFill>
                  <a:srgbClr val="1F1F1F"/>
                </a:solidFill>
                <a:effectLst/>
                <a:latin typeface="Google Sans"/>
              </a:rPr>
              <a:t>specifically</a:t>
            </a:r>
            <a:r>
              <a:rPr lang="pt-BR" dirty="0">
                <a:solidFill>
                  <a:srgbClr val="1F1F1F"/>
                </a:solidFill>
                <a:effectLst/>
                <a:latin typeface="Google Sans"/>
              </a:rPr>
              <a:t> </a:t>
            </a:r>
            <a:r>
              <a:rPr lang="pt-BR" dirty="0" err="1">
                <a:solidFill>
                  <a:srgbClr val="1F1F1F"/>
                </a:solidFill>
                <a:effectLst/>
                <a:latin typeface="Google Sans"/>
              </a:rPr>
              <a:t>designed</a:t>
            </a:r>
            <a:r>
              <a:rPr lang="pt-BR" dirty="0">
                <a:solidFill>
                  <a:srgbClr val="1F1F1F"/>
                </a:solidFill>
                <a:effectLst/>
                <a:latin typeface="Google Sans"/>
              </a:rPr>
              <a:t> para lidar com o problema de classes desbalanceadas, como Random </a:t>
            </a:r>
            <a:r>
              <a:rPr lang="pt-BR" dirty="0" err="1">
                <a:solidFill>
                  <a:srgbClr val="1F1F1F"/>
                </a:solidFill>
                <a:effectLst/>
                <a:latin typeface="Google Sans"/>
              </a:rPr>
              <a:t>Oversampling</a:t>
            </a:r>
            <a:r>
              <a:rPr lang="pt-BR" dirty="0">
                <a:solidFill>
                  <a:srgbClr val="1F1F1F"/>
                </a:solidFill>
                <a:effectLst/>
                <a:latin typeface="Google Sans"/>
              </a:rPr>
              <a:t> Ensemble (ROSE) e </a:t>
            </a:r>
            <a:r>
              <a:rPr lang="pt-BR" dirty="0" err="1">
                <a:solidFill>
                  <a:srgbClr val="1F1F1F"/>
                </a:solidFill>
                <a:effectLst/>
                <a:latin typeface="Google Sans"/>
              </a:rPr>
              <a:t>Support</a:t>
            </a:r>
            <a:r>
              <a:rPr lang="pt-BR" dirty="0">
                <a:solidFill>
                  <a:srgbClr val="1F1F1F"/>
                </a:solidFill>
                <a:effectLst/>
                <a:latin typeface="Google Sans"/>
              </a:rPr>
              <a:t> Vector </a:t>
            </a:r>
            <a:r>
              <a:rPr lang="pt-BR" dirty="0" err="1">
                <a:solidFill>
                  <a:srgbClr val="1F1F1F"/>
                </a:solidFill>
                <a:effectLst/>
                <a:latin typeface="Google Sans"/>
              </a:rPr>
              <a:t>Machines</a:t>
            </a:r>
            <a:r>
              <a:rPr lang="pt-BR" dirty="0">
                <a:solidFill>
                  <a:srgbClr val="1F1F1F"/>
                </a:solidFill>
                <a:effectLst/>
                <a:latin typeface="Google Sans"/>
              </a:rPr>
              <a:t> (SVM) com ponderação de classes.</a:t>
            </a:r>
          </a:p>
          <a:p>
            <a:pPr rtl="0"/>
            <a:r>
              <a:rPr lang="pt-BR" dirty="0">
                <a:solidFill>
                  <a:srgbClr val="1F1F1F"/>
                </a:solidFill>
                <a:effectLst/>
                <a:latin typeface="Google Sans"/>
              </a:rPr>
              <a:t>A escolha da melhor técnica depende do tipo de problema e do conjunto de dados específico. É importante experimentar diferentes técnicas para encontrar a que funciona melhor para o seu problema.</a:t>
            </a:r>
          </a:p>
          <a:p>
            <a:pPr rtl="0"/>
            <a:r>
              <a:rPr lang="pt-BR" b="1" dirty="0">
                <a:solidFill>
                  <a:srgbClr val="1F1F1F"/>
                </a:solidFill>
                <a:effectLst/>
                <a:latin typeface="Google Sans"/>
              </a:rPr>
              <a:t>Recursos adicionais:</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Aprendizado supervisionado com conjuntos de dados desbalanceados: </a:t>
            </a:r>
            <a:r>
              <a:rPr lang="pt-BR" dirty="0">
                <a:solidFill>
                  <a:srgbClr val="0B57D0"/>
                </a:solidFill>
                <a:effectLst/>
                <a:latin typeface="Google Sans"/>
                <a:hlinkClick r:id="rId3"/>
              </a:rPr>
              <a:t>https://www.scielo.br/j/ca/a/pXMZjzHJcJtkLVYLLDHHTxw/</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Trabalhando com classes desbalanceadas em problemas Machine Learning: </a:t>
            </a:r>
            <a:r>
              <a:rPr lang="pt-BR" dirty="0">
                <a:solidFill>
                  <a:srgbClr val="0B57D0"/>
                </a:solidFill>
                <a:effectLst/>
                <a:latin typeface="Google Sans"/>
                <a:hlinkClick r:id="rId4"/>
              </a:rPr>
              <a:t>https://tatianaesc.medium.com/trabalhando-com-classes-desbalanceadas-em-problemas-machine-learning-29ee8db4a049</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Aprendizagem em conjuntos de dados com classes desbalanceadas: </a:t>
            </a:r>
            <a:r>
              <a:rPr lang="pt-BR" dirty="0">
                <a:solidFill>
                  <a:srgbClr val="0B57D0"/>
                </a:solidFill>
                <a:effectLst/>
                <a:latin typeface="Google Sans"/>
                <a:hlinkClick r:id="rId5"/>
              </a:rPr>
              <a:t>https://maquinasqueaprendem.com/2020/04/02/aprendizagem-em-conjuntos-de-dados-com-classes-desbalanceadas/</a:t>
            </a:r>
            <a:endParaRPr lang="pt-BR" dirty="0">
              <a:solidFill>
                <a:srgbClr val="1F1F1F"/>
              </a:solidFill>
              <a:effectLst/>
              <a:latin typeface="Google Sans"/>
            </a:endParaRP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740290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587100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3997809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 </a:t>
            </a:r>
            <a:r>
              <a:rPr lang="pt-BR" dirty="0" smtClean="0"/>
              <a:t>https://colab.research.google.com/github/zz4fap/t320_aprendizado_de_maquina/blob/main/notebooks/classificação/ClassificationOfFourClassesWithOvAandOvO_SciKitLearn.ipynb</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ClassificationOfFourClassesWithOvAandOvO_SciKitLearn.ipynb</a:t>
            </a:r>
            <a:endParaRPr lang="pt-BR" dirty="0"/>
          </a:p>
          <a:p>
            <a:endParaRPr lang="pt-BR" dirty="0"/>
          </a:p>
          <a:p>
            <a:endParaRPr lang="pt-BR" dirty="0"/>
          </a:p>
          <a:p>
            <a:r>
              <a:rPr lang="pt-BR" sz="1200" b="0" i="0" kern="1200" dirty="0">
                <a:solidFill>
                  <a:schemeClr val="tx1"/>
                </a:solidFill>
                <a:effectLst/>
                <a:latin typeface="+mn-lt"/>
                <a:ea typeface="+mn-ea"/>
                <a:cs typeface="+mn-cs"/>
              </a:rPr>
              <a:t>A abordagem um-contra-um pode ser mais adequada quando o número de classes é pequeno ou quando há desbalanceamento entre as classes. Isso ocorre porque a abordagem um-contra-um treina vários classificadores binários, cada um focado em discriminar apenas duas classes, o que pode ser mais eficiente do que treinar um único modelo para discriminar várias classes. Além disso, a abordagem um-contra-um pode ser menos suscetível a erros devido ao desbalanceamento das classes, pois cada classificador binário é treinado em um conjunto de dados equilibrado contendo apenas duas classes.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 outro lado, a abordagem um-contra-o-resto pode ser mais adequada quando o número de classes é grande ou quando as classes são bem equilibradas. Isso ocorre porque a abordagem um-contra-o-resto treina um único modelo para discriminar todas as classes, o que pode ser mais eficiente do que treinar vários modelos de classificação binária. Além disso, a abordagem um-contra-o-resto pode ser mais robusta em relação a variações ou ruídos nos dados, pois o modelo é treinado para distinguir cada classe das demais.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4255333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16978169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Exemplos de classes não mutuamente exclusivas:</a:t>
            </a:r>
          </a:p>
          <a:p>
            <a:r>
              <a:rPr lang="pt-BR" sz="1200" b="1" i="0" kern="1200" dirty="0">
                <a:solidFill>
                  <a:schemeClr val="tx1"/>
                </a:solidFill>
                <a:effectLst/>
                <a:latin typeface="+mn-lt"/>
                <a:ea typeface="+mn-ea"/>
                <a:cs typeface="+mn-cs"/>
              </a:rPr>
              <a:t>Classificação de documentos por tópicos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documento pode ser sobre "Política", "Economia" e "Saúde" ao mesmo tempo.</a:t>
            </a:r>
          </a:p>
          <a:p>
            <a:r>
              <a:rPr lang="pt-BR" sz="1200" b="1" i="0" kern="1200" dirty="0">
                <a:solidFill>
                  <a:schemeClr val="tx1"/>
                </a:solidFill>
                <a:effectLst/>
                <a:latin typeface="+mn-lt"/>
                <a:ea typeface="+mn-ea"/>
                <a:cs typeface="+mn-cs"/>
              </a:rPr>
              <a:t>Reconhecimento de objetos em imagens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imagem pode conter "gato", "cão" e "árvore" simultaneamente.</a:t>
            </a:r>
          </a:p>
          <a:p>
            <a:r>
              <a:rPr lang="pt-BR" sz="1200" b="1" i="0" kern="1200" dirty="0">
                <a:solidFill>
                  <a:schemeClr val="tx1"/>
                </a:solidFill>
                <a:effectLst/>
                <a:latin typeface="+mn-lt"/>
                <a:ea typeface="+mn-ea"/>
                <a:cs typeface="+mn-cs"/>
              </a:rPr>
              <a:t>Sistema de recomendação de filmes por gêneros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filme pode ser classificado como "Comédia", "Romance" e "Drama".</a:t>
            </a:r>
          </a:p>
          <a:p>
            <a:r>
              <a:rPr lang="pt-BR" sz="1200" b="1" i="0" kern="1200" dirty="0">
                <a:solidFill>
                  <a:schemeClr val="tx1"/>
                </a:solidFill>
                <a:effectLst/>
                <a:latin typeface="+mn-lt"/>
                <a:ea typeface="+mn-ea"/>
                <a:cs typeface="+mn-cs"/>
              </a:rPr>
              <a:t>Diagnóstico médico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paciente pode ter múltiplas doenças: "diabetes", "hipertensão" e "asma".</a:t>
            </a:r>
          </a:p>
          <a:p>
            <a:r>
              <a:rPr lang="pt-BR" sz="1200" b="1" i="0" kern="1200" dirty="0">
                <a:solidFill>
                  <a:schemeClr val="tx1"/>
                </a:solidFill>
                <a:effectLst/>
                <a:latin typeface="+mn-lt"/>
                <a:ea typeface="+mn-ea"/>
                <a:cs typeface="+mn-cs"/>
              </a:rPr>
              <a:t>Análise de sentimentos em texto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texto pode expressar "alegria", "surpresa" e "raiva" ao mesmo tempo.</a:t>
            </a:r>
          </a:p>
          <a:p>
            <a:r>
              <a:rPr lang="pt-BR" sz="1200" b="1" i="0" kern="1200" dirty="0" err="1">
                <a:solidFill>
                  <a:schemeClr val="tx1"/>
                </a:solidFill>
                <a:effectLst/>
                <a:latin typeface="+mn-lt"/>
                <a:ea typeface="+mn-ea"/>
                <a:cs typeface="+mn-cs"/>
              </a:rPr>
              <a:t>Tags</a:t>
            </a:r>
            <a:r>
              <a:rPr lang="pt-BR" sz="1200" b="1" i="0" kern="1200" dirty="0">
                <a:solidFill>
                  <a:schemeClr val="tx1"/>
                </a:solidFill>
                <a:effectLst/>
                <a:latin typeface="+mn-lt"/>
                <a:ea typeface="+mn-ea"/>
                <a:cs typeface="+mn-cs"/>
              </a:rPr>
              <a:t> em produtos de e-commerce</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produto pode ter </a:t>
            </a:r>
            <a:r>
              <a:rPr lang="pt-BR" sz="1200" b="0" i="0" kern="1200" dirty="0" err="1">
                <a:solidFill>
                  <a:schemeClr val="tx1"/>
                </a:solidFill>
                <a:effectLst/>
                <a:latin typeface="+mn-lt"/>
                <a:ea typeface="+mn-ea"/>
                <a:cs typeface="+mn-cs"/>
              </a:rPr>
              <a:t>tags</a:t>
            </a:r>
            <a:r>
              <a:rPr lang="pt-BR" sz="1200" b="0" i="0" kern="1200" dirty="0">
                <a:solidFill>
                  <a:schemeClr val="tx1"/>
                </a:solidFill>
                <a:effectLst/>
                <a:latin typeface="+mn-lt"/>
                <a:ea typeface="+mn-ea"/>
                <a:cs typeface="+mn-cs"/>
              </a:rPr>
              <a:t> como "barato", "ecológico", "promoção" e "novidade".</a:t>
            </a:r>
          </a:p>
          <a:p>
            <a:r>
              <a:rPr lang="pt-BR" sz="1200" b="1" i="0" kern="1200" dirty="0">
                <a:solidFill>
                  <a:schemeClr val="tx1"/>
                </a:solidFill>
                <a:effectLst/>
                <a:latin typeface="+mn-lt"/>
                <a:ea typeface="+mn-ea"/>
                <a:cs typeface="+mn-cs"/>
              </a:rPr>
              <a:t>Classificação de músicas por gênero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música pode ser "rock", "eletrônica" e "experimental" simultaneamente.</a:t>
            </a:r>
          </a:p>
          <a:p>
            <a:r>
              <a:rPr lang="pt-BR" dirty="0"/>
              <a:t/>
            </a:r>
            <a:br>
              <a:rPr lang="pt-BR" dirty="0"/>
            </a:br>
            <a:r>
              <a:rPr lang="pt-BR" dirty="0"/>
              <a:t/>
            </a:r>
            <a:br>
              <a:rPr lang="pt-BR" dirty="0"/>
            </a:br>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35959977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1477457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33345101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3691316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2468952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15716462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12940999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i="1" smtClean="0">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smtClean="0">
                            <a:latin typeface="Cambria Math" panose="02040503050406030204" pitchFamily="18" charset="0"/>
                          </a:rPr>
                        </m:ctrlPr>
                      </m:sSubPr>
                      <m:e>
                        <m:acc>
                          <m:accPr>
                            <m:chr m:val="̂"/>
                            <m:ctrlPr>
                              <a:rPr lang="pt-BR" sz="1200"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679661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9754578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a:t>
            </a:r>
            <a:r>
              <a:rPr lang="pt-BR" b="0" i="0" dirty="0" err="1">
                <a:solidFill>
                  <a:srgbClr val="374151"/>
                </a:solidFill>
                <a:effectLst/>
                <a:latin typeface="Söhne"/>
              </a:rPr>
              <a:t>multiclasse</a:t>
            </a:r>
            <a:r>
              <a:rPr lang="pt-BR" b="0" i="0" dirty="0">
                <a:solidFill>
                  <a:srgbClr val="374151"/>
                </a:solidFill>
                <a:effectLst/>
                <a:latin typeface="Söhne"/>
              </a:rPr>
              <a:t>,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0960469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6676947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#4:</a:t>
            </a:r>
            <a:r>
              <a:rPr lang="pt-BR" sz="1200" dirty="0"/>
              <a:t> https://mybinder.org/v2/gh/zz4fap/t320_aprendizado_de_maquina/main?filepath=labs%2FLaboratorio4.ipynb</a:t>
            </a:r>
          </a:p>
          <a:p>
            <a:endParaRPr lang="pt-BR" sz="1200" dirty="0"/>
          </a:p>
          <a:p>
            <a:r>
              <a:rPr lang="pt-BR" sz="1200" dirty="0"/>
              <a:t>https://colab.research.google.com/github/zz4fap/t320_aprendizado_de_maquina/blob/main/labs/Laboratorio4.ipynb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758614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21/03/2026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15.png"/><Relationship Id="rId7" Type="http://schemas.openxmlformats.org/officeDocument/2006/relationships/image" Target="../media/image92.png"/><Relationship Id="rId12" Type="http://schemas.openxmlformats.org/officeDocument/2006/relationships/image" Target="../media/image95.png"/><Relationship Id="rId2" Type="http://schemas.openxmlformats.org/officeDocument/2006/relationships/notesSlide" Target="../notesSlides/notesSlide6.xml"/><Relationship Id="rId1" Type="http://schemas.openxmlformats.org/officeDocument/2006/relationships/slideLayout" Target="../slideLayouts/slideLayout2.xml"/><Relationship Id="rId11" Type="http://schemas.openxmlformats.org/officeDocument/2006/relationships/image" Target="../media/image941.png"/><Relationship Id="rId5" Type="http://schemas.openxmlformats.org/officeDocument/2006/relationships/image" Target="../media/image140.png"/><Relationship Id="rId10" Type="http://schemas.openxmlformats.org/officeDocument/2006/relationships/image" Target="../media/image931.png"/><Relationship Id="rId9" Type="http://schemas.openxmlformats.org/officeDocument/2006/relationships/image" Target="../media/image94.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NULL"/><Relationship Id="rId1" Type="http://schemas.openxmlformats.org/officeDocument/2006/relationships/slideLayout" Target="../slideLayouts/slideLayout2.xml"/><Relationship Id="rId4" Type="http://schemas.openxmlformats.org/officeDocument/2006/relationships/image" Target="NUL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hyperlink" Target="https://colab.research.google.com/github/zz4fap/t320_aprendizado_de_maquina/blob/main/notebooks/classifica&#231;&#227;o/softmax_regressor_with_scikit_learn.ipynb" TargetMode="External"/><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3" Type="http://schemas.openxmlformats.org/officeDocument/2006/relationships/hyperlink" Target="https://colab.research.google.com/github/zz4fap/t320_aprendizado_de_maquina/blob/main/labs/Laboratorio4.ipynb"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T320 - Introdução ao Aprendizado de Máquina II:</a:t>
            </a:r>
            <a:r>
              <a:rPr lang="pt-BR" dirty="0"/>
              <a:t/>
            </a:r>
            <a:br>
              <a:rPr lang="pt-BR" dirty="0"/>
            </a:br>
            <a:r>
              <a:rPr lang="pt-BR" b="1" i="1" dirty="0"/>
              <a:t>Classificação (Parte IV)</a:t>
            </a:r>
          </a:p>
        </p:txBody>
      </p:sp>
      <p:sp>
        <p:nvSpPr>
          <p:cNvPr id="4" name="CaixaDeTexto 3">
            <a:extLst>
              <a:ext uri="{FF2B5EF4-FFF2-40B4-BE49-F238E27FC236}">
                <a16:creationId xmlns:a16="http://schemas.microsoft.com/office/drawing/2014/main" xmlns=""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199" y="1825624"/>
            <a:ext cx="11008057" cy="5032376"/>
          </a:xfrm>
        </p:spPr>
        <p:txBody>
          <a:bodyPr>
            <a:normAutofit/>
          </a:bodyPr>
          <a:lstStyle/>
          <a:p>
            <a:r>
              <a:rPr lang="pt-BR" dirty="0"/>
              <a:t>Anteriormente, aprendemos como o </a:t>
            </a:r>
            <a:r>
              <a:rPr lang="pt-BR" b="1" i="1" dirty="0"/>
              <a:t>regressor logístico</a:t>
            </a:r>
            <a:r>
              <a:rPr lang="pt-BR" dirty="0"/>
              <a:t> funciona e pode ser usado em problemas de classificação binária, após a discretização do valor de saída.</a:t>
            </a:r>
          </a:p>
          <a:p>
            <a:r>
              <a:rPr lang="pt-BR" dirty="0"/>
              <a:t>Na sequência, veremos como lidar com problemas de classificação que envolvem mais de 2 classes.</a:t>
            </a:r>
          </a:p>
        </p:txBody>
      </p:sp>
    </p:spTree>
    <p:extLst>
      <p:ext uri="{BB962C8B-B14F-4D97-AF65-F5344CB8AC3E}">
        <p14:creationId xmlns:p14="http://schemas.microsoft.com/office/powerpoint/2010/main" val="844407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38800" y="1784680"/>
                <a:ext cx="6357730" cy="5073320"/>
              </a:xfrm>
            </p:spPr>
            <p:txBody>
              <a:bodyPr>
                <a:normAutofit/>
              </a:bodyPr>
              <a:lstStyle/>
              <a:p>
                <a:r>
                  <a:rPr lang="pt-BR" dirty="0"/>
                  <a:t>Até agora, vimos problemas com 2 classes (i.e.,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=2</m:t>
                    </m:r>
                  </m:oMath>
                </a14:m>
                <a:r>
                  <a:rPr lang="pt-BR" dirty="0"/>
                  <a:t>).</a:t>
                </a:r>
              </a:p>
              <a:p>
                <a:r>
                  <a:rPr lang="pt-BR" dirty="0"/>
                  <a:t>Porém,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escritos </a:t>
                </a:r>
                <a:r>
                  <a:rPr lang="nl-BE" dirty="0"/>
                  <a:t>à</a:t>
                </a:r>
                <a:r>
                  <a:rPr lang="pt-BR" dirty="0"/>
                  <a:t> mão: 10 dígitos.</a:t>
                </a:r>
              </a:p>
              <a:p>
                <a:pPr lvl="1">
                  <a:buFont typeface="Wingdings" panose="05000000000000000000" pitchFamily="2" charset="2"/>
                  <a:buChar char="§"/>
                </a:pPr>
                <a:r>
                  <a:rPr lang="pt-BR" dirty="0"/>
                  <a:t>Classificação de texto: Esportes, Economia, Política, Entretenimento, etc.</a:t>
                </a:r>
              </a:p>
              <a:p>
                <a:pPr lvl="1">
                  <a:buFont typeface="Wingdings" panose="05000000000000000000" pitchFamily="2" charset="2"/>
                  <a:buChar char="§"/>
                </a:pPr>
                <a:r>
                  <a:rPr lang="pt-BR" dirty="0"/>
                  <a:t>Classificação de sentimentos: Neutro, Positivo, Negativo.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38800" y="1784680"/>
                <a:ext cx="6357730" cy="5073320"/>
              </a:xfrm>
              <a:blipFill>
                <a:blip r:embed="rId2"/>
                <a:stretch>
                  <a:fillRect l="-1726" t="-2043"/>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a16="http://schemas.microsoft.com/office/drawing/2014/main" xmlns=""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a16="http://schemas.microsoft.com/office/drawing/2014/main" xmlns=""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a16="http://schemas.microsoft.com/office/drawing/2014/main" xmlns=""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97415" y="1784680"/>
                <a:ext cx="6375969" cy="5073320"/>
              </a:xfrm>
            </p:spPr>
            <p:txBody>
              <a:bodyPr>
                <a:normAutofit lnSpcReduction="10000"/>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i="1" dirty="0">
                    <a:solidFill>
                      <a:srgbClr val="00B050"/>
                    </a:solidFill>
                  </a:rPr>
                  <a:t>multiclasses</a:t>
                </a:r>
                <a:r>
                  <a:rPr lang="pt-BR" dirty="0"/>
                  <a:t>.</a:t>
                </a:r>
              </a:p>
              <a:p>
                <a:r>
                  <a:rPr lang="pt-BR" dirty="0"/>
                  <a:t>Algumas abordagens para a </a:t>
                </a:r>
                <a:r>
                  <a:rPr lang="pt-BR" b="1" i="1" dirty="0"/>
                  <a:t>classificação multiclasse</a:t>
                </a:r>
                <a:r>
                  <a:rPr lang="pt-BR" dirty="0"/>
                  <a:t> são:</a:t>
                </a:r>
              </a:p>
              <a:p>
                <a:pPr lvl="1">
                  <a:buFont typeface="Wingdings" panose="05000000000000000000" pitchFamily="2" charset="2"/>
                  <a:buChar char="§"/>
                </a:pPr>
                <a:r>
                  <a:rPr lang="pt-BR" dirty="0"/>
                  <a:t>Um-Contra-o-Resto</a:t>
                </a:r>
              </a:p>
              <a:p>
                <a:pPr lvl="1">
                  <a:buFont typeface="Wingdings" panose="05000000000000000000" pitchFamily="2" charset="2"/>
                  <a:buChar char="§"/>
                </a:pPr>
                <a:r>
                  <a:rPr lang="pt-BR" dirty="0"/>
                  <a:t>Um-Contra-Um</a:t>
                </a:r>
              </a:p>
              <a:p>
                <a:pPr lvl="1">
                  <a:buFont typeface="Wingdings" panose="05000000000000000000" pitchFamily="2" charset="2"/>
                  <a:buChar char="§"/>
                </a:pPr>
                <a:r>
                  <a:rPr lang="pt-BR" dirty="0"/>
                  <a:t>Regressão Softmax</a:t>
                </a:r>
              </a:p>
              <a:p>
                <a:r>
                  <a:rPr lang="pt-BR" dirty="0"/>
                  <a:t>As duas primeiras usam </a:t>
                </a:r>
                <a:r>
                  <a:rPr lang="pt-BR" b="1" i="1" dirty="0"/>
                  <a:t>classificadores binários</a:t>
                </a:r>
                <a:r>
                  <a:rPr lang="pt-BR" dirty="0"/>
                  <a:t>, como o</a:t>
                </a:r>
                <a:r>
                  <a:rPr lang="pt-BR" b="1" i="1" dirty="0"/>
                  <a:t> regressor logístico</a:t>
                </a:r>
                <a:r>
                  <a:rPr lang="pt-BR" dirty="0"/>
                  <a:t>.</a:t>
                </a:r>
              </a:p>
              <a:p>
                <a:r>
                  <a:rPr lang="pt-BR" dirty="0"/>
                  <a:t>A terceira abordagem é uma generalização do </a:t>
                </a:r>
                <a:r>
                  <a:rPr lang="pt-BR" b="1" i="1" dirty="0"/>
                  <a:t>classificador logístico </a:t>
                </a:r>
                <a:r>
                  <a:rPr lang="pt-BR" dirty="0"/>
                  <a:t>para problemas multiclasse.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97415" y="1784680"/>
                <a:ext cx="6375969" cy="5073320"/>
              </a:xfrm>
              <a:blipFill>
                <a:blip r:embed="rId2"/>
                <a:stretch>
                  <a:fillRect l="-1721" t="-2764" r="-2103"/>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a16="http://schemas.microsoft.com/office/drawing/2014/main" xmlns=""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a16="http://schemas.microsoft.com/office/drawing/2014/main" xmlns=""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a16="http://schemas.microsoft.com/office/drawing/2014/main" xmlns=""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5206997-C98C-FF52-62A1-725EEA7A8A7E}"/>
              </a:ext>
            </a:extLst>
          </p:cNvPr>
          <p:cNvSpPr>
            <a:spLocks noGrp="1"/>
          </p:cNvSpPr>
          <p:nvPr>
            <p:ph type="title"/>
          </p:nvPr>
        </p:nvSpPr>
        <p:spPr/>
        <p:txBody>
          <a:bodyPr/>
          <a:lstStyle/>
          <a:p>
            <a:r>
              <a:rPr lang="pt-BR" dirty="0"/>
              <a:t>Um-Contra-o-Resto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50B99F56-FF18-D044-7799-0502D4F6A5FB}"/>
                  </a:ext>
                </a:extLst>
              </p:cNvPr>
              <p:cNvSpPr>
                <a:spLocks noGrp="1"/>
              </p:cNvSpPr>
              <p:nvPr>
                <p:ph idx="1"/>
              </p:nvPr>
            </p:nvSpPr>
            <p:spPr>
              <a:xfrm>
                <a:off x="838200" y="1825624"/>
                <a:ext cx="11353800" cy="5032375"/>
              </a:xfrm>
            </p:spPr>
            <p:txBody>
              <a:bodyPr/>
              <a:lstStyle/>
              <a:p>
                <a:r>
                  <a:rPr lang="pt-BR" dirty="0"/>
                  <a:t>Nesta abordagem, treina-se </a:t>
                </a:r>
                <a:r>
                  <a:rPr lang="pt-BR" b="1" i="1" dirty="0">
                    <a:solidFill>
                      <a:srgbClr val="00B050"/>
                    </a:solidFill>
                  </a:rPr>
                  <a:t>um classificador</a:t>
                </a:r>
                <a:r>
                  <a:rPr lang="pt-BR" dirty="0">
                    <a:solidFill>
                      <a:srgbClr val="00B050"/>
                    </a:solidFill>
                  </a:rPr>
                  <a:t> </a:t>
                </a:r>
                <a:r>
                  <a:rPr lang="pt-BR" b="1" i="1" dirty="0">
                    <a:solidFill>
                      <a:srgbClr val="7030A0"/>
                    </a:solidFill>
                  </a:rPr>
                  <a:t>binário</a:t>
                </a:r>
                <a:r>
                  <a:rPr lang="pt-BR" dirty="0"/>
                  <a:t> </a:t>
                </a:r>
                <a:r>
                  <a:rPr lang="pt-BR" b="1" dirty="0">
                    <a:solidFill>
                      <a:schemeClr val="accent2"/>
                    </a:solidFill>
                  </a:rPr>
                  <a:t>por classe </a:t>
                </a:r>
                <a14:m>
                  <m:oMath xmlns:m="http://schemas.openxmlformats.org/officeDocument/2006/math">
                    <m:r>
                      <a:rPr lang="pt-BR" i="1">
                        <a:latin typeface="Cambria Math" panose="02040503050406030204" pitchFamily="18" charset="0"/>
                      </a:rPr>
                      <m:t>𝑞</m:t>
                    </m:r>
                  </m:oMath>
                </a14:m>
                <a:r>
                  <a:rPr lang="pt-BR" dirty="0"/>
                  <a:t>, para predizer a probabilidade </a:t>
                </a:r>
                <a14:m>
                  <m:oMath xmlns:m="http://schemas.openxmlformats.org/officeDocument/2006/math">
                    <m:r>
                      <a:rPr lang="pt-BR" i="1">
                        <a:latin typeface="Cambria Math" panose="02040503050406030204" pitchFamily="18" charset="0"/>
                      </a:rPr>
                      <m:t>𝑃</m:t>
                    </m:r>
                    <m:d>
                      <m:dPr>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e>
                    </m:d>
                    <m:r>
                      <a:rPr lang="pt-BR" b="1" i="1" smtClean="0">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b="1" i="1">
                        <a:latin typeface="Cambria Math" panose="02040503050406030204" pitchFamily="18" charset="0"/>
                      </a:rPr>
                      <m:t>,</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𝑞</m:t>
                    </m:r>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m:t>
                    </m:r>
                  </m:oMath>
                </a14:m>
                <a:r>
                  <a:rPr lang="pt-BR" dirty="0"/>
                  <a:t>, 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oMath>
                </a14:m>
                <a:r>
                  <a:rPr lang="pt-BR" dirty="0"/>
                  <a:t> é a classe positiva e as demais formam a classe negativa.</a:t>
                </a:r>
                <a:endParaRPr lang="pt-BR" b="0" dirty="0"/>
              </a:p>
              <a:p>
                <a:r>
                  <a:rPr lang="pt-BR" dirty="0"/>
                  <a:t>Em outras palavras, treina-se </a:t>
                </a:r>
                <a14:m>
                  <m:oMath xmlns:m="http://schemas.openxmlformats.org/officeDocument/2006/math">
                    <m:r>
                      <a:rPr lang="pt-BR" b="0" i="1" smtClean="0">
                        <a:latin typeface="Cambria Math" panose="02040503050406030204" pitchFamily="18" charset="0"/>
                      </a:rPr>
                      <m:t>𝑄</m:t>
                    </m:r>
                  </m:oMath>
                </a14:m>
                <a:r>
                  <a:rPr lang="pt-BR" b="0" dirty="0"/>
                  <a:t> </a:t>
                </a:r>
                <a:r>
                  <a:rPr lang="pt-BR" b="1" i="1" dirty="0"/>
                  <a:t>classificadores binários</a:t>
                </a:r>
                <a:r>
                  <a:rPr lang="pt-BR" dirty="0"/>
                  <a:t>,</a:t>
                </a:r>
                <a:r>
                  <a:rPr lang="pt-BR" b="1" i="1" dirty="0"/>
                  <a:t> </a:t>
                </a:r>
                <a:r>
                  <a:rPr lang="pt-BR" b="0" dirty="0"/>
                  <a:t>onde para cada classificador, a classe positiva é a </a:t>
                </a:r>
                <a14:m>
                  <m:oMath xmlns:m="http://schemas.openxmlformats.org/officeDocument/2006/math">
                    <m:r>
                      <a:rPr lang="pt-BR" i="1">
                        <a:latin typeface="Cambria Math" panose="02040503050406030204" pitchFamily="18" charset="0"/>
                      </a:rPr>
                      <m:t>𝑞</m:t>
                    </m:r>
                  </m:oMath>
                </a14:m>
                <a:r>
                  <a:rPr lang="pt-BR" b="0" dirty="0"/>
                  <a:t>-</a:t>
                </a:r>
                <a:r>
                  <a:rPr lang="pt-BR" b="0" dirty="0" err="1"/>
                  <a:t>ésima</a:t>
                </a:r>
                <a:r>
                  <a:rPr lang="pt-BR" b="0" dirty="0"/>
                  <a:t> classe e a classe negativa</a:t>
                </a:r>
                <a:r>
                  <a:rPr lang="pt-BR" dirty="0"/>
                  <a:t> </a:t>
                </a:r>
                <a:r>
                  <a:rPr lang="pt-BR" b="0" dirty="0"/>
                  <a:t>é a junção de todas as outras,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m:t>
                    </m:r>
                  </m:oMath>
                </a14:m>
                <a:r>
                  <a:rPr lang="pt-BR" b="0" dirty="0"/>
                  <a:t>, classes.</a:t>
                </a:r>
              </a:p>
              <a:p>
                <a:r>
                  <a:rPr lang="pt-BR" dirty="0">
                    <a:solidFill>
                      <a:schemeClr val="tx1"/>
                    </a:solidFill>
                  </a:rPr>
                  <a:t>Fazendo isso, nós </a:t>
                </a:r>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problemas binários</a:t>
                </a:r>
                <a:r>
                  <a:rPr lang="pt-BR" dirty="0">
                    <a:solidFill>
                      <a:schemeClr val="tx1"/>
                    </a:solidFill>
                  </a:rPr>
                  <a:t>.</a:t>
                </a:r>
              </a:p>
              <a:p>
                <a:r>
                  <a:rPr lang="pt-BR" dirty="0"/>
                  <a:t>Cada um dos </a:t>
                </a:r>
                <a14:m>
                  <m:oMath xmlns:m="http://schemas.openxmlformats.org/officeDocument/2006/math">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 </m:t>
                    </m:r>
                  </m:oMath>
                </a14:m>
                <a:r>
                  <a:rPr lang="pt-BR" dirty="0"/>
                  <a:t>classificadores binários é representado pela função hipótese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r>
                  <a:rPr lang="pt-BR" b="0"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50B99F56-FF18-D044-7799-0502D4F6A5F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r="-537"/>
                </a:stretch>
              </a:blipFill>
            </p:spPr>
            <p:txBody>
              <a:bodyPr/>
              <a:lstStyle/>
              <a:p>
                <a:r>
                  <a:rPr lang="pt-BR">
                    <a:noFill/>
                  </a:rPr>
                  <a:t> </a:t>
                </a:r>
              </a:p>
            </p:txBody>
          </p:sp>
        </mc:Fallback>
      </mc:AlternateContent>
    </p:spTree>
    <p:extLst>
      <p:ext uri="{BB962C8B-B14F-4D97-AF65-F5344CB8AC3E}">
        <p14:creationId xmlns:p14="http://schemas.microsoft.com/office/powerpoint/2010/main" val="1776514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0D4148F-5E93-6FF0-6B66-AC9E3B82640A}"/>
              </a:ext>
            </a:extLst>
          </p:cNvPr>
          <p:cNvSpPr>
            <a:spLocks noGrp="1"/>
          </p:cNvSpPr>
          <p:nvPr>
            <p:ph type="title"/>
          </p:nvPr>
        </p:nvSpPr>
        <p:spPr/>
        <p:txBody>
          <a:bodyPr/>
          <a:lstStyle/>
          <a:p>
            <a:r>
              <a:rPr lang="pt-BR" dirty="0"/>
              <a:t>Um-Contra-o-Resto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4787C4F-F235-6888-5AFF-2CB1361FF6FD}"/>
                  </a:ext>
                </a:extLst>
              </p:cNvPr>
              <p:cNvSpPr>
                <a:spLocks noGrp="1"/>
              </p:cNvSpPr>
              <p:nvPr>
                <p:ph idx="1"/>
              </p:nvPr>
            </p:nvSpPr>
            <p:spPr>
              <a:xfrm>
                <a:off x="838199" y="1825625"/>
                <a:ext cx="11353801" cy="5032375"/>
              </a:xfrm>
            </p:spPr>
            <p:txBody>
              <a:bodyPr>
                <a:normAutofit/>
              </a:bodyPr>
              <a:lstStyle/>
              <a:p>
                <a:r>
                  <a:rPr lang="pt-BR" dirty="0"/>
                  <a:t>Portanto, o </a:t>
                </a:r>
                <a14:m>
                  <m:oMath xmlns:m="http://schemas.openxmlformats.org/officeDocument/2006/math">
                    <m:r>
                      <a:rPr lang="pt-BR" i="1">
                        <a:latin typeface="Cambria Math" panose="02040503050406030204" pitchFamily="18" charset="0"/>
                      </a:rPr>
                      <m:t>𝑞</m:t>
                    </m:r>
                  </m:oMath>
                </a14:m>
                <a:r>
                  <a:rPr lang="pt-BR" dirty="0"/>
                  <a:t>-</a:t>
                </a:r>
                <a:r>
                  <a:rPr lang="pt-BR" dirty="0" err="1"/>
                  <a:t>ésimo</a:t>
                </a:r>
                <a:r>
                  <a:rPr lang="pt-BR" dirty="0"/>
                  <a:t> </a:t>
                </a:r>
                <a:r>
                  <a:rPr lang="pt-BR" i="1" dirty="0"/>
                  <a:t>classificador</a:t>
                </a:r>
                <a:r>
                  <a:rPr lang="pt-BR" dirty="0"/>
                  <a:t> deve indicar a classe positiva caso o exemplo pertença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dirty="0" smtClean="0"/>
                  <a:t>classe ou indicar a </a:t>
                </a:r>
                <a:r>
                  <a:rPr lang="pt-BR" dirty="0"/>
                  <a:t>classe negativa caso o exemplo pertença a qualquer uma das outras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−1 </m:t>
                    </m:r>
                  </m:oMath>
                </a14:m>
                <a:r>
                  <a:rPr lang="pt-BR" dirty="0"/>
                  <a:t>classes.</a:t>
                </a:r>
                <a:endParaRPr lang="pt-BR" b="0" dirty="0"/>
              </a:p>
              <a:p>
                <a:r>
                  <a:rPr lang="pt-BR" dirty="0"/>
                  <a:t>Após o treinamento, </a:t>
                </a:r>
                <a:r>
                  <a:rPr lang="pt-BR" b="1" i="1" dirty="0">
                    <a:solidFill>
                      <a:schemeClr val="accent2"/>
                    </a:solidFill>
                  </a:rPr>
                  <a:t>para cada exemplo </a:t>
                </a:r>
                <a:r>
                  <a:rPr lang="pt-BR" dirty="0"/>
                  <a:t>de entrada,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oMath>
                </a14:m>
                <a:r>
                  <a:rPr lang="pt-BR" dirty="0"/>
                  <a:t>, </a:t>
                </a:r>
                <a:r>
                  <a:rPr lang="pt-BR" b="1" i="1" dirty="0">
                    <a:solidFill>
                      <a:schemeClr val="accent2"/>
                    </a:solidFill>
                  </a:rPr>
                  <a:t>realiza-se </a:t>
                </a:r>
                <a14:m>
                  <m:oMath xmlns:m="http://schemas.openxmlformats.org/officeDocument/2006/math">
                    <m:r>
                      <a:rPr lang="pt-BR" b="1" i="1">
                        <a:solidFill>
                          <a:schemeClr val="accent2"/>
                        </a:solidFill>
                        <a:latin typeface="Cambria Math" panose="02040503050406030204" pitchFamily="18" charset="0"/>
                      </a:rPr>
                      <m:t>𝑸</m:t>
                    </m:r>
                  </m:oMath>
                </a14:m>
                <a:r>
                  <a:rPr lang="pt-BR" b="1" i="1" dirty="0">
                    <a:solidFill>
                      <a:schemeClr val="accent2"/>
                    </a:solidFill>
                  </a:rPr>
                  <a:t> predições </a:t>
                </a:r>
                <a:r>
                  <a:rPr lang="pt-BR" dirty="0"/>
                  <a:t>e escolhe-se a classe que maximiza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endParaRPr lang="pt-BR" dirty="0"/>
              </a:p>
              <a:p>
                <a:pPr marL="0" indent="0" algn="ctr">
                  <a:buNone/>
                </a:pP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𝐶</m:t>
                        </m:r>
                      </m:e>
                      <m:sub>
                        <m:r>
                          <a:rPr lang="pt-BR" b="0" i="1" smtClean="0">
                            <a:latin typeface="Cambria Math" panose="02040503050406030204" pitchFamily="18" charset="0"/>
                          </a:rPr>
                          <m:t>𝑞</m:t>
                        </m:r>
                      </m:sub>
                    </m:sSub>
                    <m:r>
                      <a:rPr lang="pt-BR" b="0" i="1" smtClean="0">
                        <a:latin typeface="Cambria Math" panose="02040503050406030204" pitchFamily="18" charset="0"/>
                      </a:rPr>
                      <m:t>= </m:t>
                    </m:r>
                  </m:oMath>
                </a14:m>
                <a:r>
                  <a:rPr lang="pt-BR" dirty="0">
                    <a:latin typeface="Cambria Math" panose="02040503050406030204" pitchFamily="18" charset="0"/>
                  </a:rPr>
                  <a:t>arg</a:t>
                </a:r>
                <a:r>
                  <a:rPr lang="pt-BR" dirty="0"/>
                  <a:t>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max</m:t>
                            </m:r>
                          </m:e>
                          <m:lim>
                            <m:r>
                              <a:rPr lang="pt-BR" b="0" i="1" smtClean="0">
                                <a:latin typeface="Cambria Math" panose="02040503050406030204" pitchFamily="18" charset="0"/>
                              </a:rPr>
                              <m:t>𝑞</m:t>
                            </m:r>
                          </m:lim>
                        </m:limLow>
                      </m:fName>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func>
                  </m:oMath>
                </a14:m>
                <a:r>
                  <a:rPr lang="pt-BR" dirty="0"/>
                  <a:t>.</a:t>
                </a:r>
              </a:p>
              <a:p>
                <a:r>
                  <a:rPr lang="pt-BR" dirty="0"/>
                  <a:t>A </a:t>
                </a:r>
                <a:r>
                  <a:rPr lang="pt-BR" b="1" i="1" dirty="0"/>
                  <a:t>vantagem</a:t>
                </a:r>
                <a:r>
                  <a:rPr lang="pt-BR" dirty="0"/>
                  <a:t> desta abordagem é que treina-se apenas </a:t>
                </a:r>
                <a14:m>
                  <m:oMath xmlns:m="http://schemas.openxmlformats.org/officeDocument/2006/math">
                    <m:r>
                      <a:rPr lang="pt-BR" i="1">
                        <a:latin typeface="Cambria Math" panose="02040503050406030204" pitchFamily="18" charset="0"/>
                      </a:rPr>
                      <m:t>𝑄</m:t>
                    </m:r>
                  </m:oMath>
                </a14:m>
                <a:r>
                  <a:rPr lang="pt-BR" dirty="0"/>
                  <a:t> </a:t>
                </a:r>
                <a:r>
                  <a:rPr lang="pt-BR" b="1" i="1" dirty="0"/>
                  <a:t>classificadores</a:t>
                </a:r>
                <a:r>
                  <a:rPr lang="pt-BR" dirty="0"/>
                  <a:t>.</a:t>
                </a:r>
              </a:p>
              <a:p>
                <a:r>
                  <a:rPr lang="pt-BR" dirty="0"/>
                  <a:t>Uma </a:t>
                </a:r>
                <a:r>
                  <a:rPr lang="pt-BR" b="1" i="1" dirty="0"/>
                  <a:t>desvantagem</a:t>
                </a:r>
                <a:r>
                  <a:rPr lang="pt-BR" dirty="0"/>
                  <a:t> é que cada </a:t>
                </a:r>
                <a:r>
                  <a:rPr lang="pt-BR" b="1" i="1" dirty="0"/>
                  <a:t>classificador binário </a:t>
                </a:r>
                <a:r>
                  <a:rPr lang="pt-BR" dirty="0"/>
                  <a:t>precisa ser treinado com um conjunto negativo que é </a:t>
                </a:r>
                <a14:m>
                  <m:oMath xmlns:m="http://schemas.openxmlformats.org/officeDocument/2006/math">
                    <m:r>
                      <a:rPr lang="pt-BR" i="1">
                        <a:latin typeface="Cambria Math" panose="02040503050406030204" pitchFamily="18" charset="0"/>
                      </a:rPr>
                      <m:t>𝑄</m:t>
                    </m:r>
                  </m:oMath>
                </a14:m>
                <a:r>
                  <a:rPr lang="pt-BR" dirty="0"/>
                  <a:t>-1 vezes maior, o que pode </a:t>
                </a:r>
                <a:r>
                  <a:rPr lang="pt-BR" b="1" i="1" dirty="0">
                    <a:solidFill>
                      <a:srgbClr val="FF0000"/>
                    </a:solidFill>
                  </a:rPr>
                  <a:t>tornar o treinamento lento</a:t>
                </a:r>
                <a:r>
                  <a:rPr lang="pt-BR" dirty="0"/>
                  <a:t> e </a:t>
                </a:r>
                <a:r>
                  <a:rPr lang="pt-BR" b="1" i="1" dirty="0">
                    <a:solidFill>
                      <a:srgbClr val="FF0000"/>
                    </a:solidFill>
                  </a:rPr>
                  <a:t>aumentar a possibilidade de classes desbalanceadas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4787C4F-F235-6888-5AFF-2CB1361FF6FD}"/>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3124563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Title 1"/>
          <p:cNvSpPr>
            <a:spLocks noGrp="1"/>
          </p:cNvSpPr>
          <p:nvPr>
            <p:ph type="title"/>
          </p:nvPr>
        </p:nvSpPr>
        <p:spPr>
          <a:xfrm>
            <a:off x="838200" y="365125"/>
            <a:ext cx="10515600" cy="1325563"/>
          </a:xfrm>
        </p:spPr>
        <p:txBody>
          <a:bodyPr/>
          <a:lstStyle/>
          <a:p>
            <a:r>
              <a:rPr lang="pt-BR" dirty="0"/>
              <a:t>Um-Contra-o-Resto</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9243" y="124681"/>
            <a:ext cx="8053514" cy="6608637"/>
          </a:xfrm>
          <a:prstGeom prst="rect">
            <a:avLst/>
          </a:prstGeom>
        </p:spPr>
      </p:pic>
      <p:sp>
        <p:nvSpPr>
          <p:cNvPr id="5" name="Mais 4"/>
          <p:cNvSpPr/>
          <p:nvPr/>
        </p:nvSpPr>
        <p:spPr>
          <a:xfrm>
            <a:off x="6563762"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563762" y="3895876"/>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 name="CaixaDeTexto 2"/>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0" name="Conector reto 9"/>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1" name="Rectangle 2"/>
              <p:cNvSpPr/>
              <p:nvPr/>
            </p:nvSpPr>
            <p:spPr>
              <a:xfrm>
                <a:off x="2593619" y="4410101"/>
                <a:ext cx="1470980" cy="646331"/>
              </a:xfrm>
              <a:prstGeom prst="rect">
                <a:avLst/>
              </a:prstGeom>
            </p:spPr>
            <p:txBody>
              <a:bodyPr wrap="none">
                <a:spAutoFit/>
              </a:bodyPr>
              <a:lstStyle/>
              <a:p>
                <a14:m>
                  <m:oMath xmlns:m="http://schemas.openxmlformats.org/officeDocument/2006/math">
                    <m:r>
                      <a:rPr lang="pt-BR" sz="3600" b="0" i="1" smtClean="0">
                        <a:latin typeface="Cambria Math" panose="02040503050406030204" pitchFamily="18" charset="0"/>
                      </a:rPr>
                      <m:t>𝑄</m:t>
                    </m:r>
                    <m:r>
                      <a:rPr lang="pt-BR" sz="3600" i="1">
                        <a:latin typeface="Cambria Math" panose="02040503050406030204" pitchFamily="18" charset="0"/>
                      </a:rPr>
                      <m:t>=3</m:t>
                    </m:r>
                  </m:oMath>
                </a14:m>
                <a:r>
                  <a:rPr lang="pt-BR" sz="3600" dirty="0"/>
                  <a:t> </a:t>
                </a:r>
              </a:p>
            </p:txBody>
          </p:sp>
        </mc:Choice>
        <mc:Fallback xmlns="">
          <p:sp>
            <p:nvSpPr>
              <p:cNvPr id="11" name="Rectangle 2"/>
              <p:cNvSpPr>
                <a:spLocks noRot="1" noChangeAspect="1" noMove="1" noResize="1" noEditPoints="1" noAdjustHandles="1" noChangeArrowheads="1" noChangeShapeType="1" noTextEdit="1"/>
              </p:cNvSpPr>
              <p:nvPr/>
            </p:nvSpPr>
            <p:spPr>
              <a:xfrm>
                <a:off x="2593619" y="4410101"/>
                <a:ext cx="1470980" cy="646331"/>
              </a:xfrm>
              <a:prstGeom prst="rect">
                <a:avLst/>
              </a:prstGeom>
              <a:blipFill rotWithShape="0">
                <a:blip r:embed="rId3"/>
                <a:stretch>
                  <a:fillRect/>
                </a:stretch>
              </a:blipFill>
            </p:spPr>
            <p:txBody>
              <a:bodyPr/>
              <a:lstStyle/>
              <a:p>
                <a:r>
                  <a:rPr lang="pt-BR">
                    <a:noFill/>
                  </a:rPr>
                  <a:t> </a:t>
                </a:r>
              </a:p>
            </p:txBody>
          </p:sp>
        </mc:Fallback>
      </mc:AlternateContent>
      <p:sp>
        <p:nvSpPr>
          <p:cNvPr id="4" name="CaixaDeTexto 3"/>
          <p:cNvSpPr txBox="1"/>
          <p:nvPr/>
        </p:nvSpPr>
        <p:spPr>
          <a:xfrm>
            <a:off x="9813747" y="760395"/>
            <a:ext cx="934156" cy="369332"/>
          </a:xfrm>
          <a:prstGeom prst="rect">
            <a:avLst/>
          </a:prstGeom>
          <a:noFill/>
        </p:spPr>
        <p:txBody>
          <a:bodyPr wrap="square" rtlCol="0">
            <a:spAutoFit/>
          </a:bodyPr>
          <a:lstStyle/>
          <a:p>
            <a:r>
              <a:rPr lang="pt-BR" dirty="0"/>
              <a:t>= 0.55</a:t>
            </a:r>
          </a:p>
        </p:txBody>
      </p:sp>
      <p:sp>
        <p:nvSpPr>
          <p:cNvPr id="13" name="CaixaDeTexto 12"/>
          <p:cNvSpPr txBox="1"/>
          <p:nvPr/>
        </p:nvSpPr>
        <p:spPr>
          <a:xfrm>
            <a:off x="9907481" y="3205833"/>
            <a:ext cx="934156" cy="369332"/>
          </a:xfrm>
          <a:prstGeom prst="rect">
            <a:avLst/>
          </a:prstGeom>
          <a:noFill/>
        </p:spPr>
        <p:txBody>
          <a:bodyPr wrap="square" rtlCol="0">
            <a:spAutoFit/>
          </a:bodyPr>
          <a:lstStyle/>
          <a:p>
            <a:r>
              <a:rPr lang="pt-BR" dirty="0"/>
              <a:t>= 0.05</a:t>
            </a:r>
          </a:p>
        </p:txBody>
      </p:sp>
      <p:sp>
        <p:nvSpPr>
          <p:cNvPr id="14" name="CaixaDeTexto 13"/>
          <p:cNvSpPr txBox="1"/>
          <p:nvPr/>
        </p:nvSpPr>
        <p:spPr>
          <a:xfrm>
            <a:off x="9949002" y="5412850"/>
            <a:ext cx="934156" cy="369332"/>
          </a:xfrm>
          <a:prstGeom prst="rect">
            <a:avLst/>
          </a:prstGeom>
          <a:noFill/>
        </p:spPr>
        <p:txBody>
          <a:bodyPr wrap="square" rtlCol="0">
            <a:spAutoFit/>
          </a:bodyPr>
          <a:lstStyle/>
          <a:p>
            <a:r>
              <a:rPr lang="pt-BR" dirty="0"/>
              <a:t>= 0.85</a:t>
            </a:r>
          </a:p>
        </p:txBody>
      </p:sp>
      <mc:AlternateContent xmlns:mc="http://schemas.openxmlformats.org/markup-compatibility/2006" xmlns:a14="http://schemas.microsoft.com/office/drawing/2010/main">
        <mc:Choice Requires="a14">
          <p:sp>
            <p:nvSpPr>
              <p:cNvPr id="15" name="CaixaDeTexto 14"/>
              <p:cNvSpPr txBox="1"/>
              <p:nvPr/>
            </p:nvSpPr>
            <p:spPr>
              <a:xfrm rot="18753228">
                <a:off x="4458229" y="1909051"/>
                <a:ext cx="1941162" cy="369332"/>
              </a:xfrm>
              <a:prstGeom prst="rect">
                <a:avLst/>
              </a:prstGeom>
              <a:noFill/>
            </p:spPr>
            <p:txBody>
              <a:bodyPr wrap="squar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d>
                      <m:dPr>
                        <m:ctrlPr>
                          <a:rPr lang="pt-BR" b="0" i="1" dirty="0" smtClean="0">
                            <a:latin typeface="Cambria Math" panose="02040503050406030204" pitchFamily="18" charset="0"/>
                          </a:rPr>
                        </m:ctrlPr>
                      </m:dPr>
                      <m:e>
                        <m:r>
                          <a:rPr lang="pt-BR" b="0" i="1" dirty="0" smtClean="0">
                            <a:latin typeface="Cambria Math" panose="02040503050406030204" pitchFamily="18" charset="0"/>
                          </a:rPr>
                          <m:t>+</m:t>
                        </m:r>
                      </m:e>
                    </m:d>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0" dirty="0" smtClean="0">
                        <a:latin typeface="Cambria Math" panose="02040503050406030204" pitchFamily="18" charset="0"/>
                      </a:rPr>
                      <m:t>(−)</m:t>
                    </m:r>
                  </m:oMath>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rot="18753228">
                <a:off x="4458229" y="1909051"/>
                <a:ext cx="1941162" cy="36933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4550326" y="3055975"/>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i="1" dirty="0">
                            <a:latin typeface="Cambria Math" panose="02040503050406030204" pitchFamily="18" charset="0"/>
                          </a:rPr>
                          <m:t>3</m:t>
                        </m:r>
                      </m:sub>
                    </m:sSub>
                    <m:r>
                      <a:rPr lang="pt-BR" dirty="0">
                        <a:latin typeface="Cambria Math" panose="02040503050406030204" pitchFamily="18" charset="0"/>
                      </a:rPr>
                      <m:t>(−)</m:t>
                    </m:r>
                  </m:oMath>
                </a14:m>
                <a:endParaRPr lang="pt-BR" dirty="0"/>
              </a:p>
            </p:txBody>
          </p:sp>
        </mc:Choice>
        <mc:Fallback xmlns="">
          <p:sp>
            <p:nvSpPr>
              <p:cNvPr id="17" name="CaixaDeTexto 16"/>
              <p:cNvSpPr txBox="1">
                <a:spLocks noRot="1" noChangeAspect="1" noMove="1" noResize="1" noEditPoints="1" noAdjustHandles="1" noChangeArrowheads="1" noChangeShapeType="1" noTextEdit="1"/>
              </p:cNvSpPr>
              <p:nvPr/>
            </p:nvSpPr>
            <p:spPr>
              <a:xfrm>
                <a:off x="4550326" y="3055975"/>
                <a:ext cx="2005677" cy="369332"/>
              </a:xfrm>
              <a:prstGeom prst="rect">
                <a:avLst/>
              </a:prstGeom>
              <a:blipFill rotWithShape="0">
                <a:blip r:embed="rId5"/>
                <a:stretch>
                  <a:fillRect t="-8197" b="-2459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rot="3228880">
                <a:off x="4503987" y="4792439"/>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dirty="0">
                        <a:latin typeface="Cambria Math" panose="02040503050406030204" pitchFamily="18" charset="0"/>
                      </a:rPr>
                      <m:t>(−)</m:t>
                    </m:r>
                  </m:oMath>
                </a14:m>
                <a:endParaRPr lang="pt-BR" dirty="0"/>
              </a:p>
            </p:txBody>
          </p:sp>
        </mc:Choice>
        <mc:Fallback xmlns="">
          <p:sp>
            <p:nvSpPr>
              <p:cNvPr id="18" name="CaixaDeTexto 17"/>
              <p:cNvSpPr txBox="1">
                <a:spLocks noRot="1" noChangeAspect="1" noMove="1" noResize="1" noEditPoints="1" noAdjustHandles="1" noChangeArrowheads="1" noChangeShapeType="1" noTextEdit="1"/>
              </p:cNvSpPr>
              <p:nvPr/>
            </p:nvSpPr>
            <p:spPr>
              <a:xfrm rot="3228880">
                <a:off x="4503987" y="4792439"/>
                <a:ext cx="2005677" cy="369332"/>
              </a:xfrm>
              <a:prstGeom prst="rect">
                <a:avLst/>
              </a:prstGeom>
              <a:blipFill rotWithShape="0">
                <a:blip r:embed="rId6"/>
                <a:stretch>
                  <a:fillRect/>
                </a:stretch>
              </a:blipFill>
            </p:spPr>
            <p:txBody>
              <a:bodyPr/>
              <a:lstStyle/>
              <a:p>
                <a:r>
                  <a:rPr lang="pt-BR">
                    <a:noFill/>
                  </a:rPr>
                  <a:t> </a:t>
                </a:r>
              </a:p>
            </p:txBody>
          </p:sp>
        </mc:Fallback>
      </mc:AlternateContent>
      <p:grpSp>
        <p:nvGrpSpPr>
          <p:cNvPr id="12" name="Grupo 11"/>
          <p:cNvGrpSpPr/>
          <p:nvPr/>
        </p:nvGrpSpPr>
        <p:grpSpPr>
          <a:xfrm>
            <a:off x="10664225" y="1781750"/>
            <a:ext cx="1379149" cy="523220"/>
            <a:chOff x="10535409" y="1632368"/>
            <a:chExt cx="1379149" cy="523220"/>
          </a:xfrm>
        </p:grpSpPr>
        <p:sp>
          <p:nvSpPr>
            <p:cNvPr id="6" name="CaixaDeTexto 5"/>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19" name="Mais 18"/>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0" name="CaixaDeTexto 19"/>
          <p:cNvSpPr txBox="1"/>
          <p:nvPr/>
        </p:nvSpPr>
        <p:spPr>
          <a:xfrm>
            <a:off x="1401839" y="5176259"/>
            <a:ext cx="4065127" cy="830997"/>
          </a:xfrm>
          <a:prstGeom prst="rect">
            <a:avLst/>
          </a:prstGeom>
          <a:noFill/>
        </p:spPr>
        <p:txBody>
          <a:bodyPr wrap="square" rtlCol="0">
            <a:spAutoFit/>
          </a:bodyPr>
          <a:lstStyle/>
          <a:p>
            <a:pPr algn="ctr"/>
            <a:r>
              <a:rPr lang="pt-BR" sz="2400" dirty="0"/>
              <a:t>Passamos a ter </a:t>
            </a:r>
            <a:r>
              <a:rPr lang="pt-BR" sz="2400" b="1" i="1" dirty="0"/>
              <a:t>3 classificadores binários</a:t>
            </a:r>
            <a:r>
              <a:rPr lang="pt-BR" sz="2400" dirty="0"/>
              <a:t>.</a:t>
            </a:r>
            <a:endParaRPr lang="pt-BR" sz="2400" b="1" i="1" dirty="0"/>
          </a:p>
        </p:txBody>
      </p:sp>
      <p:sp>
        <p:nvSpPr>
          <p:cNvPr id="21" name="Mais 7">
            <a:extLst>
              <a:ext uri="{FF2B5EF4-FFF2-40B4-BE49-F238E27FC236}">
                <a16:creationId xmlns:a16="http://schemas.microsoft.com/office/drawing/2014/main" xmlns="" id="{7B31CAF2-5F3C-E55A-EC75-167BCE74F1F7}"/>
              </a:ext>
            </a:extLst>
          </p:cNvPr>
          <p:cNvSpPr/>
          <p:nvPr/>
        </p:nvSpPr>
        <p:spPr>
          <a:xfrm>
            <a:off x="6590921" y="611411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98906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625D040-A3FE-41E3-3BD0-3C0548CFEAD3}"/>
              </a:ext>
            </a:extLst>
          </p:cNvPr>
          <p:cNvSpPr>
            <a:spLocks noGrp="1"/>
          </p:cNvSpPr>
          <p:nvPr>
            <p:ph type="title"/>
          </p:nvPr>
        </p:nvSpPr>
        <p:spPr/>
        <p:txBody>
          <a:bodyPr/>
          <a:lstStyle/>
          <a:p>
            <a:r>
              <a:rPr lang="pt-BR" dirty="0"/>
              <a:t>Um-Contra-Um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BAFA38F-B924-7049-765D-660ED8C4845B}"/>
                  </a:ext>
                </a:extLst>
              </p:cNvPr>
              <p:cNvSpPr>
                <a:spLocks noGrp="1"/>
              </p:cNvSpPr>
              <p:nvPr>
                <p:ph idx="1"/>
              </p:nvPr>
            </p:nvSpPr>
            <p:spPr>
              <a:xfrm>
                <a:off x="838200" y="1825625"/>
                <a:ext cx="11353800" cy="5032376"/>
              </a:xfrm>
            </p:spPr>
            <p:txBody>
              <a:bodyPr>
                <a:normAutofit/>
              </a:bodyPr>
              <a:lstStyle/>
              <a:p>
                <a:r>
                  <a:rPr lang="pt-BR" dirty="0"/>
                  <a:t>Nesta abordagem, </a:t>
                </a:r>
                <a:r>
                  <a:rPr lang="pt-BR" dirty="0" smtClean="0"/>
                  <a:t>treina-se um classificador binário para </a:t>
                </a:r>
                <a:r>
                  <a:rPr lang="pt-BR" b="1" dirty="0" smtClean="0">
                    <a:solidFill>
                      <a:schemeClr val="accent2"/>
                    </a:solidFill>
                  </a:rPr>
                  <a:t>cada um dos possíveis </a:t>
                </a:r>
                <a:r>
                  <a:rPr lang="pt-BR" b="1" dirty="0" smtClean="0">
                    <a:solidFill>
                      <a:srgbClr val="7030A0"/>
                    </a:solidFill>
                  </a:rPr>
                  <a:t>pares</a:t>
                </a:r>
                <a:r>
                  <a:rPr lang="pt-BR" b="1" dirty="0" smtClean="0">
                    <a:solidFill>
                      <a:schemeClr val="accent2"/>
                    </a:solidFill>
                  </a:rPr>
                  <a:t> de classes (sem repetição)</a:t>
                </a:r>
                <a:r>
                  <a:rPr lang="pt-BR" dirty="0" smtClean="0"/>
                  <a:t>.</a:t>
                </a:r>
              </a:p>
              <a:p>
                <a:r>
                  <a:rPr lang="pt-BR" dirty="0" smtClean="0"/>
                  <a:t>Ao todo, treina-se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−1)/2</m:t>
                    </m:r>
                  </m:oMath>
                </a14:m>
                <a:r>
                  <a:rPr lang="pt-BR" dirty="0"/>
                  <a:t> </a:t>
                </a:r>
                <a:r>
                  <a:rPr lang="pt-BR" b="1" i="1" dirty="0"/>
                  <a:t>classificadores binários</a:t>
                </a:r>
                <a:r>
                  <a:rPr lang="pt-BR" dirty="0"/>
                  <a:t>. </a:t>
                </a:r>
              </a:p>
              <a:p>
                <a:pPr lvl="1">
                  <a:buFont typeface="Wingdings" panose="05000000000000000000" pitchFamily="2" charset="2"/>
                  <a:buChar char="§"/>
                </a:pPr>
                <a:r>
                  <a:rPr lang="pt-BR" dirty="0" smtClean="0"/>
                  <a:t>Por </a:t>
                </a:r>
                <a:r>
                  <a:rPr lang="pt-BR" dirty="0"/>
                  <a:t>exemplo, se </a:t>
                </a:r>
                <a14:m>
                  <m:oMath xmlns:m="http://schemas.openxmlformats.org/officeDocument/2006/math">
                    <m:r>
                      <a:rPr lang="pt-BR" i="1">
                        <a:latin typeface="Cambria Math" panose="02040503050406030204" pitchFamily="18" charset="0"/>
                      </a:rPr>
                      <m:t>𝑄</m:t>
                    </m:r>
                    <m:r>
                      <a:rPr lang="pt-BR" b="0" i="0" smtClean="0">
                        <a:latin typeface="Cambria Math" panose="02040503050406030204" pitchFamily="18" charset="0"/>
                      </a:rPr>
                      <m:t>=4</m:t>
                    </m:r>
                  </m:oMath>
                </a14:m>
                <a:r>
                  <a:rPr lang="pt-BR" dirty="0"/>
                  <a:t>, então treina-se 6 </a:t>
                </a:r>
                <a:r>
                  <a:rPr lang="pt-BR" b="1" i="1" dirty="0"/>
                  <a:t>classificadores</a:t>
                </a:r>
                <a:r>
                  <a:rPr lang="pt-BR" dirty="0"/>
                  <a:t> para classificar entre</a:t>
                </a:r>
                <a14:m>
                  <m:oMath xmlns:m="http://schemas.openxmlformats.org/officeDocument/2006/math">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2</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p>
              <a:p>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𝟏</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𝟐</m:t>
                    </m:r>
                  </m:oMath>
                </a14:m>
                <a:r>
                  <a:rPr lang="pt-BR" b="1" i="1" dirty="0">
                    <a:solidFill>
                      <a:srgbClr val="00B050"/>
                    </a:solidFill>
                  </a:rPr>
                  <a:t> problemas binários.</a:t>
                </a:r>
              </a:p>
              <a:p>
                <a:r>
                  <a:rPr lang="pt-BR" dirty="0"/>
                  <a:t>No final, cada exemplo é classificado conforme o </a:t>
                </a:r>
                <a:r>
                  <a:rPr lang="pt-BR" b="1" i="1" dirty="0"/>
                  <a:t>voto majoritário </a:t>
                </a:r>
                <a:r>
                  <a:rPr lang="pt-BR" dirty="0"/>
                  <a:t>entre os </a:t>
                </a:r>
                <a:r>
                  <a:rPr lang="pt-BR" b="1" i="1" dirty="0"/>
                  <a:t>classificadores</a:t>
                </a:r>
                <a:r>
                  <a:rPr lang="pt-BR" dirty="0"/>
                  <a:t>.</a:t>
                </a:r>
              </a:p>
              <a:p>
                <a:r>
                  <a:rPr lang="pt-BR" dirty="0"/>
                  <a:t>Ou seja, a classe que receber mais votos é a classe atribuída ao exemplo.</a:t>
                </a:r>
              </a:p>
              <a:p>
                <a:pPr lvl="1">
                  <a:buFont typeface="Wingdings" panose="05000000000000000000" pitchFamily="2" charset="2"/>
                  <a:buChar char="§"/>
                </a:pPr>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BAFA38F-B924-7049-765D-660ED8C4845B}"/>
                  </a:ext>
                </a:extLst>
              </p:cNvPr>
              <p:cNvSpPr>
                <a:spLocks noGrp="1" noRot="1" noChangeAspect="1" noMove="1" noResize="1" noEditPoints="1" noAdjustHandles="1" noChangeArrowheads="1" noChangeShapeType="1" noTextEdit="1"/>
              </p:cNvSpPr>
              <p:nvPr>
                <p:ph idx="1"/>
              </p:nvPr>
            </p:nvSpPr>
            <p:spPr>
              <a:xfrm>
                <a:off x="838200" y="1825625"/>
                <a:ext cx="11353800" cy="5032376"/>
              </a:xfrm>
              <a:blipFill rotWithShape="0">
                <a:blip r:embed="rId3"/>
                <a:stretch>
                  <a:fillRect l="-967" t="-1937" r="-1289"/>
                </a:stretch>
              </a:blipFill>
            </p:spPr>
            <p:txBody>
              <a:bodyPr/>
              <a:lstStyle/>
              <a:p>
                <a:r>
                  <a:rPr lang="pt-BR">
                    <a:noFill/>
                  </a:rPr>
                  <a:t> </a:t>
                </a:r>
              </a:p>
            </p:txBody>
          </p:sp>
        </mc:Fallback>
      </mc:AlternateContent>
    </p:spTree>
    <p:extLst>
      <p:ext uri="{BB962C8B-B14F-4D97-AF65-F5344CB8AC3E}">
        <p14:creationId xmlns:p14="http://schemas.microsoft.com/office/powerpoint/2010/main" val="6127092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85EDE22-7739-3353-3DBC-8480197DC616}"/>
              </a:ext>
            </a:extLst>
          </p:cNvPr>
          <p:cNvSpPr>
            <a:spLocks noGrp="1"/>
          </p:cNvSpPr>
          <p:nvPr>
            <p:ph type="title"/>
          </p:nvPr>
        </p:nvSpPr>
        <p:spPr/>
        <p:txBody>
          <a:bodyPr/>
          <a:lstStyle/>
          <a:p>
            <a:r>
              <a:rPr lang="pt-BR" dirty="0"/>
              <a:t>Um-Contra-Um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45CEE8-2FB2-6EEA-841B-CC93323A97A6}"/>
                  </a:ext>
                </a:extLst>
              </p:cNvPr>
              <p:cNvSpPr>
                <a:spLocks noGrp="1"/>
              </p:cNvSpPr>
              <p:nvPr>
                <p:ph idx="1"/>
              </p:nvPr>
            </p:nvSpPr>
            <p:spPr>
              <a:xfrm>
                <a:off x="838199" y="1825624"/>
                <a:ext cx="11353801" cy="5032376"/>
              </a:xfrm>
            </p:spPr>
            <p:txBody>
              <a:bodyPr/>
              <a:lstStyle/>
              <a:p>
                <a:r>
                  <a:rPr lang="pt-BR" dirty="0"/>
                  <a:t>A principal </a:t>
                </a:r>
                <a:r>
                  <a:rPr lang="pt-BR" b="1" i="1" dirty="0">
                    <a:solidFill>
                      <a:srgbClr val="00B050"/>
                    </a:solidFill>
                  </a:rPr>
                  <a:t>vantagem</a:t>
                </a:r>
                <a:r>
                  <a:rPr lang="pt-BR" dirty="0"/>
                  <a:t> dessa abordagem</a:t>
                </a:r>
                <a:r>
                  <a:rPr lang="pt-BR" b="1" i="1" dirty="0"/>
                  <a:t> </a:t>
                </a:r>
                <a:r>
                  <a:rPr lang="pt-BR" dirty="0"/>
                  <a:t>é que cada classificador </a:t>
                </a:r>
                <a:r>
                  <a:rPr lang="pt-BR" dirty="0" smtClean="0"/>
                  <a:t>binário</a:t>
                </a:r>
                <a:r>
                  <a:rPr lang="pt-BR" b="1" i="1" dirty="0" smtClean="0"/>
                  <a:t> </a:t>
                </a:r>
                <a:r>
                  <a:rPr lang="pt-BR" dirty="0" smtClean="0"/>
                  <a:t>precisa </a:t>
                </a:r>
                <a:r>
                  <a:rPr lang="pt-BR" dirty="0"/>
                  <a:t>ser </a:t>
                </a:r>
                <a:r>
                  <a:rPr lang="pt-BR" b="1" i="1" dirty="0">
                    <a:solidFill>
                      <a:srgbClr val="00B050"/>
                    </a:solidFill>
                  </a:rPr>
                  <a:t>treinado apenas com as duas classes</a:t>
                </a:r>
                <a:r>
                  <a:rPr lang="pt-BR" dirty="0"/>
                  <a:t> que ele deve distinguir, portanto, a </a:t>
                </a:r>
                <a:r>
                  <a:rPr lang="pt-BR" b="1" i="1" dirty="0">
                    <a:solidFill>
                      <a:srgbClr val="00B050"/>
                    </a:solidFill>
                  </a:rPr>
                  <a:t>chance de desbalanceamento é menor</a:t>
                </a:r>
                <a:r>
                  <a:rPr lang="pt-BR" dirty="0"/>
                  <a:t>.</a:t>
                </a:r>
              </a:p>
              <a:p>
                <a:r>
                  <a:rPr lang="pt-BR" dirty="0"/>
                  <a:t>Além disso, o </a:t>
                </a:r>
                <a:r>
                  <a:rPr lang="pt-BR" b="1" i="1" dirty="0">
                    <a:solidFill>
                      <a:srgbClr val="00B050"/>
                    </a:solidFill>
                  </a:rPr>
                  <a:t>tempo de treinamento de cada classificador </a:t>
                </a:r>
                <a:r>
                  <a:rPr lang="pt-BR" b="1" i="1" dirty="0" smtClean="0">
                    <a:solidFill>
                      <a:srgbClr val="00B050"/>
                    </a:solidFill>
                  </a:rPr>
                  <a:t>também </a:t>
                </a:r>
                <a:r>
                  <a:rPr lang="pt-BR" b="1" i="1" dirty="0">
                    <a:solidFill>
                      <a:srgbClr val="00B050"/>
                    </a:solidFill>
                  </a:rPr>
                  <a:t>é menor</a:t>
                </a:r>
                <a:r>
                  <a:rPr lang="pt-BR" dirty="0"/>
                  <a:t>, pois treina-se cada um deles com pares de classes.</a:t>
                </a:r>
              </a:p>
              <a:p>
                <a:r>
                  <a:rPr lang="pt-BR" dirty="0"/>
                  <a:t>A </a:t>
                </a:r>
                <a:r>
                  <a:rPr lang="pt-BR" b="1" i="1" dirty="0">
                    <a:solidFill>
                      <a:srgbClr val="7030A0"/>
                    </a:solidFill>
                  </a:rPr>
                  <a:t>desvantagem</a:t>
                </a:r>
                <a:r>
                  <a:rPr lang="pt-BR" dirty="0"/>
                  <a:t> é que, </a:t>
                </a:r>
                <a:r>
                  <a:rPr lang="pt-BR" dirty="0" smtClean="0"/>
                  <a:t>quanto maior o número de classes </a:t>
                </a:r>
                <a14:m>
                  <m:oMath xmlns:m="http://schemas.openxmlformats.org/officeDocument/2006/math">
                    <m:r>
                      <a:rPr lang="pt-BR" i="1">
                        <a:latin typeface="Cambria Math" panose="02040503050406030204" pitchFamily="18" charset="0"/>
                      </a:rPr>
                      <m:t>𝑄</m:t>
                    </m:r>
                  </m:oMath>
                </a14:m>
                <a:r>
                  <a:rPr lang="pt-BR" dirty="0" smtClean="0"/>
                  <a:t>, </a:t>
                </a:r>
                <a:r>
                  <a:rPr lang="pt-BR" dirty="0"/>
                  <a:t>maior </a:t>
                </a:r>
                <a:r>
                  <a:rPr lang="pt-BR" dirty="0" smtClean="0"/>
                  <a:t>pode ser o </a:t>
                </a:r>
                <a:r>
                  <a:rPr lang="pt-BR" b="1" i="1" dirty="0">
                    <a:solidFill>
                      <a:srgbClr val="FF0000"/>
                    </a:solidFill>
                  </a:rPr>
                  <a:t>tempo total de </a:t>
                </a:r>
                <a:r>
                  <a:rPr lang="pt-BR" b="1" i="1" dirty="0" smtClean="0">
                    <a:solidFill>
                      <a:srgbClr val="FF0000"/>
                    </a:solidFill>
                  </a:rPr>
                  <a:t>treinamento</a:t>
                </a:r>
                <a:r>
                  <a:rPr lang="pt-BR" dirty="0" smtClean="0"/>
                  <a:t>.</a:t>
                </a:r>
                <a:endParaRPr lang="pt-BR" dirty="0"/>
              </a:p>
              <a:p>
                <a:pPr lvl="1">
                  <a:buFont typeface="Wingdings" panose="05000000000000000000" pitchFamily="2" charset="2"/>
                  <a:buChar char="§"/>
                </a:pPr>
                <a:r>
                  <a:rPr lang="pt-BR" dirty="0" smtClean="0"/>
                  <a:t>Por </a:t>
                </a:r>
                <a:r>
                  <a:rPr lang="pt-BR" dirty="0"/>
                  <a:t>exemplo, se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=10</m:t>
                    </m:r>
                  </m:oMath>
                </a14:m>
                <a:r>
                  <a:rPr lang="pt-BR" dirty="0"/>
                  <a:t>, temos que treinar 45 classificadores</a:t>
                </a:r>
                <a:r>
                  <a:rPr lang="pt-BR" dirty="0" smtClean="0"/>
                  <a:t>.</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2145CEE8-2FB2-6EEA-841B-CC93323A97A6}"/>
                  </a:ext>
                </a:extLst>
              </p:cNvPr>
              <p:cNvSpPr>
                <a:spLocks noGrp="1" noRot="1" noChangeAspect="1" noMove="1" noResize="1" noEditPoints="1" noAdjustHandles="1" noChangeArrowheads="1" noChangeShapeType="1" noTextEdit="1"/>
              </p:cNvSpPr>
              <p:nvPr>
                <p:ph idx="1"/>
              </p:nvPr>
            </p:nvSpPr>
            <p:spPr>
              <a:xfrm>
                <a:off x="838199" y="1825624"/>
                <a:ext cx="11353801" cy="5032376"/>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193706656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Um-Contra-Um</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10733" y="124681"/>
            <a:ext cx="8370533" cy="6608637"/>
          </a:xfrm>
          <a:prstGeom prst="rect">
            <a:avLst/>
          </a:prstGeom>
        </p:spPr>
      </p:pic>
      <mc:AlternateContent xmlns:mc="http://schemas.openxmlformats.org/markup-compatibility/2006" xmlns:a14="http://schemas.microsoft.com/office/drawing/2010/main">
        <mc:Choice Requires="a14">
          <p:sp>
            <p:nvSpPr>
              <p:cNvPr id="5" name="Rectangle 4"/>
              <p:cNvSpPr/>
              <p:nvPr/>
            </p:nvSpPr>
            <p:spPr>
              <a:xfrm>
                <a:off x="1352413" y="4501275"/>
                <a:ext cx="2354747" cy="1468928"/>
              </a:xfrm>
              <a:prstGeom prst="rect">
                <a:avLst/>
              </a:prstGeom>
            </p:spPr>
            <p:txBody>
              <a:bodyPr wrap="none">
                <a:spAutoFit/>
              </a:bodyPr>
              <a:lstStyle/>
              <a:p>
                <a:pPr algn="ctr"/>
                <a14:m>
                  <m:oMath xmlns:m="http://schemas.openxmlformats.org/officeDocument/2006/math">
                    <m:r>
                      <a:rPr lang="pt-BR" sz="3600" i="1">
                        <a:latin typeface="Cambria Math" panose="02040503050406030204" pitchFamily="18" charset="0"/>
                      </a:rPr>
                      <m:t>𝑄</m:t>
                    </m:r>
                  </m:oMath>
                </a14:m>
                <a:r>
                  <a:rPr lang="pt-BR" sz="3600" dirty="0">
                    <a:latin typeface="Cambria Math" panose="02040503050406030204" pitchFamily="18" charset="0"/>
                  </a:rPr>
                  <a:t>= 3</a:t>
                </a:r>
                <a:endParaRPr lang="pt-BR" sz="3200" dirty="0">
                  <a:latin typeface="Cambria Math" panose="02040503050406030204" pitchFamily="18" charset="0"/>
                </a:endParaRPr>
              </a:p>
              <a:p>
                <a14:m>
                  <m:oMath xmlns:m="http://schemas.openxmlformats.org/officeDocument/2006/math">
                    <m:f>
                      <m:fPr>
                        <m:ctrlPr>
                          <a:rPr lang="pt-BR" sz="3600" i="1" smtClean="0">
                            <a:latin typeface="Cambria Math" panose="02040503050406030204" pitchFamily="18" charset="0"/>
                          </a:rPr>
                        </m:ctrlPr>
                      </m:fPr>
                      <m:num>
                        <m:r>
                          <a:rPr lang="pt-BR" sz="3600" i="1">
                            <a:latin typeface="Cambria Math" panose="02040503050406030204" pitchFamily="18" charset="0"/>
                          </a:rPr>
                          <m:t>𝑄</m:t>
                        </m:r>
                        <m:d>
                          <m:dPr>
                            <m:ctrlPr>
                              <a:rPr lang="pt-BR" sz="3600" i="1">
                                <a:latin typeface="Cambria Math" panose="02040503050406030204" pitchFamily="18" charset="0"/>
                              </a:rPr>
                            </m:ctrlPr>
                          </m:dPr>
                          <m:e>
                            <m:r>
                              <a:rPr lang="pt-BR" sz="3600" i="1">
                                <a:latin typeface="Cambria Math" panose="02040503050406030204" pitchFamily="18" charset="0"/>
                              </a:rPr>
                              <m:t>𝑄</m:t>
                            </m:r>
                            <m:r>
                              <a:rPr lang="pt-BR" sz="3600" i="1">
                                <a:latin typeface="Cambria Math" panose="02040503050406030204" pitchFamily="18" charset="0"/>
                              </a:rPr>
                              <m:t>−1</m:t>
                            </m:r>
                          </m:e>
                        </m:d>
                      </m:num>
                      <m:den>
                        <m:r>
                          <a:rPr lang="pt-BR" sz="3600" i="1">
                            <a:latin typeface="Cambria Math" panose="02040503050406030204" pitchFamily="18" charset="0"/>
                          </a:rPr>
                          <m:t>2</m:t>
                        </m:r>
                      </m:den>
                    </m:f>
                    <m:r>
                      <a:rPr lang="pt-BR" sz="3600" b="0" i="1" smtClean="0">
                        <a:latin typeface="Cambria Math" panose="02040503050406030204" pitchFamily="18" charset="0"/>
                      </a:rPr>
                      <m:t>=3</m:t>
                    </m:r>
                  </m:oMath>
                </a14:m>
                <a:r>
                  <a:rPr lang="pt-BR" sz="3600" dirty="0"/>
                  <a:t> </a:t>
                </a:r>
              </a:p>
            </p:txBody>
          </p:sp>
        </mc:Choice>
        <mc:Fallback xmlns="">
          <p:sp>
            <p:nvSpPr>
              <p:cNvPr id="5" name="Rectangle 4"/>
              <p:cNvSpPr>
                <a:spLocks noRot="1" noChangeAspect="1" noMove="1" noResize="1" noEditPoints="1" noAdjustHandles="1" noChangeArrowheads="1" noChangeShapeType="1" noTextEdit="1"/>
              </p:cNvSpPr>
              <p:nvPr/>
            </p:nvSpPr>
            <p:spPr>
              <a:xfrm>
                <a:off x="1352413" y="4501275"/>
                <a:ext cx="2354747" cy="1468928"/>
              </a:xfrm>
              <a:prstGeom prst="rect">
                <a:avLst/>
              </a:prstGeom>
              <a:blipFill>
                <a:blip r:embed="rId5"/>
                <a:stretch>
                  <a:fillRect t="-6224"/>
                </a:stretch>
              </a:blipFill>
            </p:spPr>
            <p:txBody>
              <a:bodyPr/>
              <a:lstStyle/>
              <a:p>
                <a:r>
                  <a:rPr lang="pt-BR">
                    <a:noFill/>
                  </a:rPr>
                  <a:t> </a:t>
                </a:r>
              </a:p>
            </p:txBody>
          </p:sp>
        </mc:Fallback>
      </mc:AlternateContent>
      <p:sp>
        <p:nvSpPr>
          <p:cNvPr id="6" name="Mais 5"/>
          <p:cNvSpPr/>
          <p:nvPr/>
        </p:nvSpPr>
        <p:spPr>
          <a:xfrm>
            <a:off x="6726726" y="166352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753887" y="3877955"/>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Mais 7"/>
          <p:cNvSpPr/>
          <p:nvPr/>
        </p:nvSpPr>
        <p:spPr>
          <a:xfrm>
            <a:off x="6753887" y="6119540"/>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9"/>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1" name="Conector reto 10"/>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2" name="CaixaDeTexto 11"/>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4" name="CaixaDeTexto 13"/>
              <p:cNvSpPr txBox="1"/>
              <p:nvPr/>
            </p:nvSpPr>
            <p:spPr>
              <a:xfrm rot="18820041">
                <a:off x="4505925" y="1875286"/>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oMath>
                  </m:oMathPara>
                </a14:m>
                <a:endParaRPr lang="pt-BR" dirty="0"/>
              </a:p>
            </p:txBody>
          </p:sp>
        </mc:Choice>
        <mc:Fallback xmlns="">
          <p:sp>
            <p:nvSpPr>
              <p:cNvPr id="14" name="CaixaDeTexto 13"/>
              <p:cNvSpPr txBox="1">
                <a:spLocks noRot="1" noChangeAspect="1" noMove="1" noResize="1" noEditPoints="1" noAdjustHandles="1" noChangeArrowheads="1" noChangeShapeType="1" noTextEdit="1"/>
              </p:cNvSpPr>
              <p:nvPr/>
            </p:nvSpPr>
            <p:spPr>
              <a:xfrm rot="18820041">
                <a:off x="4505925" y="1875286"/>
                <a:ext cx="1540358" cy="369332"/>
              </a:xfrm>
              <a:prstGeom prst="rect">
                <a:avLst/>
              </a:prstGeom>
              <a:blipFill rotWithShape="0">
                <a:blip r:embed="rId7"/>
                <a:stretch>
                  <a:fillRect r="-182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p:cNvSpPr txBox="1"/>
              <p:nvPr/>
            </p:nvSpPr>
            <p:spPr>
              <a:xfrm>
                <a:off x="4774375" y="3000253"/>
                <a:ext cx="154568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m:oMathPara>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a:off x="4774375" y="3000253"/>
                <a:ext cx="1545680" cy="369332"/>
              </a:xfrm>
              <a:prstGeom prst="rect">
                <a:avLst/>
              </a:prstGeom>
              <a:blipFill rotWithShape="0">
                <a:blip r:embed="rId8"/>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p:cNvSpPr txBox="1"/>
              <p:nvPr/>
            </p:nvSpPr>
            <p:spPr>
              <a:xfrm rot="3162280">
                <a:off x="4505924" y="4597985"/>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m:oMathPara>
                </a14:m>
                <a:endParaRPr lang="pt-BR" dirty="0"/>
              </a:p>
            </p:txBody>
          </p:sp>
        </mc:Choice>
        <mc:Fallback xmlns="">
          <p:sp>
            <p:nvSpPr>
              <p:cNvPr id="16" name="CaixaDeTexto 15"/>
              <p:cNvSpPr txBox="1">
                <a:spLocks noRot="1" noChangeAspect="1" noMove="1" noResize="1" noEditPoints="1" noAdjustHandles="1" noChangeArrowheads="1" noChangeShapeType="1" noTextEdit="1"/>
              </p:cNvSpPr>
              <p:nvPr/>
            </p:nvSpPr>
            <p:spPr>
              <a:xfrm rot="3162280">
                <a:off x="4505924" y="4597985"/>
                <a:ext cx="1540358" cy="369332"/>
              </a:xfrm>
              <a:prstGeom prst="rect">
                <a:avLst/>
              </a:prstGeom>
              <a:blipFill rotWithShape="0">
                <a:blip r:embed="rId9"/>
                <a:stretch>
                  <a:fillRect b="-125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9988045" y="5235739"/>
                <a:ext cx="2203955" cy="369332"/>
              </a:xfrm>
              <a:prstGeom prst="rect">
                <a:avLst/>
              </a:prstGeom>
              <a:noFill/>
            </p:spPr>
            <p:txBody>
              <a:bodyPr wrap="square" rtlCol="0">
                <a:spAutoFit/>
              </a:bodyPr>
              <a:lstStyle/>
              <a:p>
                <a:r>
                  <a:rPr lang="pt-BR" dirty="0"/>
                  <a:t>= 0.55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7" name="CaixaDeTexto 16"/>
              <p:cNvSpPr txBox="1">
                <a:spLocks noRot="1" noChangeAspect="1" noMove="1" noResize="1" noEditPoints="1" noAdjustHandles="1" noChangeArrowheads="1" noChangeShapeType="1" noTextEdit="1"/>
              </p:cNvSpPr>
              <p:nvPr/>
            </p:nvSpPr>
            <p:spPr>
              <a:xfrm>
                <a:off x="9988045" y="5235739"/>
                <a:ext cx="2203955" cy="369332"/>
              </a:xfrm>
              <a:prstGeom prst="rect">
                <a:avLst/>
              </a:prstGeom>
              <a:blipFill rotWithShape="0">
                <a:blip r:embed="rId10"/>
                <a:stretch>
                  <a:fillRect l="-2210"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a:off x="10134657" y="3167621"/>
                <a:ext cx="2057344" cy="369332"/>
              </a:xfrm>
              <a:prstGeom prst="rect">
                <a:avLst/>
              </a:prstGeom>
              <a:noFill/>
            </p:spPr>
            <p:txBody>
              <a:bodyPr wrap="square" rtlCol="0">
                <a:spAutoFit/>
              </a:bodyPr>
              <a:lstStyle/>
              <a:p>
                <a:r>
                  <a:rPr lang="pt-BR" dirty="0"/>
                  <a:t>= 0.85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3</m:t>
                        </m:r>
                      </m:sub>
                    </m:sSub>
                  </m:oMath>
                </a14:m>
                <a:r>
                  <a:rPr lang="pt-BR" sz="1600" dirty="0"/>
                  <a:t>)</a:t>
                </a:r>
              </a:p>
            </p:txBody>
          </p:sp>
        </mc:Choice>
        <mc:Fallback xmlns="">
          <p:sp>
            <p:nvSpPr>
              <p:cNvPr id="18" name="CaixaDeTexto 17"/>
              <p:cNvSpPr txBox="1">
                <a:spLocks noRot="1" noChangeAspect="1" noMove="1" noResize="1" noEditPoints="1" noAdjustHandles="1" noChangeArrowheads="1" noChangeShapeType="1" noTextEdit="1"/>
              </p:cNvSpPr>
              <p:nvPr/>
            </p:nvSpPr>
            <p:spPr>
              <a:xfrm>
                <a:off x="10134657" y="3167621"/>
                <a:ext cx="2057344" cy="369332"/>
              </a:xfrm>
              <a:prstGeom prst="rect">
                <a:avLst/>
              </a:prstGeom>
              <a:blipFill rotWithShape="0">
                <a:blip r:embed="rId11"/>
                <a:stretch>
                  <a:fillRect l="-2671"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 name="CaixaDeTexto 18"/>
              <p:cNvSpPr txBox="1"/>
              <p:nvPr/>
            </p:nvSpPr>
            <p:spPr>
              <a:xfrm>
                <a:off x="10061350" y="942581"/>
                <a:ext cx="2057344" cy="369332"/>
              </a:xfrm>
              <a:prstGeom prst="rect">
                <a:avLst/>
              </a:prstGeom>
              <a:noFill/>
            </p:spPr>
            <p:txBody>
              <a:bodyPr wrap="square" rtlCol="0">
                <a:spAutoFit/>
              </a:bodyPr>
              <a:lstStyle/>
              <a:p>
                <a:r>
                  <a:rPr lang="pt-BR" dirty="0"/>
                  <a:t>= 0.05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9" name="CaixaDeTexto 18"/>
              <p:cNvSpPr txBox="1">
                <a:spLocks noRot="1" noChangeAspect="1" noMove="1" noResize="1" noEditPoints="1" noAdjustHandles="1" noChangeArrowheads="1" noChangeShapeType="1" noTextEdit="1"/>
              </p:cNvSpPr>
              <p:nvPr/>
            </p:nvSpPr>
            <p:spPr>
              <a:xfrm>
                <a:off x="10061350" y="942581"/>
                <a:ext cx="2057344" cy="369332"/>
              </a:xfrm>
              <a:prstGeom prst="rect">
                <a:avLst/>
              </a:prstGeom>
              <a:blipFill rotWithShape="0">
                <a:blip r:embed="rId12"/>
                <a:stretch>
                  <a:fillRect l="-2367" t="-10000" b="-26667"/>
                </a:stretch>
              </a:blipFill>
            </p:spPr>
            <p:txBody>
              <a:bodyPr/>
              <a:lstStyle/>
              <a:p>
                <a:r>
                  <a:rPr lang="pt-BR">
                    <a:noFill/>
                  </a:rPr>
                  <a:t> </a:t>
                </a:r>
              </a:p>
            </p:txBody>
          </p:sp>
        </mc:Fallback>
      </mc:AlternateContent>
      <p:grpSp>
        <p:nvGrpSpPr>
          <p:cNvPr id="20" name="Grupo 19"/>
          <p:cNvGrpSpPr/>
          <p:nvPr/>
        </p:nvGrpSpPr>
        <p:grpSpPr>
          <a:xfrm>
            <a:off x="10664486" y="1987938"/>
            <a:ext cx="1379149" cy="523220"/>
            <a:chOff x="10535409" y="1632368"/>
            <a:chExt cx="1379149" cy="523220"/>
          </a:xfrm>
        </p:grpSpPr>
        <p:sp>
          <p:nvSpPr>
            <p:cNvPr id="21" name="CaixaDeTexto 20"/>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22" name="Mais 21"/>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3" name="CaixaDeTexto 12">
            <a:extLst>
              <a:ext uri="{FF2B5EF4-FFF2-40B4-BE49-F238E27FC236}">
                <a16:creationId xmlns:a16="http://schemas.microsoft.com/office/drawing/2014/main" xmlns="" id="{9989FE69-01F8-8C6A-4EA0-DA1C9792B919}"/>
              </a:ext>
            </a:extLst>
          </p:cNvPr>
          <p:cNvSpPr txBox="1"/>
          <p:nvPr/>
        </p:nvSpPr>
        <p:spPr>
          <a:xfrm>
            <a:off x="3091207" y="5694911"/>
            <a:ext cx="2468456" cy="646331"/>
          </a:xfrm>
          <a:prstGeom prst="rect">
            <a:avLst/>
          </a:prstGeom>
          <a:noFill/>
        </p:spPr>
        <p:txBody>
          <a:bodyPr wrap="square" rtlCol="0">
            <a:spAutoFit/>
          </a:bodyPr>
          <a:lstStyle/>
          <a:p>
            <a:pPr algn="ctr"/>
            <a:r>
              <a:rPr lang="pt-BR" dirty="0"/>
              <a:t>Passamos a ter </a:t>
            </a:r>
            <a:r>
              <a:rPr lang="pt-BR" b="1" i="1" dirty="0"/>
              <a:t>3 classificadores binários</a:t>
            </a:r>
            <a:r>
              <a:rPr lang="pt-BR" dirty="0"/>
              <a:t>.</a:t>
            </a:r>
            <a:endParaRPr lang="pt-BR" b="1" i="1" dirty="0"/>
          </a:p>
        </p:txBody>
      </p:sp>
    </p:spTree>
    <p:extLst>
      <p:ext uri="{BB962C8B-B14F-4D97-AF65-F5344CB8AC3E}">
        <p14:creationId xmlns:p14="http://schemas.microsoft.com/office/powerpoint/2010/main" val="415529034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022D379-CAA0-9DC9-CDBD-6E0EBE1BFF31}"/>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68F0D74-8673-A432-A1D7-BDEF7725851A}"/>
                  </a:ext>
                </a:extLst>
              </p:cNvPr>
              <p:cNvSpPr>
                <a:spLocks noGrp="1"/>
              </p:cNvSpPr>
              <p:nvPr>
                <p:ph idx="1"/>
              </p:nvPr>
            </p:nvSpPr>
            <p:spPr>
              <a:xfrm>
                <a:off x="838199" y="1825624"/>
                <a:ext cx="11353801" cy="5032375"/>
              </a:xfrm>
            </p:spPr>
            <p:txBody>
              <a:bodyPr>
                <a:normAutofit/>
              </a:bodyPr>
              <a:lstStyle/>
              <a:p>
                <a:r>
                  <a:rPr lang="pt-BR" dirty="0"/>
                  <a:t>Também conhecida como </a:t>
                </a:r>
                <a:r>
                  <a:rPr lang="pt-BR" b="1" dirty="0"/>
                  <a:t>regressão logística multinomial</a:t>
                </a:r>
                <a:r>
                  <a:rPr lang="pt-BR" dirty="0"/>
                  <a:t>.</a:t>
                </a:r>
              </a:p>
              <a:p>
                <a:pPr lvl="1">
                  <a:buFont typeface="Wingdings" panose="05000000000000000000" pitchFamily="2" charset="2"/>
                  <a:buChar char="§"/>
                </a:pPr>
                <a:r>
                  <a:rPr lang="pt-BR" dirty="0"/>
                  <a:t>Pois suas saídas podem ser interpretadas como as </a:t>
                </a:r>
                <a:r>
                  <a:rPr lang="pt-BR" b="1" dirty="0">
                    <a:solidFill>
                      <a:srgbClr val="00B050"/>
                    </a:solidFill>
                  </a:rPr>
                  <a:t>probabilidades de uma variável categórica </a:t>
                </a:r>
                <a:r>
                  <a:rPr lang="pt-BR" dirty="0"/>
                  <a:t>(as classes) </a:t>
                </a:r>
                <a:r>
                  <a:rPr lang="pt-BR" b="1" dirty="0">
                    <a:solidFill>
                      <a:srgbClr val="00B050"/>
                    </a:solidFill>
                  </a:rPr>
                  <a:t>dado os atributos e </a:t>
                </a:r>
                <a:r>
                  <a:rPr lang="pt-BR" b="1" dirty="0" smtClean="0">
                    <a:solidFill>
                      <a:srgbClr val="00B050"/>
                    </a:solidFill>
                  </a:rPr>
                  <a:t>os pesos</a:t>
                </a:r>
                <a:r>
                  <a:rPr lang="pt-BR" b="1" dirty="0">
                    <a:solidFill>
                      <a:srgbClr val="00B050"/>
                    </a:solidFill>
                  </a:rPr>
                  <a:t>.</a:t>
                </a:r>
              </a:p>
              <a:p>
                <a:pPr lvl="1">
                  <a:buFont typeface="Wingdings" panose="05000000000000000000" pitchFamily="2" charset="2"/>
                  <a:buChar char="§"/>
                </a:pPr>
                <a:r>
                  <a:rPr lang="pt-BR" dirty="0"/>
                  <a:t>Ou seja, a regressão </a:t>
                </a:r>
                <a:r>
                  <a:rPr lang="pt-BR" b="1" i="1" dirty="0">
                    <a:solidFill>
                      <a:srgbClr val="00B050"/>
                    </a:solidFill>
                  </a:rPr>
                  <a:t>softmax</a:t>
                </a:r>
                <a:r>
                  <a:rPr lang="pt-BR" b="1" dirty="0">
                    <a:solidFill>
                      <a:srgbClr val="00B050"/>
                    </a:solidFill>
                  </a:rPr>
                  <a:t> estima a probabilidade de um exemplo de entrada pertencer a cada uma das </a:t>
                </a:r>
                <a14:m>
                  <m:oMath xmlns:m="http://schemas.openxmlformats.org/officeDocument/2006/math">
                    <m:r>
                      <a:rPr lang="pt-BR" i="1" smtClean="0">
                        <a:solidFill>
                          <a:srgbClr val="00B050"/>
                        </a:solidFill>
                        <a:latin typeface="Cambria Math" panose="02040503050406030204" pitchFamily="18" charset="0"/>
                      </a:rPr>
                      <m:t>𝑄</m:t>
                    </m:r>
                  </m:oMath>
                </a14:m>
                <a:r>
                  <a:rPr lang="pt-BR" b="1" dirty="0">
                    <a:solidFill>
                      <a:srgbClr val="00B050"/>
                    </a:solidFill>
                  </a:rPr>
                  <a:t> possíveis classes</a:t>
                </a:r>
                <a:r>
                  <a:rPr lang="pt-BR" dirty="0"/>
                  <a:t>.</a:t>
                </a:r>
              </a:p>
              <a:p>
                <a:r>
                  <a:rPr lang="pt-BR" dirty="0"/>
                  <a:t>O </a:t>
                </a:r>
                <a:r>
                  <a:rPr lang="pt-BR" dirty="0" err="1"/>
                  <a:t>regressor</a:t>
                </a:r>
                <a:r>
                  <a:rPr lang="pt-BR" dirty="0"/>
                  <a:t> </a:t>
                </a:r>
                <a:r>
                  <a:rPr lang="pt-BR" i="1" dirty="0" err="1" smtClean="0"/>
                  <a:t>softmax</a:t>
                </a:r>
                <a:r>
                  <a:rPr lang="pt-BR" dirty="0" smtClean="0"/>
                  <a:t> tem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classificador com 4 saídas.</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710988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19F0958-530D-D942-BA01-15C1583DD1E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21416F72-28FB-E27C-D129-16A944A87C67}"/>
                  </a:ext>
                </a:extLst>
              </p:cNvPr>
              <p:cNvSpPr>
                <a:spLocks noGrp="1"/>
              </p:cNvSpPr>
              <p:nvPr>
                <p:ph idx="1"/>
              </p:nvPr>
            </p:nvSpPr>
            <p:spPr>
              <a:xfrm>
                <a:off x="838199" y="1825624"/>
                <a:ext cx="11353801" cy="5032375"/>
              </a:xfrm>
            </p:spPr>
            <p:txBody>
              <a:bodyPr/>
              <a:lstStyle/>
              <a:p>
                <a:r>
                  <a:rPr lang="pt-BR" dirty="0"/>
                  <a:t>Ele prediz </a:t>
                </a:r>
                <a:r>
                  <a:rPr lang="pt-BR" b="1" dirty="0"/>
                  <a:t>apenas </a:t>
                </a:r>
                <a:r>
                  <a:rPr lang="pt-BR" b="1" dirty="0">
                    <a:solidFill>
                      <a:srgbClr val="FF0000"/>
                    </a:solidFill>
                  </a:rPr>
                  <a:t>uma</a:t>
                </a:r>
                <a:r>
                  <a:rPr lang="pt-BR" b="1" dirty="0"/>
                  <a:t> classe por classificação</a:t>
                </a:r>
                <a:r>
                  <a:rPr lang="pt-BR" dirty="0"/>
                  <a:t>, portanto, ele deve ser usado apenas com </a:t>
                </a:r>
                <a:r>
                  <a:rPr lang="pt-BR" b="1" dirty="0"/>
                  <a:t>classes mutuamente exclusivas </a:t>
                </a:r>
                <a:r>
                  <a:rPr lang="pt-BR" dirty="0"/>
                  <a:t>como, por exemplo, diferentes tipos de plantas, dígitos, carros, etc.</a:t>
                </a:r>
              </a:p>
              <a:p>
                <a:pPr lvl="1">
                  <a:buFont typeface="Wingdings" panose="05000000000000000000" pitchFamily="2" charset="2"/>
                  <a:buChar char="§"/>
                </a:pPr>
                <a:r>
                  <a:rPr lang="pt-BR" b="1" dirty="0"/>
                  <a:t>Classes mutuamente exclusivas</a:t>
                </a:r>
                <a:r>
                  <a:rPr lang="pt-BR" dirty="0"/>
                  <a:t>: caso onde os exemplos pertencem a apenas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smtClean="0"/>
                  <a:t>Por exemplo,</a:t>
                </a:r>
                <a:r>
                  <a:rPr lang="pt-BR" dirty="0" smtClean="0"/>
                  <a:t> </a:t>
                </a:r>
                <a:r>
                  <a:rPr lang="pt-BR" dirty="0"/>
                  <a:t>notícias, músicas e imagens, por exemplo, podem pertencer a </a:t>
                </a:r>
                <a:r>
                  <a:rPr lang="pt-BR" dirty="0" smtClean="0"/>
                  <a:t>várias classes </a:t>
                </a:r>
                <a:r>
                  <a:rPr lang="pt-BR" dirty="0"/>
                  <a:t>ao mesmo tempo.</a:t>
                </a:r>
              </a:p>
              <a:p>
                <a:r>
                  <a:rPr lang="pt-BR" dirty="0"/>
                  <a:t>O </a:t>
                </a:r>
                <a:r>
                  <a:rPr lang="pt-BR" b="1" dirty="0"/>
                  <a:t>regressor </a:t>
                </a:r>
                <a:r>
                  <a:rPr lang="pt-BR" b="1" i="1" dirty="0"/>
                  <a:t>softmax</a:t>
                </a:r>
                <a:r>
                  <a:rPr lang="pt-BR" b="1" dirty="0"/>
                  <a:t> </a:t>
                </a:r>
                <a:r>
                  <a:rPr lang="pt-BR" b="1" dirty="0">
                    <a:solidFill>
                      <a:srgbClr val="00B050"/>
                    </a:solidFill>
                  </a:rPr>
                  <a:t>possui uma função hipótese de classificação</a:t>
                </a:r>
                <a:r>
                  <a:rPr lang="pt-BR"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oMath>
                </a14:m>
                <a:r>
                  <a:rPr lang="pt-BR" dirty="0"/>
                  <a:t>, e, consequentemente, </a:t>
                </a:r>
                <a:r>
                  <a:rPr lang="pt-BR" b="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
                </a:r>
                <a:r>
                  <a:rPr lang="pt-BR" b="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a:p>
                <a:pPr lvl="1">
                  <a:buFont typeface="Wingdings" panose="05000000000000000000" pitchFamily="2" charset="2"/>
                  <a:buChar char="§"/>
                </a:pPr>
                <a:r>
                  <a:rPr lang="pt-BR" dirty="0"/>
                  <a:t>Se temos 3 classes, teremos 3 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a:t>
                </a:r>
              </a:p>
            </p:txBody>
          </p:sp>
        </mc:Choice>
        <mc:Fallback>
          <p:sp>
            <p:nvSpPr>
              <p:cNvPr id="3" name="Espaço Reservado para Conteúdo 2">
                <a:extLst>
                  <a:ext uri="{FF2B5EF4-FFF2-40B4-BE49-F238E27FC236}">
                    <a16:creationId xmlns="" xmlns:a16="http://schemas.microsoft.com/office/drawing/2014/main" xmlns:a14="http://schemas.microsoft.com/office/drawing/2010/main"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3485503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CD47F25-5DD1-794E-8733-BFD771A2DE49}"/>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D79BB7DC-99E7-8958-EC77-566B7E3C2BBB}"/>
                  </a:ext>
                </a:extLst>
              </p:cNvPr>
              <p:cNvSpPr>
                <a:spLocks noGrp="1"/>
              </p:cNvSpPr>
              <p:nvPr>
                <p:ph idx="1"/>
              </p:nvPr>
            </p:nvSpPr>
            <p:spPr>
              <a:xfrm>
                <a:off x="838200" y="1825624"/>
                <a:ext cx="11080174" cy="5032375"/>
              </a:xfrm>
            </p:spPr>
            <p:txBody>
              <a:bodyPr>
                <a:normAutofit/>
              </a:bodyPr>
              <a:lstStyle/>
              <a:p>
                <a:r>
                  <a:rPr lang="pt-BR" dirty="0"/>
                  <a:t>A </a:t>
                </a:r>
                <a:r>
                  <a:rPr lang="pt-BR" b="1" dirty="0"/>
                  <a:t>função hipótese de classificação</a:t>
                </a:r>
                <a:r>
                  <a:rPr lang="pt-BR" b="1" i="1" dirty="0"/>
                  <a:t>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oMath>
                </a14:m>
                <a:r>
                  <a:rPr lang="pt-BR" dirty="0"/>
                  <a:t> é obtida passando-se a </a:t>
                </a:r>
                <a:r>
                  <a:rPr lang="pt-BR" b="1" dirty="0"/>
                  <a:t>função discriminante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dirty="0">
                    <a:solidFill>
                      <a:srgbClr val="7030A0"/>
                    </a:solidFill>
                  </a:rPr>
                  <a:t>função (de ativação) </a:t>
                </a:r>
                <a:r>
                  <a:rPr lang="pt-BR" b="1" i="1" dirty="0">
                    <a:solidFill>
                      <a:srgbClr val="7030A0"/>
                    </a:solidFill>
                  </a:rPr>
                  <a:t>softmax</a:t>
                </a:r>
                <a:r>
                  <a:rPr lang="pt-BR" dirty="0"/>
                  <a:t>,</a:t>
                </a:r>
              </a:p>
              <a:p>
                <a:pPr marL="0" indent="0" algn="ctr">
                  <a:buNone/>
                </a:pPr>
                <a14:m>
                  <m:oMathPara xmlns:m="http://schemas.openxmlformats.org/officeDocument/2006/math">
                    <m:oMathParaPr>
                      <m:jc m:val="centerGroup"/>
                    </m:oMathParaPr>
                    <m:oMath xmlns:m="http://schemas.openxmlformats.org/officeDocument/2006/math">
                      <m:r>
                        <a:rPr lang="pt-BR" sz="2400" i="1">
                          <a:latin typeface="Cambria Math" panose="02040503050406030204" pitchFamily="18" charset="0"/>
                        </a:rPr>
                        <m:t>𝑃</m:t>
                      </m:r>
                      <m:d>
                        <m:dPr>
                          <m:ctrlPr>
                            <a:rPr lang="pt-BR" sz="2400" i="1">
                              <a:latin typeface="Cambria Math" panose="02040503050406030204" pitchFamily="18" charset="0"/>
                            </a:rPr>
                          </m:ctrlPr>
                        </m:dPr>
                        <m:e>
                          <m:sSub>
                            <m:sSubPr>
                              <m:ctrlPr>
                                <a:rPr lang="pt-BR" sz="2400" i="1">
                                  <a:latin typeface="Cambria Math" panose="02040503050406030204" pitchFamily="18" charset="0"/>
                                </a:rPr>
                              </m:ctrlPr>
                            </m:sSubPr>
                            <m:e>
                              <m:r>
                                <a:rPr lang="pt-BR" sz="2400" i="1">
                                  <a:latin typeface="Cambria Math" panose="02040503050406030204" pitchFamily="18" charset="0"/>
                                </a:rPr>
                                <m:t>𝐶</m:t>
                              </m:r>
                            </m:e>
                            <m:sub>
                              <m:r>
                                <a:rPr lang="pt-BR" sz="2400" i="1">
                                  <a:latin typeface="Cambria Math" panose="02040503050406030204" pitchFamily="18" charset="0"/>
                                </a:rPr>
                                <m:t>𝑞</m:t>
                              </m:r>
                            </m:sub>
                          </m:sSub>
                          <m:r>
                            <a:rPr lang="pt-BR" sz="2400" b="0" i="1" smtClean="0">
                              <a:latin typeface="Cambria Math" panose="02040503050406030204" pitchFamily="18" charset="0"/>
                            </a:rPr>
                            <m:t> </m:t>
                          </m:r>
                          <m:r>
                            <a:rPr lang="pt-BR" sz="2400" i="1">
                              <a:latin typeface="Cambria Math" panose="02040503050406030204" pitchFamily="18" charset="0"/>
                            </a:rPr>
                            <m:t>|</m:t>
                          </m:r>
                          <m:r>
                            <a:rPr lang="pt-BR" sz="2400" b="0" i="1" smtClean="0">
                              <a:latin typeface="Cambria Math" panose="02040503050406030204" pitchFamily="18" charset="0"/>
                            </a:rPr>
                            <m:t> </m:t>
                          </m:r>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b="0" i="1" smtClean="0">
                                  <a:latin typeface="Cambria Math" panose="02040503050406030204" pitchFamily="18" charset="0"/>
                                </a:rPr>
                                <m:t>𝑞</m:t>
                              </m:r>
                            </m:sub>
                          </m:sSub>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r>
                        <a:rPr lang="pt-BR" sz="2400" b="1" i="1">
                          <a:latin typeface="Cambria Math" panose="02040503050406030204" pitchFamily="18" charset="0"/>
                        </a:rPr>
                        <m:t>=</m:t>
                      </m:r>
                      <m:f>
                        <m:fPr>
                          <m:ctrlPr>
                            <a:rPr lang="pt-BR" sz="2400" b="1" i="1">
                              <a:latin typeface="Cambria Math" panose="02040503050406030204" pitchFamily="18" charset="0"/>
                            </a:rPr>
                          </m:ctrlPr>
                        </m:fPr>
                        <m:num>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b>
                                <m:sSubPr>
                                  <m:ctrlPr>
                                    <a:rPr lang="pt-BR" sz="2400" i="1">
                                      <a:latin typeface="Cambria Math" panose="02040503050406030204" pitchFamily="18" charset="0"/>
                                    </a:rPr>
                                  </m:ctrlPr>
                                </m:sSubPr>
                                <m:e>
                                  <m:r>
                                    <a:rPr lang="pt-BR" sz="2400" i="1">
                                      <a:latin typeface="Cambria Math" panose="02040503050406030204" pitchFamily="18" charset="0"/>
                                    </a:rPr>
                                    <m:t>𝑔</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r>
                                <a:rPr lang="pt-BR" sz="2400" b="0" i="1" smtClean="0">
                                  <a:latin typeface="Cambria Math" panose="02040503050406030204" pitchFamily="18" charset="0"/>
                                </a:rPr>
                                <m:t>𝑛</m:t>
                              </m:r>
                              <m:r>
                                <a:rPr lang="pt-BR" sz="2400" i="1">
                                  <a:latin typeface="Cambria Math" panose="02040503050406030204" pitchFamily="18" charset="0"/>
                                </a:rPr>
                                <m:t>)</m:t>
                              </m:r>
                              <m:r>
                                <a:rPr lang="pt-BR" sz="2400" b="1" i="1">
                                  <a:latin typeface="Cambria Math" panose="02040503050406030204" pitchFamily="18" charset="0"/>
                                </a:rPr>
                                <m:t>)</m:t>
                              </m:r>
                            </m:sup>
                          </m:sSup>
                        </m:num>
                        <m:den>
                          <m:nary>
                            <m:naryPr>
                              <m:chr m:val="∑"/>
                              <m:ctrlPr>
                                <a:rPr lang="pt-BR" sz="2400" b="1" i="1">
                                  <a:latin typeface="Cambria Math" panose="02040503050406030204" pitchFamily="18" charset="0"/>
                                </a:rPr>
                              </m:ctrlPr>
                            </m:naryPr>
                            <m:sub>
                              <m:r>
                                <a:rPr lang="pt-BR" sz="2400" i="1">
                                  <a:latin typeface="Cambria Math" panose="02040503050406030204" pitchFamily="18" charset="0"/>
                                </a:rPr>
                                <m:t>𝑗</m:t>
                              </m:r>
                              <m:r>
                                <a:rPr lang="pt-BR" sz="2400" i="1">
                                  <a:latin typeface="Cambria Math" panose="02040503050406030204" pitchFamily="18" charset="0"/>
                                </a:rPr>
                                <m:t>=0</m:t>
                              </m:r>
                            </m:sub>
                            <m:sup>
                              <m:r>
                                <a:rPr lang="pt-BR" sz="2400" i="1">
                                  <a:latin typeface="Cambria Math" panose="02040503050406030204" pitchFamily="18" charset="0"/>
                                </a:rPr>
                                <m:t>𝑄</m:t>
                              </m:r>
                              <m:r>
                                <a:rPr lang="pt-BR" sz="2400" b="0" i="1" smtClean="0">
                                  <a:latin typeface="Cambria Math" panose="02040503050406030204" pitchFamily="18" charset="0"/>
                                </a:rPr>
                                <m:t>−1</m:t>
                              </m:r>
                            </m:sup>
                            <m:e>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b>
                                    <m:sSubPr>
                                      <m:ctrlPr>
                                        <a:rPr lang="pt-BR" sz="2400" i="1">
                                          <a:latin typeface="Cambria Math" panose="02040503050406030204" pitchFamily="18" charset="0"/>
                                        </a:rPr>
                                      </m:ctrlPr>
                                    </m:sSubPr>
                                    <m:e>
                                      <m:r>
                                        <a:rPr lang="pt-BR" sz="2400" i="1">
                                          <a:latin typeface="Cambria Math" panose="02040503050406030204" pitchFamily="18" charset="0"/>
                                        </a:rPr>
                                        <m:t>𝑔</m:t>
                                      </m:r>
                                    </m:e>
                                    <m:sub>
                                      <m:r>
                                        <a:rPr lang="pt-BR" sz="2400" i="1">
                                          <a:latin typeface="Cambria Math" panose="02040503050406030204" pitchFamily="18" charset="0"/>
                                        </a:rPr>
                                        <m:t>𝑗</m:t>
                                      </m:r>
                                    </m:sub>
                                  </m:sSub>
                                  <m:r>
                                    <a:rPr lang="pt-BR" sz="2400" b="1"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r>
                                    <a:rPr lang="pt-BR" sz="2400" b="0" i="1" smtClean="0">
                                      <a:latin typeface="Cambria Math" panose="02040503050406030204" pitchFamily="18" charset="0"/>
                                    </a:rPr>
                                    <m:t>𝑛</m:t>
                                  </m:r>
                                  <m:r>
                                    <a:rPr lang="pt-BR" sz="2400" i="1">
                                      <a:latin typeface="Cambria Math" panose="02040503050406030204" pitchFamily="18" charset="0"/>
                                    </a:rPr>
                                    <m:t>)</m:t>
                                  </m:r>
                                  <m:r>
                                    <a:rPr lang="pt-BR" sz="2400" b="1" i="1">
                                      <a:latin typeface="Cambria Math" panose="02040503050406030204" pitchFamily="18" charset="0"/>
                                    </a:rPr>
                                    <m:t>)</m:t>
                                  </m:r>
                                </m:sup>
                              </m:sSup>
                            </m:e>
                          </m:nary>
                        </m:den>
                      </m:f>
                      <m:r>
                        <a:rPr lang="pt-BR"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ℝ</m:t>
                      </m:r>
                      <m:r>
                        <a:rPr lang="pt-BR" sz="2400" b="1" i="1">
                          <a:latin typeface="Cambria Math" panose="02040503050406030204" pitchFamily="18" charset="0"/>
                          <a:ea typeface="Cambria Math" panose="02040503050406030204" pitchFamily="18" charset="0"/>
                        </a:rPr>
                        <m:t> </m:t>
                      </m:r>
                      <m:d>
                        <m:dPr>
                          <m:begChr m:val="["/>
                          <m:endChr m:val="]"/>
                          <m:ctrlPr>
                            <a:rPr lang="pt-BR" sz="2400" b="1" i="1">
                              <a:latin typeface="Cambria Math" panose="02040503050406030204" pitchFamily="18" charset="0"/>
                              <a:ea typeface="Cambria Math" panose="02040503050406030204" pitchFamily="18" charset="0"/>
                            </a:rPr>
                          </m:ctrlPr>
                        </m:dPr>
                        <m:e>
                          <m:r>
                            <a:rPr lang="pt-BR" sz="2400">
                              <a:latin typeface="Cambria Math" panose="02040503050406030204" pitchFamily="18" charset="0"/>
                            </a:rPr>
                            <m:t>0,</m:t>
                          </m:r>
                          <m:r>
                            <a:rPr lang="pt-BR" sz="2400" b="0" i="0" smtClean="0">
                              <a:latin typeface="Cambria Math" panose="02040503050406030204" pitchFamily="18" charset="0"/>
                            </a:rPr>
                            <m:t> </m:t>
                          </m:r>
                          <m:r>
                            <a:rPr lang="pt-BR" sz="2400">
                              <a:latin typeface="Cambria Math" panose="02040503050406030204" pitchFamily="18" charset="0"/>
                            </a:rPr>
                            <m:t>1</m:t>
                          </m:r>
                        </m:e>
                      </m:d>
                      <m:r>
                        <a:rPr lang="pt-BR" sz="2400" b="1" i="1" smtClean="0">
                          <a:latin typeface="Cambria Math" panose="02040503050406030204" pitchFamily="18" charset="0"/>
                        </a:rPr>
                        <m:t>,</m:t>
                      </m:r>
                    </m:oMath>
                  </m:oMathPara>
                </a14:m>
                <a:endParaRPr lang="pt-BR" sz="2400" i="1" dirty="0"/>
              </a:p>
              <a:p>
                <a:pPr marL="0" indent="0">
                  <a:buNone/>
                </a:pPr>
                <a:r>
                  <a:rPr lang="pt-BR" dirty="0"/>
                  <a:t>onde</a:t>
                </a:r>
                <a:r>
                  <a:rPr lang="pt-BR" i="1"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dirty="0"/>
                  <a:t>vetor de pesos</a:t>
                </a:r>
                <a:r>
                  <a:rPr lang="pt-BR" b="1" i="1" dirty="0"/>
                  <a:t>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b="0" i="1" smtClean="0">
                        <a:latin typeface="Cambria Math" panose="02040503050406030204" pitchFamily="18" charset="0"/>
                      </a:rPr>
                      <m:t>𝑛</m:t>
                    </m:r>
                  </m:oMath>
                </a14:m>
                <a:r>
                  <a:rPr lang="pt-BR" dirty="0"/>
                  <a:t> indica o número da amostra.</a:t>
                </a:r>
              </a:p>
              <a:p>
                <a:r>
                  <a:rPr lang="pt-BR" sz="2800" dirty="0"/>
                  <a:t>Cada função discriminante tem seu próprio vetor de pesos, </a:t>
                </a:r>
                <a14:m>
                  <m:oMath xmlns:m="http://schemas.openxmlformats.org/officeDocument/2006/math">
                    <m:sSub>
                      <m:sSubPr>
                        <m:ctrlPr>
                          <a:rPr lang="pt-BR" b="1" i="1" smtClean="0">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sz="2800" dirty="0"/>
                  <a:t>.</a:t>
                </a:r>
              </a:p>
              <a:p>
                <a:r>
                  <a:rPr lang="pt-BR" dirty="0"/>
                  <a:t>Além do regressor </a:t>
                </a:r>
                <a:r>
                  <a:rPr lang="pt-BR" i="1" dirty="0"/>
                  <a:t>softmax</a:t>
                </a:r>
                <a:r>
                  <a:rPr lang="pt-BR" dirty="0"/>
                  <a:t>, ela é usada na </a:t>
                </a:r>
                <a:r>
                  <a:rPr lang="pt-BR" b="1" dirty="0">
                    <a:solidFill>
                      <a:srgbClr val="00B050"/>
                    </a:solidFill>
                  </a:rPr>
                  <a:t>camada de saída</a:t>
                </a:r>
                <a:r>
                  <a:rPr lang="pt-BR" dirty="0">
                    <a:solidFill>
                      <a:srgbClr val="00B050"/>
                    </a:solidFill>
                  </a:rPr>
                  <a:t> </a:t>
                </a:r>
                <a:r>
                  <a:rPr lang="pt-BR" dirty="0"/>
                  <a:t>de </a:t>
                </a:r>
                <a:r>
                  <a:rPr lang="pt-BR" b="1" dirty="0">
                    <a:solidFill>
                      <a:srgbClr val="00B050"/>
                    </a:solidFill>
                  </a:rPr>
                  <a:t>redes neurais</a:t>
                </a:r>
                <a:r>
                  <a:rPr lang="pt-BR" dirty="0"/>
                  <a:t> empregadas em tarefas de </a:t>
                </a:r>
                <a:r>
                  <a:rPr lang="pt-BR" b="1" dirty="0">
                    <a:solidFill>
                      <a:srgbClr val="00B050"/>
                    </a:solidFill>
                  </a:rPr>
                  <a:t>classificação.</a:t>
                </a:r>
                <a:endParaRPr lang="pt-BR" sz="2800"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080174" cy="5032375"/>
              </a:xfrm>
              <a:blipFill>
                <a:blip r:embed="rId3"/>
                <a:stretch>
                  <a:fillRect l="-1156" t="-1332"/>
                </a:stretch>
              </a:blipFill>
            </p:spPr>
            <p:txBody>
              <a:bodyPr/>
              <a:lstStyle/>
              <a:p>
                <a:r>
                  <a:rPr lang="en-US">
                    <a:noFill/>
                  </a:rPr>
                  <a:t> </a:t>
                </a:r>
              </a:p>
            </p:txBody>
          </p:sp>
        </mc:Fallback>
      </mc:AlternateContent>
    </p:spTree>
    <p:extLst>
      <p:ext uri="{BB962C8B-B14F-4D97-AF65-F5344CB8AC3E}">
        <p14:creationId xmlns:p14="http://schemas.microsoft.com/office/powerpoint/2010/main" val="34714531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2E3438D-F516-F1D3-A02F-51857586D07A}"/>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BCAAD57B-65A0-9DAD-79FC-2AE2692EB84B}"/>
                  </a:ext>
                </a:extLst>
              </p:cNvPr>
              <p:cNvSpPr>
                <a:spLocks noGrp="1"/>
              </p:cNvSpPr>
              <p:nvPr>
                <p:ph idx="1"/>
              </p:nvPr>
            </p:nvSpPr>
            <p:spPr>
              <a:xfrm>
                <a:off x="838200" y="1825624"/>
                <a:ext cx="11232473" cy="5032375"/>
              </a:xfrm>
            </p:spPr>
            <p:txBody>
              <a:bodyPr>
                <a:normAutofit/>
              </a:bodyPr>
              <a:lstStyle/>
              <a:p>
                <a:r>
                  <a:rPr lang="pt-BR" b="0" dirty="0" smtClean="0">
                    <a:effectLst/>
                  </a:rPr>
                  <a:t>Ela transforma os </a:t>
                </a:r>
                <a:r>
                  <a:rPr lang="pt-BR" b="1" dirty="0" smtClean="0">
                    <a:solidFill>
                      <a:srgbClr val="00B050"/>
                    </a:solidFill>
                    <a:effectLst/>
                  </a:rPr>
                  <a:t>valores</a:t>
                </a:r>
                <a:r>
                  <a:rPr lang="pt-BR" b="1" dirty="0" smtClean="0">
                    <a:solidFill>
                      <a:srgbClr val="00B050"/>
                    </a:solidFill>
                  </a:rPr>
                  <a:t> das </a:t>
                </a:r>
                <a14:m>
                  <m:oMath xmlns:m="http://schemas.openxmlformats.org/officeDocument/2006/math">
                    <m:r>
                      <a:rPr lang="pt-BR" b="1" i="1" smtClean="0">
                        <a:solidFill>
                          <a:srgbClr val="00B050"/>
                        </a:solidFill>
                        <a:latin typeface="Cambria Math" panose="02040503050406030204" pitchFamily="18" charset="0"/>
                      </a:rPr>
                      <m:t>𝑸</m:t>
                    </m:r>
                  </m:oMath>
                </a14:m>
                <a:r>
                  <a:rPr lang="pt-BR" b="1" dirty="0" smtClean="0">
                    <a:solidFill>
                      <a:srgbClr val="00B050"/>
                    </a:solidFill>
                  </a:rPr>
                  <a:t> </a:t>
                </a:r>
                <a:r>
                  <a:rPr lang="pt-BR" b="1" dirty="0">
                    <a:solidFill>
                      <a:srgbClr val="00B050"/>
                    </a:solidFill>
                    <a:effectLst/>
                  </a:rPr>
                  <a:t>funções discriminantes em uma distribuição de probabilidades</a:t>
                </a:r>
                <a:r>
                  <a:rPr lang="pt-BR" b="0" dirty="0">
                    <a:effectLst/>
                  </a:rPr>
                  <a:t>.</a:t>
                </a:r>
              </a:p>
              <a:p>
                <a:pPr lvl="1">
                  <a:buFont typeface="Wingdings" panose="05000000000000000000" pitchFamily="2" charset="2"/>
                  <a:buChar char="§"/>
                </a:pPr>
                <a:r>
                  <a:rPr lang="pt-BR" dirty="0"/>
                  <a:t>O 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14:m>
                  <m:oMath xmlns:m="http://schemas.openxmlformats.org/officeDocument/2006/math">
                    <m:r>
                      <a:rPr lang="pt-BR" i="1">
                        <a:latin typeface="Cambria Math" panose="02040503050406030204" pitchFamily="18" charset="0"/>
                      </a:rPr>
                      <m:t>𝑄</m:t>
                    </m:r>
                  </m:oMath>
                </a14:m>
                <a:r>
                  <a:rPr lang="pt-BR" dirty="0"/>
                  <a:t> saídas seja igual a 1</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r>
                        <a:rPr lang="pt-BR" b="1" i="1">
                          <a:latin typeface="Cambria Math" panose="02040503050406030204" pitchFamily="18" charset="0"/>
                          <a:ea typeface="Cambria Math" panose="02040503050406030204" pitchFamily="18" charset="0"/>
                        </a:rPr>
                        <m:t> </m:t>
                      </m:r>
                      <m:d>
                        <m:dPr>
                          <m:begChr m:val="["/>
                          <m:endChr m:val="]"/>
                          <m:ctrlPr>
                            <a:rPr lang="pt-BR" b="1" i="1">
                              <a:latin typeface="Cambria Math" panose="02040503050406030204" pitchFamily="18" charset="0"/>
                              <a:ea typeface="Cambria Math" panose="02040503050406030204" pitchFamily="18" charset="0"/>
                            </a:rPr>
                          </m:ctrlPr>
                        </m:dPr>
                        <m:e>
                          <m:r>
                            <a:rPr lang="pt-BR">
                              <a:latin typeface="Cambria Math" panose="02040503050406030204" pitchFamily="18" charset="0"/>
                            </a:rPr>
                            <m:t>0, 1</m:t>
                          </m:r>
                        </m:e>
                      </m:d>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ea typeface="Cambria Math" panose="02040503050406030204" pitchFamily="18" charset="0"/>
                        </a:rPr>
                        <m:t>.</m:t>
                      </m:r>
                    </m:oMath>
                  </m:oMathPara>
                </a14:m>
                <a:endParaRPr lang="pt-BR" b="0" dirty="0">
                  <a:effectLst/>
                </a:endParaRPr>
              </a:p>
              <a:p>
                <a:r>
                  <a:rPr lang="pt-BR" dirty="0"/>
                  <a:t>Dado um exemplo de entrada, ela </a:t>
                </a:r>
                <a:r>
                  <a:rPr lang="pt-BR" b="1" dirty="0">
                    <a:solidFill>
                      <a:srgbClr val="00B050"/>
                    </a:solidFill>
                  </a:rPr>
                  <a:t>atribui</a:t>
                </a:r>
                <a:r>
                  <a:rPr lang="pt-BR" dirty="0"/>
                  <a:t> uma </a:t>
                </a:r>
                <a:r>
                  <a:rPr lang="pt-BR" b="1" dirty="0">
                    <a:solidFill>
                      <a:srgbClr val="00B050"/>
                    </a:solidFill>
                  </a:rPr>
                  <a:t>probabilidade</a:t>
                </a:r>
                <a:r>
                  <a:rPr lang="pt-BR" dirty="0">
                    <a:solidFill>
                      <a:srgbClr val="00B050"/>
                    </a:solidFill>
                  </a:rPr>
                  <a:t> </a:t>
                </a:r>
                <a:r>
                  <a:rPr lang="pt-BR" b="1" dirty="0">
                    <a:solidFill>
                      <a:srgbClr val="00B050"/>
                    </a:solidFill>
                  </a:rPr>
                  <a:t>para cada classe </a:t>
                </a:r>
                <a:r>
                  <a:rPr lang="pt-BR" dirty="0"/>
                  <a:t>possível.</a:t>
                </a:r>
              </a:p>
              <a:p>
                <a:r>
                  <a:rPr lang="pt-BR" dirty="0"/>
                  <a:t>É uma generalização da função sigmoide.</a:t>
                </a:r>
              </a:p>
            </p:txBody>
          </p:sp>
        </mc:Choice>
        <mc:Fallback>
          <p:sp>
            <p:nvSpPr>
              <p:cNvPr id="3" name="Espaço Reservado para Conteúdo 2">
                <a:extLst>
                  <a:ext uri="{FF2B5EF4-FFF2-40B4-BE49-F238E27FC236}">
                    <a16:creationId xmlns="" xmlns:a16="http://schemas.microsoft.com/office/drawing/2014/main" xmlns:a14="http://schemas.microsoft.com/office/drawing/2010/main" id="{BCAAD57B-65A0-9DAD-79FC-2AE2692EB84B}"/>
                  </a:ext>
                </a:extLst>
              </p:cNvPr>
              <p:cNvSpPr>
                <a:spLocks noGrp="1" noRot="1" noChangeAspect="1" noMove="1" noResize="1" noEditPoints="1" noAdjustHandles="1" noChangeArrowheads="1" noChangeShapeType="1" noTextEdit="1"/>
              </p:cNvSpPr>
              <p:nvPr>
                <p:ph idx="1"/>
              </p:nvPr>
            </p:nvSpPr>
            <p:spPr>
              <a:xfrm>
                <a:off x="838200" y="1825624"/>
                <a:ext cx="11232473" cy="5032375"/>
              </a:xfrm>
              <a:blipFill rotWithShape="0">
                <a:blip r:embed="rId3"/>
                <a:stretch>
                  <a:fillRect l="-977" t="-1937" r="-1140"/>
                </a:stretch>
              </a:blipFill>
            </p:spPr>
            <p:txBody>
              <a:bodyPr/>
              <a:lstStyle/>
              <a:p>
                <a:r>
                  <a:rPr lang="pt-BR">
                    <a:noFill/>
                  </a:rPr>
                  <a:t> </a:t>
                </a:r>
              </a:p>
            </p:txBody>
          </p:sp>
        </mc:Fallback>
      </mc:AlternateContent>
      <p:sp>
        <p:nvSpPr>
          <p:cNvPr id="5" name="Rectangle 11">
            <a:extLst>
              <a:ext uri="{FF2B5EF4-FFF2-40B4-BE49-F238E27FC236}">
                <a16:creationId xmlns="" xmlns:a16="http://schemas.microsoft.com/office/drawing/2014/main" id="{D1D7E603-A964-1188-9D09-B0C1E18592FA}"/>
              </a:ext>
            </a:extLst>
          </p:cNvPr>
          <p:cNvSpPr/>
          <p:nvPr/>
        </p:nvSpPr>
        <p:spPr>
          <a:xfrm>
            <a:off x="6677025" y="3843791"/>
            <a:ext cx="2143124" cy="57580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3750326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32DF54A1-52F5-C48C-7CD4-D6E451DF19D8}"/>
                  </a:ext>
                </a:extLst>
              </p:cNvPr>
              <p:cNvSpPr>
                <a:spLocks noGrp="1"/>
              </p:cNvSpPr>
              <p:nvPr>
                <p:ph idx="1"/>
              </p:nvPr>
            </p:nvSpPr>
            <p:spPr>
              <a:xfrm>
                <a:off x="6646606" y="1825624"/>
                <a:ext cx="5417575" cy="5032375"/>
              </a:xfrm>
            </p:spPr>
            <p:txBody>
              <a:bodyPr>
                <a:normAutofit/>
              </a:bodyPr>
              <a:lstStyle/>
              <a:p>
                <a:r>
                  <a:rPr lang="pt-BR" dirty="0"/>
                  <a:t>A função </a:t>
                </a:r>
                <a:r>
                  <a:rPr lang="pt-BR" i="1" dirty="0"/>
                  <a:t>softmax</a:t>
                </a:r>
                <a:r>
                  <a:rPr lang="pt-BR" dirty="0"/>
                  <a:t> </a:t>
                </a:r>
                <a:r>
                  <a:rPr lang="pt-BR" dirty="0">
                    <a:solidFill>
                      <a:schemeClr val="tx1"/>
                    </a:solidFill>
                  </a:rPr>
                  <a:t>o</a:t>
                </a:r>
                <a:r>
                  <a:rPr lang="pt-BR" b="0" i="0" dirty="0">
                    <a:solidFill>
                      <a:schemeClr val="tx1"/>
                    </a:solidFill>
                    <a:effectLst/>
                  </a:rPr>
                  <a:t>pera da seguinte maneira.</a:t>
                </a:r>
              </a:p>
              <a:p>
                <a:r>
                  <a:rPr lang="pt-BR" b="0" i="0" dirty="0">
                    <a:solidFill>
                      <a:schemeClr val="tx1"/>
                    </a:solidFill>
                    <a:effectLst/>
                  </a:rPr>
                  <a:t>Dado um </a:t>
                </a:r>
                <a:r>
                  <a:rPr lang="pt-BR" b="1" dirty="0">
                    <a:solidFill>
                      <a:srgbClr val="00B050"/>
                    </a:solidFill>
                    <a:effectLst/>
                  </a:rPr>
                  <a:t>vetor </a:t>
                </a:r>
                <a:r>
                  <a:rPr lang="pt-BR" b="1" dirty="0">
                    <a:solidFill>
                      <a:srgbClr val="00B050"/>
                    </a:solidFill>
                  </a:rPr>
                  <a:t>com</a:t>
                </a:r>
                <a:r>
                  <a:rPr lang="pt-BR" b="1" dirty="0">
                    <a:solidFill>
                      <a:srgbClr val="00B050"/>
                    </a:solidFill>
                    <a:effectLst/>
                  </a:rPr>
                  <a:t> valores de funções discriminantes</a:t>
                </a:r>
                <a:r>
                  <a:rPr lang="pt-BR" b="0" i="0" dirty="0">
                    <a:solidFill>
                      <a:schemeClr val="tx1"/>
                    </a:solidFill>
                    <a:effectLst/>
                  </a:rPr>
                  <a:t>, </a:t>
                </a:r>
                <a14:m>
                  <m:oMath xmlns:m="http://schemas.openxmlformats.org/officeDocument/2006/math">
                    <m:sSub>
                      <m:sSubPr>
                        <m:ctrlPr>
                          <a:rPr lang="pt-BR" sz="2800" i="1" smtClean="0">
                            <a:solidFill>
                              <a:schemeClr val="tx1"/>
                            </a:solidFill>
                            <a:latin typeface="Cambria Math" panose="02040503050406030204" pitchFamily="18" charset="0"/>
                          </a:rPr>
                        </m:ctrlPr>
                      </m:sSubPr>
                      <m:e>
                        <m:r>
                          <a:rPr lang="pt-BR" sz="2800" i="1">
                            <a:solidFill>
                              <a:schemeClr val="tx1"/>
                            </a:solidFill>
                            <a:latin typeface="Cambria Math" panose="02040503050406030204" pitchFamily="18" charset="0"/>
                          </a:rPr>
                          <m:t>𝑔</m:t>
                        </m:r>
                      </m:e>
                      <m:sub>
                        <m:r>
                          <a:rPr lang="pt-BR" sz="2800" b="0" i="1" smtClean="0">
                            <a:solidFill>
                              <a:schemeClr val="tx1"/>
                            </a:solidFill>
                            <a:latin typeface="Cambria Math" panose="02040503050406030204" pitchFamily="18" charset="0"/>
                          </a:rPr>
                          <m:t>𝑞</m:t>
                        </m:r>
                      </m:sub>
                    </m:sSub>
                    <m:d>
                      <m:dPr>
                        <m:ctrlPr>
                          <a:rPr lang="pt-BR" sz="2800" i="1">
                            <a:solidFill>
                              <a:schemeClr val="tx1"/>
                            </a:solidFill>
                            <a:latin typeface="Cambria Math" panose="02040503050406030204" pitchFamily="18" charset="0"/>
                          </a:rPr>
                        </m:ctrlPr>
                      </m:dPr>
                      <m:e>
                        <m:r>
                          <a:rPr lang="pt-BR" sz="2800" b="1" i="1">
                            <a:solidFill>
                              <a:schemeClr val="tx1"/>
                            </a:solidFill>
                            <a:latin typeface="Cambria Math" panose="02040503050406030204" pitchFamily="18" charset="0"/>
                          </a:rPr>
                          <m:t>𝒙</m:t>
                        </m:r>
                        <m:r>
                          <a:rPr lang="pt-BR" sz="2800" b="0" i="1" smtClean="0">
                            <a:solidFill>
                              <a:schemeClr val="tx1"/>
                            </a:solidFill>
                            <a:latin typeface="Cambria Math" panose="02040503050406030204" pitchFamily="18" charset="0"/>
                          </a:rPr>
                          <m:t>(</m:t>
                        </m:r>
                        <m:r>
                          <a:rPr lang="pt-BR" sz="2800" b="0" i="1" smtClean="0">
                            <a:solidFill>
                              <a:schemeClr val="tx1"/>
                            </a:solidFill>
                            <a:latin typeface="Cambria Math" panose="02040503050406030204" pitchFamily="18" charset="0"/>
                          </a:rPr>
                          <m:t>𝑛</m:t>
                        </m:r>
                        <m:r>
                          <a:rPr lang="pt-BR" sz="2800" b="0" i="1" smtClean="0">
                            <a:solidFill>
                              <a:schemeClr val="tx1"/>
                            </a:solidFill>
                            <a:latin typeface="Cambria Math" panose="02040503050406030204" pitchFamily="18" charset="0"/>
                          </a:rPr>
                          <m:t>)</m:t>
                        </m:r>
                      </m:e>
                    </m:d>
                    <m:r>
                      <a:rPr lang="pt-BR" sz="2800" b="0" i="1" smtClean="0">
                        <a:solidFill>
                          <a:schemeClr val="tx1"/>
                        </a:solidFill>
                        <a:latin typeface="Cambria Math" panose="02040503050406030204" pitchFamily="18" charset="0"/>
                      </a:rPr>
                      <m:t>,</m:t>
                    </m:r>
                    <m:r>
                      <a:rPr lang="pt-BR" sz="2800" i="1" smtClean="0">
                        <a:solidFill>
                          <a:schemeClr val="tx1"/>
                        </a:solidFill>
                        <a:latin typeface="Cambria Math" panose="02040503050406030204" pitchFamily="18" charset="0"/>
                        <a:ea typeface="Cambria Math" panose="02040503050406030204" pitchFamily="18" charset="0"/>
                      </a:rPr>
                      <m:t>∀</m:t>
                    </m:r>
                    <m:r>
                      <a:rPr lang="pt-BR" sz="2800" b="0" i="1" smtClean="0">
                        <a:solidFill>
                          <a:schemeClr val="tx1"/>
                        </a:solidFill>
                        <a:latin typeface="Cambria Math" panose="02040503050406030204" pitchFamily="18" charset="0"/>
                        <a:ea typeface="Cambria Math" panose="02040503050406030204" pitchFamily="18" charset="0"/>
                      </a:rPr>
                      <m:t>𝑞</m:t>
                    </m:r>
                  </m:oMath>
                </a14:m>
                <a:r>
                  <a:rPr lang="pt-BR" b="0" i="0" dirty="0">
                    <a:solidFill>
                      <a:schemeClr val="tx1"/>
                    </a:solidFill>
                    <a:effectLst/>
                  </a:rPr>
                  <a:t>, ela</a:t>
                </a:r>
                <a:endParaRPr lang="pt-BR" dirty="0"/>
              </a:p>
              <a:p>
                <a:pPr lvl="1">
                  <a:buFont typeface="Wingdings" panose="05000000000000000000" pitchFamily="2" charset="2"/>
                  <a:buChar char="§"/>
                </a:pPr>
                <a:r>
                  <a:rPr lang="pt-BR" b="0" i="0" dirty="0">
                    <a:solidFill>
                      <a:schemeClr val="tx1"/>
                    </a:solidFill>
                    <a:effectLst/>
                  </a:rPr>
                  <a:t>calcula a exponencial de cada função discriminante, </a:t>
                </a:r>
              </a:p>
              <a:p>
                <a:pPr lvl="1">
                  <a:buFont typeface="Wingdings" panose="05000000000000000000" pitchFamily="2" charset="2"/>
                  <a:buChar char="§"/>
                </a:pPr>
                <a:r>
                  <a:rPr lang="pt-BR" b="0" i="0" dirty="0">
                    <a:solidFill>
                      <a:schemeClr val="tx1"/>
                    </a:solidFill>
                    <a:effectLst/>
                  </a:rPr>
                  <a:t>normaliza essas exponenciais dividindo-as pela soma de todas as exponenciais, gerando uma distribuição de probabilidades das classes.</a:t>
                </a:r>
              </a:p>
            </p:txBody>
          </p:sp>
        </mc:Choice>
        <mc:Fallback xmlns="">
          <p:sp>
            <p:nvSpPr>
              <p:cNvPr id="3" name="Espaço Reservado para Conteúdo 2">
                <a:extLst>
                  <a:ext uri="{FF2B5EF4-FFF2-40B4-BE49-F238E27FC236}">
                    <a16:creationId xmlns:a16="http://schemas.microsoft.com/office/drawing/2014/main" id="{32DF54A1-52F5-C48C-7CD4-D6E451DF19D8}"/>
                  </a:ext>
                </a:extLst>
              </p:cNvPr>
              <p:cNvSpPr>
                <a:spLocks noGrp="1" noRot="1" noChangeAspect="1" noMove="1" noResize="1" noEditPoints="1" noAdjustHandles="1" noChangeArrowheads="1" noChangeShapeType="1" noTextEdit="1"/>
              </p:cNvSpPr>
              <p:nvPr>
                <p:ph idx="1"/>
              </p:nvPr>
            </p:nvSpPr>
            <p:spPr>
              <a:xfrm>
                <a:off x="6646606" y="1825624"/>
                <a:ext cx="5417575" cy="5032375"/>
              </a:xfrm>
              <a:blipFill>
                <a:blip r:embed="rId2"/>
                <a:stretch>
                  <a:fillRect l="-2025" t="-1937"/>
                </a:stretch>
              </a:blipFill>
            </p:spPr>
            <p:txBody>
              <a:bodyPr/>
              <a:lstStyle/>
              <a:p>
                <a:r>
                  <a:rPr lang="en-US">
                    <a:noFill/>
                  </a:rPr>
                  <a:t> </a:t>
                </a:r>
              </a:p>
            </p:txBody>
          </p:sp>
        </mc:Fallback>
      </mc:AlternateContent>
      <p:pic>
        <p:nvPicPr>
          <p:cNvPr id="6" name="Imagem 5">
            <a:extLst>
              <a:ext uri="{FF2B5EF4-FFF2-40B4-BE49-F238E27FC236}">
                <a16:creationId xmlns="" xmlns:a16="http://schemas.microsoft.com/office/drawing/2014/main" id="{ED5D1F5D-F195-0452-50D4-07E9F2B1C49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559" y="2536723"/>
            <a:ext cx="6066351" cy="2487561"/>
          </a:xfrm>
          <a:prstGeom prst="rect">
            <a:avLst/>
          </a:prstGeom>
        </p:spPr>
      </p:pic>
      <p:sp>
        <p:nvSpPr>
          <p:cNvPr id="8" name="CaixaDeTexto 7">
            <a:extLst>
              <a:ext uri="{FF2B5EF4-FFF2-40B4-BE49-F238E27FC236}">
                <a16:creationId xmlns="" xmlns:a16="http://schemas.microsoft.com/office/drawing/2014/main"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xmlns:a14="http://schemas.microsoft.com/office/drawing/2010/main">
        <mc:Choice Requires="a14">
          <p:sp>
            <p:nvSpPr>
              <p:cNvPr id="4" name="CaixaDeTexto 3">
                <a:extLst>
                  <a:ext uri="{FF2B5EF4-FFF2-40B4-BE49-F238E27FC236}">
                    <a16:creationId xmlns="" xmlns:a16="http://schemas.microsoft.com/office/drawing/2014/main"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spTree>
    <p:extLst>
      <p:ext uri="{BB962C8B-B14F-4D97-AF65-F5344CB8AC3E}">
        <p14:creationId xmlns:p14="http://schemas.microsoft.com/office/powerpoint/2010/main" val="2357809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32DF54A1-52F5-C48C-7CD4-D6E451DF19D8}"/>
                  </a:ext>
                </a:extLst>
              </p:cNvPr>
              <p:cNvSpPr>
                <a:spLocks noGrp="1"/>
              </p:cNvSpPr>
              <p:nvPr>
                <p:ph idx="1"/>
              </p:nvPr>
            </p:nvSpPr>
            <p:spPr>
              <a:xfrm>
                <a:off x="838200" y="1825624"/>
                <a:ext cx="11225981" cy="5032375"/>
              </a:xfrm>
            </p:spPr>
            <p:txBody>
              <a:bodyPr>
                <a:normAutofit/>
              </a:bodyPr>
              <a:lstStyle/>
              <a:p>
                <a:r>
                  <a:rPr lang="pt-BR" b="0" dirty="0">
                    <a:effectLst/>
                  </a:rPr>
                  <a:t>Ela </a:t>
                </a:r>
                <a:r>
                  <a:rPr lang="pt-BR" b="1" dirty="0">
                    <a:solidFill>
                      <a:srgbClr val="00B050"/>
                    </a:solidFill>
                    <a:effectLst/>
                  </a:rPr>
                  <a:t>garante que as saídas estejam no intervalo entre 0 e </a:t>
                </a:r>
                <a:r>
                  <a:rPr lang="pt-BR" b="1" dirty="0" smtClean="0">
                    <a:solidFill>
                      <a:srgbClr val="00B050"/>
                    </a:solidFill>
                    <a:effectLst/>
                  </a:rPr>
                  <a:t>1 </a:t>
                </a:r>
                <a:r>
                  <a:rPr lang="pt-BR" b="1" dirty="0">
                    <a:solidFill>
                      <a:srgbClr val="00B050"/>
                    </a:solidFill>
                    <a:effectLst/>
                  </a:rPr>
                  <a:t>e a soma de todas as saídas seja igual a 1</a:t>
                </a:r>
                <a:r>
                  <a:rPr lang="pt-BR" b="0" dirty="0">
                    <a:effectLst/>
                  </a:rPr>
                  <a:t>, tornando-as interpretáveis como uma </a:t>
                </a:r>
                <a:r>
                  <a:rPr lang="pt-BR" b="1" dirty="0">
                    <a:solidFill>
                      <a:srgbClr val="00B050"/>
                    </a:solidFill>
                    <a:effectLst/>
                  </a:rPr>
                  <a:t>função massa de probabilidade </a:t>
                </a:r>
                <a:r>
                  <a:rPr lang="pt-BR" b="1" dirty="0" err="1">
                    <a:solidFill>
                      <a:srgbClr val="00B050"/>
                    </a:solidFill>
                    <a:effectLst/>
                  </a:rPr>
                  <a:t>multinomial</a:t>
                </a:r>
                <a:r>
                  <a:rPr lang="pt-BR" b="0" dirty="0">
                    <a:effectLst/>
                  </a:rPr>
                  <a:t>.</a:t>
                </a:r>
              </a:p>
              <a:p>
                <a:r>
                  <a:rPr lang="pt-BR" dirty="0"/>
                  <a:t>Ela</a:t>
                </a:r>
                <a:r>
                  <a:rPr lang="pt-BR" b="1" i="1" dirty="0"/>
                  <a:t> </a:t>
                </a:r>
                <a:r>
                  <a:rPr lang="pt-BR" dirty="0"/>
                  <a:t>atribui uma </a:t>
                </a:r>
                <a:r>
                  <a:rPr lang="pt-BR" b="1" dirty="0"/>
                  <a:t>probabilidade condicional</a:t>
                </a:r>
                <a:r>
                  <a:rPr lang="pt-BR" dirty="0"/>
                  <a:t>,</a:t>
                </a:r>
                <a:r>
                  <a:rPr lang="pt-BR" b="1" i="1" dirty="0"/>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smtClean="0">
                        <a:latin typeface="Cambria Math" panose="02040503050406030204" pitchFamily="18" charset="0"/>
                        <a:ea typeface="Cambria Math" panose="02040503050406030204" pitchFamily="18" charset="0"/>
                      </a:rPr>
                      <m:t>∈</m:t>
                    </m:r>
                    <m:d>
                      <m:dPr>
                        <m:begChr m:val="["/>
                        <m:endChr m:val="]"/>
                        <m:ctrlPr>
                          <a:rPr lang="pt-BR"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0, 1</m:t>
                        </m:r>
                      </m:e>
                    </m:d>
                  </m:oMath>
                </a14:m>
                <a:r>
                  <a:rPr lang="pt-BR" dirty="0"/>
                  <a:t>, a cada classe, </a:t>
                </a:r>
                <a14:m>
                  <m:oMath xmlns:m="http://schemas.openxmlformats.org/officeDocument/2006/math">
                    <m:r>
                      <a:rPr lang="pt-BR" i="1">
                        <a:latin typeface="Cambria Math" panose="02040503050406030204" pitchFamily="18" charset="0"/>
                      </a:rPr>
                      <m:t>𝑞</m:t>
                    </m:r>
                  </m:oMath>
                </a14:m>
                <a:r>
                  <a:rPr lang="pt-BR" dirty="0"/>
                  <a:t>, onde </a:t>
                </a:r>
                <a:r>
                  <a:rPr lang="pt-BR" b="1" dirty="0">
                    <a:solidFill>
                      <a:srgbClr val="00B050"/>
                    </a:solidFill>
                  </a:rPr>
                  <a:t>a soma das </a:t>
                </a:r>
                <a14:m>
                  <m:oMath xmlns:m="http://schemas.openxmlformats.org/officeDocument/2006/math">
                    <m:r>
                      <a:rPr lang="pt-BR" b="1" i="0">
                        <a:solidFill>
                          <a:srgbClr val="00B050"/>
                        </a:solidFill>
                        <a:latin typeface="Cambria Math" panose="02040503050406030204" pitchFamily="18" charset="0"/>
                      </a:rPr>
                      <m:t>𝐐</m:t>
                    </m:r>
                  </m:oMath>
                </a14:m>
                <a:r>
                  <a:rPr lang="pt-BR" b="1" dirty="0">
                    <a:solidFill>
                      <a:srgbClr val="00B050"/>
                    </a:solidFill>
                  </a:rPr>
                  <a:t> probabilidades deve ser igual a 1</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0</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0</m:t>
                            </m:r>
                          </m:sub>
                        </m:sSub>
                      </m:e>
                    </m:d>
                    <m:r>
                      <a:rPr lang="pt-BR" i="1">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m:t>
                            </m:r>
                            <m:r>
                              <a:rPr lang="pt-BR" b="1" i="1">
                                <a:latin typeface="Cambria Math" panose="02040503050406030204" pitchFamily="18" charset="0"/>
                              </a:rPr>
                              <m:t>𝒂</m:t>
                            </m:r>
                          </m:e>
                          <m:sub>
                            <m:r>
                              <a:rPr lang="pt-BR" i="1">
                                <a:latin typeface="Cambria Math" panose="02040503050406030204" pitchFamily="18" charset="0"/>
                              </a:rPr>
                              <m:t>1</m:t>
                            </m:r>
                          </m:sub>
                        </m:sSub>
                      </m:e>
                    </m:d>
                    <m:r>
                      <a:rPr lang="pt-BR">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i="1">
                                <a:latin typeface="Cambria Math" panose="02040503050406030204" pitchFamily="18" charset="0"/>
                              </a:rPr>
                              <m:t>−1</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𝑄</m:t>
                            </m:r>
                            <m:r>
                              <a:rPr lang="pt-BR" i="1">
                                <a:latin typeface="Cambria Math" panose="02040503050406030204" pitchFamily="18" charset="0"/>
                              </a:rPr>
                              <m:t>−1</m:t>
                            </m:r>
                          </m:sub>
                        </m:sSub>
                      </m:e>
                    </m:d>
                    <m:r>
                      <a:rPr lang="pt-BR" i="1">
                        <a:latin typeface="Cambria Math" panose="02040503050406030204" pitchFamily="18" charset="0"/>
                      </a:rPr>
                      <m:t>=1</m:t>
                    </m:r>
                  </m:oMath>
                </a14:m>
                <a:r>
                  <a:rPr lang="pt-BR" dirty="0"/>
                  <a:t>.</a:t>
                </a:r>
              </a:p>
            </p:txBody>
          </p:sp>
        </mc:Choice>
        <mc:Fallback>
          <p:sp>
            <p:nvSpPr>
              <p:cNvPr id="3" name="Espaço Reservado para Conteúdo 2">
                <a:extLst>
                  <a:ext uri="{FF2B5EF4-FFF2-40B4-BE49-F238E27FC236}">
                    <a16:creationId xmlns="" xmlns:a16="http://schemas.microsoft.com/office/drawing/2014/main"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838200" y="1825624"/>
                <a:ext cx="11225981" cy="5032375"/>
              </a:xfrm>
              <a:blipFill rotWithShape="0">
                <a:blip r:embed="rId3"/>
                <a:stretch>
                  <a:fillRect l="-978" t="-1937"/>
                </a:stretch>
              </a:blipFill>
            </p:spPr>
            <p:txBody>
              <a:bodyPr/>
              <a:lstStyle/>
              <a:p>
                <a:r>
                  <a:rPr lang="pt-BR">
                    <a:noFill/>
                  </a:rPr>
                  <a:t> </a:t>
                </a:r>
              </a:p>
            </p:txBody>
          </p:sp>
        </mc:Fallback>
      </mc:AlternateContent>
      <p:pic>
        <p:nvPicPr>
          <p:cNvPr id="6" name="Imagem 5">
            <a:extLst>
              <a:ext uri="{FF2B5EF4-FFF2-40B4-BE49-F238E27FC236}">
                <a16:creationId xmlns="" xmlns:a16="http://schemas.microsoft.com/office/drawing/2014/main" id="{ED5D1F5D-F195-0452-50D4-07E9F2B1C49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590832" y="4709525"/>
            <a:ext cx="5010336" cy="2054533"/>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 xmlns:a16="http://schemas.microsoft.com/office/drawing/2014/main" id="{2B7728A0-505D-9DAE-23EC-8172E2EEEFA9}"/>
                  </a:ext>
                </a:extLst>
              </p:cNvPr>
              <p:cNvSpPr txBox="1"/>
              <p:nvPr/>
            </p:nvSpPr>
            <p:spPr>
              <a:xfrm>
                <a:off x="8601168" y="6488667"/>
                <a:ext cx="2701189"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=5</m:t>
                    </m:r>
                  </m:oMath>
                </a14:m>
                <a:r>
                  <a:rPr lang="pt-BR" dirty="0"/>
                  <a:t> (número de classes)</a:t>
                </a:r>
              </a:p>
            </p:txBody>
          </p:sp>
        </mc:Choice>
        <mc:Fallback xmlns="">
          <p:sp>
            <p:nvSpPr>
              <p:cNvPr id="4" name="CaixaDeTexto 3">
                <a:extLst>
                  <a:ext uri="{FF2B5EF4-FFF2-40B4-BE49-F238E27FC236}">
                    <a16:creationId xmlns:a16="http://schemas.microsoft.com/office/drawing/2014/main" id="{2B7728A0-505D-9DAE-23EC-8172E2EEEFA9}"/>
                  </a:ext>
                </a:extLst>
              </p:cNvPr>
              <p:cNvSpPr txBox="1">
                <a:spLocks noRot="1" noChangeAspect="1" noMove="1" noResize="1" noEditPoints="1" noAdjustHandles="1" noChangeArrowheads="1" noChangeShapeType="1" noTextEdit="1"/>
              </p:cNvSpPr>
              <p:nvPr/>
            </p:nvSpPr>
            <p:spPr>
              <a:xfrm>
                <a:off x="8601168" y="6488667"/>
                <a:ext cx="2701189" cy="369332"/>
              </a:xfrm>
              <a:prstGeom prst="rect">
                <a:avLst/>
              </a:prstGeom>
              <a:blipFill>
                <a:blip r:embed="rId5"/>
                <a:stretch>
                  <a:fillRect l="-451" t="-8197" r="-1354" b="-24590"/>
                </a:stretch>
              </a:blipFill>
            </p:spPr>
            <p:txBody>
              <a:bodyPr/>
              <a:lstStyle/>
              <a:p>
                <a:r>
                  <a:rPr lang="en-US">
                    <a:noFill/>
                  </a:rPr>
                  <a:t> </a:t>
                </a:r>
              </a:p>
            </p:txBody>
          </p:sp>
        </mc:Fallback>
      </mc:AlternateContent>
    </p:spTree>
    <p:extLst>
      <p:ext uri="{BB962C8B-B14F-4D97-AF65-F5344CB8AC3E}">
        <p14:creationId xmlns:p14="http://schemas.microsoft.com/office/powerpoint/2010/main" val="7994226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28A152F-93D8-11FA-9B7A-B62AE5BB6486}"/>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3535727-BB24-BB15-5C03-3DA9A3F9A09A}"/>
                  </a:ext>
                </a:extLst>
              </p:cNvPr>
              <p:cNvSpPr>
                <a:spLocks noGrp="1"/>
              </p:cNvSpPr>
              <p:nvPr>
                <p:ph idx="1"/>
              </p:nvPr>
            </p:nvSpPr>
            <p:spPr>
              <a:xfrm>
                <a:off x="6096001" y="1825624"/>
                <a:ext cx="5998028" cy="5032375"/>
              </a:xfrm>
            </p:spPr>
            <p:txBody>
              <a:bodyPr>
                <a:normAutofit/>
              </a:bodyPr>
              <a:lstStyle/>
              <a:p>
                <a:r>
                  <a:rPr lang="pt-BR" dirty="0"/>
                  <a:t>Assim como com o regressor logístico, podemos usar </a:t>
                </a:r>
                <a:r>
                  <a:rPr lang="pt-BR" b="1" dirty="0"/>
                  <a:t>hiperplanos</a:t>
                </a:r>
                <a:r>
                  <a:rPr lang="pt-BR" dirty="0"/>
                  <a:t> ou </a:t>
                </a:r>
                <a:r>
                  <a:rPr lang="pt-BR" b="1" dirty="0"/>
                  <a:t>polinômios</a:t>
                </a:r>
                <a:r>
                  <a:rPr lang="pt-BR" dirty="0"/>
                  <a:t> como </a:t>
                </a:r>
                <a:r>
                  <a:rPr lang="pt-BR" b="1" dirty="0"/>
                  <a:t>funções discriminantes</a:t>
                </a:r>
                <a:r>
                  <a:rPr lang="pt-BR" dirty="0"/>
                  <a:t>.</a:t>
                </a:r>
              </a:p>
              <a:p>
                <a:r>
                  <a:rPr lang="pt-BR" dirty="0"/>
                  <a:t>Nosso objetivo é encontrar um </a:t>
                </a:r>
                <a:r>
                  <a:rPr lang="pt-BR" b="1" dirty="0"/>
                  <a:t>modelo</a:t>
                </a:r>
                <a:r>
                  <a:rPr lang="pt-BR" dirty="0"/>
                  <a:t> (i.e., </a:t>
                </a:r>
                <a:r>
                  <a:rPr lang="pt-BR" b="1" dirty="0"/>
                  <a:t>equação</a:t>
                </a:r>
                <a:r>
                  <a:rPr lang="pt-BR" dirty="0"/>
                  <a:t> e os respectivos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hipótese) que </a:t>
                </a:r>
                <a:r>
                  <a:rPr lang="pt-BR" b="1" dirty="0">
                    <a:solidFill>
                      <a:srgbClr val="00B050"/>
                    </a:solidFill>
                  </a:rPr>
                  <a:t>atribua uma alta probabilidade para a classe alvo </a:t>
                </a:r>
                <a:r>
                  <a:rPr lang="pt-BR" dirty="0"/>
                  <a:t>e, consequentemente, </a:t>
                </a:r>
                <a:r>
                  <a:rPr lang="pt-BR" b="1" dirty="0">
                    <a:solidFill>
                      <a:srgbClr val="00B050"/>
                    </a:solidFill>
                  </a:rPr>
                  <a:t>uma baixa probabilidade para as demais classes</a:t>
                </a:r>
                <a:r>
                  <a:rPr lang="pt-BR" dirty="0"/>
                  <a:t>.</a:t>
                </a:r>
              </a:p>
              <a:p>
                <a:pPr marL="0" indent="0" algn="ctr">
                  <a:buNone/>
                </a:pPr>
                <a:endParaRPr lang="pt-BR" dirty="0"/>
              </a:p>
            </p:txBody>
          </p:sp>
        </mc:Choice>
        <mc:Fallback xmlns="">
          <p:sp>
            <p:nvSpPr>
              <p:cNvPr id="3" name="Espaço Reservado para Conteúdo 2">
                <a:extLst>
                  <a:ext uri="{FF2B5EF4-FFF2-40B4-BE49-F238E27FC236}">
                    <a16:creationId xmlns:a16="http://schemas.microsoft.com/office/drawing/2014/main" id="{B3535727-BB24-BB15-5C03-3DA9A3F9A09A}"/>
                  </a:ext>
                </a:extLst>
              </p:cNvPr>
              <p:cNvSpPr>
                <a:spLocks noGrp="1" noRot="1" noChangeAspect="1" noMove="1" noResize="1" noEditPoints="1" noAdjustHandles="1" noChangeArrowheads="1" noChangeShapeType="1" noTextEdit="1"/>
              </p:cNvSpPr>
              <p:nvPr>
                <p:ph idx="1"/>
              </p:nvPr>
            </p:nvSpPr>
            <p:spPr>
              <a:xfrm>
                <a:off x="6096001" y="1825624"/>
                <a:ext cx="5998028" cy="5032375"/>
              </a:xfrm>
              <a:blipFill>
                <a:blip r:embed="rId3"/>
                <a:stretch>
                  <a:fillRect l="-1829" t="-1937" r="-2846"/>
                </a:stretch>
              </a:blipFill>
            </p:spPr>
            <p:txBody>
              <a:bodyPr/>
              <a:lstStyle/>
              <a:p>
                <a:r>
                  <a:rPr lang="en-US">
                    <a:noFill/>
                  </a:rPr>
                  <a:t> </a:t>
                </a:r>
              </a:p>
            </p:txBody>
          </p:sp>
        </mc:Fallback>
      </mc:AlternateContent>
      <p:pic>
        <p:nvPicPr>
          <p:cNvPr id="4" name="Imagem 5">
            <a:extLst>
              <a:ext uri="{FF2B5EF4-FFF2-40B4-BE49-F238E27FC236}">
                <a16:creationId xmlns="" xmlns:a16="http://schemas.microsoft.com/office/drawing/2014/main" id="{42A1713D-06B5-FB35-8488-833F7CAB716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4041" y="2536723"/>
            <a:ext cx="6066351" cy="2487561"/>
          </a:xfrm>
          <a:prstGeom prst="rect">
            <a:avLst/>
          </a:prstGeom>
        </p:spPr>
      </p:pic>
    </p:spTree>
    <p:extLst>
      <p:ext uri="{BB962C8B-B14F-4D97-AF65-F5344CB8AC3E}">
        <p14:creationId xmlns:p14="http://schemas.microsoft.com/office/powerpoint/2010/main" val="7651989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2DB9D242-5419-0FFB-7863-B3BB3BD80869}"/>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 xmlns:a16="http://schemas.microsoft.com/office/drawing/2014/main" id="{34B1DEA3-BAAD-D90C-CD9D-99A5A24F4544}"/>
                  </a:ext>
                </a:extLst>
              </p:cNvPr>
              <p:cNvSpPr>
                <a:spLocks noGrp="1"/>
              </p:cNvSpPr>
              <p:nvPr>
                <p:ph idx="1"/>
              </p:nvPr>
            </p:nvSpPr>
            <p:spPr>
              <a:xfrm>
                <a:off x="838199" y="1825624"/>
                <a:ext cx="11353801" cy="5032375"/>
              </a:xfrm>
            </p:spPr>
            <p:txBody>
              <a:bodyPr>
                <a:normAutofit/>
              </a:bodyPr>
              <a:lstStyle/>
              <a:p>
                <a:r>
                  <a:rPr lang="pt-BR" dirty="0"/>
                  <a:t>Para atingir o objetivo, devemos definir uma </a:t>
                </a:r>
                <a:r>
                  <a:rPr lang="pt-BR" b="1" dirty="0"/>
                  <a:t>função de erro </a:t>
                </a:r>
                <a:r>
                  <a:rPr lang="pt-BR" dirty="0"/>
                  <a:t>a ser </a:t>
                </a:r>
                <a:r>
                  <a:rPr lang="pt-BR" b="1" dirty="0">
                    <a:solidFill>
                      <a:srgbClr val="7030A0"/>
                    </a:solidFill>
                  </a:rPr>
                  <a:t>minimizada</a:t>
                </a:r>
                <a:r>
                  <a:rPr lang="pt-BR" dirty="0"/>
                  <a:t>.</a:t>
                </a:r>
              </a:p>
              <a:p>
                <a:r>
                  <a:rPr lang="pt-BR" dirty="0"/>
                  <a:t>Usamos a </a:t>
                </a:r>
                <a:r>
                  <a:rPr lang="pt-BR" b="1" dirty="0">
                    <a:solidFill>
                      <a:schemeClr val="accent2"/>
                    </a:solidFill>
                  </a:rPr>
                  <a:t>generalização da função da entropia cruzada</a:t>
                </a:r>
                <a:r>
                  <a:rPr lang="pt-BR" dirty="0"/>
                  <a:t>, chamada de </a:t>
                </a:r>
                <a:r>
                  <a:rPr lang="pt-BR" b="1" dirty="0"/>
                  <a:t>entropia cruzada categórica</a:t>
                </a:r>
                <a:r>
                  <a:rPr lang="pt-BR" dirty="0"/>
                  <a:t>, a qual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r>
                        <a:rPr lang="pt-BR" i="1">
                          <a:latin typeface="Cambria Math" panose="02040503050406030204" pitchFamily="18" charset="0"/>
                        </a:rPr>
                        <m:t>,</m:t>
                      </m:r>
                    </m:oMath>
                  </m:oMathPara>
                </a14:m>
                <a:endParaRPr lang="pt-BR" dirty="0"/>
              </a:p>
              <a:p>
                <a:pPr marL="0" indent="0">
                  <a:buNone/>
                </a:pPr>
                <a:r>
                  <a:rPr lang="pt-BR" dirty="0"/>
                  <a:t>onde 1{⋅} é a </a:t>
                </a:r>
                <a:r>
                  <a:rPr lang="pt-BR" b="1" dirty="0"/>
                  <a:t>função indicadora </a:t>
                </a:r>
                <a:r>
                  <a:rPr lang="pt-BR" dirty="0"/>
                  <a:t>(1{condição verdadeira} = 1 e 1{condição falsa} = 0), </a:t>
                </a:r>
                <a14:m>
                  <m:oMath xmlns:m="http://schemas.openxmlformats.org/officeDocument/2006/math">
                    <m:r>
                      <a:rPr lang="pt-BR" b="1" i="1" smtClean="0">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a:t>
                </a:r>
                <a:r>
                  <a:rPr lang="pt-BR" b="1" dirty="0"/>
                  <a:t>funções hipótese</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é rótulo do </a:t>
                </a:r>
                <a14:m>
                  <m:oMath xmlns:m="http://schemas.openxmlformats.org/officeDocument/2006/math">
                    <m:r>
                      <a:rPr lang="pt-BR" i="1">
                        <a:latin typeface="Cambria Math" panose="02040503050406030204" pitchFamily="18" charset="0"/>
                      </a:rPr>
                      <m:t>𝑛</m:t>
                    </m:r>
                  </m:oMath>
                </a14:m>
                <a:r>
                  <a:rPr lang="pt-BR" dirty="0"/>
                  <a:t>-ésimo exemplo e </a:t>
                </a:r>
                <a14:m>
                  <m:oMath xmlns:m="http://schemas.openxmlformats.org/officeDocument/2006/math">
                    <m:sSubSup>
                      <m:sSubSupPr>
                        <m:ctrlPr>
                          <a:rPr lang="pt-BR" b="1" i="1">
                            <a:latin typeface="Cambria Math" panose="02040503050406030204" pitchFamily="18" charset="0"/>
                          </a:rPr>
                        </m:ctrlPr>
                      </m:sSubSupPr>
                      <m:e>
                        <m:acc>
                          <m:accPr>
                            <m:chr m:val="̂"/>
                            <m:ctrlPr>
                              <a:rPr lang="pt-BR" i="1">
                                <a:latin typeface="Cambria Math" panose="02040503050406030204" pitchFamily="18" charset="0"/>
                              </a:rPr>
                            </m:ctrlPr>
                          </m:accPr>
                          <m:e>
                            <m:r>
                              <a:rPr lang="pt-BR" b="0" i="1">
                                <a:latin typeface="Cambria Math" panose="02040503050406030204" pitchFamily="18" charset="0"/>
                              </a:rPr>
                              <m:t>𝑦</m:t>
                            </m:r>
                          </m:e>
                        </m:acc>
                        <m:r>
                          <a:rPr lang="pt-BR" b="0"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o </a:t>
                </a:r>
                <a14:m>
                  <m:oMath xmlns:m="http://schemas.openxmlformats.org/officeDocument/2006/math">
                    <m:r>
                      <a:rPr lang="pt-BR" i="1">
                        <a:latin typeface="Cambria Math" panose="02040503050406030204" pitchFamily="18" charset="0"/>
                      </a:rPr>
                      <m:t>𝑛</m:t>
                    </m:r>
                  </m:oMath>
                </a14:m>
                <a:r>
                  <a:rPr lang="pt-BR" dirty="0"/>
                  <a:t>-ésimo exemplo.</a:t>
                </a:r>
              </a:p>
              <a:p>
                <a:pPr lvl="1">
                  <a:buFont typeface="Wingdings" panose="05000000000000000000" pitchFamily="2" charset="2"/>
                  <a:buChar char="§"/>
                </a:pPr>
                <a:r>
                  <a:rPr lang="pt-BR" b="1" dirty="0" smtClean="0"/>
                  <a:t>OBS</a:t>
                </a:r>
                <a:r>
                  <a:rPr lang="pt-BR" dirty="0" smtClean="0"/>
                  <a:t>.: O </a:t>
                </a:r>
                <a:r>
                  <a:rPr lang="pt-BR" dirty="0"/>
                  <a:t>erro tende a 0 quando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oMath>
                </a14:m>
                <a:r>
                  <a:rPr lang="pt-BR" dirty="0"/>
                  <a:t> tende a 1, caso contrário, o erro aumenta.</a:t>
                </a:r>
              </a:p>
            </p:txBody>
          </p:sp>
        </mc:Choice>
        <mc:Fallback>
          <p:sp>
            <p:nvSpPr>
              <p:cNvPr id="3" name="Content Placeholder 2">
                <a:extLst>
                  <a:ext uri="{FF2B5EF4-FFF2-40B4-BE49-F238E27FC236}">
                    <a16:creationId xmlns="" xmlns:a16="http://schemas.microsoft.com/office/drawing/2014/main" xmlns:a14="http://schemas.microsoft.com/office/drawing/2010/main" id="{34B1DEA3-BAAD-D90C-CD9D-99A5A24F454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2"/>
                <a:stretch>
                  <a:fillRect l="-1074" t="-1937" r="-376" b="-2179"/>
                </a:stretch>
              </a:blipFill>
            </p:spPr>
            <p:txBody>
              <a:bodyPr/>
              <a:lstStyle/>
              <a:p>
                <a:r>
                  <a:rPr lang="pt-BR">
                    <a:noFill/>
                  </a:rPr>
                  <a:t> </a:t>
                </a:r>
              </a:p>
            </p:txBody>
          </p:sp>
        </mc:Fallback>
      </mc:AlternateContent>
    </p:spTree>
    <p:extLst>
      <p:ext uri="{BB962C8B-B14F-4D97-AF65-F5344CB8AC3E}">
        <p14:creationId xmlns:p14="http://schemas.microsoft.com/office/powerpoint/2010/main" val="29732743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997538D5-DC01-EC48-38D2-99D754F1BB92}"/>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 xmlns:a16="http://schemas.microsoft.com/office/drawing/2014/main" id="{17D7928D-3A32-7330-5FDC-756155EF2F3D}"/>
                  </a:ext>
                </a:extLst>
              </p:cNvPr>
              <p:cNvSpPr>
                <a:spLocks noGrp="1"/>
              </p:cNvSpPr>
              <p:nvPr>
                <p:ph idx="1"/>
              </p:nvPr>
            </p:nvSpPr>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oMath>
                  </m:oMathPara>
                </a14:m>
                <a:endParaRPr lang="pt-BR" dirty="0"/>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i="1">
                        <a:latin typeface="Cambria Math" panose="02040503050406030204" pitchFamily="18" charset="0"/>
                      </a:rPr>
                      <m:t>𝑄</m:t>
                    </m:r>
                  </m:oMath>
                </a14:m>
                <a:r>
                  <a:rPr lang="pt-BR" dirty="0"/>
                  <a:t> </a:t>
                </a:r>
                <a:r>
                  <a:rPr lang="pt-BR" b="1" dirty="0"/>
                  <a:t>funções discriminantes</a:t>
                </a:r>
                <a:r>
                  <a:rPr lang="pt-BR" dirty="0"/>
                  <a:t>.</a:t>
                </a:r>
              </a:p>
              <a:p>
                <a:r>
                  <a:rPr lang="pt-BR" dirty="0" smtClean="0"/>
                  <a:t>Essa</a:t>
                </a:r>
                <a:r>
                  <a:rPr lang="pt-BR" dirty="0" smtClean="0"/>
                  <a:t> </a:t>
                </a:r>
                <a:r>
                  <a:rPr lang="pt-BR" dirty="0"/>
                  <a:t>função mede a </a:t>
                </a:r>
                <a:r>
                  <a:rPr lang="pt-BR" b="1" dirty="0">
                    <a:solidFill>
                      <a:schemeClr val="accent2"/>
                    </a:solidFill>
                  </a:rPr>
                  <a:t>diferença </a:t>
                </a:r>
                <a:r>
                  <a:rPr lang="pt-BR" b="1" dirty="0">
                    <a:solidFill>
                      <a:srgbClr val="7030A0"/>
                    </a:solidFill>
                  </a:rPr>
                  <a:t>entre as distribuições de probabilidade preditas pelo modelo e as distribuições dos rótulos </a:t>
                </a:r>
                <a:r>
                  <a:rPr lang="pt-BR" dirty="0"/>
                  <a:t>das classes.</a:t>
                </a:r>
              </a:p>
              <a:p>
                <a:endParaRPr lang="pt-BR" dirty="0"/>
              </a:p>
              <a:p>
                <a:endParaRPr lang="en-US" dirty="0"/>
              </a:p>
            </p:txBody>
          </p:sp>
        </mc:Choice>
        <mc:Fallback>
          <p:sp>
            <p:nvSpPr>
              <p:cNvPr id="3" name="Content Placeholder 2">
                <a:extLst>
                  <a:ext uri="{FF2B5EF4-FFF2-40B4-BE49-F238E27FC236}">
                    <a16:creationId xmlns="" xmlns:a16="http://schemas.microsoft.com/office/drawing/2014/main" xmlns:a14="http://schemas.microsoft.com/office/drawing/2010/main" id="{17D7928D-3A32-7330-5FDC-756155EF2F3D}"/>
                  </a:ext>
                </a:extLst>
              </p:cNvPr>
              <p:cNvSpPr>
                <a:spLocks noGrp="1" noRot="1" noChangeAspect="1" noMove="1" noResize="1" noEditPoints="1" noAdjustHandles="1" noChangeArrowheads="1" noChangeShapeType="1" noTextEdit="1"/>
              </p:cNvSpPr>
              <p:nvPr>
                <p:ph idx="1"/>
              </p:nvPr>
            </p:nvSpPr>
            <p:spPr>
              <a:blipFill rotWithShape="0">
                <a:blip r:embed="rId2"/>
                <a:stretch>
                  <a:fillRect l="-1043" r="-58"/>
                </a:stretch>
              </a:blipFill>
            </p:spPr>
            <p:txBody>
              <a:bodyPr/>
              <a:lstStyle/>
              <a:p>
                <a:r>
                  <a:rPr lang="pt-BR">
                    <a:noFill/>
                  </a:rPr>
                  <a:t> </a:t>
                </a:r>
              </a:p>
            </p:txBody>
          </p:sp>
        </mc:Fallback>
      </mc:AlternateContent>
    </p:spTree>
    <p:extLst>
      <p:ext uri="{BB962C8B-B14F-4D97-AF65-F5344CB8AC3E}">
        <p14:creationId xmlns:p14="http://schemas.microsoft.com/office/powerpoint/2010/main" val="17409132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FE7CD05-66F2-8967-6154-CCED38E0F987}"/>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21A86630-5D79-AD4B-79FC-6C8373E8DB39}"/>
                  </a:ext>
                </a:extLst>
              </p:cNvPr>
              <p:cNvSpPr>
                <a:spLocks noGrp="1"/>
              </p:cNvSpPr>
              <p:nvPr>
                <p:ph idx="1"/>
              </p:nvPr>
            </p:nvSpPr>
            <p:spPr>
              <a:xfrm>
                <a:off x="838199" y="1825624"/>
                <a:ext cx="11144693" cy="5032375"/>
              </a:xfrm>
            </p:spPr>
            <p:txBody>
              <a:bodyPr>
                <a:normAutofit/>
              </a:bodyPr>
              <a:lstStyle/>
              <a:p>
                <a:r>
                  <a:rPr lang="pt-BR" dirty="0"/>
                  <a:t>Usando a codificação </a:t>
                </a:r>
                <a:r>
                  <a:rPr lang="pt-BR" b="1" i="1" dirty="0"/>
                  <a:t>one-hot</a:t>
                </a:r>
                <a:r>
                  <a:rPr lang="pt-BR" dirty="0"/>
                  <a:t>, a equação pode ser re-escrita como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 </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um vetor com os rótulos usando a codificação </a:t>
                </a:r>
                <a:r>
                  <a:rPr lang="pt-BR" b="1" i="1" dirty="0"/>
                  <a:t>one-hot</a:t>
                </a:r>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um vetor 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o </a:t>
                </a:r>
                <a14:m>
                  <m:oMath xmlns:m="http://schemas.openxmlformats.org/officeDocument/2006/math">
                    <m:r>
                      <a:rPr lang="pt-BR" i="1">
                        <a:latin typeface="Cambria Math" panose="02040503050406030204" pitchFamily="18" charset="0"/>
                      </a:rPr>
                      <m:t>𝑛</m:t>
                    </m:r>
                  </m:oMath>
                </a14:m>
                <a:r>
                  <a:rPr lang="pt-BR" dirty="0"/>
                  <a:t>-ésimo exemplo de entrada.</a:t>
                </a:r>
                <a:endParaRPr lang="pt-BR" b="1" i="1" dirty="0"/>
              </a:p>
              <a:p>
                <a:r>
                  <a:rPr lang="pt-BR" b="0" dirty="0">
                    <a:effectLst/>
                  </a:rPr>
                  <a:t>Durante o </a:t>
                </a:r>
                <a:r>
                  <a:rPr lang="pt-BR" b="1" dirty="0">
                    <a:solidFill>
                      <a:srgbClr val="7030A0"/>
                    </a:solidFill>
                    <a:effectLst/>
                  </a:rPr>
                  <a:t>treinamento</a:t>
                </a:r>
                <a:r>
                  <a:rPr lang="pt-BR" b="0" dirty="0">
                    <a:effectLst/>
                  </a:rPr>
                  <a:t> do modelo, o </a:t>
                </a:r>
                <a:r>
                  <a:rPr lang="pt-BR" b="1" dirty="0">
                    <a:solidFill>
                      <a:srgbClr val="7030A0"/>
                    </a:solidFill>
                    <a:effectLst/>
                  </a:rPr>
                  <a:t>objetivo é minimizar a entropia cruzada categórica</a:t>
                </a:r>
                <a:r>
                  <a:rPr lang="pt-BR" b="0" dirty="0">
                    <a:effectLst/>
                  </a:rPr>
                  <a:t>, ou seja, fazer com que as </a:t>
                </a:r>
                <a:r>
                  <a:rPr lang="pt-BR" b="1" dirty="0">
                    <a:solidFill>
                      <a:srgbClr val="00B050"/>
                    </a:solidFill>
                    <a:effectLst/>
                  </a:rPr>
                  <a:t>probabilidades previstas pelo modelo se aproximem ao máximo dos rótulos dos exemplos</a:t>
                </a:r>
                <a:r>
                  <a:rPr lang="pt-BR" b="0" dirty="0">
                    <a:effectLst/>
                  </a:rPr>
                  <a:t>. </a:t>
                </a:r>
              </a:p>
            </p:txBody>
          </p:sp>
        </mc:Choice>
        <mc:Fallback xmlns="">
          <p:sp>
            <p:nvSpPr>
              <p:cNvPr id="3" name="Espaço Reservado para Conteúdo 2">
                <a:extLst>
                  <a:ext uri="{FF2B5EF4-FFF2-40B4-BE49-F238E27FC236}">
                    <a16:creationId xmlns:a16="http://schemas.microsoft.com/office/drawing/2014/main" id="{21A86630-5D79-AD4B-79FC-6C8373E8DB39}"/>
                  </a:ext>
                </a:extLst>
              </p:cNvPr>
              <p:cNvSpPr>
                <a:spLocks noGrp="1" noRot="1" noChangeAspect="1" noMove="1" noResize="1" noEditPoints="1" noAdjustHandles="1" noChangeArrowheads="1" noChangeShapeType="1" noTextEdit="1"/>
              </p:cNvSpPr>
              <p:nvPr>
                <p:ph idx="1"/>
              </p:nvPr>
            </p:nvSpPr>
            <p:spPr>
              <a:xfrm>
                <a:off x="838199" y="1825624"/>
                <a:ext cx="11144693" cy="5032375"/>
              </a:xfrm>
              <a:blipFill>
                <a:blip r:embed="rId2"/>
                <a:stretch>
                  <a:fillRect l="-1093" t="-1937" r="-547"/>
                </a:stretch>
              </a:blipFill>
            </p:spPr>
            <p:txBody>
              <a:bodyPr/>
              <a:lstStyle/>
              <a:p>
                <a:r>
                  <a:rPr lang="en-US">
                    <a:noFill/>
                  </a:rPr>
                  <a:t> </a:t>
                </a:r>
              </a:p>
            </p:txBody>
          </p:sp>
        </mc:Fallback>
      </mc:AlternateContent>
    </p:spTree>
    <p:extLst>
      <p:ext uri="{BB962C8B-B14F-4D97-AF65-F5344CB8AC3E}">
        <p14:creationId xmlns:p14="http://schemas.microsoft.com/office/powerpoint/2010/main" val="2438080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E4598F11-6F65-0753-89FE-F5ABED77B46A}"/>
              </a:ext>
            </a:extLst>
          </p:cNvPr>
          <p:cNvSpPr>
            <a:spLocks noGrp="1"/>
          </p:cNvSpPr>
          <p:nvPr>
            <p:ph type="title"/>
          </p:nvPr>
        </p:nvSpPr>
        <p:spPr/>
        <p:txBody>
          <a:bodyPr/>
          <a:lstStyle/>
          <a:p>
            <a:r>
              <a:rPr lang="pt-BR" dirty="0"/>
              <a:t>Função de erro</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FEF4E6DC-E916-D97A-4D18-D469285C4F2C}"/>
                  </a:ext>
                </a:extLst>
              </p:cNvPr>
              <p:cNvSpPr>
                <a:spLocks noGrp="1"/>
              </p:cNvSpPr>
              <p:nvPr>
                <p:ph idx="1"/>
              </p:nvPr>
            </p:nvSpPr>
            <p:spPr>
              <a:xfrm>
                <a:off x="838200" y="1825624"/>
                <a:ext cx="112014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r>
                        <a:rPr lang="pt-BR" b="1" i="1" smtClean="0">
                          <a:latin typeface="Cambria Math" panose="02040503050406030204" pitchFamily="18" charset="0"/>
                        </a:rPr>
                        <m:t>.</m:t>
                      </m:r>
                    </m:oMath>
                  </m:oMathPara>
                </a14:m>
                <a:endParaRPr lang="pt-BR" dirty="0"/>
              </a:p>
              <a:p>
                <a:r>
                  <a:rPr lang="pt-BR" dirty="0"/>
                  <a:t>Notem que 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 a </a:t>
                </a:r>
                <a:r>
                  <a:rPr lang="pt-BR" b="1" dirty="0"/>
                  <a:t>função de erro médio </a:t>
                </a:r>
                <a:r>
                  <a:rPr lang="pt-BR" dirty="0"/>
                  <a:t>é equivalente à </a:t>
                </a:r>
                <a:r>
                  <a:rPr lang="pt-BR" b="1" dirty="0"/>
                  <a:t>função de erro médio </a:t>
                </a:r>
                <a:r>
                  <a:rPr lang="pt-BR" dirty="0"/>
                  <a:t>do </a:t>
                </a:r>
                <a:r>
                  <a:rPr lang="pt-BR" b="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a:t>
                </a:r>
                <a:r>
                  <a:rPr lang="pt-BR" i="1" dirty="0"/>
                  <a:t>softmax</a:t>
                </a:r>
                <a:r>
                  <a:rPr lang="pt-BR" dirty="0"/>
                  <a:t> também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a:t>
                </a:r>
              </a:p>
              <a:p>
                <a:r>
                  <a:rPr lang="pt-BR" dirty="0"/>
                  <a:t>Entretanto, existe um problema com essa função de erro.</a:t>
                </a:r>
              </a:p>
            </p:txBody>
          </p:sp>
        </mc:Choice>
        <mc:Fallback xmlns="">
          <p:sp>
            <p:nvSpPr>
              <p:cNvPr id="3" name="Espaço Reservado para Conteúdo 2">
                <a:extLst>
                  <a:ext uri="{FF2B5EF4-FFF2-40B4-BE49-F238E27FC236}">
                    <a16:creationId xmlns:a16="http://schemas.microsoft.com/office/drawing/2014/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201400" cy="5032375"/>
              </a:xfrm>
              <a:blipFill>
                <a:blip r:embed="rId3"/>
                <a:stretch>
                  <a:fillRect l="-980" r="-1524"/>
                </a:stretch>
              </a:blipFill>
            </p:spPr>
            <p:txBody>
              <a:bodyPr/>
              <a:lstStyle/>
              <a:p>
                <a:r>
                  <a:rPr lang="en-US">
                    <a:noFill/>
                  </a:rPr>
                  <a:t> </a:t>
                </a:r>
              </a:p>
            </p:txBody>
          </p:sp>
        </mc:Fallback>
      </mc:AlternateContent>
    </p:spTree>
    <p:extLst>
      <p:ext uri="{BB962C8B-B14F-4D97-AF65-F5344CB8AC3E}">
        <p14:creationId xmlns:p14="http://schemas.microsoft.com/office/powerpoint/2010/main" val="22294007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5807923-28D2-8150-E304-526DA460D220}"/>
              </a:ext>
            </a:extLst>
          </p:cNvPr>
          <p:cNvSpPr>
            <a:spLocks noGrp="1"/>
          </p:cNvSpPr>
          <p:nvPr>
            <p:ph type="title"/>
          </p:nvPr>
        </p:nvSpPr>
        <p:spPr/>
        <p:txBody>
          <a:bodyPr/>
          <a:lstStyle/>
          <a:p>
            <a:r>
              <a:rPr lang="pt-BR" dirty="0"/>
              <a:t>Função de erro</a:t>
            </a:r>
            <a:endParaRPr lang="pt-BR" i="1" dirty="0"/>
          </a:p>
        </p:txBody>
      </p:sp>
      <p:sp>
        <p:nvSpPr>
          <p:cNvPr id="3" name="Espaço Reservado para Conteúdo 2">
            <a:extLst>
              <a:ext uri="{FF2B5EF4-FFF2-40B4-BE49-F238E27FC236}">
                <a16:creationId xmlns="" xmlns:a16="http://schemas.microsoft.com/office/drawing/2014/main" id="{FFACD180-C529-EB91-BD2D-B5F491B1E35C}"/>
              </a:ext>
            </a:extLst>
          </p:cNvPr>
          <p:cNvSpPr>
            <a:spLocks noGrp="1"/>
          </p:cNvSpPr>
          <p:nvPr>
            <p:ph idx="1"/>
          </p:nvPr>
        </p:nvSpPr>
        <p:spPr>
          <a:xfrm>
            <a:off x="5867400" y="1825624"/>
            <a:ext cx="6162676" cy="5032375"/>
          </a:xfrm>
        </p:spPr>
        <p:txBody>
          <a:bodyPr/>
          <a:lstStyle/>
          <a:p>
            <a:r>
              <a:rPr lang="pt-BR" dirty="0"/>
              <a:t>Essa </a:t>
            </a:r>
            <a:r>
              <a:rPr lang="pt-BR" b="1" dirty="0"/>
              <a:t>função de erro </a:t>
            </a:r>
            <a:r>
              <a:rPr lang="pt-BR" b="1" dirty="0">
                <a:solidFill>
                  <a:srgbClr val="7030A0"/>
                </a:solidFill>
              </a:rPr>
              <a:t>não é linear </a:t>
            </a:r>
            <a:r>
              <a:rPr lang="pt-BR" dirty="0"/>
              <a:t>e, portanto, </a:t>
            </a:r>
            <a:r>
              <a:rPr lang="pt-BR" b="1" dirty="0">
                <a:solidFill>
                  <a:srgbClr val="7030A0"/>
                </a:solidFill>
              </a:rPr>
              <a:t>não existe uma </a:t>
            </a:r>
            <a:r>
              <a:rPr lang="pt-BR" b="1" dirty="0">
                <a:solidFill>
                  <a:schemeClr val="accent2"/>
                </a:solidFill>
              </a:rPr>
              <a:t>forma fechada</a:t>
            </a:r>
            <a:r>
              <a:rPr lang="pt-BR" b="1" dirty="0"/>
              <a:t> </a:t>
            </a:r>
            <a:r>
              <a:rPr lang="pt-BR" dirty="0"/>
              <a:t>para encontramos os pesos.</a:t>
            </a:r>
          </a:p>
          <a:p>
            <a:r>
              <a:rPr lang="pt-BR" dirty="0"/>
              <a:t>Porém, ela é </a:t>
            </a:r>
            <a:r>
              <a:rPr lang="pt-BR" b="1" dirty="0">
                <a:solidFill>
                  <a:srgbClr val="00B050"/>
                </a:solidFill>
              </a:rPr>
              <a:t>convexa</a:t>
            </a:r>
            <a:r>
              <a:rPr lang="pt-BR" dirty="0"/>
              <a:t> e </a:t>
            </a:r>
            <a:r>
              <a:rPr lang="pt-BR" b="1" dirty="0">
                <a:solidFill>
                  <a:srgbClr val="00B050"/>
                </a:solidFill>
              </a:rPr>
              <a:t>contínua</a:t>
            </a:r>
            <a:r>
              <a:rPr lang="pt-BR" dirty="0"/>
              <a:t>. </a:t>
            </a:r>
          </a:p>
          <a:p>
            <a:r>
              <a:rPr lang="pt-BR" dirty="0"/>
              <a:t>Assim,</a:t>
            </a:r>
            <a:r>
              <a:rPr lang="pt-BR" b="1" dirty="0">
                <a:solidFill>
                  <a:srgbClr val="00B050"/>
                </a:solidFill>
              </a:rPr>
              <a:t> o algoritmo do gradiente descendente (qualquer versão) pode ser usado para encontrar o </a:t>
            </a:r>
            <a:r>
              <a:rPr lang="pt-BR" b="1" dirty="0">
                <a:solidFill>
                  <a:srgbClr val="7030A0"/>
                </a:solidFill>
              </a:rPr>
              <a:t>mínimo global</a:t>
            </a:r>
            <a:r>
              <a:rPr lang="pt-BR" dirty="0"/>
              <a:t>.</a:t>
            </a:r>
          </a:p>
          <a:p>
            <a:endParaRPr lang="pt-BR" dirty="0"/>
          </a:p>
        </p:txBody>
      </p:sp>
      <p:pic>
        <p:nvPicPr>
          <p:cNvPr id="1026" name="Picture 2">
            <a:extLst>
              <a:ext uri="{FF2B5EF4-FFF2-40B4-BE49-F238E27FC236}">
                <a16:creationId xmlns="" xmlns:a16="http://schemas.microsoft.com/office/drawing/2014/main" id="{6FC2BDE8-91E0-6379-9BA3-76511C6153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 xmlns:a16="http://schemas.microsoft.com/office/drawing/2014/main" id="{2771BE1F-7B74-36A4-AA69-9171B025A4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61134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D929962-9BFC-4174-AB35-CC23FA013168}"/>
              </a:ext>
            </a:extLst>
          </p:cNvPr>
          <p:cNvSpPr>
            <a:spLocks noGrp="1"/>
          </p:cNvSpPr>
          <p:nvPr>
            <p:ph type="title"/>
          </p:nvPr>
        </p:nvSpPr>
        <p:spPr/>
        <p:txBody>
          <a:bodyPr/>
          <a:lstStyle/>
          <a:p>
            <a:r>
              <a:rPr lang="pt-BR" dirty="0"/>
              <a:t>Gradiente descendente</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1D38055D-E355-F780-9CA0-0337EA0BE4FD}"/>
                  </a:ext>
                </a:extLst>
              </p:cNvPr>
              <p:cNvSpPr>
                <a:spLocks noGrp="1"/>
              </p:cNvSpPr>
              <p:nvPr>
                <p:ph idx="1"/>
              </p:nvPr>
            </p:nvSpPr>
            <p:spPr>
              <a:xfrm>
                <a:off x="838200" y="1825625"/>
                <a:ext cx="11163300" cy="5032375"/>
              </a:xfrm>
            </p:spPr>
            <p:txBody>
              <a:bodyPr>
                <a:normAutofit/>
              </a:bodyPr>
              <a:lstStyle/>
              <a:p>
                <a:r>
                  <a:rPr lang="pt-BR" dirty="0"/>
                  <a:t>A atualização dos </a:t>
                </a:r>
                <a:r>
                  <a:rPr lang="pt-BR" b="1" dirty="0"/>
                  <a:t>pesos</a:t>
                </a:r>
                <a:r>
                  <a:rPr lang="pt-BR" dirty="0"/>
                  <a:t> da </a:t>
                </a:r>
                <a:r>
                  <a:rPr lang="pt-BR" i="1" dirty="0"/>
                  <a:t>q</a:t>
                </a:r>
                <a:r>
                  <a:rPr lang="pt-BR" dirty="0"/>
                  <a:t>-</a:t>
                </a:r>
                <a:r>
                  <a:rPr lang="pt-BR" dirty="0" err="1"/>
                  <a:t>ésima</a:t>
                </a:r>
                <a:r>
                  <a:rPr lang="pt-BR" dirty="0"/>
                  <a:t> função discriminante,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dirty="0"/>
                  <a:t>hiperplano</a:t>
                </a:r>
                <a:r>
                  <a:rPr lang="pt-BR" dirty="0"/>
                  <a:t> como </a:t>
                </a:r>
                <a:r>
                  <a:rPr lang="pt-BR" b="1" dirty="0"/>
                  <a:t>função discriminante</a:t>
                </a:r>
                <a:r>
                  <a:rPr lang="pt-BR" dirty="0"/>
                  <a:t>, a derivada da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oMath>
                </a14:m>
                <a:r>
                  <a:rPr lang="pt-BR" dirty="0"/>
                  <a:t>, com respeito ao vetor de pesos,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b="0" i="1" smtClean="0">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b="0" i="1" smtClean="0">
                                          <a:latin typeface="Cambria Math" panose="02040503050406030204" pitchFamily="18" charset="0"/>
                                        </a:rPr>
                                        <m:t>𝑛</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a:latin typeface="Cambria Math" panose="02040503050406030204" pitchFamily="18" charset="0"/>
                            </a:rPr>
                          </m:ctrlPr>
                        </m:dPr>
                        <m:e>
                          <m:sSub>
                            <m:sSubPr>
                              <m:ctrlPr>
                                <a:rPr lang="pt-BR" sz="2400" i="1" smtClean="0">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smtClean="0">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sz="2400" b="0" i="1" smtClean="0">
                          <a:latin typeface="Cambria Math" panose="02040503050406030204" pitchFamily="18" charset="0"/>
                        </a:rPr>
                        <m:t>,</m:t>
                      </m:r>
                    </m:oMath>
                  </m:oMathPara>
                </a14:m>
                <a:endParaRPr lang="pt-BR" sz="2400"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r>
                      <a:rPr lang="pt-BR" sz="2800" i="1" smtClean="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pt-BR" sz="2800" b="0" i="0" dirty="0">
                    <a:solidFill>
                      <a:srgbClr val="000000"/>
                    </a:solidFill>
                    <a:effectLst/>
                    <a:latin typeface="Calibri" panose="020F0502020204030204" pitchFamily="34" charset="0"/>
                  </a:rPr>
                  <a:t>são vetores </a:t>
                </a:r>
                <a:r>
                  <a:rPr lang="pt-BR" dirty="0"/>
                  <a:t>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a:t>
                </a:r>
                <a:r>
                  <a:rPr lang="pt-BR" i="1" dirty="0"/>
                  <a:t>softmax</a:t>
                </a:r>
                <a:r>
                  <a:rPr lang="pt-BR" dirty="0"/>
                  <a:t> para cada um dos </a:t>
                </a:r>
                <a14:m>
                  <m:oMath xmlns:m="http://schemas.openxmlformats.org/officeDocument/2006/math">
                    <m:r>
                      <a:rPr lang="pt-BR" i="1">
                        <a:latin typeface="Cambria Math" panose="02040503050406030204" pitchFamily="18" charset="0"/>
                      </a:rPr>
                      <m:t>𝑁</m:t>
                    </m:r>
                  </m:oMath>
                </a14:m>
                <a:r>
                  <a:rPr lang="pt-BR" dirty="0"/>
                  <a:t> vetores de atributo, respectivamente.</a:t>
                </a:r>
              </a:p>
            </p:txBody>
          </p:sp>
        </mc:Choice>
        <mc:Fallback xmlns="">
          <p:sp>
            <p:nvSpPr>
              <p:cNvPr id="3" name="Espaço Reservado para Conteúdo 2">
                <a:extLst>
                  <a:ext uri="{FF2B5EF4-FFF2-40B4-BE49-F238E27FC236}">
                    <a16:creationId xmlns:a16="http://schemas.microsoft.com/office/drawing/2014/main" id="{1D38055D-E355-F780-9CA0-0337EA0BE4FD}"/>
                  </a:ext>
                </a:extLst>
              </p:cNvPr>
              <p:cNvSpPr>
                <a:spLocks noGrp="1" noRot="1" noChangeAspect="1" noMove="1" noResize="1" noEditPoints="1" noAdjustHandles="1" noChangeArrowheads="1" noChangeShapeType="1" noTextEdit="1"/>
              </p:cNvSpPr>
              <p:nvPr>
                <p:ph idx="1"/>
              </p:nvPr>
            </p:nvSpPr>
            <p:spPr>
              <a:xfrm>
                <a:off x="838200" y="1825625"/>
                <a:ext cx="11163300" cy="5032375"/>
              </a:xfrm>
              <a:blipFill>
                <a:blip r:embed="rId3"/>
                <a:stretch>
                  <a:fillRect l="-1147" t="-1695"/>
                </a:stretch>
              </a:blipFill>
            </p:spPr>
            <p:txBody>
              <a:bodyPr/>
              <a:lstStyle/>
              <a:p>
                <a:r>
                  <a:rPr lang="en-US">
                    <a:noFill/>
                  </a:rPr>
                  <a:t> </a:t>
                </a:r>
              </a:p>
            </p:txBody>
          </p:sp>
        </mc:Fallback>
      </mc:AlternateContent>
    </p:spTree>
    <p:extLst>
      <p:ext uri="{BB962C8B-B14F-4D97-AF65-F5344CB8AC3E}">
        <p14:creationId xmlns:p14="http://schemas.microsoft.com/office/powerpoint/2010/main" val="33797865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1D0947A-594D-A8D5-95F3-38EB04C6BDB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DDBA288E-BBB8-E157-840C-AA685AD7D65C}"/>
                  </a:ext>
                </a:extLst>
              </p:cNvPr>
              <p:cNvSpPr>
                <a:spLocks noGrp="1"/>
              </p:cNvSpPr>
              <p:nvPr>
                <p:ph idx="1"/>
              </p:nvPr>
            </p:nvSpPr>
            <p:spPr>
              <a:xfrm>
                <a:off x="838200" y="1840864"/>
                <a:ext cx="113538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smtClean="0">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dirty="0">
                    <a:solidFill>
                      <a:srgbClr val="00B050"/>
                    </a:solidFill>
                  </a:rPr>
                  <a:t>idêntica</a:t>
                </a:r>
                <a:r>
                  <a:rPr lang="pt-BR" dirty="0"/>
                  <a:t> àquela obtida para o caso da </a:t>
                </a:r>
                <a:r>
                  <a:rPr lang="pt-BR" b="1" dirty="0">
                    <a:solidFill>
                      <a:srgbClr val="00B050"/>
                    </a:solidFill>
                  </a:rPr>
                  <a:t>regressão logística</a:t>
                </a:r>
                <a:r>
                  <a:rPr lang="pt-BR" dirty="0"/>
                  <a:t>.</a:t>
                </a:r>
              </a:p>
              <a:p>
                <a:r>
                  <a:rPr lang="pt-BR" dirty="0"/>
                  <a:t>O vetor gradiente pode ser reescrito </a:t>
                </a:r>
                <a:r>
                  <a:rPr lang="pt-BR" b="1" dirty="0" smtClean="0">
                    <a:solidFill>
                      <a:schemeClr val="accent2"/>
                    </a:solidFill>
                  </a:rPr>
                  <a:t>levando-se em consideração todos os </a:t>
                </a:r>
                <a14:m>
                  <m:oMath xmlns:m="http://schemas.openxmlformats.org/officeDocument/2006/math">
                    <m:r>
                      <a:rPr lang="pt-BR" b="1" i="1" smtClean="0">
                        <a:solidFill>
                          <a:schemeClr val="accent2"/>
                        </a:solidFill>
                        <a:latin typeface="Cambria Math" panose="02040503050406030204" pitchFamily="18" charset="0"/>
                      </a:rPr>
                      <m:t>𝑸</m:t>
                    </m:r>
                    <m:r>
                      <a:rPr lang="pt-BR" b="1" i="1" smtClean="0">
                        <a:solidFill>
                          <a:schemeClr val="accent2"/>
                        </a:solidFill>
                        <a:latin typeface="Cambria Math" panose="02040503050406030204" pitchFamily="18" charset="0"/>
                      </a:rPr>
                      <m:t> </m:t>
                    </m:r>
                  </m:oMath>
                </a14:m>
                <a:r>
                  <a:rPr lang="pt-BR" b="1" dirty="0">
                    <a:solidFill>
                      <a:schemeClr val="accent2"/>
                    </a:solidFill>
                  </a:rPr>
                  <a:t>vetores de peso</a:t>
                </a:r>
              </a:p>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0"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𝒀</m:t>
                        </m:r>
                      </m:e>
                    </m:acc>
                    <m:r>
                      <a:rPr lang="pt-BR" i="1">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sup>
                    </m:sSup>
                  </m:oMath>
                </a14:m>
                <a:r>
                  <a:rPr lang="pt-BR" dirty="0"/>
                  <a:t> são matrizes contendendo em cada linha os vetores </a:t>
                </a:r>
                <a14:m>
                  <m:oMath xmlns:m="http://schemas.openxmlformats.org/officeDocument/2006/math">
                    <m:sSup>
                      <m:sSupPr>
                        <m:ctrlPr>
                          <a:rPr lang="pt-BR" i="1" smtClean="0">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smtClean="0">
                            <a:latin typeface="Cambria Math" panose="02040503050406030204" pitchFamily="18" charset="0"/>
                          </a:rPr>
                        </m:ctrlPr>
                      </m:sSup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r>
                  <a:rPr lang="pt-BR" dirty="0"/>
                  <a:t>Esse resultado é diretamente estendido para polinômios.</a:t>
                </a:r>
              </a:p>
            </p:txBody>
          </p:sp>
        </mc:Choice>
        <mc:Fallback>
          <p:sp>
            <p:nvSpPr>
              <p:cNvPr id="3" name="Espaço Reservado para Conteúdo 2">
                <a:extLst>
                  <a:ext uri="{FF2B5EF4-FFF2-40B4-BE49-F238E27FC236}">
                    <a16:creationId xmlns="" xmlns:a16="http://schemas.microsoft.com/office/drawing/2014/main" xmlns:a14="http://schemas.microsoft.com/office/drawing/2010/main" id="{DDBA288E-BBB8-E157-840C-AA685AD7D65C}"/>
                  </a:ext>
                </a:extLst>
              </p:cNvPr>
              <p:cNvSpPr>
                <a:spLocks noGrp="1" noRot="1" noChangeAspect="1" noMove="1" noResize="1" noEditPoints="1" noAdjustHandles="1" noChangeArrowheads="1" noChangeShapeType="1" noTextEdit="1"/>
              </p:cNvSpPr>
              <p:nvPr>
                <p:ph idx="1"/>
              </p:nvPr>
            </p:nvSpPr>
            <p:spPr>
              <a:xfrm>
                <a:off x="838200" y="1840864"/>
                <a:ext cx="11353800" cy="5032375"/>
              </a:xfrm>
              <a:blipFill rotWithShape="0">
                <a:blip r:embed="rId3"/>
                <a:stretch>
                  <a:fillRect l="-1128" r="-1557" b="-848"/>
                </a:stretch>
              </a:blipFill>
            </p:spPr>
            <p:txBody>
              <a:bodyPr/>
              <a:lstStyle/>
              <a:p>
                <a:r>
                  <a:rPr lang="pt-BR">
                    <a:noFill/>
                  </a:rPr>
                  <a:t> </a:t>
                </a:r>
              </a:p>
            </p:txBody>
          </p:sp>
        </mc:Fallback>
      </mc:AlternateContent>
    </p:spTree>
    <p:extLst>
      <p:ext uri="{BB962C8B-B14F-4D97-AF65-F5344CB8AC3E}">
        <p14:creationId xmlns:p14="http://schemas.microsoft.com/office/powerpoint/2010/main" val="28191599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E0F1FD81-6095-2AF0-8691-34E55B8A93B5}"/>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B734B24-DA50-860B-5D55-C33F6F451B6F}"/>
                  </a:ext>
                </a:extLst>
              </p:cNvPr>
              <p:cNvSpPr>
                <a:spLocks noGrp="1"/>
              </p:cNvSpPr>
              <p:nvPr>
                <p:ph idx="1"/>
              </p:nvPr>
            </p:nvSpPr>
            <p:spPr>
              <a:xfrm>
                <a:off x="6096000" y="1825624"/>
                <a:ext cx="5930899" cy="5032375"/>
              </a:xfrm>
            </p:spPr>
            <p:txBody>
              <a:bodyPr>
                <a:normAutofit/>
              </a:bodyPr>
              <a:lstStyle/>
              <a:p>
                <a:r>
                  <a:rPr lang="pt-BR" dirty="0">
                    <a:solidFill>
                      <a:schemeClr val="tx1"/>
                    </a:solidFill>
                  </a:rPr>
                  <a:t>Após o treinamento, durante a </a:t>
                </a:r>
                <a:r>
                  <a:rPr lang="pt-BR" b="1" dirty="0">
                    <a:solidFill>
                      <a:srgbClr val="00B050"/>
                    </a:solidFill>
                  </a:rPr>
                  <a:t>fase de inferência</a:t>
                </a:r>
                <a:r>
                  <a:rPr lang="pt-BR" dirty="0">
                    <a:solidFill>
                      <a:schemeClr val="tx1"/>
                    </a:solidFill>
                  </a:rPr>
                  <a:t>, o classificador atribui 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dirty="0">
                    <a:solidFill>
                      <a:schemeClr val="tx1"/>
                    </a:solidFill>
                  </a:rPr>
                  <a:t>maior probabilidade estimada</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valor:</a:t>
                </a:r>
                <a:endParaRPr lang="pt-BR" sz="160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b="1"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h</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e>
                          </m:d>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t>A arquitetura de um </a:t>
                </a:r>
                <a:r>
                  <a:rPr lang="pt-BR" b="1" dirty="0"/>
                  <a:t>regressor</a:t>
                </a:r>
                <a:r>
                  <a:rPr lang="pt-BR" b="1" i="1" dirty="0"/>
                  <a:t>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=3</m:t>
                    </m:r>
                  </m:oMath>
                </a14:m>
                <a:r>
                  <a:rPr lang="pt-BR" dirty="0"/>
                  <a:t>) e dois atributos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 é mostrada ao lado.</a:t>
                </a:r>
              </a:p>
            </p:txBody>
          </p:sp>
        </mc:Choice>
        <mc:Fallback xmlns="">
          <p:sp>
            <p:nvSpPr>
              <p:cNvPr id="3" name="Espaço Reservado para Conteúdo 2">
                <a:extLst>
                  <a:ext uri="{FF2B5EF4-FFF2-40B4-BE49-F238E27FC236}">
                    <a16:creationId xmlns:a16="http://schemas.microsoft.com/office/drawing/2014/main" id="{BB734B24-DA50-860B-5D55-C33F6F451B6F}"/>
                  </a:ext>
                </a:extLst>
              </p:cNvPr>
              <p:cNvSpPr>
                <a:spLocks noGrp="1" noRot="1" noChangeAspect="1" noMove="1" noResize="1" noEditPoints="1" noAdjustHandles="1" noChangeArrowheads="1" noChangeShapeType="1" noTextEdit="1"/>
              </p:cNvSpPr>
              <p:nvPr>
                <p:ph idx="1"/>
              </p:nvPr>
            </p:nvSpPr>
            <p:spPr>
              <a:xfrm>
                <a:off x="6096000" y="1825624"/>
                <a:ext cx="5930899" cy="5032375"/>
              </a:xfrm>
              <a:blipFill>
                <a:blip r:embed="rId3"/>
                <a:stretch>
                  <a:fillRect l="-1850" t="-1937" r="-719"/>
                </a:stretch>
              </a:blipFill>
            </p:spPr>
            <p:txBody>
              <a:bodyPr/>
              <a:lstStyle/>
              <a:p>
                <a:r>
                  <a:rPr lang="en-US">
                    <a:noFill/>
                  </a:rPr>
                  <a:t> </a:t>
                </a:r>
              </a:p>
            </p:txBody>
          </p:sp>
        </mc:Fallback>
      </mc:AlternateContent>
      <p:pic>
        <p:nvPicPr>
          <p:cNvPr id="4" name="Imagem 5">
            <a:extLst>
              <a:ext uri="{FF2B5EF4-FFF2-40B4-BE49-F238E27FC236}">
                <a16:creationId xmlns="" xmlns:a16="http://schemas.microsoft.com/office/drawing/2014/main" id="{535159CB-11DC-74B8-5C5F-D571CD0183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36873974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C175046-E9DF-FCC8-C62B-B00332089713}"/>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24721BB7-DBA3-D8BF-7F98-ED91BD59DAEC}"/>
                  </a:ext>
                </a:extLst>
              </p:cNvPr>
              <p:cNvSpPr>
                <a:spLocks noGrp="1"/>
              </p:cNvSpPr>
              <p:nvPr>
                <p:ph idx="1"/>
              </p:nvPr>
            </p:nvSpPr>
            <p:spPr>
              <a:xfrm>
                <a:off x="5951050" y="1825624"/>
                <a:ext cx="6124686" cy="5032375"/>
              </a:xfrm>
            </p:spPr>
            <p:txBody>
              <a:bodyPr>
                <a:normAutofit/>
              </a:bodyPr>
              <a:lstStyle/>
              <a:p>
                <a:r>
                  <a:rPr lang="pt-BR" dirty="0"/>
                  <a:t>Em resumo, a ideia por trás da </a:t>
                </a:r>
                <a:r>
                  <a:rPr lang="pt-BR" b="1" dirty="0"/>
                  <a:t>regressão</a:t>
                </a:r>
                <a:r>
                  <a:rPr lang="pt-BR" b="1" i="1" dirty="0"/>
                  <a:t>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𝑛</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a:t>
                </a:r>
                <a:r>
                  <a:rPr lang="pt-BR" i="1" dirty="0"/>
                  <a:t>softmax</a:t>
                </a:r>
                <a:r>
                  <a:rPr lang="pt-BR" dirty="0"/>
                  <a:t> calcula uma “</a:t>
                </a:r>
                <a:r>
                  <a:rPr lang="pt-BR" b="1" dirty="0"/>
                  <a:t>pontuação</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rPr>
                          <m:t>𝑛</m:t>
                        </m:r>
                        <m:r>
                          <a:rPr lang="pt-BR">
                            <a:latin typeface="Cambria Math" panose="02040503050406030204" pitchFamily="18" charset="0"/>
                          </a:rPr>
                          <m:t>)</m:t>
                        </m:r>
                      </m:e>
                    </m:d>
                    <m:r>
                      <a:rPr lang="pt-BR" b="1"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a:t>
                </a:r>
                <a:r>
                  <a:rPr lang="pt-BR" i="1" dirty="0"/>
                  <a:t>softmax</a:t>
                </a:r>
                <a:r>
                  <a:rPr lang="pt-BR" dirty="0"/>
                  <a:t> às “</a:t>
                </a:r>
                <a:r>
                  <a:rPr lang="pt-BR" b="1" dirty="0"/>
                  <a:t>pontuações</a:t>
                </a:r>
                <a:r>
                  <a:rPr lang="pt-BR" dirty="0"/>
                  <a:t>”.</a:t>
                </a:r>
              </a:p>
            </p:txBody>
          </p:sp>
        </mc:Choice>
        <mc:Fallback xmlns="">
          <p:sp>
            <p:nvSpPr>
              <p:cNvPr id="3" name="Espaço Reservado para Conteúdo 2">
                <a:extLst>
                  <a:ext uri="{FF2B5EF4-FFF2-40B4-BE49-F238E27FC236}">
                    <a16:creationId xmlns:a16="http://schemas.microsoft.com/office/drawing/2014/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a:blip r:embed="rId3"/>
                <a:stretch>
                  <a:fillRect l="-1791" t="-1937" r="-1592"/>
                </a:stretch>
              </a:blipFill>
            </p:spPr>
            <p:txBody>
              <a:bodyPr/>
              <a:lstStyle/>
              <a:p>
                <a:r>
                  <a:rPr lang="en-US">
                    <a:noFill/>
                  </a:rPr>
                  <a:t> </a:t>
                </a:r>
              </a:p>
            </p:txBody>
          </p:sp>
        </mc:Fallback>
      </mc:AlternateContent>
      <p:pic>
        <p:nvPicPr>
          <p:cNvPr id="6" name="Imagem 5">
            <a:extLst>
              <a:ext uri="{FF2B5EF4-FFF2-40B4-BE49-F238E27FC236}">
                <a16:creationId xmlns="" xmlns:a16="http://schemas.microsoft.com/office/drawing/2014/main" id="{FF78CF76-EB26-3FAE-0391-E452288FA2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
        <p:nvSpPr>
          <p:cNvPr id="5" name="Rectangle 2">
            <a:extLst>
              <a:ext uri="{FF2B5EF4-FFF2-40B4-BE49-F238E27FC236}">
                <a16:creationId xmlns:a16="http://schemas.microsoft.com/office/drawing/2014/main" xmlns="" id="{0357C04D-3666-45D0-A263-597819F48D09}"/>
              </a:ext>
            </a:extLst>
          </p:cNvPr>
          <p:cNvSpPr/>
          <p:nvPr/>
        </p:nvSpPr>
        <p:spPr>
          <a:xfrm>
            <a:off x="0" y="6581001"/>
            <a:ext cx="3490956" cy="276999"/>
          </a:xfrm>
          <a:prstGeom prst="rect">
            <a:avLst/>
          </a:prstGeom>
        </p:spPr>
        <p:txBody>
          <a:bodyPr wrap="none">
            <a:spAutoFit/>
          </a:bodyPr>
          <a:lstStyle/>
          <a:p>
            <a:r>
              <a:rPr lang="pt-BR" sz="1200" dirty="0">
                <a:hlinkClick r:id="rId5"/>
              </a:rPr>
              <a:t>Exemplo: </a:t>
            </a:r>
            <a:r>
              <a:rPr lang="pt-BR" sz="1200" dirty="0" err="1">
                <a:hlinkClick r:id="rId5"/>
              </a:rPr>
              <a:t>softmax_regressor_with_scikit_learn.ipynb</a:t>
            </a:r>
            <a:endParaRPr lang="pt-BR" sz="1200" b="1" dirty="0"/>
          </a:p>
        </p:txBody>
      </p:sp>
    </p:spTree>
    <p:extLst>
      <p:ext uri="{BB962C8B-B14F-4D97-AF65-F5344CB8AC3E}">
        <p14:creationId xmlns:p14="http://schemas.microsoft.com/office/powerpoint/2010/main" val="669840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200" y="1825624"/>
            <a:ext cx="11089640" cy="5032375"/>
          </a:xfrm>
        </p:spPr>
        <p:txBody>
          <a:bodyPr/>
          <a:lstStyle/>
          <a:p>
            <a:r>
              <a:rPr lang="pt-BR" b="1" dirty="0"/>
              <a:t>Quiz</a:t>
            </a:r>
            <a:r>
              <a:rPr lang="pt-BR" dirty="0"/>
              <a:t>: “</a:t>
            </a:r>
            <a:r>
              <a:rPr lang="pt-BR" i="1" dirty="0"/>
              <a:t>T320 - Quiz - Classificação (Parte IV)</a:t>
            </a:r>
            <a:r>
              <a:rPr lang="pt-BR" dirty="0"/>
              <a:t>” que se encontra no MS Teams.</a:t>
            </a:r>
          </a:p>
          <a:p>
            <a:r>
              <a:rPr lang="pt-BR" b="1" dirty="0"/>
              <a:t>Exercício Prático</a:t>
            </a:r>
            <a:r>
              <a:rPr lang="pt-BR" dirty="0"/>
              <a:t>: </a:t>
            </a:r>
            <a:r>
              <a:rPr lang="pt-BR" b="1" dirty="0">
                <a:hlinkClick r:id="rId3"/>
              </a:rPr>
              <a:t>Laboratório #4</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037160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3795178055"/>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12588</TotalTime>
  <Words>2963</Words>
  <Application>Microsoft Office PowerPoint</Application>
  <PresentationFormat>Widescreen</PresentationFormat>
  <Paragraphs>311</Paragraphs>
  <Slides>28</Slides>
  <Notes>19</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28</vt:i4>
      </vt:variant>
    </vt:vector>
  </HeadingPairs>
  <TitlesOfParts>
    <vt:vector size="37" baseType="lpstr">
      <vt:lpstr>Arial</vt:lpstr>
      <vt:lpstr>Calibri</vt:lpstr>
      <vt:lpstr>Calibri Light</vt:lpstr>
      <vt:lpstr>Cambria Math</vt:lpstr>
      <vt:lpstr>CambriaMath</vt:lpstr>
      <vt:lpstr>Google Sans</vt:lpstr>
      <vt:lpstr>Söhne</vt:lpstr>
      <vt:lpstr>Wingdings</vt:lpstr>
      <vt:lpstr>Tema do Office</vt:lpstr>
      <vt:lpstr>T320 - Introdução ao Aprendizado de Máquina II: Classificação (Parte IV)</vt:lpstr>
      <vt:lpstr>Recapitulando</vt:lpstr>
      <vt:lpstr>Casos multi-classe</vt:lpstr>
      <vt:lpstr>Casos multi-classe</vt:lpstr>
      <vt:lpstr>Um-Contra-o-Resto</vt:lpstr>
      <vt:lpstr>Um-Contra-o-Resto</vt:lpstr>
      <vt:lpstr>Um-Contra-o-Resto</vt:lpstr>
      <vt:lpstr>Um-Contra-Um</vt:lpstr>
      <vt:lpstr>Um-Contra-Um</vt:lpstr>
      <vt:lpstr>Um-Contra-Um</vt:lpstr>
      <vt:lpstr>Regressor softmax</vt:lpstr>
      <vt:lpstr>Regressor softmax</vt:lpstr>
      <vt:lpstr>Regressor softmax</vt:lpstr>
      <vt:lpstr>Função de ativação softmax</vt:lpstr>
      <vt:lpstr>Função de ativação softmax</vt:lpstr>
      <vt:lpstr>Função de ativação softmax</vt:lpstr>
      <vt:lpstr>Função de ativação softmax</vt:lpstr>
      <vt:lpstr>Função de erro</vt:lpstr>
      <vt:lpstr>Função de erro</vt:lpstr>
      <vt:lpstr>Função de erro</vt:lpstr>
      <vt:lpstr>Função de erro</vt:lpstr>
      <vt:lpstr>Função de erro</vt:lpstr>
      <vt:lpstr>Gradiente descendente</vt:lpstr>
      <vt:lpstr>Regressor softmax</vt:lpstr>
      <vt:lpstr>Regressor softmax</vt:lpstr>
      <vt:lpstr>Regressor softmax</vt:lpstr>
      <vt:lpstr>Tarefas</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1868</cp:revision>
  <dcterms:created xsi:type="dcterms:W3CDTF">2020-01-20T13:50:05Z</dcterms:created>
  <dcterms:modified xsi:type="dcterms:W3CDTF">2026-03-21T11:51:50Z</dcterms:modified>
</cp:coreProperties>
</file>