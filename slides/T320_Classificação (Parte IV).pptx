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5817" autoAdjust="0"/>
  </p:normalViewPr>
  <p:slideViewPr>
    <p:cSldViewPr snapToGrid="0">
      <p:cViewPr varScale="1">
        <p:scale>
          <a:sx n="63" d="100"/>
          <a:sy n="63" d="100"/>
        </p:scale>
        <p:origin x="1026"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21/03/2026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 xmlns:a16="http://schemas.microsoft.com/office/drawing/2014/main"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 xmlns:a16="http://schemas.microsoft.com/office/drawing/2014/main"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smtClean="0"/>
                  <a:t>Por exemplo, </a:t>
                </a:r>
                <a:r>
                  <a:rPr lang="pt-BR" dirty="0"/>
                  <a:t>notícias, músicas e imagens, por exemplo, podem pertencer a </a:t>
                </a:r>
                <a:r>
                  <a:rPr lang="pt-BR" dirty="0" smtClean="0"/>
                  <a:t>várias classes </a:t>
                </a:r>
                <a:r>
                  <a:rPr lang="pt-BR" dirty="0"/>
                  <a:t>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smtClean="0"/>
                  <a:t>Por exemplo, se </a:t>
                </a:r>
                <a:r>
                  <a:rPr lang="pt-BR" dirty="0"/>
                  <a:t>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838200" y="1825624"/>
                <a:ext cx="11232473" cy="5032375"/>
              </a:xfrm>
            </p:spPr>
            <p:txBody>
              <a:bodyPr>
                <a:normAutofit/>
              </a:bodyPr>
              <a:lstStyle/>
              <a:p>
                <a:r>
                  <a:rPr lang="pt-BR" b="0" dirty="0" smtClean="0">
                    <a:effectLst/>
                  </a:rPr>
                  <a:t>Ela transforma os </a:t>
                </a:r>
                <a:r>
                  <a:rPr lang="pt-BR" b="1" dirty="0" smtClean="0">
                    <a:solidFill>
                      <a:srgbClr val="00B050"/>
                    </a:solidFill>
                    <a:effectLst/>
                  </a:rPr>
                  <a:t>valores</a:t>
                </a:r>
                <a:r>
                  <a:rPr lang="pt-BR" b="1" dirty="0" smtClean="0">
                    <a:solidFill>
                      <a:srgbClr val="00B050"/>
                    </a:solidFill>
                  </a:rPr>
                  <a:t> das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smtClean="0">
                    <a:solidFill>
                      <a:srgbClr val="00B050"/>
                    </a:solidFill>
                  </a:rPr>
                  <a:t>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a:t>
                </a:r>
                <a:r>
                  <a:rPr lang="pt-BR" dirty="0" smtClean="0"/>
                  <a:t>1.</a:t>
                </a:r>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rotWithShape="0">
                <a:blip r:embed="rId3"/>
                <a:stretch>
                  <a:fillRect l="-977" t="-1937" r="-1140"/>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xmlns="" id="{D1D7E603-A964-1188-9D09-B0C1E18592FA}"/>
              </a:ext>
            </a:extLst>
          </p:cNvPr>
          <p:cNvSpPr/>
          <p:nvPr/>
        </p:nvSpPr>
        <p:spPr>
          <a:xfrm>
            <a:off x="6677025" y="3843791"/>
            <a:ext cx="2143124"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r>
                          <a:rPr lang="pt-BR" sz="2800" b="0" i="1" smtClean="0">
                            <a:solidFill>
                              <a:schemeClr val="tx1"/>
                            </a:solidFill>
                            <a:latin typeface="Cambria Math" panose="02040503050406030204" pitchFamily="18" charset="0"/>
                          </a:rPr>
                          <m:t>(</m:t>
                        </m:r>
                        <m:r>
                          <a:rPr lang="pt-BR" sz="2800" b="0" i="1" smtClean="0">
                            <a:solidFill>
                              <a:schemeClr val="tx1"/>
                            </a:solidFill>
                            <a:latin typeface="Cambria Math" panose="02040503050406030204" pitchFamily="18" charset="0"/>
                          </a:rPr>
                          <m:t>𝑛</m:t>
                        </m:r>
                        <m:r>
                          <a:rPr lang="pt-BR" sz="2800" b="0" i="1" smtClean="0">
                            <a:solidFill>
                              <a:schemeClr val="tx1"/>
                            </a:solidFill>
                            <a:latin typeface="Cambria Math" panose="02040503050406030204" pitchFamily="18" charset="0"/>
                          </a:rPr>
                          <m:t>)</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a:t>
                </a:r>
                <a:r>
                  <a:rPr lang="pt-BR" b="1" dirty="0" smtClean="0">
                    <a:solidFill>
                      <a:srgbClr val="00B050"/>
                    </a:solidFill>
                    <a:effectLst/>
                  </a:rPr>
                  <a:t>1 </a:t>
                </a:r>
                <a:r>
                  <a:rPr lang="pt-BR" b="1" dirty="0">
                    <a:solidFill>
                      <a:srgbClr val="00B050"/>
                    </a:solidFill>
                    <a:effectLst/>
                  </a:rPr>
                  <a:t>e a soma de todas as saídas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rotWithShape="0">
                <a:blip r:embed="rId3"/>
                <a:stretch>
                  <a:fillRect l="-978" t="-1937"/>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xmlns=""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smtClean="0"/>
                  <a:t>OBS</a:t>
                </a:r>
                <a:r>
                  <a:rPr lang="pt-BR" dirty="0" smtClean="0"/>
                  <a:t>.: O </a:t>
                </a:r>
                <a:r>
                  <a:rPr lang="pt-BR" dirty="0"/>
                  <a:t>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376" b="-2179"/>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Essa </a:t>
                </a:r>
                <a:r>
                  <a:rPr lang="pt-BR" dirty="0"/>
                  <a:t>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xmlns="">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blipFill rotWithShape="0">
                <a:blip r:embed="rId2"/>
                <a:stretch>
                  <a:fillRect l="-1043" r="-58"/>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de erro médio </a:t>
                </a:r>
                <a:r>
                  <a:rPr lang="pt-BR" dirty="0"/>
                  <a:t>é equivalente à </a:t>
                </a:r>
                <a:r>
                  <a:rPr lang="pt-BR" b="1" dirty="0"/>
                  <a:t>função de erro médio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a:blip r:embed="rId3"/>
                <a:stretch>
                  <a:fillRect l="-980" r="-1524"/>
                </a:stretch>
              </a:blipFill>
            </p:spPr>
            <p:txBody>
              <a:bodyPr/>
              <a:lstStyle/>
              <a:p>
                <a:r>
                  <a:rPr lang="en-US">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200" y="1825625"/>
                <a:ext cx="11163300"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4086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smtClean="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353800" cy="5032375"/>
              </a:xfrm>
              <a:blipFill rotWithShape="0">
                <a:blip r:embed="rId3"/>
                <a:stretch>
                  <a:fillRect l="-1128" r="-1557"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a:blip r:embed="rId3"/>
                <a:stretch>
                  <a:fillRect l="-1850" t="-1937" r="-719"/>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xmlns=""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12611</TotalTime>
  <Words>2964</Words>
  <Application>Microsoft Office PowerPoint</Application>
  <PresentationFormat>Widescreen</PresentationFormat>
  <Paragraphs>311</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1871</cp:revision>
  <dcterms:created xsi:type="dcterms:W3CDTF">2020-01-20T13:50:05Z</dcterms:created>
  <dcterms:modified xsi:type="dcterms:W3CDTF">2026-03-21T12:45:23Z</dcterms:modified>
</cp:coreProperties>
</file>