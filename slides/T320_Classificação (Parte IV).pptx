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71" autoAdjust="0"/>
    <p:restoredTop sz="89253" autoAdjust="0"/>
  </p:normalViewPr>
  <p:slideViewPr>
    <p:cSldViewPr snapToGrid="0">
      <p:cViewPr varScale="1">
        <p:scale>
          <a:sx n="65" d="100"/>
          <a:sy n="65" d="100"/>
        </p:scale>
        <p:origin x="94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Choice>
        <mc:Fallback>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xmlns=""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xmlns=""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smtClean="0"/>
                  <a:t>Por exemplo, </a:t>
                </a:r>
                <a:r>
                  <a:rPr lang="pt-BR" dirty="0"/>
                  <a:t>notícias, músicas e imagens, por exemplo, podem pertencer a </a:t>
                </a:r>
                <a:r>
                  <a:rPr lang="pt-BR" dirty="0" smtClean="0"/>
                  <a:t>várias classes </a:t>
                </a:r>
                <a:r>
                  <a:rPr lang="pt-BR" dirty="0"/>
                  <a:t>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smtClean="0"/>
                  <a:t>Por exemplo, se </a:t>
                </a:r>
                <a:r>
                  <a:rPr lang="pt-BR" dirty="0"/>
                  <a:t>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rotWithShape="0">
                <a:blip r:embed="rId3"/>
                <a:stretch>
                  <a:fillRect l="-1156" t="-1332"/>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smtClean="0"/>
                  <a:t>É uma generalização da função sigmoide.</a:t>
                </a:r>
                <a:endParaRPr lang="pt-BR" dirty="0"/>
              </a:p>
              <a:p>
                <a:r>
                  <a:rPr lang="pt-BR" dirty="0" smtClean="0"/>
                  <a:t>O </a:t>
                </a:r>
                <a:r>
                  <a:rPr lang="pt-BR" dirty="0"/>
                  <a:t>somatório de termos exponenciais no denominador </a:t>
                </a:r>
                <a:r>
                  <a:rPr lang="pt-BR" b="1" dirty="0">
                    <a:solidFill>
                      <a:srgbClr val="00B050"/>
                    </a:solidFill>
                  </a:rPr>
                  <a:t>normaliza</a:t>
                </a:r>
                <a:r>
                  <a:rPr lang="pt-BR" dirty="0"/>
                  <a:t> o valor </a:t>
                </a:r>
                <a:r>
                  <a:rPr lang="pt-BR" dirty="0" smtClean="0"/>
                  <a:t>de cada uma das </a:t>
                </a:r>
                <a14:m>
                  <m:oMath xmlns:m="http://schemas.openxmlformats.org/officeDocument/2006/math">
                    <m:r>
                      <a:rPr lang="pt-BR" b="0" i="1" smtClean="0">
                        <a:latin typeface="Cambria Math" panose="02040503050406030204" pitchFamily="18" charset="0"/>
                      </a:rPr>
                      <m:t>𝑄</m:t>
                    </m:r>
                  </m:oMath>
                </a14:m>
                <a:r>
                  <a:rPr lang="pt-BR" dirty="0" smtClean="0"/>
                  <a:t> saídas, fazendo com que elas fiquem no intervalo [0, 1].</a:t>
                </a:r>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rPr>
                  <a:t>funções discriminantes em uma distribuição de probabilidades</a:t>
                </a:r>
                <a:r>
                  <a:rPr lang="pt-BR" dirty="0" smtClean="0"/>
                  <a:t>.</a:t>
                </a:r>
                <a:endParaRPr lang="pt-BR" dirty="0" smtClean="0"/>
              </a:p>
              <a:p>
                <a:r>
                  <a:rPr lang="pt-BR" dirty="0" smtClean="0"/>
                  <a:t>Assim, dado </a:t>
                </a:r>
                <a:r>
                  <a:rPr lang="pt-BR" dirty="0"/>
                  <a:t>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smtClean="0">
                    <a:solidFill>
                      <a:srgbClr val="00B050"/>
                    </a:solidFill>
                  </a:rPr>
                  <a:t>condicional</a:t>
                </a:r>
                <a:r>
                  <a:rPr lang="pt-BR" dirty="0" smtClean="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a:t>
                </a:r>
                <a:r>
                  <a:rPr lang="pt-BR" b="1" dirty="0" smtClean="0">
                    <a:solidFill>
                      <a:srgbClr val="00B050"/>
                    </a:solidFill>
                  </a:rPr>
                  <a:t>uma </a:t>
                </a:r>
                <a:r>
                  <a:rPr lang="pt-BR" dirty="0" smtClean="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smtClean="0"/>
                  <a:t>classes.</a:t>
                </a:r>
                <a:endParaRPr lang="pt-BR" b="1" dirty="0">
                  <a:solidFill>
                    <a:srgbClr val="00B050"/>
                  </a:solidFill>
                </a:endParaRPr>
              </a:p>
            </p:txBody>
          </p:sp>
        </mc:Choice>
        <mc:Fallback>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967"/>
                </a:stretch>
              </a:blipFill>
            </p:spPr>
            <p:txBody>
              <a:bodyPr/>
              <a:lstStyle/>
              <a:p>
                <a:r>
                  <a:rPr lang="pt-BR">
                    <a:noFill/>
                  </a:rPr>
                  <a:t> </a:t>
                </a:r>
              </a:p>
            </p:txBody>
          </p:sp>
        </mc:Fallback>
      </mc:AlternateContent>
      <p:sp>
        <p:nvSpPr>
          <p:cNvPr id="5" name="Rectangle 11">
            <a:extLst>
              <a:ext uri="{FF2B5EF4-FFF2-40B4-BE49-F238E27FC236}">
                <a16:creationId xmlns="" xmlns:a16="http://schemas.microsoft.com/office/drawing/2014/main"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6646606" y="1825624"/>
                <a:ext cx="5545394"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a:t>
                </a:r>
                <a:r>
                  <a:rPr lang="pt-BR" b="1" dirty="0" smtClean="0">
                    <a:solidFill>
                      <a:srgbClr val="00B050"/>
                    </a:solidFill>
                    <a:effectLst/>
                  </a:rPr>
                  <a:t>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a:t>
                </a:r>
                <a:r>
                  <a:rPr lang="pt-BR" b="1" dirty="0" smtClean="0">
                    <a:solidFill>
                      <a:srgbClr val="00B050"/>
                    </a:solidFill>
                    <a:effectLst/>
                  </a:rPr>
                  <a:t>discriminantes</a:t>
                </a:r>
                <a:r>
                  <a:rPr lang="pt-BR" b="0" i="0" dirty="0" smtClean="0">
                    <a:solidFill>
                      <a:schemeClr val="tx1"/>
                    </a:solidFill>
                    <a:effectLst/>
                  </a:rPr>
                  <a:t>, </a:t>
                </a:r>
                <a:r>
                  <a:rPr lang="pt-BR" b="0" i="0" dirty="0">
                    <a:solidFill>
                      <a:schemeClr val="tx1"/>
                    </a:solidFill>
                    <a:effectLst/>
                  </a:rPr>
                  <a:t>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545394" cy="5032375"/>
              </a:xfrm>
              <a:blipFill rotWithShape="0">
                <a:blip r:embed="rId2"/>
                <a:stretch>
                  <a:fillRect l="-1978" t="-1937" r="-1868"/>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smtClean="0">
                    <a:effectLst/>
                  </a:rPr>
                  <a:t>Além de fazer c</a:t>
                </a:r>
                <a:r>
                  <a:rPr lang="pt-BR" dirty="0" smtClean="0"/>
                  <a:t>om </a:t>
                </a:r>
                <a:r>
                  <a:rPr lang="pt-BR" dirty="0" smtClean="0">
                    <a:effectLst/>
                  </a:rPr>
                  <a:t>que </a:t>
                </a:r>
                <a:r>
                  <a:rPr lang="pt-BR" dirty="0">
                    <a:effectLst/>
                  </a:rPr>
                  <a:t>as </a:t>
                </a:r>
                <a:r>
                  <a:rPr lang="pt-BR" b="1" dirty="0">
                    <a:solidFill>
                      <a:srgbClr val="00B050"/>
                    </a:solidFill>
                    <a:effectLst/>
                  </a:rPr>
                  <a:t>saídas estejam no intervalo entre 0 e </a:t>
                </a:r>
                <a:r>
                  <a:rPr lang="pt-BR" b="1" dirty="0" smtClean="0">
                    <a:solidFill>
                      <a:srgbClr val="00B050"/>
                    </a:solidFill>
                    <a:effectLst/>
                  </a:rPr>
                  <a:t>1, </a:t>
                </a:r>
                <a:r>
                  <a:rPr lang="pt-BR" b="1" dirty="0">
                    <a:solidFill>
                      <a:srgbClr val="00B050"/>
                    </a:solidFill>
                  </a:rPr>
                  <a:t>ela </a:t>
                </a:r>
                <a:r>
                  <a:rPr lang="pt-BR" b="1" dirty="0" smtClean="0">
                    <a:solidFill>
                      <a:srgbClr val="00B050"/>
                    </a:solidFill>
                  </a:rPr>
                  <a:t>garante que </a:t>
                </a:r>
                <a:r>
                  <a:rPr lang="pt-BR" b="1" dirty="0">
                    <a:solidFill>
                      <a:srgbClr val="00B050"/>
                    </a:solidFill>
                    <a:effectLst/>
                  </a:rPr>
                  <a:t>soma de todas as saídas </a:t>
                </a:r>
                <a:r>
                  <a:rPr lang="pt-BR" b="1" dirty="0" smtClean="0">
                    <a:solidFill>
                      <a:srgbClr val="00B050"/>
                    </a:solidFill>
                    <a:effectLst/>
                  </a:rPr>
                  <a:t>sempre seja </a:t>
                </a:r>
                <a:r>
                  <a:rPr lang="pt-BR" b="1" dirty="0">
                    <a:solidFill>
                      <a:srgbClr val="00B050"/>
                    </a:solidFill>
                    <a:effectLst/>
                  </a:rPr>
                  <a:t>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smtClean="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smtClean="0"/>
                  <a:t>.</a:t>
                </a:r>
                <a:endParaRPr lang="pt-BR" b="0" dirty="0">
                  <a:effectLst/>
                </a:endParaRPr>
              </a:p>
            </p:txBody>
          </p:sp>
        </mc:Choice>
        <mc:Fallback>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470" y="3952568"/>
            <a:ext cx="6635059" cy="2720765"/>
          </a:xfrm>
          <a:prstGeom prst="rect">
            <a:avLst/>
          </a:prstGeom>
        </p:spPr>
      </p:pic>
      <mc:AlternateContent xmlns:mc="http://schemas.openxmlformats.org/markup-compatibility/2006">
        <mc:Choice xmlns:a14="http://schemas.microsoft.com/office/drawing/2010/main" Requires="a14">
          <p:sp>
            <p:nvSpPr>
              <p:cNvPr id="4" name="CaixaDeTexto 3">
                <a:extLst>
                  <a:ext uri="{FF2B5EF4-FFF2-40B4-BE49-F238E27FC236}">
                    <a16:creationId xmlns=""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smtClean="0"/>
                  <a:t>OBS</a:t>
                </a:r>
                <a:r>
                  <a:rPr lang="pt-BR" dirty="0" smtClean="0"/>
                  <a:t>.: O </a:t>
                </a:r>
                <a:r>
                  <a:rPr lang="pt-BR" dirty="0"/>
                  <a:t>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a:t>
                </a:r>
                <a:r>
                  <a:rPr lang="pt-BR" dirty="0" smtClean="0"/>
                  <a:t>ele</a:t>
                </a:r>
                <a:r>
                  <a:rPr lang="pt-BR" dirty="0" smtClean="0"/>
                  <a:t> </a:t>
                </a:r>
                <a:r>
                  <a:rPr lang="pt-BR" dirty="0"/>
                  <a:t>aumenta.</a:t>
                </a:r>
              </a:p>
            </p:txBody>
          </p:sp>
        </mc:Choice>
        <mc:Fallback>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376" b="-2179"/>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17D7928D-3A32-7330-5FDC-756155EF2F3D}"/>
                  </a:ext>
                </a:extLst>
              </p:cNvPr>
              <p:cNvSpPr>
                <a:spLocks noGrp="1"/>
              </p:cNvSpPr>
              <p:nvPr>
                <p:ph idx="1"/>
              </p:nvPr>
            </p:nvSpPr>
            <p:spPr>
              <a:xfrm>
                <a:off x="838199" y="1840373"/>
                <a:ext cx="11152239" cy="4351338"/>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Essa </a:t>
                </a:r>
                <a:r>
                  <a:rPr lang="pt-BR" dirty="0"/>
                  <a:t>função mede a </a:t>
                </a:r>
                <a:r>
                  <a:rPr lang="pt-BR" b="1" dirty="0">
                    <a:solidFill>
                      <a:schemeClr val="accent2"/>
                    </a:solidFill>
                  </a:rPr>
                  <a:t>diferença </a:t>
                </a:r>
                <a:r>
                  <a:rPr lang="pt-BR" b="1" dirty="0">
                    <a:solidFill>
                      <a:srgbClr val="7030A0"/>
                    </a:solidFill>
                  </a:rPr>
                  <a:t>entre as distribuições de probabilidade </a:t>
                </a:r>
                <a:r>
                  <a:rPr lang="pt-BR" b="1" dirty="0" smtClean="0">
                    <a:solidFill>
                      <a:srgbClr val="7030A0"/>
                    </a:solidFill>
                  </a:rPr>
                  <a:t>d</a:t>
                </a:r>
                <a:r>
                  <a:rPr lang="pt-BR" b="1" dirty="0" smtClean="0">
                    <a:solidFill>
                      <a:srgbClr val="7030A0"/>
                    </a:solidFill>
                  </a:rPr>
                  <a:t>a saída do</a:t>
                </a:r>
                <a:r>
                  <a:rPr lang="pt-BR" b="1" dirty="0" smtClean="0">
                    <a:solidFill>
                      <a:srgbClr val="7030A0"/>
                    </a:solidFill>
                  </a:rPr>
                  <a:t> modelo </a:t>
                </a:r>
                <a:r>
                  <a:rPr lang="pt-BR" b="1" dirty="0">
                    <a:solidFill>
                      <a:srgbClr val="7030A0"/>
                    </a:solidFill>
                  </a:rPr>
                  <a:t>e </a:t>
                </a:r>
                <a:r>
                  <a:rPr lang="pt-BR" b="1" dirty="0" smtClean="0">
                    <a:solidFill>
                      <a:srgbClr val="7030A0"/>
                    </a:solidFill>
                  </a:rPr>
                  <a:t>a dos </a:t>
                </a:r>
                <a:r>
                  <a:rPr lang="pt-BR" b="1" dirty="0">
                    <a:solidFill>
                      <a:srgbClr val="7030A0"/>
                    </a:solidFill>
                  </a:rPr>
                  <a:t>rótulos </a:t>
                </a:r>
                <a:r>
                  <a:rPr lang="pt-BR" dirty="0"/>
                  <a:t>das classes</a:t>
                </a:r>
                <a:r>
                  <a:rPr lang="pt-BR" dirty="0" smtClean="0"/>
                  <a:t>.</a:t>
                </a:r>
                <a:endParaRPr lang="pt-BR" dirty="0"/>
              </a:p>
            </p:txBody>
          </p:sp>
        </mc:Choice>
        <mc:Fallback>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838199" y="1840373"/>
                <a:ext cx="11152239" cy="4351338"/>
              </a:xfrm>
              <a:blipFill rotWithShape="0">
                <a:blip r:embed="rId2"/>
                <a:stretch>
                  <a:fillRect l="-929" r="-874"/>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21A86630-5D79-AD4B-79FC-6C8373E8DB39}"/>
                  </a:ext>
                </a:extLst>
              </p:cNvPr>
              <p:cNvSpPr>
                <a:spLocks noGrp="1"/>
              </p:cNvSpPr>
              <p:nvPr>
                <p:ph idx="1"/>
              </p:nvPr>
            </p:nvSpPr>
            <p:spPr>
              <a:xfrm>
                <a:off x="838200" y="1825624"/>
                <a:ext cx="1124073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a:t>
                </a:r>
                <a:r>
                  <a:rPr lang="pt-BR" dirty="0" smtClean="0"/>
                  <a:t>o vetor </a:t>
                </a:r>
                <a:r>
                  <a:rPr lang="pt-BR" dirty="0" smtClean="0"/>
                  <a:t>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a:t>
                </a:r>
                <a:r>
                  <a:rPr lang="pt-BR" dirty="0" smtClean="0"/>
                  <a:t>rótulo </a:t>
                </a:r>
                <a:r>
                  <a:rPr lang="pt-BR" dirty="0"/>
                  <a:t>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a:t>
                </a:r>
                <a:r>
                  <a:rPr lang="pt-BR" dirty="0" smtClean="0"/>
                  <a:t>o vetor </a:t>
                </a:r>
                <a:r>
                  <a:rPr lang="pt-BR" dirty="0"/>
                  <a:t>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240730" cy="5032375"/>
              </a:xfrm>
              <a:blipFill rotWithShape="0">
                <a:blip r:embed="rId2"/>
                <a:stretch>
                  <a:fillRect l="-1139" t="-1937" r="-1248"/>
                </a:stretch>
              </a:blipFill>
            </p:spPr>
            <p:txBody>
              <a:bodyPr/>
              <a:lstStyle/>
              <a:p>
                <a:r>
                  <a:rPr lang="pt-BR">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a:t>
                </a:r>
                <a:r>
                  <a:rPr lang="pt-BR" b="1" dirty="0" smtClean="0"/>
                  <a:t>da entropia cruzada categórica </a:t>
                </a:r>
                <a:r>
                  <a:rPr lang="pt-BR" dirty="0" smtClean="0"/>
                  <a:t>é </a:t>
                </a:r>
                <a:r>
                  <a:rPr lang="pt-BR" dirty="0"/>
                  <a:t>equivalente à </a:t>
                </a:r>
                <a:r>
                  <a:rPr lang="pt-BR" b="1" dirty="0"/>
                  <a:t>função da entropia </a:t>
                </a:r>
                <a:r>
                  <a:rPr lang="pt-BR" b="1" dirty="0" smtClean="0"/>
                  <a:t>cruzada </a:t>
                </a:r>
                <a:r>
                  <a:rPr lang="pt-BR" dirty="0" smtClean="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1D38055D-E355-F780-9CA0-0337EA0BE4FD}"/>
                  </a:ext>
                </a:extLst>
              </p:cNvPr>
              <p:cNvSpPr>
                <a:spLocks noGrp="1"/>
              </p:cNvSpPr>
              <p:nvPr>
                <p:ph idx="1"/>
              </p:nvPr>
            </p:nvSpPr>
            <p:spPr>
              <a:xfrm>
                <a:off x="838199" y="1825625"/>
                <a:ext cx="11240729"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240729" cy="5032375"/>
              </a:xfrm>
              <a:blipFill rotWithShape="0">
                <a:blip r:embed="rId3"/>
                <a:stretch>
                  <a:fillRect l="-1085" t="-1695"/>
                </a:stretch>
              </a:blipFill>
            </p:spPr>
            <p:txBody>
              <a:bodyPr/>
              <a:lstStyle/>
              <a:p>
                <a:r>
                  <a:rPr lang="pt-BR">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DDBA288E-BBB8-E157-840C-AA685AD7D65C}"/>
                  </a:ext>
                </a:extLst>
              </p:cNvPr>
              <p:cNvSpPr>
                <a:spLocks noGrp="1"/>
              </p:cNvSpPr>
              <p:nvPr>
                <p:ph idx="1"/>
              </p:nvPr>
            </p:nvSpPr>
            <p:spPr>
              <a:xfrm>
                <a:off x="838200" y="1840864"/>
                <a:ext cx="11240729"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smtClean="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a:t>
                </a:r>
                <a:r>
                  <a:rPr lang="pt-BR" dirty="0" smtClean="0"/>
                  <a:t>contendo </a:t>
                </a:r>
                <a:r>
                  <a:rPr lang="pt-BR" dirty="0"/>
                  <a:t>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40729" cy="5032375"/>
              </a:xfrm>
              <a:blipFill rotWithShape="0">
                <a:blip r:embed="rId3"/>
                <a:stretch>
                  <a:fillRect l="-1139" r="-1628"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smtClean="0">
                    <a:solidFill>
                      <a:schemeClr val="tx1"/>
                    </a:solidFill>
                  </a:rPr>
                  <a:t>regressor</a:t>
                </a:r>
                <a:r>
                  <a:rPr lang="pt-BR" dirty="0" smtClean="0">
                    <a:solidFill>
                      <a:schemeClr val="tx1"/>
                    </a:solidFill>
                  </a:rPr>
                  <a:t> atribui </a:t>
                </a:r>
                <a:r>
                  <a:rPr lang="pt-BR" dirty="0">
                    <a:solidFill>
                      <a:schemeClr val="tx1"/>
                    </a:solidFill>
                  </a:rPr>
                  <a:t>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a:t>
                </a:r>
                <a:r>
                  <a:rPr lang="pt-BR" dirty="0" smtClean="0">
                    <a:solidFill>
                      <a:schemeClr val="tx1"/>
                    </a:solidFill>
                  </a:rPr>
                  <a:t>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a16="http://schemas.microsoft.com/office/drawing/2014/main" xmlns=""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12704</TotalTime>
  <Words>3015</Words>
  <Application>Microsoft Office PowerPoint</Application>
  <PresentationFormat>Widescreen</PresentationFormat>
  <Paragraphs>302</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1885</cp:revision>
  <dcterms:created xsi:type="dcterms:W3CDTF">2020-01-20T13:50:05Z</dcterms:created>
  <dcterms:modified xsi:type="dcterms:W3CDTF">2026-03-28T10:37:34Z</dcterms:modified>
</cp:coreProperties>
</file>