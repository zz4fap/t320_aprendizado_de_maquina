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336" r:id="rId3"/>
    <p:sldId id="325" r:id="rId4"/>
    <p:sldId id="474" r:id="rId5"/>
    <p:sldId id="475" r:id="rId6"/>
    <p:sldId id="476" r:id="rId7"/>
    <p:sldId id="472" r:id="rId8"/>
    <p:sldId id="478" r:id="rId9"/>
    <p:sldId id="479" r:id="rId10"/>
    <p:sldId id="473" r:id="rId11"/>
    <p:sldId id="498" r:id="rId12"/>
    <p:sldId id="499" r:id="rId13"/>
    <p:sldId id="500" r:id="rId14"/>
    <p:sldId id="501" r:id="rId15"/>
    <p:sldId id="502" r:id="rId16"/>
    <p:sldId id="503" r:id="rId17"/>
    <p:sldId id="504" r:id="rId18"/>
    <p:sldId id="505" r:id="rId19"/>
    <p:sldId id="506" r:id="rId20"/>
    <p:sldId id="507" r:id="rId21"/>
    <p:sldId id="508" r:id="rId22"/>
    <p:sldId id="509" r:id="rId23"/>
    <p:sldId id="510" r:id="rId24"/>
    <p:sldId id="511" r:id="rId25"/>
    <p:sldId id="512" r:id="rId26"/>
    <p:sldId id="513" r:id="rId27"/>
    <p:sldId id="324" r:id="rId28"/>
    <p:sldId id="306" r:id="rId29"/>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68" autoAdjust="0"/>
    <p:restoredTop sz="94353" autoAdjust="0"/>
  </p:normalViewPr>
  <p:slideViewPr>
    <p:cSldViewPr snapToGrid="0">
      <p:cViewPr varScale="1">
        <p:scale>
          <a:sx n="69" d="100"/>
          <a:sy n="69" d="100"/>
        </p:scale>
        <p:origin x="966" y="72"/>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5/09/2026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05/09/2026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scielo.br/j/ca/a/pXMZjzHJcJtkLVYLLDHHTxw/"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maquinasqueaprendem.com/2020/04/02/aprendizagem-em-conjuntos-de-dados-com-classes-desbalanceadas/" TargetMode="External"/><Relationship Id="rId4" Type="http://schemas.openxmlformats.org/officeDocument/2006/relationships/hyperlink" Target="https://tatianaesc.medium.com/trabalhando-com-classes-desbalanceadas-em-problemas-machine-learning-29ee8db4a049"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Exemplo: </a:t>
            </a:r>
            <a:r>
              <a:rPr lang="pt-BR" dirty="0" err="1"/>
              <a:t>ClassificationOfFourClassesWithOvAandOvO.ipynb</a:t>
            </a:r>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2656283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rtl="0"/>
            <a:r>
              <a:rPr lang="pt-BR" dirty="0">
                <a:solidFill>
                  <a:srgbClr val="1F1F1F"/>
                </a:solidFill>
                <a:effectLst/>
                <a:latin typeface="Google Sans"/>
              </a:rPr>
              <a:t>O problema do treinamento de classificadores com classes desbalanceadas é que a maioria dos algoritmos de aprendizado de máquina assumem que as classes são distribuídas de forma relativamente equilibrada. Isso significa que, quando a classe minoritária é muito menor que a classe majoritária, o classificador tende a se concentrar em prever a classe majoritária com alta precisão, ignorando a classe minoritária.</a:t>
            </a:r>
          </a:p>
          <a:p>
            <a:pPr rtl="0"/>
            <a:r>
              <a:rPr lang="pt-BR" dirty="0">
                <a:solidFill>
                  <a:srgbClr val="1F1F1F"/>
                </a:solidFill>
                <a:effectLst/>
                <a:latin typeface="Google Sans"/>
              </a:rPr>
              <a:t>Isso pode levar a vários problemas:</a:t>
            </a:r>
          </a:p>
          <a:p>
            <a:pPr rtl="0">
              <a:buFont typeface="Arial" panose="020B0604020202020204" pitchFamily="34" charset="0"/>
              <a:buChar char="•"/>
            </a:pPr>
            <a:r>
              <a:rPr lang="pt-BR" b="1" dirty="0">
                <a:solidFill>
                  <a:srgbClr val="1F1F1F"/>
                </a:solidFill>
                <a:effectLst/>
                <a:latin typeface="Google Sans"/>
              </a:rPr>
              <a:t>Baixa acurácia na classificação da classe minoritária:</a:t>
            </a:r>
            <a:r>
              <a:rPr lang="pt-BR" dirty="0">
                <a:solidFill>
                  <a:srgbClr val="1F1F1F"/>
                </a:solidFill>
                <a:effectLst/>
                <a:latin typeface="Google Sans"/>
              </a:rPr>
              <a:t> O classificador pode ter uma alta acurácia geral, mas isso pode ser enganoso porque a maioria das previsões são para a classe majoritária. A acurácia para a classe minoritária pode ser muito baixa, o que pode ser um problema sério em aplicações onde a detecção da classe minoritária é crucial.</a:t>
            </a:r>
          </a:p>
          <a:p>
            <a:pPr rtl="0">
              <a:buFont typeface="Arial" panose="020B0604020202020204" pitchFamily="34" charset="0"/>
              <a:buChar char="•"/>
            </a:pPr>
            <a:r>
              <a:rPr lang="pt-BR" b="1" dirty="0">
                <a:solidFill>
                  <a:srgbClr val="1F1F1F"/>
                </a:solidFill>
                <a:effectLst/>
                <a:latin typeface="Google Sans"/>
              </a:rPr>
              <a:t>Dificuldade em identificar exemplos da classe minoritária:</a:t>
            </a:r>
            <a:r>
              <a:rPr lang="pt-BR" dirty="0">
                <a:solidFill>
                  <a:srgbClr val="1F1F1F"/>
                </a:solidFill>
                <a:effectLst/>
                <a:latin typeface="Google Sans"/>
              </a:rPr>
              <a:t> O classificador pode ter dificuldade em aprender as características da classe minoritária, pois há muito poucos exemplos para aprender. Isso pode levar a um alto número de falsos negativos, ou seja, exemplos da classe minoritária que são erroneamente classificados como classe majoritária.</a:t>
            </a:r>
          </a:p>
          <a:p>
            <a:pPr rtl="0">
              <a:buFont typeface="Arial" panose="020B0604020202020204" pitchFamily="34" charset="0"/>
              <a:buChar char="•"/>
            </a:pPr>
            <a:r>
              <a:rPr lang="pt-BR" b="1" dirty="0">
                <a:solidFill>
                  <a:srgbClr val="1F1F1F"/>
                </a:solidFill>
                <a:effectLst/>
                <a:latin typeface="Google Sans"/>
              </a:rPr>
              <a:t>Viés na seleção de características:</a:t>
            </a:r>
            <a:r>
              <a:rPr lang="pt-BR" dirty="0">
                <a:solidFill>
                  <a:srgbClr val="1F1F1F"/>
                </a:solidFill>
                <a:effectLst/>
                <a:latin typeface="Google Sans"/>
              </a:rPr>
              <a:t> O classificador pode selecionar características que são mais relevantes para a classe majoritária, ignorando características que são importantes para a classe minoritária. Isso pode levar a um modelo que é menos preciso na classificação da classe minoritária.</a:t>
            </a:r>
          </a:p>
          <a:p>
            <a:pPr rtl="0"/>
            <a:r>
              <a:rPr lang="pt-BR" dirty="0">
                <a:solidFill>
                  <a:srgbClr val="1F1F1F"/>
                </a:solidFill>
                <a:effectLst/>
                <a:latin typeface="Google Sans"/>
              </a:rPr>
              <a:t>Existem várias técnicas para lidar com o problema de classes desbalanceadas, como:</a:t>
            </a:r>
          </a:p>
          <a:p>
            <a:pPr rtl="0">
              <a:buFont typeface="Arial" panose="020B0604020202020204" pitchFamily="34" charset="0"/>
              <a:buChar char="•"/>
            </a:pPr>
            <a:r>
              <a:rPr lang="pt-BR" b="1" dirty="0" err="1">
                <a:solidFill>
                  <a:srgbClr val="1F1F1F"/>
                </a:solidFill>
                <a:effectLst/>
                <a:latin typeface="Google Sans"/>
              </a:rPr>
              <a:t>Reamostragem</a:t>
            </a:r>
            <a:r>
              <a:rPr lang="pt-BR" b="1" dirty="0">
                <a:solidFill>
                  <a:srgbClr val="1F1F1F"/>
                </a:solidFill>
                <a:effectLst/>
                <a:latin typeface="Google Sans"/>
              </a:rPr>
              <a:t>:</a:t>
            </a:r>
            <a:r>
              <a:rPr lang="pt-BR" dirty="0">
                <a:solidFill>
                  <a:srgbClr val="1F1F1F"/>
                </a:solidFill>
                <a:effectLst/>
                <a:latin typeface="Google Sans"/>
              </a:rPr>
              <a:t> Aumentar o número de exemplos da classe minoritária por meio de técnicas como </a:t>
            </a:r>
            <a:r>
              <a:rPr lang="pt-BR" dirty="0" err="1">
                <a:solidFill>
                  <a:srgbClr val="1F1F1F"/>
                </a:solidFill>
                <a:effectLst/>
                <a:latin typeface="Google Sans"/>
              </a:rPr>
              <a:t>sobreamostragem</a:t>
            </a:r>
            <a:r>
              <a:rPr lang="pt-BR" dirty="0">
                <a:solidFill>
                  <a:srgbClr val="1F1F1F"/>
                </a:solidFill>
                <a:effectLst/>
                <a:latin typeface="Google Sans"/>
              </a:rPr>
              <a:t> (gerando exemplos sintéticos da classe minoritária) ou </a:t>
            </a:r>
            <a:r>
              <a:rPr lang="pt-BR" dirty="0" err="1">
                <a:solidFill>
                  <a:srgbClr val="1F1F1F"/>
                </a:solidFill>
                <a:effectLst/>
                <a:latin typeface="Google Sans"/>
              </a:rPr>
              <a:t>subamostragem</a:t>
            </a:r>
            <a:r>
              <a:rPr lang="pt-BR" dirty="0">
                <a:solidFill>
                  <a:srgbClr val="1F1F1F"/>
                </a:solidFill>
                <a:effectLst/>
                <a:latin typeface="Google Sans"/>
              </a:rPr>
              <a:t> (removendo exemplos da classe majoritária).</a:t>
            </a:r>
          </a:p>
          <a:p>
            <a:pPr rtl="0">
              <a:buFont typeface="Arial" panose="020B0604020202020204" pitchFamily="34" charset="0"/>
              <a:buChar char="•"/>
            </a:pPr>
            <a:r>
              <a:rPr lang="pt-BR" b="1" dirty="0">
                <a:solidFill>
                  <a:srgbClr val="1F1F1F"/>
                </a:solidFill>
                <a:effectLst/>
                <a:latin typeface="Google Sans"/>
              </a:rPr>
              <a:t>Ponderação de classes:</a:t>
            </a:r>
            <a:r>
              <a:rPr lang="pt-BR" dirty="0">
                <a:solidFill>
                  <a:srgbClr val="1F1F1F"/>
                </a:solidFill>
                <a:effectLst/>
                <a:latin typeface="Google Sans"/>
              </a:rPr>
              <a:t> Atribuir pesos diferentes às classes durante o treinamento, dando mais importância à classe minoritária.</a:t>
            </a:r>
          </a:p>
          <a:p>
            <a:pPr rtl="0">
              <a:buFont typeface="Arial" panose="020B0604020202020204" pitchFamily="34" charset="0"/>
              <a:buChar char="•"/>
            </a:pPr>
            <a:r>
              <a:rPr lang="pt-BR" b="1" dirty="0">
                <a:solidFill>
                  <a:srgbClr val="1F1F1F"/>
                </a:solidFill>
                <a:effectLst/>
                <a:latin typeface="Google Sans"/>
              </a:rPr>
              <a:t>Algoritmos específicos para classes desbalanceadas:</a:t>
            </a:r>
            <a:r>
              <a:rPr lang="pt-BR" dirty="0">
                <a:solidFill>
                  <a:srgbClr val="1F1F1F"/>
                </a:solidFill>
                <a:effectLst/>
                <a:latin typeface="Google Sans"/>
              </a:rPr>
              <a:t> Existem algoritmos de aprendizado de máquina que foram </a:t>
            </a:r>
            <a:r>
              <a:rPr lang="pt-BR" dirty="0" err="1">
                <a:solidFill>
                  <a:srgbClr val="1F1F1F"/>
                </a:solidFill>
                <a:effectLst/>
                <a:latin typeface="Google Sans"/>
              </a:rPr>
              <a:t>specifically</a:t>
            </a:r>
            <a:r>
              <a:rPr lang="pt-BR" dirty="0">
                <a:solidFill>
                  <a:srgbClr val="1F1F1F"/>
                </a:solidFill>
                <a:effectLst/>
                <a:latin typeface="Google Sans"/>
              </a:rPr>
              <a:t> </a:t>
            </a:r>
            <a:r>
              <a:rPr lang="pt-BR" dirty="0" err="1">
                <a:solidFill>
                  <a:srgbClr val="1F1F1F"/>
                </a:solidFill>
                <a:effectLst/>
                <a:latin typeface="Google Sans"/>
              </a:rPr>
              <a:t>designed</a:t>
            </a:r>
            <a:r>
              <a:rPr lang="pt-BR" dirty="0">
                <a:solidFill>
                  <a:srgbClr val="1F1F1F"/>
                </a:solidFill>
                <a:effectLst/>
                <a:latin typeface="Google Sans"/>
              </a:rPr>
              <a:t> para lidar com o problema de classes desbalanceadas, como Random </a:t>
            </a:r>
            <a:r>
              <a:rPr lang="pt-BR" dirty="0" err="1">
                <a:solidFill>
                  <a:srgbClr val="1F1F1F"/>
                </a:solidFill>
                <a:effectLst/>
                <a:latin typeface="Google Sans"/>
              </a:rPr>
              <a:t>Oversampling</a:t>
            </a:r>
            <a:r>
              <a:rPr lang="pt-BR" dirty="0">
                <a:solidFill>
                  <a:srgbClr val="1F1F1F"/>
                </a:solidFill>
                <a:effectLst/>
                <a:latin typeface="Google Sans"/>
              </a:rPr>
              <a:t> Ensemble (ROSE) e </a:t>
            </a:r>
            <a:r>
              <a:rPr lang="pt-BR" dirty="0" err="1">
                <a:solidFill>
                  <a:srgbClr val="1F1F1F"/>
                </a:solidFill>
                <a:effectLst/>
                <a:latin typeface="Google Sans"/>
              </a:rPr>
              <a:t>Support</a:t>
            </a:r>
            <a:r>
              <a:rPr lang="pt-BR" dirty="0">
                <a:solidFill>
                  <a:srgbClr val="1F1F1F"/>
                </a:solidFill>
                <a:effectLst/>
                <a:latin typeface="Google Sans"/>
              </a:rPr>
              <a:t> Vector </a:t>
            </a:r>
            <a:r>
              <a:rPr lang="pt-BR" dirty="0" err="1">
                <a:solidFill>
                  <a:srgbClr val="1F1F1F"/>
                </a:solidFill>
                <a:effectLst/>
                <a:latin typeface="Google Sans"/>
              </a:rPr>
              <a:t>Machines</a:t>
            </a:r>
            <a:r>
              <a:rPr lang="pt-BR" dirty="0">
                <a:solidFill>
                  <a:srgbClr val="1F1F1F"/>
                </a:solidFill>
                <a:effectLst/>
                <a:latin typeface="Google Sans"/>
              </a:rPr>
              <a:t> (SVM) com ponderação de classes.</a:t>
            </a:r>
          </a:p>
          <a:p>
            <a:pPr rtl="0"/>
            <a:r>
              <a:rPr lang="pt-BR" dirty="0">
                <a:solidFill>
                  <a:srgbClr val="1F1F1F"/>
                </a:solidFill>
                <a:effectLst/>
                <a:latin typeface="Google Sans"/>
              </a:rPr>
              <a:t>A escolha da melhor técnica depende do tipo de problema e do conjunto de dados específico. É importante experimentar diferentes técnicas para encontrar a que funciona melhor para o seu problema.</a:t>
            </a:r>
          </a:p>
          <a:p>
            <a:pPr rtl="0"/>
            <a:r>
              <a:rPr lang="pt-BR" b="1" dirty="0">
                <a:solidFill>
                  <a:srgbClr val="1F1F1F"/>
                </a:solidFill>
                <a:effectLst/>
                <a:latin typeface="Google Sans"/>
              </a:rPr>
              <a:t>Recursos adicionais:</a:t>
            </a:r>
            <a:endParaRPr lang="pt-BR" dirty="0">
              <a:solidFill>
                <a:srgbClr val="1F1F1F"/>
              </a:solidFill>
              <a:effectLst/>
              <a:latin typeface="Google Sans"/>
            </a:endParaRPr>
          </a:p>
          <a:p>
            <a:pPr rtl="0">
              <a:buFont typeface="Arial" panose="020B0604020202020204" pitchFamily="34" charset="0"/>
              <a:buChar char="•"/>
            </a:pPr>
            <a:r>
              <a:rPr lang="pt-BR" dirty="0">
                <a:solidFill>
                  <a:srgbClr val="1F1F1F"/>
                </a:solidFill>
                <a:effectLst/>
                <a:latin typeface="Google Sans"/>
              </a:rPr>
              <a:t>Aprendizado supervisionado com conjuntos de dados desbalanceados: </a:t>
            </a:r>
            <a:r>
              <a:rPr lang="pt-BR" dirty="0">
                <a:solidFill>
                  <a:srgbClr val="0B57D0"/>
                </a:solidFill>
                <a:effectLst/>
                <a:latin typeface="Google Sans"/>
                <a:hlinkClick r:id="rId3"/>
              </a:rPr>
              <a:t>https://www.scielo.br/j/ca/a/pXMZjzHJcJtkLVYLLDHHTxw/</a:t>
            </a:r>
            <a:endParaRPr lang="pt-BR" dirty="0">
              <a:solidFill>
                <a:srgbClr val="1F1F1F"/>
              </a:solidFill>
              <a:effectLst/>
              <a:latin typeface="Google Sans"/>
            </a:endParaRPr>
          </a:p>
          <a:p>
            <a:pPr rtl="0">
              <a:buFont typeface="Arial" panose="020B0604020202020204" pitchFamily="34" charset="0"/>
              <a:buChar char="•"/>
            </a:pPr>
            <a:r>
              <a:rPr lang="pt-BR" dirty="0">
                <a:solidFill>
                  <a:srgbClr val="1F1F1F"/>
                </a:solidFill>
                <a:effectLst/>
                <a:latin typeface="Google Sans"/>
              </a:rPr>
              <a:t>Trabalhando com classes desbalanceadas em problemas Machine Learning: </a:t>
            </a:r>
            <a:r>
              <a:rPr lang="pt-BR" dirty="0">
                <a:solidFill>
                  <a:srgbClr val="0B57D0"/>
                </a:solidFill>
                <a:effectLst/>
                <a:latin typeface="Google Sans"/>
                <a:hlinkClick r:id="rId4"/>
              </a:rPr>
              <a:t>https://tatianaesc.medium.com/trabalhando-com-classes-desbalanceadas-em-problemas-machine-learning-29ee8db4a049</a:t>
            </a:r>
            <a:endParaRPr lang="pt-BR" dirty="0">
              <a:solidFill>
                <a:srgbClr val="1F1F1F"/>
              </a:solidFill>
              <a:effectLst/>
              <a:latin typeface="Google Sans"/>
            </a:endParaRPr>
          </a:p>
          <a:p>
            <a:pPr rtl="0">
              <a:buFont typeface="Arial" panose="020B0604020202020204" pitchFamily="34" charset="0"/>
              <a:buChar char="•"/>
            </a:pPr>
            <a:r>
              <a:rPr lang="pt-BR" dirty="0">
                <a:solidFill>
                  <a:srgbClr val="1F1F1F"/>
                </a:solidFill>
                <a:effectLst/>
                <a:latin typeface="Google Sans"/>
              </a:rPr>
              <a:t>Aprendizagem em conjuntos de dados com classes desbalanceadas: </a:t>
            </a:r>
            <a:r>
              <a:rPr lang="pt-BR" dirty="0">
                <a:solidFill>
                  <a:srgbClr val="0B57D0"/>
                </a:solidFill>
                <a:effectLst/>
                <a:latin typeface="Google Sans"/>
                <a:hlinkClick r:id="rId5"/>
              </a:rPr>
              <a:t>https://maquinasqueaprendem.com/2020/04/02/aprendizagem-em-conjuntos-de-dados-com-classes-desbalanceadas/</a:t>
            </a:r>
            <a:endParaRPr lang="pt-BR" dirty="0">
              <a:solidFill>
                <a:srgbClr val="1F1F1F"/>
              </a:solidFill>
              <a:effectLst/>
              <a:latin typeface="Google Sans"/>
            </a:endParaRP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4174029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dirty="0"/>
              <a:t>Exemplo</a:t>
            </a:r>
            <a:r>
              <a:rPr lang="pt-BR" dirty="0"/>
              <a:t>:</a:t>
            </a:r>
            <a:r>
              <a:rPr lang="pt-BR" baseline="0" dirty="0"/>
              <a:t> </a:t>
            </a:r>
            <a:r>
              <a:rPr lang="pt-BR" dirty="0"/>
              <a:t>https://colab.research.google.com/</a:t>
            </a:r>
            <a:r>
              <a:rPr lang="pt-BR" dirty="0" err="1"/>
              <a:t>github</a:t>
            </a:r>
            <a:r>
              <a:rPr lang="pt-BR" dirty="0"/>
              <a:t>/zz4fap/t320_aprendizado_de_maquina/</a:t>
            </a:r>
            <a:r>
              <a:rPr lang="pt-BR" dirty="0" err="1"/>
              <a:t>blob</a:t>
            </a:r>
            <a:r>
              <a:rPr lang="pt-BR" dirty="0"/>
              <a:t>/</a:t>
            </a:r>
            <a:r>
              <a:rPr lang="pt-BR" dirty="0" err="1"/>
              <a:t>main</a:t>
            </a:r>
            <a:r>
              <a:rPr lang="pt-BR" dirty="0"/>
              <a:t>/notebooks/classificação/</a:t>
            </a:r>
            <a:r>
              <a:rPr lang="pt-BR" dirty="0" err="1"/>
              <a:t>ClassificationOfFourClassesWithOvAandOvO.ipynb</a:t>
            </a:r>
            <a:endParaRPr lang="pt-BR" b="1" dirty="0"/>
          </a:p>
          <a:p>
            <a:endParaRPr lang="pt-BR" dirty="0"/>
          </a:p>
          <a:p>
            <a:endParaRPr lang="pt-BR" dirty="0"/>
          </a:p>
          <a:p>
            <a:r>
              <a:rPr lang="pt-BR" dirty="0"/>
              <a:t>Referências:</a:t>
            </a:r>
          </a:p>
          <a:p>
            <a:r>
              <a:rPr lang="pt-BR" dirty="0"/>
              <a:t>[1] https://scikit-learn.org/stable/modules/generated/sklearn.multiclass.OneVsOneClassifier.html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8</a:t>
            </a:fld>
            <a:endParaRPr lang="pt-BR"/>
          </a:p>
        </p:txBody>
      </p:sp>
    </p:spTree>
    <p:extLst>
      <p:ext uri="{BB962C8B-B14F-4D97-AF65-F5344CB8AC3E}">
        <p14:creationId xmlns:p14="http://schemas.microsoft.com/office/powerpoint/2010/main" val="3958710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dirty="0"/>
              <a:t>Exemplo</a:t>
            </a:r>
            <a:r>
              <a:rPr lang="pt-BR" dirty="0"/>
              <a:t>:</a:t>
            </a:r>
            <a:r>
              <a:rPr lang="pt-BR" baseline="0" dirty="0"/>
              <a:t> </a:t>
            </a:r>
            <a:r>
              <a:rPr lang="pt-BR" dirty="0"/>
              <a:t>https://colab.research.google.com/</a:t>
            </a:r>
            <a:r>
              <a:rPr lang="pt-BR" dirty="0" err="1"/>
              <a:t>github</a:t>
            </a:r>
            <a:r>
              <a:rPr lang="pt-BR" dirty="0"/>
              <a:t>/zz4fap/t320_aprendizado_de_maquina/</a:t>
            </a:r>
            <a:r>
              <a:rPr lang="pt-BR" dirty="0" err="1"/>
              <a:t>blob</a:t>
            </a:r>
            <a:r>
              <a:rPr lang="pt-BR" dirty="0"/>
              <a:t>/</a:t>
            </a:r>
            <a:r>
              <a:rPr lang="pt-BR" dirty="0" err="1"/>
              <a:t>main</a:t>
            </a:r>
            <a:r>
              <a:rPr lang="pt-BR" dirty="0"/>
              <a:t>/notebooks/classificação/</a:t>
            </a:r>
            <a:r>
              <a:rPr lang="pt-BR" dirty="0" err="1"/>
              <a:t>ClassificationOfFourClassesWithOvAandOvO.ipynb</a:t>
            </a:r>
            <a:endParaRPr lang="pt-BR" b="1" dirty="0"/>
          </a:p>
          <a:p>
            <a:endParaRPr lang="pt-BR" dirty="0"/>
          </a:p>
          <a:p>
            <a:endParaRPr lang="pt-BR" dirty="0"/>
          </a:p>
          <a:p>
            <a:r>
              <a:rPr lang="pt-BR" dirty="0"/>
              <a:t>Referências:</a:t>
            </a:r>
          </a:p>
          <a:p>
            <a:r>
              <a:rPr lang="pt-BR" dirty="0"/>
              <a:t>[1] https://scikit-learn.org/stable/modules/generated/sklearn.multiclass.OneVsOneClassifier.html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9</a:t>
            </a:fld>
            <a:endParaRPr lang="pt-BR"/>
          </a:p>
        </p:txBody>
      </p:sp>
    </p:spTree>
    <p:extLst>
      <p:ext uri="{BB962C8B-B14F-4D97-AF65-F5344CB8AC3E}">
        <p14:creationId xmlns:p14="http://schemas.microsoft.com/office/powerpoint/2010/main" val="2399780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Exemplo: https://colab.research.google.com/github/zz4fap/t320_aprendizado_de_maquina/blob/main/notebooks/classificação/ClassificationOfFourClassesWithOvAandOvO_SciKitLearn.ipynb</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a:t>
            </a:r>
            <a:r>
              <a:rPr lang="pt-BR" baseline="0" dirty="0"/>
              <a:t> </a:t>
            </a:r>
            <a:r>
              <a:rPr lang="pt-BR" dirty="0"/>
              <a:t>https://colab.research.google.com/</a:t>
            </a:r>
            <a:r>
              <a:rPr lang="pt-BR" dirty="0" err="1"/>
              <a:t>github</a:t>
            </a:r>
            <a:r>
              <a:rPr lang="pt-BR" dirty="0"/>
              <a:t>/zz4fap/t320_aprendizado_de_maquina/</a:t>
            </a:r>
            <a:r>
              <a:rPr lang="pt-BR" dirty="0" err="1"/>
              <a:t>blob</a:t>
            </a:r>
            <a:r>
              <a:rPr lang="pt-BR" dirty="0"/>
              <a:t>/</a:t>
            </a:r>
            <a:r>
              <a:rPr lang="pt-BR" dirty="0" err="1"/>
              <a:t>main</a:t>
            </a:r>
            <a:r>
              <a:rPr lang="pt-BR" dirty="0"/>
              <a:t>/notebooks/classificação/</a:t>
            </a:r>
            <a:r>
              <a:rPr lang="pt-BR" dirty="0" err="1"/>
              <a:t>ClassificationOfFourClassesWithOvAandOvO_SciKitLearn.ipynb</a:t>
            </a:r>
            <a:endParaRPr lang="pt-BR" dirty="0"/>
          </a:p>
          <a:p>
            <a:endParaRPr lang="pt-BR" dirty="0"/>
          </a:p>
          <a:p>
            <a:endParaRPr lang="pt-BR" dirty="0"/>
          </a:p>
          <a:p>
            <a:r>
              <a:rPr lang="pt-BR" sz="1200" b="0" i="0" kern="1200" dirty="0">
                <a:solidFill>
                  <a:schemeClr val="tx1"/>
                </a:solidFill>
                <a:effectLst/>
                <a:latin typeface="+mn-lt"/>
                <a:ea typeface="+mn-ea"/>
                <a:cs typeface="+mn-cs"/>
              </a:rPr>
              <a:t>A abordagem um-contra-um pode ser mais adequada quando o número de classes é pequeno ou quando há desbalanceamento entre as classes. Isso ocorre porque a abordagem um-contra-um treina vários classificadores binários, cada um focado em discriminar apenas duas classes, o que pode ser mais eficiente do que treinar um único modelo para discriminar várias classes. Além disso, a abordagem um-contra-um pode ser menos suscetível a erros devido ao desbalanceamento das classes, pois cada classificador binário é treinado em um conjunto de dados equilibrado contendo apenas duas classes.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 outro lado, a abordagem um-contra-o-resto pode ser mais adequada quando o número de classes é grande ou quando as classes são bem equilibradas. Isso ocorre porque a abordagem um-contra-o-resto treina um único modelo para discriminar todas as classes, o que pode ser mais eficiente do que treinar vários modelos de classificação binária. Além disso, a abordagem um-contra-o-resto pode ser mais robusta em relação a variações ou ruídos nos dados, pois o modelo é treinado para distinguir cada classe das demais.</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10</a:t>
            </a:fld>
            <a:endParaRPr lang="pt-BR"/>
          </a:p>
        </p:txBody>
      </p:sp>
    </p:spTree>
    <p:extLst>
      <p:ext uri="{BB962C8B-B14F-4D97-AF65-F5344CB8AC3E}">
        <p14:creationId xmlns:p14="http://schemas.microsoft.com/office/powerpoint/2010/main" val="4255333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ou </a:t>
            </a:r>
            <a:r>
              <a:rPr lang="pt-BR" dirty="0" err="1"/>
              <a:t>multi-label</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generalização da função logística para múltiplas entradas é a função de ativação de função softmax, usada em regressões logísticas </a:t>
            </a:r>
            <a:r>
              <a:rPr lang="pt-BR" sz="1200" b="0" i="0" kern="1200" dirty="0" err="1">
                <a:solidFill>
                  <a:schemeClr val="tx1"/>
                </a:solidFill>
                <a:effectLst/>
                <a:latin typeface="+mn-lt"/>
                <a:ea typeface="+mn-ea"/>
                <a:cs typeface="+mn-cs"/>
              </a:rPr>
              <a:t>multinomiais</a:t>
            </a:r>
            <a:r>
              <a:rPr lang="pt-BR" sz="1200" b="0" i="0" kern="1200" dirty="0">
                <a:solidFill>
                  <a:schemeClr val="tx1"/>
                </a:solidFill>
                <a:effectLst/>
                <a:latin typeface="+mn-lt"/>
                <a:ea typeface="+mn-ea"/>
                <a:cs typeface="+mn-cs"/>
              </a:rPr>
              <a:t>.</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Saída interpretada como as probabilidades de uma variável aleatória multinomial, ou seja, as probabilidades de uma variável categoricamente distribuída, dado um conjunto de atributos.</a:t>
            </a:r>
          </a:p>
          <a:p>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uma abordagem mais robusta que as anteriores e que consiste em criar um </a:t>
            </a:r>
            <a:r>
              <a:rPr lang="pt-BR" b="1" i="1" dirty="0"/>
              <a:t>único</a:t>
            </a:r>
            <a:r>
              <a:rPr lang="pt-BR" dirty="0"/>
              <a:t> modelo em que cada saída representa a </a:t>
            </a:r>
            <a:r>
              <a:rPr lang="pt-BR" b="1" i="1" dirty="0"/>
              <a:t>probabilidade</a:t>
            </a:r>
            <a:r>
              <a:rPr lang="pt-BR" dirty="0"/>
              <a:t> de um exemplo pertencer a uma classe específica.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1697816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1" kern="1200" dirty="0">
                <a:solidFill>
                  <a:schemeClr val="tx1"/>
                </a:solidFill>
                <a:effectLst/>
                <a:latin typeface="+mn-lt"/>
                <a:ea typeface="+mn-ea"/>
                <a:cs typeface="+mn-cs"/>
              </a:rPr>
              <a:t>Exemplos de classes não mutuamente exclusivas:</a:t>
            </a:r>
          </a:p>
          <a:p>
            <a:r>
              <a:rPr lang="pt-BR" sz="1200" b="1" i="0" kern="1200" dirty="0">
                <a:solidFill>
                  <a:schemeClr val="tx1"/>
                </a:solidFill>
                <a:effectLst/>
                <a:latin typeface="+mn-lt"/>
                <a:ea typeface="+mn-ea"/>
                <a:cs typeface="+mn-cs"/>
              </a:rPr>
              <a:t>Classificação de documentos por tópicos</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documento pode ser sobre "Política", "Economia" e "Saúde" ao mesmo tempo.</a:t>
            </a:r>
          </a:p>
          <a:p>
            <a:r>
              <a:rPr lang="pt-BR" sz="1200" b="1" i="0" kern="1200" dirty="0">
                <a:solidFill>
                  <a:schemeClr val="tx1"/>
                </a:solidFill>
                <a:effectLst/>
                <a:latin typeface="+mn-lt"/>
                <a:ea typeface="+mn-ea"/>
                <a:cs typeface="+mn-cs"/>
              </a:rPr>
              <a:t>Reconhecimento de objetos em imagens</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Uma imagem pode conter "gato", "cão" e "árvore" simultaneamente.</a:t>
            </a:r>
          </a:p>
          <a:p>
            <a:r>
              <a:rPr lang="pt-BR" sz="1200" b="1" i="0" kern="1200" dirty="0">
                <a:solidFill>
                  <a:schemeClr val="tx1"/>
                </a:solidFill>
                <a:effectLst/>
                <a:latin typeface="+mn-lt"/>
                <a:ea typeface="+mn-ea"/>
                <a:cs typeface="+mn-cs"/>
              </a:rPr>
              <a:t>Sistema de recomendação de filmes por gêneros</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filme pode ser classificado como "Comédia", "Romance" e "Drama".</a:t>
            </a:r>
          </a:p>
          <a:p>
            <a:r>
              <a:rPr lang="pt-BR" sz="1200" b="1" i="0" kern="1200" dirty="0">
                <a:solidFill>
                  <a:schemeClr val="tx1"/>
                </a:solidFill>
                <a:effectLst/>
                <a:latin typeface="+mn-lt"/>
                <a:ea typeface="+mn-ea"/>
                <a:cs typeface="+mn-cs"/>
              </a:rPr>
              <a:t>Diagnóstico médico</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paciente pode ter múltiplas doenças: "diabetes", "hipertensão" e "asma".</a:t>
            </a:r>
          </a:p>
          <a:p>
            <a:r>
              <a:rPr lang="pt-BR" sz="1200" b="1" i="0" kern="1200" dirty="0">
                <a:solidFill>
                  <a:schemeClr val="tx1"/>
                </a:solidFill>
                <a:effectLst/>
                <a:latin typeface="+mn-lt"/>
                <a:ea typeface="+mn-ea"/>
                <a:cs typeface="+mn-cs"/>
              </a:rPr>
              <a:t>Análise de sentimentos em texto</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texto pode expressar "alegria", "surpresa" e "raiva" ao mesmo tempo.</a:t>
            </a:r>
          </a:p>
          <a:p>
            <a:r>
              <a:rPr lang="pt-BR" sz="1200" b="1" i="0" kern="1200" dirty="0" err="1">
                <a:solidFill>
                  <a:schemeClr val="tx1"/>
                </a:solidFill>
                <a:effectLst/>
                <a:latin typeface="+mn-lt"/>
                <a:ea typeface="+mn-ea"/>
                <a:cs typeface="+mn-cs"/>
              </a:rPr>
              <a:t>Tags</a:t>
            </a:r>
            <a:r>
              <a:rPr lang="pt-BR" sz="1200" b="1" i="0" kern="1200" dirty="0">
                <a:solidFill>
                  <a:schemeClr val="tx1"/>
                </a:solidFill>
                <a:effectLst/>
                <a:latin typeface="+mn-lt"/>
                <a:ea typeface="+mn-ea"/>
                <a:cs typeface="+mn-cs"/>
              </a:rPr>
              <a:t> em produtos de e-commerce</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produto pode ter </a:t>
            </a:r>
            <a:r>
              <a:rPr lang="pt-BR" sz="1200" b="0" i="0" kern="1200" dirty="0" err="1">
                <a:solidFill>
                  <a:schemeClr val="tx1"/>
                </a:solidFill>
                <a:effectLst/>
                <a:latin typeface="+mn-lt"/>
                <a:ea typeface="+mn-ea"/>
                <a:cs typeface="+mn-cs"/>
              </a:rPr>
              <a:t>tags</a:t>
            </a:r>
            <a:r>
              <a:rPr lang="pt-BR" sz="1200" b="0" i="0" kern="1200" dirty="0">
                <a:solidFill>
                  <a:schemeClr val="tx1"/>
                </a:solidFill>
                <a:effectLst/>
                <a:latin typeface="+mn-lt"/>
                <a:ea typeface="+mn-ea"/>
                <a:cs typeface="+mn-cs"/>
              </a:rPr>
              <a:t> como "barato", "ecológico", "promoção" e "novidade".</a:t>
            </a:r>
          </a:p>
          <a:p>
            <a:r>
              <a:rPr lang="pt-BR" sz="1200" b="1" i="0" kern="1200" dirty="0">
                <a:solidFill>
                  <a:schemeClr val="tx1"/>
                </a:solidFill>
                <a:effectLst/>
                <a:latin typeface="+mn-lt"/>
                <a:ea typeface="+mn-ea"/>
                <a:cs typeface="+mn-cs"/>
              </a:rPr>
              <a:t>Classificação de músicas por gênero</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Uma música pode ser "rock", "eletrônica" e "experimental" simultaneamente.</a:t>
            </a:r>
          </a:p>
          <a:p>
            <a:r>
              <a:rPr lang="pt-BR" dirty="0"/>
              <a:t/>
            </a:r>
            <a:br>
              <a:rPr lang="pt-BR" dirty="0"/>
            </a:br>
            <a:r>
              <a:rPr lang="pt-BR" dirty="0"/>
              <a:t/>
            </a:r>
            <a:br>
              <a:rPr lang="pt-BR" dirty="0"/>
            </a:br>
            <a:r>
              <a:rPr lang="pt-BR" dirty="0"/>
              <a:t>O classificador Softmax prevê/prediz apenas uma classe de cada vez (ou seja, ele é </a:t>
            </a:r>
            <a:r>
              <a:rPr lang="pt-BR" dirty="0" err="1"/>
              <a:t>multiclasse</a:t>
            </a:r>
            <a:r>
              <a:rPr lang="pt-BR" dirty="0"/>
              <a:t>, e não </a:t>
            </a:r>
            <a:r>
              <a:rPr lang="pt-BR" dirty="0" err="1"/>
              <a:t>multi-saída</a:t>
            </a:r>
            <a:r>
              <a:rPr lang="pt-BR" dirty="0"/>
              <a:t> ou </a:t>
            </a:r>
            <a:r>
              <a:rPr lang="pt-BR" dirty="0" err="1"/>
              <a:t>multi-label</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generalização da função logística para múltiplas entradas é a função de ativação de função softmax, usada em regressões logísticas </a:t>
            </a:r>
            <a:r>
              <a:rPr lang="pt-BR" sz="1200" b="0" i="0" kern="1200" dirty="0" err="1">
                <a:solidFill>
                  <a:schemeClr val="tx1"/>
                </a:solidFill>
                <a:effectLst/>
                <a:latin typeface="+mn-lt"/>
                <a:ea typeface="+mn-ea"/>
                <a:cs typeface="+mn-cs"/>
              </a:rPr>
              <a:t>multinomiais</a:t>
            </a:r>
            <a:r>
              <a:rPr lang="pt-BR" sz="1200" b="0" i="0" kern="1200" dirty="0">
                <a:solidFill>
                  <a:schemeClr val="tx1"/>
                </a:solidFill>
                <a:effectLst/>
                <a:latin typeface="+mn-lt"/>
                <a:ea typeface="+mn-ea"/>
                <a:cs typeface="+mn-cs"/>
              </a:rPr>
              <a:t>.</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Saída interpretada como as probabilidades de uma variável aleatória multinomial, ou seja, as probabilidades de uma variável categoricamente distribuída, dado um conjunto de atributos.</a:t>
            </a:r>
          </a:p>
          <a:p>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uma abordagem mais robusta que as anteriores e que consiste em criar um </a:t>
            </a:r>
            <a:r>
              <a:rPr lang="pt-BR" b="1" i="1" dirty="0"/>
              <a:t>único</a:t>
            </a:r>
            <a:r>
              <a:rPr lang="pt-BR" dirty="0"/>
              <a:t> modelo em que cada saída representa a </a:t>
            </a:r>
            <a:r>
              <a:rPr lang="pt-BR" b="1" i="1" dirty="0"/>
              <a:t>probabilidade</a:t>
            </a:r>
            <a:r>
              <a:rPr lang="pt-BR" dirty="0"/>
              <a:t> de um exemplo pertencer a uma classe específica.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3595997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endParaRPr lang="pt-BR" dirty="0"/>
          </a:p>
          <a:p>
            <a:endParaRPr lang="en-US"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1477457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somatório de termos exponenciais no denominador </a:t>
                </a:r>
                <a:r>
                  <a:rPr lang="pt-BR" b="1" dirty="0">
                    <a:solidFill>
                      <a:srgbClr val="00B050"/>
                    </a:solidFill>
                  </a:rPr>
                  <a:t>normaliza</a:t>
                </a:r>
                <a:r>
                  <a:rPr lang="pt-BR" dirty="0"/>
                  <a:t> o valor da </a:t>
                </a:r>
                <a:r>
                  <a:rPr lang="pt-BR" i="1" dirty="0"/>
                  <a:t>q</a:t>
                </a:r>
                <a:r>
                  <a:rPr lang="pt-BR" dirty="0"/>
                  <a:t>-ésima saída de tal forma que o somatório das </a:t>
                </a:r>
                <a14:m>
                  <m:oMath xmlns:m="http://schemas.openxmlformats.org/officeDocument/2006/math">
                    <m:r>
                      <a:rPr lang="pt-BR" i="1">
                        <a:latin typeface="Cambria Math" panose="02040503050406030204" pitchFamily="18" charset="0"/>
                      </a:rPr>
                      <m:t>𝑄</m:t>
                    </m:r>
                  </m:oMath>
                </a14:m>
                <a:r>
                  <a:rPr lang="pt-BR" dirty="0"/>
                  <a:t> saídas seja igual a 1.</a:t>
                </a:r>
              </a:p>
              <a:p>
                <a:pPr algn="l"/>
                <a:endParaRPr lang="pt-BR" b="0" i="0" dirty="0">
                  <a:solidFill>
                    <a:srgbClr val="374151"/>
                  </a:solidFill>
                  <a:effectLst/>
                  <a:latin typeface="Söhne"/>
                </a:endParaRPr>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smtClean="0"/>
                  <a:t>O </a:t>
                </a:r>
                <a:r>
                  <a:rPr lang="pt-BR" dirty="0"/>
                  <a:t>somatório de termos exponenciais no denominador </a:t>
                </a:r>
                <a:r>
                  <a:rPr lang="pt-BR" b="1" dirty="0">
                    <a:solidFill>
                      <a:srgbClr val="00B050"/>
                    </a:solidFill>
                  </a:rPr>
                  <a:t>normaliza</a:t>
                </a:r>
                <a:r>
                  <a:rPr lang="pt-BR" dirty="0"/>
                  <a:t> o valor da </a:t>
                </a:r>
                <a:r>
                  <a:rPr lang="pt-BR" i="1" dirty="0"/>
                  <a:t>q</a:t>
                </a:r>
                <a:r>
                  <a:rPr lang="pt-BR" dirty="0"/>
                  <a:t>-ésima saída de tal forma que o somatório das </a:t>
                </a:r>
                <a:r>
                  <a:rPr lang="pt-BR" i="0">
                    <a:latin typeface="Cambria Math" panose="02040503050406030204" pitchFamily="18" charset="0"/>
                  </a:rPr>
                  <a:t>𝑄</a:t>
                </a:r>
                <a:r>
                  <a:rPr lang="pt-BR" dirty="0"/>
                  <a:t> saídas seja igual a </a:t>
                </a:r>
                <a:r>
                  <a:rPr lang="pt-BR" dirty="0" smtClean="0"/>
                  <a:t>1.</a:t>
                </a:r>
                <a:endParaRPr lang="pt-BR" dirty="0"/>
              </a:p>
              <a:p>
                <a:pPr algn="l"/>
                <a:endParaRPr lang="pt-BR" b="0" i="0" dirty="0">
                  <a:solidFill>
                    <a:srgbClr val="374151"/>
                  </a:solidFill>
                  <a:effectLst/>
                  <a:latin typeface="Söhne"/>
                </a:endParaRPr>
              </a:p>
            </p:txBody>
          </p:sp>
        </mc:Fallback>
      </mc:AlternateContent>
      <p:sp>
        <p:nvSpPr>
          <p:cNvPr id="4" name="Espaço Reservado para Número de Slide 3"/>
          <p:cNvSpPr>
            <a:spLocks noGrp="1"/>
          </p:cNvSpPr>
          <p:nvPr>
            <p:ph type="sldNum" sz="quarter" idx="5"/>
          </p:nvPr>
        </p:nvSpPr>
        <p:spPr/>
        <p:txBody>
          <a:bodyPr/>
          <a:lstStyle/>
          <a:p>
            <a:fld id="{6FC8D850-966F-45A6-8DE7-15B891E7D40D}" type="slidenum">
              <a:rPr lang="pt-BR" smtClean="0"/>
              <a:t>14</a:t>
            </a:fld>
            <a:endParaRPr lang="pt-BR"/>
          </a:p>
        </p:txBody>
      </p:sp>
    </p:spTree>
    <p:extLst>
      <p:ext uri="{BB962C8B-B14F-4D97-AF65-F5344CB8AC3E}">
        <p14:creationId xmlns:p14="http://schemas.microsoft.com/office/powerpoint/2010/main" val="3334510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uma tarefa de aprendizado de máquina em que um modelo é treinado para atribuir múltiplas etiquetas a uma única instância de dados. Em outras palavras, cada exemplo de entrada pode ser associado a mais de uma classe ou categoria ao mesmo tempo. Isso difere da classificação </a:t>
            </a:r>
            <a:r>
              <a:rPr lang="pt-BR" b="0" i="0" dirty="0" err="1">
                <a:solidFill>
                  <a:srgbClr val="374151"/>
                </a:solidFill>
                <a:effectLst/>
                <a:latin typeface="Söhne"/>
              </a:rPr>
              <a:t>multiclasse</a:t>
            </a:r>
            <a:r>
              <a:rPr lang="pt-BR" b="0" i="0" dirty="0">
                <a:solidFill>
                  <a:srgbClr val="374151"/>
                </a:solidFill>
                <a:effectLst/>
                <a:latin typeface="Söhne"/>
              </a:rPr>
              <a:t>, onde cada exemplo é atribuído a uma única classe exclusiva.</a:t>
            </a:r>
          </a:p>
          <a:p>
            <a:pPr algn="l"/>
            <a:endParaRPr lang="pt-BR" b="0" i="0" dirty="0">
              <a:solidFill>
                <a:srgbClr val="374151"/>
              </a:solidFill>
              <a:effectLst/>
              <a:latin typeface="Söhne"/>
            </a:endParaRPr>
          </a:p>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frequentemente usada em situações em que os dados podem pertencer a várias categorias simultaneamente. Por exemplo, na análise de texto, um modelo pode ser treinado para categorizar um artigo em tópicos múltiplos, como "tecnologia", "ciência" e "saúde", tudo ao mesmo tempo.</a:t>
            </a:r>
          </a:p>
          <a:p>
            <a:pPr algn="l"/>
            <a:endParaRPr lang="pt-BR" b="0" i="0" dirty="0">
              <a:solidFill>
                <a:srgbClr val="374151"/>
              </a:solidFill>
              <a:effectLst/>
              <a:latin typeface="Söhne"/>
            </a:endParaRPr>
          </a:p>
          <a:p>
            <a:pPr algn="l"/>
            <a:r>
              <a:rPr lang="pt-BR" b="0" i="0" dirty="0">
                <a:solidFill>
                  <a:srgbClr val="374151"/>
                </a:solidFill>
                <a:effectLst/>
                <a:latin typeface="Söhne"/>
              </a:rPr>
              <a:t>Para lidar com a classificação </a:t>
            </a:r>
            <a:r>
              <a:rPr lang="pt-BR" b="0" i="0" dirty="0" err="1">
                <a:solidFill>
                  <a:srgbClr val="374151"/>
                </a:solidFill>
                <a:effectLst/>
                <a:latin typeface="Söhne"/>
              </a:rPr>
              <a:t>multilabel</a:t>
            </a:r>
            <a:r>
              <a:rPr lang="pt-BR" b="0" i="0" dirty="0">
                <a:solidFill>
                  <a:srgbClr val="374151"/>
                </a:solidFill>
                <a:effectLst/>
                <a:latin typeface="Söhne"/>
              </a:rPr>
              <a:t>, as funções de ativação na camada de saída da rede neural devem ser escolhidas de acordo com o problema. A função de ativação mais comum nesse contexto é a </a:t>
            </a:r>
            <a:r>
              <a:rPr lang="pt-BR" b="0" i="0" dirty="0" err="1">
                <a:solidFill>
                  <a:srgbClr val="374151"/>
                </a:solidFill>
                <a:effectLst/>
                <a:latin typeface="Söhne"/>
              </a:rPr>
              <a:t>sigmoid</a:t>
            </a:r>
            <a:r>
              <a:rPr lang="pt-BR" b="0" i="0" dirty="0">
                <a:solidFill>
                  <a:srgbClr val="374151"/>
                </a:solidFill>
                <a:effectLst/>
                <a:latin typeface="Söhne"/>
              </a:rPr>
              <a:t>, que produz saídas entre 0 e 1, representando as probabilidades de pertencer a cada classe individual.</a:t>
            </a:r>
          </a:p>
          <a:p>
            <a:pPr algn="l"/>
            <a:endParaRPr lang="pt-BR" b="0" i="0" dirty="0">
              <a:solidFill>
                <a:srgbClr val="374151"/>
              </a:solidFill>
              <a:effectLst/>
              <a:latin typeface="Söhne"/>
            </a:endParaRPr>
          </a:p>
          <a:p>
            <a:pPr algn="l"/>
            <a:r>
              <a:rPr lang="pt-BR" b="0" i="0" dirty="0">
                <a:solidFill>
                  <a:srgbClr val="374151"/>
                </a:solidFill>
                <a:effectLst/>
                <a:latin typeface="Söhne"/>
              </a:rPr>
              <a:t>No treinamento, uma abordagem comum é usar a função de perda de entropia cruzada binária (</a:t>
            </a:r>
            <a:r>
              <a:rPr lang="pt-BR" b="0" i="0" dirty="0" err="1">
                <a:solidFill>
                  <a:srgbClr val="374151"/>
                </a:solidFill>
                <a:effectLst/>
                <a:latin typeface="Söhne"/>
              </a:rPr>
              <a:t>Binary</a:t>
            </a:r>
            <a:r>
              <a:rPr lang="pt-BR" b="0" i="0" dirty="0">
                <a:solidFill>
                  <a:srgbClr val="374151"/>
                </a:solidFill>
                <a:effectLst/>
                <a:latin typeface="Söhne"/>
              </a:rPr>
              <a:t> Cross-</a:t>
            </a:r>
            <a:r>
              <a:rPr lang="pt-BR" b="0" i="0" dirty="0" err="1">
                <a:solidFill>
                  <a:srgbClr val="374151"/>
                </a:solidFill>
                <a:effectLst/>
                <a:latin typeface="Söhne"/>
              </a:rPr>
              <a:t>Entropy</a:t>
            </a:r>
            <a:r>
              <a:rPr lang="pt-BR" b="0" i="0" dirty="0">
                <a:solidFill>
                  <a:srgbClr val="374151"/>
                </a:solidFill>
                <a:effectLst/>
                <a:latin typeface="Söhne"/>
              </a:rPr>
              <a:t>) para cada etiqueta individual. Cada etiqueta é tratada como uma tarefa de classificação binária, onde a perda é calculada entre a saída prevista e o valor real (0 ou 1) para cada etiqueta.</a:t>
            </a:r>
          </a:p>
          <a:p>
            <a:pPr algn="l"/>
            <a:endParaRPr lang="pt-BR" b="0" i="0" dirty="0">
              <a:solidFill>
                <a:srgbClr val="374151"/>
              </a:solidFill>
              <a:effectLst/>
              <a:latin typeface="Söhne"/>
            </a:endParaRPr>
          </a:p>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aplicada em várias áreas, como análise de texto, processamento de linguagem natural, bioinformática e sistemas de recomendação, onde os dados podem ser associados a múltiplas categorias simultaneamente.</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1369131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endParaRPr lang="pt-BR" dirty="0"/>
          </a:p>
          <a:p>
            <a:endParaRPr lang="en-US"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2468952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dirty="0"/>
              <a:t>Observe que, quando existem apenas duas classes (Q = 2), a função de erro acima é equivalente à função de erro da regressão logística</a:t>
            </a:r>
            <a:r>
              <a:rPr lang="pt-BR" baseline="0" dirty="0"/>
              <a:t>.</a:t>
            </a:r>
            <a:endParaRPr lang="pt-BR" dirty="0"/>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1571646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22</a:t>
            </a:fld>
            <a:endParaRPr lang="pt-BR"/>
          </a:p>
        </p:txBody>
      </p:sp>
    </p:spTree>
    <p:extLst>
      <p:ext uri="{BB962C8B-B14F-4D97-AF65-F5344CB8AC3E}">
        <p14:creationId xmlns:p14="http://schemas.microsoft.com/office/powerpoint/2010/main" val="1294099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pt-BR" sz="1200" i="1" smtClean="0">
                            <a:latin typeface="Cambria Math" panose="02040503050406030204" pitchFamily="18" charset="0"/>
                          </a:rPr>
                        </m:ctrlPr>
                      </m:sSubPr>
                      <m:e>
                        <m:r>
                          <a:rPr lang="pt-BR" sz="1200" b="1" i="1">
                            <a:latin typeface="Cambria Math" panose="02040503050406030204" pitchFamily="18" charset="0"/>
                          </a:rPr>
                          <m:t>𝒚</m:t>
                        </m:r>
                      </m:e>
                      <m:sub>
                        <m:r>
                          <a:rPr lang="pt-BR" sz="1200" b="0" i="1" smtClean="0">
                            <a:latin typeface="Cambria Math" panose="02040503050406030204" pitchFamily="18" charset="0"/>
                          </a:rPr>
                          <m:t>𝑞</m:t>
                        </m:r>
                      </m:sub>
                    </m:sSub>
                  </m:oMath>
                </a14:m>
                <a:r>
                  <a:rPr lang="pt-BR" sz="1200" b="0" i="0" dirty="0">
                    <a:solidFill>
                      <a:srgbClr val="000000"/>
                    </a:solidFill>
                    <a:effectLst/>
                    <a:latin typeface="CambriaMath"/>
                  </a:rPr>
                  <a:t> vetor coluna composto pelo</a:t>
                </a:r>
                <a:r>
                  <a:rPr lang="pt-BR" sz="1200" b="0" i="0" baseline="0" dirty="0">
                    <a:solidFill>
                      <a:srgbClr val="000000"/>
                    </a:solidFill>
                    <a:effectLst/>
                    <a:latin typeface="CambriaMath"/>
                  </a:rPr>
                  <a:t> </a:t>
                </a:r>
                <a:r>
                  <a:rPr lang="pt-BR" sz="1200" b="0" i="0" dirty="0">
                    <a:solidFill>
                      <a:srgbClr val="000000"/>
                    </a:solidFill>
                    <a:effectLst/>
                    <a:latin typeface="CambriaMath"/>
                  </a:rPr>
                  <a:t>q-ésimo elemento</a:t>
                </a:r>
                <a:r>
                  <a:rPr lang="pt-BR" sz="1200" b="0" i="0" baseline="0" dirty="0">
                    <a:solidFill>
                      <a:srgbClr val="000000"/>
                    </a:solidFill>
                    <a:effectLst/>
                    <a:latin typeface="CambriaMath"/>
                  </a:rPr>
                  <a:t> do vetor de rótulo na codificação </a:t>
                </a:r>
                <a:r>
                  <a:rPr lang="pt-BR" sz="1200" b="0" i="0" baseline="0" dirty="0" err="1">
                    <a:solidFill>
                      <a:srgbClr val="000000"/>
                    </a:solidFill>
                    <a:effectLst/>
                    <a:latin typeface="CambriaMath"/>
                  </a:rPr>
                  <a:t>one</a:t>
                </a:r>
                <a:r>
                  <a:rPr lang="pt-BR" sz="1200" b="0" i="0" baseline="0" dirty="0">
                    <a:solidFill>
                      <a:srgbClr val="000000"/>
                    </a:solidFill>
                    <a:effectLst/>
                    <a:latin typeface="CambriaMath"/>
                  </a:rPr>
                  <a:t>-hot </a:t>
                </a:r>
                <a:r>
                  <a:rPr lang="pt-BR" baseline="0" dirty="0"/>
                  <a:t>para cada um dos N vetores de atributo.</a:t>
                </a:r>
                <a:endParaRPr lang="pt-BR" sz="1200" b="0" i="0" baseline="0" dirty="0">
                  <a:solidFill>
                    <a:srgbClr val="000000"/>
                  </a:solidFill>
                  <a:effectLst/>
                  <a:latin typeface="CambriaMath"/>
                </a:endParaRPr>
              </a:p>
              <a:p>
                <a14:m>
                  <m:oMath xmlns:m="http://schemas.openxmlformats.org/officeDocument/2006/math">
                    <m:sSub>
                      <m:sSubPr>
                        <m:ctrlPr>
                          <a:rPr lang="pt-BR" sz="1200" i="1" smtClean="0">
                            <a:latin typeface="Cambria Math" panose="02040503050406030204" pitchFamily="18" charset="0"/>
                          </a:rPr>
                        </m:ctrlPr>
                      </m:sSubPr>
                      <m:e>
                        <m:acc>
                          <m:accPr>
                            <m:chr m:val="̂"/>
                            <m:ctrlPr>
                              <a:rPr lang="pt-BR" sz="1200" i="1">
                                <a:latin typeface="Cambria Math" panose="02040503050406030204" pitchFamily="18" charset="0"/>
                              </a:rPr>
                            </m:ctrlPr>
                          </m:accPr>
                          <m:e>
                            <m:r>
                              <a:rPr lang="pt-BR" sz="1200" b="1" i="1">
                                <a:latin typeface="Cambria Math" panose="02040503050406030204" pitchFamily="18" charset="0"/>
                              </a:rPr>
                              <m:t>𝒚</m:t>
                            </m:r>
                          </m:e>
                        </m:acc>
                      </m:e>
                      <m:sub>
                        <m:r>
                          <a:rPr lang="pt-BR" sz="1200" b="0" i="1" smtClean="0">
                            <a:latin typeface="Cambria Math" panose="02040503050406030204" pitchFamily="18" charset="0"/>
                          </a:rPr>
                          <m:t>𝑞</m:t>
                        </m:r>
                      </m:sub>
                    </m:sSub>
                  </m:oMath>
                </a14:m>
                <a:r>
                  <a:rPr lang="pt-BR" dirty="0"/>
                  <a:t> vetor coluna composto</a:t>
                </a:r>
                <a:r>
                  <a:rPr lang="pt-BR" baseline="0" dirty="0"/>
                  <a:t> pela </a:t>
                </a:r>
                <a:r>
                  <a:rPr lang="pt-BR" dirty="0"/>
                  <a:t>q-</a:t>
                </a:r>
                <a:r>
                  <a:rPr lang="pt-BR" dirty="0" err="1"/>
                  <a:t>ésima</a:t>
                </a:r>
                <a:r>
                  <a:rPr lang="pt-BR" baseline="0" dirty="0"/>
                  <a:t> saída do regressor softmax, i.e., q-</a:t>
                </a:r>
                <a:r>
                  <a:rPr lang="pt-BR" baseline="0" dirty="0" err="1"/>
                  <a:t>ésima</a:t>
                </a:r>
                <a:r>
                  <a:rPr lang="pt-BR" baseline="0" dirty="0"/>
                  <a:t> função hipótese, para cada um dos N vetores de atributo.</a:t>
                </a:r>
              </a:p>
              <a:p>
                <a:endParaRPr lang="pt-BR" baseline="0" dirty="0"/>
              </a:p>
              <a:p>
                <a:r>
                  <a:rPr lang="pt-BR" baseline="0" dirty="0"/>
                  <a:t>Contendo o q-ésimo valor do vetor </a:t>
                </a:r>
                <a:r>
                  <a:rPr lang="pt-BR" baseline="0" dirty="0" err="1"/>
                  <a:t>one</a:t>
                </a:r>
                <a:r>
                  <a:rPr lang="pt-BR" baseline="0" dirty="0"/>
                  <a:t>-hot e de saída do regressor softmax para cada um das N entradas, respectivamente.</a:t>
                </a:r>
                <a:endParaRPr lang="pt-BR" dirty="0"/>
              </a:p>
              <a:p>
                <a:endParaRPr lang="pt-BR" dirty="0"/>
              </a:p>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i="0">
                    <a:latin typeface="Cambria Math" panose="02040503050406030204" pitchFamily="18" charset="0"/>
                  </a:rPr>
                  <a:t>𝒚_</a:t>
                </a:r>
                <a:r>
                  <a:rPr lang="pt-BR" sz="1200" b="0" i="0">
                    <a:latin typeface="Cambria Math" panose="02040503050406030204" pitchFamily="18" charset="0"/>
                  </a:rPr>
                  <a:t>𝑞</a:t>
                </a:r>
                <a:r>
                  <a:rPr lang="pt-BR" sz="1200" b="0" i="0" dirty="0">
                    <a:solidFill>
                      <a:srgbClr val="000000"/>
                    </a:solidFill>
                    <a:effectLst/>
                    <a:latin typeface="CambriaMath"/>
                  </a:rPr>
                  <a:t> vetor coluna composto pelo</a:t>
                </a:r>
                <a:r>
                  <a:rPr lang="pt-BR" sz="1200" b="0" i="0" baseline="0" dirty="0">
                    <a:solidFill>
                      <a:srgbClr val="000000"/>
                    </a:solidFill>
                    <a:effectLst/>
                    <a:latin typeface="CambriaMath"/>
                  </a:rPr>
                  <a:t> </a:t>
                </a:r>
                <a:r>
                  <a:rPr lang="pt-BR" sz="1200" b="0" i="0" dirty="0">
                    <a:solidFill>
                      <a:srgbClr val="000000"/>
                    </a:solidFill>
                    <a:effectLst/>
                    <a:latin typeface="CambriaMath"/>
                  </a:rPr>
                  <a:t>q-ésimo elemento</a:t>
                </a:r>
                <a:r>
                  <a:rPr lang="pt-BR" sz="1200" b="0" i="0" baseline="0" dirty="0">
                    <a:solidFill>
                      <a:srgbClr val="000000"/>
                    </a:solidFill>
                    <a:effectLst/>
                    <a:latin typeface="CambriaMath"/>
                  </a:rPr>
                  <a:t> do vetor de rótulo na codificação </a:t>
                </a:r>
                <a:r>
                  <a:rPr lang="pt-BR" sz="1200" b="0" i="0" baseline="0" dirty="0" err="1">
                    <a:solidFill>
                      <a:srgbClr val="000000"/>
                    </a:solidFill>
                    <a:effectLst/>
                    <a:latin typeface="CambriaMath"/>
                  </a:rPr>
                  <a:t>one</a:t>
                </a:r>
                <a:r>
                  <a:rPr lang="pt-BR" sz="1200" b="0" i="0" baseline="0" dirty="0">
                    <a:solidFill>
                      <a:srgbClr val="000000"/>
                    </a:solidFill>
                    <a:effectLst/>
                    <a:latin typeface="CambriaMath"/>
                  </a:rPr>
                  <a:t>-hot </a:t>
                </a:r>
                <a:r>
                  <a:rPr lang="pt-BR" baseline="0" dirty="0"/>
                  <a:t>para cada um dos N vetores de atributo.</a:t>
                </a:r>
                <a:endParaRPr lang="pt-BR" sz="1200" b="0" i="0" baseline="0" dirty="0">
                  <a:solidFill>
                    <a:srgbClr val="000000"/>
                  </a:solidFill>
                  <a:effectLst/>
                  <a:latin typeface="CambriaMath"/>
                </a:endParaRPr>
              </a:p>
              <a:p>
                <a:pPr/>
                <a:r>
                  <a:rPr lang="pt-BR" sz="1200" b="1" i="0">
                    <a:latin typeface="Cambria Math" panose="02040503050406030204" pitchFamily="18" charset="0"/>
                  </a:rPr>
                  <a:t>𝒚 ̂_</a:t>
                </a:r>
                <a:r>
                  <a:rPr lang="pt-BR" sz="1200" b="0" i="0">
                    <a:latin typeface="Cambria Math" panose="02040503050406030204" pitchFamily="18" charset="0"/>
                  </a:rPr>
                  <a:t>𝑞</a:t>
                </a:r>
                <a:r>
                  <a:rPr lang="pt-BR" dirty="0"/>
                  <a:t> vetor coluna composto</a:t>
                </a:r>
                <a:r>
                  <a:rPr lang="pt-BR" baseline="0" dirty="0"/>
                  <a:t> pela </a:t>
                </a:r>
                <a:r>
                  <a:rPr lang="pt-BR" dirty="0"/>
                  <a:t>q-</a:t>
                </a:r>
                <a:r>
                  <a:rPr lang="pt-BR" dirty="0" err="1"/>
                  <a:t>ésima</a:t>
                </a:r>
                <a:r>
                  <a:rPr lang="pt-BR" baseline="0" dirty="0"/>
                  <a:t> saída do regressor softmax, i.e., q-</a:t>
                </a:r>
                <a:r>
                  <a:rPr lang="pt-BR" baseline="0" dirty="0" err="1"/>
                  <a:t>ésima</a:t>
                </a:r>
                <a:r>
                  <a:rPr lang="pt-BR" baseline="0" dirty="0"/>
                  <a:t> função hipótese, para cada um dos N vetores de atributo.</a:t>
                </a:r>
              </a:p>
              <a:p>
                <a:pPr/>
                <a:endParaRPr lang="pt-BR" baseline="0" dirty="0"/>
              </a:p>
              <a:p>
                <a:pPr/>
                <a:r>
                  <a:rPr lang="pt-BR" baseline="0" dirty="0"/>
                  <a:t>Contendo o q-ésimo valor do vetor </a:t>
                </a:r>
                <a:r>
                  <a:rPr lang="pt-BR" baseline="0" dirty="0" err="1"/>
                  <a:t>one</a:t>
                </a:r>
                <a:r>
                  <a:rPr lang="pt-BR" baseline="0" dirty="0"/>
                  <a:t>-hot e de saída do regressor softmax para cada um das N entradas, respectivamente.</a:t>
                </a:r>
                <a:endParaRPr lang="pt-BR" dirty="0"/>
              </a:p>
              <a:p>
                <a:endParaRPr lang="pt-BR" dirty="0"/>
              </a:p>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267966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3975457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No regressor softmax, normalizamos as combinações de atributos de entrada para transformar as pontuações brutas (ou combinações) em probabilidades. Existem boas razões para isso:</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Interpretação Probabilística:</a:t>
            </a:r>
            <a:r>
              <a:rPr lang="pt-BR" b="0" i="0" dirty="0">
                <a:solidFill>
                  <a:srgbClr val="374151"/>
                </a:solidFill>
                <a:effectLst/>
                <a:latin typeface="Söhne"/>
              </a:rPr>
              <a:t> O regressor softmax é comumente usado em problemas de classificação </a:t>
            </a:r>
            <a:r>
              <a:rPr lang="pt-BR" b="0" i="0" dirty="0" err="1">
                <a:solidFill>
                  <a:srgbClr val="374151"/>
                </a:solidFill>
                <a:effectLst/>
                <a:latin typeface="Söhne"/>
              </a:rPr>
              <a:t>multiclasse</a:t>
            </a:r>
            <a:r>
              <a:rPr lang="pt-BR" b="0" i="0" dirty="0">
                <a:solidFill>
                  <a:srgbClr val="374151"/>
                </a:solidFill>
                <a:effectLst/>
                <a:latin typeface="Söhne"/>
              </a:rPr>
              <a:t>, onde você deseja atribuir uma probabilidade para cada classe possível. Normalizando as combinações de atributos em probabilidades, você obtém uma interpretação probabilística direta dos resultados. Isso significa que as saídas do regressor representam a probabilidade de pertencer a cada classe.</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Escalas de Saída Consistentes:</a:t>
            </a:r>
            <a:r>
              <a:rPr lang="pt-BR" b="0" i="0" dirty="0">
                <a:solidFill>
                  <a:srgbClr val="374151"/>
                </a:solidFill>
                <a:effectLst/>
                <a:latin typeface="Söhne"/>
              </a:rPr>
              <a:t> Normalizar as saídas garante que elas estejam na mesma escala (entre 0 e 1) e somem para 1. Isso facilita a comparação das probabilidades e a tomada de decisões com base nas saídas do modelo.</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Função de Perda Adequada:</a:t>
            </a:r>
            <a:r>
              <a:rPr lang="pt-BR" b="0" i="0" dirty="0">
                <a:solidFill>
                  <a:srgbClr val="374151"/>
                </a:solidFill>
                <a:effectLst/>
                <a:latin typeface="Söhne"/>
              </a:rPr>
              <a:t> A normalização das saídas é fundamental para o cálculo da função de perda adequada, que é usada durante o treinamento para ajustar os pesos do modelo. A função de perda geralmente é formulada com base nas probabilidades previstas e nas probabilidades reais das classes.</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Estabilidade Numérica:</a:t>
            </a:r>
            <a:r>
              <a:rPr lang="pt-BR" b="0" i="0" dirty="0">
                <a:solidFill>
                  <a:srgbClr val="374151"/>
                </a:solidFill>
                <a:effectLst/>
                <a:latin typeface="Söhne"/>
              </a:rPr>
              <a:t> Normalizar as combinações de atributos ajuda a evitar problemas de estabilidade numérica, especialmente quando as combinações podem ser grandes números. Isso ocorre porque a exponenciação de grandes valores pode resultar em números muito grandes, levando a instabilidade computacional. A normalização ajuda a controlar isso.</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a normalização das combinações de atributos no regressor softmax é fundamental para garantir que as saídas do modelo sejam interpretáveis como probabilidades e para garantir um treinamento estável e adequado. Usar as próprias combinações sem normalização não forneceria as probabilidades desejadas e levaria a problemas de interpretação e treinamento.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25</a:t>
            </a:fld>
            <a:endParaRPr lang="pt-BR"/>
          </a:p>
        </p:txBody>
      </p:sp>
    </p:spTree>
    <p:extLst>
      <p:ext uri="{BB962C8B-B14F-4D97-AF65-F5344CB8AC3E}">
        <p14:creationId xmlns:p14="http://schemas.microsoft.com/office/powerpoint/2010/main" val="2096046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b="1" dirty="0"/>
                  <a:t>Exemplo</a:t>
                </a:r>
                <a:r>
                  <a:rPr lang="pt-BR" dirty="0"/>
                  <a:t>:</a:t>
                </a:r>
                <a:r>
                  <a:rPr lang="pt-BR" baseline="0" dirty="0"/>
                  <a:t> </a:t>
                </a:r>
                <a:r>
                  <a:rPr lang="pt-BR" dirty="0"/>
                  <a:t>https://colab.research.google.com/github/zz4fap/t320_aprendizado_de_maquina/blob/main/notebooks/classificação/</a:t>
                </a:r>
                <a:r>
                  <a:rPr lang="pt-BR" dirty="0" err="1"/>
                  <a:t>softmax_regressor_with_scikit_learn.ipynb</a:t>
                </a:r>
                <a:endParaRPr lang="pt-BR" dirty="0"/>
              </a:p>
              <a:p>
                <a:endParaRPr lang="pt-B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Assim como o classificador de </a:t>
                </a:r>
                <a:r>
                  <a:rPr lang="pt-BR" b="1" i="1" dirty="0"/>
                  <a:t>regressão logística</a:t>
                </a:r>
                <a:r>
                  <a:rPr lang="pt-BR" dirty="0"/>
                  <a:t>, o classificador de </a:t>
                </a:r>
                <a:r>
                  <a:rPr lang="pt-BR" b="1" i="1" dirty="0"/>
                  <a:t>regressão softmax</a:t>
                </a:r>
                <a:r>
                  <a:rPr lang="pt-BR" dirty="0"/>
                  <a:t> prevê a classe com a maior probabilidade estimada (que é simplesmente a classe com a maior valor para o produto escalar </a:t>
                </a:r>
                <a14:m>
                  <m:oMath xmlns:m="http://schemas.openxmlformats.org/officeDocument/2006/math">
                    <m:sSup>
                      <m:sSupPr>
                        <m:ctrlPr>
                          <a:rPr lang="pt-BR" i="1">
                            <a:latin typeface="Cambria Math" panose="02040503050406030204" pitchFamily="18" charset="0"/>
                          </a:rPr>
                        </m:ctrlPr>
                      </m:sSupPr>
                      <m:e>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sup>
                        <m:r>
                          <a:rPr lang="pt-BR" i="1">
                            <a:latin typeface="Cambria Math" panose="02040503050406030204" pitchFamily="18" charset="0"/>
                          </a:rPr>
                          <m:t>𝑇</m:t>
                        </m:r>
                      </m:sup>
                    </m:sSup>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dirty="0"/>
                  <a:t>).</a:t>
                </a:r>
              </a:p>
              <a:p>
                <a:endParaRPr lang="pt-BR" b="1" dirty="0"/>
              </a:p>
              <a:p>
                <a:endParaRPr lang="pt-BR" dirty="0"/>
              </a:p>
            </p:txBody>
          </p:sp>
        </mc:Choice>
        <mc:Fallback xmlns="">
          <p:sp>
            <p:nvSpPr>
              <p:cNvPr id="3" name="Espaço Reservado para Anotações 2"/>
              <p:cNvSpPr>
                <a:spLocks noGrp="1"/>
              </p:cNvSpPr>
              <p:nvPr>
                <p:ph type="body" idx="1"/>
              </p:nvPr>
            </p:nvSpPr>
            <p:spPr/>
            <p:txBody>
              <a:bodyPr/>
              <a:lstStyle/>
              <a:p>
                <a:r>
                  <a:rPr lang="pt-BR" b="1" dirty="0"/>
                  <a:t>Exemplo</a:t>
                </a:r>
                <a:r>
                  <a:rPr lang="pt-BR" dirty="0"/>
                  <a:t>:</a:t>
                </a:r>
                <a:r>
                  <a:rPr lang="pt-BR" baseline="0" dirty="0"/>
                  <a:t> </a:t>
                </a:r>
                <a:r>
                  <a:rPr lang="pt-BR" dirty="0"/>
                  <a:t>https://colab.research.google.com/github/zz4fap/t320_aprendizado_de_maquina/blob/main/notebooks/classificação/</a:t>
                </a:r>
                <a:r>
                  <a:rPr lang="pt-BR" dirty="0" err="1"/>
                  <a:t>softmax_regressor_with_scikit_learn.ipynb</a:t>
                </a:r>
                <a:endParaRPr lang="pt-BR" dirty="0"/>
              </a:p>
              <a:p>
                <a:endParaRPr lang="pt-B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Assim como o classificador de </a:t>
                </a:r>
                <a:r>
                  <a:rPr lang="pt-BR" b="1" i="1" dirty="0"/>
                  <a:t>regressão logística</a:t>
                </a:r>
                <a:r>
                  <a:rPr lang="pt-BR" dirty="0"/>
                  <a:t>, o classificador de </a:t>
                </a:r>
                <a:r>
                  <a:rPr lang="pt-BR" b="1" i="1" dirty="0"/>
                  <a:t>regressão softmax</a:t>
                </a:r>
                <a:r>
                  <a:rPr lang="pt-BR" dirty="0"/>
                  <a:t> prevê a classe com a maior probabilidade estimada (que é simplesmente a classe com a maior valor para o produto escalar </a:t>
                </a:r>
                <a:r>
                  <a:rPr lang="pt-BR" i="0">
                    <a:latin typeface="Cambria Math" panose="02040503050406030204" pitchFamily="18" charset="0"/>
                  </a:rPr>
                  <a:t>〖</a:t>
                </a:r>
                <a:r>
                  <a:rPr lang="pt-BR" b="1" i="0">
                    <a:latin typeface="Cambria Math" panose="02040503050406030204" pitchFamily="18" charset="0"/>
                  </a:rPr>
                  <a:t>𝒙</a:t>
                </a:r>
                <a:r>
                  <a:rPr lang="pt-BR" i="0">
                    <a:latin typeface="Cambria Math" panose="02040503050406030204" pitchFamily="18" charset="0"/>
                  </a:rPr>
                  <a:t>(𝑖)〗^𝑇</a:t>
                </a:r>
                <a:r>
                  <a:rPr lang="pt-BR" b="1" i="0">
                    <a:latin typeface="Cambria Math" panose="02040503050406030204" pitchFamily="18" charset="0"/>
                  </a:rPr>
                  <a:t> 𝒂_</a:t>
                </a:r>
                <a:r>
                  <a:rPr lang="pt-BR" i="0">
                    <a:latin typeface="Cambria Math" panose="02040503050406030204" pitchFamily="18" charset="0"/>
                  </a:rPr>
                  <a:t>𝑞</a:t>
                </a:r>
                <a:r>
                  <a:rPr lang="pt-BR" dirty="0"/>
                  <a:t>).</a:t>
                </a:r>
              </a:p>
              <a:p>
                <a:endParaRPr lang="pt-BR" b="1"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3667694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1" dirty="0"/>
              <a:t>Laboratório #4:</a:t>
            </a:r>
            <a:r>
              <a:rPr lang="pt-BR" sz="1200" dirty="0"/>
              <a:t> https://mybinder.org/v2/gh/zz4fap/t320_aprendizado_de_maquina/main?filepath=labs%2FLaboratorio4.ipynb</a:t>
            </a:r>
          </a:p>
          <a:p>
            <a:endParaRPr lang="pt-BR" sz="1200" dirty="0"/>
          </a:p>
          <a:p>
            <a:r>
              <a:rPr lang="pt-BR" sz="1200" dirty="0"/>
              <a:t>https://colab.research.google.com/github/zz4fap/t320_aprendizado_de_maquina/blob/main/labs/Laboratorio4.ipynb</a:t>
            </a:r>
          </a:p>
          <a:p>
            <a:endParaRPr lang="pt-BR"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1758614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xmlns=""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xmlns="" id="{9EDE2778-5372-4104-B96D-968184DA8288}"/>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5" name="Espaço Reservado para Rodapé 4">
            <a:extLst>
              <a:ext uri="{FF2B5EF4-FFF2-40B4-BE49-F238E27FC236}">
                <a16:creationId xmlns:a16="http://schemas.microsoft.com/office/drawing/2014/main" xmlns=""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F05BE1AF-51EA-425D-B188-DE7BD675009F}"/>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5" name="Espaço Reservado para Rodapé 4">
            <a:extLst>
              <a:ext uri="{FF2B5EF4-FFF2-40B4-BE49-F238E27FC236}">
                <a16:creationId xmlns:a16="http://schemas.microsoft.com/office/drawing/2014/main" xmlns=""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xmlns=""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xmlns="" id="{50F1D3FB-740A-4EBA-A309-2CE71D12ECFB}"/>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5" name="Espaço Reservado para Rodapé 4">
            <a:extLst>
              <a:ext uri="{FF2B5EF4-FFF2-40B4-BE49-F238E27FC236}">
                <a16:creationId xmlns:a16="http://schemas.microsoft.com/office/drawing/2014/main" xmlns=""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xmlns=""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xmlns="" id="{938070A4-BC2F-4D55-BD8D-DEAF11BB9EE9}"/>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6" name="Espaço Reservado para Rodapé 5">
            <a:extLst>
              <a:ext uri="{FF2B5EF4-FFF2-40B4-BE49-F238E27FC236}">
                <a16:creationId xmlns:a16="http://schemas.microsoft.com/office/drawing/2014/main" xmlns=""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xmlns=""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xmlns=""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xmlns=""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xmlns=""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xmlns="" id="{4172C0E5-5AF0-4805-BB51-443733CD2BD5}"/>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8" name="Espaço Reservado para Rodapé 7">
            <a:extLst>
              <a:ext uri="{FF2B5EF4-FFF2-40B4-BE49-F238E27FC236}">
                <a16:creationId xmlns:a16="http://schemas.microsoft.com/office/drawing/2014/main" xmlns=""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xmlns=""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xmlns="" id="{342600A9-7F92-4E22-9D94-E4717252A817}"/>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4" name="Espaço Reservado para Rodapé 3">
            <a:extLst>
              <a:ext uri="{FF2B5EF4-FFF2-40B4-BE49-F238E27FC236}">
                <a16:creationId xmlns:a16="http://schemas.microsoft.com/office/drawing/2014/main" xmlns=""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xmlns=""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xmlns="" id="{DD19515C-212C-4EAE-84A3-8FF4BC844F1B}"/>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3" name="Espaço Reservado para Rodapé 2">
            <a:extLst>
              <a:ext uri="{FF2B5EF4-FFF2-40B4-BE49-F238E27FC236}">
                <a16:creationId xmlns:a16="http://schemas.microsoft.com/office/drawing/2014/main" xmlns=""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xmlns=""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xmlns=""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xmlns=""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A4DC363A-5000-472E-8B17-02E7DCB8840A}"/>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6" name="Espaço Reservado para Rodapé 5">
            <a:extLst>
              <a:ext uri="{FF2B5EF4-FFF2-40B4-BE49-F238E27FC236}">
                <a16:creationId xmlns:a16="http://schemas.microsoft.com/office/drawing/2014/main" xmlns=""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xmlns=""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xmlns=""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02113D81-8665-4516-BD81-C6A1F254EECD}"/>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6" name="Espaço Reservado para Rodapé 5">
            <a:extLst>
              <a:ext uri="{FF2B5EF4-FFF2-40B4-BE49-F238E27FC236}">
                <a16:creationId xmlns:a16="http://schemas.microsoft.com/office/drawing/2014/main" xmlns=""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99E8855C-D8FD-48F6-B14E-861E0DE4D915}"/>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5" name="Espaço Reservado para Rodapé 4">
            <a:extLst>
              <a:ext uri="{FF2B5EF4-FFF2-40B4-BE49-F238E27FC236}">
                <a16:creationId xmlns:a16="http://schemas.microsoft.com/office/drawing/2014/main" xmlns=""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721D5734-7B1F-425D-942F-6EB73344027C}"/>
              </a:ext>
            </a:extLst>
          </p:cNvPr>
          <p:cNvSpPr>
            <a:spLocks noGrp="1"/>
          </p:cNvSpPr>
          <p:nvPr>
            <p:ph type="dt" sz="half" idx="10"/>
          </p:nvPr>
        </p:nvSpPr>
        <p:spPr/>
        <p:txBody>
          <a:bodyPr/>
          <a:lstStyle/>
          <a:p>
            <a:fld id="{63289F7E-B80B-496E-81B4-D396C37C9454}" type="datetimeFigureOut">
              <a:rPr lang="pt-BR" smtClean="0"/>
              <a:t>05/09/2026</a:t>
            </a:fld>
            <a:endParaRPr lang="pt-BR"/>
          </a:p>
        </p:txBody>
      </p:sp>
      <p:sp>
        <p:nvSpPr>
          <p:cNvPr id="5" name="Espaço Reservado para Rodapé 4">
            <a:extLst>
              <a:ext uri="{FF2B5EF4-FFF2-40B4-BE49-F238E27FC236}">
                <a16:creationId xmlns:a16="http://schemas.microsoft.com/office/drawing/2014/main" xmlns=""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xmlns=""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xmlns=""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05/09/2026</a:t>
            </a:fld>
            <a:endParaRPr lang="pt-BR"/>
          </a:p>
        </p:txBody>
      </p:sp>
      <p:sp>
        <p:nvSpPr>
          <p:cNvPr id="5" name="Espaço Reservado para Rodapé 4">
            <a:extLst>
              <a:ext uri="{FF2B5EF4-FFF2-40B4-BE49-F238E27FC236}">
                <a16:creationId xmlns:a16="http://schemas.microsoft.com/office/drawing/2014/main" xmlns=""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xmlns=""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15.png"/><Relationship Id="rId7" Type="http://schemas.openxmlformats.org/officeDocument/2006/relationships/image" Target="../media/image92.png"/><Relationship Id="rId12" Type="http://schemas.openxmlformats.org/officeDocument/2006/relationships/image" Target="../media/image95.png"/><Relationship Id="rId2" Type="http://schemas.openxmlformats.org/officeDocument/2006/relationships/notesSlide" Target="../notesSlides/notesSlide6.xml"/><Relationship Id="rId1" Type="http://schemas.openxmlformats.org/officeDocument/2006/relationships/slideLayout" Target="../slideLayouts/slideLayout2.xml"/><Relationship Id="rId11" Type="http://schemas.openxmlformats.org/officeDocument/2006/relationships/image" Target="../media/image941.png"/><Relationship Id="rId5" Type="http://schemas.openxmlformats.org/officeDocument/2006/relationships/image" Target="../media/image140.png"/><Relationship Id="rId10" Type="http://schemas.openxmlformats.org/officeDocument/2006/relationships/image" Target="../media/image931.png"/><Relationship Id="rId9" Type="http://schemas.openxmlformats.org/officeDocument/2006/relationships/image" Target="../media/image9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NUL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colab.research.google.com/github/zz4fap/t320_aprendizado_de_maquina/blob/main/notebooks/classifica&#231;&#227;o/softmax_regressor_with_scikit_learn.ipynb" TargetMode="Externa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hyperlink" Target="https://colab.research.google.com/github/zz4fap/t320_aprendizado_de_maquina/blob/main/labs/Laboratorio4.ipynb"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github.com/zz4fap/t319_aprendizado_de_maquina/blob/main/docs/Resolu%C3%A7%C3%A3o%20e%20entrega%20dos%20laborat%C3%B3rios.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2666AC8-2E17-4DB4-B0F5-60C640CCFD2E}"/>
              </a:ext>
            </a:extLst>
          </p:cNvPr>
          <p:cNvSpPr>
            <a:spLocks noGrp="1"/>
          </p:cNvSpPr>
          <p:nvPr>
            <p:ph type="ctrTitle"/>
          </p:nvPr>
        </p:nvSpPr>
        <p:spPr>
          <a:xfrm>
            <a:off x="1524000" y="819807"/>
            <a:ext cx="9144000" cy="2690156"/>
          </a:xfrm>
        </p:spPr>
        <p:txBody>
          <a:bodyPr>
            <a:normAutofit/>
          </a:bodyPr>
          <a:lstStyle/>
          <a:p>
            <a:r>
              <a:rPr lang="pt-BR" sz="5400" dirty="0"/>
              <a:t>T320 - Introdução ao Aprendizado de Máquina II:</a:t>
            </a:r>
            <a:r>
              <a:rPr lang="pt-BR" dirty="0"/>
              <a:t/>
            </a:r>
            <a:br>
              <a:rPr lang="pt-BR" dirty="0"/>
            </a:br>
            <a:r>
              <a:rPr lang="pt-BR" b="1" i="1" dirty="0"/>
              <a:t>Classificação (Parte IV)</a:t>
            </a:r>
          </a:p>
        </p:txBody>
      </p:sp>
      <p:sp>
        <p:nvSpPr>
          <p:cNvPr id="4" name="CaixaDeTexto 3">
            <a:extLst>
              <a:ext uri="{FF2B5EF4-FFF2-40B4-BE49-F238E27FC236}">
                <a16:creationId xmlns:a16="http://schemas.microsoft.com/office/drawing/2014/main" xmlns="" id="{430EB894-B7D4-434C-9D1A-A14094D9BEEC}"/>
              </a:ext>
            </a:extLst>
          </p:cNvPr>
          <p:cNvSpPr txBox="1"/>
          <p:nvPr/>
        </p:nvSpPr>
        <p:spPr>
          <a:xfrm>
            <a:off x="7915802" y="5519955"/>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xmlns=""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271853" y="5528345"/>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xmlns=""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396429"/>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Recapitulando</a:t>
            </a:r>
          </a:p>
        </p:txBody>
      </p:sp>
      <p:sp>
        <p:nvSpPr>
          <p:cNvPr id="3" name="Content Placeholder 2"/>
          <p:cNvSpPr>
            <a:spLocks noGrp="1"/>
          </p:cNvSpPr>
          <p:nvPr>
            <p:ph idx="1"/>
          </p:nvPr>
        </p:nvSpPr>
        <p:spPr>
          <a:xfrm>
            <a:off x="838199" y="1825624"/>
            <a:ext cx="11008057" cy="5032376"/>
          </a:xfrm>
        </p:spPr>
        <p:txBody>
          <a:bodyPr>
            <a:normAutofit/>
          </a:bodyPr>
          <a:lstStyle/>
          <a:p>
            <a:r>
              <a:rPr lang="pt-BR" dirty="0"/>
              <a:t>Anteriormente, aprendemos como o </a:t>
            </a:r>
            <a:r>
              <a:rPr lang="pt-BR" b="1" i="1" dirty="0"/>
              <a:t>regressor logístico</a:t>
            </a:r>
            <a:r>
              <a:rPr lang="pt-BR" dirty="0"/>
              <a:t> funciona e pode ser usado em problemas de classificação binária, após a </a:t>
            </a:r>
            <a:r>
              <a:rPr lang="pt-BR" dirty="0" err="1"/>
              <a:t>discretização</a:t>
            </a:r>
            <a:r>
              <a:rPr lang="pt-BR" dirty="0"/>
              <a:t> </a:t>
            </a:r>
            <a:r>
              <a:rPr lang="pt-BR" dirty="0" smtClean="0"/>
              <a:t>do seu </a:t>
            </a:r>
            <a:r>
              <a:rPr lang="pt-BR" dirty="0"/>
              <a:t>valor de saída.</a:t>
            </a:r>
          </a:p>
          <a:p>
            <a:r>
              <a:rPr lang="pt-BR" dirty="0"/>
              <a:t>Na sequência, veremos como lidar com problemas de classificação que envolvem mais de 2 classes.</a:t>
            </a:r>
          </a:p>
        </p:txBody>
      </p:sp>
    </p:spTree>
    <p:extLst>
      <p:ext uri="{BB962C8B-B14F-4D97-AF65-F5344CB8AC3E}">
        <p14:creationId xmlns:p14="http://schemas.microsoft.com/office/powerpoint/2010/main" val="844407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Casos multi-classe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638800" y="1784680"/>
                <a:ext cx="6357730" cy="5073320"/>
              </a:xfrm>
            </p:spPr>
            <p:txBody>
              <a:bodyPr>
                <a:normAutofit/>
              </a:bodyPr>
              <a:lstStyle/>
              <a:p>
                <a:r>
                  <a:rPr lang="pt-BR" dirty="0"/>
                  <a:t>Até agora, vimos problemas com 2 classes (i.e., </a:t>
                </a:r>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=2</m:t>
                    </m:r>
                  </m:oMath>
                </a14:m>
                <a:r>
                  <a:rPr lang="pt-BR" dirty="0"/>
                  <a:t>).</a:t>
                </a:r>
              </a:p>
              <a:p>
                <a:r>
                  <a:rPr lang="pt-BR" dirty="0"/>
                  <a:t>Porém, e quando o problema possuir mais de 2 classes (i.e.,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&gt;</m:t>
                    </m:r>
                    <m:r>
                      <a:rPr lang="pt-BR" i="1">
                        <a:latin typeface="Cambria Math" panose="02040503050406030204" pitchFamily="18" charset="0"/>
                      </a:rPr>
                      <m:t>2</m:t>
                    </m:r>
                  </m:oMath>
                </a14:m>
                <a:r>
                  <a:rPr lang="pt-BR" dirty="0"/>
                  <a:t>)? </a:t>
                </a:r>
              </a:p>
              <a:p>
                <a:r>
                  <a:rPr lang="pt-BR" dirty="0"/>
                  <a:t>Por exemplo</a:t>
                </a:r>
              </a:p>
              <a:p>
                <a:pPr lvl="1">
                  <a:buFont typeface="Wingdings" panose="05000000000000000000" pitchFamily="2" charset="2"/>
                  <a:buChar char="§"/>
                </a:pPr>
                <a:r>
                  <a:rPr lang="pt-BR" dirty="0"/>
                  <a:t>Reconhecimento de dígitos escritos </a:t>
                </a:r>
                <a:r>
                  <a:rPr lang="nl-BE" dirty="0"/>
                  <a:t>à</a:t>
                </a:r>
                <a:r>
                  <a:rPr lang="pt-BR" dirty="0"/>
                  <a:t> mão: 10 dígitos.</a:t>
                </a:r>
              </a:p>
              <a:p>
                <a:pPr lvl="1">
                  <a:buFont typeface="Wingdings" panose="05000000000000000000" pitchFamily="2" charset="2"/>
                  <a:buChar char="§"/>
                </a:pPr>
                <a:r>
                  <a:rPr lang="pt-BR" dirty="0"/>
                  <a:t>Classificação de texto: Esportes, Economia, Política, Entretenimento, etc.</a:t>
                </a:r>
              </a:p>
              <a:p>
                <a:pPr lvl="1">
                  <a:buFont typeface="Wingdings" panose="05000000000000000000" pitchFamily="2" charset="2"/>
                  <a:buChar char="§"/>
                </a:pPr>
                <a:r>
                  <a:rPr lang="pt-BR" dirty="0"/>
                  <a:t>Classificação de sentimentos: Neutro, Positivo, Negativo.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638800" y="1784680"/>
                <a:ext cx="6357730" cy="5073320"/>
              </a:xfrm>
              <a:blipFill>
                <a:blip r:embed="rId2"/>
                <a:stretch>
                  <a:fillRect l="-1726" t="-2043"/>
                </a:stretch>
              </a:blipFill>
            </p:spPr>
            <p:txBody>
              <a:bodyPr/>
              <a:lstStyle/>
              <a:p>
                <a:r>
                  <a:rPr lang="en-US">
                    <a:noFill/>
                  </a:rPr>
                  <a:t> </a:t>
                </a:r>
              </a:p>
            </p:txBody>
          </p:sp>
        </mc:Fallback>
      </mc:AlternateContent>
      <p:pic>
        <p:nvPicPr>
          <p:cNvPr id="4" name="Picture 2" descr="Ana Barros (@anathinker) | Twitter">
            <a:extLst>
              <a:ext uri="{FF2B5EF4-FFF2-40B4-BE49-F238E27FC236}">
                <a16:creationId xmlns:a16="http://schemas.microsoft.com/office/drawing/2014/main" xmlns="" id="{AF3F0044-4F7D-98F6-34C1-8351487DFD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70" y="1802867"/>
            <a:ext cx="2541212" cy="16839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Analyzing Text Classification Techniques on Youtube Data">
            <a:extLst>
              <a:ext uri="{FF2B5EF4-FFF2-40B4-BE49-F238E27FC236}">
                <a16:creationId xmlns:a16="http://schemas.microsoft.com/office/drawing/2014/main" xmlns="" id="{0E6041F8-AB14-54C0-C790-0288A3AC8F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07" t="4114" r="9213" b="4823"/>
          <a:stretch/>
        </p:blipFill>
        <p:spPr bwMode="auto">
          <a:xfrm>
            <a:off x="1199846" y="4635253"/>
            <a:ext cx="3073671" cy="175638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entiment Fig 1">
            <a:extLst>
              <a:ext uri="{FF2B5EF4-FFF2-40B4-BE49-F238E27FC236}">
                <a16:creationId xmlns:a16="http://schemas.microsoft.com/office/drawing/2014/main" xmlns="" id="{1E7CC96F-55AB-1482-92F6-240F8E2E0D1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42094" y="2551870"/>
            <a:ext cx="2587232" cy="1833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833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Casos multi-classe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697415" y="1784680"/>
                <a:ext cx="6375969" cy="5073320"/>
              </a:xfrm>
            </p:spPr>
            <p:txBody>
              <a:bodyPr>
                <a:normAutofit lnSpcReduction="10000"/>
              </a:bodyPr>
              <a:lstStyle/>
              <a:p>
                <a:r>
                  <a:rPr lang="pt-BR" dirty="0"/>
                  <a:t>Quando </a:t>
                </a:r>
                <a14:m>
                  <m:oMath xmlns:m="http://schemas.openxmlformats.org/officeDocument/2006/math">
                    <m:r>
                      <a:rPr lang="pt-BR" i="1" smtClean="0">
                        <a:latin typeface="Cambria Math" panose="02040503050406030204" pitchFamily="18" charset="0"/>
                      </a:rPr>
                      <m:t>𝑄</m:t>
                    </m:r>
                    <m:r>
                      <a:rPr lang="pt-BR" b="0" i="1" smtClean="0">
                        <a:latin typeface="Cambria Math" panose="02040503050406030204" pitchFamily="18" charset="0"/>
                      </a:rPr>
                      <m:t>&gt;</m:t>
                    </m:r>
                    <m:r>
                      <a:rPr lang="pt-BR" i="1">
                        <a:latin typeface="Cambria Math" panose="02040503050406030204" pitchFamily="18" charset="0"/>
                      </a:rPr>
                      <m:t>2</m:t>
                    </m:r>
                  </m:oMath>
                </a14:m>
                <a:r>
                  <a:rPr lang="pt-BR" dirty="0"/>
                  <a:t>, chamamos o problema de classificação </a:t>
                </a:r>
                <a:r>
                  <a:rPr lang="pt-BR" b="1" i="1" dirty="0">
                    <a:solidFill>
                      <a:srgbClr val="00B050"/>
                    </a:solidFill>
                  </a:rPr>
                  <a:t>multiclasses</a:t>
                </a:r>
                <a:r>
                  <a:rPr lang="pt-BR" dirty="0"/>
                  <a:t>.</a:t>
                </a:r>
              </a:p>
              <a:p>
                <a:r>
                  <a:rPr lang="pt-BR" dirty="0"/>
                  <a:t>Algumas abordagens para a </a:t>
                </a:r>
                <a:r>
                  <a:rPr lang="pt-BR" b="1" i="1" dirty="0"/>
                  <a:t>classificação multiclasse</a:t>
                </a:r>
                <a:r>
                  <a:rPr lang="pt-BR" dirty="0"/>
                  <a:t> são:</a:t>
                </a:r>
              </a:p>
              <a:p>
                <a:pPr lvl="1">
                  <a:buFont typeface="Wingdings" panose="05000000000000000000" pitchFamily="2" charset="2"/>
                  <a:buChar char="§"/>
                </a:pPr>
                <a:r>
                  <a:rPr lang="pt-BR" dirty="0"/>
                  <a:t>Um-Contra-o-Resto</a:t>
                </a:r>
              </a:p>
              <a:p>
                <a:pPr lvl="1">
                  <a:buFont typeface="Wingdings" panose="05000000000000000000" pitchFamily="2" charset="2"/>
                  <a:buChar char="§"/>
                </a:pPr>
                <a:r>
                  <a:rPr lang="pt-BR" dirty="0"/>
                  <a:t>Um-Contra-Um</a:t>
                </a:r>
              </a:p>
              <a:p>
                <a:pPr lvl="1">
                  <a:buFont typeface="Wingdings" panose="05000000000000000000" pitchFamily="2" charset="2"/>
                  <a:buChar char="§"/>
                </a:pPr>
                <a:r>
                  <a:rPr lang="pt-BR" dirty="0"/>
                  <a:t>Regressão Softmax</a:t>
                </a:r>
              </a:p>
              <a:p>
                <a:r>
                  <a:rPr lang="pt-BR" dirty="0"/>
                  <a:t>As duas primeiras usam </a:t>
                </a:r>
                <a:r>
                  <a:rPr lang="pt-BR" b="1" i="1" dirty="0"/>
                  <a:t>classificadores binários</a:t>
                </a:r>
                <a:r>
                  <a:rPr lang="pt-BR" dirty="0"/>
                  <a:t>, como o</a:t>
                </a:r>
                <a:r>
                  <a:rPr lang="pt-BR" b="1" i="1" dirty="0"/>
                  <a:t> regressor logístico</a:t>
                </a:r>
                <a:r>
                  <a:rPr lang="pt-BR" dirty="0"/>
                  <a:t>.</a:t>
                </a:r>
              </a:p>
              <a:p>
                <a:r>
                  <a:rPr lang="pt-BR" dirty="0"/>
                  <a:t>A terceira abordagem é uma generalização do </a:t>
                </a:r>
                <a:r>
                  <a:rPr lang="pt-BR" b="1" i="1" dirty="0"/>
                  <a:t>classificador logístico </a:t>
                </a:r>
                <a:r>
                  <a:rPr lang="pt-BR" dirty="0"/>
                  <a:t>para problemas multiclasse.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697415" y="1784680"/>
                <a:ext cx="6375969" cy="5073320"/>
              </a:xfrm>
              <a:blipFill>
                <a:blip r:embed="rId2"/>
                <a:stretch>
                  <a:fillRect l="-1721" t="-2764" r="-2103"/>
                </a:stretch>
              </a:blipFill>
            </p:spPr>
            <p:txBody>
              <a:bodyPr/>
              <a:lstStyle/>
              <a:p>
                <a:r>
                  <a:rPr lang="en-US">
                    <a:noFill/>
                  </a:rPr>
                  <a:t> </a:t>
                </a:r>
              </a:p>
            </p:txBody>
          </p:sp>
        </mc:Fallback>
      </mc:AlternateContent>
      <p:pic>
        <p:nvPicPr>
          <p:cNvPr id="7" name="Picture 2" descr="Ana Barros (@anathinker) | Twitter">
            <a:extLst>
              <a:ext uri="{FF2B5EF4-FFF2-40B4-BE49-F238E27FC236}">
                <a16:creationId xmlns:a16="http://schemas.microsoft.com/office/drawing/2014/main" xmlns="" id="{A2D479C7-0684-420F-2CCD-64C3DB79FD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70" y="1802867"/>
            <a:ext cx="2541212" cy="16839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Analyzing Text Classification Techniques on Youtube Data">
            <a:extLst>
              <a:ext uri="{FF2B5EF4-FFF2-40B4-BE49-F238E27FC236}">
                <a16:creationId xmlns:a16="http://schemas.microsoft.com/office/drawing/2014/main" xmlns="" id="{A59F8A2C-ACDF-09C7-B528-9064CEF3B84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07" t="4114" r="9213" b="4823"/>
          <a:stretch/>
        </p:blipFill>
        <p:spPr bwMode="auto">
          <a:xfrm>
            <a:off x="1199846" y="4635253"/>
            <a:ext cx="3073671" cy="17563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Sentiment Fig 1">
            <a:extLst>
              <a:ext uri="{FF2B5EF4-FFF2-40B4-BE49-F238E27FC236}">
                <a16:creationId xmlns:a16="http://schemas.microsoft.com/office/drawing/2014/main" xmlns="" id="{E178FF16-CC3F-C34B-6C8B-874BC4FA61A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42094" y="2551870"/>
            <a:ext cx="2587232" cy="1833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172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5206997-C98C-FF52-62A1-725EEA7A8A7E}"/>
              </a:ext>
            </a:extLst>
          </p:cNvPr>
          <p:cNvSpPr>
            <a:spLocks noGrp="1"/>
          </p:cNvSpPr>
          <p:nvPr>
            <p:ph type="title"/>
          </p:nvPr>
        </p:nvSpPr>
        <p:spPr/>
        <p:txBody>
          <a:bodyPr/>
          <a:lstStyle/>
          <a:p>
            <a:r>
              <a:rPr lang="pt-BR" dirty="0"/>
              <a:t>Um-Contra-o-Resto</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xmlns="" id="{50B99F56-FF18-D044-7799-0502D4F6A5FB}"/>
                  </a:ext>
                </a:extLst>
              </p:cNvPr>
              <p:cNvSpPr>
                <a:spLocks noGrp="1"/>
              </p:cNvSpPr>
              <p:nvPr>
                <p:ph idx="1"/>
              </p:nvPr>
            </p:nvSpPr>
            <p:spPr>
              <a:xfrm>
                <a:off x="838200" y="1825624"/>
                <a:ext cx="11353800" cy="5032375"/>
              </a:xfrm>
            </p:spPr>
            <p:txBody>
              <a:bodyPr/>
              <a:lstStyle/>
              <a:p>
                <a:r>
                  <a:rPr lang="pt-BR" dirty="0"/>
                  <a:t>Nesta abordagem, treina-se </a:t>
                </a:r>
                <a:r>
                  <a:rPr lang="pt-BR" b="1" i="1" dirty="0">
                    <a:solidFill>
                      <a:srgbClr val="00B050"/>
                    </a:solidFill>
                  </a:rPr>
                  <a:t>um classificador</a:t>
                </a:r>
                <a:r>
                  <a:rPr lang="pt-BR" dirty="0">
                    <a:solidFill>
                      <a:srgbClr val="00B050"/>
                    </a:solidFill>
                  </a:rPr>
                  <a:t> </a:t>
                </a:r>
                <a:r>
                  <a:rPr lang="pt-BR" b="1" i="1" dirty="0">
                    <a:solidFill>
                      <a:srgbClr val="7030A0"/>
                    </a:solidFill>
                  </a:rPr>
                  <a:t>binário</a:t>
                </a:r>
                <a:r>
                  <a:rPr lang="pt-BR" dirty="0"/>
                  <a:t> </a:t>
                </a:r>
                <a:r>
                  <a:rPr lang="pt-BR" b="1" dirty="0">
                    <a:solidFill>
                      <a:schemeClr val="accent2"/>
                    </a:solidFill>
                  </a:rPr>
                  <a:t>por classe </a:t>
                </a:r>
                <a14:m>
                  <m:oMath xmlns:m="http://schemas.openxmlformats.org/officeDocument/2006/math">
                    <m:r>
                      <a:rPr lang="pt-BR" i="1">
                        <a:latin typeface="Cambria Math" panose="02040503050406030204" pitchFamily="18" charset="0"/>
                      </a:rPr>
                      <m:t>𝑞</m:t>
                    </m:r>
                  </m:oMath>
                </a14:m>
                <a:r>
                  <a:rPr lang="pt-BR" dirty="0"/>
                  <a:t>, para predizer a probabilidade </a:t>
                </a:r>
                <a14:m>
                  <m:oMath xmlns:m="http://schemas.openxmlformats.org/officeDocument/2006/math">
                    <m:r>
                      <a:rPr lang="pt-BR" i="1">
                        <a:latin typeface="Cambria Math" panose="02040503050406030204" pitchFamily="18" charset="0"/>
                      </a:rPr>
                      <m:t>𝑃</m:t>
                    </m:r>
                    <m:d>
                      <m:dPr>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e>
                    </m:d>
                    <m:r>
                      <a:rPr lang="pt-BR" b="1" i="1" smtClean="0">
                        <a:latin typeface="Cambria Math" panose="02040503050406030204" pitchFamily="18" charset="0"/>
                      </a:rPr>
                      <m:t> </m:t>
                    </m:r>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r>
                      <a:rPr lang="pt-BR" b="1" i="1">
                        <a:latin typeface="Cambria Math" panose="02040503050406030204" pitchFamily="18" charset="0"/>
                      </a:rPr>
                      <m:t>𝒂</m:t>
                    </m:r>
                    <m:r>
                      <a:rPr lang="pt-BR" b="0" i="1" smtClean="0">
                        <a:latin typeface="Cambria Math" panose="02040503050406030204" pitchFamily="18" charset="0"/>
                      </a:rPr>
                      <m:t>)</m:t>
                    </m:r>
                    <m:r>
                      <a:rPr lang="pt-BR" b="1" i="1">
                        <a:latin typeface="Cambria Math" panose="02040503050406030204" pitchFamily="18" charset="0"/>
                      </a:rPr>
                      <m:t>,</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𝑞</m:t>
                    </m:r>
                    <m:r>
                      <a:rPr lang="pt-BR" i="1">
                        <a:latin typeface="Cambria Math" panose="02040503050406030204" pitchFamily="18" charset="0"/>
                        <a:ea typeface="Cambria Math" panose="02040503050406030204" pitchFamily="18" charset="0"/>
                      </a:rPr>
                      <m:t>∈{1,…,</m:t>
                    </m:r>
                    <m:r>
                      <a:rPr lang="pt-BR" i="1">
                        <a:latin typeface="Cambria Math" panose="02040503050406030204" pitchFamily="18" charset="0"/>
                        <a:ea typeface="Cambria Math" panose="02040503050406030204" pitchFamily="18" charset="0"/>
                      </a:rPr>
                      <m:t>𝑄</m:t>
                    </m:r>
                    <m:r>
                      <a:rPr lang="pt-BR" i="1">
                        <a:latin typeface="Cambria Math" panose="02040503050406030204" pitchFamily="18" charset="0"/>
                        <a:ea typeface="Cambria Math" panose="02040503050406030204" pitchFamily="18" charset="0"/>
                      </a:rPr>
                      <m:t>}</m:t>
                    </m:r>
                  </m:oMath>
                </a14:m>
                <a:r>
                  <a:rPr lang="pt-BR" dirty="0"/>
                  <a:t>, onde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oMath>
                </a14:m>
                <a:r>
                  <a:rPr lang="pt-BR" dirty="0"/>
                  <a:t> é a classe positiva e as demais formam a classe negativa.</a:t>
                </a:r>
                <a:endParaRPr lang="pt-BR" b="0" dirty="0"/>
              </a:p>
              <a:p>
                <a:r>
                  <a:rPr lang="pt-BR" dirty="0"/>
                  <a:t>Em outras palavras, treina-se </a:t>
                </a:r>
                <a14:m>
                  <m:oMath xmlns:m="http://schemas.openxmlformats.org/officeDocument/2006/math">
                    <m:r>
                      <a:rPr lang="pt-BR" b="0" i="1" smtClean="0">
                        <a:latin typeface="Cambria Math" panose="02040503050406030204" pitchFamily="18" charset="0"/>
                      </a:rPr>
                      <m:t>𝑄</m:t>
                    </m:r>
                  </m:oMath>
                </a14:m>
                <a:r>
                  <a:rPr lang="pt-BR" b="0" dirty="0"/>
                  <a:t> </a:t>
                </a:r>
                <a:r>
                  <a:rPr lang="pt-BR" b="1" i="1" dirty="0"/>
                  <a:t>classificadores binários</a:t>
                </a:r>
                <a:r>
                  <a:rPr lang="pt-BR" dirty="0"/>
                  <a:t>,</a:t>
                </a:r>
                <a:r>
                  <a:rPr lang="pt-BR" b="1" i="1" dirty="0"/>
                  <a:t> </a:t>
                </a:r>
                <a:r>
                  <a:rPr lang="pt-BR" b="0" dirty="0"/>
                  <a:t>onde para cada classificador, a classe positiva é a </a:t>
                </a:r>
                <a14:m>
                  <m:oMath xmlns:m="http://schemas.openxmlformats.org/officeDocument/2006/math">
                    <m:r>
                      <a:rPr lang="pt-BR" i="1">
                        <a:latin typeface="Cambria Math" panose="02040503050406030204" pitchFamily="18" charset="0"/>
                      </a:rPr>
                      <m:t>𝑞</m:t>
                    </m:r>
                  </m:oMath>
                </a14:m>
                <a:r>
                  <a:rPr lang="pt-BR" b="0" dirty="0"/>
                  <a:t>-</a:t>
                </a:r>
                <a:r>
                  <a:rPr lang="pt-BR" b="0" dirty="0" err="1"/>
                  <a:t>ésima</a:t>
                </a:r>
                <a:r>
                  <a:rPr lang="pt-BR" b="0" dirty="0"/>
                  <a:t> classe e a classe negativa</a:t>
                </a:r>
                <a:r>
                  <a:rPr lang="pt-BR" dirty="0"/>
                  <a:t> </a:t>
                </a:r>
                <a:r>
                  <a:rPr lang="pt-BR" b="0" dirty="0"/>
                  <a:t>é a junção de todas as outras,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−1</m:t>
                    </m:r>
                  </m:oMath>
                </a14:m>
                <a:r>
                  <a:rPr lang="pt-BR" b="0" dirty="0"/>
                  <a:t>, classes.</a:t>
                </a:r>
              </a:p>
              <a:p>
                <a:r>
                  <a:rPr lang="pt-BR" dirty="0">
                    <a:solidFill>
                      <a:schemeClr val="tx1"/>
                    </a:solidFill>
                  </a:rPr>
                  <a:t>Fazendo isso, nós </a:t>
                </a:r>
                <a:r>
                  <a:rPr lang="pt-BR" b="1" i="1" dirty="0">
                    <a:solidFill>
                      <a:srgbClr val="00B050"/>
                    </a:solidFill>
                  </a:rPr>
                  <a:t>transformamos um problema com </a:t>
                </a:r>
                <a14:m>
                  <m:oMath xmlns:m="http://schemas.openxmlformats.org/officeDocument/2006/math">
                    <m:r>
                      <a:rPr lang="pt-BR" b="1" i="1">
                        <a:solidFill>
                          <a:srgbClr val="00B050"/>
                        </a:solidFill>
                        <a:latin typeface="Cambria Math" panose="02040503050406030204" pitchFamily="18" charset="0"/>
                        <a:ea typeface="Cambria Math" panose="02040503050406030204" pitchFamily="18" charset="0"/>
                      </a:rPr>
                      <m:t>𝑸</m:t>
                    </m:r>
                  </m:oMath>
                </a14:m>
                <a:r>
                  <a:rPr lang="pt-BR" b="1" i="1" dirty="0">
                    <a:solidFill>
                      <a:srgbClr val="00B050"/>
                    </a:solidFill>
                  </a:rPr>
                  <a:t> classes em </a:t>
                </a:r>
                <a14:m>
                  <m:oMath xmlns:m="http://schemas.openxmlformats.org/officeDocument/2006/math">
                    <m:r>
                      <a:rPr lang="pt-BR" b="1" i="1" smtClean="0">
                        <a:solidFill>
                          <a:srgbClr val="00B050"/>
                        </a:solidFill>
                        <a:latin typeface="Cambria Math" panose="02040503050406030204" pitchFamily="18" charset="0"/>
                        <a:ea typeface="Cambria Math" panose="02040503050406030204" pitchFamily="18" charset="0"/>
                      </a:rPr>
                      <m:t>𝑸</m:t>
                    </m:r>
                  </m:oMath>
                </a14:m>
                <a:r>
                  <a:rPr lang="pt-BR" b="1" i="1" dirty="0">
                    <a:solidFill>
                      <a:srgbClr val="00B050"/>
                    </a:solidFill>
                  </a:rPr>
                  <a:t> problemas binários</a:t>
                </a:r>
                <a:r>
                  <a:rPr lang="pt-BR" dirty="0">
                    <a:solidFill>
                      <a:schemeClr val="tx1"/>
                    </a:solidFill>
                  </a:rPr>
                  <a:t>.</a:t>
                </a:r>
              </a:p>
              <a:p>
                <a:r>
                  <a:rPr lang="pt-BR" dirty="0"/>
                  <a:t>Cada um dos </a:t>
                </a:r>
                <a14:m>
                  <m:oMath xmlns:m="http://schemas.openxmlformats.org/officeDocument/2006/math">
                    <m:r>
                      <a:rPr lang="pt-BR" i="1">
                        <a:latin typeface="Cambria Math" panose="02040503050406030204" pitchFamily="18" charset="0"/>
                        <a:ea typeface="Cambria Math" panose="02040503050406030204" pitchFamily="18" charset="0"/>
                      </a:rPr>
                      <m:t>𝑄</m:t>
                    </m:r>
                    <m:r>
                      <a:rPr lang="pt-BR" i="1">
                        <a:latin typeface="Cambria Math" panose="02040503050406030204" pitchFamily="18" charset="0"/>
                        <a:ea typeface="Cambria Math" panose="02040503050406030204" pitchFamily="18" charset="0"/>
                      </a:rPr>
                      <m:t> </m:t>
                    </m:r>
                  </m:oMath>
                </a14:m>
                <a:r>
                  <a:rPr lang="pt-BR" dirty="0"/>
                  <a:t>classificadores binários é representado pela função hipótese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𝑖</m:t>
                            </m:r>
                          </m:e>
                        </m:d>
                      </m:e>
                    </m:d>
                  </m:oMath>
                </a14:m>
                <a:r>
                  <a:rPr lang="pt-BR" b="0" dirty="0"/>
                  <a:t>.</a:t>
                </a:r>
              </a:p>
            </p:txBody>
          </p:sp>
        </mc:Choice>
        <mc:Fallback>
          <p:sp>
            <p:nvSpPr>
              <p:cNvPr id="3" name="Espaço Reservado para Conteúdo 2">
                <a:extLst>
                  <a:ext uri="{FF2B5EF4-FFF2-40B4-BE49-F238E27FC236}">
                    <a16:creationId xmlns:a16="http://schemas.microsoft.com/office/drawing/2014/main" xmlns:a14="http://schemas.microsoft.com/office/drawing/2010/main" xmlns="" id="{50B99F56-FF18-D044-7799-0502D4F6A5FB}"/>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3"/>
                <a:stretch>
                  <a:fillRect l="-967" t="-1937" r="-537"/>
                </a:stretch>
              </a:blipFill>
            </p:spPr>
            <p:txBody>
              <a:bodyPr/>
              <a:lstStyle/>
              <a:p>
                <a:r>
                  <a:rPr lang="pt-BR">
                    <a:noFill/>
                  </a:rPr>
                  <a:t> </a:t>
                </a:r>
              </a:p>
            </p:txBody>
          </p:sp>
        </mc:Fallback>
      </mc:AlternateContent>
    </p:spTree>
    <p:extLst>
      <p:ext uri="{BB962C8B-B14F-4D97-AF65-F5344CB8AC3E}">
        <p14:creationId xmlns:p14="http://schemas.microsoft.com/office/powerpoint/2010/main" val="1776514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0D4148F-5E93-6FF0-6B66-AC9E3B82640A}"/>
              </a:ext>
            </a:extLst>
          </p:cNvPr>
          <p:cNvSpPr>
            <a:spLocks noGrp="1"/>
          </p:cNvSpPr>
          <p:nvPr>
            <p:ph type="title"/>
          </p:nvPr>
        </p:nvSpPr>
        <p:spPr/>
        <p:txBody>
          <a:bodyPr/>
          <a:lstStyle/>
          <a:p>
            <a:r>
              <a:rPr lang="pt-BR" dirty="0"/>
              <a:t>Um-Contra-o-Resto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A4787C4F-F235-6888-5AFF-2CB1361FF6FD}"/>
                  </a:ext>
                </a:extLst>
              </p:cNvPr>
              <p:cNvSpPr>
                <a:spLocks noGrp="1"/>
              </p:cNvSpPr>
              <p:nvPr>
                <p:ph idx="1"/>
              </p:nvPr>
            </p:nvSpPr>
            <p:spPr>
              <a:xfrm>
                <a:off x="838199" y="1825625"/>
                <a:ext cx="11353801" cy="5032375"/>
              </a:xfrm>
            </p:spPr>
            <p:txBody>
              <a:bodyPr>
                <a:normAutofit/>
              </a:bodyPr>
              <a:lstStyle/>
              <a:p>
                <a:r>
                  <a:rPr lang="pt-BR" dirty="0"/>
                  <a:t>Portanto, o </a:t>
                </a:r>
                <a14:m>
                  <m:oMath xmlns:m="http://schemas.openxmlformats.org/officeDocument/2006/math">
                    <m:r>
                      <a:rPr lang="pt-BR" i="1">
                        <a:latin typeface="Cambria Math" panose="02040503050406030204" pitchFamily="18" charset="0"/>
                      </a:rPr>
                      <m:t>𝑞</m:t>
                    </m:r>
                  </m:oMath>
                </a14:m>
                <a:r>
                  <a:rPr lang="pt-BR" dirty="0"/>
                  <a:t>-</a:t>
                </a:r>
                <a:r>
                  <a:rPr lang="pt-BR" dirty="0" err="1"/>
                  <a:t>ésimo</a:t>
                </a:r>
                <a:r>
                  <a:rPr lang="pt-BR" dirty="0"/>
                  <a:t> </a:t>
                </a:r>
                <a:r>
                  <a:rPr lang="pt-BR" i="1" dirty="0"/>
                  <a:t>classificador</a:t>
                </a:r>
                <a:r>
                  <a:rPr lang="pt-BR" dirty="0"/>
                  <a:t> deve indicar a classe positiva caso o exemplo pertença à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classe ou indicar a classe negativa caso o exemplo pertença a qualquer uma das outras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−1 </m:t>
                    </m:r>
                  </m:oMath>
                </a14:m>
                <a:r>
                  <a:rPr lang="pt-BR" dirty="0"/>
                  <a:t>classes.</a:t>
                </a:r>
                <a:endParaRPr lang="pt-BR" b="0" dirty="0"/>
              </a:p>
              <a:p>
                <a:r>
                  <a:rPr lang="pt-BR" dirty="0"/>
                  <a:t>Após o treinamento, </a:t>
                </a:r>
                <a:r>
                  <a:rPr lang="pt-BR" b="1" i="1" dirty="0">
                    <a:solidFill>
                      <a:schemeClr val="accent2"/>
                    </a:solidFill>
                  </a:rPr>
                  <a:t>para cada exemplo </a:t>
                </a:r>
                <a:r>
                  <a:rPr lang="pt-BR" dirty="0"/>
                  <a:t>de entrada, </a:t>
                </a:r>
                <a14:m>
                  <m:oMath xmlns:m="http://schemas.openxmlformats.org/officeDocument/2006/math">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𝑖</m:t>
                        </m:r>
                      </m:e>
                    </m:d>
                  </m:oMath>
                </a14:m>
                <a:r>
                  <a:rPr lang="pt-BR" dirty="0"/>
                  <a:t>, </a:t>
                </a:r>
                <a:r>
                  <a:rPr lang="pt-BR" b="1" i="1" dirty="0">
                    <a:solidFill>
                      <a:schemeClr val="accent2"/>
                    </a:solidFill>
                  </a:rPr>
                  <a:t>realiza-se </a:t>
                </a:r>
                <a14:m>
                  <m:oMath xmlns:m="http://schemas.openxmlformats.org/officeDocument/2006/math">
                    <m:r>
                      <a:rPr lang="pt-BR" b="1" i="1">
                        <a:solidFill>
                          <a:schemeClr val="accent2"/>
                        </a:solidFill>
                        <a:latin typeface="Cambria Math" panose="02040503050406030204" pitchFamily="18" charset="0"/>
                      </a:rPr>
                      <m:t>𝑸</m:t>
                    </m:r>
                  </m:oMath>
                </a14:m>
                <a:r>
                  <a:rPr lang="pt-BR" b="1" i="1" dirty="0">
                    <a:solidFill>
                      <a:schemeClr val="accent2"/>
                    </a:solidFill>
                  </a:rPr>
                  <a:t> predições </a:t>
                </a:r>
                <a:r>
                  <a:rPr lang="pt-BR" dirty="0"/>
                  <a:t>e escolhe-se a classe que maximiza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𝑖</m:t>
                            </m:r>
                          </m:e>
                        </m:d>
                      </m:e>
                    </m:d>
                  </m:oMath>
                </a14:m>
                <a:endParaRPr lang="pt-BR" dirty="0"/>
              </a:p>
              <a:p>
                <a:pPr marL="0" indent="0" algn="ctr">
                  <a:buNone/>
                </a:pP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𝐶</m:t>
                        </m:r>
                      </m:e>
                      <m:sub>
                        <m:r>
                          <a:rPr lang="pt-BR" b="0" i="1" smtClean="0">
                            <a:latin typeface="Cambria Math" panose="02040503050406030204" pitchFamily="18" charset="0"/>
                          </a:rPr>
                          <m:t>𝑞</m:t>
                        </m:r>
                      </m:sub>
                    </m:sSub>
                    <m:r>
                      <a:rPr lang="pt-BR" b="0" i="1" smtClean="0">
                        <a:latin typeface="Cambria Math" panose="02040503050406030204" pitchFamily="18" charset="0"/>
                      </a:rPr>
                      <m:t>= </m:t>
                    </m:r>
                  </m:oMath>
                </a14:m>
                <a:r>
                  <a:rPr lang="pt-BR" dirty="0">
                    <a:latin typeface="Cambria Math" panose="02040503050406030204" pitchFamily="18" charset="0"/>
                  </a:rPr>
                  <a:t>arg</a:t>
                </a:r>
                <a:r>
                  <a:rPr lang="pt-BR" dirty="0"/>
                  <a:t> </a:t>
                </a:r>
                <a14:m>
                  <m:oMath xmlns:m="http://schemas.openxmlformats.org/officeDocument/2006/math">
                    <m:func>
                      <m:funcPr>
                        <m:ctrlPr>
                          <a:rPr lang="pt-BR" i="1" smtClean="0">
                            <a:latin typeface="Cambria Math" panose="02040503050406030204" pitchFamily="18" charset="0"/>
                          </a:rPr>
                        </m:ctrlPr>
                      </m:funcPr>
                      <m:fName>
                        <m:limLow>
                          <m:limLowPr>
                            <m:ctrlPr>
                              <a:rPr lang="pt-BR" i="1" smtClean="0">
                                <a:latin typeface="Cambria Math" panose="02040503050406030204" pitchFamily="18" charset="0"/>
                              </a:rPr>
                            </m:ctrlPr>
                          </m:limLowPr>
                          <m:e>
                            <m:r>
                              <m:rPr>
                                <m:sty m:val="p"/>
                              </m:rPr>
                              <a:rPr lang="pt-BR" i="0" smtClean="0">
                                <a:latin typeface="Cambria Math" panose="02040503050406030204" pitchFamily="18" charset="0"/>
                              </a:rPr>
                              <m:t>max</m:t>
                            </m:r>
                          </m:e>
                          <m:lim>
                            <m:r>
                              <a:rPr lang="pt-BR" b="0" i="1" smtClean="0">
                                <a:latin typeface="Cambria Math" panose="02040503050406030204" pitchFamily="18" charset="0"/>
                              </a:rPr>
                              <m:t>𝑞</m:t>
                            </m:r>
                          </m:lim>
                        </m:limLow>
                      </m:fName>
                      <m:e>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𝑖</m:t>
                                </m:r>
                              </m:e>
                            </m:d>
                          </m:e>
                        </m:d>
                      </m:e>
                    </m:func>
                  </m:oMath>
                </a14:m>
                <a:r>
                  <a:rPr lang="pt-BR" dirty="0"/>
                  <a:t>.</a:t>
                </a:r>
              </a:p>
              <a:p>
                <a:r>
                  <a:rPr lang="pt-BR" dirty="0"/>
                  <a:t>A </a:t>
                </a:r>
                <a:r>
                  <a:rPr lang="pt-BR" b="1" i="1" dirty="0"/>
                  <a:t>vantagem</a:t>
                </a:r>
                <a:r>
                  <a:rPr lang="pt-BR" dirty="0"/>
                  <a:t> desta abordagem é que treina-se apenas </a:t>
                </a:r>
                <a14:m>
                  <m:oMath xmlns:m="http://schemas.openxmlformats.org/officeDocument/2006/math">
                    <m:r>
                      <a:rPr lang="pt-BR" i="1">
                        <a:latin typeface="Cambria Math" panose="02040503050406030204" pitchFamily="18" charset="0"/>
                      </a:rPr>
                      <m:t>𝑄</m:t>
                    </m:r>
                  </m:oMath>
                </a14:m>
                <a:r>
                  <a:rPr lang="pt-BR" dirty="0"/>
                  <a:t> </a:t>
                </a:r>
                <a:r>
                  <a:rPr lang="pt-BR" b="1" i="1" dirty="0"/>
                  <a:t>classificadores</a:t>
                </a:r>
                <a:r>
                  <a:rPr lang="pt-BR" dirty="0"/>
                  <a:t>.</a:t>
                </a:r>
              </a:p>
              <a:p>
                <a:r>
                  <a:rPr lang="pt-BR" dirty="0"/>
                  <a:t>Uma </a:t>
                </a:r>
                <a:r>
                  <a:rPr lang="pt-BR" b="1" i="1" dirty="0"/>
                  <a:t>desvantagem</a:t>
                </a:r>
                <a:r>
                  <a:rPr lang="pt-BR" dirty="0"/>
                  <a:t> é que cada </a:t>
                </a:r>
                <a:r>
                  <a:rPr lang="pt-BR" b="1" i="1" dirty="0"/>
                  <a:t>classificador binário </a:t>
                </a:r>
                <a:r>
                  <a:rPr lang="pt-BR" dirty="0"/>
                  <a:t>precisa ser treinado com um conjunto negativo que é </a:t>
                </a:r>
                <a14:m>
                  <m:oMath xmlns:m="http://schemas.openxmlformats.org/officeDocument/2006/math">
                    <m:r>
                      <a:rPr lang="pt-BR" i="1">
                        <a:latin typeface="Cambria Math" panose="02040503050406030204" pitchFamily="18" charset="0"/>
                      </a:rPr>
                      <m:t>𝑄</m:t>
                    </m:r>
                  </m:oMath>
                </a14:m>
                <a:r>
                  <a:rPr lang="pt-BR" dirty="0"/>
                  <a:t>-1 vezes maior, o que pode </a:t>
                </a:r>
                <a:r>
                  <a:rPr lang="pt-BR" b="1" i="1" dirty="0">
                    <a:solidFill>
                      <a:srgbClr val="FF0000"/>
                    </a:solidFill>
                  </a:rPr>
                  <a:t>tornar o treinamento lento</a:t>
                </a:r>
                <a:r>
                  <a:rPr lang="pt-BR" dirty="0"/>
                  <a:t> e </a:t>
                </a:r>
                <a:r>
                  <a:rPr lang="pt-BR" b="1" i="1" dirty="0">
                    <a:solidFill>
                      <a:srgbClr val="FF0000"/>
                    </a:solidFill>
                  </a:rPr>
                  <a:t>aumentar a possibilidade de classes desbalanceadas</a:t>
                </a:r>
                <a:r>
                  <a:rPr lang="pt-BR" dirty="0"/>
                  <a:t>.</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A4787C4F-F235-6888-5AFF-2CB1361FF6FD}"/>
                  </a:ext>
                </a:extLst>
              </p:cNvPr>
              <p:cNvSpPr>
                <a:spLocks noGrp="1" noRot="1" noChangeAspect="1" noMove="1" noResize="1" noEditPoints="1" noAdjustHandles="1" noChangeArrowheads="1" noChangeShapeType="1" noTextEdit="1"/>
              </p:cNvSpPr>
              <p:nvPr>
                <p:ph idx="1"/>
              </p:nvPr>
            </p:nvSpPr>
            <p:spPr>
              <a:xfrm>
                <a:off x="838199" y="1825625"/>
                <a:ext cx="11353801" cy="5032375"/>
              </a:xfrm>
              <a:blipFill rotWithShape="0">
                <a:blip r:embed="rId3"/>
                <a:stretch>
                  <a:fillRect l="-913" t="-1937"/>
                </a:stretch>
              </a:blipFill>
            </p:spPr>
            <p:txBody>
              <a:bodyPr/>
              <a:lstStyle/>
              <a:p>
                <a:r>
                  <a:rPr lang="pt-BR">
                    <a:noFill/>
                  </a:rPr>
                  <a:t> </a:t>
                </a:r>
              </a:p>
            </p:txBody>
          </p:sp>
        </mc:Fallback>
      </mc:AlternateContent>
    </p:spTree>
    <p:extLst>
      <p:ext uri="{BB962C8B-B14F-4D97-AF65-F5344CB8AC3E}">
        <p14:creationId xmlns:p14="http://schemas.microsoft.com/office/powerpoint/2010/main" val="2312456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itle 1"/>
          <p:cNvSpPr>
            <a:spLocks noGrp="1"/>
          </p:cNvSpPr>
          <p:nvPr>
            <p:ph type="title"/>
          </p:nvPr>
        </p:nvSpPr>
        <p:spPr>
          <a:xfrm>
            <a:off x="838200" y="365125"/>
            <a:ext cx="10515600" cy="1325563"/>
          </a:xfrm>
        </p:spPr>
        <p:txBody>
          <a:bodyPr/>
          <a:lstStyle/>
          <a:p>
            <a:r>
              <a:rPr lang="pt-BR" dirty="0"/>
              <a:t>Um-Contra-o-Resto</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9243" y="124681"/>
            <a:ext cx="8053514" cy="6608637"/>
          </a:xfrm>
          <a:prstGeom prst="rect">
            <a:avLst/>
          </a:prstGeom>
        </p:spPr>
      </p:pic>
      <p:sp>
        <p:nvSpPr>
          <p:cNvPr id="5" name="Mais 4"/>
          <p:cNvSpPr/>
          <p:nvPr/>
        </p:nvSpPr>
        <p:spPr>
          <a:xfrm>
            <a:off x="6563762" y="1632368"/>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Mais 6"/>
          <p:cNvSpPr/>
          <p:nvPr/>
        </p:nvSpPr>
        <p:spPr>
          <a:xfrm>
            <a:off x="6563762" y="3895876"/>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Mais 8"/>
          <p:cNvSpPr/>
          <p:nvPr/>
        </p:nvSpPr>
        <p:spPr>
          <a:xfrm>
            <a:off x="9557685" y="6434554"/>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p:cNvSpPr txBox="1"/>
          <p:nvPr/>
        </p:nvSpPr>
        <p:spPr>
          <a:xfrm>
            <a:off x="9972304" y="6425541"/>
            <a:ext cx="1759584" cy="307777"/>
          </a:xfrm>
          <a:prstGeom prst="rect">
            <a:avLst/>
          </a:prstGeom>
          <a:noFill/>
        </p:spPr>
        <p:txBody>
          <a:bodyPr wrap="none" rtlCol="0">
            <a:spAutoFit/>
          </a:bodyPr>
          <a:lstStyle/>
          <a:p>
            <a:r>
              <a:rPr lang="pt-BR" sz="1400" dirty="0"/>
              <a:t>Exemplo de validação</a:t>
            </a:r>
          </a:p>
        </p:txBody>
      </p:sp>
      <p:cxnSp>
        <p:nvCxnSpPr>
          <p:cNvPr id="10" name="Conector reto 9"/>
          <p:cNvCxnSpPr/>
          <p:nvPr/>
        </p:nvCxnSpPr>
        <p:spPr>
          <a:xfrm>
            <a:off x="9413940" y="6211529"/>
            <a:ext cx="50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6" name="CaixaDeTexto 15"/>
          <p:cNvSpPr txBox="1"/>
          <p:nvPr/>
        </p:nvSpPr>
        <p:spPr>
          <a:xfrm>
            <a:off x="9976023" y="6057640"/>
            <a:ext cx="1666931" cy="307777"/>
          </a:xfrm>
          <a:prstGeom prst="rect">
            <a:avLst/>
          </a:prstGeom>
          <a:noFill/>
        </p:spPr>
        <p:txBody>
          <a:bodyPr wrap="none" rtlCol="0">
            <a:spAutoFit/>
          </a:bodyPr>
          <a:lstStyle/>
          <a:p>
            <a:r>
              <a:rPr lang="pt-BR" sz="1400" dirty="0"/>
              <a:t>Fronteira de decisão</a:t>
            </a:r>
          </a:p>
        </p:txBody>
      </p:sp>
      <mc:AlternateContent xmlns:mc="http://schemas.openxmlformats.org/markup-compatibility/2006" xmlns:a14="http://schemas.microsoft.com/office/drawing/2010/main">
        <mc:Choice Requires="a14">
          <p:sp>
            <p:nvSpPr>
              <p:cNvPr id="11" name="Rectangle 2"/>
              <p:cNvSpPr/>
              <p:nvPr/>
            </p:nvSpPr>
            <p:spPr>
              <a:xfrm>
                <a:off x="2593619" y="4410101"/>
                <a:ext cx="1470980" cy="646331"/>
              </a:xfrm>
              <a:prstGeom prst="rect">
                <a:avLst/>
              </a:prstGeom>
            </p:spPr>
            <p:txBody>
              <a:bodyPr wrap="none">
                <a:spAutoFit/>
              </a:bodyPr>
              <a:lstStyle/>
              <a:p>
                <a14:m>
                  <m:oMath xmlns:m="http://schemas.openxmlformats.org/officeDocument/2006/math">
                    <m:r>
                      <a:rPr lang="pt-BR" sz="3600" b="0" i="1" smtClean="0">
                        <a:latin typeface="Cambria Math" panose="02040503050406030204" pitchFamily="18" charset="0"/>
                      </a:rPr>
                      <m:t>𝑄</m:t>
                    </m:r>
                    <m:r>
                      <a:rPr lang="pt-BR" sz="3600" i="1">
                        <a:latin typeface="Cambria Math" panose="02040503050406030204" pitchFamily="18" charset="0"/>
                      </a:rPr>
                      <m:t>=3</m:t>
                    </m:r>
                  </m:oMath>
                </a14:m>
                <a:r>
                  <a:rPr lang="pt-BR" sz="3600" dirty="0"/>
                  <a:t> </a:t>
                </a:r>
              </a:p>
            </p:txBody>
          </p:sp>
        </mc:Choice>
        <mc:Fallback xmlns="">
          <p:sp>
            <p:nvSpPr>
              <p:cNvPr id="11" name="Rectangle 2"/>
              <p:cNvSpPr>
                <a:spLocks noRot="1" noChangeAspect="1" noMove="1" noResize="1" noEditPoints="1" noAdjustHandles="1" noChangeArrowheads="1" noChangeShapeType="1" noTextEdit="1"/>
              </p:cNvSpPr>
              <p:nvPr/>
            </p:nvSpPr>
            <p:spPr>
              <a:xfrm>
                <a:off x="2593619" y="4410101"/>
                <a:ext cx="1470980" cy="646331"/>
              </a:xfrm>
              <a:prstGeom prst="rect">
                <a:avLst/>
              </a:prstGeom>
              <a:blipFill rotWithShape="0">
                <a:blip r:embed="rId3"/>
                <a:stretch>
                  <a:fillRect/>
                </a:stretch>
              </a:blipFill>
            </p:spPr>
            <p:txBody>
              <a:bodyPr/>
              <a:lstStyle/>
              <a:p>
                <a:r>
                  <a:rPr lang="pt-BR">
                    <a:noFill/>
                  </a:rPr>
                  <a:t> </a:t>
                </a:r>
              </a:p>
            </p:txBody>
          </p:sp>
        </mc:Fallback>
      </mc:AlternateContent>
      <p:sp>
        <p:nvSpPr>
          <p:cNvPr id="4" name="CaixaDeTexto 3"/>
          <p:cNvSpPr txBox="1"/>
          <p:nvPr/>
        </p:nvSpPr>
        <p:spPr>
          <a:xfrm>
            <a:off x="9813747" y="760395"/>
            <a:ext cx="934156" cy="369332"/>
          </a:xfrm>
          <a:prstGeom prst="rect">
            <a:avLst/>
          </a:prstGeom>
          <a:noFill/>
        </p:spPr>
        <p:txBody>
          <a:bodyPr wrap="square" rtlCol="0">
            <a:spAutoFit/>
          </a:bodyPr>
          <a:lstStyle/>
          <a:p>
            <a:r>
              <a:rPr lang="pt-BR" dirty="0"/>
              <a:t>= 0.55</a:t>
            </a:r>
          </a:p>
        </p:txBody>
      </p:sp>
      <p:sp>
        <p:nvSpPr>
          <p:cNvPr id="13" name="CaixaDeTexto 12"/>
          <p:cNvSpPr txBox="1"/>
          <p:nvPr/>
        </p:nvSpPr>
        <p:spPr>
          <a:xfrm>
            <a:off x="9907481" y="3205833"/>
            <a:ext cx="934156" cy="369332"/>
          </a:xfrm>
          <a:prstGeom prst="rect">
            <a:avLst/>
          </a:prstGeom>
          <a:noFill/>
        </p:spPr>
        <p:txBody>
          <a:bodyPr wrap="square" rtlCol="0">
            <a:spAutoFit/>
          </a:bodyPr>
          <a:lstStyle/>
          <a:p>
            <a:r>
              <a:rPr lang="pt-BR" dirty="0"/>
              <a:t>= 0.05</a:t>
            </a:r>
          </a:p>
        </p:txBody>
      </p:sp>
      <p:sp>
        <p:nvSpPr>
          <p:cNvPr id="14" name="CaixaDeTexto 13"/>
          <p:cNvSpPr txBox="1"/>
          <p:nvPr/>
        </p:nvSpPr>
        <p:spPr>
          <a:xfrm>
            <a:off x="9949002" y="5412850"/>
            <a:ext cx="934156" cy="369332"/>
          </a:xfrm>
          <a:prstGeom prst="rect">
            <a:avLst/>
          </a:prstGeom>
          <a:noFill/>
        </p:spPr>
        <p:txBody>
          <a:bodyPr wrap="square" rtlCol="0">
            <a:spAutoFit/>
          </a:bodyPr>
          <a:lstStyle/>
          <a:p>
            <a:r>
              <a:rPr lang="pt-BR" dirty="0"/>
              <a:t>= 0.85</a:t>
            </a:r>
          </a:p>
        </p:txBody>
      </p:sp>
      <mc:AlternateContent xmlns:mc="http://schemas.openxmlformats.org/markup-compatibility/2006" xmlns:a14="http://schemas.microsoft.com/office/drawing/2010/main">
        <mc:Choice Requires="a14">
          <p:sp>
            <p:nvSpPr>
              <p:cNvPr id="15" name="CaixaDeTexto 14"/>
              <p:cNvSpPr txBox="1"/>
              <p:nvPr/>
            </p:nvSpPr>
            <p:spPr>
              <a:xfrm rot="18753228">
                <a:off x="4458229" y="1909051"/>
                <a:ext cx="1941162" cy="369332"/>
              </a:xfrm>
              <a:prstGeom prst="rect">
                <a:avLst/>
              </a:prstGeom>
              <a:noFill/>
            </p:spPr>
            <p:txBody>
              <a:bodyPr wrap="square" rtlCol="0">
                <a:spAutoFit/>
              </a:bodyPr>
              <a:lstStyle/>
              <a:p>
                <a14:m>
                  <m:oMath xmlns:m="http://schemas.openxmlformats.org/officeDocument/2006/math">
                    <m:sSub>
                      <m:sSubPr>
                        <m:ctrlPr>
                          <a:rPr lang="pt-BR" i="1" dirty="0" smtClean="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1</m:t>
                        </m:r>
                      </m:sub>
                    </m:sSub>
                    <m:d>
                      <m:dPr>
                        <m:ctrlPr>
                          <a:rPr lang="pt-BR" b="0" i="1" dirty="0" smtClean="0">
                            <a:latin typeface="Cambria Math" panose="02040503050406030204" pitchFamily="18" charset="0"/>
                          </a:rPr>
                        </m:ctrlPr>
                      </m:dPr>
                      <m:e>
                        <m:r>
                          <a:rPr lang="pt-BR" b="0" i="1" dirty="0" smtClean="0">
                            <a:latin typeface="Cambria Math" panose="02040503050406030204" pitchFamily="18" charset="0"/>
                          </a:rPr>
                          <m:t>+</m:t>
                        </m:r>
                      </m:e>
                    </m:d>
                    <m:r>
                      <a:rPr lang="pt-BR" b="0" i="1" dirty="0" smtClean="0">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2</m:t>
                        </m:r>
                      </m:sub>
                    </m:sSub>
                  </m:oMath>
                </a14:m>
                <a:r>
                  <a:rPr lang="pt-BR" dirty="0"/>
                  <a:t>&amp;</a:t>
                </a:r>
                <a14:m>
                  <m:oMath xmlns:m="http://schemas.openxmlformats.org/officeDocument/2006/math">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3</m:t>
                        </m:r>
                      </m:sub>
                    </m:sSub>
                    <m:r>
                      <a:rPr lang="pt-BR" b="0" i="0" dirty="0" smtClean="0">
                        <a:latin typeface="Cambria Math" panose="02040503050406030204" pitchFamily="18" charset="0"/>
                      </a:rPr>
                      <m:t>(−)</m:t>
                    </m:r>
                  </m:oMath>
                </a14:m>
                <a:endParaRPr lang="pt-BR" dirty="0"/>
              </a:p>
            </p:txBody>
          </p:sp>
        </mc:Choice>
        <mc:Fallback xmlns="">
          <p:sp>
            <p:nvSpPr>
              <p:cNvPr id="15" name="CaixaDeTexto 14"/>
              <p:cNvSpPr txBox="1">
                <a:spLocks noRot="1" noChangeAspect="1" noMove="1" noResize="1" noEditPoints="1" noAdjustHandles="1" noChangeArrowheads="1" noChangeShapeType="1" noTextEdit="1"/>
              </p:cNvSpPr>
              <p:nvPr/>
            </p:nvSpPr>
            <p:spPr>
              <a:xfrm rot="18753228">
                <a:off x="4458229" y="1909051"/>
                <a:ext cx="1941162" cy="369332"/>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p:cNvSpPr txBox="1"/>
              <p:nvPr/>
            </p:nvSpPr>
            <p:spPr>
              <a:xfrm>
                <a:off x="4550326" y="3055975"/>
                <a:ext cx="2005677" cy="369332"/>
              </a:xfrm>
              <a:prstGeom prst="rect">
                <a:avLst/>
              </a:prstGeom>
              <a:noFill/>
            </p:spPr>
            <p:txBody>
              <a:bodyPr wrap="none" rtlCol="0">
                <a:spAutoFit/>
              </a:bodyPr>
              <a:lstStyle/>
              <a:p>
                <a14:m>
                  <m:oMath xmlns:m="http://schemas.openxmlformats.org/officeDocument/2006/math">
                    <m:sSub>
                      <m:sSubPr>
                        <m:ctrlPr>
                          <a:rPr lang="pt-BR" i="1" dirty="0" smtClean="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2</m:t>
                        </m:r>
                      </m:sub>
                    </m:sSub>
                    <m:r>
                      <a:rPr lang="pt-BR" b="0" i="1" dirty="0" smtClean="0">
                        <a:latin typeface="Cambria Math" panose="02040503050406030204" pitchFamily="18" charset="0"/>
                      </a:rPr>
                      <m:t>(+)</m:t>
                    </m:r>
                  </m:oMath>
                </a14:m>
                <a:r>
                  <a:rPr lang="pt-BR" dirty="0"/>
                  <a:t> </a:t>
                </a:r>
                <a14:m>
                  <m:oMath xmlns:m="http://schemas.openxmlformats.org/officeDocument/2006/math">
                    <m:r>
                      <a:rPr lang="pt-BR" i="1" dirty="0">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1</m:t>
                        </m:r>
                      </m:sub>
                    </m:sSub>
                  </m:oMath>
                </a14:m>
                <a:r>
                  <a:rPr lang="pt-BR" dirty="0"/>
                  <a:t>&amp;</a:t>
                </a:r>
                <a14:m>
                  <m:oMath xmlns:m="http://schemas.openxmlformats.org/officeDocument/2006/math">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i="1" dirty="0">
                            <a:latin typeface="Cambria Math" panose="02040503050406030204" pitchFamily="18" charset="0"/>
                          </a:rPr>
                          <m:t>3</m:t>
                        </m:r>
                      </m:sub>
                    </m:sSub>
                    <m:r>
                      <a:rPr lang="pt-BR" dirty="0">
                        <a:latin typeface="Cambria Math" panose="02040503050406030204" pitchFamily="18" charset="0"/>
                      </a:rPr>
                      <m:t>(−)</m:t>
                    </m:r>
                  </m:oMath>
                </a14:m>
                <a:endParaRPr lang="pt-BR" dirty="0"/>
              </a:p>
            </p:txBody>
          </p:sp>
        </mc:Choice>
        <mc:Fallback xmlns="">
          <p:sp>
            <p:nvSpPr>
              <p:cNvPr id="17" name="CaixaDeTexto 16"/>
              <p:cNvSpPr txBox="1">
                <a:spLocks noRot="1" noChangeAspect="1" noMove="1" noResize="1" noEditPoints="1" noAdjustHandles="1" noChangeArrowheads="1" noChangeShapeType="1" noTextEdit="1"/>
              </p:cNvSpPr>
              <p:nvPr/>
            </p:nvSpPr>
            <p:spPr>
              <a:xfrm>
                <a:off x="4550326" y="3055975"/>
                <a:ext cx="2005677" cy="369332"/>
              </a:xfrm>
              <a:prstGeom prst="rect">
                <a:avLst/>
              </a:prstGeom>
              <a:blipFill rotWithShape="0">
                <a:blip r:embed="rId5"/>
                <a:stretch>
                  <a:fillRect t="-8197" b="-245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p:cNvSpPr txBox="1"/>
              <p:nvPr/>
            </p:nvSpPr>
            <p:spPr>
              <a:xfrm rot="3228880">
                <a:off x="4503987" y="4792439"/>
                <a:ext cx="2005677" cy="369332"/>
              </a:xfrm>
              <a:prstGeom prst="rect">
                <a:avLst/>
              </a:prstGeom>
              <a:noFill/>
            </p:spPr>
            <p:txBody>
              <a:bodyPr wrap="none" rtlCol="0">
                <a:spAutoFit/>
              </a:bodyPr>
              <a:lstStyle/>
              <a:p>
                <a14:m>
                  <m:oMath xmlns:m="http://schemas.openxmlformats.org/officeDocument/2006/math">
                    <m:sSub>
                      <m:sSubPr>
                        <m:ctrlPr>
                          <a:rPr lang="pt-BR" i="1" dirty="0" smtClean="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3</m:t>
                        </m:r>
                      </m:sub>
                    </m:sSub>
                    <m:r>
                      <a:rPr lang="pt-BR" b="0" i="1" dirty="0" smtClean="0">
                        <a:latin typeface="Cambria Math" panose="02040503050406030204" pitchFamily="18" charset="0"/>
                      </a:rPr>
                      <m:t>(+)</m:t>
                    </m:r>
                  </m:oMath>
                </a14:m>
                <a:r>
                  <a:rPr lang="pt-BR" dirty="0"/>
                  <a:t> </a:t>
                </a:r>
                <a14:m>
                  <m:oMath xmlns:m="http://schemas.openxmlformats.org/officeDocument/2006/math">
                    <m:r>
                      <a:rPr lang="pt-BR" i="1" dirty="0">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1</m:t>
                        </m:r>
                      </m:sub>
                    </m:sSub>
                  </m:oMath>
                </a14:m>
                <a:r>
                  <a:rPr lang="pt-BR" dirty="0"/>
                  <a:t>&amp;</a:t>
                </a:r>
                <a14:m>
                  <m:oMath xmlns:m="http://schemas.openxmlformats.org/officeDocument/2006/math">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2</m:t>
                        </m:r>
                      </m:sub>
                    </m:sSub>
                    <m:r>
                      <a:rPr lang="pt-BR" dirty="0">
                        <a:latin typeface="Cambria Math" panose="02040503050406030204" pitchFamily="18" charset="0"/>
                      </a:rPr>
                      <m:t>(−)</m:t>
                    </m:r>
                  </m:oMath>
                </a14:m>
                <a:endParaRPr lang="pt-BR" dirty="0"/>
              </a:p>
            </p:txBody>
          </p:sp>
        </mc:Choice>
        <mc:Fallback xmlns="">
          <p:sp>
            <p:nvSpPr>
              <p:cNvPr id="18" name="CaixaDeTexto 17"/>
              <p:cNvSpPr txBox="1">
                <a:spLocks noRot="1" noChangeAspect="1" noMove="1" noResize="1" noEditPoints="1" noAdjustHandles="1" noChangeArrowheads="1" noChangeShapeType="1" noTextEdit="1"/>
              </p:cNvSpPr>
              <p:nvPr/>
            </p:nvSpPr>
            <p:spPr>
              <a:xfrm rot="3228880">
                <a:off x="4503987" y="4792439"/>
                <a:ext cx="2005677" cy="369332"/>
              </a:xfrm>
              <a:prstGeom prst="rect">
                <a:avLst/>
              </a:prstGeom>
              <a:blipFill rotWithShape="0">
                <a:blip r:embed="rId6"/>
                <a:stretch>
                  <a:fillRect/>
                </a:stretch>
              </a:blipFill>
            </p:spPr>
            <p:txBody>
              <a:bodyPr/>
              <a:lstStyle/>
              <a:p>
                <a:r>
                  <a:rPr lang="pt-BR">
                    <a:noFill/>
                  </a:rPr>
                  <a:t> </a:t>
                </a:r>
              </a:p>
            </p:txBody>
          </p:sp>
        </mc:Fallback>
      </mc:AlternateContent>
      <p:grpSp>
        <p:nvGrpSpPr>
          <p:cNvPr id="12" name="Grupo 11"/>
          <p:cNvGrpSpPr/>
          <p:nvPr/>
        </p:nvGrpSpPr>
        <p:grpSpPr>
          <a:xfrm>
            <a:off x="10664225" y="1781750"/>
            <a:ext cx="1379149" cy="523220"/>
            <a:chOff x="10535409" y="1632368"/>
            <a:chExt cx="1379149" cy="523220"/>
          </a:xfrm>
        </p:grpSpPr>
        <p:sp>
          <p:nvSpPr>
            <p:cNvPr id="6" name="CaixaDeTexto 5"/>
            <p:cNvSpPr txBox="1"/>
            <p:nvPr/>
          </p:nvSpPr>
          <p:spPr>
            <a:xfrm>
              <a:off x="10535409" y="1632368"/>
              <a:ext cx="1231043" cy="523220"/>
            </a:xfrm>
            <a:prstGeom prst="rect">
              <a:avLst/>
            </a:prstGeom>
            <a:noFill/>
          </p:spPr>
          <p:txBody>
            <a:bodyPr wrap="square" rtlCol="0">
              <a:spAutoFit/>
            </a:bodyPr>
            <a:lstStyle/>
            <a:p>
              <a:pPr algn="ctr"/>
              <a:r>
                <a:rPr lang="pt-BR" sz="1400" b="1" i="1" dirty="0">
                  <a:solidFill>
                    <a:schemeClr val="accent5"/>
                  </a:solidFill>
                </a:rPr>
                <a:t>A qual classe      pertence?  </a:t>
              </a:r>
            </a:p>
          </p:txBody>
        </p:sp>
        <p:sp>
          <p:nvSpPr>
            <p:cNvPr id="19" name="Mais 18"/>
            <p:cNvSpPr/>
            <p:nvPr/>
          </p:nvSpPr>
          <p:spPr>
            <a:xfrm>
              <a:off x="11642954" y="1632368"/>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0" name="CaixaDeTexto 19"/>
          <p:cNvSpPr txBox="1"/>
          <p:nvPr/>
        </p:nvSpPr>
        <p:spPr>
          <a:xfrm>
            <a:off x="1401839" y="5176259"/>
            <a:ext cx="4065127" cy="830997"/>
          </a:xfrm>
          <a:prstGeom prst="rect">
            <a:avLst/>
          </a:prstGeom>
          <a:noFill/>
        </p:spPr>
        <p:txBody>
          <a:bodyPr wrap="square" rtlCol="0">
            <a:spAutoFit/>
          </a:bodyPr>
          <a:lstStyle/>
          <a:p>
            <a:pPr algn="ctr"/>
            <a:r>
              <a:rPr lang="pt-BR" sz="2400" dirty="0"/>
              <a:t>Passamos a ter </a:t>
            </a:r>
            <a:r>
              <a:rPr lang="pt-BR" sz="2400" b="1" i="1" dirty="0"/>
              <a:t>3 classificadores binários</a:t>
            </a:r>
            <a:r>
              <a:rPr lang="pt-BR" sz="2400" dirty="0"/>
              <a:t>.</a:t>
            </a:r>
            <a:endParaRPr lang="pt-BR" sz="2400" b="1" i="1" dirty="0"/>
          </a:p>
        </p:txBody>
      </p:sp>
      <p:sp>
        <p:nvSpPr>
          <p:cNvPr id="21" name="Mais 7">
            <a:extLst>
              <a:ext uri="{FF2B5EF4-FFF2-40B4-BE49-F238E27FC236}">
                <a16:creationId xmlns:a16="http://schemas.microsoft.com/office/drawing/2014/main" xmlns="" id="{7B31CAF2-5F3C-E55A-EC75-167BCE74F1F7}"/>
              </a:ext>
            </a:extLst>
          </p:cNvPr>
          <p:cNvSpPr/>
          <p:nvPr/>
        </p:nvSpPr>
        <p:spPr>
          <a:xfrm>
            <a:off x="6590921" y="6114119"/>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98906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625D040-A3FE-41E3-3BD0-3C0548CFEAD3}"/>
              </a:ext>
            </a:extLst>
          </p:cNvPr>
          <p:cNvSpPr>
            <a:spLocks noGrp="1"/>
          </p:cNvSpPr>
          <p:nvPr>
            <p:ph type="title"/>
          </p:nvPr>
        </p:nvSpPr>
        <p:spPr/>
        <p:txBody>
          <a:bodyPr/>
          <a:lstStyle/>
          <a:p>
            <a:r>
              <a:rPr lang="pt-BR" dirty="0"/>
              <a:t>Um-Contra-Um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3BAFA38F-B924-7049-765D-660ED8C4845B}"/>
                  </a:ext>
                </a:extLst>
              </p:cNvPr>
              <p:cNvSpPr>
                <a:spLocks noGrp="1"/>
              </p:cNvSpPr>
              <p:nvPr>
                <p:ph idx="1"/>
              </p:nvPr>
            </p:nvSpPr>
            <p:spPr>
              <a:xfrm>
                <a:off x="838200" y="1825625"/>
                <a:ext cx="11353800" cy="5032376"/>
              </a:xfrm>
            </p:spPr>
            <p:txBody>
              <a:bodyPr>
                <a:normAutofit/>
              </a:bodyPr>
              <a:lstStyle/>
              <a:p>
                <a:r>
                  <a:rPr lang="pt-BR" dirty="0"/>
                  <a:t>Nesta abordagem, treina-se um classificador binário para </a:t>
                </a:r>
                <a:r>
                  <a:rPr lang="pt-BR" b="1" dirty="0">
                    <a:solidFill>
                      <a:schemeClr val="accent2"/>
                    </a:solidFill>
                  </a:rPr>
                  <a:t>cada um dos possíveis </a:t>
                </a:r>
                <a:r>
                  <a:rPr lang="pt-BR" b="1" dirty="0">
                    <a:solidFill>
                      <a:srgbClr val="7030A0"/>
                    </a:solidFill>
                  </a:rPr>
                  <a:t>pares</a:t>
                </a:r>
                <a:r>
                  <a:rPr lang="pt-BR" b="1" dirty="0">
                    <a:solidFill>
                      <a:schemeClr val="accent2"/>
                    </a:solidFill>
                  </a:rPr>
                  <a:t> de classes (sem repetição)</a:t>
                </a:r>
                <a:r>
                  <a:rPr lang="pt-BR" dirty="0"/>
                  <a:t>.</a:t>
                </a:r>
              </a:p>
              <a:p>
                <a:r>
                  <a:rPr lang="pt-BR" dirty="0"/>
                  <a:t>Ao todo, treina-se </a:t>
                </a:r>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m:t>
                    </m:r>
                    <m:r>
                      <a:rPr lang="pt-BR" b="0" i="1" smtClean="0">
                        <a:latin typeface="Cambria Math" panose="02040503050406030204" pitchFamily="18" charset="0"/>
                      </a:rPr>
                      <m:t>𝑄</m:t>
                    </m:r>
                    <m:r>
                      <a:rPr lang="pt-BR" b="0" i="1" smtClean="0">
                        <a:latin typeface="Cambria Math" panose="02040503050406030204" pitchFamily="18" charset="0"/>
                      </a:rPr>
                      <m:t>−1)/2</m:t>
                    </m:r>
                  </m:oMath>
                </a14:m>
                <a:r>
                  <a:rPr lang="pt-BR" dirty="0"/>
                  <a:t> </a:t>
                </a:r>
                <a:r>
                  <a:rPr lang="pt-BR" b="1" i="1" dirty="0"/>
                  <a:t>classificadores binários</a:t>
                </a:r>
                <a:r>
                  <a:rPr lang="pt-BR" dirty="0"/>
                  <a:t>. </a:t>
                </a:r>
              </a:p>
              <a:p>
                <a:pPr lvl="1">
                  <a:buFont typeface="Wingdings" panose="05000000000000000000" pitchFamily="2" charset="2"/>
                  <a:buChar char="§"/>
                </a:pPr>
                <a:r>
                  <a:rPr lang="pt-BR" dirty="0"/>
                  <a:t>Por exemplo, se </a:t>
                </a:r>
                <a14:m>
                  <m:oMath xmlns:m="http://schemas.openxmlformats.org/officeDocument/2006/math">
                    <m:r>
                      <a:rPr lang="pt-BR" i="1">
                        <a:latin typeface="Cambria Math" panose="02040503050406030204" pitchFamily="18" charset="0"/>
                      </a:rPr>
                      <m:t>𝑄</m:t>
                    </m:r>
                    <m:r>
                      <a:rPr lang="pt-BR" b="0" i="0" smtClean="0">
                        <a:latin typeface="Cambria Math" panose="02040503050406030204" pitchFamily="18" charset="0"/>
                      </a:rPr>
                      <m:t>=4</m:t>
                    </m:r>
                  </m:oMath>
                </a14:m>
                <a:r>
                  <a:rPr lang="pt-BR" dirty="0"/>
                  <a:t>, então treina-se 6 </a:t>
                </a:r>
                <a:r>
                  <a:rPr lang="pt-BR" b="1" i="1" dirty="0"/>
                  <a:t>classificadores</a:t>
                </a:r>
                <a:r>
                  <a:rPr lang="pt-BR" dirty="0"/>
                  <a:t> para classificar entre</a:t>
                </a:r>
                <a14:m>
                  <m:oMath xmlns:m="http://schemas.openxmlformats.org/officeDocument/2006/math">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r>
                      <a:rPr lang="pt-BR" b="0" i="0"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2</m:t>
                        </m:r>
                      </m:sub>
                    </m:sSub>
                  </m:oMath>
                </a14:m>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r>
                      <a:rPr lang="pt-BR">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oMath>
                </a14:m>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r>
                      <a:rPr lang="pt-BR">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4</m:t>
                        </m:r>
                      </m:sub>
                    </m:sSub>
                  </m:oMath>
                </a14:m>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r>
                      <a:rPr lang="pt-BR">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oMath>
                </a14:m>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r>
                      <a:rPr lang="pt-BR">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4</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r>
                      <a:rPr lang="pt-BR">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4</m:t>
                        </m:r>
                      </m:sub>
                    </m:sSub>
                  </m:oMath>
                </a14:m>
                <a:r>
                  <a:rPr lang="pt-BR" dirty="0"/>
                  <a:t>. </a:t>
                </a:r>
              </a:p>
              <a:p>
                <a:r>
                  <a:rPr lang="pt-BR" b="1" i="1" dirty="0">
                    <a:solidFill>
                      <a:srgbClr val="00B050"/>
                    </a:solidFill>
                  </a:rPr>
                  <a:t>Transformamos um problema com </a:t>
                </a:r>
                <a14:m>
                  <m:oMath xmlns:m="http://schemas.openxmlformats.org/officeDocument/2006/math">
                    <m:r>
                      <a:rPr lang="pt-BR" b="1" i="1">
                        <a:solidFill>
                          <a:srgbClr val="00B050"/>
                        </a:solidFill>
                        <a:latin typeface="Cambria Math" panose="02040503050406030204" pitchFamily="18" charset="0"/>
                        <a:ea typeface="Cambria Math" panose="02040503050406030204" pitchFamily="18" charset="0"/>
                      </a:rPr>
                      <m:t>𝑸</m:t>
                    </m:r>
                  </m:oMath>
                </a14:m>
                <a:r>
                  <a:rPr lang="pt-BR" b="1" i="1" dirty="0">
                    <a:solidFill>
                      <a:srgbClr val="00B050"/>
                    </a:solidFill>
                  </a:rPr>
                  <a:t> classes em </a:t>
                </a:r>
                <a14:m>
                  <m:oMath xmlns:m="http://schemas.openxmlformats.org/officeDocument/2006/math">
                    <m:r>
                      <a:rPr lang="pt-BR" b="1" i="1" smtClean="0">
                        <a:solidFill>
                          <a:srgbClr val="00B050"/>
                        </a:solidFill>
                        <a:latin typeface="Cambria Math" panose="02040503050406030204" pitchFamily="18" charset="0"/>
                      </a:rPr>
                      <m:t>𝑸</m:t>
                    </m:r>
                    <m:r>
                      <a:rPr lang="pt-BR" b="1" i="1" smtClean="0">
                        <a:solidFill>
                          <a:srgbClr val="00B050"/>
                        </a:solidFill>
                        <a:latin typeface="Cambria Math" panose="02040503050406030204" pitchFamily="18" charset="0"/>
                      </a:rPr>
                      <m:t>(</m:t>
                    </m:r>
                    <m:r>
                      <a:rPr lang="pt-BR" b="1" i="1" smtClean="0">
                        <a:solidFill>
                          <a:srgbClr val="00B050"/>
                        </a:solidFill>
                        <a:latin typeface="Cambria Math" panose="02040503050406030204" pitchFamily="18" charset="0"/>
                      </a:rPr>
                      <m:t>𝑸</m:t>
                    </m:r>
                    <m:r>
                      <a:rPr lang="pt-BR" b="1" i="1" smtClean="0">
                        <a:solidFill>
                          <a:srgbClr val="00B050"/>
                        </a:solidFill>
                        <a:latin typeface="Cambria Math" panose="02040503050406030204" pitchFamily="18" charset="0"/>
                      </a:rPr>
                      <m:t>−</m:t>
                    </m:r>
                    <m:r>
                      <a:rPr lang="pt-BR" b="1" i="1" smtClean="0">
                        <a:solidFill>
                          <a:srgbClr val="00B050"/>
                        </a:solidFill>
                        <a:latin typeface="Cambria Math" panose="02040503050406030204" pitchFamily="18" charset="0"/>
                      </a:rPr>
                      <m:t>𝟏</m:t>
                    </m:r>
                    <m:r>
                      <a:rPr lang="pt-BR" b="1" i="1" smtClean="0">
                        <a:solidFill>
                          <a:srgbClr val="00B050"/>
                        </a:solidFill>
                        <a:latin typeface="Cambria Math" panose="02040503050406030204" pitchFamily="18" charset="0"/>
                      </a:rPr>
                      <m:t>)/</m:t>
                    </m:r>
                    <m:r>
                      <a:rPr lang="pt-BR" b="1" i="1" smtClean="0">
                        <a:solidFill>
                          <a:srgbClr val="00B050"/>
                        </a:solidFill>
                        <a:latin typeface="Cambria Math" panose="02040503050406030204" pitchFamily="18" charset="0"/>
                      </a:rPr>
                      <m:t>𝟐</m:t>
                    </m:r>
                  </m:oMath>
                </a14:m>
                <a:r>
                  <a:rPr lang="pt-BR" b="1" i="1" dirty="0">
                    <a:solidFill>
                      <a:srgbClr val="00B050"/>
                    </a:solidFill>
                  </a:rPr>
                  <a:t> problemas binários.</a:t>
                </a:r>
              </a:p>
              <a:p>
                <a:r>
                  <a:rPr lang="pt-BR" dirty="0"/>
                  <a:t>No final, cada exemplo é classificado conforme o </a:t>
                </a:r>
                <a:r>
                  <a:rPr lang="pt-BR" b="1" i="1" dirty="0"/>
                  <a:t>voto majoritário </a:t>
                </a:r>
                <a:r>
                  <a:rPr lang="pt-BR" dirty="0"/>
                  <a:t>entre os </a:t>
                </a:r>
                <a:r>
                  <a:rPr lang="pt-BR" b="1" i="1" dirty="0"/>
                  <a:t>classificadores</a:t>
                </a:r>
                <a:r>
                  <a:rPr lang="pt-BR" dirty="0"/>
                  <a:t>.</a:t>
                </a:r>
              </a:p>
              <a:p>
                <a:r>
                  <a:rPr lang="pt-BR" dirty="0"/>
                  <a:t>Ou seja, a classe que receber mais votos é a classe atribuída ao exemplo.</a:t>
                </a:r>
              </a:p>
              <a:p>
                <a:pPr lvl="1">
                  <a:buFont typeface="Wingdings" panose="05000000000000000000" pitchFamily="2" charset="2"/>
                  <a:buChar char="§"/>
                </a:pPr>
                <a:endParaRPr lang="pt-BR" dirty="0"/>
              </a:p>
              <a:p>
                <a:endParaRPr lang="pt-BR" dirty="0"/>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3BAFA38F-B924-7049-765D-660ED8C4845B}"/>
                  </a:ext>
                </a:extLst>
              </p:cNvPr>
              <p:cNvSpPr>
                <a:spLocks noGrp="1" noRot="1" noChangeAspect="1" noMove="1" noResize="1" noEditPoints="1" noAdjustHandles="1" noChangeArrowheads="1" noChangeShapeType="1" noTextEdit="1"/>
              </p:cNvSpPr>
              <p:nvPr>
                <p:ph idx="1"/>
              </p:nvPr>
            </p:nvSpPr>
            <p:spPr>
              <a:xfrm>
                <a:off x="838200" y="1825625"/>
                <a:ext cx="11353800" cy="5032376"/>
              </a:xfrm>
              <a:blipFill rotWithShape="0">
                <a:blip r:embed="rId3"/>
                <a:stretch>
                  <a:fillRect l="-967" t="-1937" r="-1289"/>
                </a:stretch>
              </a:blipFill>
            </p:spPr>
            <p:txBody>
              <a:bodyPr/>
              <a:lstStyle/>
              <a:p>
                <a:r>
                  <a:rPr lang="pt-BR">
                    <a:noFill/>
                  </a:rPr>
                  <a:t> </a:t>
                </a:r>
              </a:p>
            </p:txBody>
          </p:sp>
        </mc:Fallback>
      </mc:AlternateContent>
    </p:spTree>
    <p:extLst>
      <p:ext uri="{BB962C8B-B14F-4D97-AF65-F5344CB8AC3E}">
        <p14:creationId xmlns:p14="http://schemas.microsoft.com/office/powerpoint/2010/main" val="612709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85EDE22-7739-3353-3DBC-8480197DC616}"/>
              </a:ext>
            </a:extLst>
          </p:cNvPr>
          <p:cNvSpPr>
            <a:spLocks noGrp="1"/>
          </p:cNvSpPr>
          <p:nvPr>
            <p:ph type="title"/>
          </p:nvPr>
        </p:nvSpPr>
        <p:spPr/>
        <p:txBody>
          <a:bodyPr/>
          <a:lstStyle/>
          <a:p>
            <a:r>
              <a:rPr lang="pt-BR" dirty="0"/>
              <a:t>Um-Contra-Um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2145CEE8-2FB2-6EEA-841B-CC93323A97A6}"/>
                  </a:ext>
                </a:extLst>
              </p:cNvPr>
              <p:cNvSpPr>
                <a:spLocks noGrp="1"/>
              </p:cNvSpPr>
              <p:nvPr>
                <p:ph idx="1"/>
              </p:nvPr>
            </p:nvSpPr>
            <p:spPr>
              <a:xfrm>
                <a:off x="838199" y="1825624"/>
                <a:ext cx="11353801" cy="5032376"/>
              </a:xfrm>
            </p:spPr>
            <p:txBody>
              <a:bodyPr/>
              <a:lstStyle/>
              <a:p>
                <a:r>
                  <a:rPr lang="pt-BR" dirty="0"/>
                  <a:t>A principal </a:t>
                </a:r>
                <a:r>
                  <a:rPr lang="pt-BR" b="1" i="1" dirty="0">
                    <a:solidFill>
                      <a:srgbClr val="00B050"/>
                    </a:solidFill>
                  </a:rPr>
                  <a:t>vantagem</a:t>
                </a:r>
                <a:r>
                  <a:rPr lang="pt-BR" dirty="0"/>
                  <a:t> dessa abordagem</a:t>
                </a:r>
                <a:r>
                  <a:rPr lang="pt-BR" b="1" i="1" dirty="0"/>
                  <a:t> </a:t>
                </a:r>
                <a:r>
                  <a:rPr lang="pt-BR" dirty="0"/>
                  <a:t>é que cada classificador binário</a:t>
                </a:r>
                <a:r>
                  <a:rPr lang="pt-BR" b="1" i="1" dirty="0"/>
                  <a:t> </a:t>
                </a:r>
                <a:r>
                  <a:rPr lang="pt-BR" dirty="0"/>
                  <a:t>precisa ser </a:t>
                </a:r>
                <a:r>
                  <a:rPr lang="pt-BR" b="1" i="1" dirty="0">
                    <a:solidFill>
                      <a:srgbClr val="00B050"/>
                    </a:solidFill>
                  </a:rPr>
                  <a:t>treinado apenas com as duas classes</a:t>
                </a:r>
                <a:r>
                  <a:rPr lang="pt-BR" dirty="0"/>
                  <a:t> que ele deve distinguir, portanto, a </a:t>
                </a:r>
                <a:r>
                  <a:rPr lang="pt-BR" b="1" i="1" dirty="0">
                    <a:solidFill>
                      <a:srgbClr val="00B050"/>
                    </a:solidFill>
                  </a:rPr>
                  <a:t>chance de desbalanceamento é menor</a:t>
                </a:r>
                <a:r>
                  <a:rPr lang="pt-BR" dirty="0"/>
                  <a:t>.</a:t>
                </a:r>
              </a:p>
              <a:p>
                <a:r>
                  <a:rPr lang="pt-BR" dirty="0"/>
                  <a:t>Além disso, o </a:t>
                </a:r>
                <a:r>
                  <a:rPr lang="pt-BR" b="1" i="1" dirty="0">
                    <a:solidFill>
                      <a:srgbClr val="00B050"/>
                    </a:solidFill>
                  </a:rPr>
                  <a:t>tempo de treinamento de cada classificador também é menor</a:t>
                </a:r>
                <a:r>
                  <a:rPr lang="pt-BR" dirty="0"/>
                  <a:t>, pois treina-se cada um deles com pares de classes.</a:t>
                </a:r>
              </a:p>
              <a:p>
                <a:r>
                  <a:rPr lang="pt-BR" dirty="0"/>
                  <a:t>A </a:t>
                </a:r>
                <a:r>
                  <a:rPr lang="pt-BR" b="1" i="1" dirty="0">
                    <a:solidFill>
                      <a:srgbClr val="7030A0"/>
                    </a:solidFill>
                  </a:rPr>
                  <a:t>desvantagem</a:t>
                </a:r>
                <a:r>
                  <a:rPr lang="pt-BR" dirty="0"/>
                  <a:t> é que, quanto maior o número de classes </a:t>
                </a:r>
                <a14:m>
                  <m:oMath xmlns:m="http://schemas.openxmlformats.org/officeDocument/2006/math">
                    <m:r>
                      <a:rPr lang="pt-BR" i="1">
                        <a:latin typeface="Cambria Math" panose="02040503050406030204" pitchFamily="18" charset="0"/>
                      </a:rPr>
                      <m:t>𝑄</m:t>
                    </m:r>
                  </m:oMath>
                </a14:m>
                <a:r>
                  <a:rPr lang="pt-BR" dirty="0"/>
                  <a:t>, maior pode ser o </a:t>
                </a:r>
                <a:r>
                  <a:rPr lang="pt-BR" b="1" i="1" dirty="0">
                    <a:solidFill>
                      <a:srgbClr val="FF0000"/>
                    </a:solidFill>
                  </a:rPr>
                  <a:t>tempo total de treinamento</a:t>
                </a:r>
                <a:r>
                  <a:rPr lang="pt-BR" dirty="0"/>
                  <a:t>.</a:t>
                </a:r>
              </a:p>
              <a:p>
                <a:pPr lvl="1">
                  <a:buFont typeface="Wingdings" panose="05000000000000000000" pitchFamily="2" charset="2"/>
                  <a:buChar char="§"/>
                </a:pPr>
                <a:r>
                  <a:rPr lang="pt-BR" dirty="0"/>
                  <a:t>Por exemplo, se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=10</m:t>
                    </m:r>
                  </m:oMath>
                </a14:m>
                <a:r>
                  <a:rPr lang="pt-BR" dirty="0"/>
                  <a:t>, temos que treinar 45 classificadores.</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2145CEE8-2FB2-6EEA-841B-CC93323A97A6}"/>
                  </a:ext>
                </a:extLst>
              </p:cNvPr>
              <p:cNvSpPr>
                <a:spLocks noGrp="1" noRot="1" noChangeAspect="1" noMove="1" noResize="1" noEditPoints="1" noAdjustHandles="1" noChangeArrowheads="1" noChangeShapeType="1" noTextEdit="1"/>
              </p:cNvSpPr>
              <p:nvPr>
                <p:ph idx="1"/>
              </p:nvPr>
            </p:nvSpPr>
            <p:spPr>
              <a:xfrm>
                <a:off x="838199" y="1825624"/>
                <a:ext cx="11353801" cy="5032376"/>
              </a:xfrm>
              <a:blipFill rotWithShape="0">
                <a:blip r:embed="rId3"/>
                <a:stretch>
                  <a:fillRect l="-913" t="-1937"/>
                </a:stretch>
              </a:blipFill>
            </p:spPr>
            <p:txBody>
              <a:bodyPr/>
              <a:lstStyle/>
              <a:p>
                <a:r>
                  <a:rPr lang="pt-BR">
                    <a:noFill/>
                  </a:rPr>
                  <a:t> </a:t>
                </a:r>
              </a:p>
            </p:txBody>
          </p:sp>
        </mc:Fallback>
      </mc:AlternateContent>
    </p:spTree>
    <p:extLst>
      <p:ext uri="{BB962C8B-B14F-4D97-AF65-F5344CB8AC3E}">
        <p14:creationId xmlns:p14="http://schemas.microsoft.com/office/powerpoint/2010/main" val="1937066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Um-Contra-Um</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0733" y="124681"/>
            <a:ext cx="8370533" cy="6608637"/>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1352413" y="4501275"/>
                <a:ext cx="2354747" cy="1468928"/>
              </a:xfrm>
              <a:prstGeom prst="rect">
                <a:avLst/>
              </a:prstGeom>
            </p:spPr>
            <p:txBody>
              <a:bodyPr wrap="none">
                <a:spAutoFit/>
              </a:bodyPr>
              <a:lstStyle/>
              <a:p>
                <a:pPr algn="ctr"/>
                <a14:m>
                  <m:oMath xmlns:m="http://schemas.openxmlformats.org/officeDocument/2006/math">
                    <m:r>
                      <a:rPr lang="pt-BR" sz="3600" i="1">
                        <a:latin typeface="Cambria Math" panose="02040503050406030204" pitchFamily="18" charset="0"/>
                      </a:rPr>
                      <m:t>𝑄</m:t>
                    </m:r>
                  </m:oMath>
                </a14:m>
                <a:r>
                  <a:rPr lang="pt-BR" sz="3600" dirty="0">
                    <a:latin typeface="Cambria Math" panose="02040503050406030204" pitchFamily="18" charset="0"/>
                  </a:rPr>
                  <a:t>= 3</a:t>
                </a:r>
                <a:endParaRPr lang="pt-BR" sz="3200" dirty="0">
                  <a:latin typeface="Cambria Math" panose="02040503050406030204" pitchFamily="18" charset="0"/>
                </a:endParaRPr>
              </a:p>
              <a:p>
                <a14:m>
                  <m:oMath xmlns:m="http://schemas.openxmlformats.org/officeDocument/2006/math">
                    <m:f>
                      <m:fPr>
                        <m:ctrlPr>
                          <a:rPr lang="pt-BR" sz="3600" i="1" smtClean="0">
                            <a:latin typeface="Cambria Math" panose="02040503050406030204" pitchFamily="18" charset="0"/>
                          </a:rPr>
                        </m:ctrlPr>
                      </m:fPr>
                      <m:num>
                        <m:r>
                          <a:rPr lang="pt-BR" sz="3600" i="1">
                            <a:latin typeface="Cambria Math" panose="02040503050406030204" pitchFamily="18" charset="0"/>
                          </a:rPr>
                          <m:t>𝑄</m:t>
                        </m:r>
                        <m:d>
                          <m:dPr>
                            <m:ctrlPr>
                              <a:rPr lang="pt-BR" sz="3600" i="1">
                                <a:latin typeface="Cambria Math" panose="02040503050406030204" pitchFamily="18" charset="0"/>
                              </a:rPr>
                            </m:ctrlPr>
                          </m:dPr>
                          <m:e>
                            <m:r>
                              <a:rPr lang="pt-BR" sz="3600" i="1">
                                <a:latin typeface="Cambria Math" panose="02040503050406030204" pitchFamily="18" charset="0"/>
                              </a:rPr>
                              <m:t>𝑄</m:t>
                            </m:r>
                            <m:r>
                              <a:rPr lang="pt-BR" sz="3600" i="1">
                                <a:latin typeface="Cambria Math" panose="02040503050406030204" pitchFamily="18" charset="0"/>
                              </a:rPr>
                              <m:t>−1</m:t>
                            </m:r>
                          </m:e>
                        </m:d>
                      </m:num>
                      <m:den>
                        <m:r>
                          <a:rPr lang="pt-BR" sz="3600" i="1">
                            <a:latin typeface="Cambria Math" panose="02040503050406030204" pitchFamily="18" charset="0"/>
                          </a:rPr>
                          <m:t>2</m:t>
                        </m:r>
                      </m:den>
                    </m:f>
                    <m:r>
                      <a:rPr lang="pt-BR" sz="3600" b="0" i="1" smtClean="0">
                        <a:latin typeface="Cambria Math" panose="02040503050406030204" pitchFamily="18" charset="0"/>
                      </a:rPr>
                      <m:t>=3</m:t>
                    </m:r>
                  </m:oMath>
                </a14:m>
                <a:r>
                  <a:rPr lang="pt-BR" sz="3600" dirty="0"/>
                  <a:t> </a:t>
                </a:r>
              </a:p>
            </p:txBody>
          </p:sp>
        </mc:Choice>
        <mc:Fallback xmlns="">
          <p:sp>
            <p:nvSpPr>
              <p:cNvPr id="5" name="Rectangle 4"/>
              <p:cNvSpPr>
                <a:spLocks noRot="1" noChangeAspect="1" noMove="1" noResize="1" noEditPoints="1" noAdjustHandles="1" noChangeArrowheads="1" noChangeShapeType="1" noTextEdit="1"/>
              </p:cNvSpPr>
              <p:nvPr/>
            </p:nvSpPr>
            <p:spPr>
              <a:xfrm>
                <a:off x="1352413" y="4501275"/>
                <a:ext cx="2354747" cy="1468928"/>
              </a:xfrm>
              <a:prstGeom prst="rect">
                <a:avLst/>
              </a:prstGeom>
              <a:blipFill>
                <a:blip r:embed="rId5"/>
                <a:stretch>
                  <a:fillRect t="-6224"/>
                </a:stretch>
              </a:blipFill>
            </p:spPr>
            <p:txBody>
              <a:bodyPr/>
              <a:lstStyle/>
              <a:p>
                <a:r>
                  <a:rPr lang="pt-BR">
                    <a:noFill/>
                  </a:rPr>
                  <a:t> </a:t>
                </a:r>
              </a:p>
            </p:txBody>
          </p:sp>
        </mc:Fallback>
      </mc:AlternateContent>
      <p:sp>
        <p:nvSpPr>
          <p:cNvPr id="6" name="Mais 5"/>
          <p:cNvSpPr/>
          <p:nvPr/>
        </p:nvSpPr>
        <p:spPr>
          <a:xfrm>
            <a:off x="6726726" y="1663529"/>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Mais 6"/>
          <p:cNvSpPr/>
          <p:nvPr/>
        </p:nvSpPr>
        <p:spPr>
          <a:xfrm>
            <a:off x="6753887" y="3877955"/>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Mais 7"/>
          <p:cNvSpPr/>
          <p:nvPr/>
        </p:nvSpPr>
        <p:spPr>
          <a:xfrm>
            <a:off x="6753887" y="6119540"/>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Mais 8"/>
          <p:cNvSpPr/>
          <p:nvPr/>
        </p:nvSpPr>
        <p:spPr>
          <a:xfrm>
            <a:off x="9557685" y="6434554"/>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9"/>
          <p:cNvSpPr txBox="1"/>
          <p:nvPr/>
        </p:nvSpPr>
        <p:spPr>
          <a:xfrm>
            <a:off x="9972304" y="6425541"/>
            <a:ext cx="1759584" cy="307777"/>
          </a:xfrm>
          <a:prstGeom prst="rect">
            <a:avLst/>
          </a:prstGeom>
          <a:noFill/>
        </p:spPr>
        <p:txBody>
          <a:bodyPr wrap="none" rtlCol="0">
            <a:spAutoFit/>
          </a:bodyPr>
          <a:lstStyle/>
          <a:p>
            <a:r>
              <a:rPr lang="pt-BR" sz="1400" dirty="0"/>
              <a:t>Exemplo de validação</a:t>
            </a:r>
          </a:p>
        </p:txBody>
      </p:sp>
      <p:cxnSp>
        <p:nvCxnSpPr>
          <p:cNvPr id="11" name="Conector reto 10"/>
          <p:cNvCxnSpPr/>
          <p:nvPr/>
        </p:nvCxnSpPr>
        <p:spPr>
          <a:xfrm>
            <a:off x="9413940" y="6211529"/>
            <a:ext cx="50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9976023" y="6057640"/>
            <a:ext cx="1666931" cy="307777"/>
          </a:xfrm>
          <a:prstGeom prst="rect">
            <a:avLst/>
          </a:prstGeom>
          <a:noFill/>
        </p:spPr>
        <p:txBody>
          <a:bodyPr wrap="none" rtlCol="0">
            <a:spAutoFit/>
          </a:bodyPr>
          <a:lstStyle/>
          <a:p>
            <a:r>
              <a:rPr lang="pt-BR" sz="1400" dirty="0"/>
              <a:t>Fronteira de decisão</a:t>
            </a:r>
          </a:p>
        </p:txBody>
      </p:sp>
      <mc:AlternateContent xmlns:mc="http://schemas.openxmlformats.org/markup-compatibility/2006" xmlns:a14="http://schemas.microsoft.com/office/drawing/2010/main">
        <mc:Choice Requires="a14">
          <p:sp>
            <p:nvSpPr>
              <p:cNvPr id="14" name="CaixaDeTexto 13"/>
              <p:cNvSpPr txBox="1"/>
              <p:nvPr/>
            </p:nvSpPr>
            <p:spPr>
              <a:xfrm rot="18820041">
                <a:off x="4505925" y="1875286"/>
                <a:ext cx="15403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dirty="0" smtClean="0">
                              <a:latin typeface="Cambria Math" panose="02040503050406030204" pitchFamily="18" charset="0"/>
                            </a:rPr>
                          </m:ctrlPr>
                        </m:sSubPr>
                        <m:e>
                          <m:r>
                            <a:rPr lang="pt-BR" b="0" i="1" dirty="0" smtClean="0">
                              <a:latin typeface="Cambria Math" panose="02040503050406030204" pitchFamily="18" charset="0"/>
                            </a:rPr>
                            <m:t>𝐶</m:t>
                          </m:r>
                        </m:e>
                        <m:sub>
                          <m:r>
                            <a:rPr lang="pt-BR" b="0" i="1" dirty="0" smtClean="0">
                              <a:latin typeface="Cambria Math" panose="02040503050406030204" pitchFamily="18" charset="0"/>
                            </a:rPr>
                            <m:t>2</m:t>
                          </m:r>
                        </m:sub>
                      </m:sSub>
                      <m:r>
                        <a:rPr lang="pt-BR" b="0" i="1" dirty="0" smtClean="0">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1</m:t>
                          </m:r>
                        </m:sub>
                      </m:sSub>
                      <m:r>
                        <a:rPr lang="pt-BR" b="0" i="1" dirty="0" smtClean="0">
                          <a:latin typeface="Cambria Math" panose="02040503050406030204" pitchFamily="18" charset="0"/>
                        </a:rPr>
                        <m:t>(−)</m:t>
                      </m:r>
                    </m:oMath>
                  </m:oMathPara>
                </a14:m>
                <a:endParaRPr lang="pt-BR" dirty="0"/>
              </a:p>
            </p:txBody>
          </p:sp>
        </mc:Choice>
        <mc:Fallback xmlns="">
          <p:sp>
            <p:nvSpPr>
              <p:cNvPr id="14" name="CaixaDeTexto 13"/>
              <p:cNvSpPr txBox="1">
                <a:spLocks noRot="1" noChangeAspect="1" noMove="1" noResize="1" noEditPoints="1" noAdjustHandles="1" noChangeArrowheads="1" noChangeShapeType="1" noTextEdit="1"/>
              </p:cNvSpPr>
              <p:nvPr/>
            </p:nvSpPr>
            <p:spPr>
              <a:xfrm rot="18820041">
                <a:off x="4505925" y="1875286"/>
                <a:ext cx="1540358" cy="369332"/>
              </a:xfrm>
              <a:prstGeom prst="rect">
                <a:avLst/>
              </a:prstGeom>
              <a:blipFill rotWithShape="0">
                <a:blip r:embed="rId7"/>
                <a:stretch>
                  <a:fillRect r="-18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p:cNvSpPr txBox="1"/>
              <p:nvPr/>
            </p:nvSpPr>
            <p:spPr>
              <a:xfrm>
                <a:off x="4774375" y="3000253"/>
                <a:ext cx="154568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dirty="0" smtClean="0">
                              <a:latin typeface="Cambria Math" panose="02040503050406030204" pitchFamily="18" charset="0"/>
                            </a:rPr>
                          </m:ctrlPr>
                        </m:sSubPr>
                        <m:e>
                          <m:r>
                            <a:rPr lang="pt-BR" b="0" i="1" dirty="0" smtClean="0">
                              <a:latin typeface="Cambria Math" panose="02040503050406030204" pitchFamily="18" charset="0"/>
                            </a:rPr>
                            <m:t>𝐶</m:t>
                          </m:r>
                        </m:e>
                        <m:sub>
                          <m:r>
                            <a:rPr lang="pt-BR" b="0" i="1" dirty="0" smtClean="0">
                              <a:latin typeface="Cambria Math" panose="02040503050406030204" pitchFamily="18" charset="0"/>
                            </a:rPr>
                            <m:t>3</m:t>
                          </m:r>
                        </m:sub>
                      </m:sSub>
                      <m:r>
                        <a:rPr lang="pt-BR" b="0" i="1" dirty="0" smtClean="0">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2</m:t>
                          </m:r>
                        </m:sub>
                      </m:sSub>
                      <m:r>
                        <a:rPr lang="pt-BR" b="0" i="1" dirty="0" smtClean="0">
                          <a:latin typeface="Cambria Math" panose="02040503050406030204" pitchFamily="18" charset="0"/>
                        </a:rPr>
                        <m:t>(−)</m:t>
                      </m:r>
                    </m:oMath>
                  </m:oMathPara>
                </a14:m>
                <a:endParaRPr lang="pt-BR" dirty="0"/>
              </a:p>
            </p:txBody>
          </p:sp>
        </mc:Choice>
        <mc:Fallback xmlns="">
          <p:sp>
            <p:nvSpPr>
              <p:cNvPr id="15" name="CaixaDeTexto 14"/>
              <p:cNvSpPr txBox="1">
                <a:spLocks noRot="1" noChangeAspect="1" noMove="1" noResize="1" noEditPoints="1" noAdjustHandles="1" noChangeArrowheads="1" noChangeShapeType="1" noTextEdit="1"/>
              </p:cNvSpPr>
              <p:nvPr/>
            </p:nvSpPr>
            <p:spPr>
              <a:xfrm>
                <a:off x="4774375" y="3000253"/>
                <a:ext cx="1545680" cy="369332"/>
              </a:xfrm>
              <a:prstGeom prst="rect">
                <a:avLst/>
              </a:prstGeom>
              <a:blipFill rotWithShape="0">
                <a:blip r:embed="rId8"/>
                <a:stretch>
                  <a:fillRect b="-131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p:cNvSpPr txBox="1"/>
              <p:nvPr/>
            </p:nvSpPr>
            <p:spPr>
              <a:xfrm rot="3162280">
                <a:off x="4505924" y="4597985"/>
                <a:ext cx="15403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dirty="0" smtClean="0">
                              <a:latin typeface="Cambria Math" panose="02040503050406030204" pitchFamily="18" charset="0"/>
                            </a:rPr>
                          </m:ctrlPr>
                        </m:sSubPr>
                        <m:e>
                          <m:r>
                            <a:rPr lang="pt-BR" b="0" i="1" dirty="0" smtClean="0">
                              <a:latin typeface="Cambria Math" panose="02040503050406030204" pitchFamily="18" charset="0"/>
                            </a:rPr>
                            <m:t>𝐶</m:t>
                          </m:r>
                        </m:e>
                        <m:sub>
                          <m:r>
                            <a:rPr lang="pt-BR" b="0" i="1" dirty="0" smtClean="0">
                              <a:latin typeface="Cambria Math" panose="02040503050406030204" pitchFamily="18" charset="0"/>
                            </a:rPr>
                            <m:t>1</m:t>
                          </m:r>
                        </m:sub>
                      </m:sSub>
                      <m:r>
                        <a:rPr lang="pt-BR" b="0" i="1" dirty="0" smtClean="0">
                          <a:latin typeface="Cambria Math" panose="02040503050406030204" pitchFamily="18" charset="0"/>
                        </a:rPr>
                        <m:t>(+)/</m:t>
                      </m:r>
                      <m:sSub>
                        <m:sSubPr>
                          <m:ctrlPr>
                            <a:rPr lang="pt-BR" i="1" dirty="0">
                              <a:latin typeface="Cambria Math" panose="02040503050406030204" pitchFamily="18" charset="0"/>
                            </a:rPr>
                          </m:ctrlPr>
                        </m:sSubPr>
                        <m:e>
                          <m:r>
                            <a:rPr lang="pt-BR" i="1" dirty="0">
                              <a:latin typeface="Cambria Math" panose="02040503050406030204" pitchFamily="18" charset="0"/>
                            </a:rPr>
                            <m:t>𝐶</m:t>
                          </m:r>
                        </m:e>
                        <m:sub>
                          <m:r>
                            <a:rPr lang="pt-BR" b="0" i="1" dirty="0" smtClean="0">
                              <a:latin typeface="Cambria Math" panose="02040503050406030204" pitchFamily="18" charset="0"/>
                            </a:rPr>
                            <m:t>3</m:t>
                          </m:r>
                        </m:sub>
                      </m:sSub>
                      <m:r>
                        <a:rPr lang="pt-BR" b="0" i="1" dirty="0" smtClean="0">
                          <a:latin typeface="Cambria Math" panose="02040503050406030204" pitchFamily="18" charset="0"/>
                        </a:rPr>
                        <m:t>(−)</m:t>
                      </m:r>
                    </m:oMath>
                  </m:oMathPara>
                </a14:m>
                <a:endParaRPr lang="pt-BR" dirty="0"/>
              </a:p>
            </p:txBody>
          </p:sp>
        </mc:Choice>
        <mc:Fallback xmlns="">
          <p:sp>
            <p:nvSpPr>
              <p:cNvPr id="16" name="CaixaDeTexto 15"/>
              <p:cNvSpPr txBox="1">
                <a:spLocks noRot="1" noChangeAspect="1" noMove="1" noResize="1" noEditPoints="1" noAdjustHandles="1" noChangeArrowheads="1" noChangeShapeType="1" noTextEdit="1"/>
              </p:cNvSpPr>
              <p:nvPr/>
            </p:nvSpPr>
            <p:spPr>
              <a:xfrm rot="3162280">
                <a:off x="4505924" y="4597985"/>
                <a:ext cx="1540358" cy="369332"/>
              </a:xfrm>
              <a:prstGeom prst="rect">
                <a:avLst/>
              </a:prstGeom>
              <a:blipFill rotWithShape="0">
                <a:blip r:embed="rId9"/>
                <a:stretch>
                  <a:fillRect b="-125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p:cNvSpPr txBox="1"/>
              <p:nvPr/>
            </p:nvSpPr>
            <p:spPr>
              <a:xfrm>
                <a:off x="9988045" y="5235739"/>
                <a:ext cx="2203955" cy="369332"/>
              </a:xfrm>
              <a:prstGeom prst="rect">
                <a:avLst/>
              </a:prstGeom>
              <a:noFill/>
            </p:spPr>
            <p:txBody>
              <a:bodyPr wrap="square" rtlCol="0">
                <a:spAutoFit/>
              </a:bodyPr>
              <a:lstStyle/>
              <a:p>
                <a:r>
                  <a:rPr lang="pt-BR" dirty="0"/>
                  <a:t>= 0.55 </a:t>
                </a:r>
                <a:r>
                  <a:rPr lang="pt-BR" sz="1600" dirty="0"/>
                  <a:t>(voto em </a:t>
                </a:r>
                <a14:m>
                  <m:oMath xmlns:m="http://schemas.openxmlformats.org/officeDocument/2006/math">
                    <m:sSub>
                      <m:sSubPr>
                        <m:ctrlPr>
                          <a:rPr lang="pt-BR" sz="1600" i="1">
                            <a:latin typeface="Cambria Math" panose="02040503050406030204" pitchFamily="18" charset="0"/>
                          </a:rPr>
                        </m:ctrlPr>
                      </m:sSubPr>
                      <m:e>
                        <m:r>
                          <a:rPr lang="pt-BR" sz="1600" i="1">
                            <a:latin typeface="Cambria Math" panose="02040503050406030204" pitchFamily="18" charset="0"/>
                          </a:rPr>
                          <m:t>𝐶</m:t>
                        </m:r>
                      </m:e>
                      <m:sub>
                        <m:r>
                          <a:rPr lang="pt-BR" sz="1600" b="0" i="1" smtClean="0">
                            <a:latin typeface="Cambria Math" panose="02040503050406030204" pitchFamily="18" charset="0"/>
                          </a:rPr>
                          <m:t>1</m:t>
                        </m:r>
                      </m:sub>
                    </m:sSub>
                  </m:oMath>
                </a14:m>
                <a:r>
                  <a:rPr lang="pt-BR" sz="1600" dirty="0"/>
                  <a:t>)</a:t>
                </a:r>
              </a:p>
            </p:txBody>
          </p:sp>
        </mc:Choice>
        <mc:Fallback xmlns="">
          <p:sp>
            <p:nvSpPr>
              <p:cNvPr id="17" name="CaixaDeTexto 16"/>
              <p:cNvSpPr txBox="1">
                <a:spLocks noRot="1" noChangeAspect="1" noMove="1" noResize="1" noEditPoints="1" noAdjustHandles="1" noChangeArrowheads="1" noChangeShapeType="1" noTextEdit="1"/>
              </p:cNvSpPr>
              <p:nvPr/>
            </p:nvSpPr>
            <p:spPr>
              <a:xfrm>
                <a:off x="9988045" y="5235739"/>
                <a:ext cx="2203955" cy="369332"/>
              </a:xfrm>
              <a:prstGeom prst="rect">
                <a:avLst/>
              </a:prstGeom>
              <a:blipFill rotWithShape="0">
                <a:blip r:embed="rId10"/>
                <a:stretch>
                  <a:fillRect l="-2210" t="-10000" b="-2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p:cNvSpPr txBox="1"/>
              <p:nvPr/>
            </p:nvSpPr>
            <p:spPr>
              <a:xfrm>
                <a:off x="10134657" y="3167621"/>
                <a:ext cx="2057344" cy="369332"/>
              </a:xfrm>
              <a:prstGeom prst="rect">
                <a:avLst/>
              </a:prstGeom>
              <a:noFill/>
            </p:spPr>
            <p:txBody>
              <a:bodyPr wrap="square" rtlCol="0">
                <a:spAutoFit/>
              </a:bodyPr>
              <a:lstStyle/>
              <a:p>
                <a:r>
                  <a:rPr lang="pt-BR" dirty="0"/>
                  <a:t>= 0.85 </a:t>
                </a:r>
                <a:r>
                  <a:rPr lang="pt-BR" sz="1600" dirty="0"/>
                  <a:t>(voto em </a:t>
                </a:r>
                <a14:m>
                  <m:oMath xmlns:m="http://schemas.openxmlformats.org/officeDocument/2006/math">
                    <m:sSub>
                      <m:sSubPr>
                        <m:ctrlPr>
                          <a:rPr lang="pt-BR" sz="1600" i="1">
                            <a:latin typeface="Cambria Math" panose="02040503050406030204" pitchFamily="18" charset="0"/>
                          </a:rPr>
                        </m:ctrlPr>
                      </m:sSubPr>
                      <m:e>
                        <m:r>
                          <a:rPr lang="pt-BR" sz="1600" i="1">
                            <a:latin typeface="Cambria Math" panose="02040503050406030204" pitchFamily="18" charset="0"/>
                          </a:rPr>
                          <m:t>𝐶</m:t>
                        </m:r>
                      </m:e>
                      <m:sub>
                        <m:r>
                          <a:rPr lang="pt-BR" sz="1600" b="0" i="1" smtClean="0">
                            <a:latin typeface="Cambria Math" panose="02040503050406030204" pitchFamily="18" charset="0"/>
                          </a:rPr>
                          <m:t>3</m:t>
                        </m:r>
                      </m:sub>
                    </m:sSub>
                  </m:oMath>
                </a14:m>
                <a:r>
                  <a:rPr lang="pt-BR" sz="1600" dirty="0"/>
                  <a:t>)</a:t>
                </a:r>
              </a:p>
            </p:txBody>
          </p:sp>
        </mc:Choice>
        <mc:Fallback xmlns="">
          <p:sp>
            <p:nvSpPr>
              <p:cNvPr id="18" name="CaixaDeTexto 17"/>
              <p:cNvSpPr txBox="1">
                <a:spLocks noRot="1" noChangeAspect="1" noMove="1" noResize="1" noEditPoints="1" noAdjustHandles="1" noChangeArrowheads="1" noChangeShapeType="1" noTextEdit="1"/>
              </p:cNvSpPr>
              <p:nvPr/>
            </p:nvSpPr>
            <p:spPr>
              <a:xfrm>
                <a:off x="10134657" y="3167621"/>
                <a:ext cx="2057344" cy="369332"/>
              </a:xfrm>
              <a:prstGeom prst="rect">
                <a:avLst/>
              </a:prstGeom>
              <a:blipFill rotWithShape="0">
                <a:blip r:embed="rId11"/>
                <a:stretch>
                  <a:fillRect l="-2671" t="-10000" b="-2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p:cNvSpPr txBox="1"/>
              <p:nvPr/>
            </p:nvSpPr>
            <p:spPr>
              <a:xfrm>
                <a:off x="10061350" y="942581"/>
                <a:ext cx="2057344" cy="369332"/>
              </a:xfrm>
              <a:prstGeom prst="rect">
                <a:avLst/>
              </a:prstGeom>
              <a:noFill/>
            </p:spPr>
            <p:txBody>
              <a:bodyPr wrap="square" rtlCol="0">
                <a:spAutoFit/>
              </a:bodyPr>
              <a:lstStyle/>
              <a:p>
                <a:r>
                  <a:rPr lang="pt-BR" dirty="0"/>
                  <a:t>= 0.05 </a:t>
                </a:r>
                <a:r>
                  <a:rPr lang="pt-BR" sz="1600" dirty="0"/>
                  <a:t>(voto em </a:t>
                </a:r>
                <a14:m>
                  <m:oMath xmlns:m="http://schemas.openxmlformats.org/officeDocument/2006/math">
                    <m:sSub>
                      <m:sSubPr>
                        <m:ctrlPr>
                          <a:rPr lang="pt-BR" sz="1600" i="1">
                            <a:latin typeface="Cambria Math" panose="02040503050406030204" pitchFamily="18" charset="0"/>
                          </a:rPr>
                        </m:ctrlPr>
                      </m:sSubPr>
                      <m:e>
                        <m:r>
                          <a:rPr lang="pt-BR" sz="1600" i="1">
                            <a:latin typeface="Cambria Math" panose="02040503050406030204" pitchFamily="18" charset="0"/>
                          </a:rPr>
                          <m:t>𝐶</m:t>
                        </m:r>
                      </m:e>
                      <m:sub>
                        <m:r>
                          <a:rPr lang="pt-BR" sz="1600" b="0" i="1" smtClean="0">
                            <a:latin typeface="Cambria Math" panose="02040503050406030204" pitchFamily="18" charset="0"/>
                          </a:rPr>
                          <m:t>1</m:t>
                        </m:r>
                      </m:sub>
                    </m:sSub>
                  </m:oMath>
                </a14:m>
                <a:r>
                  <a:rPr lang="pt-BR" sz="1600" dirty="0"/>
                  <a:t>)</a:t>
                </a:r>
              </a:p>
            </p:txBody>
          </p:sp>
        </mc:Choice>
        <mc:Fallback xmlns="">
          <p:sp>
            <p:nvSpPr>
              <p:cNvPr id="19" name="CaixaDeTexto 18"/>
              <p:cNvSpPr txBox="1">
                <a:spLocks noRot="1" noChangeAspect="1" noMove="1" noResize="1" noEditPoints="1" noAdjustHandles="1" noChangeArrowheads="1" noChangeShapeType="1" noTextEdit="1"/>
              </p:cNvSpPr>
              <p:nvPr/>
            </p:nvSpPr>
            <p:spPr>
              <a:xfrm>
                <a:off x="10061350" y="942581"/>
                <a:ext cx="2057344" cy="369332"/>
              </a:xfrm>
              <a:prstGeom prst="rect">
                <a:avLst/>
              </a:prstGeom>
              <a:blipFill rotWithShape="0">
                <a:blip r:embed="rId12"/>
                <a:stretch>
                  <a:fillRect l="-2367" t="-10000" b="-26667"/>
                </a:stretch>
              </a:blipFill>
            </p:spPr>
            <p:txBody>
              <a:bodyPr/>
              <a:lstStyle/>
              <a:p>
                <a:r>
                  <a:rPr lang="pt-BR">
                    <a:noFill/>
                  </a:rPr>
                  <a:t> </a:t>
                </a:r>
              </a:p>
            </p:txBody>
          </p:sp>
        </mc:Fallback>
      </mc:AlternateContent>
      <p:grpSp>
        <p:nvGrpSpPr>
          <p:cNvPr id="20" name="Grupo 19"/>
          <p:cNvGrpSpPr/>
          <p:nvPr/>
        </p:nvGrpSpPr>
        <p:grpSpPr>
          <a:xfrm>
            <a:off x="10664486" y="1987938"/>
            <a:ext cx="1379149" cy="523220"/>
            <a:chOff x="10535409" y="1632368"/>
            <a:chExt cx="1379149" cy="523220"/>
          </a:xfrm>
        </p:grpSpPr>
        <p:sp>
          <p:nvSpPr>
            <p:cNvPr id="21" name="CaixaDeTexto 20"/>
            <p:cNvSpPr txBox="1"/>
            <p:nvPr/>
          </p:nvSpPr>
          <p:spPr>
            <a:xfrm>
              <a:off x="10535409" y="1632368"/>
              <a:ext cx="1231043" cy="523220"/>
            </a:xfrm>
            <a:prstGeom prst="rect">
              <a:avLst/>
            </a:prstGeom>
            <a:noFill/>
          </p:spPr>
          <p:txBody>
            <a:bodyPr wrap="square" rtlCol="0">
              <a:spAutoFit/>
            </a:bodyPr>
            <a:lstStyle/>
            <a:p>
              <a:pPr algn="ctr"/>
              <a:r>
                <a:rPr lang="pt-BR" sz="1400" b="1" i="1" dirty="0">
                  <a:solidFill>
                    <a:schemeClr val="accent5"/>
                  </a:solidFill>
                </a:rPr>
                <a:t>A qual classe      pertence?  </a:t>
              </a:r>
            </a:p>
          </p:txBody>
        </p:sp>
        <p:sp>
          <p:nvSpPr>
            <p:cNvPr id="22" name="Mais 21"/>
            <p:cNvSpPr/>
            <p:nvPr/>
          </p:nvSpPr>
          <p:spPr>
            <a:xfrm>
              <a:off x="11642954" y="1632368"/>
              <a:ext cx="271604" cy="298764"/>
            </a:xfrm>
            <a:prstGeom prst="mathPlus">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3" name="CaixaDeTexto 12">
            <a:extLst>
              <a:ext uri="{FF2B5EF4-FFF2-40B4-BE49-F238E27FC236}">
                <a16:creationId xmlns:a16="http://schemas.microsoft.com/office/drawing/2014/main" xmlns="" id="{9989FE69-01F8-8C6A-4EA0-DA1C9792B919}"/>
              </a:ext>
            </a:extLst>
          </p:cNvPr>
          <p:cNvSpPr txBox="1"/>
          <p:nvPr/>
        </p:nvSpPr>
        <p:spPr>
          <a:xfrm>
            <a:off x="3091207" y="5694911"/>
            <a:ext cx="2468456" cy="646331"/>
          </a:xfrm>
          <a:prstGeom prst="rect">
            <a:avLst/>
          </a:prstGeom>
          <a:noFill/>
        </p:spPr>
        <p:txBody>
          <a:bodyPr wrap="square" rtlCol="0">
            <a:spAutoFit/>
          </a:bodyPr>
          <a:lstStyle/>
          <a:p>
            <a:pPr algn="ctr"/>
            <a:r>
              <a:rPr lang="pt-BR" dirty="0"/>
              <a:t>Passamos a ter </a:t>
            </a:r>
            <a:r>
              <a:rPr lang="pt-BR" b="1" i="1" dirty="0"/>
              <a:t>3 classificadores binários</a:t>
            </a:r>
            <a:r>
              <a:rPr lang="pt-BR" dirty="0"/>
              <a:t>.</a:t>
            </a:r>
            <a:endParaRPr lang="pt-BR" b="1" i="1" dirty="0"/>
          </a:p>
        </p:txBody>
      </p:sp>
    </p:spTree>
    <p:extLst>
      <p:ext uri="{BB962C8B-B14F-4D97-AF65-F5344CB8AC3E}">
        <p14:creationId xmlns:p14="http://schemas.microsoft.com/office/powerpoint/2010/main" val="4155290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022D379-CAA0-9DC9-CDBD-6E0EBE1BFF31}"/>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B68F0D74-8673-A432-A1D7-BDEF7725851A}"/>
                  </a:ext>
                </a:extLst>
              </p:cNvPr>
              <p:cNvSpPr>
                <a:spLocks noGrp="1"/>
              </p:cNvSpPr>
              <p:nvPr>
                <p:ph idx="1"/>
              </p:nvPr>
            </p:nvSpPr>
            <p:spPr>
              <a:xfrm>
                <a:off x="838199" y="1825624"/>
                <a:ext cx="11353801" cy="5032375"/>
              </a:xfrm>
            </p:spPr>
            <p:txBody>
              <a:bodyPr>
                <a:normAutofit/>
              </a:bodyPr>
              <a:lstStyle/>
              <a:p>
                <a:r>
                  <a:rPr lang="pt-BR" dirty="0"/>
                  <a:t>Também conhecida como </a:t>
                </a:r>
                <a:r>
                  <a:rPr lang="pt-BR" b="1" dirty="0"/>
                  <a:t>regressão logística multinomial</a:t>
                </a:r>
                <a:r>
                  <a:rPr lang="pt-BR" dirty="0"/>
                  <a:t>.</a:t>
                </a:r>
              </a:p>
              <a:p>
                <a:pPr lvl="1">
                  <a:buFont typeface="Wingdings" panose="05000000000000000000" pitchFamily="2" charset="2"/>
                  <a:buChar char="§"/>
                </a:pPr>
                <a:r>
                  <a:rPr lang="pt-BR" dirty="0"/>
                  <a:t>Pois suas saídas podem ser interpretadas como as </a:t>
                </a:r>
                <a:r>
                  <a:rPr lang="pt-BR" b="1" dirty="0">
                    <a:solidFill>
                      <a:srgbClr val="00B050"/>
                    </a:solidFill>
                  </a:rPr>
                  <a:t>probabilidades de uma variável categórica </a:t>
                </a:r>
                <a:r>
                  <a:rPr lang="pt-BR" dirty="0"/>
                  <a:t>(as classes) </a:t>
                </a:r>
                <a:r>
                  <a:rPr lang="pt-BR" b="1" dirty="0">
                    <a:solidFill>
                      <a:srgbClr val="00B050"/>
                    </a:solidFill>
                  </a:rPr>
                  <a:t>dado os atributos e os pesos.</a:t>
                </a:r>
              </a:p>
              <a:p>
                <a:pPr lvl="1">
                  <a:buFont typeface="Wingdings" panose="05000000000000000000" pitchFamily="2" charset="2"/>
                  <a:buChar char="§"/>
                </a:pPr>
                <a:r>
                  <a:rPr lang="pt-BR" dirty="0"/>
                  <a:t>Ou seja, a regressão </a:t>
                </a:r>
                <a:r>
                  <a:rPr lang="pt-BR" b="1" i="1" dirty="0">
                    <a:solidFill>
                      <a:srgbClr val="00B050"/>
                    </a:solidFill>
                  </a:rPr>
                  <a:t>softmax</a:t>
                </a:r>
                <a:r>
                  <a:rPr lang="pt-BR" b="1" dirty="0">
                    <a:solidFill>
                      <a:srgbClr val="00B050"/>
                    </a:solidFill>
                  </a:rPr>
                  <a:t> estima a probabilidade de um exemplo de entrada pertencer a cada uma das </a:t>
                </a:r>
                <a14:m>
                  <m:oMath xmlns:m="http://schemas.openxmlformats.org/officeDocument/2006/math">
                    <m:r>
                      <a:rPr lang="pt-BR" i="1" smtClean="0">
                        <a:solidFill>
                          <a:srgbClr val="00B050"/>
                        </a:solidFill>
                        <a:latin typeface="Cambria Math" panose="02040503050406030204" pitchFamily="18" charset="0"/>
                      </a:rPr>
                      <m:t>𝑄</m:t>
                    </m:r>
                  </m:oMath>
                </a14:m>
                <a:r>
                  <a:rPr lang="pt-BR" b="1" dirty="0">
                    <a:solidFill>
                      <a:srgbClr val="00B050"/>
                    </a:solidFill>
                  </a:rPr>
                  <a:t> possíveis classes</a:t>
                </a:r>
                <a:r>
                  <a:rPr lang="pt-BR" dirty="0"/>
                  <a:t>.</a:t>
                </a:r>
              </a:p>
              <a:p>
                <a:r>
                  <a:rPr lang="pt-BR" dirty="0"/>
                  <a:t>O </a:t>
                </a:r>
                <a:r>
                  <a:rPr lang="pt-BR" dirty="0" err="1"/>
                  <a:t>regressor</a:t>
                </a:r>
                <a:r>
                  <a:rPr lang="pt-BR" dirty="0"/>
                  <a:t> </a:t>
                </a:r>
                <a:r>
                  <a:rPr lang="pt-BR" i="1" dirty="0" err="1"/>
                  <a:t>softmax</a:t>
                </a:r>
                <a:r>
                  <a:rPr lang="pt-BR" dirty="0"/>
                  <a:t> tem </a:t>
                </a:r>
                <a14:m>
                  <m:oMath xmlns:m="http://schemas.openxmlformats.org/officeDocument/2006/math">
                    <m:r>
                      <a:rPr lang="pt-BR" b="0" i="1" smtClean="0">
                        <a:latin typeface="Cambria Math" panose="02040503050406030204" pitchFamily="18" charset="0"/>
                      </a:rPr>
                      <m:t>𝑄</m:t>
                    </m:r>
                  </m:oMath>
                </a14:m>
                <a:r>
                  <a:rPr lang="pt-BR" dirty="0"/>
                  <a:t> saídas, onde cada saída representa a </a:t>
                </a:r>
                <a:r>
                  <a:rPr lang="pt-BR" b="1" dirty="0">
                    <a:solidFill>
                      <a:srgbClr val="00B050"/>
                    </a:solidFill>
                  </a:rPr>
                  <a:t>probabilidade</a:t>
                </a:r>
                <a:r>
                  <a:rPr lang="pt-BR" dirty="0"/>
                  <a:t> de um exemplo pertencer a uma das </a:t>
                </a:r>
                <a14:m>
                  <m:oMath xmlns:m="http://schemas.openxmlformats.org/officeDocument/2006/math">
                    <m:r>
                      <a:rPr lang="pt-BR" i="1">
                        <a:latin typeface="Cambria Math" panose="02040503050406030204" pitchFamily="18" charset="0"/>
                      </a:rPr>
                      <m:t>𝑄</m:t>
                    </m:r>
                  </m:oMath>
                </a14:m>
                <a:r>
                  <a:rPr lang="pt-BR" dirty="0"/>
                  <a:t> classes.</a:t>
                </a:r>
              </a:p>
              <a:p>
                <a:pPr lvl="1">
                  <a:buFont typeface="Wingdings" panose="05000000000000000000" pitchFamily="2" charset="2"/>
                  <a:buChar char="§"/>
                </a:pPr>
                <a:r>
                  <a:rPr lang="pt-BR" dirty="0"/>
                  <a:t>Por exemplo, para um problema com 4 classes, teremos um classificador com 4 saídas.</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B68F0D74-8673-A432-A1D7-BDEF7725851A}"/>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3"/>
                <a:stretch>
                  <a:fillRect l="-913" t="-1937"/>
                </a:stretch>
              </a:blipFill>
            </p:spPr>
            <p:txBody>
              <a:bodyPr/>
              <a:lstStyle/>
              <a:p>
                <a:r>
                  <a:rPr lang="pt-BR">
                    <a:noFill/>
                  </a:rPr>
                  <a:t> </a:t>
                </a:r>
              </a:p>
            </p:txBody>
          </p:sp>
        </mc:Fallback>
      </mc:AlternateContent>
    </p:spTree>
    <p:extLst>
      <p:ext uri="{BB962C8B-B14F-4D97-AF65-F5344CB8AC3E}">
        <p14:creationId xmlns:p14="http://schemas.microsoft.com/office/powerpoint/2010/main" val="271098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19F0958-530D-D942-BA01-15C1583DD1E6}"/>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21416F72-28FB-E27C-D129-16A944A87C67}"/>
                  </a:ext>
                </a:extLst>
              </p:cNvPr>
              <p:cNvSpPr>
                <a:spLocks noGrp="1"/>
              </p:cNvSpPr>
              <p:nvPr>
                <p:ph idx="1"/>
              </p:nvPr>
            </p:nvSpPr>
            <p:spPr>
              <a:xfrm>
                <a:off x="838199" y="1825624"/>
                <a:ext cx="11353801" cy="5032375"/>
              </a:xfrm>
            </p:spPr>
            <p:txBody>
              <a:bodyPr/>
              <a:lstStyle/>
              <a:p>
                <a:r>
                  <a:rPr lang="pt-BR" dirty="0"/>
                  <a:t>Ele prediz </a:t>
                </a:r>
                <a:r>
                  <a:rPr lang="pt-BR" b="1" dirty="0"/>
                  <a:t>apenas </a:t>
                </a:r>
                <a:r>
                  <a:rPr lang="pt-BR" b="1" dirty="0">
                    <a:solidFill>
                      <a:srgbClr val="FF0000"/>
                    </a:solidFill>
                  </a:rPr>
                  <a:t>uma</a:t>
                </a:r>
                <a:r>
                  <a:rPr lang="pt-BR" b="1" dirty="0"/>
                  <a:t> classe por classificação</a:t>
                </a:r>
                <a:r>
                  <a:rPr lang="pt-BR" dirty="0"/>
                  <a:t>, portanto, ele deve ser usado apenas com </a:t>
                </a:r>
                <a:r>
                  <a:rPr lang="pt-BR" b="1" dirty="0"/>
                  <a:t>classes mutuamente exclusivas </a:t>
                </a:r>
                <a:r>
                  <a:rPr lang="pt-BR" dirty="0"/>
                  <a:t>como, por exemplo, diferentes tipos de plantas, dígitos, carros, etc.</a:t>
                </a:r>
              </a:p>
              <a:p>
                <a:pPr lvl="1">
                  <a:buFont typeface="Wingdings" panose="05000000000000000000" pitchFamily="2" charset="2"/>
                  <a:buChar char="§"/>
                </a:pPr>
                <a:r>
                  <a:rPr lang="pt-BR" b="1" dirty="0"/>
                  <a:t>Classes mutuamente exclusivas</a:t>
                </a:r>
                <a:r>
                  <a:rPr lang="pt-BR" dirty="0"/>
                  <a:t>: caso onde os exemplos pertencem a apenas uma das </a:t>
                </a:r>
                <a14:m>
                  <m:oMath xmlns:m="http://schemas.openxmlformats.org/officeDocument/2006/math">
                    <m:r>
                      <a:rPr lang="pt-BR" i="1">
                        <a:latin typeface="Cambria Math" panose="02040503050406030204" pitchFamily="18" charset="0"/>
                      </a:rPr>
                      <m:t>𝑄</m:t>
                    </m:r>
                  </m:oMath>
                </a14:m>
                <a:r>
                  <a:rPr lang="pt-BR" dirty="0"/>
                  <a:t> classes.</a:t>
                </a:r>
              </a:p>
              <a:p>
                <a:pPr lvl="1">
                  <a:buFont typeface="Wingdings" panose="05000000000000000000" pitchFamily="2" charset="2"/>
                  <a:buChar char="§"/>
                </a:pPr>
                <a:r>
                  <a:rPr lang="pt-BR" dirty="0"/>
                  <a:t>Por exemplo, notícias, músicas e imagens, por exemplo, podem pertencer a várias classes ao mesmo tempo.</a:t>
                </a:r>
              </a:p>
              <a:p>
                <a:r>
                  <a:rPr lang="pt-BR" dirty="0"/>
                  <a:t>O </a:t>
                </a:r>
                <a:r>
                  <a:rPr lang="pt-BR" b="1" dirty="0"/>
                  <a:t>regressor </a:t>
                </a:r>
                <a:r>
                  <a:rPr lang="pt-BR" b="1" i="1" dirty="0"/>
                  <a:t>softmax</a:t>
                </a:r>
                <a:r>
                  <a:rPr lang="pt-BR" b="1" dirty="0"/>
                  <a:t> </a:t>
                </a:r>
                <a:r>
                  <a:rPr lang="pt-BR" b="1" dirty="0">
                    <a:solidFill>
                      <a:srgbClr val="00B050"/>
                    </a:solidFill>
                  </a:rPr>
                  <a:t>possui uma função hipótese de classificação</a:t>
                </a:r>
                <a:r>
                  <a:rPr lang="pt-BR" dirty="0"/>
                  <a:t>,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oMath>
                </a14:m>
                <a:r>
                  <a:rPr lang="pt-BR" dirty="0"/>
                  <a:t>, e, consequentemente, </a:t>
                </a:r>
                <a:r>
                  <a:rPr lang="pt-BR" b="1" dirty="0">
                    <a:solidFill>
                      <a:srgbClr val="00B050"/>
                    </a:solidFill>
                  </a:rPr>
                  <a:t>uma função discriminante</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 </a:t>
                </a:r>
                <a:r>
                  <a:rPr lang="pt-BR" b="1" dirty="0">
                    <a:solidFill>
                      <a:srgbClr val="00B050"/>
                    </a:solidFill>
                  </a:rPr>
                  <a:t>para cada classe </a:t>
                </a:r>
                <a14:m>
                  <m:oMath xmlns:m="http://schemas.openxmlformats.org/officeDocument/2006/math">
                    <m:r>
                      <a:rPr lang="pt-BR" i="1">
                        <a:latin typeface="Cambria Math" panose="02040503050406030204" pitchFamily="18" charset="0"/>
                      </a:rPr>
                      <m:t>𝑞</m:t>
                    </m:r>
                  </m:oMath>
                </a14:m>
                <a:r>
                  <a:rPr lang="pt-BR" dirty="0"/>
                  <a:t>.</a:t>
                </a:r>
              </a:p>
              <a:p>
                <a:pPr lvl="1">
                  <a:buFont typeface="Wingdings" panose="05000000000000000000" pitchFamily="2" charset="2"/>
                  <a:buChar char="§"/>
                </a:pPr>
                <a:r>
                  <a:rPr lang="pt-BR" dirty="0"/>
                  <a:t>Por exemplo, se temos 3 classes, teremos 3 funções discriminantes,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21416F72-28FB-E27C-D129-16A944A87C67}"/>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3"/>
                <a:stretch>
                  <a:fillRect l="-913" t="-1937"/>
                </a:stretch>
              </a:blipFill>
            </p:spPr>
            <p:txBody>
              <a:bodyPr/>
              <a:lstStyle/>
              <a:p>
                <a:r>
                  <a:rPr lang="pt-BR">
                    <a:noFill/>
                  </a:rPr>
                  <a:t> </a:t>
                </a:r>
              </a:p>
            </p:txBody>
          </p:sp>
        </mc:Fallback>
      </mc:AlternateContent>
    </p:spTree>
    <p:extLst>
      <p:ext uri="{BB962C8B-B14F-4D97-AF65-F5344CB8AC3E}">
        <p14:creationId xmlns:p14="http://schemas.microsoft.com/office/powerpoint/2010/main" val="3485503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CD47F25-5DD1-794E-8733-BFD771A2DE49}"/>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D79BB7DC-99E7-8958-EC77-566B7E3C2BBB}"/>
                  </a:ext>
                </a:extLst>
              </p:cNvPr>
              <p:cNvSpPr>
                <a:spLocks noGrp="1"/>
              </p:cNvSpPr>
              <p:nvPr>
                <p:ph idx="1"/>
              </p:nvPr>
            </p:nvSpPr>
            <p:spPr>
              <a:xfrm>
                <a:off x="838200" y="1825624"/>
                <a:ext cx="11080174" cy="5032375"/>
              </a:xfrm>
            </p:spPr>
            <p:txBody>
              <a:bodyPr>
                <a:normAutofit/>
              </a:bodyPr>
              <a:lstStyle/>
              <a:p>
                <a:r>
                  <a:rPr lang="pt-BR" dirty="0"/>
                  <a:t>A </a:t>
                </a:r>
                <a:r>
                  <a:rPr lang="pt-BR" b="1" dirty="0"/>
                  <a:t>função hipótese de classificação</a:t>
                </a:r>
                <a:r>
                  <a:rPr lang="pt-BR" b="1" i="1" dirty="0"/>
                  <a:t> </a:t>
                </a:r>
                <a:r>
                  <a:rPr lang="pt-BR" dirty="0"/>
                  <a:t>associada à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classe,</a:t>
                </a:r>
                <a:r>
                  <a:rPr lang="pt-BR" b="1" i="1" dirty="0"/>
                  <a:t>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r>
                      <a:rPr lang="pt-BR" b="1" i="1">
                        <a:latin typeface="Cambria Math" panose="02040503050406030204" pitchFamily="18" charset="0"/>
                      </a:rPr>
                      <m:t>,</m:t>
                    </m:r>
                  </m:oMath>
                </a14:m>
                <a:r>
                  <a:rPr lang="pt-BR" dirty="0"/>
                  <a:t> é obtida passando-se a </a:t>
                </a:r>
                <a:r>
                  <a:rPr lang="pt-BR" b="1" dirty="0"/>
                  <a:t>função discriminante </a:t>
                </a:r>
                <a:r>
                  <a:rPr lang="pt-BR" dirty="0"/>
                  <a:t>da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classe,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 através da </a:t>
                </a:r>
                <a:r>
                  <a:rPr lang="pt-BR" b="1" dirty="0">
                    <a:solidFill>
                      <a:srgbClr val="7030A0"/>
                    </a:solidFill>
                  </a:rPr>
                  <a:t>função (de ativação) </a:t>
                </a:r>
                <a:r>
                  <a:rPr lang="pt-BR" b="1" i="1" dirty="0">
                    <a:solidFill>
                      <a:srgbClr val="7030A0"/>
                    </a:solidFill>
                  </a:rPr>
                  <a:t>softmax</a:t>
                </a:r>
                <a:r>
                  <a:rPr lang="pt-BR" dirty="0"/>
                  <a:t>,</a:t>
                </a:r>
              </a:p>
              <a:p>
                <a:pPr marL="0" indent="0" algn="ctr">
                  <a:buNone/>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r>
                            <a:rPr lang="pt-BR" b="0" i="1" smtClean="0">
                              <a:latin typeface="Cambria Math" panose="02040503050406030204" pitchFamily="18" charset="0"/>
                            </a:rPr>
                            <m:t> </m:t>
                          </m:r>
                          <m:r>
                            <a:rPr lang="pt-BR" i="1">
                              <a:latin typeface="Cambria Math" panose="02040503050406030204" pitchFamily="18" charset="0"/>
                            </a:rPr>
                            <m:t>|</m:t>
                          </m:r>
                          <m:r>
                            <a:rPr lang="pt-BR" b="0" i="1" smtClean="0">
                              <a:latin typeface="Cambria Math" panose="02040503050406030204" pitchFamily="18" charset="0"/>
                            </a:rPr>
                            <m:t> </m:t>
                          </m:r>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b="1" i="1">
                                  <a:latin typeface="Cambria Math" panose="02040503050406030204" pitchFamily="18" charset="0"/>
                                </a:rPr>
                                <m:t>𝒂</m:t>
                              </m:r>
                            </m:e>
                            <m:sub>
                              <m:r>
                                <a:rPr lang="pt-BR" b="0" i="1" smtClean="0">
                                  <a:latin typeface="Cambria Math" panose="02040503050406030204" pitchFamily="18" charset="0"/>
                                </a:rPr>
                                <m:t>𝑞</m:t>
                              </m:r>
                            </m:sub>
                          </m:sSub>
                        </m:e>
                      </m:d>
                      <m:r>
                        <a:rPr lang="pt-BR" i="1">
                          <a:latin typeface="Cambria Math" panose="02040503050406030204" pitchFamily="18" charset="0"/>
                        </a:rPr>
                        <m:t>=</m:t>
                      </m:r>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r>
                        <a:rPr lang="pt-BR" b="1" i="1">
                          <a:latin typeface="Cambria Math" panose="02040503050406030204" pitchFamily="18" charset="0"/>
                        </a:rPr>
                        <m:t>=</m:t>
                      </m:r>
                      <m:f>
                        <m:fPr>
                          <m:ctrlPr>
                            <a:rPr lang="pt-BR" b="1" i="1">
                              <a:latin typeface="Cambria Math" panose="02040503050406030204" pitchFamily="18" charset="0"/>
                            </a:rPr>
                          </m:ctrlPr>
                        </m:fPr>
                        <m:num>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num>
                        <m:den>
                          <m:nary>
                            <m:naryPr>
                              <m:chr m:val="∑"/>
                              <m:ctrlPr>
                                <a:rPr lang="pt-BR" b="1" i="1">
                                  <a:latin typeface="Cambria Math" panose="02040503050406030204" pitchFamily="18" charset="0"/>
                                </a:rPr>
                              </m:ctrlPr>
                            </m:naryPr>
                            <m:sub>
                              <m:r>
                                <a:rPr lang="pt-BR" i="1">
                                  <a:latin typeface="Cambria Math" panose="02040503050406030204" pitchFamily="18" charset="0"/>
                                </a:rPr>
                                <m:t>𝑗</m:t>
                              </m:r>
                              <m:r>
                                <a:rPr lang="pt-BR" i="1">
                                  <a:latin typeface="Cambria Math" panose="02040503050406030204" pitchFamily="18" charset="0"/>
                                </a:rPr>
                                <m:t>=0</m:t>
                              </m:r>
                            </m:sub>
                            <m:sup>
                              <m:r>
                                <a:rPr lang="pt-BR" i="1">
                                  <a:latin typeface="Cambria Math" panose="02040503050406030204" pitchFamily="18" charset="0"/>
                                </a:rPr>
                                <m:t>𝑄</m:t>
                              </m:r>
                              <m:r>
                                <a:rPr lang="pt-BR" b="0" i="1" smtClean="0">
                                  <a:latin typeface="Cambria Math" panose="02040503050406030204" pitchFamily="18" charset="0"/>
                                </a:rPr>
                                <m:t>−1</m:t>
                              </m:r>
                            </m:sup>
                            <m:e>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𝑗</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e>
                          </m:nary>
                        </m:den>
                      </m:f>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𝑞</m:t>
                      </m:r>
                      <m:r>
                        <a:rPr lang="pt-BR" b="1" i="1" smtClean="0">
                          <a:latin typeface="Cambria Math" panose="02040503050406030204" pitchFamily="18" charset="0"/>
                        </a:rPr>
                        <m:t>,</m:t>
                      </m:r>
                    </m:oMath>
                  </m:oMathPara>
                </a14:m>
                <a:endParaRPr lang="pt-BR" i="1" dirty="0"/>
              </a:p>
              <a:p>
                <a:pPr marL="0" indent="0">
                  <a:buNone/>
                </a:pPr>
                <a:r>
                  <a:rPr lang="pt-BR" dirty="0"/>
                  <a:t>onde</a:t>
                </a:r>
                <a:r>
                  <a:rPr lang="pt-BR" i="1" dirty="0"/>
                  <a:t>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r>
                      <a:rPr lang="pt-BR" b="1" i="1">
                        <a:latin typeface="Cambria Math" panose="02040503050406030204" pitchFamily="18" charset="0"/>
                      </a:rPr>
                      <m:t>=</m:t>
                    </m:r>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m>
                              <m:mPr>
                                <m:mcs>
                                  <m:mc>
                                    <m:mcPr>
                                      <m:count m:val="3"/>
                                      <m:mcJc m:val="center"/>
                                    </m:mcPr>
                                  </m:mc>
                                </m:mcs>
                                <m:ctrlPr>
                                  <a:rPr lang="pt-BR" b="1" i="1">
                                    <a:latin typeface="Cambria Math" panose="02040503050406030204" pitchFamily="18" charset="0"/>
                                  </a:rPr>
                                </m:ctrlPr>
                              </m:mPr>
                              <m:mr>
                                <m:e>
                                  <m:sSubSup>
                                    <m:sSubSupPr>
                                      <m:ctrlPr>
                                        <a:rPr lang="pt-BR" i="1">
                                          <a:latin typeface="Cambria Math" panose="02040503050406030204" pitchFamily="18" charset="0"/>
                                        </a:rPr>
                                      </m:ctrlPr>
                                    </m:sSubSupPr>
                                    <m:e>
                                      <m:r>
                                        <a:rPr lang="pt-BR" i="1">
                                          <a:latin typeface="Cambria Math" panose="02040503050406030204" pitchFamily="18" charset="0"/>
                                        </a:rPr>
                                        <m:t>𝑎</m:t>
                                      </m:r>
                                    </m:e>
                                    <m:sub>
                                      <m:r>
                                        <a:rPr lang="pt-BR" i="1">
                                          <a:latin typeface="Cambria Math" panose="02040503050406030204" pitchFamily="18" charset="0"/>
                                        </a:rPr>
                                        <m:t>0</m:t>
                                      </m:r>
                                    </m:sub>
                                    <m:sup>
                                      <m:r>
                                        <a:rPr lang="pt-BR" i="1">
                                          <a:latin typeface="Cambria Math" panose="02040503050406030204" pitchFamily="18" charset="0"/>
                                        </a:rPr>
                                        <m:t>𝑞</m:t>
                                      </m:r>
                                    </m:sup>
                                  </m:sSubSup>
                                </m:e>
                                <m:e>
                                  <m:sSubSup>
                                    <m:sSubSupPr>
                                      <m:ctrlPr>
                                        <a:rPr lang="pt-BR" i="1">
                                          <a:latin typeface="Cambria Math" panose="02040503050406030204" pitchFamily="18" charset="0"/>
                                        </a:rPr>
                                      </m:ctrlPr>
                                    </m:sSubSupPr>
                                    <m:e>
                                      <m:r>
                                        <a:rPr lang="pt-BR" i="1">
                                          <a:latin typeface="Cambria Math" panose="02040503050406030204" pitchFamily="18" charset="0"/>
                                        </a:rPr>
                                        <m:t>𝑎</m:t>
                                      </m:r>
                                    </m:e>
                                    <m:sub>
                                      <m:r>
                                        <a:rPr lang="pt-BR" i="1">
                                          <a:latin typeface="Cambria Math" panose="02040503050406030204" pitchFamily="18" charset="0"/>
                                        </a:rPr>
                                        <m:t>1</m:t>
                                      </m:r>
                                    </m:sub>
                                    <m:sup>
                                      <m:r>
                                        <a:rPr lang="pt-BR" i="1">
                                          <a:latin typeface="Cambria Math" panose="02040503050406030204" pitchFamily="18" charset="0"/>
                                        </a:rPr>
                                        <m:t>𝑞</m:t>
                                      </m:r>
                                    </m:sup>
                                  </m:sSubSup>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Sup>
                                          <m:sSubSupPr>
                                            <m:ctrlPr>
                                              <a:rPr lang="pt-BR" i="1">
                                                <a:latin typeface="Cambria Math" panose="02040503050406030204" pitchFamily="18" charset="0"/>
                                              </a:rPr>
                                            </m:ctrlPr>
                                          </m:sSubSupPr>
                                          <m:e>
                                            <m:r>
                                              <a:rPr lang="pt-BR" i="1">
                                                <a:latin typeface="Cambria Math" panose="02040503050406030204" pitchFamily="18" charset="0"/>
                                              </a:rPr>
                                              <m:t>𝑎</m:t>
                                            </m:r>
                                          </m:e>
                                          <m:sub>
                                            <m:r>
                                              <a:rPr lang="pt-BR" i="1">
                                                <a:latin typeface="Cambria Math" panose="02040503050406030204" pitchFamily="18" charset="0"/>
                                              </a:rPr>
                                              <m:t>𝐾</m:t>
                                            </m:r>
                                          </m:sub>
                                          <m:sup>
                                            <m:r>
                                              <a:rPr lang="pt-BR" i="1">
                                                <a:latin typeface="Cambria Math" panose="02040503050406030204" pitchFamily="18" charset="0"/>
                                              </a:rPr>
                                              <m:t>𝑞</m:t>
                                            </m:r>
                                          </m:sup>
                                        </m:sSubSup>
                                      </m:e>
                                    </m:mr>
                                  </m:m>
                                </m:e>
                              </m:mr>
                            </m:m>
                          </m:e>
                        </m:d>
                      </m:e>
                      <m:sup>
                        <m:r>
                          <a:rPr lang="pt-BR" b="1" i="1">
                            <a:latin typeface="Cambria Math" panose="02040503050406030204" pitchFamily="18" charset="0"/>
                          </a:rPr>
                          <m:t>𝑻</m:t>
                        </m:r>
                      </m:sup>
                    </m:sSup>
                    <m:r>
                      <a:rPr lang="pt-BR" b="1" i="1" smtClean="0">
                        <a:latin typeface="Cambria Math" panose="02040503050406030204" pitchFamily="18" charset="0"/>
                        <a:ea typeface="Cambria Math" panose="02040503050406030204" pitchFamily="18" charset="0"/>
                      </a:rPr>
                      <m:t>∈</m:t>
                    </m:r>
                    <m:sSup>
                      <m:sSupPr>
                        <m:ctrlPr>
                          <a:rPr lang="pt-BR" b="1"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ℝ</m:t>
                        </m:r>
                      </m:e>
                      <m:sup>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+1×1</m:t>
                        </m:r>
                      </m:sup>
                    </m:sSup>
                  </m:oMath>
                </a14:m>
                <a:r>
                  <a:rPr lang="pt-BR" i="1" dirty="0"/>
                  <a:t> </a:t>
                </a:r>
                <a:r>
                  <a:rPr lang="pt-BR" dirty="0"/>
                  <a:t>é o </a:t>
                </a:r>
                <a:r>
                  <a:rPr lang="pt-BR" b="1" dirty="0"/>
                  <a:t>vetor de pesos</a:t>
                </a:r>
                <a:r>
                  <a:rPr lang="pt-BR" b="1" i="1" dirty="0"/>
                  <a:t> </a:t>
                </a:r>
                <a:r>
                  <a:rPr lang="pt-BR" dirty="0"/>
                  <a:t>da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a:t>
                </a:r>
                <a:r>
                  <a:rPr lang="pt-BR" b="1" dirty="0"/>
                  <a:t>função discriminante</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 e </a:t>
                </a:r>
                <a14:m>
                  <m:oMath xmlns:m="http://schemas.openxmlformats.org/officeDocument/2006/math">
                    <m:r>
                      <a:rPr lang="pt-BR" b="0" i="1" smtClean="0">
                        <a:latin typeface="Cambria Math" panose="02040503050406030204" pitchFamily="18" charset="0"/>
                      </a:rPr>
                      <m:t>𝑛</m:t>
                    </m:r>
                  </m:oMath>
                </a14:m>
                <a:r>
                  <a:rPr lang="pt-BR" dirty="0"/>
                  <a:t> indica o número da amostra.</a:t>
                </a:r>
              </a:p>
              <a:p>
                <a:r>
                  <a:rPr lang="pt-BR" sz="2800" dirty="0"/>
                  <a:t>Cada função discriminante tem seu próprio vetor de pesos, </a:t>
                </a:r>
                <a14:m>
                  <m:oMath xmlns:m="http://schemas.openxmlformats.org/officeDocument/2006/math">
                    <m:sSub>
                      <m:sSubPr>
                        <m:ctrlPr>
                          <a:rPr lang="pt-BR" b="1" i="1" smtClean="0">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sz="2800" dirty="0"/>
                  <a:t>.</a:t>
                </a:r>
              </a:p>
              <a:p>
                <a:r>
                  <a:rPr lang="pt-BR" dirty="0"/>
                  <a:t>Além do regressor </a:t>
                </a:r>
                <a:r>
                  <a:rPr lang="pt-BR" i="1" dirty="0"/>
                  <a:t>softmax</a:t>
                </a:r>
                <a:r>
                  <a:rPr lang="pt-BR" dirty="0"/>
                  <a:t>, ela é usada na </a:t>
                </a:r>
                <a:r>
                  <a:rPr lang="pt-BR" b="1" dirty="0">
                    <a:solidFill>
                      <a:srgbClr val="00B050"/>
                    </a:solidFill>
                  </a:rPr>
                  <a:t>camada de saída</a:t>
                </a:r>
                <a:r>
                  <a:rPr lang="pt-BR" dirty="0">
                    <a:solidFill>
                      <a:srgbClr val="00B050"/>
                    </a:solidFill>
                  </a:rPr>
                  <a:t> </a:t>
                </a:r>
                <a:r>
                  <a:rPr lang="pt-BR" dirty="0"/>
                  <a:t>de </a:t>
                </a:r>
                <a:r>
                  <a:rPr lang="pt-BR" b="1" dirty="0">
                    <a:solidFill>
                      <a:srgbClr val="00B050"/>
                    </a:solidFill>
                  </a:rPr>
                  <a:t>redes neurais</a:t>
                </a:r>
                <a:r>
                  <a:rPr lang="pt-BR" dirty="0"/>
                  <a:t> empregadas em tarefas de </a:t>
                </a:r>
                <a:r>
                  <a:rPr lang="pt-BR" b="1" dirty="0">
                    <a:solidFill>
                      <a:srgbClr val="00B050"/>
                    </a:solidFill>
                  </a:rPr>
                  <a:t>classificação.</a:t>
                </a:r>
                <a:endParaRPr lang="pt-BR" sz="2800" dirty="0"/>
              </a:p>
              <a:p>
                <a:pPr marL="0" indent="0">
                  <a:buNone/>
                </a:pPr>
                <a:endParaRPr lang="pt-BR" dirty="0"/>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D79BB7DC-99E7-8958-EC77-566B7E3C2BBB}"/>
                  </a:ext>
                </a:extLst>
              </p:cNvPr>
              <p:cNvSpPr>
                <a:spLocks noGrp="1" noRot="1" noChangeAspect="1" noMove="1" noResize="1" noEditPoints="1" noAdjustHandles="1" noChangeArrowheads="1" noChangeShapeType="1" noTextEdit="1"/>
              </p:cNvSpPr>
              <p:nvPr>
                <p:ph idx="1"/>
              </p:nvPr>
            </p:nvSpPr>
            <p:spPr>
              <a:xfrm>
                <a:off x="838200" y="1825624"/>
                <a:ext cx="11080174" cy="5032375"/>
              </a:xfrm>
              <a:blipFill rotWithShape="0">
                <a:blip r:embed="rId3"/>
                <a:stretch>
                  <a:fillRect l="-1156" t="-1332"/>
                </a:stretch>
              </a:blipFill>
            </p:spPr>
            <p:txBody>
              <a:bodyPr/>
              <a:lstStyle/>
              <a:p>
                <a:r>
                  <a:rPr lang="pt-BR">
                    <a:noFill/>
                  </a:rPr>
                  <a:t> </a:t>
                </a:r>
              </a:p>
            </p:txBody>
          </p:sp>
        </mc:Fallback>
      </mc:AlternateContent>
    </p:spTree>
    <p:extLst>
      <p:ext uri="{BB962C8B-B14F-4D97-AF65-F5344CB8AC3E}">
        <p14:creationId xmlns:p14="http://schemas.microsoft.com/office/powerpoint/2010/main" val="3471453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2E3438D-F516-F1D3-A02F-51857586D07A}"/>
              </a:ext>
            </a:extLst>
          </p:cNvPr>
          <p:cNvSpPr>
            <a:spLocks noGrp="1"/>
          </p:cNvSpPr>
          <p:nvPr>
            <p:ph type="title"/>
          </p:nvPr>
        </p:nvSpPr>
        <p:spPr/>
        <p:txBody>
          <a:bodyPr/>
          <a:lstStyle/>
          <a:p>
            <a:r>
              <a:rPr lang="pt-BR" dirty="0"/>
              <a:t>Função de ativação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BCAAD57B-65A0-9DAD-79FC-2AE2692EB84B}"/>
                  </a:ext>
                </a:extLst>
              </p:cNvPr>
              <p:cNvSpPr>
                <a:spLocks noGrp="1"/>
              </p:cNvSpPr>
              <p:nvPr>
                <p:ph idx="1"/>
              </p:nvPr>
            </p:nvSpPr>
            <p:spPr>
              <a:xfrm>
                <a:off x="838200" y="1825624"/>
                <a:ext cx="11353800" cy="5032375"/>
              </a:xfrm>
            </p:spPr>
            <p:txBody>
              <a:bodyPr>
                <a:normAutofit/>
              </a:bodyPr>
              <a:lstStyle/>
              <a:p>
                <a:r>
                  <a:rPr lang="pt-BR" dirty="0"/>
                  <a:t>É uma generalização da função sigmoide.</a:t>
                </a:r>
              </a:p>
              <a:p>
                <a:r>
                  <a:rPr lang="pt-BR" dirty="0"/>
                  <a:t>O somatório de termos exponenciais no denominador </a:t>
                </a:r>
                <a:r>
                  <a:rPr lang="pt-BR" b="1" dirty="0">
                    <a:solidFill>
                      <a:srgbClr val="00B050"/>
                    </a:solidFill>
                  </a:rPr>
                  <a:t>normaliza</a:t>
                </a:r>
                <a:r>
                  <a:rPr lang="pt-BR" dirty="0"/>
                  <a:t> o valor de cada uma das </a:t>
                </a:r>
                <a14:m>
                  <m:oMath xmlns:m="http://schemas.openxmlformats.org/officeDocument/2006/math">
                    <m:r>
                      <a:rPr lang="pt-BR" b="0" i="1" smtClean="0">
                        <a:latin typeface="Cambria Math" panose="02040503050406030204" pitchFamily="18" charset="0"/>
                      </a:rPr>
                      <m:t>𝑄</m:t>
                    </m:r>
                  </m:oMath>
                </a14:m>
                <a:r>
                  <a:rPr lang="pt-BR" dirty="0"/>
                  <a:t> saídas, fazendo com que elas fiquem no intervalo [0, 1].</a:t>
                </a:r>
              </a:p>
              <a:p>
                <a:pPr marL="0" indent="0">
                  <a:buNone/>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r>
                            <a:rPr lang="pt-BR" i="1">
                              <a:latin typeface="Cambria Math" panose="02040503050406030204" pitchFamily="18" charset="0"/>
                            </a:rPr>
                            <m:t> | </m:t>
                          </m:r>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e>
                      </m:d>
                      <m:r>
                        <a:rPr lang="pt-BR" i="1">
                          <a:latin typeface="Cambria Math" panose="02040503050406030204" pitchFamily="18" charset="0"/>
                        </a:rPr>
                        <m:t>=</m:t>
                      </m:r>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r>
                        <a:rPr lang="pt-BR" b="1" i="1">
                          <a:latin typeface="Cambria Math" panose="02040503050406030204" pitchFamily="18" charset="0"/>
                        </a:rPr>
                        <m:t>=</m:t>
                      </m:r>
                      <m:f>
                        <m:fPr>
                          <m:ctrlPr>
                            <a:rPr lang="pt-BR" b="1" i="1">
                              <a:latin typeface="Cambria Math" panose="02040503050406030204" pitchFamily="18" charset="0"/>
                            </a:rPr>
                          </m:ctrlPr>
                        </m:fPr>
                        <m:num>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num>
                        <m:den>
                          <m:nary>
                            <m:naryPr>
                              <m:chr m:val="∑"/>
                              <m:ctrlPr>
                                <a:rPr lang="pt-BR" b="1" i="1">
                                  <a:latin typeface="Cambria Math" panose="02040503050406030204" pitchFamily="18" charset="0"/>
                                </a:rPr>
                              </m:ctrlPr>
                            </m:naryPr>
                            <m:sub>
                              <m:r>
                                <a:rPr lang="pt-BR" i="1">
                                  <a:latin typeface="Cambria Math" panose="02040503050406030204" pitchFamily="18" charset="0"/>
                                </a:rPr>
                                <m:t>𝑗</m:t>
                              </m:r>
                              <m:r>
                                <a:rPr lang="pt-BR" i="1">
                                  <a:latin typeface="Cambria Math" panose="02040503050406030204" pitchFamily="18" charset="0"/>
                                </a:rPr>
                                <m:t>=0</m:t>
                              </m:r>
                            </m:sub>
                            <m:sup>
                              <m:r>
                                <a:rPr lang="pt-BR" i="1">
                                  <a:latin typeface="Cambria Math" panose="02040503050406030204" pitchFamily="18" charset="0"/>
                                </a:rPr>
                                <m:t>𝑄</m:t>
                              </m:r>
                              <m:r>
                                <a:rPr lang="pt-BR" i="1">
                                  <a:latin typeface="Cambria Math" panose="02040503050406030204" pitchFamily="18" charset="0"/>
                                </a:rPr>
                                <m:t>−1</m:t>
                              </m:r>
                            </m:sup>
                            <m:e>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𝑗</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e>
                          </m:nary>
                        </m:den>
                      </m:f>
                      <m:r>
                        <a:rPr lang="pt-BR" b="1"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ℝ</m:t>
                      </m:r>
                      <m:r>
                        <a:rPr lang="pt-BR" b="1" i="1">
                          <a:latin typeface="Cambria Math" panose="02040503050406030204" pitchFamily="18" charset="0"/>
                          <a:ea typeface="Cambria Math" panose="02040503050406030204" pitchFamily="18" charset="0"/>
                        </a:rPr>
                        <m:t> </m:t>
                      </m:r>
                      <m:d>
                        <m:dPr>
                          <m:begChr m:val="["/>
                          <m:endChr m:val="]"/>
                          <m:ctrlPr>
                            <a:rPr lang="pt-BR" b="1" i="1">
                              <a:latin typeface="Cambria Math" panose="02040503050406030204" pitchFamily="18" charset="0"/>
                              <a:ea typeface="Cambria Math" panose="02040503050406030204" pitchFamily="18" charset="0"/>
                            </a:rPr>
                          </m:ctrlPr>
                        </m:dPr>
                        <m:e>
                          <m:r>
                            <a:rPr lang="pt-BR">
                              <a:latin typeface="Cambria Math" panose="02040503050406030204" pitchFamily="18" charset="0"/>
                            </a:rPr>
                            <m:t>0, 1</m:t>
                          </m:r>
                        </m:e>
                      </m:d>
                      <m:r>
                        <a:rPr lang="pt-BR" b="1" i="1" smtClean="0">
                          <a:latin typeface="Cambria Math" panose="02040503050406030204" pitchFamily="18" charset="0"/>
                        </a:rPr>
                        <m:t> </m:t>
                      </m:r>
                      <m:r>
                        <a:rPr lang="pt-BR" b="1"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𝑞</m:t>
                      </m:r>
                      <m:r>
                        <a:rPr lang="pt-BR" b="1" i="1" smtClean="0">
                          <a:latin typeface="Cambria Math" panose="02040503050406030204" pitchFamily="18" charset="0"/>
                          <a:ea typeface="Cambria Math" panose="02040503050406030204" pitchFamily="18" charset="0"/>
                        </a:rPr>
                        <m:t>.</m:t>
                      </m:r>
                    </m:oMath>
                  </m:oMathPara>
                </a14:m>
                <a:endParaRPr lang="pt-BR" b="0" dirty="0">
                  <a:effectLst/>
                </a:endParaRPr>
              </a:p>
              <a:p>
                <a:r>
                  <a:rPr lang="pt-BR" dirty="0"/>
                  <a:t>Ela transforma os </a:t>
                </a:r>
                <a:r>
                  <a:rPr lang="pt-BR" b="1" dirty="0">
                    <a:solidFill>
                      <a:srgbClr val="00B050"/>
                    </a:solidFill>
                  </a:rPr>
                  <a:t>valores das </a:t>
                </a:r>
                <a14:m>
                  <m:oMath xmlns:m="http://schemas.openxmlformats.org/officeDocument/2006/math">
                    <m:r>
                      <a:rPr lang="pt-BR" b="1" i="1">
                        <a:solidFill>
                          <a:srgbClr val="00B050"/>
                        </a:solidFill>
                        <a:latin typeface="Cambria Math" panose="02040503050406030204" pitchFamily="18" charset="0"/>
                      </a:rPr>
                      <m:t>𝑸</m:t>
                    </m:r>
                  </m:oMath>
                </a14:m>
                <a:r>
                  <a:rPr lang="pt-BR" b="1" dirty="0">
                    <a:solidFill>
                      <a:srgbClr val="00B050"/>
                    </a:solidFill>
                  </a:rPr>
                  <a:t> funções discriminantes em uma distribuição de probabilidades</a:t>
                </a:r>
                <a:r>
                  <a:rPr lang="pt-BR" dirty="0"/>
                  <a:t>.</a:t>
                </a:r>
              </a:p>
              <a:p>
                <a:r>
                  <a:rPr lang="pt-BR" dirty="0"/>
                  <a:t>Assim, dado um exemplo de entrada, ela </a:t>
                </a:r>
                <a:r>
                  <a:rPr lang="pt-BR" b="1" dirty="0">
                    <a:solidFill>
                      <a:srgbClr val="00B050"/>
                    </a:solidFill>
                  </a:rPr>
                  <a:t>atribui</a:t>
                </a:r>
                <a:r>
                  <a:rPr lang="pt-BR" dirty="0"/>
                  <a:t> uma </a:t>
                </a:r>
                <a:r>
                  <a:rPr lang="pt-BR" b="1" dirty="0">
                    <a:solidFill>
                      <a:srgbClr val="00B050"/>
                    </a:solidFill>
                  </a:rPr>
                  <a:t>probabilidade</a:t>
                </a:r>
                <a:r>
                  <a:rPr lang="pt-BR" dirty="0">
                    <a:solidFill>
                      <a:srgbClr val="00B050"/>
                    </a:solidFill>
                  </a:rPr>
                  <a:t> </a:t>
                </a:r>
                <a:r>
                  <a:rPr lang="pt-BR" b="1" dirty="0">
                    <a:solidFill>
                      <a:srgbClr val="00B050"/>
                    </a:solidFill>
                  </a:rPr>
                  <a:t>condicional</a:t>
                </a:r>
                <a:r>
                  <a:rPr lang="pt-BR" dirty="0">
                    <a:solidFill>
                      <a:srgbClr val="00B050"/>
                    </a:solidFill>
                  </a:rPr>
                  <a:t> </a:t>
                </a:r>
                <a14:m>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r>
                          <a:rPr lang="pt-BR" i="1">
                            <a:latin typeface="Cambria Math" panose="02040503050406030204" pitchFamily="18" charset="0"/>
                          </a:rPr>
                          <m:t> |</m:t>
                        </m:r>
                        <m:r>
                          <a:rPr lang="pt-BR" b="1" i="1">
                            <a:latin typeface="Cambria Math" panose="02040503050406030204" pitchFamily="18" charset="0"/>
                          </a:rPr>
                          <m:t> </m:t>
                        </m:r>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e>
                    </m:d>
                    <m:r>
                      <a:rPr lang="pt-BR" i="1">
                        <a:latin typeface="Cambria Math" panose="02040503050406030204" pitchFamily="18" charset="0"/>
                        <a:ea typeface="Cambria Math" panose="02040503050406030204" pitchFamily="18" charset="0"/>
                      </a:rPr>
                      <m:t>∈</m:t>
                    </m:r>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0, 1</m:t>
                        </m:r>
                      </m:e>
                    </m:d>
                  </m:oMath>
                </a14:m>
                <a:r>
                  <a:rPr lang="pt-BR" dirty="0"/>
                  <a:t> </a:t>
                </a:r>
                <a:r>
                  <a:rPr lang="pt-BR" b="1" dirty="0">
                    <a:solidFill>
                      <a:srgbClr val="00B050"/>
                    </a:solidFill>
                  </a:rPr>
                  <a:t>a cada uma </a:t>
                </a:r>
                <a:r>
                  <a:rPr lang="pt-BR" dirty="0"/>
                  <a:t>das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 </m:t>
                    </m:r>
                  </m:oMath>
                </a14:m>
                <a:r>
                  <a:rPr lang="pt-BR" dirty="0"/>
                  <a:t>classes.</a:t>
                </a:r>
                <a:endParaRPr lang="pt-BR" b="1" dirty="0">
                  <a:solidFill>
                    <a:srgbClr val="00B050"/>
                  </a:solidFill>
                </a:endParaRP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BCAAD57B-65A0-9DAD-79FC-2AE2692EB84B}"/>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3"/>
                <a:stretch>
                  <a:fillRect l="-967" t="-1937" r="-967"/>
                </a:stretch>
              </a:blipFill>
            </p:spPr>
            <p:txBody>
              <a:bodyPr/>
              <a:lstStyle/>
              <a:p>
                <a:r>
                  <a:rPr lang="pt-BR">
                    <a:noFill/>
                  </a:rPr>
                  <a:t> </a:t>
                </a:r>
              </a:p>
            </p:txBody>
          </p:sp>
        </mc:Fallback>
      </mc:AlternateContent>
      <p:sp>
        <p:nvSpPr>
          <p:cNvPr id="5" name="Rectangle 11">
            <a:extLst>
              <a:ext uri="{FF2B5EF4-FFF2-40B4-BE49-F238E27FC236}">
                <a16:creationId xmlns:a16="http://schemas.microsoft.com/office/drawing/2014/main" xmlns="" id="{D1D7E603-A964-1188-9D09-B0C1E18592FA}"/>
              </a:ext>
            </a:extLst>
          </p:cNvPr>
          <p:cNvSpPr/>
          <p:nvPr/>
        </p:nvSpPr>
        <p:spPr>
          <a:xfrm>
            <a:off x="6765514" y="3622566"/>
            <a:ext cx="2143124" cy="610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75032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9DAA83A-B143-94BB-B48B-41A7423070CE}"/>
              </a:ext>
            </a:extLst>
          </p:cNvPr>
          <p:cNvSpPr>
            <a:spLocks noGrp="1"/>
          </p:cNvSpPr>
          <p:nvPr>
            <p:ph type="title"/>
          </p:nvPr>
        </p:nvSpPr>
        <p:spPr/>
        <p:txBody>
          <a:bodyPr/>
          <a:lstStyle/>
          <a:p>
            <a:r>
              <a:rPr lang="pt-BR" dirty="0"/>
              <a:t>Função de ativação </a:t>
            </a:r>
            <a:r>
              <a:rPr lang="pt-BR" i="1" dirty="0"/>
              <a:t>softmax</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32DF54A1-52F5-C48C-7CD4-D6E451DF19D8}"/>
                  </a:ext>
                </a:extLst>
              </p:cNvPr>
              <p:cNvSpPr>
                <a:spLocks noGrp="1"/>
              </p:cNvSpPr>
              <p:nvPr>
                <p:ph idx="1"/>
              </p:nvPr>
            </p:nvSpPr>
            <p:spPr>
              <a:xfrm>
                <a:off x="6646606" y="1825624"/>
                <a:ext cx="5545394" cy="5032375"/>
              </a:xfrm>
            </p:spPr>
            <p:txBody>
              <a:bodyPr>
                <a:normAutofit/>
              </a:bodyPr>
              <a:lstStyle/>
              <a:p>
                <a:r>
                  <a:rPr lang="pt-BR" dirty="0"/>
                  <a:t>A função </a:t>
                </a:r>
                <a:r>
                  <a:rPr lang="pt-BR" i="1" dirty="0"/>
                  <a:t>softmax</a:t>
                </a:r>
                <a:r>
                  <a:rPr lang="pt-BR" dirty="0"/>
                  <a:t> </a:t>
                </a:r>
                <a:r>
                  <a:rPr lang="pt-BR" dirty="0">
                    <a:solidFill>
                      <a:schemeClr val="tx1"/>
                    </a:solidFill>
                  </a:rPr>
                  <a:t>o</a:t>
                </a:r>
                <a:r>
                  <a:rPr lang="pt-BR" b="0" i="0" dirty="0">
                    <a:solidFill>
                      <a:schemeClr val="tx1"/>
                    </a:solidFill>
                    <a:effectLst/>
                  </a:rPr>
                  <a:t>pera da seguinte maneira.</a:t>
                </a:r>
              </a:p>
              <a:p>
                <a:r>
                  <a:rPr lang="pt-BR" b="0" i="0" dirty="0">
                    <a:solidFill>
                      <a:schemeClr val="tx1"/>
                    </a:solidFill>
                    <a:effectLst/>
                  </a:rPr>
                  <a:t>Dado um </a:t>
                </a:r>
                <a:r>
                  <a:rPr lang="pt-BR" b="1" dirty="0">
                    <a:solidFill>
                      <a:srgbClr val="00B050"/>
                    </a:solidFill>
                    <a:effectLst/>
                  </a:rPr>
                  <a:t>vetor </a:t>
                </a:r>
                <a:r>
                  <a:rPr lang="pt-BR" b="1" dirty="0">
                    <a:solidFill>
                      <a:srgbClr val="00B050"/>
                    </a:solidFill>
                  </a:rPr>
                  <a:t>com</a:t>
                </a:r>
                <a:r>
                  <a:rPr lang="pt-BR" b="1" dirty="0">
                    <a:solidFill>
                      <a:srgbClr val="00B050"/>
                    </a:solidFill>
                    <a:effectLst/>
                  </a:rPr>
                  <a:t> os valores das </a:t>
                </a:r>
                <a:r>
                  <a:rPr lang="pt-BR" dirty="0"/>
                  <a:t> </a:t>
                </a:r>
                <a14:m>
                  <m:oMath xmlns:m="http://schemas.openxmlformats.org/officeDocument/2006/math">
                    <m:r>
                      <a:rPr lang="pt-BR" b="1" i="1" smtClean="0">
                        <a:solidFill>
                          <a:srgbClr val="00B050"/>
                        </a:solidFill>
                        <a:latin typeface="Cambria Math" panose="02040503050406030204" pitchFamily="18" charset="0"/>
                      </a:rPr>
                      <m:t>𝑸</m:t>
                    </m:r>
                  </m:oMath>
                </a14:m>
                <a:r>
                  <a:rPr lang="pt-BR" b="1" dirty="0">
                    <a:solidFill>
                      <a:srgbClr val="00B050"/>
                    </a:solidFill>
                  </a:rPr>
                  <a:t> </a:t>
                </a:r>
                <a:r>
                  <a:rPr lang="pt-BR" b="1" dirty="0">
                    <a:solidFill>
                      <a:srgbClr val="00B050"/>
                    </a:solidFill>
                    <a:effectLst/>
                  </a:rPr>
                  <a:t>funções discriminantes</a:t>
                </a:r>
                <a:r>
                  <a:rPr lang="pt-BR" b="0" i="0" dirty="0">
                    <a:solidFill>
                      <a:schemeClr val="tx1"/>
                    </a:solidFill>
                    <a:effectLst/>
                  </a:rPr>
                  <a:t>, ela</a:t>
                </a:r>
                <a:endParaRPr lang="pt-BR" dirty="0"/>
              </a:p>
              <a:p>
                <a:pPr lvl="1">
                  <a:buFont typeface="Wingdings" panose="05000000000000000000" pitchFamily="2" charset="2"/>
                  <a:buChar char="§"/>
                </a:pPr>
                <a:r>
                  <a:rPr lang="pt-BR" b="0" i="0" dirty="0">
                    <a:solidFill>
                      <a:schemeClr val="tx1"/>
                    </a:solidFill>
                    <a:effectLst/>
                  </a:rPr>
                  <a:t>calcula a exponencial de cada função discriminante, </a:t>
                </a:r>
              </a:p>
              <a:p>
                <a:pPr lvl="1">
                  <a:buFont typeface="Wingdings" panose="05000000000000000000" pitchFamily="2" charset="2"/>
                  <a:buChar char="§"/>
                </a:pPr>
                <a:r>
                  <a:rPr lang="pt-BR" b="0" i="0" dirty="0">
                    <a:solidFill>
                      <a:schemeClr val="tx1"/>
                    </a:solidFill>
                    <a:effectLst/>
                  </a:rPr>
                  <a:t>normaliza essas exponenciais dividindo-as pela soma de todas as exponenciais, gerando uma distribuição de probabilidades das classes.</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32DF54A1-52F5-C48C-7CD4-D6E451DF19D8}"/>
                  </a:ext>
                </a:extLst>
              </p:cNvPr>
              <p:cNvSpPr>
                <a:spLocks noGrp="1" noRot="1" noChangeAspect="1" noMove="1" noResize="1" noEditPoints="1" noAdjustHandles="1" noChangeArrowheads="1" noChangeShapeType="1" noTextEdit="1"/>
              </p:cNvSpPr>
              <p:nvPr>
                <p:ph idx="1"/>
              </p:nvPr>
            </p:nvSpPr>
            <p:spPr>
              <a:xfrm>
                <a:off x="6646606" y="1825624"/>
                <a:ext cx="5545394" cy="5032375"/>
              </a:xfrm>
              <a:blipFill rotWithShape="0">
                <a:blip r:embed="rId2"/>
                <a:stretch>
                  <a:fillRect l="-1978" t="-1937" r="-1868"/>
                </a:stretch>
              </a:blipFill>
            </p:spPr>
            <p:txBody>
              <a:bodyPr/>
              <a:lstStyle/>
              <a:p>
                <a:r>
                  <a:rPr lang="pt-BR">
                    <a:noFill/>
                  </a:rPr>
                  <a:t> </a:t>
                </a:r>
              </a:p>
            </p:txBody>
          </p:sp>
        </mc:Fallback>
      </mc:AlternateContent>
      <p:pic>
        <p:nvPicPr>
          <p:cNvPr id="6" name="Imagem 5">
            <a:extLst>
              <a:ext uri="{FF2B5EF4-FFF2-40B4-BE49-F238E27FC236}">
                <a16:creationId xmlns:a16="http://schemas.microsoft.com/office/drawing/2014/main" xmlns="" id="{ED5D1F5D-F195-0452-50D4-07E9F2B1C4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5559" y="2536723"/>
            <a:ext cx="6066351" cy="2487561"/>
          </a:xfrm>
          <a:prstGeom prst="rect">
            <a:avLst/>
          </a:prstGeom>
        </p:spPr>
      </p:pic>
      <p:sp>
        <p:nvSpPr>
          <p:cNvPr id="8" name="CaixaDeTexto 7">
            <a:extLst>
              <a:ext uri="{FF2B5EF4-FFF2-40B4-BE49-F238E27FC236}">
                <a16:creationId xmlns:a16="http://schemas.microsoft.com/office/drawing/2014/main" xmlns="" id="{0DC5673F-9B77-2E9E-8317-E71CA8896FE0}"/>
              </a:ext>
            </a:extLst>
          </p:cNvPr>
          <p:cNvSpPr txBox="1"/>
          <p:nvPr/>
        </p:nvSpPr>
        <p:spPr>
          <a:xfrm>
            <a:off x="127819" y="6492875"/>
            <a:ext cx="2792362" cy="276999"/>
          </a:xfrm>
          <a:prstGeom prst="rect">
            <a:avLst/>
          </a:prstGeom>
          <a:noFill/>
        </p:spPr>
        <p:txBody>
          <a:bodyPr wrap="square">
            <a:spAutoFit/>
          </a:bodyPr>
          <a:lstStyle/>
          <a:p>
            <a:r>
              <a:rPr lang="pt-BR" sz="1200" b="0" dirty="0">
                <a:effectLst/>
              </a:rPr>
              <a:t>OBS.:</a:t>
            </a:r>
            <a:r>
              <a:rPr lang="pt-BR" sz="1200" b="0" i="1" dirty="0">
                <a:effectLst/>
              </a:rPr>
              <a:t> e</a:t>
            </a:r>
            <a:r>
              <a:rPr lang="pt-BR" sz="1200" b="0" i="0" dirty="0">
                <a:effectLst/>
              </a:rPr>
              <a:t> é a base do logaritmo natural. </a:t>
            </a:r>
            <a:endParaRPr lang="pt-BR" sz="1200" dirty="0"/>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xmlns="" id="{CBD55F82-56D5-32C8-C5AB-AF99477FBAAC}"/>
                  </a:ext>
                </a:extLst>
              </p:cNvPr>
              <p:cNvSpPr txBox="1"/>
              <p:nvPr/>
            </p:nvSpPr>
            <p:spPr>
              <a:xfrm>
                <a:off x="1543507" y="5639486"/>
                <a:ext cx="3530454" cy="461665"/>
              </a:xfrm>
              <a:prstGeom prst="rect">
                <a:avLst/>
              </a:prstGeom>
              <a:noFill/>
            </p:spPr>
            <p:txBody>
              <a:bodyPr wrap="none" rtlCol="0">
                <a:spAutoFit/>
              </a:bodyPr>
              <a:lstStyle/>
              <a:p>
                <a14:m>
                  <m:oMath xmlns:m="http://schemas.openxmlformats.org/officeDocument/2006/math">
                    <m:r>
                      <a:rPr lang="pt-BR" sz="2400" b="0" i="1" smtClean="0">
                        <a:latin typeface="Cambria Math" panose="02040503050406030204" pitchFamily="18" charset="0"/>
                      </a:rPr>
                      <m:t>𝑄</m:t>
                    </m:r>
                    <m:r>
                      <a:rPr lang="pt-BR" sz="2400" b="0" i="1" smtClean="0">
                        <a:latin typeface="Cambria Math" panose="02040503050406030204" pitchFamily="18" charset="0"/>
                      </a:rPr>
                      <m:t>=5</m:t>
                    </m:r>
                  </m:oMath>
                </a14:m>
                <a:r>
                  <a:rPr lang="pt-BR" sz="2400" dirty="0"/>
                  <a:t> (número de classes)</a:t>
                </a:r>
              </a:p>
            </p:txBody>
          </p:sp>
        </mc:Choice>
        <mc:Fallback xmlns="">
          <p:sp>
            <p:nvSpPr>
              <p:cNvPr id="4" name="CaixaDeTexto 3">
                <a:extLst>
                  <a:ext uri="{FF2B5EF4-FFF2-40B4-BE49-F238E27FC236}">
                    <a16:creationId xmlns:a16="http://schemas.microsoft.com/office/drawing/2014/main" id="{CBD55F82-56D5-32C8-C5AB-AF99477FBAAC}"/>
                  </a:ext>
                </a:extLst>
              </p:cNvPr>
              <p:cNvSpPr txBox="1">
                <a:spLocks noRot="1" noChangeAspect="1" noMove="1" noResize="1" noEditPoints="1" noAdjustHandles="1" noChangeArrowheads="1" noChangeShapeType="1" noTextEdit="1"/>
              </p:cNvSpPr>
              <p:nvPr/>
            </p:nvSpPr>
            <p:spPr>
              <a:xfrm>
                <a:off x="1543507" y="5639486"/>
                <a:ext cx="3530454" cy="461665"/>
              </a:xfrm>
              <a:prstGeom prst="rect">
                <a:avLst/>
              </a:prstGeom>
              <a:blipFill>
                <a:blip r:embed="rId4"/>
                <a:stretch>
                  <a:fillRect l="-1209" t="-10526" r="-1900" b="-28947"/>
                </a:stretch>
              </a:blipFill>
            </p:spPr>
            <p:txBody>
              <a:bodyPr/>
              <a:lstStyle/>
              <a:p>
                <a:r>
                  <a:rPr lang="en-US">
                    <a:noFill/>
                  </a:rPr>
                  <a:t> </a:t>
                </a:r>
              </a:p>
            </p:txBody>
          </p:sp>
        </mc:Fallback>
      </mc:AlternateContent>
    </p:spTree>
    <p:extLst>
      <p:ext uri="{BB962C8B-B14F-4D97-AF65-F5344CB8AC3E}">
        <p14:creationId xmlns:p14="http://schemas.microsoft.com/office/powerpoint/2010/main" val="2357809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9DAA83A-B143-94BB-B48B-41A7423070CE}"/>
              </a:ext>
            </a:extLst>
          </p:cNvPr>
          <p:cNvSpPr>
            <a:spLocks noGrp="1"/>
          </p:cNvSpPr>
          <p:nvPr>
            <p:ph type="title"/>
          </p:nvPr>
        </p:nvSpPr>
        <p:spPr/>
        <p:txBody>
          <a:bodyPr/>
          <a:lstStyle/>
          <a:p>
            <a:r>
              <a:rPr lang="pt-BR" dirty="0"/>
              <a:t>Função de ativação </a:t>
            </a:r>
            <a:r>
              <a:rPr lang="pt-BR" i="1" dirty="0"/>
              <a:t>softmax</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32DF54A1-52F5-C48C-7CD4-D6E451DF19D8}"/>
                  </a:ext>
                </a:extLst>
              </p:cNvPr>
              <p:cNvSpPr>
                <a:spLocks noGrp="1"/>
              </p:cNvSpPr>
              <p:nvPr>
                <p:ph idx="1"/>
              </p:nvPr>
            </p:nvSpPr>
            <p:spPr>
              <a:xfrm>
                <a:off x="838200" y="1825624"/>
                <a:ext cx="11353800" cy="5032375"/>
              </a:xfrm>
            </p:spPr>
            <p:txBody>
              <a:bodyPr>
                <a:normAutofit/>
              </a:bodyPr>
              <a:lstStyle/>
              <a:p>
                <a:r>
                  <a:rPr lang="pt-BR" b="0" dirty="0">
                    <a:effectLst/>
                  </a:rPr>
                  <a:t>Além de fazer c</a:t>
                </a:r>
                <a:r>
                  <a:rPr lang="pt-BR" dirty="0"/>
                  <a:t>om </a:t>
                </a:r>
                <a:r>
                  <a:rPr lang="pt-BR" dirty="0">
                    <a:effectLst/>
                  </a:rPr>
                  <a:t>que as </a:t>
                </a:r>
                <a:r>
                  <a:rPr lang="pt-BR" b="1" dirty="0">
                    <a:solidFill>
                      <a:srgbClr val="00B050"/>
                    </a:solidFill>
                    <a:effectLst/>
                  </a:rPr>
                  <a:t>saídas estejam no intervalo entre 0 e 1, </a:t>
                </a:r>
                <a:r>
                  <a:rPr lang="pt-BR" b="1" dirty="0">
                    <a:solidFill>
                      <a:srgbClr val="00B050"/>
                    </a:solidFill>
                  </a:rPr>
                  <a:t>ela garante que </a:t>
                </a:r>
                <a:r>
                  <a:rPr lang="pt-BR" b="1" dirty="0">
                    <a:solidFill>
                      <a:srgbClr val="00B050"/>
                    </a:solidFill>
                    <a:effectLst/>
                  </a:rPr>
                  <a:t>soma de todas as saídas sempre seja igual a 1</a:t>
                </a:r>
                <a:r>
                  <a:rPr lang="pt-BR" b="0" dirty="0">
                    <a:effectLst/>
                  </a:rPr>
                  <a:t>, tornando-as interpretáveis como uma </a:t>
                </a:r>
                <a:r>
                  <a:rPr lang="pt-BR" b="1" dirty="0">
                    <a:solidFill>
                      <a:schemeClr val="accent2"/>
                    </a:solidFill>
                    <a:effectLst/>
                  </a:rPr>
                  <a:t>função massa de probabilidade </a:t>
                </a:r>
                <a:r>
                  <a:rPr lang="pt-BR" b="1" dirty="0" err="1">
                    <a:solidFill>
                      <a:schemeClr val="accent2"/>
                    </a:solidFill>
                    <a:effectLst/>
                  </a:rPr>
                  <a:t>multinomial</a:t>
                </a:r>
                <a:r>
                  <a:rPr lang="pt-BR" b="0" dirty="0">
                    <a:effectLst/>
                  </a:rPr>
                  <a:t>.</a:t>
                </a:r>
              </a:p>
              <a:p>
                <a:pPr marL="0" indent="0" algn="ctr">
                  <a:buNone/>
                </a:pPr>
                <a14:m>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0</m:t>
                            </m:r>
                          </m:sub>
                        </m:sSub>
                        <m:r>
                          <a:rPr lang="pt-BR" i="1">
                            <a:latin typeface="Cambria Math" panose="02040503050406030204" pitchFamily="18" charset="0"/>
                          </a:rPr>
                          <m:t> |</m:t>
                        </m:r>
                        <m:r>
                          <a:rPr lang="pt-BR" b="1" i="1">
                            <a:latin typeface="Cambria Math" panose="02040503050406030204" pitchFamily="18" charset="0"/>
                          </a:rPr>
                          <m:t> </m:t>
                        </m:r>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0</m:t>
                            </m:r>
                          </m:sub>
                        </m:sSub>
                      </m:e>
                    </m:d>
                    <m:r>
                      <a:rPr lang="pt-BR" i="1">
                        <a:latin typeface="Cambria Math" panose="02040503050406030204" pitchFamily="18" charset="0"/>
                      </a:rPr>
                      <m:t>+</m:t>
                    </m:r>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r>
                          <a:rPr lang="pt-BR" i="1">
                            <a:latin typeface="Cambria Math" panose="02040503050406030204" pitchFamily="18" charset="0"/>
                          </a:rPr>
                          <m:t> |</m:t>
                        </m:r>
                        <m:r>
                          <a:rPr lang="pt-BR" b="1" i="1">
                            <a:latin typeface="Cambria Math" panose="02040503050406030204" pitchFamily="18" charset="0"/>
                          </a:rPr>
                          <m:t> </m:t>
                        </m:r>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a:rPr lang="pt-BR" b="1" i="1">
                                <a:latin typeface="Cambria Math" panose="02040503050406030204" pitchFamily="18" charset="0"/>
                              </a:rPr>
                              <m:t>,</m:t>
                            </m:r>
                            <m:r>
                              <a:rPr lang="pt-BR" b="1" i="1">
                                <a:latin typeface="Cambria Math" panose="02040503050406030204" pitchFamily="18" charset="0"/>
                              </a:rPr>
                              <m:t>𝒂</m:t>
                            </m:r>
                          </m:e>
                          <m:sub>
                            <m:r>
                              <a:rPr lang="pt-BR" i="1">
                                <a:latin typeface="Cambria Math" panose="02040503050406030204" pitchFamily="18" charset="0"/>
                              </a:rPr>
                              <m:t>1</m:t>
                            </m:r>
                          </m:sub>
                        </m:sSub>
                      </m:e>
                    </m:d>
                    <m:r>
                      <a:rPr lang="pt-BR">
                        <a:latin typeface="Cambria Math" panose="02040503050406030204" pitchFamily="18" charset="0"/>
                      </a:rPr>
                      <m:t>+</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𝑄</m:t>
                            </m:r>
                            <m:r>
                              <a:rPr lang="pt-BR" i="1">
                                <a:latin typeface="Cambria Math" panose="02040503050406030204" pitchFamily="18" charset="0"/>
                              </a:rPr>
                              <m:t>−1</m:t>
                            </m:r>
                          </m:sub>
                        </m:sSub>
                        <m:r>
                          <a:rPr lang="pt-BR" i="1">
                            <a:latin typeface="Cambria Math" panose="02040503050406030204" pitchFamily="18" charset="0"/>
                          </a:rPr>
                          <m:t> | </m:t>
                        </m:r>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𝑄</m:t>
                            </m:r>
                            <m:r>
                              <a:rPr lang="pt-BR" i="1">
                                <a:latin typeface="Cambria Math" panose="02040503050406030204" pitchFamily="18" charset="0"/>
                              </a:rPr>
                              <m:t>−1</m:t>
                            </m:r>
                          </m:sub>
                        </m:sSub>
                      </m:e>
                    </m:d>
                    <m:r>
                      <a:rPr lang="pt-BR" i="1">
                        <a:latin typeface="Cambria Math" panose="02040503050406030204" pitchFamily="18" charset="0"/>
                      </a:rPr>
                      <m:t>=1</m:t>
                    </m:r>
                  </m:oMath>
                </a14:m>
                <a:r>
                  <a:rPr lang="pt-BR" dirty="0"/>
                  <a:t>.</a:t>
                </a:r>
                <a:endParaRPr lang="pt-BR" b="0" dirty="0">
                  <a:effectLst/>
                </a:endParaRP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32DF54A1-52F5-C48C-7CD4-D6E451DF19D8}"/>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3"/>
                <a:stretch>
                  <a:fillRect l="-967" t="-1937"/>
                </a:stretch>
              </a:blipFill>
            </p:spPr>
            <p:txBody>
              <a:bodyPr/>
              <a:lstStyle/>
              <a:p>
                <a:r>
                  <a:rPr lang="pt-BR">
                    <a:noFill/>
                  </a:rPr>
                  <a:t> </a:t>
                </a:r>
              </a:p>
            </p:txBody>
          </p:sp>
        </mc:Fallback>
      </mc:AlternateContent>
      <p:pic>
        <p:nvPicPr>
          <p:cNvPr id="6" name="Imagem 5">
            <a:extLst>
              <a:ext uri="{FF2B5EF4-FFF2-40B4-BE49-F238E27FC236}">
                <a16:creationId xmlns:a16="http://schemas.microsoft.com/office/drawing/2014/main" xmlns="" id="{ED5D1F5D-F195-0452-50D4-07E9F2B1C4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78470" y="3952568"/>
            <a:ext cx="6635059" cy="2720765"/>
          </a:xfrm>
          <a:prstGeom prst="rect">
            <a:avLst/>
          </a:prstGeom>
        </p:spPr>
      </p:pic>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xmlns="" id="{2B7728A0-505D-9DAE-23EC-8172E2EEEFA9}"/>
                  </a:ext>
                </a:extLst>
              </p:cNvPr>
              <p:cNvSpPr txBox="1"/>
              <p:nvPr/>
            </p:nvSpPr>
            <p:spPr>
              <a:xfrm>
                <a:off x="9468912" y="6488667"/>
                <a:ext cx="2701189" cy="369332"/>
              </a:xfrm>
              <a:prstGeom prst="rect">
                <a:avLst/>
              </a:prstGeom>
              <a:noFill/>
            </p:spPr>
            <p:txBody>
              <a:bodyPr wrap="none" rtlCol="0">
                <a:spAutoFit/>
              </a:bodyPr>
              <a:lstStyle/>
              <a:p>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=5</m:t>
                    </m:r>
                  </m:oMath>
                </a14:m>
                <a:r>
                  <a:rPr lang="pt-BR" dirty="0"/>
                  <a:t> (número de classes)</a:t>
                </a:r>
              </a:p>
            </p:txBody>
          </p:sp>
        </mc:Choice>
        <mc:Fallback xmlns="">
          <p:sp>
            <p:nvSpPr>
              <p:cNvPr id="4" name="CaixaDeTexto 3">
                <a:extLst>
                  <a:ext uri="{FF2B5EF4-FFF2-40B4-BE49-F238E27FC236}">
                    <a16:creationId xmlns="" xmlns:a16="http://schemas.microsoft.com/office/drawing/2014/main" xmlns:a14="http://schemas.microsoft.com/office/drawing/2010/main" id="{2B7728A0-505D-9DAE-23EC-8172E2EEEFA9}"/>
                  </a:ext>
                </a:extLst>
              </p:cNvPr>
              <p:cNvSpPr txBox="1">
                <a:spLocks noRot="1" noChangeAspect="1" noMove="1" noResize="1" noEditPoints="1" noAdjustHandles="1" noChangeArrowheads="1" noChangeShapeType="1" noTextEdit="1"/>
              </p:cNvSpPr>
              <p:nvPr/>
            </p:nvSpPr>
            <p:spPr>
              <a:xfrm>
                <a:off x="9468912" y="6488667"/>
                <a:ext cx="2701189" cy="369332"/>
              </a:xfrm>
              <a:prstGeom prst="rect">
                <a:avLst/>
              </a:prstGeom>
              <a:blipFill rotWithShape="0">
                <a:blip r:embed="rId5"/>
                <a:stretch>
                  <a:fillRect l="-451" t="-8197" r="-1580" b="-24590"/>
                </a:stretch>
              </a:blipFill>
            </p:spPr>
            <p:txBody>
              <a:bodyPr/>
              <a:lstStyle/>
              <a:p>
                <a:r>
                  <a:rPr lang="pt-BR">
                    <a:noFill/>
                  </a:rPr>
                  <a:t> </a:t>
                </a:r>
              </a:p>
            </p:txBody>
          </p:sp>
        </mc:Fallback>
      </mc:AlternateContent>
    </p:spTree>
    <p:extLst>
      <p:ext uri="{BB962C8B-B14F-4D97-AF65-F5344CB8AC3E}">
        <p14:creationId xmlns:p14="http://schemas.microsoft.com/office/powerpoint/2010/main" val="79942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28A152F-93D8-11FA-9B7A-B62AE5BB6486}"/>
              </a:ext>
            </a:extLst>
          </p:cNvPr>
          <p:cNvSpPr>
            <a:spLocks noGrp="1"/>
          </p:cNvSpPr>
          <p:nvPr>
            <p:ph type="title"/>
          </p:nvPr>
        </p:nvSpPr>
        <p:spPr/>
        <p:txBody>
          <a:bodyPr/>
          <a:lstStyle/>
          <a:p>
            <a:r>
              <a:rPr lang="pt-BR" dirty="0"/>
              <a:t>Função de ativação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B3535727-BB24-BB15-5C03-3DA9A3F9A09A}"/>
                  </a:ext>
                </a:extLst>
              </p:cNvPr>
              <p:cNvSpPr>
                <a:spLocks noGrp="1"/>
              </p:cNvSpPr>
              <p:nvPr>
                <p:ph idx="1"/>
              </p:nvPr>
            </p:nvSpPr>
            <p:spPr>
              <a:xfrm>
                <a:off x="6096001" y="1825624"/>
                <a:ext cx="5998028" cy="5032375"/>
              </a:xfrm>
            </p:spPr>
            <p:txBody>
              <a:bodyPr>
                <a:normAutofit/>
              </a:bodyPr>
              <a:lstStyle/>
              <a:p>
                <a:r>
                  <a:rPr lang="pt-BR" dirty="0"/>
                  <a:t>Assim como com o regressor logístico, podemos usar </a:t>
                </a:r>
                <a:r>
                  <a:rPr lang="pt-BR" b="1" dirty="0"/>
                  <a:t>hiperplanos</a:t>
                </a:r>
                <a:r>
                  <a:rPr lang="pt-BR" dirty="0"/>
                  <a:t> ou </a:t>
                </a:r>
                <a:r>
                  <a:rPr lang="pt-BR" b="1" dirty="0"/>
                  <a:t>polinômios</a:t>
                </a:r>
                <a:r>
                  <a:rPr lang="pt-BR" dirty="0"/>
                  <a:t> como </a:t>
                </a:r>
                <a:r>
                  <a:rPr lang="pt-BR" b="1" dirty="0"/>
                  <a:t>funções discriminantes</a:t>
                </a:r>
                <a:r>
                  <a:rPr lang="pt-BR" dirty="0"/>
                  <a:t>.</a:t>
                </a:r>
              </a:p>
              <a:p>
                <a:r>
                  <a:rPr lang="pt-BR" dirty="0"/>
                  <a:t>Nosso objetivo é encontrar um </a:t>
                </a:r>
                <a:r>
                  <a:rPr lang="pt-BR" b="1" dirty="0"/>
                  <a:t>modelo</a:t>
                </a:r>
                <a:r>
                  <a:rPr lang="pt-BR" dirty="0"/>
                  <a:t> (i.e., a </a:t>
                </a:r>
                <a:r>
                  <a:rPr lang="pt-BR" b="1" dirty="0"/>
                  <a:t>equação</a:t>
                </a:r>
                <a:r>
                  <a:rPr lang="pt-BR" dirty="0"/>
                  <a:t> e os respectivos </a:t>
                </a:r>
                <a:r>
                  <a:rPr lang="pt-BR" b="1" dirty="0"/>
                  <a:t>pesos</a:t>
                </a:r>
                <a:r>
                  <a:rPr lang="pt-BR" dirty="0"/>
                  <a:t> das </a:t>
                </a:r>
                <a14:m>
                  <m:oMath xmlns:m="http://schemas.openxmlformats.org/officeDocument/2006/math">
                    <m:r>
                      <a:rPr lang="pt-BR" i="1">
                        <a:latin typeface="Cambria Math" panose="02040503050406030204" pitchFamily="18" charset="0"/>
                      </a:rPr>
                      <m:t>𝑄</m:t>
                    </m:r>
                  </m:oMath>
                </a14:m>
                <a:r>
                  <a:rPr lang="pt-BR" dirty="0"/>
                  <a:t> funções hipótese) que </a:t>
                </a:r>
                <a:r>
                  <a:rPr lang="pt-BR" b="1" dirty="0">
                    <a:solidFill>
                      <a:srgbClr val="00B050"/>
                    </a:solidFill>
                  </a:rPr>
                  <a:t>atribua uma alta probabilidade para a classe alvo </a:t>
                </a:r>
                <a:r>
                  <a:rPr lang="pt-BR" dirty="0"/>
                  <a:t>e, consequentemente, </a:t>
                </a:r>
                <a:r>
                  <a:rPr lang="pt-BR" b="1" dirty="0">
                    <a:solidFill>
                      <a:srgbClr val="00B050"/>
                    </a:solidFill>
                  </a:rPr>
                  <a:t>uma baixa probabilidade para as demais classes</a:t>
                </a:r>
                <a:r>
                  <a:rPr lang="pt-BR" dirty="0"/>
                  <a:t>.</a:t>
                </a:r>
              </a:p>
              <a:p>
                <a:pPr marL="0" indent="0" algn="ctr">
                  <a:buNone/>
                </a:pPr>
                <a:endParaRPr lang="pt-BR" dirty="0"/>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B3535727-BB24-BB15-5C03-3DA9A3F9A09A}"/>
                  </a:ext>
                </a:extLst>
              </p:cNvPr>
              <p:cNvSpPr>
                <a:spLocks noGrp="1" noRot="1" noChangeAspect="1" noMove="1" noResize="1" noEditPoints="1" noAdjustHandles="1" noChangeArrowheads="1" noChangeShapeType="1" noTextEdit="1"/>
              </p:cNvSpPr>
              <p:nvPr>
                <p:ph idx="1"/>
              </p:nvPr>
            </p:nvSpPr>
            <p:spPr>
              <a:xfrm>
                <a:off x="6096001" y="1825624"/>
                <a:ext cx="5998028" cy="5032375"/>
              </a:xfrm>
              <a:blipFill rotWithShape="0">
                <a:blip r:embed="rId3"/>
                <a:stretch>
                  <a:fillRect l="-1829" t="-1937" r="-1728"/>
                </a:stretch>
              </a:blipFill>
            </p:spPr>
            <p:txBody>
              <a:bodyPr/>
              <a:lstStyle/>
              <a:p>
                <a:r>
                  <a:rPr lang="pt-BR">
                    <a:noFill/>
                  </a:rPr>
                  <a:t> </a:t>
                </a:r>
              </a:p>
            </p:txBody>
          </p:sp>
        </mc:Fallback>
      </mc:AlternateContent>
      <p:pic>
        <p:nvPicPr>
          <p:cNvPr id="4" name="Imagem 5">
            <a:extLst>
              <a:ext uri="{FF2B5EF4-FFF2-40B4-BE49-F238E27FC236}">
                <a16:creationId xmlns:a16="http://schemas.microsoft.com/office/drawing/2014/main" xmlns="" id="{42A1713D-06B5-FB35-8488-833F7CAB71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4041" y="2536723"/>
            <a:ext cx="6066351" cy="2487561"/>
          </a:xfrm>
          <a:prstGeom prst="rect">
            <a:avLst/>
          </a:prstGeom>
        </p:spPr>
      </p:pic>
    </p:spTree>
    <p:extLst>
      <p:ext uri="{BB962C8B-B14F-4D97-AF65-F5344CB8AC3E}">
        <p14:creationId xmlns:p14="http://schemas.microsoft.com/office/powerpoint/2010/main" val="765198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B9D242-5419-0FFB-7863-B3BB3BD80869}"/>
              </a:ext>
            </a:extLst>
          </p:cNvPr>
          <p:cNvSpPr>
            <a:spLocks noGrp="1"/>
          </p:cNvSpPr>
          <p:nvPr>
            <p:ph type="title"/>
          </p:nvPr>
        </p:nvSpPr>
        <p:spPr/>
        <p:txBody>
          <a:bodyPr/>
          <a:lstStyle/>
          <a:p>
            <a:r>
              <a:rPr lang="pt-BR" dirty="0"/>
              <a:t>Função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34B1DEA3-BAAD-D90C-CD9D-99A5A24F4544}"/>
                  </a:ext>
                </a:extLst>
              </p:cNvPr>
              <p:cNvSpPr>
                <a:spLocks noGrp="1"/>
              </p:cNvSpPr>
              <p:nvPr>
                <p:ph idx="1"/>
              </p:nvPr>
            </p:nvSpPr>
            <p:spPr>
              <a:xfrm>
                <a:off x="838199" y="1825624"/>
                <a:ext cx="11353801" cy="5032375"/>
              </a:xfrm>
            </p:spPr>
            <p:txBody>
              <a:bodyPr>
                <a:normAutofit/>
              </a:bodyPr>
              <a:lstStyle/>
              <a:p>
                <a:r>
                  <a:rPr lang="pt-BR" dirty="0"/>
                  <a:t>Para atingir o objetivo, devemos definir uma </a:t>
                </a:r>
                <a:r>
                  <a:rPr lang="pt-BR" b="1" dirty="0"/>
                  <a:t>função de erro </a:t>
                </a:r>
                <a:r>
                  <a:rPr lang="pt-BR" dirty="0"/>
                  <a:t>a ser </a:t>
                </a:r>
                <a:r>
                  <a:rPr lang="pt-BR" b="1" dirty="0">
                    <a:solidFill>
                      <a:srgbClr val="7030A0"/>
                    </a:solidFill>
                  </a:rPr>
                  <a:t>minimizada</a:t>
                </a:r>
                <a:r>
                  <a:rPr lang="pt-BR" dirty="0"/>
                  <a:t>.</a:t>
                </a:r>
              </a:p>
              <a:p>
                <a:r>
                  <a:rPr lang="pt-BR" dirty="0"/>
                  <a:t>Usamos a </a:t>
                </a:r>
                <a:r>
                  <a:rPr lang="pt-BR" b="1" dirty="0">
                    <a:solidFill>
                      <a:schemeClr val="accent2"/>
                    </a:solidFill>
                  </a:rPr>
                  <a:t>generalização da função da entropia cruzada</a:t>
                </a:r>
                <a:r>
                  <a:rPr lang="pt-BR" dirty="0"/>
                  <a:t>, chamada de </a:t>
                </a:r>
                <a:r>
                  <a:rPr lang="pt-BR" b="1" dirty="0"/>
                  <a:t>entropia cruzada categórica</a:t>
                </a:r>
                <a:r>
                  <a:rPr lang="pt-BR" dirty="0"/>
                  <a:t>, a qual é dada por</a:t>
                </a:r>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smtClean="0">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𝑞</m:t>
                              </m:r>
                              <m:r>
                                <a:rPr lang="pt-BR" i="1">
                                  <a:latin typeface="Cambria Math" panose="02040503050406030204" pitchFamily="18" charset="0"/>
                                </a:rPr>
                                <m:t>=0</m:t>
                              </m:r>
                            </m:sub>
                            <m:sup>
                              <m:r>
                                <a:rPr lang="pt-BR" i="1">
                                  <a:latin typeface="Cambria Math" panose="02040503050406030204" pitchFamily="18" charset="0"/>
                                </a:rPr>
                                <m:t>𝑄</m:t>
                              </m:r>
                              <m:r>
                                <a:rPr lang="pt-BR" i="1">
                                  <a:latin typeface="Cambria Math" panose="02040503050406030204" pitchFamily="18" charset="0"/>
                                </a:rPr>
                                <m:t>−1</m:t>
                              </m:r>
                            </m:sup>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rPr>
                                    <m:t>𝑞</m:t>
                                  </m:r>
                                </m:e>
                              </m:d>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smtClean="0">
                                          <a:latin typeface="Cambria Math" panose="02040503050406030204" pitchFamily="18" charset="0"/>
                                        </a:rPr>
                                      </m:ctrlPr>
                                    </m:dPr>
                                    <m:e>
                                      <m:sSub>
                                        <m:sSubPr>
                                          <m:ctrlPr>
                                            <a:rPr lang="pt-BR" i="1" smtClean="0">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b="0" i="1" smtClean="0">
                                              <a:latin typeface="Cambria Math" panose="02040503050406030204" pitchFamily="18" charset="0"/>
                                            </a:rPr>
                                            <m:t>𝑞</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func>
                            </m:e>
                          </m:nary>
                        </m:e>
                      </m:nary>
                      <m:r>
                        <a:rPr lang="pt-BR" i="1">
                          <a:latin typeface="Cambria Math" panose="02040503050406030204" pitchFamily="18" charset="0"/>
                        </a:rPr>
                        <m:t>,</m:t>
                      </m:r>
                    </m:oMath>
                  </m:oMathPara>
                </a14:m>
                <a:endParaRPr lang="pt-BR" dirty="0"/>
              </a:p>
              <a:p>
                <a:pPr marL="0" indent="0">
                  <a:buNone/>
                </a:pPr>
                <a:r>
                  <a:rPr lang="pt-BR" dirty="0"/>
                  <a:t>onde 1{⋅} é a </a:t>
                </a:r>
                <a:r>
                  <a:rPr lang="pt-BR" b="1" dirty="0"/>
                  <a:t>função indicadora </a:t>
                </a:r>
                <a:r>
                  <a:rPr lang="pt-BR" dirty="0"/>
                  <a:t>(1{condição verdadeira} = 1 e 1{condição falsa} = 0), </a:t>
                </a:r>
                <a14:m>
                  <m:oMath xmlns:m="http://schemas.openxmlformats.org/officeDocument/2006/math">
                    <m:r>
                      <a:rPr lang="pt-BR" b="1" i="1" smtClean="0">
                        <a:latin typeface="Cambria Math" panose="02040503050406030204" pitchFamily="18" charset="0"/>
                      </a:rPr>
                      <m:t>𝑨</m:t>
                    </m:r>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𝐾</m:t>
                        </m:r>
                        <m:r>
                          <a:rPr lang="pt-BR" i="1" dirty="0">
                            <a:latin typeface="Cambria Math" panose="02040503050406030204" pitchFamily="18" charset="0"/>
                            <a:ea typeface="Cambria Math" panose="02040503050406030204" pitchFamily="18" charset="0"/>
                          </a:rPr>
                          <m:t>+1×</m:t>
                        </m:r>
                        <m:r>
                          <a:rPr lang="pt-BR" i="1" dirty="0">
                            <a:latin typeface="Cambria Math" panose="02040503050406030204" pitchFamily="18" charset="0"/>
                            <a:ea typeface="Cambria Math" panose="02040503050406030204" pitchFamily="18" charset="0"/>
                          </a:rPr>
                          <m:t>𝑄</m:t>
                        </m:r>
                      </m:sup>
                    </m:sSup>
                  </m:oMath>
                </a14:m>
                <a:r>
                  <a:rPr lang="pt-BR" dirty="0"/>
                  <a:t> é a matriz com os </a:t>
                </a:r>
                <a:r>
                  <a:rPr lang="pt-BR" b="1" dirty="0"/>
                  <a:t>pesos</a:t>
                </a:r>
                <a:r>
                  <a:rPr lang="pt-BR" dirty="0"/>
                  <a:t> das </a:t>
                </a:r>
                <a14:m>
                  <m:oMath xmlns:m="http://schemas.openxmlformats.org/officeDocument/2006/math">
                    <m:r>
                      <a:rPr lang="pt-BR" i="1">
                        <a:latin typeface="Cambria Math" panose="02040503050406030204" pitchFamily="18" charset="0"/>
                      </a:rPr>
                      <m:t>𝑄</m:t>
                    </m:r>
                  </m:oMath>
                </a14:m>
                <a:r>
                  <a:rPr lang="pt-BR" b="1" i="1" dirty="0"/>
                  <a:t> </a:t>
                </a:r>
                <a:r>
                  <a:rPr lang="pt-BR" b="1" dirty="0"/>
                  <a:t>funções hipótese</a:t>
                </a:r>
                <a:r>
                  <a:rPr lang="pt-BR" dirty="0"/>
                  <a:t>, </a:t>
                </a:r>
                <a14:m>
                  <m:oMath xmlns:m="http://schemas.openxmlformats.org/officeDocument/2006/math">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é rótulo do </a:t>
                </a:r>
                <a14:m>
                  <m:oMath xmlns:m="http://schemas.openxmlformats.org/officeDocument/2006/math">
                    <m:r>
                      <a:rPr lang="pt-BR" i="1">
                        <a:latin typeface="Cambria Math" panose="02040503050406030204" pitchFamily="18" charset="0"/>
                      </a:rPr>
                      <m:t>𝑛</m:t>
                    </m:r>
                  </m:oMath>
                </a14:m>
                <a:r>
                  <a:rPr lang="pt-BR" dirty="0"/>
                  <a:t>-ésimo exemplo e </a:t>
                </a:r>
                <a14:m>
                  <m:oMath xmlns:m="http://schemas.openxmlformats.org/officeDocument/2006/math">
                    <m:sSubSup>
                      <m:sSubSupPr>
                        <m:ctrlPr>
                          <a:rPr lang="pt-BR" b="1" i="1">
                            <a:latin typeface="Cambria Math" panose="02040503050406030204" pitchFamily="18" charset="0"/>
                          </a:rPr>
                        </m:ctrlPr>
                      </m:sSubSup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𝑞</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e>
                    </m:d>
                  </m:oMath>
                </a14:m>
                <a:r>
                  <a:rPr lang="pt-BR" dirty="0"/>
                  <a:t> é a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saída do modelo para o </a:t>
                </a:r>
                <a14:m>
                  <m:oMath xmlns:m="http://schemas.openxmlformats.org/officeDocument/2006/math">
                    <m:r>
                      <a:rPr lang="pt-BR" i="1">
                        <a:latin typeface="Cambria Math" panose="02040503050406030204" pitchFamily="18" charset="0"/>
                      </a:rPr>
                      <m:t>𝑛</m:t>
                    </m:r>
                  </m:oMath>
                </a14:m>
                <a:r>
                  <a:rPr lang="pt-BR" dirty="0"/>
                  <a:t>-ésimo exemplo.</a:t>
                </a:r>
              </a:p>
              <a:p>
                <a:pPr lvl="1">
                  <a:buFont typeface="Wingdings" panose="05000000000000000000" pitchFamily="2" charset="2"/>
                  <a:buChar char="§"/>
                </a:pPr>
                <a:r>
                  <a:rPr lang="pt-BR" b="1" dirty="0"/>
                  <a:t>OBS</a:t>
                </a:r>
                <a:r>
                  <a:rPr lang="pt-BR" dirty="0"/>
                  <a:t>.: O erro tende a 0 quando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e>
                    </m:d>
                  </m:oMath>
                </a14:m>
                <a:r>
                  <a:rPr lang="pt-BR" dirty="0"/>
                  <a:t> tende a 1, caso contrário, ele aumenta.</a:t>
                </a:r>
              </a:p>
            </p:txBody>
          </p:sp>
        </mc:Choice>
        <mc:Fallback xmlns="">
          <p:sp>
            <p:nvSpPr>
              <p:cNvPr id="3" name="Content Placeholder 2">
                <a:extLst>
                  <a:ext uri="{FF2B5EF4-FFF2-40B4-BE49-F238E27FC236}">
                    <a16:creationId xmlns="" xmlns:a16="http://schemas.microsoft.com/office/drawing/2014/main" xmlns:a14="http://schemas.microsoft.com/office/drawing/2010/main" id="{34B1DEA3-BAAD-D90C-CD9D-99A5A24F4544}"/>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2"/>
                <a:stretch>
                  <a:fillRect l="-1074" t="-1937" r="-913" b="-2300"/>
                </a:stretch>
              </a:blipFill>
            </p:spPr>
            <p:txBody>
              <a:bodyPr/>
              <a:lstStyle/>
              <a:p>
                <a:r>
                  <a:rPr lang="pt-BR">
                    <a:noFill/>
                  </a:rPr>
                  <a:t> </a:t>
                </a:r>
              </a:p>
            </p:txBody>
          </p:sp>
        </mc:Fallback>
      </mc:AlternateContent>
    </p:spTree>
    <p:extLst>
      <p:ext uri="{BB962C8B-B14F-4D97-AF65-F5344CB8AC3E}">
        <p14:creationId xmlns:p14="http://schemas.microsoft.com/office/powerpoint/2010/main" val="2973274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7538D5-DC01-EC48-38D2-99D754F1BB92}"/>
              </a:ext>
            </a:extLst>
          </p:cNvPr>
          <p:cNvSpPr>
            <a:spLocks noGrp="1"/>
          </p:cNvSpPr>
          <p:nvPr>
            <p:ph type="title"/>
          </p:nvPr>
        </p:nvSpPr>
        <p:spPr/>
        <p:txBody>
          <a:bodyPr/>
          <a:lstStyle/>
          <a:p>
            <a:r>
              <a:rPr lang="pt-BR" dirty="0"/>
              <a:t>Função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17D7928D-3A32-7330-5FDC-756155EF2F3D}"/>
                  </a:ext>
                </a:extLst>
              </p:cNvPr>
              <p:cNvSpPr>
                <a:spLocks noGrp="1"/>
              </p:cNvSpPr>
              <p:nvPr>
                <p:ph idx="1"/>
              </p:nvPr>
            </p:nvSpPr>
            <p:spPr>
              <a:xfrm>
                <a:off x="838199" y="1840373"/>
                <a:ext cx="11152239"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𝑞</m:t>
                              </m:r>
                              <m:r>
                                <a:rPr lang="pt-BR" i="1">
                                  <a:latin typeface="Cambria Math" panose="02040503050406030204" pitchFamily="18" charset="0"/>
                                </a:rPr>
                                <m:t>=0</m:t>
                              </m:r>
                            </m:sub>
                            <m:sup>
                              <m:r>
                                <a:rPr lang="pt-BR" i="1">
                                  <a:latin typeface="Cambria Math" panose="02040503050406030204" pitchFamily="18" charset="0"/>
                                </a:rPr>
                                <m:t>𝑄</m:t>
                              </m:r>
                              <m:r>
                                <a:rPr lang="pt-BR" i="1">
                                  <a:latin typeface="Cambria Math" panose="02040503050406030204" pitchFamily="18" charset="0"/>
                                </a:rPr>
                                <m:t>−1</m:t>
                              </m:r>
                            </m:sup>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rPr>
                                    <m:t>𝑞</m:t>
                                  </m:r>
                                </m:e>
                              </m:d>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a:latin typeface="Cambria Math" panose="02040503050406030204" pitchFamily="18" charset="0"/>
                                        </a:rPr>
                                      </m:ctrlPr>
                                    </m:d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𝑞</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func>
                            </m:e>
                          </m:nary>
                        </m:e>
                      </m:nary>
                    </m:oMath>
                  </m:oMathPara>
                </a14:m>
                <a:endParaRPr lang="pt-BR" dirty="0"/>
              </a:p>
              <a:p>
                <a:r>
                  <a:rPr lang="pt-BR" dirty="0"/>
                  <a:t>A matriz </a:t>
                </a:r>
                <a14:m>
                  <m:oMath xmlns:m="http://schemas.openxmlformats.org/officeDocument/2006/math">
                    <m:r>
                      <a:rPr lang="pt-BR" b="1" i="1">
                        <a:latin typeface="Cambria Math" panose="02040503050406030204" pitchFamily="18" charset="0"/>
                      </a:rPr>
                      <m:t>𝑨</m:t>
                    </m:r>
                  </m:oMath>
                </a14:m>
                <a:r>
                  <a:rPr lang="pt-BR" dirty="0"/>
                  <a:t> contém em suas colunas os vetores de pesos,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dirty="0"/>
                  <a:t>, de cada uma das </a:t>
                </a:r>
                <a14:m>
                  <m:oMath xmlns:m="http://schemas.openxmlformats.org/officeDocument/2006/math">
                    <m:r>
                      <a:rPr lang="pt-BR" i="1">
                        <a:latin typeface="Cambria Math" panose="02040503050406030204" pitchFamily="18" charset="0"/>
                      </a:rPr>
                      <m:t>𝑄</m:t>
                    </m:r>
                  </m:oMath>
                </a14:m>
                <a:r>
                  <a:rPr lang="pt-BR" dirty="0"/>
                  <a:t> </a:t>
                </a:r>
                <a:r>
                  <a:rPr lang="pt-BR" b="1" dirty="0"/>
                  <a:t>funções discriminantes</a:t>
                </a:r>
                <a:r>
                  <a:rPr lang="pt-BR" dirty="0"/>
                  <a:t>.</a:t>
                </a:r>
              </a:p>
              <a:p>
                <a:r>
                  <a:rPr lang="pt-BR" dirty="0"/>
                  <a:t>Essa função mede a </a:t>
                </a:r>
                <a:r>
                  <a:rPr lang="pt-BR" b="1" dirty="0">
                    <a:solidFill>
                      <a:schemeClr val="accent2"/>
                    </a:solidFill>
                  </a:rPr>
                  <a:t>diferença </a:t>
                </a:r>
                <a:r>
                  <a:rPr lang="pt-BR" b="1" dirty="0">
                    <a:solidFill>
                      <a:srgbClr val="7030A0"/>
                    </a:solidFill>
                  </a:rPr>
                  <a:t>entre as distribuições de probabilidade da saída do modelo e a dos rótulos </a:t>
                </a:r>
                <a:r>
                  <a:rPr lang="pt-BR" dirty="0"/>
                  <a:t>das classes.</a:t>
                </a:r>
              </a:p>
            </p:txBody>
          </p:sp>
        </mc:Choice>
        <mc:Fallback xmlns="">
          <p:sp>
            <p:nvSpPr>
              <p:cNvPr id="3" name="Content Placeholder 2">
                <a:extLst>
                  <a:ext uri="{FF2B5EF4-FFF2-40B4-BE49-F238E27FC236}">
                    <a16:creationId xmlns="" xmlns:a16="http://schemas.microsoft.com/office/drawing/2014/main" xmlns:a14="http://schemas.microsoft.com/office/drawing/2010/main" id="{17D7928D-3A32-7330-5FDC-756155EF2F3D}"/>
                  </a:ext>
                </a:extLst>
              </p:cNvPr>
              <p:cNvSpPr>
                <a:spLocks noGrp="1" noRot="1" noChangeAspect="1" noMove="1" noResize="1" noEditPoints="1" noAdjustHandles="1" noChangeArrowheads="1" noChangeShapeType="1" noTextEdit="1"/>
              </p:cNvSpPr>
              <p:nvPr>
                <p:ph idx="1"/>
              </p:nvPr>
            </p:nvSpPr>
            <p:spPr>
              <a:xfrm>
                <a:off x="838199" y="1840373"/>
                <a:ext cx="11152239" cy="4351338"/>
              </a:xfrm>
              <a:blipFill rotWithShape="0">
                <a:blip r:embed="rId2"/>
                <a:stretch>
                  <a:fillRect l="-929" r="-874"/>
                </a:stretch>
              </a:blipFill>
            </p:spPr>
            <p:txBody>
              <a:bodyPr/>
              <a:lstStyle/>
              <a:p>
                <a:r>
                  <a:rPr lang="pt-BR">
                    <a:noFill/>
                  </a:rPr>
                  <a:t> </a:t>
                </a:r>
              </a:p>
            </p:txBody>
          </p:sp>
        </mc:Fallback>
      </mc:AlternateContent>
    </p:spTree>
    <p:extLst>
      <p:ext uri="{BB962C8B-B14F-4D97-AF65-F5344CB8AC3E}">
        <p14:creationId xmlns:p14="http://schemas.microsoft.com/office/powerpoint/2010/main" val="1740913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FE7CD05-66F2-8967-6154-CCED38E0F987}"/>
              </a:ext>
            </a:extLst>
          </p:cNvPr>
          <p:cNvSpPr>
            <a:spLocks noGrp="1"/>
          </p:cNvSpPr>
          <p:nvPr>
            <p:ph type="title"/>
          </p:nvPr>
        </p:nvSpPr>
        <p:spPr/>
        <p:txBody>
          <a:bodyPr/>
          <a:lstStyle/>
          <a:p>
            <a:r>
              <a:rPr lang="pt-BR" dirty="0"/>
              <a:t>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21A86630-5D79-AD4B-79FC-6C8373E8DB39}"/>
                  </a:ext>
                </a:extLst>
              </p:cNvPr>
              <p:cNvSpPr>
                <a:spLocks noGrp="1"/>
              </p:cNvSpPr>
              <p:nvPr>
                <p:ph idx="1"/>
              </p:nvPr>
            </p:nvSpPr>
            <p:spPr>
              <a:xfrm>
                <a:off x="838200" y="1825624"/>
                <a:ext cx="11240730" cy="5032375"/>
              </a:xfrm>
            </p:spPr>
            <p:txBody>
              <a:bodyPr>
                <a:normAutofit/>
              </a:bodyPr>
              <a:lstStyle/>
              <a:p>
                <a:r>
                  <a:rPr lang="pt-BR" dirty="0"/>
                  <a:t>Usando a codificação </a:t>
                </a:r>
                <a:r>
                  <a:rPr lang="pt-BR" b="1" i="1" dirty="0"/>
                  <a:t>one-hot</a:t>
                </a:r>
                <a:r>
                  <a:rPr lang="pt-BR" dirty="0"/>
                  <a:t>, a equação pode ser re-escrita como</a:t>
                </a:r>
              </a:p>
              <a:p>
                <a:pPr marL="0" indent="0" algn="ctr">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smtClean="0">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r>
                                <a:rPr lang="pt-BR" b="1" i="1">
                                  <a:latin typeface="Cambria Math" panose="02040503050406030204" pitchFamily="18" charset="0"/>
                                </a:rPr>
                                <m:t>𝒚</m:t>
                              </m:r>
                              <m:d>
                                <m:dPr>
                                  <m:ctrlPr>
                                    <a:rPr lang="pt-BR" b="1" i="1">
                                      <a:latin typeface="Cambria Math" panose="02040503050406030204" pitchFamily="18" charset="0"/>
                                    </a:rPr>
                                  </m:ctrlPr>
                                </m:dPr>
                                <m:e>
                                  <m:r>
                                    <a:rPr lang="pt-BR" b="0" i="1" smtClean="0">
                                      <a:latin typeface="Cambria Math" panose="02040503050406030204" pitchFamily="18" charset="0"/>
                                    </a:rPr>
                                    <m:t>𝑛</m:t>
                                  </m:r>
                                </m:e>
                              </m:d>
                            </m:e>
                            <m:sup>
                              <m:r>
                                <a:rPr lang="pt-BR" i="1">
                                  <a:latin typeface="Cambria Math" panose="02040503050406030204" pitchFamily="18" charset="0"/>
                                </a:rPr>
                                <m:t>𝑇</m:t>
                              </m:r>
                            </m:sup>
                          </m:sSup>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smtClean="0">
                                      <a:latin typeface="Cambria Math" panose="02040503050406030204" pitchFamily="18" charset="0"/>
                                    </a:rPr>
                                  </m:ctrlPr>
                                </m:dPr>
                                <m:e>
                                  <m:acc>
                                    <m:accPr>
                                      <m:chr m:val="̂"/>
                                      <m:ctrlPr>
                                        <a:rPr lang="pt-BR" i="1" smtClean="0">
                                          <a:latin typeface="Cambria Math" panose="02040503050406030204" pitchFamily="18" charset="0"/>
                                        </a:rPr>
                                      </m:ctrlPr>
                                    </m:accPr>
                                    <m:e>
                                      <m:r>
                                        <a:rPr lang="pt-BR" b="1" i="1" smtClean="0">
                                          <a:latin typeface="Cambria Math" panose="02040503050406030204" pitchFamily="18" charset="0"/>
                                        </a:rPr>
                                        <m:t>𝒚</m:t>
                                      </m:r>
                                    </m:e>
                                  </m:acc>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d>
                            </m:e>
                          </m:func>
                        </m:e>
                      </m:nary>
                      <m:r>
                        <a:rPr lang="pt-BR" b="0" i="1" smtClean="0">
                          <a:latin typeface="Cambria Math" panose="02040503050406030204" pitchFamily="18" charset="0"/>
                        </a:rPr>
                        <m:t>,</m:t>
                      </m:r>
                    </m:oMath>
                  </m:oMathPara>
                </a14:m>
                <a:endParaRPr lang="pt-BR" b="0" i="0" dirty="0">
                  <a:effectLst/>
                </a:endParaRPr>
              </a:p>
              <a:p>
                <a:pPr marL="0" indent="0">
                  <a:buNone/>
                </a:pPr>
                <a:r>
                  <a:rPr lang="pt-BR" dirty="0"/>
                  <a:t>onde </a:t>
                </a:r>
                <a14:m>
                  <m:oMath xmlns:m="http://schemas.openxmlformats.org/officeDocument/2006/math">
                    <m:r>
                      <a:rPr lang="pt-BR" b="1" i="1">
                        <a:latin typeface="Cambria Math" panose="02040503050406030204" pitchFamily="18" charset="0"/>
                      </a:rPr>
                      <m:t>𝒚</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sSup>
                      <m:sSupPr>
                        <m:ctrlPr>
                          <a:rPr lang="pt-BR" i="1" smtClean="0">
                            <a:latin typeface="Cambria Math" panose="02040503050406030204" pitchFamily="18" charset="0"/>
                          </a:rPr>
                        </m:ctrlPr>
                      </m:sSupPr>
                      <m:e>
                        <m:d>
                          <m:dPr>
                            <m:begChr m:val="["/>
                            <m:endChr m:val="]"/>
                            <m:ctrlPr>
                              <a:rPr lang="pt-BR" i="1" smtClean="0">
                                <a:latin typeface="Cambria Math" panose="02040503050406030204" pitchFamily="18" charset="0"/>
                              </a:rPr>
                            </m:ctrlPr>
                          </m:dPr>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b="0" i="1" smtClean="0">
                                    <a:latin typeface="Cambria Math" panose="02040503050406030204" pitchFamily="18" charset="0"/>
                                  </a:rPr>
                                  <m:t>0</m:t>
                                </m:r>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m:t>
                            </m:r>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b="0" i="1" smtClean="0">
                                    <a:latin typeface="Cambria Math" panose="02040503050406030204" pitchFamily="18" charset="0"/>
                                  </a:rPr>
                                  <m:t>𝑄</m:t>
                                </m:r>
                                <m:r>
                                  <a:rPr lang="pt-BR" b="0" i="1" smtClean="0">
                                    <a:latin typeface="Cambria Math" panose="02040503050406030204" pitchFamily="18" charset="0"/>
                                  </a:rPr>
                                  <m:t>−1</m:t>
                                </m:r>
                              </m:e>
                            </m:d>
                          </m:e>
                        </m:d>
                      </m:e>
                      <m:sup>
                        <m:r>
                          <a:rPr lang="pt-BR" b="0" i="1" smtClean="0">
                            <a:latin typeface="Cambria Math" panose="02040503050406030204" pitchFamily="18" charset="0"/>
                          </a:rPr>
                          <m:t>𝑇</m:t>
                        </m:r>
                      </m:sup>
                    </m:sSup>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𝑄</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1</m:t>
                        </m:r>
                      </m:sup>
                    </m:sSup>
                  </m:oMath>
                </a14:m>
                <a:r>
                  <a:rPr lang="pt-BR" dirty="0"/>
                  <a:t> é o vetor do </a:t>
                </a:r>
                <a14:m>
                  <m:oMath xmlns:m="http://schemas.openxmlformats.org/officeDocument/2006/math">
                    <m:r>
                      <a:rPr lang="pt-BR" i="1">
                        <a:latin typeface="Cambria Math" panose="02040503050406030204" pitchFamily="18" charset="0"/>
                      </a:rPr>
                      <m:t>𝑛</m:t>
                    </m:r>
                  </m:oMath>
                </a14:m>
                <a:r>
                  <a:rPr lang="pt-BR" dirty="0"/>
                  <a:t>-</a:t>
                </a:r>
                <a:r>
                  <a:rPr lang="pt-BR" dirty="0" err="1"/>
                  <a:t>ésimo</a:t>
                </a:r>
                <a:r>
                  <a:rPr lang="pt-BR" dirty="0"/>
                  <a:t> rótulo usando a codificação </a:t>
                </a:r>
                <a:r>
                  <a:rPr lang="pt-BR" b="1" i="1" dirty="0"/>
                  <a:t>one-hot</a:t>
                </a:r>
                <a:r>
                  <a:rPr lang="pt-BR" dirty="0"/>
                  <a:t> e </a:t>
                </a:r>
                <a14:m>
                  <m:oMath xmlns:m="http://schemas.openxmlformats.org/officeDocument/2006/math">
                    <m:acc>
                      <m:accPr>
                        <m:chr m:val="̂"/>
                        <m:ctrlPr>
                          <a:rPr lang="pt-BR" i="1">
                            <a:latin typeface="Cambria Math" panose="02040503050406030204" pitchFamily="18" charset="0"/>
                          </a:rPr>
                        </m:ctrlPr>
                      </m:accPr>
                      <m:e>
                        <m:r>
                          <a:rPr lang="pt-BR" b="1" i="1">
                            <a:latin typeface="Cambria Math" panose="02040503050406030204" pitchFamily="18" charset="0"/>
                          </a:rPr>
                          <m:t>𝒚</m:t>
                        </m:r>
                      </m:e>
                    </m:acc>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b="0" i="1" smtClean="0">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1" i="1">
                                <a:latin typeface="Cambria Math" panose="02040503050406030204" pitchFamily="18" charset="0"/>
                              </a:rPr>
                              <m:t>,⋯</m:t>
                            </m:r>
                            <m:r>
                              <a:rPr lang="pt-BR" i="1">
                                <a:latin typeface="Cambria Math" panose="02040503050406030204" pitchFamily="18" charset="0"/>
                              </a:rPr>
                              <m:t>,</m:t>
                            </m:r>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𝑄</m:t>
                                </m:r>
                                <m:r>
                                  <a:rPr lang="pt-BR" b="0" i="1" smtClean="0">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b="0" i="1" smtClean="0">
                            <a:latin typeface="Cambria Math" panose="02040503050406030204" pitchFamily="18" charset="0"/>
                          </a:rPr>
                          <m:t>𝑇</m:t>
                        </m:r>
                      </m:sup>
                    </m:sSup>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𝑄</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1</m:t>
                        </m:r>
                      </m:sup>
                    </m:sSup>
                    <m:r>
                      <a:rPr lang="pt-BR" i="1" dirty="0">
                        <a:latin typeface="Cambria Math" panose="02040503050406030204" pitchFamily="18" charset="0"/>
                        <a:ea typeface="Cambria Math" panose="02040503050406030204" pitchFamily="18" charset="0"/>
                      </a:rPr>
                      <m:t> </m:t>
                    </m:r>
                  </m:oMath>
                </a14:m>
                <a:r>
                  <a:rPr lang="pt-BR" dirty="0"/>
                  <a:t>é o vetor com as </a:t>
                </a:r>
                <a14:m>
                  <m:oMath xmlns:m="http://schemas.openxmlformats.org/officeDocument/2006/math">
                    <m:r>
                      <a:rPr lang="pt-BR" i="1" dirty="0">
                        <a:latin typeface="Cambria Math" panose="02040503050406030204" pitchFamily="18" charset="0"/>
                        <a:ea typeface="Cambria Math" panose="02040503050406030204" pitchFamily="18" charset="0"/>
                      </a:rPr>
                      <m:t>𝑄</m:t>
                    </m:r>
                  </m:oMath>
                </a14:m>
                <a:r>
                  <a:rPr lang="pt-BR" dirty="0"/>
                  <a:t> saídas do modelo para o </a:t>
                </a:r>
                <a14:m>
                  <m:oMath xmlns:m="http://schemas.openxmlformats.org/officeDocument/2006/math">
                    <m:r>
                      <a:rPr lang="pt-BR" i="1">
                        <a:latin typeface="Cambria Math" panose="02040503050406030204" pitchFamily="18" charset="0"/>
                      </a:rPr>
                      <m:t>𝑛</m:t>
                    </m:r>
                  </m:oMath>
                </a14:m>
                <a:r>
                  <a:rPr lang="pt-BR" dirty="0"/>
                  <a:t>-ésimo exemplo de entrada.</a:t>
                </a:r>
                <a:endParaRPr lang="pt-BR" b="1" i="1" dirty="0"/>
              </a:p>
              <a:p>
                <a:r>
                  <a:rPr lang="pt-BR" b="0" dirty="0">
                    <a:effectLst/>
                  </a:rPr>
                  <a:t>Durante o </a:t>
                </a:r>
                <a:r>
                  <a:rPr lang="pt-BR" b="1" dirty="0">
                    <a:solidFill>
                      <a:srgbClr val="7030A0"/>
                    </a:solidFill>
                    <a:effectLst/>
                  </a:rPr>
                  <a:t>treinamento</a:t>
                </a:r>
                <a:r>
                  <a:rPr lang="pt-BR" b="0" dirty="0">
                    <a:effectLst/>
                  </a:rPr>
                  <a:t> do modelo, o </a:t>
                </a:r>
                <a:r>
                  <a:rPr lang="pt-BR" b="1" dirty="0">
                    <a:solidFill>
                      <a:srgbClr val="7030A0"/>
                    </a:solidFill>
                    <a:effectLst/>
                  </a:rPr>
                  <a:t>objetivo é minimizar a entropia cruzada categórica</a:t>
                </a:r>
                <a:r>
                  <a:rPr lang="pt-BR" b="0" dirty="0">
                    <a:effectLst/>
                  </a:rPr>
                  <a:t>, ou seja, fazer com que as </a:t>
                </a:r>
                <a:r>
                  <a:rPr lang="pt-BR" b="1" dirty="0">
                    <a:solidFill>
                      <a:srgbClr val="00B050"/>
                    </a:solidFill>
                    <a:effectLst/>
                  </a:rPr>
                  <a:t>probabilidades previstas pelo modelo se aproximem ao máximo dos rótulos dos exemplos</a:t>
                </a:r>
                <a:r>
                  <a:rPr lang="pt-BR" b="0" dirty="0">
                    <a:effectLst/>
                  </a:rPr>
                  <a:t>. </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21A86630-5D79-AD4B-79FC-6C8373E8DB39}"/>
                  </a:ext>
                </a:extLst>
              </p:cNvPr>
              <p:cNvSpPr>
                <a:spLocks noGrp="1" noRot="1" noChangeAspect="1" noMove="1" noResize="1" noEditPoints="1" noAdjustHandles="1" noChangeArrowheads="1" noChangeShapeType="1" noTextEdit="1"/>
              </p:cNvSpPr>
              <p:nvPr>
                <p:ph idx="1"/>
              </p:nvPr>
            </p:nvSpPr>
            <p:spPr>
              <a:xfrm>
                <a:off x="838200" y="1825624"/>
                <a:ext cx="11240730" cy="5032375"/>
              </a:xfrm>
              <a:blipFill rotWithShape="0">
                <a:blip r:embed="rId2"/>
                <a:stretch>
                  <a:fillRect l="-1139" t="-1937" r="-1248"/>
                </a:stretch>
              </a:blipFill>
            </p:spPr>
            <p:txBody>
              <a:bodyPr/>
              <a:lstStyle/>
              <a:p>
                <a:r>
                  <a:rPr lang="pt-BR">
                    <a:noFill/>
                  </a:rPr>
                  <a:t> </a:t>
                </a:r>
              </a:p>
            </p:txBody>
          </p:sp>
        </mc:Fallback>
      </mc:AlternateContent>
    </p:spTree>
    <p:extLst>
      <p:ext uri="{BB962C8B-B14F-4D97-AF65-F5344CB8AC3E}">
        <p14:creationId xmlns:p14="http://schemas.microsoft.com/office/powerpoint/2010/main" val="2438080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4598F11-6F65-0753-89FE-F5ABED77B46A}"/>
              </a:ext>
            </a:extLst>
          </p:cNvPr>
          <p:cNvSpPr>
            <a:spLocks noGrp="1"/>
          </p:cNvSpPr>
          <p:nvPr>
            <p:ph type="title"/>
          </p:nvPr>
        </p:nvSpPr>
        <p:spPr/>
        <p:txBody>
          <a:bodyPr/>
          <a:lstStyle/>
          <a:p>
            <a:r>
              <a:rPr lang="pt-BR" dirty="0"/>
              <a:t>Função de erro</a:t>
            </a:r>
            <a:endParaRPr lang="pt-BR" i="1"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FEF4E6DC-E916-D97A-4D18-D469285C4F2C}"/>
                  </a:ext>
                </a:extLst>
              </p:cNvPr>
              <p:cNvSpPr>
                <a:spLocks noGrp="1"/>
              </p:cNvSpPr>
              <p:nvPr>
                <p:ph idx="1"/>
              </p:nvPr>
            </p:nvSpPr>
            <p:spPr>
              <a:xfrm>
                <a:off x="838200" y="1825624"/>
                <a:ext cx="11201400" cy="503237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r>
                                <a:rPr lang="pt-BR" b="1" i="1">
                                  <a:latin typeface="Cambria Math" panose="02040503050406030204" pitchFamily="18" charset="0"/>
                                </a:rPr>
                                <m:t>𝒚</m:t>
                              </m:r>
                              <m:d>
                                <m:dPr>
                                  <m:ctrlPr>
                                    <a:rPr lang="pt-BR" b="1" i="1">
                                      <a:latin typeface="Cambria Math" panose="02040503050406030204" pitchFamily="18" charset="0"/>
                                    </a:rPr>
                                  </m:ctrlPr>
                                </m:dPr>
                                <m:e>
                                  <m:r>
                                    <a:rPr lang="pt-BR" b="0" i="1" smtClean="0">
                                      <a:latin typeface="Cambria Math" panose="02040503050406030204" pitchFamily="18" charset="0"/>
                                    </a:rPr>
                                    <m:t>𝑛</m:t>
                                  </m:r>
                                </m:e>
                              </m:d>
                            </m:e>
                            <m:sup>
                              <m:r>
                                <a:rPr lang="pt-BR" i="1">
                                  <a:latin typeface="Cambria Math" panose="02040503050406030204" pitchFamily="18" charset="0"/>
                                </a:rPr>
                                <m:t>𝑇</m:t>
                              </m:r>
                            </m:sup>
                          </m:sSup>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a:latin typeface="Cambria Math" panose="02040503050406030204" pitchFamily="18" charset="0"/>
                                    </a:rPr>
                                  </m:ctrlPr>
                                </m:dPr>
                                <m:e>
                                  <m:acc>
                                    <m:accPr>
                                      <m:chr m:val="̂"/>
                                      <m:ctrlPr>
                                        <a:rPr lang="pt-BR" i="1">
                                          <a:latin typeface="Cambria Math" panose="02040503050406030204" pitchFamily="18" charset="0"/>
                                        </a:rPr>
                                      </m:ctrlPr>
                                    </m:accPr>
                                    <m:e>
                                      <m:r>
                                        <a:rPr lang="pt-BR" b="1" i="1">
                                          <a:latin typeface="Cambria Math" panose="02040503050406030204" pitchFamily="18" charset="0"/>
                                        </a:rPr>
                                        <m:t>𝒚</m:t>
                                      </m:r>
                                    </m:e>
                                  </m:acc>
                                  <m:r>
                                    <a:rPr lang="pt-BR" i="1">
                                      <a:latin typeface="Cambria Math" panose="02040503050406030204" pitchFamily="18" charset="0"/>
                                    </a:rPr>
                                    <m:t> </m:t>
                                  </m:r>
                                  <m:d>
                                    <m:dPr>
                                      <m:ctrlPr>
                                        <a:rPr lang="pt-BR" i="1">
                                          <a:latin typeface="Cambria Math" panose="02040503050406030204" pitchFamily="18" charset="0"/>
                                        </a:rPr>
                                      </m:ctrlPr>
                                    </m:dPr>
                                    <m:e>
                                      <m:r>
                                        <a:rPr lang="pt-BR" i="1">
                                          <a:latin typeface="Cambria Math" panose="02040503050406030204" pitchFamily="18" charset="0"/>
                                        </a:rPr>
                                        <m:t>𝑛</m:t>
                                      </m:r>
                                    </m:e>
                                  </m:d>
                                </m:e>
                              </m:d>
                            </m:e>
                          </m:func>
                        </m:e>
                      </m:nary>
                      <m:r>
                        <a:rPr lang="pt-BR" b="1" i="1" smtClean="0">
                          <a:latin typeface="Cambria Math" panose="02040503050406030204" pitchFamily="18" charset="0"/>
                        </a:rPr>
                        <m:t>.</m:t>
                      </m:r>
                    </m:oMath>
                  </m:oMathPara>
                </a14:m>
                <a:endParaRPr lang="pt-BR" dirty="0"/>
              </a:p>
              <a:p>
                <a:r>
                  <a:rPr lang="pt-BR" dirty="0"/>
                  <a:t>Notem que quando existem apenas duas classes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=2</m:t>
                    </m:r>
                  </m:oMath>
                </a14:m>
                <a:r>
                  <a:rPr lang="pt-BR" dirty="0"/>
                  <a:t>), a </a:t>
                </a:r>
                <a:r>
                  <a:rPr lang="pt-BR" b="1" dirty="0"/>
                  <a:t>função da entropia cruzada categórica </a:t>
                </a:r>
                <a:r>
                  <a:rPr lang="pt-BR" dirty="0"/>
                  <a:t>é equivalente à </a:t>
                </a:r>
                <a:r>
                  <a:rPr lang="pt-BR" b="1" dirty="0"/>
                  <a:t>função da entropia cruzada </a:t>
                </a:r>
                <a:r>
                  <a:rPr lang="pt-BR" dirty="0"/>
                  <a:t>do </a:t>
                </a:r>
                <a:r>
                  <a:rPr lang="pt-BR" b="1" dirty="0"/>
                  <a:t>regressor logístico</a:t>
                </a:r>
                <a:r>
                  <a:rPr lang="pt-BR" dirty="0"/>
                  <a:t>.</a:t>
                </a:r>
              </a:p>
              <a:p>
                <a:r>
                  <a:rPr lang="pt-BR" dirty="0"/>
                  <a:t>Ou seja, mesmo tendo sido pensado para o caso onde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&gt;</m:t>
                    </m:r>
                    <m:r>
                      <a:rPr lang="pt-BR" i="1">
                        <a:latin typeface="Cambria Math" panose="02040503050406030204" pitchFamily="18" charset="0"/>
                      </a:rPr>
                      <m:t>2</m:t>
                    </m:r>
                  </m:oMath>
                </a14:m>
                <a:r>
                  <a:rPr lang="pt-BR" dirty="0"/>
                  <a:t>, o regressor </a:t>
                </a:r>
                <a:r>
                  <a:rPr lang="pt-BR" i="1" dirty="0"/>
                  <a:t>softmax</a:t>
                </a:r>
                <a:r>
                  <a:rPr lang="pt-BR" dirty="0"/>
                  <a:t> também pode ser usado quando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=2</m:t>
                    </m:r>
                  </m:oMath>
                </a14:m>
                <a:r>
                  <a:rPr lang="pt-BR" dirty="0"/>
                  <a:t>.</a:t>
                </a:r>
              </a:p>
              <a:p>
                <a:r>
                  <a:rPr lang="pt-BR" dirty="0"/>
                  <a:t>Entretanto, existe um problema com essa função de erro.</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FEF4E6DC-E916-D97A-4D18-D469285C4F2C}"/>
                  </a:ext>
                </a:extLst>
              </p:cNvPr>
              <p:cNvSpPr>
                <a:spLocks noGrp="1" noRot="1" noChangeAspect="1" noMove="1" noResize="1" noEditPoints="1" noAdjustHandles="1" noChangeArrowheads="1" noChangeShapeType="1" noTextEdit="1"/>
              </p:cNvSpPr>
              <p:nvPr>
                <p:ph idx="1"/>
              </p:nvPr>
            </p:nvSpPr>
            <p:spPr>
              <a:xfrm>
                <a:off x="838200" y="1825624"/>
                <a:ext cx="11201400" cy="5032375"/>
              </a:xfrm>
              <a:blipFill rotWithShape="0">
                <a:blip r:embed="rId3"/>
                <a:stretch>
                  <a:fillRect l="-980"/>
                </a:stretch>
              </a:blipFill>
            </p:spPr>
            <p:txBody>
              <a:bodyPr/>
              <a:lstStyle/>
              <a:p>
                <a:r>
                  <a:rPr lang="pt-BR">
                    <a:noFill/>
                  </a:rPr>
                  <a:t> </a:t>
                </a:r>
              </a:p>
            </p:txBody>
          </p:sp>
        </mc:Fallback>
      </mc:AlternateContent>
    </p:spTree>
    <p:extLst>
      <p:ext uri="{BB962C8B-B14F-4D97-AF65-F5344CB8AC3E}">
        <p14:creationId xmlns:p14="http://schemas.microsoft.com/office/powerpoint/2010/main" val="2229400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5807923-28D2-8150-E304-526DA460D220}"/>
              </a:ext>
            </a:extLst>
          </p:cNvPr>
          <p:cNvSpPr>
            <a:spLocks noGrp="1"/>
          </p:cNvSpPr>
          <p:nvPr>
            <p:ph type="title"/>
          </p:nvPr>
        </p:nvSpPr>
        <p:spPr/>
        <p:txBody>
          <a:bodyPr/>
          <a:lstStyle/>
          <a:p>
            <a:r>
              <a:rPr lang="pt-BR" dirty="0"/>
              <a:t>Função de erro</a:t>
            </a:r>
            <a:endParaRPr lang="pt-BR" i="1" dirty="0"/>
          </a:p>
        </p:txBody>
      </p:sp>
      <p:sp>
        <p:nvSpPr>
          <p:cNvPr id="3" name="Espaço Reservado para Conteúdo 2">
            <a:extLst>
              <a:ext uri="{FF2B5EF4-FFF2-40B4-BE49-F238E27FC236}">
                <a16:creationId xmlns:a16="http://schemas.microsoft.com/office/drawing/2014/main" xmlns="" id="{FFACD180-C529-EB91-BD2D-B5F491B1E35C}"/>
              </a:ext>
            </a:extLst>
          </p:cNvPr>
          <p:cNvSpPr>
            <a:spLocks noGrp="1"/>
          </p:cNvSpPr>
          <p:nvPr>
            <p:ph idx="1"/>
          </p:nvPr>
        </p:nvSpPr>
        <p:spPr>
          <a:xfrm>
            <a:off x="5867400" y="1825624"/>
            <a:ext cx="6162676" cy="5032375"/>
          </a:xfrm>
        </p:spPr>
        <p:txBody>
          <a:bodyPr/>
          <a:lstStyle/>
          <a:p>
            <a:r>
              <a:rPr lang="pt-BR" dirty="0"/>
              <a:t>Essa </a:t>
            </a:r>
            <a:r>
              <a:rPr lang="pt-BR" b="1" dirty="0"/>
              <a:t>função de erro </a:t>
            </a:r>
            <a:r>
              <a:rPr lang="pt-BR" b="1" dirty="0">
                <a:solidFill>
                  <a:srgbClr val="7030A0"/>
                </a:solidFill>
              </a:rPr>
              <a:t>não é linear </a:t>
            </a:r>
            <a:r>
              <a:rPr lang="pt-BR" dirty="0"/>
              <a:t>e, portanto, </a:t>
            </a:r>
            <a:r>
              <a:rPr lang="pt-BR" b="1" dirty="0">
                <a:solidFill>
                  <a:srgbClr val="7030A0"/>
                </a:solidFill>
              </a:rPr>
              <a:t>não existe uma </a:t>
            </a:r>
            <a:r>
              <a:rPr lang="pt-BR" b="1" dirty="0">
                <a:solidFill>
                  <a:schemeClr val="accent2"/>
                </a:solidFill>
              </a:rPr>
              <a:t>forma fechada</a:t>
            </a:r>
            <a:r>
              <a:rPr lang="pt-BR" b="1" dirty="0"/>
              <a:t> </a:t>
            </a:r>
            <a:r>
              <a:rPr lang="pt-BR" dirty="0"/>
              <a:t>para encontramos os pesos.</a:t>
            </a:r>
          </a:p>
          <a:p>
            <a:r>
              <a:rPr lang="pt-BR" dirty="0"/>
              <a:t>Porém, ela é </a:t>
            </a:r>
            <a:r>
              <a:rPr lang="pt-BR" b="1" dirty="0">
                <a:solidFill>
                  <a:srgbClr val="00B050"/>
                </a:solidFill>
              </a:rPr>
              <a:t>convexa</a:t>
            </a:r>
            <a:r>
              <a:rPr lang="pt-BR" dirty="0"/>
              <a:t> e </a:t>
            </a:r>
            <a:r>
              <a:rPr lang="pt-BR" b="1" dirty="0">
                <a:solidFill>
                  <a:srgbClr val="00B050"/>
                </a:solidFill>
              </a:rPr>
              <a:t>contínua</a:t>
            </a:r>
            <a:r>
              <a:rPr lang="pt-BR" dirty="0"/>
              <a:t>. </a:t>
            </a:r>
          </a:p>
          <a:p>
            <a:r>
              <a:rPr lang="pt-BR" dirty="0"/>
              <a:t>Assim,</a:t>
            </a:r>
            <a:r>
              <a:rPr lang="pt-BR" b="1" dirty="0">
                <a:solidFill>
                  <a:srgbClr val="00B050"/>
                </a:solidFill>
              </a:rPr>
              <a:t> o algoritmo do gradiente descendente (qualquer versão) pode ser usado para encontrar o </a:t>
            </a:r>
            <a:r>
              <a:rPr lang="pt-BR" b="1" dirty="0">
                <a:solidFill>
                  <a:srgbClr val="7030A0"/>
                </a:solidFill>
              </a:rPr>
              <a:t>mínimo global</a:t>
            </a:r>
            <a:r>
              <a:rPr lang="pt-BR" dirty="0"/>
              <a:t>.</a:t>
            </a:r>
          </a:p>
          <a:p>
            <a:endParaRPr lang="pt-BR" dirty="0"/>
          </a:p>
        </p:txBody>
      </p:sp>
      <p:pic>
        <p:nvPicPr>
          <p:cNvPr id="1026" name="Picture 2">
            <a:extLst>
              <a:ext uri="{FF2B5EF4-FFF2-40B4-BE49-F238E27FC236}">
                <a16:creationId xmlns:a16="http://schemas.microsoft.com/office/drawing/2014/main" xmlns="" id="{6FC2BDE8-91E0-6379-9BA3-76511C6153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22" t="24652" r="11445" b="14963"/>
          <a:stretch/>
        </p:blipFill>
        <p:spPr bwMode="auto">
          <a:xfrm>
            <a:off x="568158" y="2428240"/>
            <a:ext cx="4704881" cy="3261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xmlns="" id="{2771BE1F-7B74-36A4-AA69-9171B025A4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62" t="6293" r="29928" b="89004"/>
          <a:stretch/>
        </p:blipFill>
        <p:spPr bwMode="auto">
          <a:xfrm>
            <a:off x="1559157" y="2092960"/>
            <a:ext cx="2722881" cy="25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113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D929962-9BFC-4174-AB35-CC23FA013168}"/>
              </a:ext>
            </a:extLst>
          </p:cNvPr>
          <p:cNvSpPr>
            <a:spLocks noGrp="1"/>
          </p:cNvSpPr>
          <p:nvPr>
            <p:ph type="title"/>
          </p:nvPr>
        </p:nvSpPr>
        <p:spPr/>
        <p:txBody>
          <a:bodyPr/>
          <a:lstStyle/>
          <a:p>
            <a:r>
              <a:rPr lang="pt-BR" dirty="0"/>
              <a:t>Gradiente descendente</a:t>
            </a:r>
            <a:endParaRPr lang="pt-BR" i="1"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1D38055D-E355-F780-9CA0-0337EA0BE4FD}"/>
                  </a:ext>
                </a:extLst>
              </p:cNvPr>
              <p:cNvSpPr>
                <a:spLocks noGrp="1"/>
              </p:cNvSpPr>
              <p:nvPr>
                <p:ph idx="1"/>
              </p:nvPr>
            </p:nvSpPr>
            <p:spPr>
              <a:xfrm>
                <a:off x="838199" y="1825625"/>
                <a:ext cx="11353801" cy="5032375"/>
              </a:xfrm>
            </p:spPr>
            <p:txBody>
              <a:bodyPr>
                <a:normAutofit/>
              </a:bodyPr>
              <a:lstStyle/>
              <a:p>
                <a:r>
                  <a:rPr lang="pt-BR" dirty="0"/>
                  <a:t>A atualização dos </a:t>
                </a:r>
                <a:r>
                  <a:rPr lang="pt-BR" b="1" dirty="0"/>
                  <a:t>pesos</a:t>
                </a:r>
                <a:r>
                  <a:rPr lang="pt-BR" dirty="0"/>
                  <a:t> da </a:t>
                </a:r>
                <a:r>
                  <a:rPr lang="pt-BR" i="1" dirty="0"/>
                  <a:t>q</a:t>
                </a:r>
                <a:r>
                  <a:rPr lang="pt-BR" dirty="0"/>
                  <a:t>-</a:t>
                </a:r>
                <a:r>
                  <a:rPr lang="pt-BR" dirty="0" err="1"/>
                  <a:t>ésima</a:t>
                </a:r>
                <a:r>
                  <a:rPr lang="pt-BR" dirty="0"/>
                  <a:t> função discriminante, </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 é dada por</a:t>
                </a:r>
              </a:p>
              <a:p>
                <a:pPr marL="0" indent="0" algn="ctr">
                  <a:buNone/>
                </a:pPr>
                <a14:m>
                  <m:oMathPara xmlns:m="http://schemas.openxmlformats.org/officeDocument/2006/math">
                    <m:oMathParaPr>
                      <m:jc m:val="centerGroup"/>
                    </m:oMathParaPr>
                    <m:oMath xmlns:m="http://schemas.openxmlformats.org/officeDocument/2006/math">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r>
                        <a:rPr lang="pt-BR" sz="2400" b="1" i="1">
                          <a:latin typeface="Cambria Math" panose="02040503050406030204" pitchFamily="18" charset="0"/>
                        </a:rPr>
                        <m:t>=</m:t>
                      </m:r>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r>
                        <a:rPr lang="pt-BR" sz="2400" b="1" i="1">
                          <a:latin typeface="Cambria Math" panose="02040503050406030204" pitchFamily="18" charset="0"/>
                        </a:rPr>
                        <m:t>−</m:t>
                      </m:r>
                      <m:r>
                        <a:rPr lang="pt-BR" sz="2400" i="1">
                          <a:latin typeface="Cambria Math" panose="02040503050406030204" pitchFamily="18" charset="0"/>
                          <a:ea typeface="Cambria Math" panose="02040503050406030204" pitchFamily="18" charset="0"/>
                        </a:rPr>
                        <m:t>𝛼</m:t>
                      </m:r>
                      <m:f>
                        <m:fPr>
                          <m:ctrlPr>
                            <a:rPr lang="pt-BR" sz="2400" i="1">
                              <a:latin typeface="Cambria Math" panose="02040503050406030204" pitchFamily="18" charset="0"/>
                            </a:rPr>
                          </m:ctrlPr>
                        </m:fPr>
                        <m:num>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i="1">
                                  <a:latin typeface="Cambria Math" panose="02040503050406030204" pitchFamily="18" charset="0"/>
                                </a:rPr>
                                <m:t>𝐽</m:t>
                              </m:r>
                            </m:e>
                            <m:sub>
                              <m:r>
                                <a:rPr lang="pt-BR" sz="2400" i="1">
                                  <a:latin typeface="Cambria Math" panose="02040503050406030204" pitchFamily="18" charset="0"/>
                                </a:rPr>
                                <m:t>𝑒</m:t>
                              </m:r>
                            </m:sub>
                          </m:sSub>
                          <m:d>
                            <m:dPr>
                              <m:ctrlPr>
                                <a:rPr lang="pt-BR" sz="2400" i="1">
                                  <a:latin typeface="Cambria Math" panose="02040503050406030204" pitchFamily="18" charset="0"/>
                                </a:rPr>
                              </m:ctrlPr>
                            </m:dPr>
                            <m:e>
                              <m:r>
                                <a:rPr lang="pt-BR" sz="2400" b="1" i="1">
                                  <a:latin typeface="Cambria Math" panose="02040503050406030204" pitchFamily="18" charset="0"/>
                                </a:rPr>
                                <m:t>𝑨</m:t>
                              </m:r>
                            </m:e>
                          </m:d>
                        </m:num>
                        <m:den>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den>
                      </m:f>
                      <m:r>
                        <a:rPr lang="pt-BR" sz="2400" b="0" i="1" smtClean="0">
                          <a:latin typeface="Cambria Math" panose="02040503050406030204" pitchFamily="18" charset="0"/>
                        </a:rPr>
                        <m:t>, </m:t>
                      </m:r>
                      <m:r>
                        <a:rPr lang="pt-BR" sz="2400" b="0" i="1" smtClean="0">
                          <a:latin typeface="Cambria Math" panose="02040503050406030204" pitchFamily="18" charset="0"/>
                          <a:ea typeface="Cambria Math" panose="02040503050406030204" pitchFamily="18" charset="0"/>
                        </a:rPr>
                        <m:t>∀</m:t>
                      </m:r>
                      <m:r>
                        <a:rPr lang="pt-BR" sz="2400" b="0" i="1" smtClean="0">
                          <a:latin typeface="Cambria Math" panose="02040503050406030204" pitchFamily="18" charset="0"/>
                          <a:ea typeface="Cambria Math" panose="02040503050406030204" pitchFamily="18" charset="0"/>
                        </a:rPr>
                        <m:t>𝑞</m:t>
                      </m:r>
                      <m:r>
                        <a:rPr lang="pt-BR" sz="2400" b="0" i="1" smtClean="0">
                          <a:latin typeface="Cambria Math" panose="02040503050406030204" pitchFamily="18" charset="0"/>
                          <a:ea typeface="Cambria Math" panose="02040503050406030204" pitchFamily="18" charset="0"/>
                        </a:rPr>
                        <m:t>.</m:t>
                      </m:r>
                    </m:oMath>
                  </m:oMathPara>
                </a14:m>
                <a:endParaRPr lang="pt-BR" sz="2400" dirty="0"/>
              </a:p>
              <a:p>
                <a:r>
                  <a:rPr lang="pt-BR" dirty="0"/>
                  <a:t>Considerando o </a:t>
                </a:r>
                <a:r>
                  <a:rPr lang="pt-BR" b="1" dirty="0"/>
                  <a:t>hiperplano</a:t>
                </a:r>
                <a:r>
                  <a:rPr lang="pt-BR" dirty="0"/>
                  <a:t> como </a:t>
                </a:r>
                <a:r>
                  <a:rPr lang="pt-BR" b="1" dirty="0"/>
                  <a:t>função discriminante</a:t>
                </a:r>
                <a:r>
                  <a:rPr lang="pt-BR" dirty="0"/>
                  <a:t>, a derivada da </a:t>
                </a:r>
                <a:r>
                  <a:rPr lang="pt-BR" b="1" dirty="0"/>
                  <a:t>função de erro</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a:latin typeface="Cambria Math" panose="02040503050406030204" pitchFamily="18" charset="0"/>
                          </a:rPr>
                          <m:t>𝑨</m:t>
                        </m:r>
                      </m:e>
                    </m:d>
                  </m:oMath>
                </a14:m>
                <a:r>
                  <a:rPr lang="pt-BR" dirty="0"/>
                  <a:t>, com respeito ao vetor de pesos, </a:t>
                </a:r>
                <a14:m>
                  <m:oMath xmlns:m="http://schemas.openxmlformats.org/officeDocument/2006/math">
                    <m:sSub>
                      <m:sSubPr>
                        <m:ctrlPr>
                          <a:rPr lang="pt-BR"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dirty="0"/>
                  <a:t>, é dada por</a:t>
                </a:r>
              </a:p>
              <a:p>
                <a:pPr marL="0" indent="0" algn="ctr">
                  <a:buNone/>
                </a:pPr>
                <a14:m>
                  <m:oMathPara xmlns:m="http://schemas.openxmlformats.org/officeDocument/2006/math">
                    <m:oMathParaPr>
                      <m:jc m:val="centerGroup"/>
                    </m:oMathParaPr>
                    <m:oMath xmlns:m="http://schemas.openxmlformats.org/officeDocument/2006/math">
                      <m:f>
                        <m:fPr>
                          <m:ctrlPr>
                            <a:rPr lang="pt-BR" sz="2400" i="1">
                              <a:latin typeface="Cambria Math" panose="02040503050406030204" pitchFamily="18" charset="0"/>
                            </a:rPr>
                          </m:ctrlPr>
                        </m:fPr>
                        <m:num>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i="1">
                                  <a:latin typeface="Cambria Math" panose="02040503050406030204" pitchFamily="18" charset="0"/>
                                </a:rPr>
                                <m:t>𝐽</m:t>
                              </m:r>
                            </m:e>
                            <m:sub>
                              <m:r>
                                <a:rPr lang="pt-BR" sz="2400" i="1">
                                  <a:latin typeface="Cambria Math" panose="02040503050406030204" pitchFamily="18" charset="0"/>
                                </a:rPr>
                                <m:t>𝑒</m:t>
                              </m:r>
                            </m:sub>
                          </m:sSub>
                          <m:d>
                            <m:dPr>
                              <m:ctrlPr>
                                <a:rPr lang="pt-BR" sz="2400" i="1">
                                  <a:latin typeface="Cambria Math" panose="02040503050406030204" pitchFamily="18" charset="0"/>
                                </a:rPr>
                              </m:ctrlPr>
                            </m:dPr>
                            <m:e>
                              <m:r>
                                <a:rPr lang="pt-BR" sz="2400" b="1" i="1">
                                  <a:latin typeface="Cambria Math" panose="02040503050406030204" pitchFamily="18" charset="0"/>
                                </a:rPr>
                                <m:t>𝑨</m:t>
                              </m:r>
                            </m:e>
                          </m:d>
                        </m:num>
                        <m:den>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den>
                      </m:f>
                      <m:r>
                        <a:rPr lang="pt-BR" sz="2400" b="1" i="1">
                          <a:latin typeface="Cambria Math" panose="02040503050406030204" pitchFamily="18" charset="0"/>
                        </a:rPr>
                        <m:t>=</m:t>
                      </m:r>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𝑁</m:t>
                          </m:r>
                        </m:den>
                      </m:f>
                      <m:nary>
                        <m:naryPr>
                          <m:chr m:val="∑"/>
                          <m:ctrlPr>
                            <a:rPr lang="pt-BR" sz="2400" i="1">
                              <a:latin typeface="Cambria Math" panose="02040503050406030204" pitchFamily="18" charset="0"/>
                            </a:rPr>
                          </m:ctrlPr>
                        </m:naryPr>
                        <m:sub>
                          <m:r>
                            <a:rPr lang="pt-BR" sz="2400" b="0" i="1" smtClean="0">
                              <a:latin typeface="Cambria Math" panose="02040503050406030204" pitchFamily="18" charset="0"/>
                            </a:rPr>
                            <m:t>𝑛</m:t>
                          </m:r>
                          <m:r>
                            <a:rPr lang="pt-BR" sz="2400" i="1">
                              <a:latin typeface="Cambria Math" panose="02040503050406030204" pitchFamily="18" charset="0"/>
                            </a:rPr>
                            <m:t>=0</m:t>
                          </m:r>
                        </m:sub>
                        <m:sup>
                          <m:r>
                            <a:rPr lang="pt-BR" sz="2400" i="1">
                              <a:latin typeface="Cambria Math" panose="02040503050406030204" pitchFamily="18" charset="0"/>
                            </a:rPr>
                            <m:t>𝑁</m:t>
                          </m:r>
                          <m:r>
                            <a:rPr lang="pt-BR" sz="2400" i="1">
                              <a:latin typeface="Cambria Math" panose="02040503050406030204" pitchFamily="18" charset="0"/>
                            </a:rPr>
                            <m:t>−1</m:t>
                          </m:r>
                        </m:sup>
                        <m:e>
                          <m:d>
                            <m:dPr>
                              <m:begChr m:val="["/>
                              <m:endChr m:val="]"/>
                              <m:ctrlPr>
                                <a:rPr lang="pt-BR" sz="2400" i="1">
                                  <a:latin typeface="Cambria Math" panose="02040503050406030204" pitchFamily="18" charset="0"/>
                                </a:rPr>
                              </m:ctrlPr>
                            </m:dPr>
                            <m:e>
                              <m:r>
                                <a:rPr lang="pt-BR" sz="2400" i="1">
                                  <a:latin typeface="Cambria Math" panose="02040503050406030204" pitchFamily="18" charset="0"/>
                                </a:rPr>
                                <m:t>1</m:t>
                              </m:r>
                              <m:d>
                                <m:dPr>
                                  <m:begChr m:val="{"/>
                                  <m:endChr m:val="}"/>
                                  <m:ctrlPr>
                                    <a:rPr lang="pt-BR" sz="2400" i="1">
                                      <a:latin typeface="Cambria Math" panose="02040503050406030204" pitchFamily="18" charset="0"/>
                                    </a:rPr>
                                  </m:ctrlPr>
                                </m:dPr>
                                <m:e>
                                  <m:r>
                                    <a:rPr lang="pt-BR" sz="2400" i="1">
                                      <a:latin typeface="Cambria Math" panose="02040503050406030204" pitchFamily="18" charset="0"/>
                                    </a:rPr>
                                    <m:t>𝑦</m:t>
                                  </m:r>
                                  <m:d>
                                    <m:dPr>
                                      <m:ctrlPr>
                                        <a:rPr lang="pt-BR" sz="2400" i="1">
                                          <a:latin typeface="Cambria Math" panose="02040503050406030204" pitchFamily="18" charset="0"/>
                                        </a:rPr>
                                      </m:ctrlPr>
                                    </m:dPr>
                                    <m:e>
                                      <m:r>
                                        <a:rPr lang="pt-BR" sz="2400" b="0" i="1" smtClean="0">
                                          <a:latin typeface="Cambria Math" panose="02040503050406030204" pitchFamily="18" charset="0"/>
                                        </a:rPr>
                                        <m:t>𝑛</m:t>
                                      </m:r>
                                    </m:e>
                                  </m:d>
                                  <m:r>
                                    <a:rPr lang="pt-BR" sz="2400" i="1">
                                      <a:latin typeface="Cambria Math" panose="02040503050406030204" pitchFamily="18" charset="0"/>
                                    </a:rPr>
                                    <m:t>==</m:t>
                                  </m:r>
                                  <m:r>
                                    <a:rPr lang="pt-BR" sz="2400" b="0" i="1" smtClean="0">
                                      <a:latin typeface="Cambria Math" panose="02040503050406030204" pitchFamily="18" charset="0"/>
                                    </a:rPr>
                                    <m:t>𝑞</m:t>
                                  </m:r>
                                </m:e>
                              </m:d>
                              <m:r>
                                <a:rPr lang="pt-BR" sz="2400" i="1">
                                  <a:latin typeface="Cambria Math" panose="02040503050406030204" pitchFamily="18" charset="0"/>
                                </a:rPr>
                                <m:t>−</m:t>
                              </m:r>
                              <m:sSubSup>
                                <m:sSubSupPr>
                                  <m:ctrlPr>
                                    <a:rPr lang="pt-BR" sz="2400" b="1" i="1">
                                      <a:latin typeface="Cambria Math" panose="02040503050406030204" pitchFamily="18" charset="0"/>
                                    </a:rPr>
                                  </m:ctrlPr>
                                </m:sSubSupPr>
                                <m:e>
                                  <m:r>
                                    <a:rPr lang="pt-BR" sz="2400" i="1">
                                      <a:latin typeface="Cambria Math" panose="02040503050406030204" pitchFamily="18" charset="0"/>
                                    </a:rPr>
                                    <m:t>h</m:t>
                                  </m:r>
                                </m:e>
                                <m:sub>
                                  <m:r>
                                    <a:rPr lang="pt-BR" sz="2400" b="1" i="1">
                                      <a:latin typeface="Cambria Math" panose="02040503050406030204" pitchFamily="18" charset="0"/>
                                    </a:rPr>
                                    <m:t>𝒂</m:t>
                                  </m:r>
                                </m:sub>
                                <m:sup>
                                  <m:r>
                                    <a:rPr lang="pt-BR" sz="2400" i="1">
                                      <a:latin typeface="Cambria Math" panose="02040503050406030204" pitchFamily="18" charset="0"/>
                                    </a:rPr>
                                    <m:t>𝑞</m:t>
                                  </m:r>
                                </m:sup>
                              </m:sSubSup>
                              <m:d>
                                <m:dPr>
                                  <m:ctrlPr>
                                    <a:rPr lang="pt-BR" sz="2400" i="1">
                                      <a:latin typeface="Cambria Math" panose="02040503050406030204" pitchFamily="18" charset="0"/>
                                    </a:rPr>
                                  </m:ctrlPr>
                                </m:dPr>
                                <m:e>
                                  <m:r>
                                    <a:rPr lang="pt-BR" sz="2400" b="1" i="1">
                                      <a:latin typeface="Cambria Math" panose="02040503050406030204" pitchFamily="18" charset="0"/>
                                    </a:rPr>
                                    <m:t>𝒙</m:t>
                                  </m:r>
                                  <m:d>
                                    <m:dPr>
                                      <m:ctrlPr>
                                        <a:rPr lang="pt-BR" sz="2400" b="1" i="1">
                                          <a:latin typeface="Cambria Math" panose="02040503050406030204" pitchFamily="18" charset="0"/>
                                        </a:rPr>
                                      </m:ctrlPr>
                                    </m:dPr>
                                    <m:e>
                                      <m:r>
                                        <a:rPr lang="pt-BR" sz="2400" b="0" i="1" smtClean="0">
                                          <a:latin typeface="Cambria Math" panose="02040503050406030204" pitchFamily="18" charset="0"/>
                                        </a:rPr>
                                        <m:t>𝑛</m:t>
                                      </m:r>
                                    </m:e>
                                  </m:d>
                                </m:e>
                              </m:d>
                            </m:e>
                          </m:d>
                          <m:r>
                            <a:rPr lang="pt-BR" sz="2400" b="1" i="1">
                              <a:latin typeface="Cambria Math" panose="02040503050406030204" pitchFamily="18" charset="0"/>
                            </a:rPr>
                            <m:t>𝒙</m:t>
                          </m:r>
                          <m:d>
                            <m:dPr>
                              <m:ctrlPr>
                                <a:rPr lang="pt-BR" sz="2400" b="1" i="1">
                                  <a:latin typeface="Cambria Math" panose="02040503050406030204" pitchFamily="18" charset="0"/>
                                </a:rPr>
                              </m:ctrlPr>
                            </m:dPr>
                            <m:e>
                              <m:r>
                                <a:rPr lang="pt-BR" sz="2400" b="0" i="1" smtClean="0">
                                  <a:latin typeface="Cambria Math" panose="02040503050406030204" pitchFamily="18" charset="0"/>
                                </a:rPr>
                                <m:t>𝑛</m:t>
                              </m:r>
                            </m:e>
                          </m:d>
                        </m:e>
                      </m:nary>
                      <m:r>
                        <a:rPr lang="pt-BR" sz="2400" i="1">
                          <a:latin typeface="Cambria Math" panose="02040503050406030204" pitchFamily="18" charset="0"/>
                        </a:rPr>
                        <m:t>=</m:t>
                      </m:r>
                      <m:sSup>
                        <m:sSupPr>
                          <m:ctrlPr>
                            <a:rPr lang="pt-BR" sz="2400" i="1">
                              <a:latin typeface="Cambria Math" panose="02040503050406030204" pitchFamily="18" charset="0"/>
                            </a:rPr>
                          </m:ctrlPr>
                        </m:sSupPr>
                        <m:e>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𝑁</m:t>
                              </m:r>
                            </m:den>
                          </m:f>
                          <m:r>
                            <a:rPr lang="pt-BR" sz="2400" b="1" i="1">
                              <a:latin typeface="Cambria Math" panose="02040503050406030204" pitchFamily="18" charset="0"/>
                            </a:rPr>
                            <m:t>𝑿</m:t>
                          </m:r>
                        </m:e>
                        <m:sup>
                          <m:r>
                            <a:rPr lang="pt-BR" sz="2400" i="1">
                              <a:latin typeface="Cambria Math" panose="02040503050406030204" pitchFamily="18" charset="0"/>
                            </a:rPr>
                            <m:t>𝑇</m:t>
                          </m:r>
                        </m:sup>
                      </m:sSup>
                      <m:d>
                        <m:dPr>
                          <m:ctrlPr>
                            <a:rPr lang="pt-BR" sz="2400" i="1">
                              <a:latin typeface="Cambria Math" panose="02040503050406030204" pitchFamily="18" charset="0"/>
                            </a:rPr>
                          </m:ctrlPr>
                        </m:dPr>
                        <m:e>
                          <m:sSub>
                            <m:sSubPr>
                              <m:ctrlPr>
                                <a:rPr lang="pt-BR" sz="2400" i="1" smtClean="0">
                                  <a:latin typeface="Cambria Math" panose="02040503050406030204" pitchFamily="18" charset="0"/>
                                </a:rPr>
                              </m:ctrlPr>
                            </m:sSubPr>
                            <m:e>
                              <m:r>
                                <a:rPr lang="pt-BR" sz="2400" b="1" i="1">
                                  <a:latin typeface="Cambria Math" panose="02040503050406030204" pitchFamily="18" charset="0"/>
                                </a:rPr>
                                <m:t>𝒚</m:t>
                              </m:r>
                            </m:e>
                            <m:sub>
                              <m:r>
                                <a:rPr lang="pt-BR" sz="2400" b="0" i="1" smtClean="0">
                                  <a:latin typeface="Cambria Math" panose="02040503050406030204" pitchFamily="18" charset="0"/>
                                </a:rPr>
                                <m:t>𝑞</m:t>
                              </m:r>
                            </m:sub>
                          </m:sSub>
                          <m:r>
                            <a:rPr lang="pt-BR" sz="2400" i="1">
                              <a:latin typeface="Cambria Math" panose="02040503050406030204" pitchFamily="18" charset="0"/>
                            </a:rPr>
                            <m:t>−</m:t>
                          </m:r>
                          <m:sSub>
                            <m:sSubPr>
                              <m:ctrlPr>
                                <a:rPr lang="pt-BR" sz="2400" i="1" smtClean="0">
                                  <a:latin typeface="Cambria Math" panose="02040503050406030204" pitchFamily="18" charset="0"/>
                                </a:rPr>
                              </m:ctrlPr>
                            </m:sSubPr>
                            <m:e>
                              <m:acc>
                                <m:accPr>
                                  <m:chr m:val="̂"/>
                                  <m:ctrlPr>
                                    <a:rPr lang="pt-BR" sz="2400" i="1">
                                      <a:latin typeface="Cambria Math" panose="02040503050406030204" pitchFamily="18" charset="0"/>
                                    </a:rPr>
                                  </m:ctrlPr>
                                </m:accPr>
                                <m:e>
                                  <m:r>
                                    <a:rPr lang="pt-BR" sz="2400" b="1" i="1">
                                      <a:latin typeface="Cambria Math" panose="02040503050406030204" pitchFamily="18" charset="0"/>
                                    </a:rPr>
                                    <m:t>𝒚</m:t>
                                  </m:r>
                                </m:e>
                              </m:acc>
                            </m:e>
                            <m:sub>
                              <m:r>
                                <a:rPr lang="pt-BR" sz="2400" b="0" i="1" smtClean="0">
                                  <a:latin typeface="Cambria Math" panose="02040503050406030204" pitchFamily="18" charset="0"/>
                                </a:rPr>
                                <m:t>𝑞</m:t>
                              </m:r>
                            </m:sub>
                          </m:sSub>
                        </m:e>
                      </m:d>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𝐾</m:t>
                          </m:r>
                          <m:r>
                            <a:rPr lang="pt-BR" i="1" dirty="0">
                              <a:latin typeface="Cambria Math" panose="02040503050406030204" pitchFamily="18" charset="0"/>
                              <a:ea typeface="Cambria Math" panose="02040503050406030204" pitchFamily="18" charset="0"/>
                            </a:rPr>
                            <m:t>+1×1</m:t>
                          </m:r>
                        </m:sup>
                      </m:sSup>
                      <m:r>
                        <a:rPr lang="pt-BR" sz="2400" b="0" i="1" smtClean="0">
                          <a:latin typeface="Cambria Math" panose="02040503050406030204" pitchFamily="18" charset="0"/>
                        </a:rPr>
                        <m:t>,</m:t>
                      </m:r>
                    </m:oMath>
                  </m:oMathPara>
                </a14:m>
                <a:endParaRPr lang="pt-BR" b="0" i="0" dirty="0">
                  <a:latin typeface="Calibri" panose="020F0502020204030204" pitchFamily="34" charset="0"/>
                </a:endParaRPr>
              </a:p>
              <a:p>
                <a:pPr marL="0" indent="0">
                  <a:buNone/>
                </a:pPr>
                <a:r>
                  <a:rPr lang="pt-BR" sz="2800" b="0" i="0" dirty="0">
                    <a:solidFill>
                      <a:srgbClr val="000000"/>
                    </a:solidFill>
                    <a:effectLst/>
                    <a:latin typeface="Calibri" panose="020F0502020204030204" pitchFamily="34" charset="0"/>
                  </a:rPr>
                  <a:t>onde </a:t>
                </a:r>
                <a14:m>
                  <m:oMath xmlns:m="http://schemas.openxmlformats.org/officeDocument/2006/math">
                    <m:sSub>
                      <m:sSubPr>
                        <m:ctrlPr>
                          <a:rPr lang="pt-BR" sz="2800" i="1" smtClean="0">
                            <a:latin typeface="Cambria Math" panose="02040503050406030204" pitchFamily="18" charset="0"/>
                          </a:rPr>
                        </m:ctrlPr>
                      </m:sSubPr>
                      <m:e>
                        <m:r>
                          <a:rPr lang="pt-BR" sz="2800" b="1" i="1">
                            <a:latin typeface="Cambria Math" panose="02040503050406030204" pitchFamily="18" charset="0"/>
                          </a:rPr>
                          <m:t>𝒚</m:t>
                        </m:r>
                      </m:e>
                      <m:sub>
                        <m:r>
                          <a:rPr lang="pt-BR" sz="2800" b="0" i="1" smtClean="0">
                            <a:latin typeface="Cambria Math" panose="02040503050406030204" pitchFamily="18" charset="0"/>
                          </a:rPr>
                          <m:t>𝑞</m:t>
                        </m:r>
                      </m:sub>
                    </m:sSub>
                  </m:oMath>
                </a14:m>
                <a:r>
                  <a:rPr lang="pt-BR" sz="2800" b="0" i="0" dirty="0">
                    <a:solidFill>
                      <a:srgbClr val="000000"/>
                    </a:solidFill>
                    <a:effectLst/>
                    <a:latin typeface="CambriaMath"/>
                  </a:rPr>
                  <a:t> </a:t>
                </a:r>
                <a:r>
                  <a:rPr lang="pt-BR" sz="2800" b="0" i="0" dirty="0">
                    <a:solidFill>
                      <a:srgbClr val="000000"/>
                    </a:solidFill>
                    <a:effectLst/>
                    <a:latin typeface="Calibri" panose="020F0502020204030204" pitchFamily="34" charset="0"/>
                  </a:rPr>
                  <a:t>e </a:t>
                </a:r>
                <a14:m>
                  <m:oMath xmlns:m="http://schemas.openxmlformats.org/officeDocument/2006/math">
                    <m:sSub>
                      <m:sSubPr>
                        <m:ctrlPr>
                          <a:rPr lang="pt-BR" sz="2800" i="1">
                            <a:latin typeface="Cambria Math" panose="02040503050406030204" pitchFamily="18" charset="0"/>
                          </a:rPr>
                        </m:ctrlPr>
                      </m:sSubPr>
                      <m:e>
                        <m:acc>
                          <m:accPr>
                            <m:chr m:val="̂"/>
                            <m:ctrlPr>
                              <a:rPr lang="pt-BR" sz="2800" i="1">
                                <a:latin typeface="Cambria Math" panose="02040503050406030204" pitchFamily="18" charset="0"/>
                              </a:rPr>
                            </m:ctrlPr>
                          </m:accPr>
                          <m:e>
                            <m:r>
                              <a:rPr lang="pt-BR" sz="2800" b="1" i="1">
                                <a:latin typeface="Cambria Math" panose="02040503050406030204" pitchFamily="18" charset="0"/>
                              </a:rPr>
                              <m:t>𝒚</m:t>
                            </m:r>
                          </m:e>
                        </m:acc>
                      </m:e>
                      <m:sub>
                        <m:r>
                          <a:rPr lang="pt-BR" sz="2800" i="1">
                            <a:latin typeface="Cambria Math" panose="02040503050406030204" pitchFamily="18" charset="0"/>
                          </a:rPr>
                          <m:t>𝑞</m:t>
                        </m:r>
                      </m:sub>
                    </m:sSub>
                    <m:r>
                      <a:rPr lang="pt-BR" sz="2800" i="1" smtClean="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𝑁</m:t>
                        </m:r>
                        <m:r>
                          <a:rPr lang="pt-BR" i="1" dirty="0">
                            <a:latin typeface="Cambria Math" panose="02040503050406030204" pitchFamily="18" charset="0"/>
                            <a:ea typeface="Cambria Math" panose="02040503050406030204" pitchFamily="18" charset="0"/>
                          </a:rPr>
                          <m:t>×1</m:t>
                        </m:r>
                      </m:sup>
                    </m:sSup>
                  </m:oMath>
                </a14:m>
                <a:r>
                  <a:rPr lang="pt-BR" sz="2800" b="0" i="0" dirty="0">
                    <a:solidFill>
                      <a:srgbClr val="000000"/>
                    </a:solidFill>
                    <a:effectLst/>
                    <a:latin typeface="Calibri" panose="020F0502020204030204" pitchFamily="34" charset="0"/>
                  </a:rPr>
                  <a:t>são vetores </a:t>
                </a:r>
                <a:r>
                  <a:rPr lang="pt-BR" dirty="0"/>
                  <a:t>contendo os </a:t>
                </a:r>
                <a14:m>
                  <m:oMath xmlns:m="http://schemas.openxmlformats.org/officeDocument/2006/math">
                    <m:r>
                      <a:rPr lang="pt-BR" i="1">
                        <a:latin typeface="Cambria Math" panose="02040503050406030204" pitchFamily="18" charset="0"/>
                      </a:rPr>
                      <m:t>𝑞</m:t>
                    </m:r>
                  </m:oMath>
                </a14:m>
                <a:r>
                  <a:rPr lang="pt-BR" dirty="0"/>
                  <a:t>-</a:t>
                </a:r>
                <a:r>
                  <a:rPr lang="pt-BR" dirty="0" err="1"/>
                  <a:t>ésimos</a:t>
                </a:r>
                <a:r>
                  <a:rPr lang="pt-BR" dirty="0"/>
                  <a:t> elementos dos vetores </a:t>
                </a:r>
                <a:r>
                  <a:rPr lang="pt-BR" i="1" dirty="0" err="1"/>
                  <a:t>one</a:t>
                </a:r>
                <a:r>
                  <a:rPr lang="pt-BR" i="1" dirty="0"/>
                  <a:t>-hot</a:t>
                </a:r>
                <a:r>
                  <a:rPr lang="pt-BR" dirty="0"/>
                  <a:t> e de saída do regressor </a:t>
                </a:r>
                <a:r>
                  <a:rPr lang="pt-BR" i="1" dirty="0"/>
                  <a:t>softmax</a:t>
                </a:r>
                <a:r>
                  <a:rPr lang="pt-BR" dirty="0"/>
                  <a:t> para cada um dos </a:t>
                </a:r>
                <a14:m>
                  <m:oMath xmlns:m="http://schemas.openxmlformats.org/officeDocument/2006/math">
                    <m:r>
                      <a:rPr lang="pt-BR" i="1">
                        <a:latin typeface="Cambria Math" panose="02040503050406030204" pitchFamily="18" charset="0"/>
                      </a:rPr>
                      <m:t>𝑁</m:t>
                    </m:r>
                  </m:oMath>
                </a14:m>
                <a:r>
                  <a:rPr lang="pt-BR" dirty="0"/>
                  <a:t> vetores de atributo, respectivamente.</a:t>
                </a:r>
              </a:p>
            </p:txBody>
          </p:sp>
        </mc:Choice>
        <mc:Fallback xmlns="">
          <p:sp>
            <p:nvSpPr>
              <p:cNvPr id="3" name="Espaço Reservado para Conteúdo 2">
                <a:extLst>
                  <a:ext uri="{FF2B5EF4-FFF2-40B4-BE49-F238E27FC236}">
                    <a16:creationId xmlns:a16="http://schemas.microsoft.com/office/drawing/2014/main" xmlns="" xmlns:a14="http://schemas.microsoft.com/office/drawing/2010/main" id="{1D38055D-E355-F780-9CA0-0337EA0BE4FD}"/>
                  </a:ext>
                </a:extLst>
              </p:cNvPr>
              <p:cNvSpPr>
                <a:spLocks noGrp="1" noRot="1" noChangeAspect="1" noMove="1" noResize="1" noEditPoints="1" noAdjustHandles="1" noChangeArrowheads="1" noChangeShapeType="1" noTextEdit="1"/>
              </p:cNvSpPr>
              <p:nvPr>
                <p:ph idx="1"/>
              </p:nvPr>
            </p:nvSpPr>
            <p:spPr>
              <a:xfrm>
                <a:off x="838199" y="1825625"/>
                <a:ext cx="11353801" cy="5032375"/>
              </a:xfrm>
              <a:blipFill rotWithShape="0">
                <a:blip r:embed="rId3"/>
                <a:stretch>
                  <a:fillRect l="-1074" t="-1695" r="-1396"/>
                </a:stretch>
              </a:blipFill>
            </p:spPr>
            <p:txBody>
              <a:bodyPr/>
              <a:lstStyle/>
              <a:p>
                <a:r>
                  <a:rPr lang="pt-BR">
                    <a:noFill/>
                  </a:rPr>
                  <a:t> </a:t>
                </a:r>
              </a:p>
            </p:txBody>
          </p:sp>
        </mc:Fallback>
      </mc:AlternateContent>
    </p:spTree>
    <p:extLst>
      <p:ext uri="{BB962C8B-B14F-4D97-AF65-F5344CB8AC3E}">
        <p14:creationId xmlns:p14="http://schemas.microsoft.com/office/powerpoint/2010/main" val="3379786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1D0947A-594D-A8D5-95F3-38EB04C6BDB6}"/>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DDBA288E-BBB8-E157-840C-AA685AD7D65C}"/>
                  </a:ext>
                </a:extLst>
              </p:cNvPr>
              <p:cNvSpPr>
                <a:spLocks noGrp="1"/>
              </p:cNvSpPr>
              <p:nvPr>
                <p:ph idx="1"/>
              </p:nvPr>
            </p:nvSpPr>
            <p:spPr>
              <a:xfrm>
                <a:off x="838200" y="1840864"/>
                <a:ext cx="11240729" cy="503237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pt-BR" sz="2800" i="1" smtClean="0">
                              <a:latin typeface="Cambria Math" panose="02040503050406030204" pitchFamily="18" charset="0"/>
                            </a:rPr>
                          </m:ctrlPr>
                        </m:fPr>
                        <m:num>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i="1">
                                  <a:latin typeface="Cambria Math" panose="02040503050406030204" pitchFamily="18" charset="0"/>
                                </a:rPr>
                                <m:t>𝐽</m:t>
                              </m:r>
                            </m:e>
                            <m:sub>
                              <m:r>
                                <a:rPr lang="pt-BR" sz="2800" i="1">
                                  <a:latin typeface="Cambria Math" panose="02040503050406030204" pitchFamily="18" charset="0"/>
                                </a:rPr>
                                <m:t>𝑒</m:t>
                              </m:r>
                            </m:sub>
                          </m:sSub>
                          <m:d>
                            <m:dPr>
                              <m:ctrlPr>
                                <a:rPr lang="pt-BR" sz="2800" i="1">
                                  <a:latin typeface="Cambria Math" panose="02040503050406030204" pitchFamily="18" charset="0"/>
                                </a:rPr>
                              </m:ctrlPr>
                            </m:dPr>
                            <m:e>
                              <m:r>
                                <a:rPr lang="pt-BR" sz="2800" b="1" i="1">
                                  <a:latin typeface="Cambria Math" panose="02040503050406030204" pitchFamily="18" charset="0"/>
                                </a:rPr>
                                <m:t>𝑨</m:t>
                              </m:r>
                            </m:e>
                          </m:d>
                        </m:num>
                        <m:den>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b="1" i="1">
                                  <a:latin typeface="Cambria Math" panose="02040503050406030204" pitchFamily="18" charset="0"/>
                                </a:rPr>
                                <m:t>𝒂</m:t>
                              </m:r>
                            </m:e>
                            <m:sub>
                              <m:r>
                                <a:rPr lang="pt-BR" sz="2800" i="1">
                                  <a:latin typeface="Cambria Math" panose="02040503050406030204" pitchFamily="18" charset="0"/>
                                </a:rPr>
                                <m:t>𝑞</m:t>
                              </m:r>
                            </m:sub>
                          </m:sSub>
                        </m:den>
                      </m:f>
                      <m:r>
                        <a:rPr lang="pt-BR" sz="2800" i="1">
                          <a:latin typeface="Cambria Math" panose="02040503050406030204" pitchFamily="18" charset="0"/>
                        </a:rPr>
                        <m:t>=</m:t>
                      </m:r>
                      <m:sSup>
                        <m:sSupPr>
                          <m:ctrlPr>
                            <a:rPr lang="pt-BR" sz="2800" i="1">
                              <a:latin typeface="Cambria Math" panose="02040503050406030204" pitchFamily="18" charset="0"/>
                            </a:rPr>
                          </m:ctrlPr>
                        </m:sSupPr>
                        <m:e>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rPr>
                                <m:t>1</m:t>
                              </m:r>
                            </m:num>
                            <m:den>
                              <m:r>
                                <a:rPr lang="pt-BR" sz="2800" i="1">
                                  <a:latin typeface="Cambria Math" panose="02040503050406030204" pitchFamily="18" charset="0"/>
                                </a:rPr>
                                <m:t>𝑁</m:t>
                              </m:r>
                            </m:den>
                          </m:f>
                          <m:r>
                            <a:rPr lang="pt-BR" sz="2800" b="1" i="1">
                              <a:latin typeface="Cambria Math" panose="02040503050406030204" pitchFamily="18" charset="0"/>
                            </a:rPr>
                            <m:t>𝑿</m:t>
                          </m:r>
                        </m:e>
                        <m:sup>
                          <m:r>
                            <a:rPr lang="pt-BR" sz="2800" i="1">
                              <a:latin typeface="Cambria Math" panose="02040503050406030204" pitchFamily="18" charset="0"/>
                            </a:rPr>
                            <m:t>𝑇</m:t>
                          </m:r>
                        </m:sup>
                      </m:sSup>
                      <m:d>
                        <m:dPr>
                          <m:ctrlPr>
                            <a:rPr lang="pt-BR" sz="2800" i="1">
                              <a:latin typeface="Cambria Math" panose="02040503050406030204" pitchFamily="18" charset="0"/>
                            </a:rPr>
                          </m:ctrlPr>
                        </m:dPr>
                        <m:e>
                          <m:sSub>
                            <m:sSubPr>
                              <m:ctrlPr>
                                <a:rPr lang="pt-BR" sz="2800" i="1" smtClean="0">
                                  <a:latin typeface="Cambria Math" panose="02040503050406030204" pitchFamily="18" charset="0"/>
                                </a:rPr>
                              </m:ctrlPr>
                            </m:sSubPr>
                            <m:e>
                              <m:r>
                                <a:rPr lang="pt-BR" sz="2800" b="1" i="1">
                                  <a:latin typeface="Cambria Math" panose="02040503050406030204" pitchFamily="18" charset="0"/>
                                </a:rPr>
                                <m:t>𝒚</m:t>
                              </m:r>
                            </m:e>
                            <m:sub>
                              <m:r>
                                <a:rPr lang="pt-BR" sz="2800" b="0" i="1" smtClean="0">
                                  <a:latin typeface="Cambria Math" panose="02040503050406030204" pitchFamily="18" charset="0"/>
                                </a:rPr>
                                <m:t>𝑞</m:t>
                              </m:r>
                            </m:sub>
                          </m:sSub>
                          <m:r>
                            <a:rPr lang="pt-BR" sz="2800" i="1">
                              <a:latin typeface="Cambria Math" panose="02040503050406030204" pitchFamily="18" charset="0"/>
                            </a:rPr>
                            <m:t>−</m:t>
                          </m:r>
                          <m:sSub>
                            <m:sSubPr>
                              <m:ctrlPr>
                                <a:rPr lang="pt-BR" sz="2800" i="1" smtClean="0">
                                  <a:latin typeface="Cambria Math" panose="02040503050406030204" pitchFamily="18" charset="0"/>
                                </a:rPr>
                              </m:ctrlPr>
                            </m:sSubPr>
                            <m:e>
                              <m:acc>
                                <m:accPr>
                                  <m:chr m:val="̂"/>
                                  <m:ctrlPr>
                                    <a:rPr lang="pt-BR" sz="2800" i="1">
                                      <a:latin typeface="Cambria Math" panose="02040503050406030204" pitchFamily="18" charset="0"/>
                                    </a:rPr>
                                  </m:ctrlPr>
                                </m:accPr>
                                <m:e>
                                  <m:r>
                                    <a:rPr lang="pt-BR" sz="2800" b="1" i="1">
                                      <a:latin typeface="Cambria Math" panose="02040503050406030204" pitchFamily="18" charset="0"/>
                                    </a:rPr>
                                    <m:t>𝒚</m:t>
                                  </m:r>
                                </m:e>
                              </m:acc>
                            </m:e>
                            <m:sub>
                              <m:r>
                                <a:rPr lang="pt-BR" sz="2800" b="0" i="1" smtClean="0">
                                  <a:latin typeface="Cambria Math" panose="02040503050406030204" pitchFamily="18" charset="0"/>
                                </a:rPr>
                                <m:t>𝑞</m:t>
                              </m:r>
                            </m:sub>
                          </m:sSub>
                        </m:e>
                      </m:d>
                      <m:r>
                        <a:rPr lang="pt-BR" sz="2800" b="0" i="1" smtClean="0">
                          <a:latin typeface="Cambria Math" panose="02040503050406030204" pitchFamily="18" charset="0"/>
                        </a:rPr>
                        <m:t>.</m:t>
                      </m:r>
                    </m:oMath>
                  </m:oMathPara>
                </a14:m>
                <a:endParaRPr lang="pt-BR" dirty="0"/>
              </a:p>
              <a:p>
                <a:r>
                  <a:rPr lang="pt-BR" dirty="0"/>
                  <a:t>Notem que essa expressão do vetor gradiente é </a:t>
                </a:r>
                <a:r>
                  <a:rPr lang="pt-BR" b="1" dirty="0">
                    <a:solidFill>
                      <a:srgbClr val="00B050"/>
                    </a:solidFill>
                  </a:rPr>
                  <a:t>idêntica</a:t>
                </a:r>
                <a:r>
                  <a:rPr lang="pt-BR" dirty="0"/>
                  <a:t> àquela obtida para o caso da </a:t>
                </a:r>
                <a:r>
                  <a:rPr lang="pt-BR" b="1" dirty="0">
                    <a:solidFill>
                      <a:srgbClr val="00B050"/>
                    </a:solidFill>
                  </a:rPr>
                  <a:t>regressão logística</a:t>
                </a:r>
                <a:r>
                  <a:rPr lang="pt-BR" dirty="0"/>
                  <a:t>.</a:t>
                </a:r>
              </a:p>
              <a:p>
                <a:r>
                  <a:rPr lang="pt-BR" dirty="0"/>
                  <a:t>O vetor gradiente pode ser reescrito </a:t>
                </a:r>
                <a:r>
                  <a:rPr lang="pt-BR" b="1" dirty="0">
                    <a:solidFill>
                      <a:schemeClr val="accent2"/>
                    </a:solidFill>
                  </a:rPr>
                  <a:t>levando-se em consideração todos os </a:t>
                </a:r>
                <a14:m>
                  <m:oMath xmlns:m="http://schemas.openxmlformats.org/officeDocument/2006/math">
                    <m:r>
                      <a:rPr lang="pt-BR" b="1" i="1" smtClean="0">
                        <a:solidFill>
                          <a:schemeClr val="accent2"/>
                        </a:solidFill>
                        <a:latin typeface="Cambria Math" panose="02040503050406030204" pitchFamily="18" charset="0"/>
                      </a:rPr>
                      <m:t>𝑸</m:t>
                    </m:r>
                    <m:r>
                      <a:rPr lang="pt-BR" b="1" i="1" smtClean="0">
                        <a:solidFill>
                          <a:schemeClr val="accent2"/>
                        </a:solidFill>
                        <a:latin typeface="Cambria Math" panose="02040503050406030204" pitchFamily="18" charset="0"/>
                      </a:rPr>
                      <m:t> </m:t>
                    </m:r>
                  </m:oMath>
                </a14:m>
                <a:r>
                  <a:rPr lang="pt-BR" b="1" dirty="0">
                    <a:solidFill>
                      <a:schemeClr val="accent2"/>
                    </a:solidFill>
                  </a:rPr>
                  <a:t>vetores de peso</a:t>
                </a:r>
              </a:p>
              <a:p>
                <a:pPr marL="0" indent="0">
                  <a:buNone/>
                </a:pPr>
                <a14:m>
                  <m:oMathPara xmlns:m="http://schemas.openxmlformats.org/officeDocument/2006/math">
                    <m:oMathParaPr>
                      <m:jc m:val="centerGroup"/>
                    </m:oMathParaPr>
                    <m:oMath xmlns:m="http://schemas.openxmlformats.org/officeDocument/2006/math">
                      <m:f>
                        <m:fPr>
                          <m:ctrlPr>
                            <a:rPr lang="pt-BR" sz="2800" i="1" smtClean="0">
                              <a:latin typeface="Cambria Math" panose="02040503050406030204" pitchFamily="18" charset="0"/>
                            </a:rPr>
                          </m:ctrlPr>
                        </m:fPr>
                        <m:num>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i="1">
                                  <a:latin typeface="Cambria Math" panose="02040503050406030204" pitchFamily="18" charset="0"/>
                                </a:rPr>
                                <m:t>𝐽</m:t>
                              </m:r>
                            </m:e>
                            <m:sub>
                              <m:r>
                                <a:rPr lang="pt-BR" sz="2800" i="1">
                                  <a:latin typeface="Cambria Math" panose="02040503050406030204" pitchFamily="18" charset="0"/>
                                </a:rPr>
                                <m:t>𝑒</m:t>
                              </m:r>
                            </m:sub>
                          </m:sSub>
                          <m:d>
                            <m:dPr>
                              <m:ctrlPr>
                                <a:rPr lang="pt-BR" sz="2800" i="1">
                                  <a:latin typeface="Cambria Math" panose="02040503050406030204" pitchFamily="18" charset="0"/>
                                </a:rPr>
                              </m:ctrlPr>
                            </m:dPr>
                            <m:e>
                              <m:r>
                                <a:rPr lang="pt-BR" sz="2800" b="1" i="1">
                                  <a:latin typeface="Cambria Math" panose="02040503050406030204" pitchFamily="18" charset="0"/>
                                </a:rPr>
                                <m:t>𝑨</m:t>
                              </m:r>
                            </m:e>
                          </m:d>
                        </m:num>
                        <m:den>
                          <m:r>
                            <a:rPr lang="pt-BR" sz="2800" i="1">
                              <a:latin typeface="Cambria Math" panose="02040503050406030204" pitchFamily="18" charset="0"/>
                            </a:rPr>
                            <m:t>𝜕</m:t>
                          </m:r>
                          <m:r>
                            <a:rPr lang="pt-BR" b="1" i="1">
                              <a:latin typeface="Cambria Math" panose="02040503050406030204" pitchFamily="18" charset="0"/>
                            </a:rPr>
                            <m:t>𝑨</m:t>
                          </m:r>
                        </m:den>
                      </m:f>
                      <m:r>
                        <a:rPr lang="pt-BR" sz="2800" i="1">
                          <a:latin typeface="Cambria Math" panose="02040503050406030204" pitchFamily="18" charset="0"/>
                        </a:rPr>
                        <m:t>=</m:t>
                      </m:r>
                      <m:sSup>
                        <m:sSupPr>
                          <m:ctrlPr>
                            <a:rPr lang="pt-BR" sz="2800" i="1">
                              <a:latin typeface="Cambria Math" panose="02040503050406030204" pitchFamily="18" charset="0"/>
                            </a:rPr>
                          </m:ctrlPr>
                        </m:sSupPr>
                        <m:e>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rPr>
                                <m:t>1</m:t>
                              </m:r>
                            </m:num>
                            <m:den>
                              <m:r>
                                <a:rPr lang="pt-BR" sz="2800" i="1">
                                  <a:latin typeface="Cambria Math" panose="02040503050406030204" pitchFamily="18" charset="0"/>
                                </a:rPr>
                                <m:t>𝑁</m:t>
                              </m:r>
                            </m:den>
                          </m:f>
                          <m:r>
                            <a:rPr lang="pt-BR" sz="2800" b="1" i="1">
                              <a:latin typeface="Cambria Math" panose="02040503050406030204" pitchFamily="18" charset="0"/>
                            </a:rPr>
                            <m:t>𝑿</m:t>
                          </m:r>
                        </m:e>
                        <m:sup>
                          <m:r>
                            <a:rPr lang="pt-BR" sz="2800" i="1">
                              <a:latin typeface="Cambria Math" panose="02040503050406030204" pitchFamily="18" charset="0"/>
                            </a:rPr>
                            <m:t>𝑇</m:t>
                          </m:r>
                        </m:sup>
                      </m:sSup>
                      <m:d>
                        <m:dPr>
                          <m:ctrlPr>
                            <a:rPr lang="pt-BR" sz="2800" i="1" smtClean="0">
                              <a:latin typeface="Cambria Math" panose="02040503050406030204" pitchFamily="18" charset="0"/>
                            </a:rPr>
                          </m:ctrlPr>
                        </m:dPr>
                        <m:e>
                          <m:r>
                            <a:rPr lang="pt-BR" sz="2800" b="1" i="1" smtClean="0">
                              <a:latin typeface="Cambria Math" panose="02040503050406030204" pitchFamily="18" charset="0"/>
                            </a:rPr>
                            <m:t>𝒀</m:t>
                          </m:r>
                          <m:r>
                            <a:rPr lang="pt-BR" sz="2800" b="0" i="1" smtClean="0">
                              <a:latin typeface="Cambria Math" panose="02040503050406030204" pitchFamily="18" charset="0"/>
                            </a:rPr>
                            <m:t>−</m:t>
                          </m:r>
                          <m:acc>
                            <m:accPr>
                              <m:chr m:val="̂"/>
                              <m:ctrlPr>
                                <a:rPr lang="pt-BR" sz="2800" b="0" i="1" smtClean="0">
                                  <a:latin typeface="Cambria Math" panose="02040503050406030204" pitchFamily="18" charset="0"/>
                                </a:rPr>
                              </m:ctrlPr>
                            </m:accPr>
                            <m:e>
                              <m:r>
                                <a:rPr lang="pt-BR" sz="2800" b="1" i="1" smtClean="0">
                                  <a:latin typeface="Cambria Math" panose="02040503050406030204" pitchFamily="18" charset="0"/>
                                </a:rPr>
                                <m:t>𝒀</m:t>
                              </m:r>
                            </m:e>
                          </m:acc>
                        </m:e>
                      </m:d>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𝐾</m:t>
                          </m:r>
                          <m:r>
                            <a:rPr lang="pt-BR" i="1" dirty="0">
                              <a:latin typeface="Cambria Math" panose="02040503050406030204" pitchFamily="18" charset="0"/>
                              <a:ea typeface="Cambria Math" panose="02040503050406030204" pitchFamily="18" charset="0"/>
                            </a:rPr>
                            <m:t>+1×</m:t>
                          </m:r>
                          <m:r>
                            <a:rPr lang="pt-BR" i="1" dirty="0">
                              <a:latin typeface="Cambria Math" panose="02040503050406030204" pitchFamily="18" charset="0"/>
                              <a:ea typeface="Cambria Math" panose="02040503050406030204" pitchFamily="18" charset="0"/>
                            </a:rPr>
                            <m:t>𝑄</m:t>
                          </m:r>
                        </m:sup>
                      </m:sSup>
                      <m:r>
                        <a:rPr lang="pt-BR" sz="2800" b="0" i="1"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sz="2800" b="1" i="1" smtClean="0">
                        <a:latin typeface="Cambria Math" panose="02040503050406030204" pitchFamily="18" charset="0"/>
                      </a:rPr>
                      <m:t>𝒀</m:t>
                    </m:r>
                  </m:oMath>
                </a14:m>
                <a:r>
                  <a:rPr lang="pt-BR" dirty="0"/>
                  <a:t> e </a:t>
                </a:r>
                <a14:m>
                  <m:oMath xmlns:m="http://schemas.openxmlformats.org/officeDocument/2006/math">
                    <m:acc>
                      <m:accPr>
                        <m:chr m:val="̂"/>
                        <m:ctrlPr>
                          <a:rPr lang="pt-BR" i="1">
                            <a:latin typeface="Cambria Math" panose="02040503050406030204" pitchFamily="18" charset="0"/>
                          </a:rPr>
                        </m:ctrlPr>
                      </m:accPr>
                      <m:e>
                        <m:r>
                          <a:rPr lang="pt-BR" b="1" i="1">
                            <a:latin typeface="Cambria Math" panose="02040503050406030204" pitchFamily="18" charset="0"/>
                          </a:rPr>
                          <m:t>𝒀</m:t>
                        </m:r>
                      </m:e>
                    </m:acc>
                    <m:r>
                      <a:rPr lang="pt-BR" i="1">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𝑁</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𝑄</m:t>
                        </m:r>
                      </m:sup>
                    </m:sSup>
                  </m:oMath>
                </a14:m>
                <a:r>
                  <a:rPr lang="pt-BR" dirty="0"/>
                  <a:t> são matrizes contendo em cada linha os vetores </a:t>
                </a:r>
                <a14:m>
                  <m:oMath xmlns:m="http://schemas.openxmlformats.org/officeDocument/2006/math">
                    <m:sSup>
                      <m:sSupPr>
                        <m:ctrlPr>
                          <a:rPr lang="pt-BR" i="1" smtClean="0">
                            <a:latin typeface="Cambria Math" panose="02040503050406030204" pitchFamily="18" charset="0"/>
                          </a:rPr>
                        </m:ctrlPr>
                      </m:sSupPr>
                      <m:e>
                        <m:r>
                          <a:rPr lang="pt-BR" b="1" i="1">
                            <a:latin typeface="Cambria Math" panose="02040503050406030204" pitchFamily="18" charset="0"/>
                          </a:rPr>
                          <m:t>𝒚</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e>
                      <m:sup>
                        <m:r>
                          <a:rPr lang="pt-BR" b="0" i="1" smtClean="0">
                            <a:latin typeface="Cambria Math" panose="02040503050406030204" pitchFamily="18" charset="0"/>
                          </a:rPr>
                          <m:t>𝑇</m:t>
                        </m:r>
                      </m:sup>
                    </m:sSup>
                  </m:oMath>
                </a14:m>
                <a:r>
                  <a:rPr lang="pt-BR" dirty="0"/>
                  <a:t>e </a:t>
                </a:r>
                <a14:m>
                  <m:oMath xmlns:m="http://schemas.openxmlformats.org/officeDocument/2006/math">
                    <m:sSup>
                      <m:sSupPr>
                        <m:ctrlPr>
                          <a:rPr lang="pt-BR" i="1" smtClean="0">
                            <a:latin typeface="Cambria Math" panose="02040503050406030204" pitchFamily="18" charset="0"/>
                          </a:rPr>
                        </m:ctrlPr>
                      </m:sSupPr>
                      <m:e>
                        <m:acc>
                          <m:accPr>
                            <m:chr m:val="̂"/>
                            <m:ctrlPr>
                              <a:rPr lang="pt-BR" i="1">
                                <a:latin typeface="Cambria Math" panose="02040503050406030204" pitchFamily="18" charset="0"/>
                              </a:rPr>
                            </m:ctrlPr>
                          </m:accPr>
                          <m:e>
                            <m:r>
                              <a:rPr lang="pt-BR" b="1" i="1">
                                <a:latin typeface="Cambria Math" panose="02040503050406030204" pitchFamily="18" charset="0"/>
                              </a:rPr>
                              <m:t>𝒚</m:t>
                            </m:r>
                          </m:e>
                        </m:acc>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e>
                      <m:sup>
                        <m:r>
                          <a:rPr lang="pt-BR" b="0" i="1" smtClean="0">
                            <a:latin typeface="Cambria Math" panose="02040503050406030204" pitchFamily="18" charset="0"/>
                          </a:rPr>
                          <m:t>𝑇</m:t>
                        </m:r>
                      </m:sup>
                    </m:sSup>
                  </m:oMath>
                </a14:m>
                <a:r>
                  <a:rPr lang="pt-BR" dirty="0"/>
                  <a:t> para todos os </a:t>
                </a:r>
                <a14:m>
                  <m:oMath xmlns:m="http://schemas.openxmlformats.org/officeDocument/2006/math">
                    <m:r>
                      <a:rPr lang="pt-BR" i="1" dirty="0">
                        <a:latin typeface="Cambria Math" panose="02040503050406030204" pitchFamily="18" charset="0"/>
                        <a:ea typeface="Cambria Math" panose="02040503050406030204" pitchFamily="18" charset="0"/>
                      </a:rPr>
                      <m:t>𝑁</m:t>
                    </m:r>
                  </m:oMath>
                </a14:m>
                <a:r>
                  <a:rPr lang="pt-BR" dirty="0"/>
                  <a:t> exemplos, respectivamente.</a:t>
                </a:r>
              </a:p>
              <a:p>
                <a:r>
                  <a:rPr lang="pt-BR" dirty="0"/>
                  <a:t>Esse resultado é diretamente estendido para polinômios.</a:t>
                </a:r>
              </a:p>
            </p:txBody>
          </p:sp>
        </mc:Choice>
        <mc:Fallback xmlns="">
          <p:sp>
            <p:nvSpPr>
              <p:cNvPr id="3" name="Espaço Reservado para Conteúdo 2">
                <a:extLst>
                  <a:ext uri="{FF2B5EF4-FFF2-40B4-BE49-F238E27FC236}">
                    <a16:creationId xmlns:a16="http://schemas.microsoft.com/office/drawing/2014/main" xmlns="" xmlns:a14="http://schemas.microsoft.com/office/drawing/2010/main" id="{DDBA288E-BBB8-E157-840C-AA685AD7D65C}"/>
                  </a:ext>
                </a:extLst>
              </p:cNvPr>
              <p:cNvSpPr>
                <a:spLocks noGrp="1" noRot="1" noChangeAspect="1" noMove="1" noResize="1" noEditPoints="1" noAdjustHandles="1" noChangeArrowheads="1" noChangeShapeType="1" noTextEdit="1"/>
              </p:cNvSpPr>
              <p:nvPr>
                <p:ph idx="1"/>
              </p:nvPr>
            </p:nvSpPr>
            <p:spPr>
              <a:xfrm>
                <a:off x="838200" y="1840864"/>
                <a:ext cx="11240729" cy="5032375"/>
              </a:xfrm>
              <a:blipFill rotWithShape="0">
                <a:blip r:embed="rId3"/>
                <a:stretch>
                  <a:fillRect l="-1139" r="-1628" b="-848"/>
                </a:stretch>
              </a:blipFill>
            </p:spPr>
            <p:txBody>
              <a:bodyPr/>
              <a:lstStyle/>
              <a:p>
                <a:r>
                  <a:rPr lang="pt-BR">
                    <a:noFill/>
                  </a:rPr>
                  <a:t> </a:t>
                </a:r>
              </a:p>
            </p:txBody>
          </p:sp>
        </mc:Fallback>
      </mc:AlternateContent>
    </p:spTree>
    <p:extLst>
      <p:ext uri="{BB962C8B-B14F-4D97-AF65-F5344CB8AC3E}">
        <p14:creationId xmlns:p14="http://schemas.microsoft.com/office/powerpoint/2010/main" val="2819159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0F1FD81-6095-2AF0-8691-34E55B8A93B5}"/>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BB734B24-DA50-860B-5D55-C33F6F451B6F}"/>
                  </a:ext>
                </a:extLst>
              </p:cNvPr>
              <p:cNvSpPr>
                <a:spLocks noGrp="1"/>
              </p:cNvSpPr>
              <p:nvPr>
                <p:ph idx="1"/>
              </p:nvPr>
            </p:nvSpPr>
            <p:spPr>
              <a:xfrm>
                <a:off x="6096000" y="1825624"/>
                <a:ext cx="5930899" cy="5032375"/>
              </a:xfrm>
            </p:spPr>
            <p:txBody>
              <a:bodyPr>
                <a:normAutofit/>
              </a:bodyPr>
              <a:lstStyle/>
              <a:p>
                <a:r>
                  <a:rPr lang="pt-BR" dirty="0">
                    <a:solidFill>
                      <a:schemeClr val="tx1"/>
                    </a:solidFill>
                  </a:rPr>
                  <a:t>Após o treinamento, durante a </a:t>
                </a:r>
                <a:r>
                  <a:rPr lang="pt-BR" b="1" dirty="0">
                    <a:solidFill>
                      <a:srgbClr val="00B050"/>
                    </a:solidFill>
                  </a:rPr>
                  <a:t>fase de inferência</a:t>
                </a:r>
                <a:r>
                  <a:rPr lang="pt-BR" dirty="0">
                    <a:solidFill>
                      <a:schemeClr val="tx1"/>
                    </a:solidFill>
                  </a:rPr>
                  <a:t>, o </a:t>
                </a:r>
                <a:r>
                  <a:rPr lang="pt-BR" dirty="0" err="1">
                    <a:solidFill>
                      <a:schemeClr val="tx1"/>
                    </a:solidFill>
                  </a:rPr>
                  <a:t>regressor</a:t>
                </a:r>
                <a:r>
                  <a:rPr lang="pt-BR" dirty="0">
                    <a:solidFill>
                      <a:schemeClr val="tx1"/>
                    </a:solidFill>
                  </a:rPr>
                  <a:t> atribui ao exemplo de entrada, </a:t>
                </a:r>
                <a14:m>
                  <m:oMath xmlns:m="http://schemas.openxmlformats.org/officeDocument/2006/math">
                    <m:r>
                      <a:rPr lang="pt-BR" b="1" i="1">
                        <a:solidFill>
                          <a:schemeClr val="tx1"/>
                        </a:solidFill>
                        <a:latin typeface="Cambria Math" panose="02040503050406030204" pitchFamily="18" charset="0"/>
                      </a:rPr>
                      <m:t>𝒙</m:t>
                    </m:r>
                    <m:d>
                      <m:dPr>
                        <m:ctrlPr>
                          <a:rPr lang="pt-BR" b="1" i="1">
                            <a:solidFill>
                              <a:schemeClr val="tx1"/>
                            </a:solidFill>
                            <a:latin typeface="Cambria Math" panose="02040503050406030204" pitchFamily="18" charset="0"/>
                          </a:rPr>
                        </m:ctrlPr>
                      </m:dPr>
                      <m:e>
                        <m:r>
                          <a:rPr lang="pt-BR" b="0" i="1" smtClean="0">
                            <a:solidFill>
                              <a:schemeClr val="tx1"/>
                            </a:solidFill>
                            <a:latin typeface="Cambria Math" panose="02040503050406030204" pitchFamily="18" charset="0"/>
                          </a:rPr>
                          <m:t>𝑛</m:t>
                        </m:r>
                      </m:e>
                    </m:d>
                  </m:oMath>
                </a14:m>
                <a:r>
                  <a:rPr lang="pt-BR" dirty="0">
                    <a:solidFill>
                      <a:schemeClr val="tx1"/>
                    </a:solidFill>
                  </a:rPr>
                  <a:t>, a classe, </a:t>
                </a:r>
                <a14:m>
                  <m:oMath xmlns:m="http://schemas.openxmlformats.org/officeDocument/2006/math">
                    <m:r>
                      <a:rPr lang="pt-BR" i="1">
                        <a:solidFill>
                          <a:schemeClr val="tx1"/>
                        </a:solidFill>
                        <a:latin typeface="Cambria Math" panose="02040503050406030204" pitchFamily="18" charset="0"/>
                      </a:rPr>
                      <m:t>𝑞</m:t>
                    </m:r>
                  </m:oMath>
                </a14:m>
                <a:r>
                  <a:rPr lang="pt-BR" dirty="0">
                    <a:solidFill>
                      <a:schemeClr val="tx1"/>
                    </a:solidFill>
                  </a:rPr>
                  <a:t>, com a </a:t>
                </a:r>
                <a:r>
                  <a:rPr lang="pt-BR" b="1" dirty="0">
                    <a:solidFill>
                      <a:schemeClr val="tx1"/>
                    </a:solidFill>
                  </a:rPr>
                  <a:t>maior probabilidade estimada</a:t>
                </a:r>
                <a:r>
                  <a:rPr lang="pt-BR" dirty="0">
                    <a:solidFill>
                      <a:schemeClr val="tx1"/>
                    </a:solidFill>
                  </a:rPr>
                  <a:t>, ou seja, atribui a classe, </a:t>
                </a:r>
                <a14:m>
                  <m:oMath xmlns:m="http://schemas.openxmlformats.org/officeDocument/2006/math">
                    <m:r>
                      <a:rPr lang="pt-BR" i="1">
                        <a:solidFill>
                          <a:schemeClr val="tx1"/>
                        </a:solidFill>
                        <a:latin typeface="Cambria Math" panose="02040503050406030204" pitchFamily="18" charset="0"/>
                      </a:rPr>
                      <m:t>𝑞</m:t>
                    </m:r>
                  </m:oMath>
                </a14:m>
                <a:r>
                  <a:rPr lang="pt-BR" dirty="0">
                    <a:solidFill>
                      <a:schemeClr val="tx1"/>
                    </a:solidFill>
                  </a:rPr>
                  <a:t>, da função hipótese com maior valor</a:t>
                </a:r>
                <a:endParaRPr lang="pt-BR" sz="16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lang="pt-BR" i="1" smtClean="0">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𝐶</m:t>
                          </m:r>
                        </m:e>
                        <m:sub>
                          <m:r>
                            <a:rPr lang="pt-BR" i="1">
                              <a:solidFill>
                                <a:schemeClr val="tx1"/>
                              </a:solidFill>
                              <a:latin typeface="Cambria Math" panose="02040503050406030204" pitchFamily="18" charset="0"/>
                            </a:rPr>
                            <m:t>𝑞</m:t>
                          </m:r>
                        </m:sub>
                      </m:sSub>
                      <m:r>
                        <a:rPr lang="pt-BR" i="1">
                          <a:solidFill>
                            <a:schemeClr val="tx1"/>
                          </a:solidFill>
                          <a:latin typeface="Cambria Math" panose="02040503050406030204" pitchFamily="18" charset="0"/>
                        </a:rPr>
                        <m:t>=</m:t>
                      </m:r>
                      <m:r>
                        <m:rPr>
                          <m:nor/>
                        </m:rPr>
                        <a:rPr lang="pt-BR" dirty="0">
                          <a:solidFill>
                            <a:schemeClr val="tx1"/>
                          </a:solidFill>
                        </a:rPr>
                        <m:t>arg</m:t>
                      </m:r>
                      <m:r>
                        <m:rPr>
                          <m:nor/>
                        </m:rPr>
                        <a:rPr lang="pt-BR" dirty="0">
                          <a:solidFill>
                            <a:schemeClr val="tx1"/>
                          </a:solidFill>
                        </a:rPr>
                        <m:t>. </m:t>
                      </m:r>
                      <m:func>
                        <m:funcPr>
                          <m:ctrlPr>
                            <a:rPr lang="pt-BR" i="1">
                              <a:solidFill>
                                <a:schemeClr val="tx1"/>
                              </a:solidFill>
                              <a:latin typeface="Cambria Math" panose="02040503050406030204" pitchFamily="18" charset="0"/>
                            </a:rPr>
                          </m:ctrlPr>
                        </m:funcPr>
                        <m:fName>
                          <m:limLow>
                            <m:limLowPr>
                              <m:ctrlPr>
                                <a:rPr lang="pt-BR" i="1">
                                  <a:solidFill>
                                    <a:schemeClr val="tx1"/>
                                  </a:solidFill>
                                  <a:latin typeface="Cambria Math" panose="02040503050406030204" pitchFamily="18" charset="0"/>
                                </a:rPr>
                              </m:ctrlPr>
                            </m:limLowPr>
                            <m:e>
                              <m:r>
                                <m:rPr>
                                  <m:sty m:val="p"/>
                                </m:rPr>
                                <a:rPr lang="pt-BR">
                                  <a:solidFill>
                                    <a:schemeClr val="tx1"/>
                                  </a:solidFill>
                                  <a:latin typeface="Cambria Math" panose="02040503050406030204" pitchFamily="18" charset="0"/>
                                </a:rPr>
                                <m:t>max</m:t>
                              </m:r>
                            </m:e>
                            <m:lim>
                              <m:r>
                                <a:rPr lang="pt-BR" i="1">
                                  <a:solidFill>
                                    <a:schemeClr val="tx1"/>
                                  </a:solidFill>
                                  <a:latin typeface="Cambria Math" panose="02040503050406030204" pitchFamily="18" charset="0"/>
                                </a:rPr>
                                <m:t>𝑞</m:t>
                              </m:r>
                            </m:lim>
                          </m:limLow>
                        </m:fName>
                        <m:e>
                          <m:sSubSup>
                            <m:sSubSupPr>
                              <m:ctrlPr>
                                <a:rPr lang="pt-BR" b="1" i="1">
                                  <a:solidFill>
                                    <a:schemeClr val="tx1"/>
                                  </a:solidFill>
                                  <a:latin typeface="Cambria Math" panose="02040503050406030204" pitchFamily="18" charset="0"/>
                                </a:rPr>
                              </m:ctrlPr>
                            </m:sSubSupPr>
                            <m:e>
                              <m:r>
                                <a:rPr lang="pt-BR" i="1">
                                  <a:solidFill>
                                    <a:schemeClr val="tx1"/>
                                  </a:solidFill>
                                  <a:latin typeface="Cambria Math" panose="02040503050406030204" pitchFamily="18" charset="0"/>
                                </a:rPr>
                                <m:t>h</m:t>
                              </m:r>
                            </m:e>
                            <m:sub>
                              <m:r>
                                <a:rPr lang="pt-BR" b="1" i="1">
                                  <a:solidFill>
                                    <a:schemeClr val="tx1"/>
                                  </a:solidFill>
                                  <a:latin typeface="Cambria Math" panose="02040503050406030204" pitchFamily="18" charset="0"/>
                                </a:rPr>
                                <m:t>𝒂</m:t>
                              </m:r>
                            </m:sub>
                            <m:sup>
                              <m:r>
                                <a:rPr lang="pt-BR" i="1">
                                  <a:solidFill>
                                    <a:schemeClr val="tx1"/>
                                  </a:solidFill>
                                  <a:latin typeface="Cambria Math" panose="02040503050406030204" pitchFamily="18" charset="0"/>
                                </a:rPr>
                                <m:t>𝑞</m:t>
                              </m:r>
                            </m:sup>
                          </m:sSubSup>
                          <m:d>
                            <m:dPr>
                              <m:ctrlPr>
                                <a:rPr lang="pt-BR"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d>
                                <m:dPr>
                                  <m:ctrlPr>
                                    <a:rPr lang="pt-BR" b="1" i="1">
                                      <a:solidFill>
                                        <a:schemeClr val="tx1"/>
                                      </a:solidFill>
                                      <a:latin typeface="Cambria Math" panose="02040503050406030204" pitchFamily="18" charset="0"/>
                                    </a:rPr>
                                  </m:ctrlPr>
                                </m:dPr>
                                <m:e>
                                  <m:r>
                                    <a:rPr lang="pt-BR" b="0" i="1" smtClean="0">
                                      <a:solidFill>
                                        <a:schemeClr val="tx1"/>
                                      </a:solidFill>
                                      <a:latin typeface="Cambria Math" panose="02040503050406030204" pitchFamily="18" charset="0"/>
                                    </a:rPr>
                                    <m:t>𝑛</m:t>
                                  </m:r>
                                </m:e>
                              </m:d>
                            </m:e>
                          </m:d>
                        </m:e>
                      </m:func>
                      <m:r>
                        <a:rPr lang="pt-BR" b="0" i="1" smtClean="0">
                          <a:solidFill>
                            <a:schemeClr val="tx1"/>
                          </a:solidFill>
                          <a:latin typeface="Cambria Math" panose="02040503050406030204" pitchFamily="18" charset="0"/>
                        </a:rPr>
                        <m:t>.</m:t>
                      </m:r>
                    </m:oMath>
                  </m:oMathPara>
                </a14:m>
                <a:endParaRPr lang="pt-BR" b="0" dirty="0">
                  <a:solidFill>
                    <a:schemeClr val="tx1"/>
                  </a:solidFill>
                </a:endParaRPr>
              </a:p>
              <a:p>
                <a:r>
                  <a:rPr lang="pt-BR" dirty="0"/>
                  <a:t>A arquitetura de um </a:t>
                </a:r>
                <a:r>
                  <a:rPr lang="pt-BR" b="1" dirty="0"/>
                  <a:t>regressor</a:t>
                </a:r>
                <a:r>
                  <a:rPr lang="pt-BR" b="1" i="1" dirty="0"/>
                  <a:t> softmax </a:t>
                </a:r>
                <a:r>
                  <a:rPr lang="pt-BR" dirty="0"/>
                  <a:t>para um problema com três classes (i.e.,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=3</m:t>
                    </m:r>
                  </m:oMath>
                </a14:m>
                <a:r>
                  <a:rPr lang="pt-BR" dirty="0"/>
                  <a:t>) e dois atributos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oMath>
                </a14:m>
                <a:r>
                  <a:rPr lang="pt-BR" dirty="0"/>
                  <a:t>) é mostrada ao lado.</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BB734B24-DA50-860B-5D55-C33F6F451B6F}"/>
                  </a:ext>
                </a:extLst>
              </p:cNvPr>
              <p:cNvSpPr>
                <a:spLocks noGrp="1" noRot="1" noChangeAspect="1" noMove="1" noResize="1" noEditPoints="1" noAdjustHandles="1" noChangeArrowheads="1" noChangeShapeType="1" noTextEdit="1"/>
              </p:cNvSpPr>
              <p:nvPr>
                <p:ph idx="1"/>
              </p:nvPr>
            </p:nvSpPr>
            <p:spPr>
              <a:xfrm>
                <a:off x="6096000" y="1825624"/>
                <a:ext cx="5930899" cy="5032375"/>
              </a:xfrm>
              <a:blipFill rotWithShape="0">
                <a:blip r:embed="rId3"/>
                <a:stretch>
                  <a:fillRect l="-1850" t="-1937" r="-3186"/>
                </a:stretch>
              </a:blipFill>
            </p:spPr>
            <p:txBody>
              <a:bodyPr/>
              <a:lstStyle/>
              <a:p>
                <a:r>
                  <a:rPr lang="pt-BR">
                    <a:noFill/>
                  </a:rPr>
                  <a:t> </a:t>
                </a:r>
              </a:p>
            </p:txBody>
          </p:sp>
        </mc:Fallback>
      </mc:AlternateContent>
      <p:pic>
        <p:nvPicPr>
          <p:cNvPr id="4" name="Imagem 5">
            <a:extLst>
              <a:ext uri="{FF2B5EF4-FFF2-40B4-BE49-F238E27FC236}">
                <a16:creationId xmlns:a16="http://schemas.microsoft.com/office/drawing/2014/main" xmlns="" id="{535159CB-11DC-74B8-5C5F-D571CD0183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236" y="2370360"/>
            <a:ext cx="5840814" cy="2951148"/>
          </a:xfrm>
          <a:prstGeom prst="rect">
            <a:avLst/>
          </a:prstGeom>
        </p:spPr>
      </p:pic>
    </p:spTree>
    <p:extLst>
      <p:ext uri="{BB962C8B-B14F-4D97-AF65-F5344CB8AC3E}">
        <p14:creationId xmlns:p14="http://schemas.microsoft.com/office/powerpoint/2010/main" val="3687397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C175046-E9DF-FCC8-C62B-B00332089713}"/>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24721BB7-DBA3-D8BF-7F98-ED91BD59DAEC}"/>
                  </a:ext>
                </a:extLst>
              </p:cNvPr>
              <p:cNvSpPr>
                <a:spLocks noGrp="1"/>
              </p:cNvSpPr>
              <p:nvPr>
                <p:ph idx="1"/>
              </p:nvPr>
            </p:nvSpPr>
            <p:spPr>
              <a:xfrm>
                <a:off x="5951050" y="1825624"/>
                <a:ext cx="6124686" cy="5032375"/>
              </a:xfrm>
            </p:spPr>
            <p:txBody>
              <a:bodyPr>
                <a:normAutofit/>
              </a:bodyPr>
              <a:lstStyle/>
              <a:p>
                <a:r>
                  <a:rPr lang="pt-BR" dirty="0"/>
                  <a:t>Em resumo, a ideia por trás da </a:t>
                </a:r>
                <a:r>
                  <a:rPr lang="pt-BR" b="1" dirty="0"/>
                  <a:t>regressão</a:t>
                </a:r>
                <a:r>
                  <a:rPr lang="pt-BR" b="1" i="1" dirty="0"/>
                  <a:t> softmax </a:t>
                </a:r>
                <a:r>
                  <a:rPr lang="pt-BR" dirty="0"/>
                  <a:t>é bastante simples: </a:t>
                </a:r>
              </a:p>
              <a:p>
                <a:pPr lvl="1">
                  <a:buFont typeface="Wingdings" panose="05000000000000000000" pitchFamily="2" charset="2"/>
                  <a:buChar char="§"/>
                </a:pPr>
                <a:r>
                  <a:rPr lang="pt-BR" dirty="0"/>
                  <a:t>dado um exemplo de entrada, </a:t>
                </a:r>
                <a14:m>
                  <m:oMath xmlns:m="http://schemas.openxmlformats.org/officeDocument/2006/math">
                    <m:r>
                      <a:rPr lang="pt-BR" b="1" i="1">
                        <a:latin typeface="Cambria Math" panose="02040503050406030204" pitchFamily="18" charset="0"/>
                      </a:rPr>
                      <m:t>𝒙</m:t>
                    </m:r>
                    <m:r>
                      <a:rPr lang="pt-BR" b="0" i="0" smtClean="0">
                        <a:latin typeface="Cambria Math" panose="02040503050406030204" pitchFamily="18" charset="0"/>
                      </a:rPr>
                      <m:t>(</m:t>
                    </m:r>
                    <m:r>
                      <a:rPr lang="pt-BR" b="0" i="1" smtClean="0">
                        <a:latin typeface="Cambria Math" panose="02040503050406030204" pitchFamily="18" charset="0"/>
                      </a:rPr>
                      <m:t>𝑛</m:t>
                    </m:r>
                    <m:r>
                      <a:rPr lang="pt-BR" b="0" i="0" smtClean="0">
                        <a:latin typeface="Cambria Math" panose="02040503050406030204" pitchFamily="18" charset="0"/>
                      </a:rPr>
                      <m:t>)</m:t>
                    </m:r>
                  </m:oMath>
                </a14:m>
                <a:r>
                  <a:rPr lang="pt-BR" dirty="0"/>
                  <a:t>, </a:t>
                </a:r>
              </a:p>
              <a:p>
                <a:pPr lvl="1">
                  <a:buFont typeface="Wingdings" panose="05000000000000000000" pitchFamily="2" charset="2"/>
                  <a:buChar char="§"/>
                </a:pPr>
                <a:r>
                  <a:rPr lang="pt-BR" dirty="0"/>
                  <a:t>o regressor </a:t>
                </a:r>
                <a:r>
                  <a:rPr lang="pt-BR" i="1" dirty="0"/>
                  <a:t>softmax</a:t>
                </a:r>
                <a:r>
                  <a:rPr lang="pt-BR" dirty="0"/>
                  <a:t> calcula uma “</a:t>
                </a:r>
                <a:r>
                  <a:rPr lang="pt-BR" b="1" dirty="0"/>
                  <a:t>pontuação</a:t>
                </a:r>
                <a:r>
                  <a:rPr lang="pt-BR" dirty="0"/>
                  <a:t>”, para cada classe </a:t>
                </a:r>
                <a14:m>
                  <m:oMath xmlns:m="http://schemas.openxmlformats.org/officeDocument/2006/math">
                    <m:r>
                      <a:rPr lang="pt-BR" i="1">
                        <a:latin typeface="Cambria Math" panose="02040503050406030204" pitchFamily="18" charset="0"/>
                      </a:rPr>
                      <m:t>𝑞</m:t>
                    </m:r>
                  </m:oMath>
                </a14:m>
                <a:r>
                  <a:rPr lang="pt-BR" dirty="0"/>
                  <a:t>, i.e., as saídas das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 </m:t>
                    </m:r>
                  </m:oMath>
                </a14:m>
                <a:r>
                  <a:rPr lang="pt-BR" dirty="0"/>
                  <a:t>funções discriminantes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d>
                      <m:dPr>
                        <m:ctrlPr>
                          <a:rPr lang="pt-BR" b="1" i="1">
                            <a:latin typeface="Cambria Math" panose="02040503050406030204" pitchFamily="18" charset="0"/>
                          </a:rPr>
                        </m:ctrlPr>
                      </m:dPr>
                      <m:e>
                        <m:r>
                          <a:rPr lang="pt-BR" b="1" i="1">
                            <a:latin typeface="Cambria Math" panose="02040503050406030204" pitchFamily="18" charset="0"/>
                          </a:rPr>
                          <m:t>𝒙</m:t>
                        </m:r>
                        <m:r>
                          <a:rPr lang="pt-BR">
                            <a:latin typeface="Cambria Math" panose="02040503050406030204" pitchFamily="18" charset="0"/>
                          </a:rPr>
                          <m:t>(</m:t>
                        </m:r>
                        <m:r>
                          <a:rPr lang="pt-BR" b="0" i="1" smtClean="0">
                            <a:latin typeface="Cambria Math" panose="02040503050406030204" pitchFamily="18" charset="0"/>
                          </a:rPr>
                          <m:t>𝑛</m:t>
                        </m:r>
                        <m:r>
                          <a:rPr lang="pt-BR">
                            <a:latin typeface="Cambria Math" panose="02040503050406030204" pitchFamily="18" charset="0"/>
                          </a:rPr>
                          <m:t>)</m:t>
                        </m:r>
                      </m:e>
                    </m:d>
                    <m:r>
                      <a:rPr lang="pt-BR" b="1" i="1" smtClean="0">
                        <a:latin typeface="Cambria Math" panose="02040503050406030204" pitchFamily="18" charset="0"/>
                      </a:rPr>
                      <m:t>, </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𝑞</m:t>
                    </m:r>
                  </m:oMath>
                </a14:m>
                <a:r>
                  <a:rPr lang="pt-BR" dirty="0"/>
                  <a:t>.</a:t>
                </a:r>
              </a:p>
              <a:p>
                <a:pPr lvl="1">
                  <a:buFont typeface="Wingdings" panose="05000000000000000000" pitchFamily="2" charset="2"/>
                  <a:buChar char="§"/>
                </a:pPr>
                <a:r>
                  <a:rPr lang="pt-BR" dirty="0"/>
                  <a:t>e, em seguida, estima a probabilidade de cada classe aplicando a função </a:t>
                </a:r>
                <a:r>
                  <a:rPr lang="pt-BR" i="1" dirty="0"/>
                  <a:t>softmax</a:t>
                </a:r>
                <a:r>
                  <a:rPr lang="pt-BR" dirty="0"/>
                  <a:t> às “</a:t>
                </a:r>
                <a:r>
                  <a:rPr lang="pt-BR" b="1" dirty="0"/>
                  <a:t>pontuações</a:t>
                </a:r>
                <a:r>
                  <a:rPr lang="pt-BR" dirty="0"/>
                  <a:t>”.</a:t>
                </a:r>
              </a:p>
            </p:txBody>
          </p:sp>
        </mc:Choice>
        <mc:Fallback xmlns="">
          <p:sp>
            <p:nvSpPr>
              <p:cNvPr id="3" name="Espaço Reservado para Conteúdo 2">
                <a:extLst>
                  <a:ext uri="{FF2B5EF4-FFF2-40B4-BE49-F238E27FC236}">
                    <a16:creationId xmlns:a16="http://schemas.microsoft.com/office/drawing/2014/main" id="{24721BB7-DBA3-D8BF-7F98-ED91BD59DAEC}"/>
                  </a:ext>
                </a:extLst>
              </p:cNvPr>
              <p:cNvSpPr>
                <a:spLocks noGrp="1" noRot="1" noChangeAspect="1" noMove="1" noResize="1" noEditPoints="1" noAdjustHandles="1" noChangeArrowheads="1" noChangeShapeType="1" noTextEdit="1"/>
              </p:cNvSpPr>
              <p:nvPr>
                <p:ph idx="1"/>
              </p:nvPr>
            </p:nvSpPr>
            <p:spPr>
              <a:xfrm>
                <a:off x="5951050" y="1825624"/>
                <a:ext cx="6124686" cy="5032375"/>
              </a:xfrm>
              <a:blipFill>
                <a:blip r:embed="rId3"/>
                <a:stretch>
                  <a:fillRect l="-1791" t="-1937" r="-1592"/>
                </a:stretch>
              </a:blipFill>
            </p:spPr>
            <p:txBody>
              <a:bodyPr/>
              <a:lstStyle/>
              <a:p>
                <a:r>
                  <a:rPr lang="en-US">
                    <a:noFill/>
                  </a:rPr>
                  <a:t> </a:t>
                </a:r>
              </a:p>
            </p:txBody>
          </p:sp>
        </mc:Fallback>
      </mc:AlternateContent>
      <p:pic>
        <p:nvPicPr>
          <p:cNvPr id="6" name="Imagem 5">
            <a:extLst>
              <a:ext uri="{FF2B5EF4-FFF2-40B4-BE49-F238E27FC236}">
                <a16:creationId xmlns:a16="http://schemas.microsoft.com/office/drawing/2014/main" xmlns="" id="{FF78CF76-EB26-3FAE-0391-E452288FA2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236" y="2370360"/>
            <a:ext cx="5840814" cy="2951148"/>
          </a:xfrm>
          <a:prstGeom prst="rect">
            <a:avLst/>
          </a:prstGeom>
        </p:spPr>
      </p:pic>
      <p:sp>
        <p:nvSpPr>
          <p:cNvPr id="5" name="Rectangle 2">
            <a:extLst>
              <a:ext uri="{FF2B5EF4-FFF2-40B4-BE49-F238E27FC236}">
                <a16:creationId xmlns:a16="http://schemas.microsoft.com/office/drawing/2014/main" xmlns="" id="{0357C04D-3666-45D0-A263-597819F48D09}"/>
              </a:ext>
            </a:extLst>
          </p:cNvPr>
          <p:cNvSpPr/>
          <p:nvPr/>
        </p:nvSpPr>
        <p:spPr>
          <a:xfrm>
            <a:off x="0" y="6581001"/>
            <a:ext cx="3490956" cy="276999"/>
          </a:xfrm>
          <a:prstGeom prst="rect">
            <a:avLst/>
          </a:prstGeom>
        </p:spPr>
        <p:txBody>
          <a:bodyPr wrap="none">
            <a:spAutoFit/>
          </a:bodyPr>
          <a:lstStyle/>
          <a:p>
            <a:r>
              <a:rPr lang="pt-BR" sz="1200" dirty="0">
                <a:hlinkClick r:id="rId5"/>
              </a:rPr>
              <a:t>Exemplo: </a:t>
            </a:r>
            <a:r>
              <a:rPr lang="pt-BR" sz="1200" dirty="0" err="1">
                <a:hlinkClick r:id="rId5"/>
              </a:rPr>
              <a:t>softmax_regressor_with_scikit_learn.ipynb</a:t>
            </a:r>
            <a:endParaRPr lang="pt-BR" sz="1200" b="1" dirty="0"/>
          </a:p>
        </p:txBody>
      </p:sp>
    </p:spTree>
    <p:extLst>
      <p:ext uri="{BB962C8B-B14F-4D97-AF65-F5344CB8AC3E}">
        <p14:creationId xmlns:p14="http://schemas.microsoft.com/office/powerpoint/2010/main" val="669840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Tarefas</a:t>
            </a:r>
          </a:p>
        </p:txBody>
      </p:sp>
      <p:sp>
        <p:nvSpPr>
          <p:cNvPr id="3" name="Content Placeholder 2"/>
          <p:cNvSpPr>
            <a:spLocks noGrp="1"/>
          </p:cNvSpPr>
          <p:nvPr>
            <p:ph idx="1"/>
          </p:nvPr>
        </p:nvSpPr>
        <p:spPr>
          <a:xfrm>
            <a:off x="838200" y="1825624"/>
            <a:ext cx="11089640" cy="5032375"/>
          </a:xfrm>
        </p:spPr>
        <p:txBody>
          <a:bodyPr/>
          <a:lstStyle/>
          <a:p>
            <a:r>
              <a:rPr lang="pt-BR" b="1" dirty="0"/>
              <a:t>Quiz</a:t>
            </a:r>
            <a:r>
              <a:rPr lang="pt-BR" dirty="0"/>
              <a:t>: “</a:t>
            </a:r>
            <a:r>
              <a:rPr lang="pt-BR" i="1" dirty="0"/>
              <a:t>T320 - Quiz - Classificação (Parte IV)</a:t>
            </a:r>
            <a:r>
              <a:rPr lang="pt-BR" dirty="0"/>
              <a:t>” que se encontra no MS Teams.</a:t>
            </a:r>
          </a:p>
          <a:p>
            <a:r>
              <a:rPr lang="pt-BR" b="1" dirty="0"/>
              <a:t>Exercício Prático</a:t>
            </a:r>
            <a:r>
              <a:rPr lang="pt-BR" dirty="0"/>
              <a:t>: </a:t>
            </a:r>
            <a:r>
              <a:rPr lang="pt-BR" b="1" dirty="0">
                <a:hlinkClick r:id="rId3"/>
              </a:rPr>
              <a:t>Laboratório #4</a:t>
            </a:r>
            <a:r>
              <a:rPr lang="pt-BR" dirty="0"/>
              <a:t>.</a:t>
            </a:r>
          </a:p>
          <a:p>
            <a:pPr lvl="1">
              <a:buFont typeface="Wingdings" panose="05000000000000000000" pitchFamily="2" charset="2"/>
              <a:buChar char="§"/>
            </a:pPr>
            <a:r>
              <a:rPr lang="pt-BR" dirty="0"/>
              <a:t>Pode ser acessado através do link acima (Google </a:t>
            </a:r>
            <a:r>
              <a:rPr lang="pt-BR" dirty="0" err="1"/>
              <a:t>Colab</a:t>
            </a:r>
            <a:r>
              <a:rPr lang="pt-BR" dirty="0"/>
              <a:t>) ou no GitHub.</a:t>
            </a:r>
          </a:p>
          <a:p>
            <a:pPr lvl="1">
              <a:buFont typeface="Wingdings" panose="05000000000000000000" pitchFamily="2" charset="2"/>
              <a:buChar char="§"/>
            </a:pPr>
            <a:r>
              <a:rPr lang="pt-BR" dirty="0"/>
              <a:t>Se atentem aos prazos de entrega.</a:t>
            </a:r>
          </a:p>
          <a:p>
            <a:pPr lvl="1">
              <a:buFont typeface="Wingdings" panose="05000000000000000000" pitchFamily="2" charset="2"/>
              <a:buChar char="§"/>
            </a:pPr>
            <a:r>
              <a:rPr lang="pt-BR" dirty="0">
                <a:hlinkClick r:id="rId4"/>
              </a:rPr>
              <a:t>Instruções para resolução e entrega dos laboratórios</a:t>
            </a:r>
            <a:r>
              <a:rPr lang="pt-BR" dirty="0"/>
              <a:t>.</a:t>
            </a:r>
          </a:p>
        </p:txBody>
      </p:sp>
    </p:spTree>
    <p:extLst>
      <p:ext uri="{BB962C8B-B14F-4D97-AF65-F5344CB8AC3E}">
        <p14:creationId xmlns:p14="http://schemas.microsoft.com/office/powerpoint/2010/main" val="2037160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379517805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12744</TotalTime>
  <Words>3017</Words>
  <Application>Microsoft Office PowerPoint</Application>
  <PresentationFormat>Widescreen</PresentationFormat>
  <Paragraphs>302</Paragraphs>
  <Slides>28</Slides>
  <Notes>19</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28</vt:i4>
      </vt:variant>
    </vt:vector>
  </HeadingPairs>
  <TitlesOfParts>
    <vt:vector size="37" baseType="lpstr">
      <vt:lpstr>Arial</vt:lpstr>
      <vt:lpstr>Calibri</vt:lpstr>
      <vt:lpstr>Calibri Light</vt:lpstr>
      <vt:lpstr>Cambria Math</vt:lpstr>
      <vt:lpstr>CambriaMath</vt:lpstr>
      <vt:lpstr>Google Sans</vt:lpstr>
      <vt:lpstr>Söhne</vt:lpstr>
      <vt:lpstr>Wingdings</vt:lpstr>
      <vt:lpstr>Tema do Office</vt:lpstr>
      <vt:lpstr>T320 - Introdução ao Aprendizado de Máquina II: Classificação (Parte IV)</vt:lpstr>
      <vt:lpstr>Recapitulando</vt:lpstr>
      <vt:lpstr>Casos multi-classe</vt:lpstr>
      <vt:lpstr>Casos multi-classe</vt:lpstr>
      <vt:lpstr>Um-Contra-o-Resto</vt:lpstr>
      <vt:lpstr>Um-Contra-o-Resto</vt:lpstr>
      <vt:lpstr>Um-Contra-o-Resto</vt:lpstr>
      <vt:lpstr>Um-Contra-Um</vt:lpstr>
      <vt:lpstr>Um-Contra-Um</vt:lpstr>
      <vt:lpstr>Um-Contra-Um</vt:lpstr>
      <vt:lpstr>Regressor softmax</vt:lpstr>
      <vt:lpstr>Regressor softmax</vt:lpstr>
      <vt:lpstr>Regressor softmax</vt:lpstr>
      <vt:lpstr>Função de ativação softmax</vt:lpstr>
      <vt:lpstr>Função de ativação softmax</vt:lpstr>
      <vt:lpstr>Função de ativação softmax</vt:lpstr>
      <vt:lpstr>Função de ativação softmax</vt:lpstr>
      <vt:lpstr>Função de erro</vt:lpstr>
      <vt:lpstr>Função de erro</vt:lpstr>
      <vt:lpstr>Função de erro</vt:lpstr>
      <vt:lpstr>Função de erro</vt:lpstr>
      <vt:lpstr>Função de erro</vt:lpstr>
      <vt:lpstr>Gradiente descendente</vt:lpstr>
      <vt:lpstr>Regressor softmax</vt:lpstr>
      <vt:lpstr>Regressor softmax</vt:lpstr>
      <vt:lpstr>Regressor softmax</vt:lpstr>
      <vt:lpstr>Tarefas</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1891</cp:revision>
  <dcterms:created xsi:type="dcterms:W3CDTF">2020-01-20T13:50:05Z</dcterms:created>
  <dcterms:modified xsi:type="dcterms:W3CDTF">2026-09-05T12:00:09Z</dcterms:modified>
</cp:coreProperties>
</file>