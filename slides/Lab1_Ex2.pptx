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8" r:id="rId4"/>
    <p:sldId id="266" r:id="rId5"/>
    <p:sldId id="270" r:id="rId6"/>
    <p:sldId id="260" r:id="rId7"/>
    <p:sldId id="267" r:id="rId8"/>
    <p:sldId id="269" r:id="rId9"/>
    <p:sldId id="264" r:id="rId10"/>
    <p:sldId id="268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051" autoAdjust="0"/>
  </p:normalViewPr>
  <p:slideViewPr>
    <p:cSldViewPr snapToGrid="0">
      <p:cViewPr varScale="1">
        <p:scale>
          <a:sx n="92" d="100"/>
          <a:sy n="92" d="100"/>
        </p:scale>
        <p:origin x="12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29431-73EE-4558-8BA6-40AB916516D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03FE0-2C27-4F4F-BF95-BDD05D0D1F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0733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29431-73EE-4558-8BA6-40AB916516D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03FE0-2C27-4F4F-BF95-BDD05D0D1F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5045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29431-73EE-4558-8BA6-40AB916516D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03FE0-2C27-4F4F-BF95-BDD05D0D1F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1034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29431-73EE-4558-8BA6-40AB916516D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03FE0-2C27-4F4F-BF95-BDD05D0D1F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4597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29431-73EE-4558-8BA6-40AB916516D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03FE0-2C27-4F4F-BF95-BDD05D0D1F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4944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29431-73EE-4558-8BA6-40AB916516D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03FE0-2C27-4F4F-BF95-BDD05D0D1F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4625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29431-73EE-4558-8BA6-40AB916516D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03FE0-2C27-4F4F-BF95-BDD05D0D1F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2593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29431-73EE-4558-8BA6-40AB916516D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03FE0-2C27-4F4F-BF95-BDD05D0D1F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2701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29431-73EE-4558-8BA6-40AB916516D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03FE0-2C27-4F4F-BF95-BDD05D0D1F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572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29431-73EE-4558-8BA6-40AB916516D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03FE0-2C27-4F4F-BF95-BDD05D0D1F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3284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29431-73EE-4558-8BA6-40AB916516D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03FE0-2C27-4F4F-BF95-BDD05D0D1F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5450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29431-73EE-4558-8BA6-40AB916516D5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F03FE0-2C27-4F4F-BF95-BDD05D0D1F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9775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zz4fap/t320_aprendizado_de_maquina/blob/main/labs/Laboratorio1.ipynb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Laboratório #1</a:t>
            </a:r>
            <a:endParaRPr lang="pt-B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Exercício #2</a:t>
            </a:r>
          </a:p>
        </p:txBody>
      </p:sp>
    </p:spTree>
    <p:extLst>
      <p:ext uri="{BB962C8B-B14F-4D97-AF65-F5344CB8AC3E}">
        <p14:creationId xmlns:p14="http://schemas.microsoft.com/office/powerpoint/2010/main" val="3725017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0ACFCC-0010-827E-604F-A60D3A5F0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Quantas funções discriminantes?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788F1DE-0E28-0BA3-29BC-ABE4DC9444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96089" y="1825624"/>
                <a:ext cx="6646559" cy="5032375"/>
              </a:xfrm>
            </p:spPr>
            <p:txBody>
              <a:bodyPr>
                <a:normAutofit fontScale="92500" lnSpcReduction="10000"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Este é um problema com </a:t>
                </a:r>
                <a:r>
                  <a:rPr lang="pt-BR" b="1" i="1" dirty="0"/>
                  <a:t>múltiplas classes</a:t>
                </a:r>
                <a:r>
                  <a:rPr lang="pt-BR" dirty="0"/>
                  <a:t>, onde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pt-BR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Como temos três classes, não faz sentido falarmos em classes positiva e negativa, apenas em seus índices: 0, 1 e 2.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Quantas funções discriminantes são necessárias para separar as classes?</a:t>
                </a:r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pt-BR" dirty="0"/>
                  <a:t>No mínimo duas funções,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Qual o formato mais simples?</a:t>
                </a:r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pt-BR" dirty="0"/>
                  <a:t>Retas da forma: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pt-BR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=1, 2</m:t>
                    </m:r>
                  </m:oMath>
                </a14:m>
                <a:r>
                  <a:rPr lang="pt-BR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Agora vamos encontrar os pesos de cada uma das funções.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788F1DE-0E28-0BA3-29BC-ABE4DC9444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6089" y="1825624"/>
                <a:ext cx="6646559" cy="5032375"/>
              </a:xfrm>
              <a:blipFill>
                <a:blip r:embed="rId2"/>
                <a:stretch>
                  <a:fillRect l="-1375" t="-2421" r="-1925" b="-24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4">
            <a:extLst>
              <a:ext uri="{FF2B5EF4-FFF2-40B4-BE49-F238E27FC236}">
                <a16:creationId xmlns:a16="http://schemas.microsoft.com/office/drawing/2014/main" id="{9EEE6852-8EF8-5B56-C5DB-25BB718D4E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52" y="2230087"/>
            <a:ext cx="5053968" cy="344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429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dirty="0"/>
                  <a:t>Encontrando os pesos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Agrupar 3">
            <a:extLst>
              <a:ext uri="{FF2B5EF4-FFF2-40B4-BE49-F238E27FC236}">
                <a16:creationId xmlns:a16="http://schemas.microsoft.com/office/drawing/2014/main" id="{4DEC4497-8603-7324-292B-C4298E566650}"/>
              </a:ext>
            </a:extLst>
          </p:cNvPr>
          <p:cNvGrpSpPr/>
          <p:nvPr/>
        </p:nvGrpSpPr>
        <p:grpSpPr>
          <a:xfrm>
            <a:off x="149352" y="1825624"/>
            <a:ext cx="5053968" cy="3975361"/>
            <a:chOff x="185052" y="1558836"/>
            <a:chExt cx="5053968" cy="3975361"/>
          </a:xfrm>
        </p:grpSpPr>
        <p:grpSp>
          <p:nvGrpSpPr>
            <p:cNvPr id="9" name="Group 8"/>
            <p:cNvGrpSpPr/>
            <p:nvPr/>
          </p:nvGrpSpPr>
          <p:grpSpPr>
            <a:xfrm>
              <a:off x="185052" y="2092927"/>
              <a:ext cx="5053968" cy="3441270"/>
              <a:chOff x="838200" y="1690688"/>
              <a:chExt cx="5053968" cy="3441270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8200" y="1690688"/>
                <a:ext cx="5053968" cy="3441270"/>
              </a:xfrm>
              <a:prstGeom prst="rect">
                <a:avLst/>
              </a:prstGeom>
            </p:spPr>
          </p:pic>
          <p:cxnSp>
            <p:nvCxnSpPr>
              <p:cNvPr id="7" name="Straight Connector 6"/>
              <p:cNvCxnSpPr/>
              <p:nvPr/>
            </p:nvCxnSpPr>
            <p:spPr>
              <a:xfrm flipH="1" flipV="1">
                <a:off x="1421677" y="2499579"/>
                <a:ext cx="3254826" cy="2123029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2106486" y="1558836"/>
                  <a:ext cx="122437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6486" y="1558836"/>
                  <a:ext cx="1224374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Curved Connector 10"/>
            <p:cNvCxnSpPr>
              <a:endCxn id="8" idx="2"/>
            </p:cNvCxnSpPr>
            <p:nvPr/>
          </p:nvCxnSpPr>
          <p:spPr>
            <a:xfrm rot="5400000" flipH="1" flipV="1">
              <a:off x="1408194" y="2122347"/>
              <a:ext cx="1504657" cy="1116301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/>
                <p:cNvSpPr/>
                <p:nvPr/>
              </p:nvSpPr>
              <p:spPr>
                <a:xfrm>
                  <a:off x="1270189" y="4620679"/>
                  <a:ext cx="122437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0189" y="4620679"/>
                  <a:ext cx="1224374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/>
                <p:cNvSpPr/>
                <p:nvPr/>
              </p:nvSpPr>
              <p:spPr>
                <a:xfrm>
                  <a:off x="2712036" y="3079119"/>
                  <a:ext cx="122437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&lt;0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7" name="Rectangle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2036" y="3079119"/>
                  <a:ext cx="1224374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1E224F6-D964-96CA-FD1A-13C692AEC7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74367" y="1825624"/>
                <a:ext cx="6917633" cy="5032375"/>
              </a:xfrm>
            </p:spPr>
            <p:txBody>
              <a:bodyPr>
                <a:normAutofit fontScale="92500" lnSpcReduction="20000"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Encontramos os pesos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  <a:r>
                  <a:rPr lang="pt-BR" b="1" dirty="0">
                    <a:solidFill>
                      <a:schemeClr val="accent2"/>
                    </a:solidFill>
                  </a:rPr>
                  <a:t>primeiro</a:t>
                </a:r>
                <a:r>
                  <a:rPr lang="pt-BR" dirty="0"/>
                  <a:t>, pois ela </a:t>
                </a:r>
                <a:r>
                  <a:rPr lang="pt-BR" b="1" dirty="0">
                    <a:solidFill>
                      <a:srgbClr val="00B050"/>
                    </a:solidFill>
                  </a:rPr>
                  <a:t>separa a classe 0 perfeitamente </a:t>
                </a:r>
                <a:r>
                  <a:rPr lang="pt-BR" dirty="0"/>
                  <a:t>das outras duas (1 e 2).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A </a:t>
                </a:r>
                <a:r>
                  <a:rPr lang="pt-BR" b="1" i="1" dirty="0"/>
                  <a:t>função discriminante </a:t>
                </a:r>
                <a:r>
                  <a:rPr lang="pt-BR" dirty="0"/>
                  <a:t>que representa esta reta é definida como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Temos 3 incógnitas e 3 equações:</a:t>
                </a:r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pt-BR" sz="1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1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7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17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pt-BR" sz="1700" b="0" i="1" smtClean="0">
                                <a:latin typeface="Cambria Math" panose="02040503050406030204" pitchFamily="18" charset="0"/>
                              </a:rPr>
                              <m:t>=0,</m:t>
                            </m:r>
                            <m:sSub>
                              <m:sSubPr>
                                <m:ctrlPr>
                                  <a:rPr lang="pt-BR" sz="1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7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17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pt-BR" sz="1700" b="0" i="1" smtClean="0">
                                <a:latin typeface="Cambria Math" panose="02040503050406030204" pitchFamily="18" charset="0"/>
                              </a:rPr>
                              <m:t>=3</m:t>
                            </m:r>
                          </m:e>
                        </m:d>
                        <m:r>
                          <a:rPr lang="pt-BR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pt-BR" sz="1700" b="0" i="1" smtClean="0">
                            <a:latin typeface="Cambria Math" panose="02040503050406030204" pitchFamily="18" charset="0"/>
                          </a:rPr>
                          <m:t>0=</m:t>
                        </m:r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17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7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sSub>
                      <m:sSubPr>
                        <m:ctrlPr>
                          <a:rPr lang="pt-BR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17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1700" b="0" i="1" smtClean="0">
                        <a:latin typeface="Cambria Math" panose="02040503050406030204" pitchFamily="18" charset="0"/>
                      </a:rPr>
                      <m:t>=−3</m:t>
                    </m:r>
                    <m:sSub>
                      <m:sSubPr>
                        <m:ctrlPr>
                          <a:rPr lang="pt-BR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pt-BR" sz="1700" i="1" dirty="0">
                  <a:latin typeface="Cambria Math" panose="02040503050406030204" pitchFamily="18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pt-BR" sz="1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1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7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17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pt-BR" sz="17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pt-BR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pt-BR" sz="17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pt-BR" sz="1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7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17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pt-BR" sz="17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pt-BR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pt-BR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pt-BR" sz="1700" b="0" i="1" smtClean="0">
                            <a:latin typeface="Cambria Math" panose="02040503050406030204" pitchFamily="18" charset="0"/>
                          </a:rPr>
                          <m:t>0=</m:t>
                        </m:r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17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17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sSub>
                      <m:sSubPr>
                        <m:ctrlPr>
                          <a:rPr lang="pt-BR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1700" b="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pt-BR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7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17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sz="17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pt-BR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7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sz="17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17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pt-BR" sz="1700" i="1" dirty="0">
                  <a:latin typeface="Cambria Math" panose="02040503050406030204" pitchFamily="18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pt-BR" sz="1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1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7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17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pt-BR" sz="17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pt-BR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sz="17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pt-BR" sz="1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7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17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pt-BR" sz="17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pt-BR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pt-BR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pt-BR" sz="1700" b="0" i="1" smtClean="0">
                            <a:latin typeface="Cambria Math" panose="02040503050406030204" pitchFamily="18" charset="0"/>
                          </a:rPr>
                          <m:t>0=</m:t>
                        </m:r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17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17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sSub>
                      <m:sSubPr>
                        <m:ctrlPr>
                          <a:rPr lang="pt-BR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1700" i="1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pt-BR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7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17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pt-BR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7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17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1700" dirty="0"/>
                  <a:t>/2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Resolvendo o sistema, encontramos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pt-BR" dirty="0"/>
                  <a:t>, então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3−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Substituindo alguns valores 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, encontramos as regiões das duas classes que ela separa: classe 0 e a </a:t>
                </a:r>
                <a:r>
                  <a:rPr lang="pt-BR" b="1" dirty="0">
                    <a:solidFill>
                      <a:srgbClr val="7030A0"/>
                    </a:solidFill>
                  </a:rPr>
                  <a:t>união</a:t>
                </a:r>
                <a:r>
                  <a:rPr lang="pt-BR" dirty="0"/>
                  <a:t> das classes 1 e 2.</a:t>
                </a: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1E224F6-D964-96CA-FD1A-13C692AEC7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74367" y="1825624"/>
                <a:ext cx="6917633" cy="5032375"/>
              </a:xfrm>
              <a:blipFill>
                <a:blip r:embed="rId7"/>
                <a:stretch>
                  <a:fillRect l="-1322" t="-3027" r="-2203" b="-2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0833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B39BFB32-1BA5-2CF6-363B-0929BBCB34E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dirty="0"/>
                  <a:t>Encontrando os pesos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B39BFB32-1BA5-2CF6-363B-0929BBCB34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7290504-067B-0E2C-4C67-E1B8BAB5A1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03273" y="1825624"/>
                <a:ext cx="6584511" cy="5032375"/>
              </a:xfrm>
            </p:spPr>
            <p:txBody>
              <a:bodyPr>
                <a:normAutofit fontScale="92500"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Na sequência, encontramos os pesos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, que irá discriminar entre as classes 1 e 2, concluindo a classificação.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A </a:t>
                </a:r>
                <a:r>
                  <a:rPr lang="pt-BR" b="1" i="1" dirty="0"/>
                  <a:t>função discriminante </a:t>
                </a:r>
                <a:r>
                  <a:rPr lang="pt-BR" dirty="0"/>
                  <a:t>que representa esta reta é definida como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Novamente temos 3 incógnitas e 3 equações:</a:t>
                </a:r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pt-BR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pt-BR" sz="2200" b="0" i="1" smtClean="0">
                                <a:latin typeface="Cambria Math" panose="02040503050406030204" pitchFamily="18" charset="0"/>
                              </a:rPr>
                              <m:t>=0,</m:t>
                            </m:r>
                            <m:sSub>
                              <m:sSubPr>
                                <m:ctrlPr>
                                  <a:rPr lang="pt-BR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pt-BR" sz="22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  <m:r>
                          <a:rPr lang="pt-B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0=</m:t>
                        </m:r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pt-BR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pt-BR" sz="22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pt-BR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pt-BR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pt-BR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pt-BR" sz="22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pt-BR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0=</m:t>
                        </m:r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2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pt-BR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pt-BR" sz="22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pt-BR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pt-BR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pt-BR" sz="22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pt-BR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pt-B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0=</m:t>
                        </m:r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pt-B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Resolvendo o sistema, encontramos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pt-BR" dirty="0"/>
                  <a:t>, então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7290504-067B-0E2C-4C67-E1B8BAB5A1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03273" y="1825624"/>
                <a:ext cx="6584511" cy="5032375"/>
              </a:xfrm>
              <a:blipFill>
                <a:blip r:embed="rId3"/>
                <a:stretch>
                  <a:fillRect l="-1388" t="-1816" r="-2405" b="-1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Agrupar 3">
            <a:extLst>
              <a:ext uri="{FF2B5EF4-FFF2-40B4-BE49-F238E27FC236}">
                <a16:creationId xmlns:a16="http://schemas.microsoft.com/office/drawing/2014/main" id="{1807672C-B502-DFF3-E3BD-B42FA13DA683}"/>
              </a:ext>
            </a:extLst>
          </p:cNvPr>
          <p:cNvGrpSpPr/>
          <p:nvPr/>
        </p:nvGrpSpPr>
        <p:grpSpPr>
          <a:xfrm>
            <a:off x="99937" y="1964082"/>
            <a:ext cx="5053968" cy="3789550"/>
            <a:chOff x="172673" y="1558836"/>
            <a:chExt cx="5053968" cy="3789550"/>
          </a:xfrm>
        </p:grpSpPr>
        <p:grpSp>
          <p:nvGrpSpPr>
            <p:cNvPr id="5" name="Group 2">
              <a:extLst>
                <a:ext uri="{FF2B5EF4-FFF2-40B4-BE49-F238E27FC236}">
                  <a16:creationId xmlns:a16="http://schemas.microsoft.com/office/drawing/2014/main" id="{C090EAA9-37F8-A84C-4FCA-CE5BE1ADAA9E}"/>
                </a:ext>
              </a:extLst>
            </p:cNvPr>
            <p:cNvGrpSpPr/>
            <p:nvPr/>
          </p:nvGrpSpPr>
          <p:grpSpPr>
            <a:xfrm>
              <a:off x="172673" y="1907116"/>
              <a:ext cx="5053968" cy="3441270"/>
              <a:chOff x="163964" y="1690688"/>
              <a:chExt cx="5053968" cy="3441270"/>
            </a:xfrm>
          </p:grpSpPr>
          <p:pic>
            <p:nvPicPr>
              <p:cNvPr id="10" name="Picture 4">
                <a:extLst>
                  <a:ext uri="{FF2B5EF4-FFF2-40B4-BE49-F238E27FC236}">
                    <a16:creationId xmlns:a16="http://schemas.microsoft.com/office/drawing/2014/main" id="{CD2F7C45-35D1-FB0F-61E3-3BE458B5BA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3964" y="1690688"/>
                <a:ext cx="5053968" cy="3441270"/>
              </a:xfrm>
              <a:prstGeom prst="rect">
                <a:avLst/>
              </a:prstGeom>
            </p:spPr>
          </p:pic>
          <p:cxnSp>
            <p:nvCxnSpPr>
              <p:cNvPr id="11" name="Straight Connector 6">
                <a:extLst>
                  <a:ext uri="{FF2B5EF4-FFF2-40B4-BE49-F238E27FC236}">
                    <a16:creationId xmlns:a16="http://schemas.microsoft.com/office/drawing/2014/main" id="{5E214E94-E88B-4C15-9C56-4102AA975637}"/>
                  </a:ext>
                </a:extLst>
              </p:cNvPr>
              <p:cNvCxnSpPr/>
              <p:nvPr/>
            </p:nvCxnSpPr>
            <p:spPr>
              <a:xfrm flipH="1">
                <a:off x="783771" y="1845958"/>
                <a:ext cx="4214949" cy="2751908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7">
                  <a:extLst>
                    <a:ext uri="{FF2B5EF4-FFF2-40B4-BE49-F238E27FC236}">
                      <a16:creationId xmlns:a16="http://schemas.microsoft.com/office/drawing/2014/main" id="{2B4811CA-A247-D8E6-18FB-F64056FE1C24}"/>
                    </a:ext>
                  </a:extLst>
                </p:cNvPr>
                <p:cNvSpPr/>
                <p:nvPr/>
              </p:nvSpPr>
              <p:spPr>
                <a:xfrm>
                  <a:off x="2106486" y="1558836"/>
                  <a:ext cx="1224374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" name="Rectangle 7">
                  <a:extLst>
                    <a:ext uri="{FF2B5EF4-FFF2-40B4-BE49-F238E27FC236}">
                      <a16:creationId xmlns:a16="http://schemas.microsoft.com/office/drawing/2014/main" id="{2B4811CA-A247-D8E6-18FB-F64056FE1C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6486" y="1558836"/>
                  <a:ext cx="1224374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Curved Connector 8">
              <a:extLst>
                <a:ext uri="{FF2B5EF4-FFF2-40B4-BE49-F238E27FC236}">
                  <a16:creationId xmlns:a16="http://schemas.microsoft.com/office/drawing/2014/main" id="{B7021C86-1F27-63E1-99D7-D23D1E259459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 rot="16200000" flipV="1">
              <a:off x="2375673" y="2271169"/>
              <a:ext cx="1241753" cy="555751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9">
                  <a:extLst>
                    <a:ext uri="{FF2B5EF4-FFF2-40B4-BE49-F238E27FC236}">
                      <a16:creationId xmlns:a16="http://schemas.microsoft.com/office/drawing/2014/main" id="{AFA52A7A-3F40-3310-98A6-91945A12D3B3}"/>
                    </a:ext>
                  </a:extLst>
                </p:cNvPr>
                <p:cNvSpPr/>
                <p:nvPr/>
              </p:nvSpPr>
              <p:spPr>
                <a:xfrm>
                  <a:off x="2781705" y="4324444"/>
                  <a:ext cx="122969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Rectangle 9">
                  <a:extLst>
                    <a:ext uri="{FF2B5EF4-FFF2-40B4-BE49-F238E27FC236}">
                      <a16:creationId xmlns:a16="http://schemas.microsoft.com/office/drawing/2014/main" id="{AFA52A7A-3F40-3310-98A6-91945A12D3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1705" y="4324444"/>
                  <a:ext cx="1229696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10">
                  <a:extLst>
                    <a:ext uri="{FF2B5EF4-FFF2-40B4-BE49-F238E27FC236}">
                      <a16:creationId xmlns:a16="http://schemas.microsoft.com/office/drawing/2014/main" id="{B4F5FB02-B149-867C-A388-FDB46341ECD4}"/>
                    </a:ext>
                  </a:extLst>
                </p:cNvPr>
                <p:cNvSpPr/>
                <p:nvPr/>
              </p:nvSpPr>
              <p:spPr>
                <a:xfrm>
                  <a:off x="882112" y="2800589"/>
                  <a:ext cx="122969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&lt;0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" name="Rectangle 10">
                  <a:extLst>
                    <a:ext uri="{FF2B5EF4-FFF2-40B4-BE49-F238E27FC236}">
                      <a16:creationId xmlns:a16="http://schemas.microsoft.com/office/drawing/2014/main" id="{B4F5FB02-B149-867C-A388-FDB46341ECD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112" y="2800589"/>
                  <a:ext cx="1229696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57191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8301EA-2842-B778-35AE-500DA81AF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77" y="2502621"/>
            <a:ext cx="11149446" cy="185275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6000" i="1" dirty="0"/>
              <a:t>Como usamos as duas funções para classificar as amostras?</a:t>
            </a:r>
            <a:endParaRPr lang="en-US" sz="6000" i="1" dirty="0"/>
          </a:p>
        </p:txBody>
      </p:sp>
    </p:spTree>
    <p:extLst>
      <p:ext uri="{BB962C8B-B14F-4D97-AF65-F5344CB8AC3E}">
        <p14:creationId xmlns:p14="http://schemas.microsoft.com/office/powerpoint/2010/main" val="793989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Trecho da função </a:t>
            </a:r>
            <a:r>
              <a:rPr lang="pt-BR" i="1" dirty="0" err="1"/>
              <a:t>predict</a:t>
            </a:r>
            <a:endParaRPr lang="pt-BR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092543" cy="475805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pt-BR" dirty="0"/>
                  <a:t># Usamos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primeiro, pois ela separa </a:t>
                </a:r>
                <a:r>
                  <a:rPr lang="pt-BR" b="1" dirty="0">
                    <a:solidFill>
                      <a:srgbClr val="7030A0"/>
                    </a:solidFill>
                  </a:rPr>
                  <a:t>exatamente</a:t>
                </a:r>
                <a:r>
                  <a:rPr lang="pt-BR" dirty="0"/>
                  <a:t> a classe 0 das demais.</a:t>
                </a:r>
              </a:p>
              <a:p>
                <a:pPr marL="0" indent="0">
                  <a:buNone/>
                </a:pPr>
                <a:r>
                  <a:rPr lang="pt-BR" dirty="0" err="1"/>
                  <a:t>if</a:t>
                </a:r>
                <a:r>
                  <a:rPr lang="pt-BR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&gt;= 0):</a:t>
                </a:r>
              </a:p>
              <a:p>
                <a:pPr marL="0" indent="0">
                  <a:buNone/>
                </a:pPr>
                <a:r>
                  <a:rPr lang="pt-BR" dirty="0"/>
                  <a:t>	y_pred[i] = 0</a:t>
                </a:r>
              </a:p>
              <a:p>
                <a:pPr marL="0" indent="0">
                  <a:buNone/>
                </a:pPr>
                <a:r>
                  <a:rPr lang="pt-BR" dirty="0"/>
                  <a:t># Caso quando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&lt; 0</a:t>
                </a:r>
              </a:p>
              <a:p>
                <a:pPr marL="0" indent="0">
                  <a:buNone/>
                </a:pPr>
                <a:r>
                  <a:rPr lang="pt-BR" dirty="0"/>
                  <a:t>else: </a:t>
                </a:r>
              </a:p>
              <a:p>
                <a:pPr marL="0" indent="0">
                  <a:buNone/>
                </a:pPr>
                <a:r>
                  <a:rPr lang="pt-BR" dirty="0"/>
                  <a:t>	if(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&lt; 0):</a:t>
                </a:r>
              </a:p>
              <a:p>
                <a:pPr marL="0" indent="0">
                  <a:buNone/>
                </a:pPr>
                <a:r>
                  <a:rPr lang="pt-BR" dirty="0"/>
                  <a:t>		y_pred[i] = 1</a:t>
                </a:r>
              </a:p>
              <a:p>
                <a:pPr marL="0" indent="0">
                  <a:buNone/>
                </a:pPr>
                <a:r>
                  <a:rPr lang="pt-BR" dirty="0"/>
                  <a:t>	# caso quando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&gt;= 0</a:t>
                </a:r>
              </a:p>
              <a:p>
                <a:pPr marL="0" indent="0">
                  <a:buNone/>
                </a:pPr>
                <a:r>
                  <a:rPr lang="pt-BR" dirty="0"/>
                  <a:t>	else: </a:t>
                </a:r>
              </a:p>
              <a:p>
                <a:pPr marL="0" indent="0">
                  <a:buNone/>
                </a:pPr>
                <a:r>
                  <a:rPr lang="pt-BR" dirty="0"/>
                  <a:t>		y_pred[i] = 2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092543" cy="4758055"/>
              </a:xfrm>
              <a:blipFill>
                <a:blip r:embed="rId2"/>
                <a:stretch>
                  <a:fillRect l="-934" t="-2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4005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606C23-9F3D-9BC2-42BB-B1CBDDD9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Paradigma da programação tradicional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E166942-05E4-FA56-8495-A56B25B3EF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5293266"/>
                <a:ext cx="11132127" cy="1564734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Resolvemos o exercício usando o paradigma tradicional.</a:t>
                </a:r>
              </a:p>
              <a:p>
                <a:r>
                  <a:rPr lang="pt-BR" dirty="0"/>
                  <a:t>Fornecemos para o computador as </a:t>
                </a:r>
                <a:r>
                  <a:rPr lang="pt-BR" b="1" i="1" dirty="0"/>
                  <a:t>entradas </a:t>
                </a:r>
                <a:r>
                  <a:rPr lang="pt-BR" dirty="0"/>
                  <a:t>(i.e., os atributos,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) e a </a:t>
                </a:r>
                <a:r>
                  <a:rPr lang="pt-BR" b="1" i="1" dirty="0"/>
                  <a:t>sequência de regras de mapeamento</a:t>
                </a:r>
                <a:r>
                  <a:rPr lang="pt-BR" dirty="0"/>
                  <a:t> criadas por nós (i.e., o </a:t>
                </a:r>
                <a:r>
                  <a:rPr lang="pt-BR" b="1" i="1" dirty="0"/>
                  <a:t>programa</a:t>
                </a:r>
                <a:r>
                  <a:rPr lang="pt-BR" dirty="0"/>
                  <a:t>).</a:t>
                </a: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E166942-05E4-FA56-8495-A56B25B3EF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5293266"/>
                <a:ext cx="11132127" cy="1564734"/>
              </a:xfrm>
              <a:blipFill>
                <a:blip r:embed="rId2"/>
                <a:stretch>
                  <a:fillRect l="-930" t="-6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Agrupar 8">
            <a:extLst>
              <a:ext uri="{FF2B5EF4-FFF2-40B4-BE49-F238E27FC236}">
                <a16:creationId xmlns:a16="http://schemas.microsoft.com/office/drawing/2014/main" id="{3004A1E5-F79E-E010-EF57-BF102FF171D6}"/>
              </a:ext>
            </a:extLst>
          </p:cNvPr>
          <p:cNvGrpSpPr/>
          <p:nvPr/>
        </p:nvGrpSpPr>
        <p:grpSpPr>
          <a:xfrm>
            <a:off x="2687138" y="1788773"/>
            <a:ext cx="5041524" cy="3406407"/>
            <a:chOff x="3747011" y="1781003"/>
            <a:chExt cx="5041524" cy="3406407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1B963C93-D75E-9431-7408-F77051E29FD4}"/>
                </a:ext>
              </a:extLst>
            </p:cNvPr>
            <p:cNvSpPr/>
            <p:nvPr/>
          </p:nvSpPr>
          <p:spPr>
            <a:xfrm>
              <a:off x="5903311" y="1781003"/>
              <a:ext cx="2011680" cy="1262743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Computador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Seta para a direita 5">
              <a:extLst>
                <a:ext uri="{FF2B5EF4-FFF2-40B4-BE49-F238E27FC236}">
                  <a16:creationId xmlns:a16="http://schemas.microsoft.com/office/drawing/2014/main" id="{4E5F3B39-104D-B446-B297-0285574D9008}"/>
                </a:ext>
              </a:extLst>
            </p:cNvPr>
            <p:cNvSpPr/>
            <p:nvPr/>
          </p:nvSpPr>
          <p:spPr>
            <a:xfrm>
              <a:off x="5502717" y="1872188"/>
              <a:ext cx="400594" cy="400594"/>
            </a:xfrm>
            <a:prstGeom prst="rightArrow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tângulo 5">
                  <a:extLst>
                    <a:ext uri="{FF2B5EF4-FFF2-40B4-BE49-F238E27FC236}">
                      <a16:creationId xmlns:a16="http://schemas.microsoft.com/office/drawing/2014/main" id="{9A1DC3B8-53CE-BB6E-8CCF-036473150086}"/>
                    </a:ext>
                  </a:extLst>
                </p:cNvPr>
                <p:cNvSpPr/>
                <p:nvPr/>
              </p:nvSpPr>
              <p:spPr>
                <a:xfrm>
                  <a:off x="4978731" y="1810875"/>
                  <a:ext cx="473206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Retângulo 5">
                  <a:extLst>
                    <a:ext uri="{FF2B5EF4-FFF2-40B4-BE49-F238E27FC236}">
                      <a16:creationId xmlns:a16="http://schemas.microsoft.com/office/drawing/2014/main" id="{9A1DC3B8-53CE-BB6E-8CCF-0364731500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8731" y="1810875"/>
                  <a:ext cx="473206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tângulo 7">
                  <a:extLst>
                    <a:ext uri="{FF2B5EF4-FFF2-40B4-BE49-F238E27FC236}">
                      <a16:creationId xmlns:a16="http://schemas.microsoft.com/office/drawing/2014/main" id="{6938ECF4-C778-B3A7-64E6-19A166691210}"/>
                    </a:ext>
                  </a:extLst>
                </p:cNvPr>
                <p:cNvSpPr/>
                <p:nvPr/>
              </p:nvSpPr>
              <p:spPr>
                <a:xfrm>
                  <a:off x="8315585" y="2086952"/>
                  <a:ext cx="472950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8" name="Retângulo 7">
                  <a:extLst>
                    <a:ext uri="{FF2B5EF4-FFF2-40B4-BE49-F238E27FC236}">
                      <a16:creationId xmlns:a16="http://schemas.microsoft.com/office/drawing/2014/main" id="{6938ECF4-C778-B3A7-64E6-19A1666912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15585" y="2086952"/>
                  <a:ext cx="472950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Seta para a direita 5">
              <a:extLst>
                <a:ext uri="{FF2B5EF4-FFF2-40B4-BE49-F238E27FC236}">
                  <a16:creationId xmlns:a16="http://schemas.microsoft.com/office/drawing/2014/main" id="{218109C2-48AD-208F-17D2-B86488CA02BC}"/>
                </a:ext>
              </a:extLst>
            </p:cNvPr>
            <p:cNvSpPr/>
            <p:nvPr/>
          </p:nvSpPr>
          <p:spPr>
            <a:xfrm>
              <a:off x="7914991" y="2212077"/>
              <a:ext cx="400594" cy="400594"/>
            </a:xfrm>
            <a:prstGeom prst="rightArrow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Seta para a direita 5">
              <a:extLst>
                <a:ext uri="{FF2B5EF4-FFF2-40B4-BE49-F238E27FC236}">
                  <a16:creationId xmlns:a16="http://schemas.microsoft.com/office/drawing/2014/main" id="{28BBB6A3-27A6-E73C-C73C-EDD42BAE4C68}"/>
                </a:ext>
              </a:extLst>
            </p:cNvPr>
            <p:cNvSpPr/>
            <p:nvPr/>
          </p:nvSpPr>
          <p:spPr>
            <a:xfrm>
              <a:off x="5502717" y="2612671"/>
              <a:ext cx="400594" cy="400594"/>
            </a:xfrm>
            <a:prstGeom prst="rightArrow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tângulo 21">
                  <a:extLst>
                    <a:ext uri="{FF2B5EF4-FFF2-40B4-BE49-F238E27FC236}">
                      <a16:creationId xmlns:a16="http://schemas.microsoft.com/office/drawing/2014/main" id="{886E8A3C-9C9E-D4E2-0A16-26A53FD318A7}"/>
                    </a:ext>
                  </a:extLst>
                </p:cNvPr>
                <p:cNvSpPr/>
                <p:nvPr/>
              </p:nvSpPr>
              <p:spPr>
                <a:xfrm>
                  <a:off x="3791756" y="3248418"/>
                  <a:ext cx="3421921" cy="193899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pt-BR" sz="1200" dirty="0" err="1"/>
                    <a:t>def</a:t>
                  </a:r>
                  <a:r>
                    <a:rPr lang="pt-BR" sz="1200" dirty="0"/>
                    <a:t> </a:t>
                  </a:r>
                  <a:r>
                    <a:rPr lang="pt-BR" sz="1200" i="1" dirty="0" err="1"/>
                    <a:t>predict</a:t>
                  </a:r>
                  <a:r>
                    <a:rPr lang="pt-BR" sz="1200" dirty="0"/>
                    <a:t>(</a:t>
                  </a:r>
                  <a14:m>
                    <m:oMath xmlns:m="http://schemas.openxmlformats.org/officeDocument/2006/math">
                      <m:r>
                        <a:rPr lang="pt-BR" sz="1200" b="1" i="1"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pt-BR" sz="1200" dirty="0"/>
                    <a:t>):</a:t>
                  </a:r>
                </a:p>
                <a:p>
                  <a:r>
                    <a:rPr lang="pt-BR" sz="1200" dirty="0"/>
                    <a:t>    </a:t>
                  </a:r>
                  <a:r>
                    <a:rPr lang="pt-BR" sz="1200" dirty="0" err="1"/>
                    <a:t>if</a:t>
                  </a:r>
                  <a:r>
                    <a:rPr lang="pt-BR" sz="120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a14:m>
                  <a:r>
                    <a:rPr lang="pt-BR" sz="1200" dirty="0"/>
                    <a:t> &gt;= 0):</a:t>
                  </a:r>
                </a:p>
                <a:p>
                  <a:r>
                    <a:rPr lang="pt-BR" sz="1200" dirty="0"/>
                    <a:t>        </a:t>
                  </a:r>
                  <a:r>
                    <a:rPr lang="pt-BR" sz="1200" dirty="0" err="1"/>
                    <a:t>y_pred</a:t>
                  </a:r>
                  <a:r>
                    <a:rPr lang="pt-BR" sz="1200" dirty="0"/>
                    <a:t>[i] = 0</a:t>
                  </a:r>
                </a:p>
                <a:p>
                  <a:r>
                    <a:rPr lang="pt-BR" sz="1200" dirty="0"/>
                    <a:t>    # Caso quando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a14:m>
                  <a:r>
                    <a:rPr lang="pt-BR" sz="1200" dirty="0"/>
                    <a:t> &lt; 0</a:t>
                  </a:r>
                </a:p>
                <a:p>
                  <a:r>
                    <a:rPr lang="pt-BR" sz="1200" dirty="0"/>
                    <a:t>    </a:t>
                  </a:r>
                  <a:r>
                    <a:rPr lang="pt-BR" sz="1200" dirty="0" err="1"/>
                    <a:t>else</a:t>
                  </a:r>
                  <a:r>
                    <a:rPr lang="pt-BR" sz="1200" dirty="0"/>
                    <a:t>:</a:t>
                  </a:r>
                </a:p>
                <a:p>
                  <a:r>
                    <a:rPr lang="pt-BR" sz="1200" dirty="0"/>
                    <a:t>        </a:t>
                  </a:r>
                  <a:r>
                    <a:rPr lang="pt-BR" sz="1200" dirty="0" err="1"/>
                    <a:t>if</a:t>
                  </a:r>
                  <a:r>
                    <a:rPr lang="pt-BR" sz="120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t-BR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a14:m>
                  <a:r>
                    <a:rPr lang="pt-BR" sz="1200" dirty="0"/>
                    <a:t> &lt; 0):</a:t>
                  </a:r>
                </a:p>
                <a:p>
                  <a:r>
                    <a:rPr lang="pt-BR" sz="1200" dirty="0"/>
                    <a:t>            </a:t>
                  </a:r>
                  <a:r>
                    <a:rPr lang="pt-BR" sz="1200" dirty="0" err="1"/>
                    <a:t>y_pred</a:t>
                  </a:r>
                  <a:r>
                    <a:rPr lang="pt-BR" sz="1200" dirty="0"/>
                    <a:t>[i] = 1</a:t>
                  </a:r>
                </a:p>
                <a:p>
                  <a:r>
                    <a:rPr lang="pt-BR" sz="1200" dirty="0"/>
                    <a:t>        # caso quando #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t-BR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a14:m>
                  <a:r>
                    <a:rPr lang="pt-BR" sz="1200" dirty="0"/>
                    <a:t> &gt;= 0</a:t>
                  </a:r>
                </a:p>
                <a:p>
                  <a:r>
                    <a:rPr lang="pt-BR" sz="1200" dirty="0"/>
                    <a:t>        </a:t>
                  </a:r>
                  <a:r>
                    <a:rPr lang="pt-BR" sz="1200" dirty="0" err="1"/>
                    <a:t>else</a:t>
                  </a:r>
                  <a:r>
                    <a:rPr lang="pt-BR" sz="1200" dirty="0"/>
                    <a:t>: </a:t>
                  </a:r>
                </a:p>
                <a:p>
                  <a:r>
                    <a:rPr lang="pt-BR" sz="1200" dirty="0"/>
                    <a:t>            </a:t>
                  </a:r>
                  <a:r>
                    <a:rPr lang="pt-BR" sz="1200" dirty="0" err="1"/>
                    <a:t>y_pred</a:t>
                  </a:r>
                  <a:r>
                    <a:rPr lang="pt-BR" sz="1200" dirty="0"/>
                    <a:t>[i] = 2</a:t>
                  </a:r>
                </a:p>
              </p:txBody>
            </p:sp>
          </mc:Choice>
          <mc:Fallback xmlns="">
            <p:sp>
              <p:nvSpPr>
                <p:cNvPr id="22" name="Retângulo 21">
                  <a:extLst>
                    <a:ext uri="{FF2B5EF4-FFF2-40B4-BE49-F238E27FC236}">
                      <a16:creationId xmlns:a16="http://schemas.microsoft.com/office/drawing/2014/main" id="{886E8A3C-9C9E-D4E2-0A16-26A53FD318A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1756" y="3248418"/>
                  <a:ext cx="3421921" cy="1938992"/>
                </a:xfrm>
                <a:prstGeom prst="rect">
                  <a:avLst/>
                </a:prstGeom>
                <a:blipFill>
                  <a:blip r:embed="rId5"/>
                  <a:stretch>
                    <a:fillRect b="-157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Chave Direita 24">
              <a:extLst>
                <a:ext uri="{FF2B5EF4-FFF2-40B4-BE49-F238E27FC236}">
                  <a16:creationId xmlns:a16="http://schemas.microsoft.com/office/drawing/2014/main" id="{FB6055EB-3AA0-11EC-C6E3-613F5B4FCAB2}"/>
                </a:ext>
              </a:extLst>
            </p:cNvPr>
            <p:cNvSpPr/>
            <p:nvPr/>
          </p:nvSpPr>
          <p:spPr>
            <a:xfrm rot="16200000">
              <a:off x="4674791" y="2085485"/>
              <a:ext cx="369332" cy="2224892"/>
            </a:xfrm>
            <a:prstGeom prst="rightBrace">
              <a:avLst>
                <a:gd name="adj1" fmla="val 8333"/>
                <a:gd name="adj2" fmla="val 48354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53573EAF-DA30-E369-95B0-E2E5540B8EDE}"/>
                </a:ext>
              </a:extLst>
            </p:cNvPr>
            <p:cNvSpPr txBox="1"/>
            <p:nvPr/>
          </p:nvSpPr>
          <p:spPr>
            <a:xfrm>
              <a:off x="4019797" y="2582081"/>
              <a:ext cx="14590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b="1" i="1" dirty="0"/>
                <a:t>programa</a:t>
              </a:r>
              <a:endParaRPr lang="pt-BR" b="1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787065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606C23-9F3D-9BC2-42BB-B1CBDDD9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Paradigma do ML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166942-05E4-FA56-8495-A56B25B3E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5293266"/>
            <a:ext cx="11132127" cy="1564734"/>
          </a:xfrm>
        </p:spPr>
        <p:txBody>
          <a:bodyPr>
            <a:normAutofit lnSpcReduction="10000"/>
          </a:bodyPr>
          <a:lstStyle/>
          <a:p>
            <a:r>
              <a:rPr lang="pt-BR" dirty="0"/>
              <a:t>Fornecemos as </a:t>
            </a:r>
            <a:r>
              <a:rPr lang="pt-BR" b="1" i="1" dirty="0"/>
              <a:t>entradas</a:t>
            </a:r>
            <a:r>
              <a:rPr lang="pt-BR" dirty="0"/>
              <a:t> e as </a:t>
            </a:r>
            <a:r>
              <a:rPr lang="pt-BR" b="1" i="1" dirty="0"/>
              <a:t>respostas esperadas</a:t>
            </a:r>
            <a:r>
              <a:rPr lang="pt-BR" dirty="0"/>
              <a:t>, i.e., atributos e classes,</a:t>
            </a:r>
            <a:r>
              <a:rPr lang="pt-BR" b="1" i="1" dirty="0"/>
              <a:t> </a:t>
            </a:r>
            <a:r>
              <a:rPr lang="pt-BR" dirty="0"/>
              <a:t>ao computador e deixamos que ele </a:t>
            </a:r>
            <a:r>
              <a:rPr lang="pt-BR" b="1" i="1" dirty="0">
                <a:solidFill>
                  <a:srgbClr val="7030A0"/>
                </a:solidFill>
              </a:rPr>
              <a:t>aprenda</a:t>
            </a:r>
            <a:r>
              <a:rPr lang="pt-BR" b="1" i="1" dirty="0"/>
              <a:t>, através de </a:t>
            </a:r>
            <a:r>
              <a:rPr lang="pt-BR" b="1" i="1" dirty="0">
                <a:solidFill>
                  <a:srgbClr val="00B050"/>
                </a:solidFill>
              </a:rPr>
              <a:t>treinamento</a:t>
            </a:r>
            <a:r>
              <a:rPr lang="pt-BR" dirty="0"/>
              <a:t>, um </a:t>
            </a:r>
            <a:r>
              <a:rPr lang="pt-BR" b="1" i="1" dirty="0"/>
              <a:t>modelo</a:t>
            </a:r>
            <a:r>
              <a:rPr lang="pt-BR" dirty="0"/>
              <a:t> que </a:t>
            </a:r>
            <a:r>
              <a:rPr lang="pt-BR" b="1" i="1" dirty="0"/>
              <a:t>mapeie as entradas nas respostas esperadas da melhor forma possível</a:t>
            </a:r>
            <a:r>
              <a:rPr lang="pt-BR" dirty="0"/>
              <a:t>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B963C93-D75E-9431-7408-F77051E29FD4}"/>
              </a:ext>
            </a:extLst>
          </p:cNvPr>
          <p:cNvSpPr/>
          <p:nvPr/>
        </p:nvSpPr>
        <p:spPr>
          <a:xfrm>
            <a:off x="3804339" y="2446021"/>
            <a:ext cx="2011680" cy="126274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Computador com algoritmo de </a:t>
            </a:r>
            <a:r>
              <a:rPr lang="pt-BR" sz="2000" b="1" i="1" dirty="0">
                <a:solidFill>
                  <a:srgbClr val="00B050"/>
                </a:solidFill>
              </a:rPr>
              <a:t>treinamento</a:t>
            </a:r>
            <a:r>
              <a:rPr lang="pt-BR" dirty="0">
                <a:solidFill>
                  <a:schemeClr val="tx1"/>
                </a:solidFill>
              </a:rPr>
              <a:t> do modelo de ML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eta para a direita 5">
            <a:extLst>
              <a:ext uri="{FF2B5EF4-FFF2-40B4-BE49-F238E27FC236}">
                <a16:creationId xmlns:a16="http://schemas.microsoft.com/office/drawing/2014/main" id="{4E5F3B39-104D-B446-B297-0285574D9008}"/>
              </a:ext>
            </a:extLst>
          </p:cNvPr>
          <p:cNvSpPr/>
          <p:nvPr/>
        </p:nvSpPr>
        <p:spPr>
          <a:xfrm>
            <a:off x="3403745" y="2537206"/>
            <a:ext cx="400594" cy="400594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9A1DC3B8-53CE-BB6E-8CCF-036473150086}"/>
                  </a:ext>
                </a:extLst>
              </p:cNvPr>
              <p:cNvSpPr/>
              <p:nvPr/>
            </p:nvSpPr>
            <p:spPr>
              <a:xfrm>
                <a:off x="2879759" y="2475893"/>
                <a:ext cx="47320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2800" b="1" i="1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9A1DC3B8-53CE-BB6E-8CCF-0364731500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9759" y="2475893"/>
                <a:ext cx="473206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6938ECF4-C778-B3A7-64E6-19A166691210}"/>
                  </a:ext>
                </a:extLst>
              </p:cNvPr>
              <p:cNvSpPr/>
              <p:nvPr/>
            </p:nvSpPr>
            <p:spPr>
              <a:xfrm>
                <a:off x="1792659" y="3121849"/>
                <a:ext cx="1678793" cy="556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𝑒𝑠𝑝𝑒𝑟𝑎𝑑𝑜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6938ECF4-C778-B3A7-64E6-19A1666912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2659" y="3121849"/>
                <a:ext cx="1678793" cy="5564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Seta para a direita 5">
            <a:extLst>
              <a:ext uri="{FF2B5EF4-FFF2-40B4-BE49-F238E27FC236}">
                <a16:creationId xmlns:a16="http://schemas.microsoft.com/office/drawing/2014/main" id="{218109C2-48AD-208F-17D2-B86488CA02BC}"/>
              </a:ext>
            </a:extLst>
          </p:cNvPr>
          <p:cNvSpPr/>
          <p:nvPr/>
        </p:nvSpPr>
        <p:spPr>
          <a:xfrm>
            <a:off x="5816019" y="2877095"/>
            <a:ext cx="400594" cy="400594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eta para a direita 5">
            <a:extLst>
              <a:ext uri="{FF2B5EF4-FFF2-40B4-BE49-F238E27FC236}">
                <a16:creationId xmlns:a16="http://schemas.microsoft.com/office/drawing/2014/main" id="{28BBB6A3-27A6-E73C-C73C-EDD42BAE4C68}"/>
              </a:ext>
            </a:extLst>
          </p:cNvPr>
          <p:cNvSpPr/>
          <p:nvPr/>
        </p:nvSpPr>
        <p:spPr>
          <a:xfrm>
            <a:off x="3403745" y="3277689"/>
            <a:ext cx="400594" cy="400594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tângulo 21">
                <a:extLst>
                  <a:ext uri="{FF2B5EF4-FFF2-40B4-BE49-F238E27FC236}">
                    <a16:creationId xmlns:a16="http://schemas.microsoft.com/office/drawing/2014/main" id="{886E8A3C-9C9E-D4E2-0A16-26A53FD318A7}"/>
                  </a:ext>
                </a:extLst>
              </p:cNvPr>
              <p:cNvSpPr/>
              <p:nvPr/>
            </p:nvSpPr>
            <p:spPr>
              <a:xfrm>
                <a:off x="8726301" y="1645739"/>
                <a:ext cx="3421921" cy="2862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dirty="0" err="1"/>
                  <a:t>def</a:t>
                </a:r>
                <a:r>
                  <a:rPr lang="pt-BR" dirty="0"/>
                  <a:t> </a:t>
                </a:r>
                <a:r>
                  <a:rPr lang="pt-BR" i="1" dirty="0" err="1"/>
                  <a:t>predict</a:t>
                </a:r>
                <a:r>
                  <a:rPr lang="pt-BR" dirty="0"/>
                  <a:t>(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):</a:t>
                </a:r>
              </a:p>
              <a:p>
                <a:r>
                  <a:rPr lang="pt-BR" dirty="0"/>
                  <a:t>    </a:t>
                </a:r>
                <a:r>
                  <a:rPr lang="pt-BR" dirty="0" err="1"/>
                  <a:t>if</a:t>
                </a:r>
                <a:r>
                  <a:rPr lang="pt-BR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&gt;= 0):</a:t>
                </a:r>
              </a:p>
              <a:p>
                <a:r>
                  <a:rPr lang="pt-BR" dirty="0"/>
                  <a:t>        </a:t>
                </a:r>
                <a:r>
                  <a:rPr lang="pt-BR" dirty="0" err="1"/>
                  <a:t>y_pred</a:t>
                </a:r>
                <a:r>
                  <a:rPr lang="pt-BR" dirty="0"/>
                  <a:t>[i] = 0</a:t>
                </a:r>
              </a:p>
              <a:p>
                <a:r>
                  <a:rPr lang="pt-BR" dirty="0"/>
                  <a:t>    # Caso quando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&lt; 0</a:t>
                </a:r>
              </a:p>
              <a:p>
                <a:r>
                  <a:rPr lang="pt-BR" dirty="0"/>
                  <a:t>    </a:t>
                </a:r>
                <a:r>
                  <a:rPr lang="pt-BR" dirty="0" err="1"/>
                  <a:t>else</a:t>
                </a:r>
                <a:r>
                  <a:rPr lang="pt-BR" dirty="0"/>
                  <a:t>:</a:t>
                </a:r>
              </a:p>
              <a:p>
                <a:r>
                  <a:rPr lang="pt-BR" dirty="0"/>
                  <a:t>        </a:t>
                </a:r>
                <a:r>
                  <a:rPr lang="pt-BR" dirty="0" err="1"/>
                  <a:t>if</a:t>
                </a:r>
                <a:r>
                  <a:rPr lang="pt-BR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&lt; 0):</a:t>
                </a:r>
              </a:p>
              <a:p>
                <a:r>
                  <a:rPr lang="pt-BR" dirty="0"/>
                  <a:t>            </a:t>
                </a:r>
                <a:r>
                  <a:rPr lang="pt-BR" dirty="0" err="1"/>
                  <a:t>y_pred</a:t>
                </a:r>
                <a:r>
                  <a:rPr lang="pt-BR" dirty="0"/>
                  <a:t>[i] = 1</a:t>
                </a:r>
              </a:p>
              <a:p>
                <a:r>
                  <a:rPr lang="pt-BR" dirty="0"/>
                  <a:t>        # caso quando #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&gt;= 0</a:t>
                </a:r>
              </a:p>
              <a:p>
                <a:r>
                  <a:rPr lang="pt-BR" dirty="0"/>
                  <a:t>        </a:t>
                </a:r>
                <a:r>
                  <a:rPr lang="pt-BR" dirty="0" err="1"/>
                  <a:t>else</a:t>
                </a:r>
                <a:r>
                  <a:rPr lang="pt-BR" dirty="0"/>
                  <a:t>: </a:t>
                </a:r>
              </a:p>
              <a:p>
                <a:r>
                  <a:rPr lang="pt-BR" dirty="0"/>
                  <a:t>            </a:t>
                </a:r>
                <a:r>
                  <a:rPr lang="pt-BR" dirty="0" err="1"/>
                  <a:t>y_pred</a:t>
                </a:r>
                <a:r>
                  <a:rPr lang="pt-BR" dirty="0"/>
                  <a:t>[i] = 2</a:t>
                </a:r>
              </a:p>
            </p:txBody>
          </p:sp>
        </mc:Choice>
        <mc:Fallback xmlns="">
          <p:sp>
            <p:nvSpPr>
              <p:cNvPr id="22" name="Retângulo 21">
                <a:extLst>
                  <a:ext uri="{FF2B5EF4-FFF2-40B4-BE49-F238E27FC236}">
                    <a16:creationId xmlns:a16="http://schemas.microsoft.com/office/drawing/2014/main" id="{886E8A3C-9C9E-D4E2-0A16-26A53FD318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6301" y="1645739"/>
                <a:ext cx="3421921" cy="2862322"/>
              </a:xfrm>
              <a:prstGeom prst="rect">
                <a:avLst/>
              </a:prstGeom>
              <a:blipFill>
                <a:blip r:embed="rId4"/>
                <a:stretch>
                  <a:fillRect l="-1423" t="-1277" b="-234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Chave Direita 24">
            <a:extLst>
              <a:ext uri="{FF2B5EF4-FFF2-40B4-BE49-F238E27FC236}">
                <a16:creationId xmlns:a16="http://schemas.microsoft.com/office/drawing/2014/main" id="{FB6055EB-3AA0-11EC-C6E3-613F5B4FCAB2}"/>
              </a:ext>
            </a:extLst>
          </p:cNvPr>
          <p:cNvSpPr/>
          <p:nvPr/>
        </p:nvSpPr>
        <p:spPr>
          <a:xfrm>
            <a:off x="1555128" y="2446019"/>
            <a:ext cx="259773" cy="126274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EF07E67-C5F2-B086-76E2-28D476EDFE75}"/>
              </a:ext>
            </a:extLst>
          </p:cNvPr>
          <p:cNvSpPr txBox="1"/>
          <p:nvPr/>
        </p:nvSpPr>
        <p:spPr>
          <a:xfrm>
            <a:off x="352874" y="2646989"/>
            <a:ext cx="14197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Conjunto de dados de treinamento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1039EAD7-C64B-3EE5-C9F7-3B94B287701A}"/>
              </a:ext>
            </a:extLst>
          </p:cNvPr>
          <p:cNvSpPr/>
          <p:nvPr/>
        </p:nvSpPr>
        <p:spPr>
          <a:xfrm>
            <a:off x="6267393" y="2684098"/>
            <a:ext cx="1407160" cy="75677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chemeClr val="tx1"/>
                </a:solidFill>
              </a:rPr>
              <a:t>Modelo de ML</a:t>
            </a:r>
          </a:p>
          <a:p>
            <a:pPr algn="ctr"/>
            <a:r>
              <a:rPr lang="pt-BR" sz="1600" dirty="0">
                <a:solidFill>
                  <a:schemeClr val="tx1"/>
                </a:solidFill>
              </a:rPr>
              <a:t>(Classificador)</a:t>
            </a:r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tângulo 27">
                <a:extLst>
                  <a:ext uri="{FF2B5EF4-FFF2-40B4-BE49-F238E27FC236}">
                    <a16:creationId xmlns:a16="http://schemas.microsoft.com/office/drawing/2014/main" id="{0D3186D7-61C6-DA25-A270-1BB761654ECD}"/>
                  </a:ext>
                </a:extLst>
              </p:cNvPr>
              <p:cNvSpPr/>
              <p:nvPr/>
            </p:nvSpPr>
            <p:spPr>
              <a:xfrm>
                <a:off x="8002836" y="2753735"/>
                <a:ext cx="628698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8" name="Retângulo 27">
                <a:extLst>
                  <a:ext uri="{FF2B5EF4-FFF2-40B4-BE49-F238E27FC236}">
                    <a16:creationId xmlns:a16="http://schemas.microsoft.com/office/drawing/2014/main" id="{0D3186D7-61C6-DA25-A270-1BB761654E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2836" y="2753735"/>
                <a:ext cx="628698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Balão de Fala: Retângulo 28">
            <a:extLst>
              <a:ext uri="{FF2B5EF4-FFF2-40B4-BE49-F238E27FC236}">
                <a16:creationId xmlns:a16="http://schemas.microsoft.com/office/drawing/2014/main" id="{AC1E74E4-5151-449A-1879-8EAC74323F3C}"/>
              </a:ext>
            </a:extLst>
          </p:cNvPr>
          <p:cNvSpPr/>
          <p:nvPr/>
        </p:nvSpPr>
        <p:spPr>
          <a:xfrm>
            <a:off x="6980363" y="1690688"/>
            <a:ext cx="1022474" cy="466519"/>
          </a:xfrm>
          <a:prstGeom prst="wedgeRectCallout">
            <a:avLst>
              <a:gd name="adj1" fmla="val -53019"/>
              <a:gd name="adj2" fmla="val 14913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Resultado do treinamento</a:t>
            </a:r>
          </a:p>
        </p:txBody>
      </p:sp>
    </p:spTree>
    <p:extLst>
      <p:ext uri="{BB962C8B-B14F-4D97-AF65-F5344CB8AC3E}">
        <p14:creationId xmlns:p14="http://schemas.microsoft.com/office/powerpoint/2010/main" val="614737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 do curso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7567749" y="2200433"/>
                <a:ext cx="4484914" cy="2862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dirty="0" err="1"/>
                  <a:t>def</a:t>
                </a:r>
                <a:r>
                  <a:rPr lang="pt-BR" dirty="0"/>
                  <a:t> </a:t>
                </a:r>
                <a:r>
                  <a:rPr lang="pt-BR" i="1" dirty="0" err="1"/>
                  <a:t>predict</a:t>
                </a:r>
                <a:r>
                  <a:rPr lang="pt-BR" dirty="0"/>
                  <a:t>(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):</a:t>
                </a:r>
              </a:p>
              <a:p>
                <a:r>
                  <a:rPr lang="pt-BR" dirty="0"/>
                  <a:t>    </a:t>
                </a:r>
                <a:r>
                  <a:rPr lang="pt-BR" dirty="0" err="1"/>
                  <a:t>if</a:t>
                </a:r>
                <a:r>
                  <a:rPr lang="pt-BR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&gt;= 0):</a:t>
                </a:r>
              </a:p>
              <a:p>
                <a:r>
                  <a:rPr lang="pt-BR" dirty="0"/>
                  <a:t>        </a:t>
                </a:r>
                <a:r>
                  <a:rPr lang="pt-BR" dirty="0" err="1"/>
                  <a:t>y_pred</a:t>
                </a:r>
                <a:r>
                  <a:rPr lang="pt-BR" dirty="0"/>
                  <a:t>[i] = 0</a:t>
                </a:r>
              </a:p>
              <a:p>
                <a:r>
                  <a:rPr lang="pt-BR" dirty="0"/>
                  <a:t>    # Caso quando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&lt; 0</a:t>
                </a:r>
              </a:p>
              <a:p>
                <a:r>
                  <a:rPr lang="pt-BR" dirty="0"/>
                  <a:t>    </a:t>
                </a:r>
                <a:r>
                  <a:rPr lang="pt-BR" dirty="0" err="1"/>
                  <a:t>else</a:t>
                </a:r>
                <a:r>
                  <a:rPr lang="pt-BR" dirty="0"/>
                  <a:t>:</a:t>
                </a:r>
              </a:p>
              <a:p>
                <a:r>
                  <a:rPr lang="pt-BR" dirty="0"/>
                  <a:t>        </a:t>
                </a:r>
                <a:r>
                  <a:rPr lang="pt-BR" dirty="0" err="1"/>
                  <a:t>if</a:t>
                </a:r>
                <a:r>
                  <a:rPr lang="pt-BR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&lt; 0):</a:t>
                </a:r>
              </a:p>
              <a:p>
                <a:r>
                  <a:rPr lang="pt-BR" dirty="0"/>
                  <a:t>            </a:t>
                </a:r>
                <a:r>
                  <a:rPr lang="pt-BR" dirty="0" err="1"/>
                  <a:t>y_pred</a:t>
                </a:r>
                <a:r>
                  <a:rPr lang="pt-BR" dirty="0"/>
                  <a:t>[i] = 1</a:t>
                </a:r>
              </a:p>
              <a:p>
                <a:r>
                  <a:rPr lang="pt-BR" dirty="0"/>
                  <a:t>        # caso quando #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&gt;= 0</a:t>
                </a:r>
              </a:p>
              <a:p>
                <a:r>
                  <a:rPr lang="pt-BR" dirty="0"/>
                  <a:t>        </a:t>
                </a:r>
                <a:r>
                  <a:rPr lang="pt-BR" dirty="0" err="1"/>
                  <a:t>else</a:t>
                </a:r>
                <a:r>
                  <a:rPr lang="pt-BR" dirty="0"/>
                  <a:t>: </a:t>
                </a:r>
              </a:p>
              <a:p>
                <a:r>
                  <a:rPr lang="pt-BR" dirty="0"/>
                  <a:t>            </a:t>
                </a:r>
                <a:r>
                  <a:rPr lang="pt-BR" dirty="0" err="1"/>
                  <a:t>y_pred</a:t>
                </a:r>
                <a:r>
                  <a:rPr lang="pt-BR" dirty="0"/>
                  <a:t>[i] = 2</a:t>
                </a:r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7749" y="2200433"/>
                <a:ext cx="4484914" cy="2862322"/>
              </a:xfrm>
              <a:prstGeom prst="rect">
                <a:avLst/>
              </a:prstGeom>
              <a:blipFill rotWithShape="0">
                <a:blip r:embed="rId2"/>
                <a:stretch>
                  <a:fillRect l="-1087" t="-1277" b="-234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/>
          <p:cNvSpPr/>
          <p:nvPr/>
        </p:nvSpPr>
        <p:spPr>
          <a:xfrm>
            <a:off x="1188013" y="2696427"/>
            <a:ext cx="2011680" cy="126274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Modelo de ML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(Classificador)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eta para a direita 5"/>
          <p:cNvSpPr/>
          <p:nvPr/>
        </p:nvSpPr>
        <p:spPr>
          <a:xfrm>
            <a:off x="787419" y="3127501"/>
            <a:ext cx="400594" cy="400594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tângulo 7"/>
              <p:cNvSpPr/>
              <p:nvPr/>
            </p:nvSpPr>
            <p:spPr>
              <a:xfrm>
                <a:off x="263433" y="3066188"/>
                <a:ext cx="47320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2800" b="1" i="1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Retâ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433" y="3066188"/>
                <a:ext cx="473206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tângulo 8"/>
              <p:cNvSpPr/>
              <p:nvPr/>
            </p:nvSpPr>
            <p:spPr>
              <a:xfrm>
                <a:off x="3168471" y="3219547"/>
                <a:ext cx="1111651" cy="5618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𝑝𝑟𝑒𝑑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Retâ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471" y="3219547"/>
                <a:ext cx="1111651" cy="5618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/>
              <p:cNvSpPr txBox="1"/>
              <p:nvPr/>
            </p:nvSpPr>
            <p:spPr>
              <a:xfrm>
                <a:off x="838200" y="5295501"/>
                <a:ext cx="10874829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2800" b="1" i="1" dirty="0">
                    <a:solidFill>
                      <a:srgbClr val="00B050"/>
                    </a:solidFill>
                  </a:rPr>
                  <a:t>Treinar</a:t>
                </a:r>
                <a:r>
                  <a:rPr lang="pt-BR" sz="2800" dirty="0"/>
                  <a:t> modelos de ML que aprendam, </a:t>
                </a:r>
                <a:r>
                  <a:rPr lang="pt-BR" sz="2800" b="1" i="1" dirty="0">
                    <a:solidFill>
                      <a:srgbClr val="7030A0"/>
                    </a:solidFill>
                  </a:rPr>
                  <a:t>sem serem explicitamente programados</a:t>
                </a:r>
                <a:r>
                  <a:rPr lang="pt-BR" sz="2800" dirty="0"/>
                  <a:t>, a </a:t>
                </a:r>
                <a:r>
                  <a:rPr lang="pt-BR" sz="2800" b="1" i="1" dirty="0">
                    <a:solidFill>
                      <a:srgbClr val="0070C0"/>
                    </a:solidFill>
                  </a:rPr>
                  <a:t>classificar</a:t>
                </a:r>
                <a:r>
                  <a:rPr lang="pt-BR" sz="2800" dirty="0"/>
                  <a:t> as entradas, </a:t>
                </a:r>
                <a14:m>
                  <m:oMath xmlns:m="http://schemas.openxmlformats.org/officeDocument/2006/math">
                    <m:r>
                      <a:rPr lang="pt-BR" sz="28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sz="2800" dirty="0"/>
                  <a:t>, em suas respectivas classes. </a:t>
                </a:r>
                <a:endParaRPr lang="en-US" sz="2800" dirty="0"/>
              </a:p>
            </p:txBody>
          </p:sp>
        </mc:Choice>
        <mc:Fallback xmlns="">
          <p:sp>
            <p:nvSpPr>
              <p:cNvPr id="10" name="CaixaDeTex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295501"/>
                <a:ext cx="10874829" cy="954107"/>
              </a:xfrm>
              <a:prstGeom prst="rect">
                <a:avLst/>
              </a:prstGeom>
              <a:blipFill>
                <a:blip r:embed="rId5"/>
                <a:stretch>
                  <a:fillRect t="-6410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tângulo 11"/>
              <p:cNvSpPr/>
              <p:nvPr/>
            </p:nvSpPr>
            <p:spPr>
              <a:xfrm>
                <a:off x="6338855" y="2998696"/>
                <a:ext cx="628698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2" name="Retâ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855" y="2998696"/>
                <a:ext cx="628698" cy="64633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tângulo 13"/>
              <p:cNvSpPr/>
              <p:nvPr/>
            </p:nvSpPr>
            <p:spPr>
              <a:xfrm>
                <a:off x="3600287" y="2169865"/>
                <a:ext cx="1678793" cy="556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𝑒𝑠𝑝𝑒𝑟𝑎𝑑𝑜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Retângulo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287" y="2169865"/>
                <a:ext cx="1678793" cy="55643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Elipse 14"/>
          <p:cNvSpPr/>
          <p:nvPr/>
        </p:nvSpPr>
        <p:spPr>
          <a:xfrm>
            <a:off x="4210420" y="3087861"/>
            <a:ext cx="468000" cy="468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Menos 15"/>
          <p:cNvSpPr/>
          <p:nvPr/>
        </p:nvSpPr>
        <p:spPr>
          <a:xfrm>
            <a:off x="4280122" y="3183791"/>
            <a:ext cx="328311" cy="276139"/>
          </a:xfrm>
          <a:prstGeom prst="mathMin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tângulo 17"/>
              <p:cNvSpPr/>
              <p:nvPr/>
            </p:nvSpPr>
            <p:spPr>
              <a:xfrm>
                <a:off x="4970918" y="3016979"/>
                <a:ext cx="98603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𝑒𝑟𝑟𝑜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Retângulo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0918" y="3016979"/>
                <a:ext cx="986039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ector de seta reta 19"/>
          <p:cNvCxnSpPr>
            <a:stCxn id="5" idx="3"/>
            <a:endCxn id="15" idx="2"/>
          </p:cNvCxnSpPr>
          <p:nvPr/>
        </p:nvCxnSpPr>
        <p:spPr>
          <a:xfrm flipV="1">
            <a:off x="3199693" y="3321861"/>
            <a:ext cx="1010727" cy="59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14" idx="2"/>
            <a:endCxn id="15" idx="0"/>
          </p:cNvCxnSpPr>
          <p:nvPr/>
        </p:nvCxnSpPr>
        <p:spPr>
          <a:xfrm>
            <a:off x="4439684" y="2726299"/>
            <a:ext cx="4736" cy="3615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V="1">
            <a:off x="4700318" y="3321861"/>
            <a:ext cx="3600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angulado 33"/>
          <p:cNvCxnSpPr>
            <a:stCxn id="18" idx="2"/>
          </p:cNvCxnSpPr>
          <p:nvPr/>
        </p:nvCxnSpPr>
        <p:spPr>
          <a:xfrm rot="5400000">
            <a:off x="3039029" y="2060004"/>
            <a:ext cx="944715" cy="3905104"/>
          </a:xfrm>
          <a:prstGeom prst="bentConnector2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/>
          <p:cNvCxnSpPr/>
          <p:nvPr/>
        </p:nvCxnSpPr>
        <p:spPr>
          <a:xfrm flipV="1">
            <a:off x="1547239" y="2088150"/>
            <a:ext cx="1478069" cy="239345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tângulo 36"/>
          <p:cNvSpPr/>
          <p:nvPr/>
        </p:nvSpPr>
        <p:spPr>
          <a:xfrm>
            <a:off x="1547239" y="1766442"/>
            <a:ext cx="32277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b="1" dirty="0">
                <a:solidFill>
                  <a:srgbClr val="00B050"/>
                </a:solidFill>
              </a:rPr>
              <a:t>Treinamento supervisionado</a:t>
            </a:r>
          </a:p>
        </p:txBody>
      </p:sp>
    </p:spTree>
    <p:extLst>
      <p:ext uri="{BB962C8B-B14F-4D97-AF65-F5344CB8AC3E}">
        <p14:creationId xmlns:p14="http://schemas.microsoft.com/office/powerpoint/2010/main" val="3089829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 do curso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7567749" y="2200433"/>
                <a:ext cx="4484914" cy="2862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dirty="0" err="1"/>
                  <a:t>def</a:t>
                </a:r>
                <a:r>
                  <a:rPr lang="pt-BR" dirty="0"/>
                  <a:t> </a:t>
                </a:r>
                <a:r>
                  <a:rPr lang="pt-BR" i="1" dirty="0" err="1"/>
                  <a:t>predict</a:t>
                </a:r>
                <a:r>
                  <a:rPr lang="pt-BR" dirty="0"/>
                  <a:t>(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):</a:t>
                </a:r>
              </a:p>
              <a:p>
                <a:r>
                  <a:rPr lang="pt-BR" dirty="0"/>
                  <a:t>    </a:t>
                </a:r>
                <a:r>
                  <a:rPr lang="pt-BR" dirty="0" err="1"/>
                  <a:t>if</a:t>
                </a:r>
                <a:r>
                  <a:rPr lang="pt-BR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&gt;= 0):</a:t>
                </a:r>
              </a:p>
              <a:p>
                <a:r>
                  <a:rPr lang="pt-BR" dirty="0"/>
                  <a:t>        </a:t>
                </a:r>
                <a:r>
                  <a:rPr lang="pt-BR" dirty="0" err="1"/>
                  <a:t>y_pred</a:t>
                </a:r>
                <a:r>
                  <a:rPr lang="pt-BR" dirty="0"/>
                  <a:t>[i] = 0</a:t>
                </a:r>
              </a:p>
              <a:p>
                <a:r>
                  <a:rPr lang="pt-BR" dirty="0"/>
                  <a:t>    # Caso quando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&lt; 0</a:t>
                </a:r>
              </a:p>
              <a:p>
                <a:r>
                  <a:rPr lang="pt-BR" dirty="0"/>
                  <a:t>    </a:t>
                </a:r>
                <a:r>
                  <a:rPr lang="pt-BR" dirty="0" err="1"/>
                  <a:t>else</a:t>
                </a:r>
                <a:r>
                  <a:rPr lang="pt-BR" dirty="0"/>
                  <a:t>:</a:t>
                </a:r>
              </a:p>
              <a:p>
                <a:r>
                  <a:rPr lang="pt-BR" dirty="0"/>
                  <a:t>        </a:t>
                </a:r>
                <a:r>
                  <a:rPr lang="pt-BR" dirty="0" err="1"/>
                  <a:t>if</a:t>
                </a:r>
                <a:r>
                  <a:rPr lang="pt-BR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&lt; 0):</a:t>
                </a:r>
              </a:p>
              <a:p>
                <a:r>
                  <a:rPr lang="pt-BR" dirty="0"/>
                  <a:t>            </a:t>
                </a:r>
                <a:r>
                  <a:rPr lang="pt-BR" dirty="0" err="1"/>
                  <a:t>y_pred</a:t>
                </a:r>
                <a:r>
                  <a:rPr lang="pt-BR" dirty="0"/>
                  <a:t>[i] = 1</a:t>
                </a:r>
              </a:p>
              <a:p>
                <a:r>
                  <a:rPr lang="pt-BR" dirty="0"/>
                  <a:t>        # caso quando #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&gt;= 0</a:t>
                </a:r>
              </a:p>
              <a:p>
                <a:r>
                  <a:rPr lang="pt-BR" dirty="0"/>
                  <a:t>        </a:t>
                </a:r>
                <a:r>
                  <a:rPr lang="pt-BR" dirty="0" err="1"/>
                  <a:t>else</a:t>
                </a:r>
                <a:r>
                  <a:rPr lang="pt-BR" dirty="0"/>
                  <a:t>: </a:t>
                </a:r>
              </a:p>
              <a:p>
                <a:r>
                  <a:rPr lang="pt-BR" dirty="0"/>
                  <a:t>            </a:t>
                </a:r>
                <a:r>
                  <a:rPr lang="pt-BR" dirty="0" err="1"/>
                  <a:t>y_pred</a:t>
                </a:r>
                <a:r>
                  <a:rPr lang="pt-BR" dirty="0"/>
                  <a:t>[i] = 2</a:t>
                </a:r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7749" y="2200433"/>
                <a:ext cx="4484914" cy="2862322"/>
              </a:xfrm>
              <a:prstGeom prst="rect">
                <a:avLst/>
              </a:prstGeom>
              <a:blipFill rotWithShape="0">
                <a:blip r:embed="rId2"/>
                <a:stretch>
                  <a:fillRect l="-1087" t="-1277" b="-234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/>
          <p:cNvSpPr/>
          <p:nvPr/>
        </p:nvSpPr>
        <p:spPr>
          <a:xfrm>
            <a:off x="1188013" y="2696427"/>
            <a:ext cx="2011680" cy="126274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Modelo de ML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(Classificador)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eta para a direita 5"/>
          <p:cNvSpPr/>
          <p:nvPr/>
        </p:nvSpPr>
        <p:spPr>
          <a:xfrm>
            <a:off x="787419" y="3127501"/>
            <a:ext cx="400594" cy="400594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tângulo 7"/>
              <p:cNvSpPr/>
              <p:nvPr/>
            </p:nvSpPr>
            <p:spPr>
              <a:xfrm>
                <a:off x="263433" y="3066188"/>
                <a:ext cx="47320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2800" b="1" i="1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Retâ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433" y="3066188"/>
                <a:ext cx="473206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tângulo 8"/>
              <p:cNvSpPr/>
              <p:nvPr/>
            </p:nvSpPr>
            <p:spPr>
              <a:xfrm>
                <a:off x="3168471" y="3219547"/>
                <a:ext cx="1111651" cy="5618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𝑝𝑟𝑒𝑑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Retâ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471" y="3219547"/>
                <a:ext cx="1111651" cy="5618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ixaDeTexto 9"/>
          <p:cNvSpPr txBox="1"/>
          <p:nvPr/>
        </p:nvSpPr>
        <p:spPr>
          <a:xfrm>
            <a:off x="838200" y="5295501"/>
            <a:ext cx="110593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Ou seja, o objetivo é </a:t>
            </a:r>
            <a:r>
              <a:rPr lang="pt-BR" sz="2800" b="1" i="1" dirty="0">
                <a:solidFill>
                  <a:srgbClr val="7030A0"/>
                </a:solidFill>
              </a:rPr>
              <a:t>encontrar</a:t>
            </a:r>
            <a:r>
              <a:rPr lang="pt-BR" sz="2800" dirty="0"/>
              <a:t> </a:t>
            </a:r>
            <a:r>
              <a:rPr lang="pt-BR" sz="2800" b="1" i="1" dirty="0"/>
              <a:t>funções discriminantes </a:t>
            </a:r>
            <a:r>
              <a:rPr lang="pt-BR" sz="2800" dirty="0"/>
              <a:t>(i.e., equações e seus respectivos pesos)</a:t>
            </a:r>
            <a:r>
              <a:rPr lang="pt-BR" sz="2800" b="1" i="1" dirty="0"/>
              <a:t> </a:t>
            </a:r>
            <a:r>
              <a:rPr lang="pt-BR" sz="2800" dirty="0"/>
              <a:t>que </a:t>
            </a:r>
            <a:r>
              <a:rPr lang="pt-BR" sz="2800" b="1" i="1" dirty="0">
                <a:solidFill>
                  <a:schemeClr val="accent2"/>
                </a:solidFill>
              </a:rPr>
              <a:t>minimizem</a:t>
            </a:r>
            <a:r>
              <a:rPr lang="pt-BR" sz="2800" dirty="0"/>
              <a:t> o </a:t>
            </a:r>
            <a:r>
              <a:rPr lang="pt-BR" sz="2800" b="1" i="1" dirty="0"/>
              <a:t>erro de classificação</a:t>
            </a:r>
            <a:r>
              <a:rPr lang="pt-BR" sz="2800" dirty="0"/>
              <a:t>.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tângulo 11"/>
              <p:cNvSpPr/>
              <p:nvPr/>
            </p:nvSpPr>
            <p:spPr>
              <a:xfrm>
                <a:off x="6338855" y="2998696"/>
                <a:ext cx="628698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2" name="Retâ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855" y="2998696"/>
                <a:ext cx="628698" cy="64633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tângulo 13"/>
              <p:cNvSpPr/>
              <p:nvPr/>
            </p:nvSpPr>
            <p:spPr>
              <a:xfrm>
                <a:off x="3600287" y="2169865"/>
                <a:ext cx="1678793" cy="556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𝑒𝑠𝑝𝑒𝑟𝑎𝑑𝑜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Retângulo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287" y="2169865"/>
                <a:ext cx="1678793" cy="55643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Elipse 14"/>
          <p:cNvSpPr/>
          <p:nvPr/>
        </p:nvSpPr>
        <p:spPr>
          <a:xfrm>
            <a:off x="4210420" y="3087861"/>
            <a:ext cx="468000" cy="468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Menos 15"/>
          <p:cNvSpPr/>
          <p:nvPr/>
        </p:nvSpPr>
        <p:spPr>
          <a:xfrm>
            <a:off x="4280122" y="3183791"/>
            <a:ext cx="328311" cy="276139"/>
          </a:xfrm>
          <a:prstGeom prst="mathMin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tângulo 17"/>
              <p:cNvSpPr/>
              <p:nvPr/>
            </p:nvSpPr>
            <p:spPr>
              <a:xfrm>
                <a:off x="4970918" y="3016979"/>
                <a:ext cx="98603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𝑒𝑟𝑟𝑜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Retângulo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0918" y="3016979"/>
                <a:ext cx="986039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ector de seta reta 19"/>
          <p:cNvCxnSpPr>
            <a:stCxn id="5" idx="3"/>
            <a:endCxn id="15" idx="2"/>
          </p:cNvCxnSpPr>
          <p:nvPr/>
        </p:nvCxnSpPr>
        <p:spPr>
          <a:xfrm flipV="1">
            <a:off x="3199693" y="3321861"/>
            <a:ext cx="1010727" cy="59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14" idx="2"/>
            <a:endCxn id="15" idx="0"/>
          </p:cNvCxnSpPr>
          <p:nvPr/>
        </p:nvCxnSpPr>
        <p:spPr>
          <a:xfrm>
            <a:off x="4439684" y="2726299"/>
            <a:ext cx="4736" cy="3615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V="1">
            <a:off x="4700318" y="3321861"/>
            <a:ext cx="3600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angulado 33"/>
          <p:cNvCxnSpPr>
            <a:stCxn id="18" idx="2"/>
          </p:cNvCxnSpPr>
          <p:nvPr/>
        </p:nvCxnSpPr>
        <p:spPr>
          <a:xfrm rot="5400000">
            <a:off x="3039029" y="2060004"/>
            <a:ext cx="944715" cy="3905104"/>
          </a:xfrm>
          <a:prstGeom prst="bentConnector2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/>
          <p:cNvCxnSpPr/>
          <p:nvPr/>
        </p:nvCxnSpPr>
        <p:spPr>
          <a:xfrm flipV="1">
            <a:off x="1547239" y="2088150"/>
            <a:ext cx="1478069" cy="239345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89C6F2DB-4F63-9370-1ABE-3E6486AFB9C3}"/>
              </a:ext>
            </a:extLst>
          </p:cNvPr>
          <p:cNvSpPr/>
          <p:nvPr/>
        </p:nvSpPr>
        <p:spPr>
          <a:xfrm>
            <a:off x="1547239" y="1766442"/>
            <a:ext cx="32277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b="1" dirty="0">
                <a:solidFill>
                  <a:srgbClr val="00B050"/>
                </a:solidFill>
              </a:rPr>
              <a:t>Treinamento supervisionado</a:t>
            </a:r>
          </a:p>
        </p:txBody>
      </p:sp>
    </p:spTree>
    <p:extLst>
      <p:ext uri="{BB962C8B-B14F-4D97-AF65-F5344CB8AC3E}">
        <p14:creationId xmlns:p14="http://schemas.microsoft.com/office/powerpoint/2010/main" val="2524151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963</Words>
  <Application>Microsoft Office PowerPoint</Application>
  <PresentationFormat>Widescreen</PresentationFormat>
  <Paragraphs>127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Wingdings</vt:lpstr>
      <vt:lpstr>Office Theme</vt:lpstr>
      <vt:lpstr>Laboratório #1</vt:lpstr>
      <vt:lpstr>Quantas funções discriminantes?</vt:lpstr>
      <vt:lpstr>Encontrando os pesos g_1 (x)</vt:lpstr>
      <vt:lpstr>Encontrando os pesos g_2 (x)</vt:lpstr>
      <vt:lpstr>Apresentação do PowerPoint</vt:lpstr>
      <vt:lpstr>Trecho da função predict</vt:lpstr>
      <vt:lpstr>Paradigma da programação tradicional</vt:lpstr>
      <vt:lpstr>Paradigma do ML</vt:lpstr>
      <vt:lpstr>Objetivo do curso</vt:lpstr>
      <vt:lpstr>Objetivo do curso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Laboratório #1</dc:title>
  <dc:creator>Felipe Augusto Pereira de Figueiredo</dc:creator>
  <cp:lastModifiedBy>Felipe Augusto Pereira de Figueiredo</cp:lastModifiedBy>
  <cp:revision>70</cp:revision>
  <dcterms:created xsi:type="dcterms:W3CDTF">2022-02-14T13:01:49Z</dcterms:created>
  <dcterms:modified xsi:type="dcterms:W3CDTF">2026-08-07T18:26:46Z</dcterms:modified>
</cp:coreProperties>
</file>